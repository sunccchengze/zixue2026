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media/image123.jpg" ContentType="image/jp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8"/>
  </p:notesMasterIdLst>
  <p:handoutMasterIdLst>
    <p:handoutMasterId r:id="rId69"/>
  </p:handoutMasterIdLst>
  <p:sldIdLst>
    <p:sldId id="472" r:id="rId2"/>
    <p:sldId id="475" r:id="rId3"/>
    <p:sldId id="476" r:id="rId4"/>
    <p:sldId id="477" r:id="rId5"/>
    <p:sldId id="539" r:id="rId6"/>
    <p:sldId id="473" r:id="rId7"/>
    <p:sldId id="480" r:id="rId8"/>
    <p:sldId id="481" r:id="rId9"/>
    <p:sldId id="489" r:id="rId10"/>
    <p:sldId id="482" r:id="rId11"/>
    <p:sldId id="483" r:id="rId12"/>
    <p:sldId id="541" r:id="rId13"/>
    <p:sldId id="490" r:id="rId14"/>
    <p:sldId id="491" r:id="rId15"/>
    <p:sldId id="488" r:id="rId16"/>
    <p:sldId id="493" r:id="rId17"/>
    <p:sldId id="494" r:id="rId18"/>
    <p:sldId id="551" r:id="rId19"/>
    <p:sldId id="510" r:id="rId20"/>
    <p:sldId id="495" r:id="rId21"/>
    <p:sldId id="496" r:id="rId22"/>
    <p:sldId id="497" r:id="rId23"/>
    <p:sldId id="508" r:id="rId24"/>
    <p:sldId id="511" r:id="rId25"/>
    <p:sldId id="543" r:id="rId26"/>
    <p:sldId id="545" r:id="rId27"/>
    <p:sldId id="546" r:id="rId28"/>
    <p:sldId id="484" r:id="rId29"/>
    <p:sldId id="530" r:id="rId30"/>
    <p:sldId id="547" r:id="rId31"/>
    <p:sldId id="485" r:id="rId32"/>
    <p:sldId id="492" r:id="rId33"/>
    <p:sldId id="486" r:id="rId34"/>
    <p:sldId id="487" r:id="rId35"/>
    <p:sldId id="512" r:id="rId36"/>
    <p:sldId id="513" r:id="rId37"/>
    <p:sldId id="561" r:id="rId38"/>
    <p:sldId id="514" r:id="rId39"/>
    <p:sldId id="521" r:id="rId40"/>
    <p:sldId id="519" r:id="rId41"/>
    <p:sldId id="515" r:id="rId42"/>
    <p:sldId id="517" r:id="rId43"/>
    <p:sldId id="562" r:id="rId44"/>
    <p:sldId id="522" r:id="rId45"/>
    <p:sldId id="523" r:id="rId46"/>
    <p:sldId id="553" r:id="rId47"/>
    <p:sldId id="563" r:id="rId48"/>
    <p:sldId id="524" r:id="rId49"/>
    <p:sldId id="532" r:id="rId50"/>
    <p:sldId id="533" r:id="rId51"/>
    <p:sldId id="555" r:id="rId52"/>
    <p:sldId id="556" r:id="rId53"/>
    <p:sldId id="525" r:id="rId54"/>
    <p:sldId id="538" r:id="rId55"/>
    <p:sldId id="526" r:id="rId56"/>
    <p:sldId id="548" r:id="rId57"/>
    <p:sldId id="549" r:id="rId58"/>
    <p:sldId id="557" r:id="rId59"/>
    <p:sldId id="536" r:id="rId60"/>
    <p:sldId id="527" r:id="rId61"/>
    <p:sldId id="534" r:id="rId62"/>
    <p:sldId id="529" r:id="rId63"/>
    <p:sldId id="560" r:id="rId64"/>
    <p:sldId id="537" r:id="rId65"/>
    <p:sldId id="528" r:id="rId66"/>
    <p:sldId id="550" r:id="rId67"/>
  </p:sldIdLst>
  <p:sldSz cx="9144000" cy="6858000" type="screen4x3"/>
  <p:notesSz cx="6742113" cy="9872663"/>
  <p:defaultTex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p:defaultTextStyle>
  <p:modifyVerifier cryptProviderType="rsaAES" cryptAlgorithmClass="hash" cryptAlgorithmType="typeAny" cryptAlgorithmSid="14" spinCount="100000" saltData="On3frguFP3rDjL+wjt9HNw==" hashData="qU44d6tb61I19KyA8+PampXo3LM8a/5G+WGS4xKjrGs78wyZkhakBMNoP6AOgPO2WrB9Vh6FEaQH6fJGmZ6Jog=="/>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660066"/>
    <a:srgbClr val="000099"/>
    <a:srgbClr val="FFFFFF"/>
    <a:srgbClr val="BDD624"/>
    <a:srgbClr val="FF0066"/>
    <a:srgbClr val="FF0000"/>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429" autoAdjust="0"/>
  </p:normalViewPr>
  <p:slideViewPr>
    <p:cSldViewPr>
      <p:cViewPr varScale="1">
        <p:scale>
          <a:sx n="72" d="100"/>
          <a:sy n="72" d="100"/>
        </p:scale>
        <p:origin x="1290"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21000" cy="493713"/>
          </a:xfrm>
          <a:prstGeom prst="rect">
            <a:avLst/>
          </a:prstGeom>
        </p:spPr>
        <p:txBody>
          <a:bodyPr vert="horz" lIns="91440" tIns="45720" rIns="91440" bIns="45720" rtlCol="0"/>
          <a:lstStyle>
            <a:lvl1pPr algn="l" eaLnBrk="1" hangingPunct="1">
              <a:defRPr sz="1200"/>
            </a:lvl1pPr>
          </a:lstStyle>
          <a:p>
            <a:pPr>
              <a:defRPr/>
            </a:pPr>
            <a:endParaRPr lang="zh-CN" altLang="en-US"/>
          </a:p>
        </p:txBody>
      </p:sp>
      <p:sp>
        <p:nvSpPr>
          <p:cNvPr id="3" name="日期占位符 2"/>
          <p:cNvSpPr>
            <a:spLocks noGrp="1"/>
          </p:cNvSpPr>
          <p:nvPr>
            <p:ph type="dt" sz="quarter" idx="1"/>
          </p:nvPr>
        </p:nvSpPr>
        <p:spPr>
          <a:xfrm>
            <a:off x="3819525" y="0"/>
            <a:ext cx="2921000" cy="493713"/>
          </a:xfrm>
          <a:prstGeom prst="rect">
            <a:avLst/>
          </a:prstGeom>
        </p:spPr>
        <p:txBody>
          <a:bodyPr vert="horz" lIns="91440" tIns="45720" rIns="91440" bIns="45720" rtlCol="0"/>
          <a:lstStyle>
            <a:lvl1pPr algn="r" eaLnBrk="1" hangingPunct="1">
              <a:defRPr sz="1200"/>
            </a:lvl1pPr>
          </a:lstStyle>
          <a:p>
            <a:pPr>
              <a:defRPr/>
            </a:pPr>
            <a:fld id="{8C4AC2EB-392B-4788-BBD6-BDC86B3FAD61}" type="datetimeFigureOut">
              <a:rPr lang="zh-CN" altLang="en-US"/>
              <a:pPr>
                <a:defRPr/>
              </a:pPr>
              <a:t>2026/10/19</a:t>
            </a:fld>
            <a:endParaRPr lang="zh-CN" altLang="en-US"/>
          </a:p>
        </p:txBody>
      </p:sp>
      <p:sp>
        <p:nvSpPr>
          <p:cNvPr id="4" name="页脚占位符 3"/>
          <p:cNvSpPr>
            <a:spLocks noGrp="1"/>
          </p:cNvSpPr>
          <p:nvPr>
            <p:ph type="ftr" sz="quarter" idx="2"/>
          </p:nvPr>
        </p:nvSpPr>
        <p:spPr>
          <a:xfrm>
            <a:off x="0" y="9377363"/>
            <a:ext cx="2921000" cy="493712"/>
          </a:xfrm>
          <a:prstGeom prst="rect">
            <a:avLst/>
          </a:prstGeom>
        </p:spPr>
        <p:txBody>
          <a:bodyPr vert="horz" lIns="91440" tIns="45720" rIns="91440" bIns="45720" rtlCol="0" anchor="b"/>
          <a:lstStyle>
            <a:lvl1pPr algn="l" eaLnBrk="1" hangingPunct="1">
              <a:defRPr sz="1200"/>
            </a:lvl1pPr>
          </a:lstStyle>
          <a:p>
            <a:pPr>
              <a:defRPr/>
            </a:pPr>
            <a:endParaRPr lang="zh-CN" altLang="en-US"/>
          </a:p>
        </p:txBody>
      </p:sp>
      <p:sp>
        <p:nvSpPr>
          <p:cNvPr id="5" name="灯片编号占位符 4"/>
          <p:cNvSpPr>
            <a:spLocks noGrp="1"/>
          </p:cNvSpPr>
          <p:nvPr>
            <p:ph type="sldNum" sz="quarter" idx="3"/>
          </p:nvPr>
        </p:nvSpPr>
        <p:spPr>
          <a:xfrm>
            <a:off x="3819525" y="9377363"/>
            <a:ext cx="2921000" cy="493712"/>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59E7A47B-190F-420D-9DA2-162B6CF451AB}" type="slidenum">
              <a:rPr lang="zh-CN" altLang="en-US"/>
              <a:pPr>
                <a:defRPr/>
              </a:pPr>
              <a:t>‹#›</a:t>
            </a:fld>
            <a:endParaRPr lang="zh-CN" altLang="en-US"/>
          </a:p>
        </p:txBody>
      </p:sp>
    </p:spTree>
    <p:extLst>
      <p:ext uri="{BB962C8B-B14F-4D97-AF65-F5344CB8AC3E}">
        <p14:creationId xmlns:p14="http://schemas.microsoft.com/office/powerpoint/2010/main" val="16387371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466" name="Rectangle 2"/>
          <p:cNvSpPr>
            <a:spLocks noGrp="1" noChangeArrowheads="1"/>
          </p:cNvSpPr>
          <p:nvPr>
            <p:ph type="hdr" sz="quarter"/>
          </p:nvPr>
        </p:nvSpPr>
        <p:spPr bwMode="auto">
          <a:xfrm>
            <a:off x="0" y="0"/>
            <a:ext cx="2921000"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zh-CN"/>
          </a:p>
        </p:txBody>
      </p:sp>
      <p:sp>
        <p:nvSpPr>
          <p:cNvPr id="62467" name="Rectangle 3"/>
          <p:cNvSpPr>
            <a:spLocks noGrp="1" noChangeArrowheads="1"/>
          </p:cNvSpPr>
          <p:nvPr>
            <p:ph type="dt" idx="1"/>
          </p:nvPr>
        </p:nvSpPr>
        <p:spPr bwMode="auto">
          <a:xfrm>
            <a:off x="3821113" y="0"/>
            <a:ext cx="2921000"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zh-CN"/>
          </a:p>
        </p:txBody>
      </p:sp>
      <p:sp>
        <p:nvSpPr>
          <p:cNvPr id="2052" name="Rectangle 4"/>
          <p:cNvSpPr>
            <a:spLocks noGrp="1" noRot="1" noChangeAspect="1" noChangeArrowheads="1" noTextEdit="1"/>
          </p:cNvSpPr>
          <p:nvPr>
            <p:ph type="sldImg" idx="2"/>
          </p:nvPr>
        </p:nvSpPr>
        <p:spPr bwMode="auto">
          <a:xfrm>
            <a:off x="903288" y="739775"/>
            <a:ext cx="4935537" cy="370363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9" name="Rectangle 5"/>
          <p:cNvSpPr>
            <a:spLocks noGrp="1" noChangeArrowheads="1"/>
          </p:cNvSpPr>
          <p:nvPr>
            <p:ph type="body" sz="quarter" idx="3"/>
          </p:nvPr>
        </p:nvSpPr>
        <p:spPr bwMode="auto">
          <a:xfrm>
            <a:off x="898525" y="4689475"/>
            <a:ext cx="4945063" cy="44434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2470" name="Rectangle 6"/>
          <p:cNvSpPr>
            <a:spLocks noGrp="1" noChangeArrowheads="1"/>
          </p:cNvSpPr>
          <p:nvPr>
            <p:ph type="ftr" sz="quarter" idx="4"/>
          </p:nvPr>
        </p:nvSpPr>
        <p:spPr bwMode="auto">
          <a:xfrm>
            <a:off x="0" y="9378950"/>
            <a:ext cx="2921000" cy="49371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zh-CN"/>
          </a:p>
        </p:txBody>
      </p:sp>
      <p:sp>
        <p:nvSpPr>
          <p:cNvPr id="62471" name="Rectangle 7"/>
          <p:cNvSpPr>
            <a:spLocks noGrp="1" noChangeArrowheads="1"/>
          </p:cNvSpPr>
          <p:nvPr>
            <p:ph type="sldNum" sz="quarter" idx="5"/>
          </p:nvPr>
        </p:nvSpPr>
        <p:spPr bwMode="auto">
          <a:xfrm>
            <a:off x="3821113" y="9378950"/>
            <a:ext cx="2921000" cy="49371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AF1C37EE-8D8C-4546-AADE-254B9BE2785D}" type="slidenum">
              <a:rPr lang="en-US" altLang="zh-CN"/>
              <a:pPr>
                <a:defRPr/>
              </a:pPr>
              <a:t>‹#›</a:t>
            </a:fld>
            <a:endParaRPr lang="en-US" altLang="zh-CN"/>
          </a:p>
        </p:txBody>
      </p:sp>
    </p:spTree>
    <p:extLst>
      <p:ext uri="{BB962C8B-B14F-4D97-AF65-F5344CB8AC3E}">
        <p14:creationId xmlns:p14="http://schemas.microsoft.com/office/powerpoint/2010/main" val="14037233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F1C37EE-8D8C-4546-AADE-254B9BE2785D}" type="slidenum">
              <a:rPr lang="en-US" altLang="zh-CN" smtClean="0"/>
              <a:pPr>
                <a:defRPr/>
              </a:pPr>
              <a:t>6</a:t>
            </a:fld>
            <a:endParaRPr lang="en-US" altLang="zh-CN"/>
          </a:p>
        </p:txBody>
      </p:sp>
    </p:spTree>
    <p:extLst>
      <p:ext uri="{BB962C8B-B14F-4D97-AF65-F5344CB8AC3E}">
        <p14:creationId xmlns:p14="http://schemas.microsoft.com/office/powerpoint/2010/main" val="2240764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26495134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661198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28443761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455120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42602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511047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7294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5970242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063309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3972810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8338502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1_标题幻灯片">
    <p:bg bwMode="gray">
      <p:bgPr>
        <a:solidFill>
          <a:schemeClr val="bg1"/>
        </a:solidFill>
        <a:effectLst/>
      </p:bgPr>
    </p:bg>
    <p:spTree>
      <p:nvGrpSpPr>
        <p:cNvPr id="1" name=""/>
        <p:cNvGrpSpPr/>
        <p:nvPr/>
      </p:nvGrpSpPr>
      <p:grpSpPr>
        <a:xfrm>
          <a:off x="0" y="0"/>
          <a:ext cx="0" cy="0"/>
          <a:chOff x="0" y="0"/>
          <a:chExt cx="0" cy="0"/>
        </a:xfrm>
      </p:grpSpPr>
      <p:sp>
        <p:nvSpPr>
          <p:cNvPr id="135170" name="Rectangle 2"/>
          <p:cNvSpPr>
            <a:spLocks noChangeArrowheads="1"/>
          </p:cNvSpPr>
          <p:nvPr/>
        </p:nvSpPr>
        <p:spPr bwMode="ltGray">
          <a:xfrm>
            <a:off x="0" y="0"/>
            <a:ext cx="9144000" cy="483235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171" name="AutoShape 3"/>
          <p:cNvSpPr>
            <a:spLocks noChangeArrowheads="1"/>
          </p:cNvSpPr>
          <p:nvPr userDrawn="1"/>
        </p:nvSpPr>
        <p:spPr bwMode="ltGray">
          <a:xfrm flipH="1">
            <a:off x="2411413" y="4581525"/>
            <a:ext cx="863600" cy="503238"/>
          </a:xfrm>
          <a:prstGeom prst="homePlate">
            <a:avLst>
              <a:gd name="adj" fmla="val 42902"/>
            </a:avLst>
          </a:prstGeom>
          <a:gradFill rotWithShape="1">
            <a:gsLst>
              <a:gs pos="0">
                <a:schemeClr val="tx1">
                  <a:gamma/>
                  <a:shade val="46275"/>
                  <a:invGamma/>
                </a:schemeClr>
              </a:gs>
              <a:gs pos="100000">
                <a:schemeClr val="tx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172" name="AutoShape 4"/>
          <p:cNvSpPr>
            <a:spLocks noChangeArrowheads="1"/>
          </p:cNvSpPr>
          <p:nvPr userDrawn="1"/>
        </p:nvSpPr>
        <p:spPr bwMode="ltGray">
          <a:xfrm flipH="1">
            <a:off x="2700338" y="4581525"/>
            <a:ext cx="719137" cy="503238"/>
          </a:xfrm>
          <a:prstGeom prst="homePlate">
            <a:avLst>
              <a:gd name="adj" fmla="val 35725"/>
            </a:avLst>
          </a:prstGeom>
          <a:gradFill rotWithShape="1">
            <a:gsLst>
              <a:gs pos="0">
                <a:schemeClr val="hlink">
                  <a:gamma/>
                  <a:shade val="46275"/>
                  <a:invGamma/>
                </a:schemeClr>
              </a:gs>
              <a:gs pos="100000">
                <a:schemeClr val="hlink"/>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5173" name="Group 5"/>
          <p:cNvGrpSpPr>
            <a:grpSpLocks/>
          </p:cNvGrpSpPr>
          <p:nvPr userDrawn="1"/>
        </p:nvGrpSpPr>
        <p:grpSpPr bwMode="auto">
          <a:xfrm>
            <a:off x="2987675" y="4581525"/>
            <a:ext cx="6156325" cy="503238"/>
            <a:chOff x="1882" y="2886"/>
            <a:chExt cx="3878" cy="317"/>
          </a:xfrm>
        </p:grpSpPr>
        <p:sp>
          <p:nvSpPr>
            <p:cNvPr id="135174" name="Rectangle 6"/>
            <p:cNvSpPr>
              <a:spLocks noChangeArrowheads="1"/>
            </p:cNvSpPr>
            <p:nvPr userDrawn="1"/>
          </p:nvSpPr>
          <p:spPr bwMode="gray">
            <a:xfrm flipH="1">
              <a:off x="2147" y="2887"/>
              <a:ext cx="3613" cy="316"/>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175" name="AutoShape 7"/>
            <p:cNvSpPr>
              <a:spLocks noChangeArrowheads="1"/>
            </p:cNvSpPr>
            <p:nvPr userDrawn="1"/>
          </p:nvSpPr>
          <p:spPr bwMode="gray">
            <a:xfrm flipH="1">
              <a:off x="1882" y="2886"/>
              <a:ext cx="411" cy="316"/>
            </a:xfrm>
            <a:prstGeom prst="homePlate">
              <a:avLst>
                <a:gd name="adj" fmla="val 32516"/>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30409112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301625" y="609600"/>
            <a:ext cx="8540750" cy="1143000"/>
          </a:xfrm>
          <a:prstGeom prst="rect">
            <a:avLst/>
          </a:prstGeom>
        </p:spPr>
        <p:txBody>
          <a:bodyPr/>
          <a:lstStyle/>
          <a:p>
            <a:r>
              <a:rPr lang="zh-CN" altLang="en-US"/>
              <a:t>单击此处编辑母版标题样式</a:t>
            </a:r>
          </a:p>
        </p:txBody>
      </p:sp>
      <p:sp>
        <p:nvSpPr>
          <p:cNvPr id="3" name="内容占位符 2"/>
          <p:cNvSpPr>
            <a:spLocks noGrp="1"/>
          </p:cNvSpPr>
          <p:nvPr>
            <p:ph sz="quarter" idx="1"/>
          </p:nvPr>
        </p:nvSpPr>
        <p:spPr>
          <a:xfrm>
            <a:off x="301625" y="1905000"/>
            <a:ext cx="4194175" cy="20208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905000"/>
            <a:ext cx="4194175" cy="20208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301625" y="4078288"/>
            <a:ext cx="4194175" cy="2020887"/>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648200" y="4078288"/>
            <a:ext cx="4194175" cy="2020887"/>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xfrm>
            <a:off x="301625" y="6245225"/>
            <a:ext cx="2289175" cy="476250"/>
          </a:xfrm>
          <a:prstGeom prst="rect">
            <a:avLst/>
          </a:prstGeom>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xfrm>
            <a:off x="3124200" y="6245225"/>
            <a:ext cx="2895600" cy="476250"/>
          </a:xfrm>
          <a:prstGeom prst="rect">
            <a:avLst/>
          </a:prstGeom>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xfrm>
            <a:off x="6553200" y="6245225"/>
            <a:ext cx="2289175" cy="476250"/>
          </a:xfrm>
          <a:prstGeom prst="rect">
            <a:avLst/>
          </a:prstGeom>
        </p:spPr>
        <p:txBody>
          <a:bodyPr/>
          <a:lstStyle>
            <a:lvl1pPr>
              <a:defRPr/>
            </a:lvl1pPr>
          </a:lstStyle>
          <a:p>
            <a:fld id="{5E19179E-D1F9-4047-9101-152A202E5FDB}" type="slidenum">
              <a:rPr lang="en-US" altLang="zh-CN"/>
              <a:pPr/>
              <a:t>‹#›</a:t>
            </a:fld>
            <a:endParaRPr lang="en-US" altLang="zh-CN"/>
          </a:p>
        </p:txBody>
      </p:sp>
    </p:spTree>
    <p:extLst>
      <p:ext uri="{BB962C8B-B14F-4D97-AF65-F5344CB8AC3E}">
        <p14:creationId xmlns:p14="http://schemas.microsoft.com/office/powerpoint/2010/main" val="3603726465"/>
      </p:ext>
    </p:extLst>
  </p:cSld>
  <p:clrMapOvr>
    <a:masterClrMapping/>
  </p:clrMapOvr>
  <p:transition spd="slow">
    <p:randomBar dir="vert"/>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01625" y="609600"/>
            <a:ext cx="8540750" cy="54895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p:cNvSpPr>
            <a:spLocks noGrp="1" noChangeArrowheads="1"/>
          </p:cNvSpPr>
          <p:nvPr>
            <p:ph type="dt" sz="half" idx="10"/>
          </p:nvPr>
        </p:nvSpPr>
        <p:spPr>
          <a:xfrm>
            <a:off x="457200" y="6356350"/>
            <a:ext cx="2133600" cy="365125"/>
          </a:xfrm>
          <a:prstGeom prst="rect">
            <a:avLst/>
          </a:prstGeom>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xfrm>
            <a:off x="3124200" y="6356350"/>
            <a:ext cx="2895600" cy="365125"/>
          </a:xfrm>
          <a:prstGeom prst="rect">
            <a:avLst/>
          </a:prstGeom>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xfrm>
            <a:off x="6553200" y="6356350"/>
            <a:ext cx="2133600" cy="365125"/>
          </a:xfrm>
          <a:prstGeom prst="rect">
            <a:avLst/>
          </a:prstGeom>
        </p:spPr>
        <p:txBody>
          <a:bodyPr/>
          <a:lstStyle>
            <a:lvl1pPr>
              <a:defRPr/>
            </a:lvl1pPr>
          </a:lstStyle>
          <a:p>
            <a:fld id="{CB3F366C-44AC-4F76-A2F7-06E6B32BB641}" type="slidenum">
              <a:rPr lang="en-US" altLang="zh-CN"/>
              <a:pPr/>
              <a:t>‹#›</a:t>
            </a:fld>
            <a:endParaRPr lang="en-US" altLang="zh-CN"/>
          </a:p>
        </p:txBody>
      </p:sp>
    </p:spTree>
    <p:extLst>
      <p:ext uri="{BB962C8B-B14F-4D97-AF65-F5344CB8AC3E}">
        <p14:creationId xmlns:p14="http://schemas.microsoft.com/office/powerpoint/2010/main" val="702923755"/>
      </p:ext>
    </p:extLst>
  </p:cSld>
  <p:clrMapOvr>
    <a:masterClrMapping/>
  </p:clrMapOvr>
  <p:transition spd="slow">
    <p:randomBar dir="vert"/>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301625" y="609600"/>
            <a:ext cx="854075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301625" y="1905000"/>
            <a:ext cx="4194175" cy="41941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905000"/>
            <a:ext cx="4194175" cy="20208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4078288"/>
            <a:ext cx="4194175" cy="2020887"/>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p:cNvSpPr>
            <a:spLocks noGrp="1" noChangeArrowheads="1"/>
          </p:cNvSpPr>
          <p:nvPr>
            <p:ph type="dt" sz="half" idx="10"/>
          </p:nvPr>
        </p:nvSpPr>
        <p:spPr>
          <a:xfrm>
            <a:off x="301625" y="6245225"/>
            <a:ext cx="2289175" cy="476250"/>
          </a:xfrm>
          <a:prstGeom prst="rect">
            <a:avLst/>
          </a:prstGeom>
        </p:spPr>
        <p:txBody>
          <a:bodyPr wrap="square" numCol="1" anchor="t" anchorCtr="0" compatLnSpc="1">
            <a:prstTxWarp prst="textNoShape">
              <a:avLst/>
            </a:prstTxWarp>
          </a:bodyPr>
          <a:lstStyle>
            <a:lvl1pPr>
              <a:defRPr>
                <a:ea typeface="宋体" charset="-122"/>
              </a:defRPr>
            </a:lvl1pPr>
          </a:lstStyle>
          <a:p>
            <a:pPr>
              <a:defRPr/>
            </a:pPr>
            <a:endParaRPr lang="en-US" altLang="zh-CN"/>
          </a:p>
        </p:txBody>
      </p:sp>
      <p:sp>
        <p:nvSpPr>
          <p:cNvPr id="7" name="Rectangle 5"/>
          <p:cNvSpPr>
            <a:spLocks noGrp="1" noChangeArrowheads="1"/>
          </p:cNvSpPr>
          <p:nvPr>
            <p:ph type="ftr" sz="quarter" idx="11"/>
          </p:nvPr>
        </p:nvSpPr>
        <p:spPr>
          <a:xfrm>
            <a:off x="3124200" y="6245225"/>
            <a:ext cx="2895600" cy="476250"/>
          </a:xfrm>
          <a:prstGeom prst="rect">
            <a:avLst/>
          </a:prstGeom>
        </p:spPr>
        <p:txBody>
          <a:bodyPr wrap="square" numCol="1" anchor="t" anchorCtr="0" compatLnSpc="1">
            <a:prstTxWarp prst="textNoShape">
              <a:avLst/>
            </a:prstTxWarp>
          </a:bodyPr>
          <a:lstStyle>
            <a:lvl1pPr>
              <a:defRPr>
                <a:ea typeface="宋体" charset="-122"/>
              </a:defRPr>
            </a:lvl1pPr>
          </a:lstStyle>
          <a:p>
            <a:pPr>
              <a:defRPr/>
            </a:pPr>
            <a:endParaRPr lang="en-US" altLang="zh-CN"/>
          </a:p>
        </p:txBody>
      </p:sp>
      <p:sp>
        <p:nvSpPr>
          <p:cNvPr id="8" name="Rectangle 6"/>
          <p:cNvSpPr>
            <a:spLocks noGrp="1" noChangeArrowheads="1"/>
          </p:cNvSpPr>
          <p:nvPr>
            <p:ph type="sldNum" sz="quarter" idx="12"/>
          </p:nvPr>
        </p:nvSpPr>
        <p:spPr>
          <a:xfrm>
            <a:off x="6553200" y="6245225"/>
            <a:ext cx="2289175" cy="476250"/>
          </a:xfrm>
          <a:prstGeom prst="rect">
            <a:avLst/>
          </a:prstGeom>
        </p:spPr>
        <p:txBody>
          <a:bodyPr anchor="t"/>
          <a:lstStyle>
            <a:lvl1pPr>
              <a:defRPr/>
            </a:lvl1pPr>
          </a:lstStyle>
          <a:p>
            <a:fld id="{C2D1F919-5E61-4EBA-8B43-074358AAF04B}" type="slidenum">
              <a:rPr lang="en-US" altLang="zh-CN"/>
              <a:pPr/>
              <a:t>‹#›</a:t>
            </a:fld>
            <a:endParaRPr lang="en-US" altLang="zh-CN"/>
          </a:p>
        </p:txBody>
      </p:sp>
    </p:spTree>
    <p:extLst>
      <p:ext uri="{BB962C8B-B14F-4D97-AF65-F5344CB8AC3E}">
        <p14:creationId xmlns:p14="http://schemas.microsoft.com/office/powerpoint/2010/main" val="3922558793"/>
      </p:ext>
    </p:extLst>
  </p:cSld>
  <p:clrMapOvr>
    <a:masterClrMapping/>
  </p:clrMapOvr>
  <p:transition spd="slow">
    <p:randomBar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hyperlink" Target="../&#31532;&#20108;&#31456;/chap2.ppt" TargetMode="External"/><Relationship Id="rId26" Type="http://schemas.openxmlformats.org/officeDocument/2006/relationships/image" Target="../media/image4.png"/><Relationship Id="rId3" Type="http://schemas.openxmlformats.org/officeDocument/2006/relationships/slideLayout" Target="../slideLayouts/slideLayout3.xml"/><Relationship Id="rId21" Type="http://schemas.openxmlformats.org/officeDocument/2006/relationships/hyperlink" Target="../&#31532;&#19977;&#31456;/chap3.ppt" TargetMode="Externa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5" Type="http://schemas.openxmlformats.org/officeDocument/2006/relationships/oleObject" Target="../embeddings/oleObject3.bin"/><Relationship Id="rId2" Type="http://schemas.openxmlformats.org/officeDocument/2006/relationships/slideLayout" Target="../slideLayouts/slideLayout2.xml"/><Relationship Id="rId16" Type="http://schemas.openxmlformats.org/officeDocument/2006/relationships/theme" Target="../theme/theme1.xml"/><Relationship Id="rId20" Type="http://schemas.openxmlformats.org/officeDocument/2006/relationships/image" Target="../media/image2.png"/><Relationship Id="rId29"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hyperlink" Target="../&#31532;&#22235;&#31456;/chap4.ppt" TargetMode="Externa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3.png"/><Relationship Id="rId28" Type="http://schemas.openxmlformats.org/officeDocument/2006/relationships/oleObject" Target="../embeddings/oleObject4.bin"/><Relationship Id="rId10" Type="http://schemas.openxmlformats.org/officeDocument/2006/relationships/slideLayout" Target="../slideLayouts/slideLayout10.xml"/><Relationship Id="rId19"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oleObject" Target="../embeddings/oleObject2.bin"/><Relationship Id="rId27" Type="http://schemas.openxmlformats.org/officeDocument/2006/relationships/hyperlink" Target="../&#31532;&#20116;&#31456;/chap5.ppt"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7" descr="背景(静力学)"/>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AutoShape 8">
            <a:hlinkClick r:id="" action="ppaction://hlinkshowjump?jump=previousslide" highlightClick="1"/>
          </p:cNvPr>
          <p:cNvSpPr>
            <a:spLocks noChangeArrowheads="1"/>
          </p:cNvSpPr>
          <p:nvPr userDrawn="1"/>
        </p:nvSpPr>
        <p:spPr bwMode="auto">
          <a:xfrm>
            <a:off x="228600" y="6248400"/>
            <a:ext cx="3810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rgbClr val="FF9900"/>
            </a:solidFill>
            <a:miter lim="800000"/>
            <a:headEnd/>
            <a:tailEnd/>
          </a:ln>
          <a:effectLst/>
        </p:spPr>
        <p:txBody>
          <a:bodyPr wrap="none" anchor="ctr"/>
          <a:lstStyle/>
          <a:p>
            <a:pPr eaLnBrk="1" hangingPunct="1">
              <a:defRPr/>
            </a:pPr>
            <a:endParaRPr lang="zh-CN" altLang="en-US"/>
          </a:p>
        </p:txBody>
      </p:sp>
      <p:sp>
        <p:nvSpPr>
          <p:cNvPr id="1033" name="AutoShape 9">
            <a:hlinkClick r:id="" action="ppaction://hlinkshowjump?jump=nextslide" highlightClick="1"/>
          </p:cNvPr>
          <p:cNvSpPr>
            <a:spLocks noChangeAspect="1" noChangeArrowheads="1"/>
          </p:cNvSpPr>
          <p:nvPr userDrawn="1"/>
        </p:nvSpPr>
        <p:spPr bwMode="auto">
          <a:xfrm>
            <a:off x="762000" y="6248400"/>
            <a:ext cx="381000" cy="381000"/>
          </a:xfrm>
          <a:prstGeom prst="actionButtonForwardNext">
            <a:avLst/>
          </a:prstGeom>
          <a:gradFill rotWithShape="0">
            <a:gsLst>
              <a:gs pos="0">
                <a:schemeClr val="accent1"/>
              </a:gs>
              <a:gs pos="100000">
                <a:schemeClr val="accent1">
                  <a:gamma/>
                  <a:shade val="46275"/>
                  <a:invGamma/>
                </a:schemeClr>
              </a:gs>
            </a:gsLst>
            <a:path path="rect">
              <a:fillToRect l="50000" t="50000" r="50000" b="50000"/>
            </a:path>
          </a:gradFill>
          <a:ln w="9525">
            <a:solidFill>
              <a:srgbClr val="FF9900"/>
            </a:solidFill>
            <a:miter lim="800000"/>
            <a:headEnd/>
            <a:tailEnd/>
          </a:ln>
          <a:effectLst/>
        </p:spPr>
        <p:txBody>
          <a:bodyPr wrap="none" anchor="ctr"/>
          <a:lstStyle/>
          <a:p>
            <a:pPr eaLnBrk="1" hangingPunct="1">
              <a:defRPr/>
            </a:pPr>
            <a:endParaRPr lang="zh-CN" altLang="en-US"/>
          </a:p>
        </p:txBody>
      </p:sp>
      <p:graphicFrame>
        <p:nvGraphicFramePr>
          <p:cNvPr id="1029" name="Object 10">
            <a:hlinkClick r:id="rId18" action="ppaction://hlinkpres?slideindex=1&amp;slidetitle="/>
          </p:cNvPr>
          <p:cNvGraphicFramePr>
            <a:graphicFrameLocks noChangeAspect="1"/>
          </p:cNvGraphicFramePr>
          <p:nvPr userDrawn="1"/>
        </p:nvGraphicFramePr>
        <p:xfrm>
          <a:off x="0" y="0"/>
          <a:ext cx="503238" cy="1738313"/>
        </p:xfrm>
        <a:graphic>
          <a:graphicData uri="http://schemas.openxmlformats.org/presentationml/2006/ole">
            <mc:AlternateContent xmlns:mc="http://schemas.openxmlformats.org/markup-compatibility/2006">
              <mc:Choice xmlns:v="urn:schemas-microsoft-com:vml" Requires="v">
                <p:oleObj name="Image" r:id="rId19" imgW="557643" imgH="1926014" progId="Photoshop.Image.6">
                  <p:embed/>
                </p:oleObj>
              </mc:Choice>
              <mc:Fallback>
                <p:oleObj name="Image" r:id="rId19" imgW="557643" imgH="1926014" progId="Photoshop.Image.6">
                  <p:embed/>
                  <p:pic>
                    <p:nvPicPr>
                      <p:cNvPr id="0" name="Object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0" y="0"/>
                        <a:ext cx="503238" cy="173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30" name="Object 11">
            <a:hlinkClick r:id="rId21" action="ppaction://hlinkpres?slideindex=1&amp;slidetitle="/>
          </p:cNvPr>
          <p:cNvGraphicFramePr>
            <a:graphicFrameLocks noChangeAspect="1"/>
          </p:cNvGraphicFramePr>
          <p:nvPr userDrawn="1"/>
        </p:nvGraphicFramePr>
        <p:xfrm>
          <a:off x="0" y="1676400"/>
          <a:ext cx="508000" cy="1730375"/>
        </p:xfrm>
        <a:graphic>
          <a:graphicData uri="http://schemas.openxmlformats.org/presentationml/2006/ole">
            <mc:AlternateContent xmlns:mc="http://schemas.openxmlformats.org/markup-compatibility/2006">
              <mc:Choice xmlns:v="urn:schemas-microsoft-com:vml" Requires="v">
                <p:oleObj name="Image" r:id="rId22" imgW="563738" imgH="1920244" progId="Photoshop.Image.6">
                  <p:embed/>
                </p:oleObj>
              </mc:Choice>
              <mc:Fallback>
                <p:oleObj name="Image" r:id="rId22" imgW="563738" imgH="1920244" progId="Photoshop.Image.6">
                  <p:embed/>
                  <p:pic>
                    <p:nvPicPr>
                      <p:cNvPr id="0" name="Object 11"/>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0" y="1676400"/>
                        <a:ext cx="508000" cy="173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31" name="Object 12">
            <a:hlinkClick r:id="rId24" action="ppaction://hlinkpres?slideindex=1&amp;slidetitle="/>
          </p:cNvPr>
          <p:cNvGraphicFramePr>
            <a:graphicFrameLocks noChangeAspect="1"/>
          </p:cNvGraphicFramePr>
          <p:nvPr userDrawn="1"/>
        </p:nvGraphicFramePr>
        <p:xfrm>
          <a:off x="36513" y="3352800"/>
          <a:ext cx="468312" cy="1093788"/>
        </p:xfrm>
        <a:graphic>
          <a:graphicData uri="http://schemas.openxmlformats.org/presentationml/2006/ole">
            <mc:AlternateContent xmlns:mc="http://schemas.openxmlformats.org/markup-compatibility/2006">
              <mc:Choice xmlns:v="urn:schemas-microsoft-com:vml" Requires="v">
                <p:oleObj name="Image" r:id="rId25" imgW="518029" imgH="1209956" progId="Photoshop.Image.6">
                  <p:embed/>
                </p:oleObj>
              </mc:Choice>
              <mc:Fallback>
                <p:oleObj name="Image" r:id="rId25" imgW="518029" imgH="1209956" progId="Photoshop.Image.6">
                  <p:embed/>
                  <p:pic>
                    <p:nvPicPr>
                      <p:cNvPr id="0" name="Object 12"/>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6513" y="3352800"/>
                        <a:ext cx="468312" cy="1093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 name="Object 13">
            <a:hlinkClick r:id="rId27" action="ppaction://hlinkpres?slideindex=1&amp;slidetitle="/>
          </p:cNvPr>
          <p:cNvGraphicFramePr>
            <a:graphicFrameLocks noChangeAspect="1"/>
          </p:cNvGraphicFramePr>
          <p:nvPr userDrawn="1"/>
        </p:nvGraphicFramePr>
        <p:xfrm>
          <a:off x="90488" y="4419600"/>
          <a:ext cx="417512" cy="1458913"/>
        </p:xfrm>
        <a:graphic>
          <a:graphicData uri="http://schemas.openxmlformats.org/presentationml/2006/ole">
            <mc:AlternateContent xmlns:mc="http://schemas.openxmlformats.org/markup-compatibility/2006">
              <mc:Choice xmlns:v="urn:schemas-microsoft-com:vml" Requires="v">
                <p:oleObj name="Image" r:id="rId28" imgW="462944" imgH="1618217" progId="Photoshop.Image.6">
                  <p:embed/>
                </p:oleObj>
              </mc:Choice>
              <mc:Fallback>
                <p:oleObj name="Image" r:id="rId28" imgW="462944" imgH="1618217" progId="Photoshop.Image.6">
                  <p:embed/>
                  <p:pic>
                    <p:nvPicPr>
                      <p:cNvPr id="0" name="Object 13"/>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90488" y="4419600"/>
                        <a:ext cx="417512" cy="1458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3" r:id="rId14"/>
    <p:sldLayoutId id="2147483664" r:id="rId15"/>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 Id="rId4" Type="http://schemas.openxmlformats.org/officeDocument/2006/relationships/image" Target="../media/image14.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8.bin"/><Relationship Id="rId13" Type="http://schemas.openxmlformats.org/officeDocument/2006/relationships/image" Target="../media/image21.wmf"/><Relationship Id="rId18" Type="http://schemas.openxmlformats.org/officeDocument/2006/relationships/oleObject" Target="../embeddings/oleObject13.bin"/><Relationship Id="rId3" Type="http://schemas.openxmlformats.org/officeDocument/2006/relationships/image" Target="../media/image16.wmf"/><Relationship Id="rId7" Type="http://schemas.openxmlformats.org/officeDocument/2006/relationships/image" Target="../media/image18.wmf"/><Relationship Id="rId12" Type="http://schemas.openxmlformats.org/officeDocument/2006/relationships/oleObject" Target="../embeddings/oleObject10.bin"/><Relationship Id="rId17" Type="http://schemas.openxmlformats.org/officeDocument/2006/relationships/image" Target="../media/image23.wmf"/><Relationship Id="rId2" Type="http://schemas.openxmlformats.org/officeDocument/2006/relationships/oleObject" Target="../embeddings/oleObject5.bin"/><Relationship Id="rId16" Type="http://schemas.openxmlformats.org/officeDocument/2006/relationships/oleObject" Target="../embeddings/oleObject12.bin"/><Relationship Id="rId1" Type="http://schemas.openxmlformats.org/officeDocument/2006/relationships/slideLayout" Target="../slideLayouts/slideLayout7.xml"/><Relationship Id="rId6" Type="http://schemas.openxmlformats.org/officeDocument/2006/relationships/oleObject" Target="../embeddings/oleObject7.bin"/><Relationship Id="rId11" Type="http://schemas.openxmlformats.org/officeDocument/2006/relationships/image" Target="../media/image20.wmf"/><Relationship Id="rId5" Type="http://schemas.openxmlformats.org/officeDocument/2006/relationships/image" Target="../media/image17.wmf"/><Relationship Id="rId15" Type="http://schemas.openxmlformats.org/officeDocument/2006/relationships/image" Target="../media/image22.wmf"/><Relationship Id="rId10" Type="http://schemas.openxmlformats.org/officeDocument/2006/relationships/oleObject" Target="../embeddings/oleObject9.bin"/><Relationship Id="rId19" Type="http://schemas.openxmlformats.org/officeDocument/2006/relationships/image" Target="../media/image24.wmf"/><Relationship Id="rId4" Type="http://schemas.openxmlformats.org/officeDocument/2006/relationships/oleObject" Target="../embeddings/oleObject6.bin"/><Relationship Id="rId9" Type="http://schemas.openxmlformats.org/officeDocument/2006/relationships/image" Target="../media/image19.wmf"/><Relationship Id="rId14" Type="http://schemas.openxmlformats.org/officeDocument/2006/relationships/oleObject" Target="../embeddings/oleObject11.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image" Target="../media/image25.wmf"/><Relationship Id="rId7" Type="http://schemas.openxmlformats.org/officeDocument/2006/relationships/image" Target="../media/image27.emf"/><Relationship Id="rId2" Type="http://schemas.openxmlformats.org/officeDocument/2006/relationships/oleObject" Target="../embeddings/oleObject14.bin"/><Relationship Id="rId1" Type="http://schemas.openxmlformats.org/officeDocument/2006/relationships/slideLayout" Target="../slideLayouts/slideLayout7.xml"/><Relationship Id="rId6" Type="http://schemas.openxmlformats.org/officeDocument/2006/relationships/oleObject" Target="../embeddings/oleObject16.bin"/><Relationship Id="rId11" Type="http://schemas.openxmlformats.org/officeDocument/2006/relationships/image" Target="../media/image29.emf"/><Relationship Id="rId5" Type="http://schemas.openxmlformats.org/officeDocument/2006/relationships/image" Target="../media/image26.emf"/><Relationship Id="rId10" Type="http://schemas.openxmlformats.org/officeDocument/2006/relationships/oleObject" Target="../embeddings/oleObject18.bin"/><Relationship Id="rId4" Type="http://schemas.openxmlformats.org/officeDocument/2006/relationships/oleObject" Target="../embeddings/oleObject15.bin"/><Relationship Id="rId9" Type="http://schemas.openxmlformats.org/officeDocument/2006/relationships/image" Target="../media/image28.wmf"/></Relationships>
</file>

<file path=ppt/slides/_rels/slide12.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oleObject" Target="../embeddings/oleObject18.bin"/><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22.bin"/><Relationship Id="rId3" Type="http://schemas.openxmlformats.org/officeDocument/2006/relationships/image" Target="../media/image30.wmf"/><Relationship Id="rId7" Type="http://schemas.openxmlformats.org/officeDocument/2006/relationships/image" Target="../media/image32.wmf"/><Relationship Id="rId2" Type="http://schemas.openxmlformats.org/officeDocument/2006/relationships/oleObject" Target="../embeddings/oleObject19.bin"/><Relationship Id="rId1" Type="http://schemas.openxmlformats.org/officeDocument/2006/relationships/slideLayout" Target="../slideLayouts/slideLayout2.xml"/><Relationship Id="rId6" Type="http://schemas.openxmlformats.org/officeDocument/2006/relationships/oleObject" Target="../embeddings/oleObject21.bin"/><Relationship Id="rId11" Type="http://schemas.openxmlformats.org/officeDocument/2006/relationships/image" Target="../media/image34.wmf"/><Relationship Id="rId5" Type="http://schemas.openxmlformats.org/officeDocument/2006/relationships/image" Target="../media/image31.wmf"/><Relationship Id="rId10" Type="http://schemas.openxmlformats.org/officeDocument/2006/relationships/oleObject" Target="../embeddings/oleObject23.bin"/><Relationship Id="rId4" Type="http://schemas.openxmlformats.org/officeDocument/2006/relationships/oleObject" Target="../embeddings/oleObject20.bin"/><Relationship Id="rId9" Type="http://schemas.openxmlformats.org/officeDocument/2006/relationships/image" Target="../media/image33.wmf"/></Relationships>
</file>

<file path=ppt/slides/_rels/slide14.xml.rels><?xml version="1.0" encoding="UTF-8" standalone="yes"?>
<Relationships xmlns="http://schemas.openxmlformats.org/package/2006/relationships"><Relationship Id="rId8" Type="http://schemas.openxmlformats.org/officeDocument/2006/relationships/image" Target="../media/image38.wmf"/><Relationship Id="rId3" Type="http://schemas.openxmlformats.org/officeDocument/2006/relationships/oleObject" Target="../embeddings/oleObject24.bin"/><Relationship Id="rId7" Type="http://schemas.openxmlformats.org/officeDocument/2006/relationships/oleObject" Target="../embeddings/oleObject26.bin"/><Relationship Id="rId12" Type="http://schemas.openxmlformats.org/officeDocument/2006/relationships/image" Target="../media/image40.wmf"/><Relationship Id="rId2" Type="http://schemas.openxmlformats.org/officeDocument/2006/relationships/image" Target="../media/image35.jpeg"/><Relationship Id="rId1" Type="http://schemas.openxmlformats.org/officeDocument/2006/relationships/slideLayout" Target="../slideLayouts/slideLayout2.xml"/><Relationship Id="rId6" Type="http://schemas.openxmlformats.org/officeDocument/2006/relationships/image" Target="../media/image37.wmf"/><Relationship Id="rId11" Type="http://schemas.openxmlformats.org/officeDocument/2006/relationships/oleObject" Target="../embeddings/oleObject28.bin"/><Relationship Id="rId5" Type="http://schemas.openxmlformats.org/officeDocument/2006/relationships/oleObject" Target="../embeddings/oleObject25.bin"/><Relationship Id="rId10" Type="http://schemas.openxmlformats.org/officeDocument/2006/relationships/image" Target="../media/image39.wmf"/><Relationship Id="rId4" Type="http://schemas.openxmlformats.org/officeDocument/2006/relationships/image" Target="../media/image36.emf"/><Relationship Id="rId9" Type="http://schemas.openxmlformats.org/officeDocument/2006/relationships/oleObject" Target="../embeddings/oleObject27.bin"/></Relationships>
</file>

<file path=ppt/slides/_rels/slide15.xml.rels><?xml version="1.0" encoding="UTF-8" standalone="yes"?>
<Relationships xmlns="http://schemas.openxmlformats.org/package/2006/relationships"><Relationship Id="rId8" Type="http://schemas.openxmlformats.org/officeDocument/2006/relationships/image" Target="../media/image44.emf"/><Relationship Id="rId13" Type="http://schemas.openxmlformats.org/officeDocument/2006/relationships/oleObject" Target="../embeddings/oleObject34.bin"/><Relationship Id="rId18" Type="http://schemas.openxmlformats.org/officeDocument/2006/relationships/oleObject" Target="../embeddings/oleObject36.bin"/><Relationship Id="rId3" Type="http://schemas.openxmlformats.org/officeDocument/2006/relationships/image" Target="../media/image41.emf"/><Relationship Id="rId21" Type="http://schemas.openxmlformats.org/officeDocument/2006/relationships/image" Target="../media/image51.emf"/><Relationship Id="rId7" Type="http://schemas.openxmlformats.org/officeDocument/2006/relationships/oleObject" Target="../embeddings/oleObject31.bin"/><Relationship Id="rId12" Type="http://schemas.openxmlformats.org/officeDocument/2006/relationships/image" Target="../media/image46.wmf"/><Relationship Id="rId17" Type="http://schemas.openxmlformats.org/officeDocument/2006/relationships/image" Target="../media/image49.emf"/><Relationship Id="rId25" Type="http://schemas.openxmlformats.org/officeDocument/2006/relationships/image" Target="../media/image53.emf"/><Relationship Id="rId2" Type="http://schemas.openxmlformats.org/officeDocument/2006/relationships/oleObject" Target="../embeddings/oleObject29.bin"/><Relationship Id="rId16" Type="http://schemas.openxmlformats.org/officeDocument/2006/relationships/image" Target="../media/image48.emf"/><Relationship Id="rId20" Type="http://schemas.openxmlformats.org/officeDocument/2006/relationships/oleObject" Target="../embeddings/oleObject37.bin"/><Relationship Id="rId1" Type="http://schemas.openxmlformats.org/officeDocument/2006/relationships/slideLayout" Target="../slideLayouts/slideLayout7.xml"/><Relationship Id="rId6" Type="http://schemas.openxmlformats.org/officeDocument/2006/relationships/image" Target="../media/image43.emf"/><Relationship Id="rId11" Type="http://schemas.openxmlformats.org/officeDocument/2006/relationships/oleObject" Target="../embeddings/oleObject33.bin"/><Relationship Id="rId24" Type="http://schemas.openxmlformats.org/officeDocument/2006/relationships/oleObject" Target="../embeddings/oleObject39.bin"/><Relationship Id="rId5" Type="http://schemas.openxmlformats.org/officeDocument/2006/relationships/image" Target="../media/image42.emf"/><Relationship Id="rId15" Type="http://schemas.openxmlformats.org/officeDocument/2006/relationships/oleObject" Target="../embeddings/oleObject35.bin"/><Relationship Id="rId23" Type="http://schemas.openxmlformats.org/officeDocument/2006/relationships/image" Target="../media/image52.emf"/><Relationship Id="rId10" Type="http://schemas.openxmlformats.org/officeDocument/2006/relationships/image" Target="../media/image45.wmf"/><Relationship Id="rId19" Type="http://schemas.openxmlformats.org/officeDocument/2006/relationships/image" Target="../media/image50.emf"/><Relationship Id="rId4" Type="http://schemas.openxmlformats.org/officeDocument/2006/relationships/oleObject" Target="../embeddings/oleObject30.bin"/><Relationship Id="rId9" Type="http://schemas.openxmlformats.org/officeDocument/2006/relationships/oleObject" Target="../embeddings/oleObject32.bin"/><Relationship Id="rId14" Type="http://schemas.openxmlformats.org/officeDocument/2006/relationships/image" Target="../media/image47.emf"/><Relationship Id="rId22" Type="http://schemas.openxmlformats.org/officeDocument/2006/relationships/oleObject" Target="../embeddings/oleObject38.bin"/></Relationships>
</file>

<file path=ppt/slides/_rels/slide16.xml.rels><?xml version="1.0" encoding="UTF-8" standalone="yes"?>
<Relationships xmlns="http://schemas.openxmlformats.org/package/2006/relationships"><Relationship Id="rId8" Type="http://schemas.openxmlformats.org/officeDocument/2006/relationships/image" Target="../media/image58.wmf"/><Relationship Id="rId3" Type="http://schemas.openxmlformats.org/officeDocument/2006/relationships/image" Target="../media/image55.jpeg"/><Relationship Id="rId7" Type="http://schemas.openxmlformats.org/officeDocument/2006/relationships/oleObject" Target="../embeddings/oleObject41.bin"/><Relationship Id="rId2" Type="http://schemas.openxmlformats.org/officeDocument/2006/relationships/image" Target="../media/image54.jpeg"/><Relationship Id="rId1" Type="http://schemas.openxmlformats.org/officeDocument/2006/relationships/slideLayout" Target="../slideLayouts/slideLayout7.xml"/><Relationship Id="rId6" Type="http://schemas.openxmlformats.org/officeDocument/2006/relationships/image" Target="../media/image57.wmf"/><Relationship Id="rId5" Type="http://schemas.openxmlformats.org/officeDocument/2006/relationships/oleObject" Target="../embeddings/oleObject40.bin"/><Relationship Id="rId4" Type="http://schemas.openxmlformats.org/officeDocument/2006/relationships/image" Target="../media/image56.jpeg"/></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45.bin"/><Relationship Id="rId13" Type="http://schemas.openxmlformats.org/officeDocument/2006/relationships/image" Target="../media/image64.emf"/><Relationship Id="rId18" Type="http://schemas.openxmlformats.org/officeDocument/2006/relationships/oleObject" Target="../embeddings/oleObject50.bin"/><Relationship Id="rId3" Type="http://schemas.openxmlformats.org/officeDocument/2006/relationships/image" Target="../media/image59.emf"/><Relationship Id="rId21" Type="http://schemas.openxmlformats.org/officeDocument/2006/relationships/image" Target="../media/image68.wmf"/><Relationship Id="rId7" Type="http://schemas.openxmlformats.org/officeDocument/2006/relationships/image" Target="../media/image61.emf"/><Relationship Id="rId12" Type="http://schemas.openxmlformats.org/officeDocument/2006/relationships/oleObject" Target="../embeddings/oleObject47.bin"/><Relationship Id="rId17" Type="http://schemas.openxmlformats.org/officeDocument/2006/relationships/image" Target="../media/image66.wmf"/><Relationship Id="rId2" Type="http://schemas.openxmlformats.org/officeDocument/2006/relationships/oleObject" Target="../embeddings/oleObject42.bin"/><Relationship Id="rId16" Type="http://schemas.openxmlformats.org/officeDocument/2006/relationships/oleObject" Target="../embeddings/oleObject49.bin"/><Relationship Id="rId20" Type="http://schemas.openxmlformats.org/officeDocument/2006/relationships/oleObject" Target="../embeddings/oleObject51.bin"/><Relationship Id="rId1" Type="http://schemas.openxmlformats.org/officeDocument/2006/relationships/slideLayout" Target="../slideLayouts/slideLayout7.xml"/><Relationship Id="rId6" Type="http://schemas.openxmlformats.org/officeDocument/2006/relationships/oleObject" Target="../embeddings/oleObject44.bin"/><Relationship Id="rId11" Type="http://schemas.openxmlformats.org/officeDocument/2006/relationships/image" Target="../media/image63.emf"/><Relationship Id="rId5" Type="http://schemas.openxmlformats.org/officeDocument/2006/relationships/image" Target="../media/image60.emf"/><Relationship Id="rId15" Type="http://schemas.openxmlformats.org/officeDocument/2006/relationships/image" Target="../media/image65.wmf"/><Relationship Id="rId10" Type="http://schemas.openxmlformats.org/officeDocument/2006/relationships/oleObject" Target="../embeddings/oleObject46.bin"/><Relationship Id="rId19" Type="http://schemas.openxmlformats.org/officeDocument/2006/relationships/image" Target="../media/image67.wmf"/><Relationship Id="rId4" Type="http://schemas.openxmlformats.org/officeDocument/2006/relationships/oleObject" Target="../embeddings/oleObject43.bin"/><Relationship Id="rId9" Type="http://schemas.openxmlformats.org/officeDocument/2006/relationships/image" Target="../media/image62.emf"/><Relationship Id="rId14" Type="http://schemas.openxmlformats.org/officeDocument/2006/relationships/oleObject" Target="../embeddings/oleObject48.bin"/></Relationships>
</file>

<file path=ppt/slides/_rels/slide18.xml.rels><?xml version="1.0" encoding="UTF-8" standalone="yes"?>
<Relationships xmlns="http://schemas.openxmlformats.org/package/2006/relationships"><Relationship Id="rId8" Type="http://schemas.openxmlformats.org/officeDocument/2006/relationships/image" Target="../media/image60.emf"/><Relationship Id="rId13" Type="http://schemas.openxmlformats.org/officeDocument/2006/relationships/oleObject" Target="../embeddings/oleObject53.bin"/><Relationship Id="rId3" Type="http://schemas.openxmlformats.org/officeDocument/2006/relationships/image" Target="../media/image69.wmf"/><Relationship Id="rId7" Type="http://schemas.openxmlformats.org/officeDocument/2006/relationships/oleObject" Target="../embeddings/oleObject43.bin"/><Relationship Id="rId12" Type="http://schemas.openxmlformats.org/officeDocument/2006/relationships/image" Target="../media/image63.emf"/><Relationship Id="rId2" Type="http://schemas.openxmlformats.org/officeDocument/2006/relationships/oleObject" Target="../embeddings/oleObject52.bin"/><Relationship Id="rId16" Type="http://schemas.openxmlformats.org/officeDocument/2006/relationships/image" Target="../media/image64.emf"/><Relationship Id="rId1" Type="http://schemas.openxmlformats.org/officeDocument/2006/relationships/slideLayout" Target="../slideLayouts/slideLayout7.xml"/><Relationship Id="rId6" Type="http://schemas.openxmlformats.org/officeDocument/2006/relationships/image" Target="../media/image59.emf"/><Relationship Id="rId11" Type="http://schemas.openxmlformats.org/officeDocument/2006/relationships/oleObject" Target="../embeddings/oleObject46.bin"/><Relationship Id="rId5" Type="http://schemas.openxmlformats.org/officeDocument/2006/relationships/oleObject" Target="../embeddings/oleObject42.bin"/><Relationship Id="rId15" Type="http://schemas.openxmlformats.org/officeDocument/2006/relationships/oleObject" Target="../embeddings/oleObject47.bin"/><Relationship Id="rId10" Type="http://schemas.openxmlformats.org/officeDocument/2006/relationships/image" Target="../media/image62.emf"/><Relationship Id="rId4" Type="http://schemas.openxmlformats.org/officeDocument/2006/relationships/image" Target="../media/image70.jpeg"/><Relationship Id="rId9" Type="http://schemas.openxmlformats.org/officeDocument/2006/relationships/oleObject" Target="../embeddings/oleObject45.bin"/><Relationship Id="rId14" Type="http://schemas.openxmlformats.org/officeDocument/2006/relationships/image" Target="../media/image71.emf"/></Relationships>
</file>

<file path=ppt/slides/_rels/slide19.xml.rels><?xml version="1.0" encoding="UTF-8" standalone="yes"?>
<Relationships xmlns="http://schemas.openxmlformats.org/package/2006/relationships"><Relationship Id="rId8" Type="http://schemas.openxmlformats.org/officeDocument/2006/relationships/image" Target="../media/image60.emf"/><Relationship Id="rId13" Type="http://schemas.openxmlformats.org/officeDocument/2006/relationships/oleObject" Target="../embeddings/oleObject53.bin"/><Relationship Id="rId18" Type="http://schemas.openxmlformats.org/officeDocument/2006/relationships/image" Target="../media/image64.emf"/><Relationship Id="rId26" Type="http://schemas.openxmlformats.org/officeDocument/2006/relationships/image" Target="../media/image78.emf"/><Relationship Id="rId3" Type="http://schemas.openxmlformats.org/officeDocument/2006/relationships/oleObject" Target="../embeddings/oleObject54.bin"/><Relationship Id="rId21" Type="http://schemas.openxmlformats.org/officeDocument/2006/relationships/oleObject" Target="../embeddings/oleObject57.bin"/><Relationship Id="rId7" Type="http://schemas.openxmlformats.org/officeDocument/2006/relationships/oleObject" Target="../embeddings/oleObject43.bin"/><Relationship Id="rId12" Type="http://schemas.openxmlformats.org/officeDocument/2006/relationships/image" Target="../media/image63.emf"/><Relationship Id="rId17" Type="http://schemas.openxmlformats.org/officeDocument/2006/relationships/oleObject" Target="../embeddings/oleObject47.bin"/><Relationship Id="rId25" Type="http://schemas.openxmlformats.org/officeDocument/2006/relationships/oleObject" Target="../embeddings/oleObject59.bin"/><Relationship Id="rId2" Type="http://schemas.openxmlformats.org/officeDocument/2006/relationships/image" Target="../media/image72.png"/><Relationship Id="rId16" Type="http://schemas.openxmlformats.org/officeDocument/2006/relationships/image" Target="../media/image74.emf"/><Relationship Id="rId20" Type="http://schemas.openxmlformats.org/officeDocument/2006/relationships/image" Target="../media/image75.emf"/><Relationship Id="rId29" Type="http://schemas.openxmlformats.org/officeDocument/2006/relationships/image" Target="../media/image80.jpeg"/><Relationship Id="rId1" Type="http://schemas.openxmlformats.org/officeDocument/2006/relationships/slideLayout" Target="../slideLayouts/slideLayout7.xml"/><Relationship Id="rId6" Type="http://schemas.openxmlformats.org/officeDocument/2006/relationships/image" Target="../media/image59.emf"/><Relationship Id="rId11" Type="http://schemas.openxmlformats.org/officeDocument/2006/relationships/oleObject" Target="../embeddings/oleObject46.bin"/><Relationship Id="rId24" Type="http://schemas.openxmlformats.org/officeDocument/2006/relationships/image" Target="../media/image77.emf"/><Relationship Id="rId32" Type="http://schemas.openxmlformats.org/officeDocument/2006/relationships/image" Target="../media/image81.wmf"/><Relationship Id="rId5" Type="http://schemas.openxmlformats.org/officeDocument/2006/relationships/oleObject" Target="../embeddings/oleObject42.bin"/><Relationship Id="rId15" Type="http://schemas.openxmlformats.org/officeDocument/2006/relationships/oleObject" Target="../embeddings/oleObject55.bin"/><Relationship Id="rId23" Type="http://schemas.openxmlformats.org/officeDocument/2006/relationships/oleObject" Target="../embeddings/oleObject58.bin"/><Relationship Id="rId28" Type="http://schemas.openxmlformats.org/officeDocument/2006/relationships/image" Target="../media/image79.emf"/><Relationship Id="rId10" Type="http://schemas.openxmlformats.org/officeDocument/2006/relationships/image" Target="../media/image62.emf"/><Relationship Id="rId19" Type="http://schemas.openxmlformats.org/officeDocument/2006/relationships/oleObject" Target="../embeddings/oleObject56.bin"/><Relationship Id="rId31" Type="http://schemas.openxmlformats.org/officeDocument/2006/relationships/oleObject" Target="../embeddings/oleObject61.bin"/><Relationship Id="rId4" Type="http://schemas.openxmlformats.org/officeDocument/2006/relationships/image" Target="../media/image73.wmf"/><Relationship Id="rId9" Type="http://schemas.openxmlformats.org/officeDocument/2006/relationships/oleObject" Target="../embeddings/oleObject45.bin"/><Relationship Id="rId14" Type="http://schemas.openxmlformats.org/officeDocument/2006/relationships/image" Target="../media/image71.emf"/><Relationship Id="rId22" Type="http://schemas.openxmlformats.org/officeDocument/2006/relationships/image" Target="../media/image76.emf"/><Relationship Id="rId27" Type="http://schemas.openxmlformats.org/officeDocument/2006/relationships/oleObject" Target="../embeddings/oleObject60.bin"/><Relationship Id="rId30" Type="http://schemas.openxmlformats.org/officeDocument/2006/relationships/image" Target="../media/image70.jpeg"/></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65.bin"/><Relationship Id="rId3" Type="http://schemas.openxmlformats.org/officeDocument/2006/relationships/image" Target="../media/image82.emf"/><Relationship Id="rId7" Type="http://schemas.openxmlformats.org/officeDocument/2006/relationships/image" Target="../media/image84.emf"/><Relationship Id="rId2" Type="http://schemas.openxmlformats.org/officeDocument/2006/relationships/oleObject" Target="../embeddings/oleObject62.bin"/><Relationship Id="rId1" Type="http://schemas.openxmlformats.org/officeDocument/2006/relationships/slideLayout" Target="../slideLayouts/slideLayout7.xml"/><Relationship Id="rId6" Type="http://schemas.openxmlformats.org/officeDocument/2006/relationships/oleObject" Target="../embeddings/oleObject64.bin"/><Relationship Id="rId5" Type="http://schemas.openxmlformats.org/officeDocument/2006/relationships/image" Target="../media/image83.emf"/><Relationship Id="rId4" Type="http://schemas.openxmlformats.org/officeDocument/2006/relationships/oleObject" Target="../embeddings/oleObject63.bin"/><Relationship Id="rId9" Type="http://schemas.openxmlformats.org/officeDocument/2006/relationships/image" Target="../media/image85.emf"/></Relationships>
</file>

<file path=ppt/slides/_rels/slide21.xml.rels><?xml version="1.0" encoding="UTF-8" standalone="yes"?>
<Relationships xmlns="http://schemas.openxmlformats.org/package/2006/relationships"><Relationship Id="rId8" Type="http://schemas.openxmlformats.org/officeDocument/2006/relationships/image" Target="../media/image89.emf"/><Relationship Id="rId3" Type="http://schemas.openxmlformats.org/officeDocument/2006/relationships/oleObject" Target="../embeddings/oleObject66.bin"/><Relationship Id="rId7" Type="http://schemas.openxmlformats.org/officeDocument/2006/relationships/oleObject" Target="../embeddings/oleObject68.bin"/><Relationship Id="rId2" Type="http://schemas.openxmlformats.org/officeDocument/2006/relationships/image" Target="../media/image86.jpeg"/><Relationship Id="rId1" Type="http://schemas.openxmlformats.org/officeDocument/2006/relationships/slideLayout" Target="../slideLayouts/slideLayout7.xml"/><Relationship Id="rId6" Type="http://schemas.openxmlformats.org/officeDocument/2006/relationships/image" Target="../media/image88.emf"/><Relationship Id="rId5" Type="http://schemas.openxmlformats.org/officeDocument/2006/relationships/oleObject" Target="../embeddings/oleObject67.bin"/><Relationship Id="rId4" Type="http://schemas.openxmlformats.org/officeDocument/2006/relationships/image" Target="../media/image87.emf"/></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72.bin"/><Relationship Id="rId3" Type="http://schemas.openxmlformats.org/officeDocument/2006/relationships/image" Target="../media/image90.emf"/><Relationship Id="rId7" Type="http://schemas.openxmlformats.org/officeDocument/2006/relationships/image" Target="../media/image92.emf"/><Relationship Id="rId2" Type="http://schemas.openxmlformats.org/officeDocument/2006/relationships/oleObject" Target="../embeddings/oleObject69.bin"/><Relationship Id="rId1" Type="http://schemas.openxmlformats.org/officeDocument/2006/relationships/slideLayout" Target="../slideLayouts/slideLayout7.xml"/><Relationship Id="rId6" Type="http://schemas.openxmlformats.org/officeDocument/2006/relationships/oleObject" Target="../embeddings/oleObject71.bin"/><Relationship Id="rId5" Type="http://schemas.openxmlformats.org/officeDocument/2006/relationships/image" Target="../media/image91.emf"/><Relationship Id="rId10" Type="http://schemas.openxmlformats.org/officeDocument/2006/relationships/image" Target="../media/image94.jpeg"/><Relationship Id="rId4" Type="http://schemas.openxmlformats.org/officeDocument/2006/relationships/oleObject" Target="../embeddings/oleObject70.bin"/><Relationship Id="rId9" Type="http://schemas.openxmlformats.org/officeDocument/2006/relationships/image" Target="../media/image93.e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73.bin"/><Relationship Id="rId2" Type="http://schemas.openxmlformats.org/officeDocument/2006/relationships/image" Target="../media/image95.jpeg"/><Relationship Id="rId1" Type="http://schemas.openxmlformats.org/officeDocument/2006/relationships/slideLayout" Target="../slideLayouts/slideLayout2.xml"/><Relationship Id="rId4" Type="http://schemas.openxmlformats.org/officeDocument/2006/relationships/image" Target="../media/image96.emf"/></Relationships>
</file>

<file path=ppt/slides/_rels/slide24.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image" Target="../media/image97.jpeg"/><Relationship Id="rId1" Type="http://schemas.openxmlformats.org/officeDocument/2006/relationships/slideLayout" Target="../slideLayouts/slideLayout7.xml"/><Relationship Id="rId5" Type="http://schemas.openxmlformats.org/officeDocument/2006/relationships/image" Target="../media/image99.wmf"/><Relationship Id="rId4" Type="http://schemas.openxmlformats.org/officeDocument/2006/relationships/oleObject" Target="../embeddings/oleObject74.bin"/></Relationships>
</file>

<file path=ppt/slides/_rels/slide25.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image" Target="../media/image100.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image" Target="../media/image102.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image" Target="../media/image104.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78.bin"/><Relationship Id="rId13" Type="http://schemas.openxmlformats.org/officeDocument/2006/relationships/image" Target="../media/image111.emf"/><Relationship Id="rId3" Type="http://schemas.openxmlformats.org/officeDocument/2006/relationships/image" Target="../media/image106.wmf"/><Relationship Id="rId7" Type="http://schemas.openxmlformats.org/officeDocument/2006/relationships/image" Target="../media/image108.emf"/><Relationship Id="rId12" Type="http://schemas.openxmlformats.org/officeDocument/2006/relationships/oleObject" Target="../embeddings/oleObject80.bin"/><Relationship Id="rId2" Type="http://schemas.openxmlformats.org/officeDocument/2006/relationships/oleObject" Target="../embeddings/oleObject75.bin"/><Relationship Id="rId1" Type="http://schemas.openxmlformats.org/officeDocument/2006/relationships/slideLayout" Target="../slideLayouts/slideLayout7.xml"/><Relationship Id="rId6" Type="http://schemas.openxmlformats.org/officeDocument/2006/relationships/oleObject" Target="../embeddings/oleObject77.bin"/><Relationship Id="rId11" Type="http://schemas.openxmlformats.org/officeDocument/2006/relationships/image" Target="../media/image110.emf"/><Relationship Id="rId5" Type="http://schemas.openxmlformats.org/officeDocument/2006/relationships/image" Target="../media/image107.emf"/><Relationship Id="rId10" Type="http://schemas.openxmlformats.org/officeDocument/2006/relationships/oleObject" Target="../embeddings/oleObject79.bin"/><Relationship Id="rId4" Type="http://schemas.openxmlformats.org/officeDocument/2006/relationships/oleObject" Target="../embeddings/oleObject76.bin"/><Relationship Id="rId9" Type="http://schemas.openxmlformats.org/officeDocument/2006/relationships/image" Target="../media/image109.emf"/></Relationships>
</file>

<file path=ppt/slides/_rels/slide29.xml.rels><?xml version="1.0" encoding="UTF-8" standalone="yes"?>
<Relationships xmlns="http://schemas.openxmlformats.org/package/2006/relationships"><Relationship Id="rId3" Type="http://schemas.openxmlformats.org/officeDocument/2006/relationships/image" Target="../media/image112.emf"/><Relationship Id="rId7" Type="http://schemas.openxmlformats.org/officeDocument/2006/relationships/image" Target="../media/image114.wmf"/><Relationship Id="rId2" Type="http://schemas.openxmlformats.org/officeDocument/2006/relationships/oleObject" Target="../embeddings/oleObject81.bin"/><Relationship Id="rId1" Type="http://schemas.openxmlformats.org/officeDocument/2006/relationships/slideLayout" Target="../slideLayouts/slideLayout7.xml"/><Relationship Id="rId6" Type="http://schemas.openxmlformats.org/officeDocument/2006/relationships/oleObject" Target="../embeddings/oleObject83.bin"/><Relationship Id="rId5" Type="http://schemas.openxmlformats.org/officeDocument/2006/relationships/image" Target="../media/image113.wmf"/><Relationship Id="rId4" Type="http://schemas.openxmlformats.org/officeDocument/2006/relationships/oleObject" Target="../embeddings/oleObject82.bin"/></Relationships>
</file>

<file path=ppt/slides/_rels/slide30.xml.rels><?xml version="1.0" encoding="UTF-8" standalone="yes"?>
<Relationships xmlns="http://schemas.openxmlformats.org/package/2006/relationships"><Relationship Id="rId3" Type="http://schemas.openxmlformats.org/officeDocument/2006/relationships/image" Target="../media/image115.emf"/><Relationship Id="rId2" Type="http://schemas.openxmlformats.org/officeDocument/2006/relationships/oleObject" Target="../embeddings/oleObject84.bin"/><Relationship Id="rId1" Type="http://schemas.openxmlformats.org/officeDocument/2006/relationships/slideLayout" Target="../slideLayouts/slideLayout7.xml"/><Relationship Id="rId5" Type="http://schemas.openxmlformats.org/officeDocument/2006/relationships/image" Target="../media/image116.wmf"/><Relationship Id="rId4" Type="http://schemas.openxmlformats.org/officeDocument/2006/relationships/oleObject" Target="../embeddings/oleObject85.bin"/></Relationships>
</file>

<file path=ppt/slides/_rels/slide31.xml.rels><?xml version="1.0" encoding="UTF-8" standalone="yes"?>
<Relationships xmlns="http://schemas.openxmlformats.org/package/2006/relationships"><Relationship Id="rId8" Type="http://schemas.openxmlformats.org/officeDocument/2006/relationships/image" Target="../media/image120.wmf"/><Relationship Id="rId13" Type="http://schemas.openxmlformats.org/officeDocument/2006/relationships/oleObject" Target="../embeddings/oleObject90.bin"/><Relationship Id="rId3" Type="http://schemas.openxmlformats.org/officeDocument/2006/relationships/oleObject" Target="../embeddings/oleObject86.bin"/><Relationship Id="rId7" Type="http://schemas.openxmlformats.org/officeDocument/2006/relationships/oleObject" Target="../embeddings/oleObject88.bin"/><Relationship Id="rId12" Type="http://schemas.openxmlformats.org/officeDocument/2006/relationships/image" Target="../media/image123.jpg"/><Relationship Id="rId2" Type="http://schemas.openxmlformats.org/officeDocument/2006/relationships/image" Target="../media/image117.jpg"/><Relationship Id="rId16" Type="http://schemas.openxmlformats.org/officeDocument/2006/relationships/image" Target="../media/image125.wmf"/><Relationship Id="rId1" Type="http://schemas.openxmlformats.org/officeDocument/2006/relationships/slideLayout" Target="../slideLayouts/slideLayout7.xml"/><Relationship Id="rId6" Type="http://schemas.openxmlformats.org/officeDocument/2006/relationships/image" Target="../media/image119.wmf"/><Relationship Id="rId11" Type="http://schemas.openxmlformats.org/officeDocument/2006/relationships/image" Target="../media/image122.jpeg"/><Relationship Id="rId5" Type="http://schemas.openxmlformats.org/officeDocument/2006/relationships/oleObject" Target="../embeddings/oleObject87.bin"/><Relationship Id="rId15" Type="http://schemas.openxmlformats.org/officeDocument/2006/relationships/oleObject" Target="../embeddings/oleObject91.bin"/><Relationship Id="rId10" Type="http://schemas.openxmlformats.org/officeDocument/2006/relationships/image" Target="../media/image121.emf"/><Relationship Id="rId4" Type="http://schemas.openxmlformats.org/officeDocument/2006/relationships/image" Target="../media/image118.wmf"/><Relationship Id="rId9" Type="http://schemas.openxmlformats.org/officeDocument/2006/relationships/oleObject" Target="../embeddings/oleObject89.bin"/><Relationship Id="rId14" Type="http://schemas.openxmlformats.org/officeDocument/2006/relationships/image" Target="../media/image124.wmf"/></Relationships>
</file>

<file path=ppt/slides/_rels/slide32.xml.rels><?xml version="1.0" encoding="UTF-8" standalone="yes"?>
<Relationships xmlns="http://schemas.openxmlformats.org/package/2006/relationships"><Relationship Id="rId8" Type="http://schemas.openxmlformats.org/officeDocument/2006/relationships/image" Target="../media/image129.emf"/><Relationship Id="rId13" Type="http://schemas.openxmlformats.org/officeDocument/2006/relationships/oleObject" Target="../embeddings/oleObject97.bin"/><Relationship Id="rId3" Type="http://schemas.openxmlformats.org/officeDocument/2006/relationships/oleObject" Target="../embeddings/oleObject92.bin"/><Relationship Id="rId7" Type="http://schemas.openxmlformats.org/officeDocument/2006/relationships/oleObject" Target="../embeddings/oleObject94.bin"/><Relationship Id="rId12" Type="http://schemas.openxmlformats.org/officeDocument/2006/relationships/image" Target="../media/image131.wmf"/><Relationship Id="rId2" Type="http://schemas.openxmlformats.org/officeDocument/2006/relationships/image" Target="../media/image126.jpeg"/><Relationship Id="rId16" Type="http://schemas.openxmlformats.org/officeDocument/2006/relationships/image" Target="../media/image133.emf"/><Relationship Id="rId1" Type="http://schemas.openxmlformats.org/officeDocument/2006/relationships/slideLayout" Target="../slideLayouts/slideLayout2.xml"/><Relationship Id="rId6" Type="http://schemas.openxmlformats.org/officeDocument/2006/relationships/image" Target="../media/image128.emf"/><Relationship Id="rId11" Type="http://schemas.openxmlformats.org/officeDocument/2006/relationships/oleObject" Target="../embeddings/oleObject96.bin"/><Relationship Id="rId5" Type="http://schemas.openxmlformats.org/officeDocument/2006/relationships/oleObject" Target="../embeddings/oleObject93.bin"/><Relationship Id="rId15" Type="http://schemas.openxmlformats.org/officeDocument/2006/relationships/oleObject" Target="../embeddings/oleObject98.bin"/><Relationship Id="rId10" Type="http://schemas.openxmlformats.org/officeDocument/2006/relationships/image" Target="../media/image130.wmf"/><Relationship Id="rId4" Type="http://schemas.openxmlformats.org/officeDocument/2006/relationships/image" Target="../media/image127.emf"/><Relationship Id="rId9" Type="http://schemas.openxmlformats.org/officeDocument/2006/relationships/oleObject" Target="../embeddings/oleObject95.bin"/><Relationship Id="rId14" Type="http://schemas.openxmlformats.org/officeDocument/2006/relationships/image" Target="../media/image132.wmf"/></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102.bin"/><Relationship Id="rId13" Type="http://schemas.openxmlformats.org/officeDocument/2006/relationships/image" Target="../media/image140.png"/><Relationship Id="rId3" Type="http://schemas.openxmlformats.org/officeDocument/2006/relationships/image" Target="../media/image134.wmf"/><Relationship Id="rId7" Type="http://schemas.openxmlformats.org/officeDocument/2006/relationships/image" Target="../media/image136.wmf"/><Relationship Id="rId12" Type="http://schemas.openxmlformats.org/officeDocument/2006/relationships/image" Target="../media/image139.png"/><Relationship Id="rId2" Type="http://schemas.openxmlformats.org/officeDocument/2006/relationships/oleObject" Target="../embeddings/oleObject99.bin"/><Relationship Id="rId1" Type="http://schemas.openxmlformats.org/officeDocument/2006/relationships/slideLayout" Target="../slideLayouts/slideLayout7.xml"/><Relationship Id="rId6" Type="http://schemas.openxmlformats.org/officeDocument/2006/relationships/oleObject" Target="../embeddings/oleObject101.bin"/><Relationship Id="rId11" Type="http://schemas.openxmlformats.org/officeDocument/2006/relationships/image" Target="../media/image138.wmf"/><Relationship Id="rId5" Type="http://schemas.openxmlformats.org/officeDocument/2006/relationships/image" Target="../media/image135.emf"/><Relationship Id="rId15" Type="http://schemas.openxmlformats.org/officeDocument/2006/relationships/image" Target="../media/image142.png"/><Relationship Id="rId10" Type="http://schemas.openxmlformats.org/officeDocument/2006/relationships/oleObject" Target="../embeddings/oleObject103.bin"/><Relationship Id="rId4" Type="http://schemas.openxmlformats.org/officeDocument/2006/relationships/oleObject" Target="../embeddings/oleObject100.bin"/><Relationship Id="rId9" Type="http://schemas.openxmlformats.org/officeDocument/2006/relationships/image" Target="../media/image137.wmf"/><Relationship Id="rId14" Type="http://schemas.openxmlformats.org/officeDocument/2006/relationships/image" Target="../media/image141.png"/></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107.bin"/><Relationship Id="rId13" Type="http://schemas.openxmlformats.org/officeDocument/2006/relationships/image" Target="../media/image148.wmf"/><Relationship Id="rId18" Type="http://schemas.openxmlformats.org/officeDocument/2006/relationships/oleObject" Target="../embeddings/oleObject112.bin"/><Relationship Id="rId26" Type="http://schemas.openxmlformats.org/officeDocument/2006/relationships/oleObject" Target="../embeddings/oleObject116.bin"/><Relationship Id="rId3" Type="http://schemas.openxmlformats.org/officeDocument/2006/relationships/image" Target="../media/image143.wmf"/><Relationship Id="rId21" Type="http://schemas.openxmlformats.org/officeDocument/2006/relationships/image" Target="../media/image152.wmf"/><Relationship Id="rId7" Type="http://schemas.openxmlformats.org/officeDocument/2006/relationships/image" Target="../media/image145.wmf"/><Relationship Id="rId12" Type="http://schemas.openxmlformats.org/officeDocument/2006/relationships/oleObject" Target="../embeddings/oleObject109.bin"/><Relationship Id="rId17" Type="http://schemas.openxmlformats.org/officeDocument/2006/relationships/image" Target="../media/image150.wmf"/><Relationship Id="rId25" Type="http://schemas.openxmlformats.org/officeDocument/2006/relationships/image" Target="../media/image154.wmf"/><Relationship Id="rId2" Type="http://schemas.openxmlformats.org/officeDocument/2006/relationships/oleObject" Target="../embeddings/oleObject104.bin"/><Relationship Id="rId16" Type="http://schemas.openxmlformats.org/officeDocument/2006/relationships/oleObject" Target="../embeddings/oleObject111.bin"/><Relationship Id="rId20" Type="http://schemas.openxmlformats.org/officeDocument/2006/relationships/oleObject" Target="../embeddings/oleObject113.bin"/><Relationship Id="rId29" Type="http://schemas.openxmlformats.org/officeDocument/2006/relationships/image" Target="../media/image156.wmf"/><Relationship Id="rId1" Type="http://schemas.openxmlformats.org/officeDocument/2006/relationships/slideLayout" Target="../slideLayouts/slideLayout7.xml"/><Relationship Id="rId6" Type="http://schemas.openxmlformats.org/officeDocument/2006/relationships/oleObject" Target="../embeddings/oleObject106.bin"/><Relationship Id="rId11" Type="http://schemas.openxmlformats.org/officeDocument/2006/relationships/image" Target="../media/image147.wmf"/><Relationship Id="rId24" Type="http://schemas.openxmlformats.org/officeDocument/2006/relationships/oleObject" Target="../embeddings/oleObject115.bin"/><Relationship Id="rId5" Type="http://schemas.openxmlformats.org/officeDocument/2006/relationships/image" Target="../media/image144.wmf"/><Relationship Id="rId15" Type="http://schemas.openxmlformats.org/officeDocument/2006/relationships/image" Target="../media/image149.wmf"/><Relationship Id="rId23" Type="http://schemas.openxmlformats.org/officeDocument/2006/relationships/image" Target="../media/image153.wmf"/><Relationship Id="rId28" Type="http://schemas.openxmlformats.org/officeDocument/2006/relationships/oleObject" Target="../embeddings/oleObject117.bin"/><Relationship Id="rId10" Type="http://schemas.openxmlformats.org/officeDocument/2006/relationships/oleObject" Target="../embeddings/oleObject108.bin"/><Relationship Id="rId19" Type="http://schemas.openxmlformats.org/officeDocument/2006/relationships/image" Target="../media/image151.wmf"/><Relationship Id="rId31" Type="http://schemas.openxmlformats.org/officeDocument/2006/relationships/image" Target="../media/image157.wmf"/><Relationship Id="rId4" Type="http://schemas.openxmlformats.org/officeDocument/2006/relationships/oleObject" Target="../embeddings/oleObject105.bin"/><Relationship Id="rId9" Type="http://schemas.openxmlformats.org/officeDocument/2006/relationships/image" Target="../media/image146.wmf"/><Relationship Id="rId14" Type="http://schemas.openxmlformats.org/officeDocument/2006/relationships/oleObject" Target="../embeddings/oleObject110.bin"/><Relationship Id="rId22" Type="http://schemas.openxmlformats.org/officeDocument/2006/relationships/oleObject" Target="../embeddings/oleObject114.bin"/><Relationship Id="rId27" Type="http://schemas.openxmlformats.org/officeDocument/2006/relationships/image" Target="../media/image155.wmf"/><Relationship Id="rId30" Type="http://schemas.openxmlformats.org/officeDocument/2006/relationships/oleObject" Target="../embeddings/oleObject118.bin"/></Relationships>
</file>

<file path=ppt/slides/_rels/slide35.xml.rels><?xml version="1.0" encoding="UTF-8" standalone="yes"?>
<Relationships xmlns="http://schemas.openxmlformats.org/package/2006/relationships"><Relationship Id="rId13" Type="http://schemas.openxmlformats.org/officeDocument/2006/relationships/image" Target="../media/image163.wmf"/><Relationship Id="rId18" Type="http://schemas.openxmlformats.org/officeDocument/2006/relationships/oleObject" Target="../embeddings/oleObject127.bin"/><Relationship Id="rId26" Type="http://schemas.openxmlformats.org/officeDocument/2006/relationships/oleObject" Target="../embeddings/oleObject131.bin"/><Relationship Id="rId3" Type="http://schemas.openxmlformats.org/officeDocument/2006/relationships/image" Target="../media/image158.emf"/><Relationship Id="rId21" Type="http://schemas.openxmlformats.org/officeDocument/2006/relationships/image" Target="../media/image167.wmf"/><Relationship Id="rId7" Type="http://schemas.openxmlformats.org/officeDocument/2006/relationships/image" Target="../media/image160.emf"/><Relationship Id="rId12" Type="http://schemas.openxmlformats.org/officeDocument/2006/relationships/oleObject" Target="../embeddings/oleObject124.bin"/><Relationship Id="rId17" Type="http://schemas.openxmlformats.org/officeDocument/2006/relationships/image" Target="../media/image165.wmf"/><Relationship Id="rId25" Type="http://schemas.openxmlformats.org/officeDocument/2006/relationships/image" Target="../media/image169.wmf"/><Relationship Id="rId33" Type="http://schemas.openxmlformats.org/officeDocument/2006/relationships/image" Target="../media/image173.wmf"/><Relationship Id="rId2" Type="http://schemas.openxmlformats.org/officeDocument/2006/relationships/oleObject" Target="../embeddings/oleObject119.bin"/><Relationship Id="rId16" Type="http://schemas.openxmlformats.org/officeDocument/2006/relationships/oleObject" Target="../embeddings/oleObject126.bin"/><Relationship Id="rId20" Type="http://schemas.openxmlformats.org/officeDocument/2006/relationships/oleObject" Target="../embeddings/oleObject128.bin"/><Relationship Id="rId29" Type="http://schemas.openxmlformats.org/officeDocument/2006/relationships/image" Target="../media/image171.emf"/><Relationship Id="rId1" Type="http://schemas.openxmlformats.org/officeDocument/2006/relationships/slideLayout" Target="../slideLayouts/slideLayout7.xml"/><Relationship Id="rId6" Type="http://schemas.openxmlformats.org/officeDocument/2006/relationships/oleObject" Target="../embeddings/oleObject121.bin"/><Relationship Id="rId11" Type="http://schemas.openxmlformats.org/officeDocument/2006/relationships/image" Target="../media/image162.emf"/><Relationship Id="rId24" Type="http://schemas.openxmlformats.org/officeDocument/2006/relationships/oleObject" Target="../embeddings/oleObject130.bin"/><Relationship Id="rId32" Type="http://schemas.openxmlformats.org/officeDocument/2006/relationships/oleObject" Target="../embeddings/oleObject134.bin"/><Relationship Id="rId5" Type="http://schemas.openxmlformats.org/officeDocument/2006/relationships/image" Target="../media/image159.emf"/><Relationship Id="rId15" Type="http://schemas.openxmlformats.org/officeDocument/2006/relationships/image" Target="../media/image164.wmf"/><Relationship Id="rId23" Type="http://schemas.openxmlformats.org/officeDocument/2006/relationships/image" Target="../media/image168.wmf"/><Relationship Id="rId28" Type="http://schemas.openxmlformats.org/officeDocument/2006/relationships/oleObject" Target="../embeddings/oleObject132.bin"/><Relationship Id="rId10" Type="http://schemas.openxmlformats.org/officeDocument/2006/relationships/oleObject" Target="../embeddings/oleObject123.bin"/><Relationship Id="rId19" Type="http://schemas.openxmlformats.org/officeDocument/2006/relationships/image" Target="../media/image166.emf"/><Relationship Id="rId31" Type="http://schemas.openxmlformats.org/officeDocument/2006/relationships/image" Target="../media/image172.emf"/><Relationship Id="rId4" Type="http://schemas.openxmlformats.org/officeDocument/2006/relationships/oleObject" Target="../embeddings/oleObject120.bin"/><Relationship Id="rId9" Type="http://schemas.openxmlformats.org/officeDocument/2006/relationships/image" Target="../media/image161.emf"/><Relationship Id="rId14" Type="http://schemas.openxmlformats.org/officeDocument/2006/relationships/oleObject" Target="../embeddings/oleObject125.bin"/><Relationship Id="rId22" Type="http://schemas.openxmlformats.org/officeDocument/2006/relationships/oleObject" Target="../embeddings/oleObject129.bin"/><Relationship Id="rId27" Type="http://schemas.openxmlformats.org/officeDocument/2006/relationships/image" Target="../media/image170.wmf"/><Relationship Id="rId30" Type="http://schemas.openxmlformats.org/officeDocument/2006/relationships/oleObject" Target="../embeddings/oleObject133.bin"/><Relationship Id="rId8" Type="http://schemas.openxmlformats.org/officeDocument/2006/relationships/oleObject" Target="../embeddings/oleObject122.bin"/></Relationships>
</file>

<file path=ppt/slides/_rels/slide36.xml.rels><?xml version="1.0" encoding="UTF-8" standalone="yes"?>
<Relationships xmlns="http://schemas.openxmlformats.org/package/2006/relationships"><Relationship Id="rId8" Type="http://schemas.openxmlformats.org/officeDocument/2006/relationships/image" Target="../media/image177.jpeg"/><Relationship Id="rId13" Type="http://schemas.openxmlformats.org/officeDocument/2006/relationships/oleObject" Target="../embeddings/oleObject140.bin"/><Relationship Id="rId18" Type="http://schemas.openxmlformats.org/officeDocument/2006/relationships/image" Target="../media/image182.wmf"/><Relationship Id="rId3" Type="http://schemas.openxmlformats.org/officeDocument/2006/relationships/image" Target="../media/image174.emf"/><Relationship Id="rId7" Type="http://schemas.openxmlformats.org/officeDocument/2006/relationships/image" Target="../media/image176.emf"/><Relationship Id="rId12" Type="http://schemas.openxmlformats.org/officeDocument/2006/relationships/image" Target="../media/image179.wmf"/><Relationship Id="rId17" Type="http://schemas.openxmlformats.org/officeDocument/2006/relationships/oleObject" Target="../embeddings/oleObject142.bin"/><Relationship Id="rId2" Type="http://schemas.openxmlformats.org/officeDocument/2006/relationships/oleObject" Target="../embeddings/oleObject135.bin"/><Relationship Id="rId16" Type="http://schemas.openxmlformats.org/officeDocument/2006/relationships/image" Target="../media/image181.wmf"/><Relationship Id="rId20" Type="http://schemas.openxmlformats.org/officeDocument/2006/relationships/image" Target="../media/image183.wmf"/><Relationship Id="rId1" Type="http://schemas.openxmlformats.org/officeDocument/2006/relationships/slideLayout" Target="../slideLayouts/slideLayout7.xml"/><Relationship Id="rId6" Type="http://schemas.openxmlformats.org/officeDocument/2006/relationships/oleObject" Target="../embeddings/oleObject137.bin"/><Relationship Id="rId11" Type="http://schemas.openxmlformats.org/officeDocument/2006/relationships/oleObject" Target="../embeddings/oleObject139.bin"/><Relationship Id="rId5" Type="http://schemas.openxmlformats.org/officeDocument/2006/relationships/image" Target="../media/image175.emf"/><Relationship Id="rId15" Type="http://schemas.openxmlformats.org/officeDocument/2006/relationships/oleObject" Target="../embeddings/oleObject141.bin"/><Relationship Id="rId10" Type="http://schemas.openxmlformats.org/officeDocument/2006/relationships/image" Target="../media/image178.wmf"/><Relationship Id="rId19" Type="http://schemas.openxmlformats.org/officeDocument/2006/relationships/oleObject" Target="../embeddings/oleObject143.bin"/><Relationship Id="rId4" Type="http://schemas.openxmlformats.org/officeDocument/2006/relationships/oleObject" Target="../embeddings/oleObject136.bin"/><Relationship Id="rId9" Type="http://schemas.openxmlformats.org/officeDocument/2006/relationships/oleObject" Target="../embeddings/oleObject138.bin"/><Relationship Id="rId14" Type="http://schemas.openxmlformats.org/officeDocument/2006/relationships/image" Target="../media/image180.wmf"/></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147.bin"/><Relationship Id="rId3" Type="http://schemas.openxmlformats.org/officeDocument/2006/relationships/image" Target="../media/image184.wmf"/><Relationship Id="rId7" Type="http://schemas.openxmlformats.org/officeDocument/2006/relationships/image" Target="../media/image186.wmf"/><Relationship Id="rId12" Type="http://schemas.openxmlformats.org/officeDocument/2006/relationships/image" Target="../media/image189.jpeg"/><Relationship Id="rId2" Type="http://schemas.openxmlformats.org/officeDocument/2006/relationships/oleObject" Target="../embeddings/oleObject144.bin"/><Relationship Id="rId1" Type="http://schemas.openxmlformats.org/officeDocument/2006/relationships/slideLayout" Target="../slideLayouts/slideLayout7.xml"/><Relationship Id="rId6" Type="http://schemas.openxmlformats.org/officeDocument/2006/relationships/oleObject" Target="../embeddings/oleObject146.bin"/><Relationship Id="rId11" Type="http://schemas.openxmlformats.org/officeDocument/2006/relationships/image" Target="../media/image188.wmf"/><Relationship Id="rId5" Type="http://schemas.openxmlformats.org/officeDocument/2006/relationships/image" Target="../media/image185.wmf"/><Relationship Id="rId10" Type="http://schemas.openxmlformats.org/officeDocument/2006/relationships/oleObject" Target="../embeddings/oleObject148.bin"/><Relationship Id="rId4" Type="http://schemas.openxmlformats.org/officeDocument/2006/relationships/oleObject" Target="../embeddings/oleObject145.bin"/><Relationship Id="rId9" Type="http://schemas.openxmlformats.org/officeDocument/2006/relationships/image" Target="../media/image187.wmf"/></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152.bin"/><Relationship Id="rId13" Type="http://schemas.openxmlformats.org/officeDocument/2006/relationships/image" Target="../media/image195.wmf"/><Relationship Id="rId3" Type="http://schemas.openxmlformats.org/officeDocument/2006/relationships/image" Target="../media/image190.wmf"/><Relationship Id="rId7" Type="http://schemas.openxmlformats.org/officeDocument/2006/relationships/image" Target="../media/image192.wmf"/><Relationship Id="rId12" Type="http://schemas.openxmlformats.org/officeDocument/2006/relationships/oleObject" Target="../embeddings/oleObject154.bin"/><Relationship Id="rId2" Type="http://schemas.openxmlformats.org/officeDocument/2006/relationships/oleObject" Target="../embeddings/oleObject149.bin"/><Relationship Id="rId1" Type="http://schemas.openxmlformats.org/officeDocument/2006/relationships/slideLayout" Target="../slideLayouts/slideLayout7.xml"/><Relationship Id="rId6" Type="http://schemas.openxmlformats.org/officeDocument/2006/relationships/oleObject" Target="../embeddings/oleObject151.bin"/><Relationship Id="rId11" Type="http://schemas.openxmlformats.org/officeDocument/2006/relationships/image" Target="../media/image194.wmf"/><Relationship Id="rId5" Type="http://schemas.openxmlformats.org/officeDocument/2006/relationships/image" Target="../media/image191.wmf"/><Relationship Id="rId10" Type="http://schemas.openxmlformats.org/officeDocument/2006/relationships/oleObject" Target="../embeddings/oleObject153.bin"/><Relationship Id="rId4" Type="http://schemas.openxmlformats.org/officeDocument/2006/relationships/oleObject" Target="../embeddings/oleObject150.bin"/><Relationship Id="rId9" Type="http://schemas.openxmlformats.org/officeDocument/2006/relationships/image" Target="../media/image193.wmf"/></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158.bin"/><Relationship Id="rId13" Type="http://schemas.openxmlformats.org/officeDocument/2006/relationships/image" Target="../media/image201.wmf"/><Relationship Id="rId18" Type="http://schemas.openxmlformats.org/officeDocument/2006/relationships/oleObject" Target="../embeddings/oleObject163.bin"/><Relationship Id="rId3" Type="http://schemas.openxmlformats.org/officeDocument/2006/relationships/image" Target="../media/image196.wmf"/><Relationship Id="rId21" Type="http://schemas.openxmlformats.org/officeDocument/2006/relationships/image" Target="../media/image205.wmf"/><Relationship Id="rId7" Type="http://schemas.openxmlformats.org/officeDocument/2006/relationships/image" Target="../media/image198.wmf"/><Relationship Id="rId12" Type="http://schemas.openxmlformats.org/officeDocument/2006/relationships/oleObject" Target="../embeddings/oleObject160.bin"/><Relationship Id="rId17" Type="http://schemas.openxmlformats.org/officeDocument/2006/relationships/image" Target="../media/image203.wmf"/><Relationship Id="rId2" Type="http://schemas.openxmlformats.org/officeDocument/2006/relationships/oleObject" Target="../embeddings/oleObject155.bin"/><Relationship Id="rId16" Type="http://schemas.openxmlformats.org/officeDocument/2006/relationships/oleObject" Target="../embeddings/oleObject162.bin"/><Relationship Id="rId20" Type="http://schemas.openxmlformats.org/officeDocument/2006/relationships/oleObject" Target="../embeddings/oleObject164.bin"/><Relationship Id="rId1" Type="http://schemas.openxmlformats.org/officeDocument/2006/relationships/slideLayout" Target="../slideLayouts/slideLayout2.xml"/><Relationship Id="rId6" Type="http://schemas.openxmlformats.org/officeDocument/2006/relationships/oleObject" Target="../embeddings/oleObject157.bin"/><Relationship Id="rId11" Type="http://schemas.openxmlformats.org/officeDocument/2006/relationships/image" Target="../media/image200.wmf"/><Relationship Id="rId5" Type="http://schemas.openxmlformats.org/officeDocument/2006/relationships/image" Target="../media/image197.wmf"/><Relationship Id="rId15" Type="http://schemas.openxmlformats.org/officeDocument/2006/relationships/image" Target="../media/image202.wmf"/><Relationship Id="rId23" Type="http://schemas.openxmlformats.org/officeDocument/2006/relationships/image" Target="../media/image206.wmf"/><Relationship Id="rId10" Type="http://schemas.openxmlformats.org/officeDocument/2006/relationships/oleObject" Target="../embeddings/oleObject159.bin"/><Relationship Id="rId19" Type="http://schemas.openxmlformats.org/officeDocument/2006/relationships/image" Target="../media/image204.wmf"/><Relationship Id="rId4" Type="http://schemas.openxmlformats.org/officeDocument/2006/relationships/oleObject" Target="../embeddings/oleObject156.bin"/><Relationship Id="rId9" Type="http://schemas.openxmlformats.org/officeDocument/2006/relationships/image" Target="../media/image199.wmf"/><Relationship Id="rId14" Type="http://schemas.openxmlformats.org/officeDocument/2006/relationships/oleObject" Target="../embeddings/oleObject161.bin"/><Relationship Id="rId22" Type="http://schemas.openxmlformats.org/officeDocument/2006/relationships/oleObject" Target="../embeddings/oleObject165.bin"/></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169.bin"/><Relationship Id="rId13" Type="http://schemas.openxmlformats.org/officeDocument/2006/relationships/image" Target="../media/image212.wmf"/><Relationship Id="rId18" Type="http://schemas.openxmlformats.org/officeDocument/2006/relationships/oleObject" Target="../embeddings/oleObject174.bin"/><Relationship Id="rId3" Type="http://schemas.openxmlformats.org/officeDocument/2006/relationships/image" Target="../media/image207.wmf"/><Relationship Id="rId21" Type="http://schemas.openxmlformats.org/officeDocument/2006/relationships/image" Target="../media/image216.wmf"/><Relationship Id="rId7" Type="http://schemas.openxmlformats.org/officeDocument/2006/relationships/image" Target="../media/image209.wmf"/><Relationship Id="rId12" Type="http://schemas.openxmlformats.org/officeDocument/2006/relationships/oleObject" Target="../embeddings/oleObject171.bin"/><Relationship Id="rId17" Type="http://schemas.openxmlformats.org/officeDocument/2006/relationships/image" Target="../media/image214.wmf"/><Relationship Id="rId25" Type="http://schemas.openxmlformats.org/officeDocument/2006/relationships/image" Target="../media/image218.wmf"/><Relationship Id="rId2" Type="http://schemas.openxmlformats.org/officeDocument/2006/relationships/oleObject" Target="../embeddings/oleObject166.bin"/><Relationship Id="rId16" Type="http://schemas.openxmlformats.org/officeDocument/2006/relationships/oleObject" Target="../embeddings/oleObject173.bin"/><Relationship Id="rId20" Type="http://schemas.openxmlformats.org/officeDocument/2006/relationships/oleObject" Target="../embeddings/oleObject175.bin"/><Relationship Id="rId1" Type="http://schemas.openxmlformats.org/officeDocument/2006/relationships/slideLayout" Target="../slideLayouts/slideLayout13.xml"/><Relationship Id="rId6" Type="http://schemas.openxmlformats.org/officeDocument/2006/relationships/oleObject" Target="../embeddings/oleObject168.bin"/><Relationship Id="rId11" Type="http://schemas.openxmlformats.org/officeDocument/2006/relationships/image" Target="../media/image211.wmf"/><Relationship Id="rId24" Type="http://schemas.openxmlformats.org/officeDocument/2006/relationships/oleObject" Target="../embeddings/oleObject177.bin"/><Relationship Id="rId5" Type="http://schemas.openxmlformats.org/officeDocument/2006/relationships/image" Target="../media/image208.wmf"/><Relationship Id="rId15" Type="http://schemas.openxmlformats.org/officeDocument/2006/relationships/image" Target="../media/image213.wmf"/><Relationship Id="rId23" Type="http://schemas.openxmlformats.org/officeDocument/2006/relationships/image" Target="../media/image217.wmf"/><Relationship Id="rId10" Type="http://schemas.openxmlformats.org/officeDocument/2006/relationships/oleObject" Target="../embeddings/oleObject170.bin"/><Relationship Id="rId19" Type="http://schemas.openxmlformats.org/officeDocument/2006/relationships/image" Target="../media/image215.wmf"/><Relationship Id="rId4" Type="http://schemas.openxmlformats.org/officeDocument/2006/relationships/oleObject" Target="../embeddings/oleObject167.bin"/><Relationship Id="rId9" Type="http://schemas.openxmlformats.org/officeDocument/2006/relationships/image" Target="../media/image210.wmf"/><Relationship Id="rId14" Type="http://schemas.openxmlformats.org/officeDocument/2006/relationships/oleObject" Target="../embeddings/oleObject172.bin"/><Relationship Id="rId22" Type="http://schemas.openxmlformats.org/officeDocument/2006/relationships/oleObject" Target="../embeddings/oleObject176.bin"/></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181.bin"/><Relationship Id="rId13" Type="http://schemas.openxmlformats.org/officeDocument/2006/relationships/image" Target="../media/image224.wmf"/><Relationship Id="rId18" Type="http://schemas.openxmlformats.org/officeDocument/2006/relationships/oleObject" Target="../embeddings/oleObject186.bin"/><Relationship Id="rId3" Type="http://schemas.openxmlformats.org/officeDocument/2006/relationships/image" Target="../media/image219.wmf"/><Relationship Id="rId21" Type="http://schemas.openxmlformats.org/officeDocument/2006/relationships/image" Target="../media/image228.wmf"/><Relationship Id="rId7" Type="http://schemas.openxmlformats.org/officeDocument/2006/relationships/image" Target="../media/image221.wmf"/><Relationship Id="rId12" Type="http://schemas.openxmlformats.org/officeDocument/2006/relationships/oleObject" Target="../embeddings/oleObject183.bin"/><Relationship Id="rId17" Type="http://schemas.openxmlformats.org/officeDocument/2006/relationships/image" Target="../media/image226.wmf"/><Relationship Id="rId2" Type="http://schemas.openxmlformats.org/officeDocument/2006/relationships/oleObject" Target="../embeddings/oleObject178.bin"/><Relationship Id="rId16" Type="http://schemas.openxmlformats.org/officeDocument/2006/relationships/oleObject" Target="../embeddings/oleObject185.bin"/><Relationship Id="rId20" Type="http://schemas.openxmlformats.org/officeDocument/2006/relationships/oleObject" Target="../embeddings/oleObject187.bin"/><Relationship Id="rId1" Type="http://schemas.openxmlformats.org/officeDocument/2006/relationships/slideLayout" Target="../slideLayouts/slideLayout7.xml"/><Relationship Id="rId6" Type="http://schemas.openxmlformats.org/officeDocument/2006/relationships/oleObject" Target="../embeddings/oleObject180.bin"/><Relationship Id="rId11" Type="http://schemas.openxmlformats.org/officeDocument/2006/relationships/image" Target="../media/image223.wmf"/><Relationship Id="rId5" Type="http://schemas.openxmlformats.org/officeDocument/2006/relationships/image" Target="../media/image220.wmf"/><Relationship Id="rId15" Type="http://schemas.openxmlformats.org/officeDocument/2006/relationships/image" Target="../media/image225.wmf"/><Relationship Id="rId10" Type="http://schemas.openxmlformats.org/officeDocument/2006/relationships/oleObject" Target="../embeddings/oleObject182.bin"/><Relationship Id="rId19" Type="http://schemas.openxmlformats.org/officeDocument/2006/relationships/image" Target="../media/image227.wmf"/><Relationship Id="rId4" Type="http://schemas.openxmlformats.org/officeDocument/2006/relationships/oleObject" Target="../embeddings/oleObject179.bin"/><Relationship Id="rId9" Type="http://schemas.openxmlformats.org/officeDocument/2006/relationships/image" Target="../media/image222.wmf"/><Relationship Id="rId14" Type="http://schemas.openxmlformats.org/officeDocument/2006/relationships/oleObject" Target="../embeddings/oleObject184.bin"/></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191.bin"/><Relationship Id="rId13" Type="http://schemas.openxmlformats.org/officeDocument/2006/relationships/image" Target="../media/image234.emf"/><Relationship Id="rId18" Type="http://schemas.openxmlformats.org/officeDocument/2006/relationships/oleObject" Target="../embeddings/oleObject176.bin"/><Relationship Id="rId26" Type="http://schemas.openxmlformats.org/officeDocument/2006/relationships/oleObject" Target="../embeddings/oleObject198.bin"/><Relationship Id="rId3" Type="http://schemas.openxmlformats.org/officeDocument/2006/relationships/image" Target="../media/image229.wmf"/><Relationship Id="rId21" Type="http://schemas.openxmlformats.org/officeDocument/2006/relationships/image" Target="../media/image218.wmf"/><Relationship Id="rId7" Type="http://schemas.openxmlformats.org/officeDocument/2006/relationships/image" Target="../media/image231.wmf"/><Relationship Id="rId12" Type="http://schemas.openxmlformats.org/officeDocument/2006/relationships/oleObject" Target="../embeddings/oleObject193.bin"/><Relationship Id="rId17" Type="http://schemas.openxmlformats.org/officeDocument/2006/relationships/image" Target="../media/image236.emf"/><Relationship Id="rId25" Type="http://schemas.openxmlformats.org/officeDocument/2006/relationships/image" Target="../media/image238.wmf"/><Relationship Id="rId2" Type="http://schemas.openxmlformats.org/officeDocument/2006/relationships/oleObject" Target="../embeddings/oleObject188.bin"/><Relationship Id="rId16" Type="http://schemas.openxmlformats.org/officeDocument/2006/relationships/oleObject" Target="../embeddings/oleObject195.bin"/><Relationship Id="rId20" Type="http://schemas.openxmlformats.org/officeDocument/2006/relationships/oleObject" Target="../embeddings/oleObject177.bin"/><Relationship Id="rId29" Type="http://schemas.openxmlformats.org/officeDocument/2006/relationships/image" Target="../media/image240.wmf"/><Relationship Id="rId1" Type="http://schemas.openxmlformats.org/officeDocument/2006/relationships/slideLayout" Target="../slideLayouts/slideLayout7.xml"/><Relationship Id="rId6" Type="http://schemas.openxmlformats.org/officeDocument/2006/relationships/oleObject" Target="../embeddings/oleObject190.bin"/><Relationship Id="rId11" Type="http://schemas.openxmlformats.org/officeDocument/2006/relationships/image" Target="../media/image233.emf"/><Relationship Id="rId24" Type="http://schemas.openxmlformats.org/officeDocument/2006/relationships/oleObject" Target="../embeddings/oleObject197.bin"/><Relationship Id="rId32" Type="http://schemas.openxmlformats.org/officeDocument/2006/relationships/oleObject" Target="../embeddings/oleObject201.bin"/><Relationship Id="rId5" Type="http://schemas.openxmlformats.org/officeDocument/2006/relationships/image" Target="../media/image230.emf"/><Relationship Id="rId15" Type="http://schemas.openxmlformats.org/officeDocument/2006/relationships/image" Target="../media/image235.emf"/><Relationship Id="rId23" Type="http://schemas.openxmlformats.org/officeDocument/2006/relationships/image" Target="../media/image237.wmf"/><Relationship Id="rId28" Type="http://schemas.openxmlformats.org/officeDocument/2006/relationships/oleObject" Target="../embeddings/oleObject199.bin"/><Relationship Id="rId10" Type="http://schemas.openxmlformats.org/officeDocument/2006/relationships/oleObject" Target="../embeddings/oleObject192.bin"/><Relationship Id="rId19" Type="http://schemas.openxmlformats.org/officeDocument/2006/relationships/image" Target="../media/image217.wmf"/><Relationship Id="rId31" Type="http://schemas.openxmlformats.org/officeDocument/2006/relationships/image" Target="../media/image241.wmf"/><Relationship Id="rId4" Type="http://schemas.openxmlformats.org/officeDocument/2006/relationships/oleObject" Target="../embeddings/oleObject189.bin"/><Relationship Id="rId9" Type="http://schemas.openxmlformats.org/officeDocument/2006/relationships/image" Target="../media/image232.wmf"/><Relationship Id="rId14" Type="http://schemas.openxmlformats.org/officeDocument/2006/relationships/oleObject" Target="../embeddings/oleObject194.bin"/><Relationship Id="rId22" Type="http://schemas.openxmlformats.org/officeDocument/2006/relationships/oleObject" Target="../embeddings/oleObject196.bin"/><Relationship Id="rId27" Type="http://schemas.openxmlformats.org/officeDocument/2006/relationships/image" Target="../media/image239.wmf"/><Relationship Id="rId30" Type="http://schemas.openxmlformats.org/officeDocument/2006/relationships/oleObject" Target="../embeddings/oleObject200.bin"/></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205.bin"/><Relationship Id="rId13" Type="http://schemas.openxmlformats.org/officeDocument/2006/relationships/image" Target="../media/image247.wmf"/><Relationship Id="rId18" Type="http://schemas.openxmlformats.org/officeDocument/2006/relationships/oleObject" Target="../embeddings/oleObject210.bin"/><Relationship Id="rId26" Type="http://schemas.openxmlformats.org/officeDocument/2006/relationships/oleObject" Target="../embeddings/oleObject214.bin"/><Relationship Id="rId3" Type="http://schemas.openxmlformats.org/officeDocument/2006/relationships/image" Target="../media/image242.wmf"/><Relationship Id="rId21" Type="http://schemas.openxmlformats.org/officeDocument/2006/relationships/image" Target="../media/image251.wmf"/><Relationship Id="rId7" Type="http://schemas.openxmlformats.org/officeDocument/2006/relationships/image" Target="../media/image244.wmf"/><Relationship Id="rId12" Type="http://schemas.openxmlformats.org/officeDocument/2006/relationships/oleObject" Target="../embeddings/oleObject207.bin"/><Relationship Id="rId17" Type="http://schemas.openxmlformats.org/officeDocument/2006/relationships/image" Target="../media/image249.wmf"/><Relationship Id="rId25" Type="http://schemas.openxmlformats.org/officeDocument/2006/relationships/image" Target="../media/image253.wmf"/><Relationship Id="rId2" Type="http://schemas.openxmlformats.org/officeDocument/2006/relationships/oleObject" Target="../embeddings/oleObject202.bin"/><Relationship Id="rId16" Type="http://schemas.openxmlformats.org/officeDocument/2006/relationships/oleObject" Target="../embeddings/oleObject209.bin"/><Relationship Id="rId20" Type="http://schemas.openxmlformats.org/officeDocument/2006/relationships/oleObject" Target="../embeddings/oleObject211.bin"/><Relationship Id="rId29" Type="http://schemas.openxmlformats.org/officeDocument/2006/relationships/image" Target="../media/image255.wmf"/><Relationship Id="rId1" Type="http://schemas.openxmlformats.org/officeDocument/2006/relationships/slideLayout" Target="../slideLayouts/slideLayout7.xml"/><Relationship Id="rId6" Type="http://schemas.openxmlformats.org/officeDocument/2006/relationships/oleObject" Target="../embeddings/oleObject204.bin"/><Relationship Id="rId11" Type="http://schemas.openxmlformats.org/officeDocument/2006/relationships/image" Target="../media/image246.wmf"/><Relationship Id="rId24" Type="http://schemas.openxmlformats.org/officeDocument/2006/relationships/oleObject" Target="../embeddings/oleObject213.bin"/><Relationship Id="rId5" Type="http://schemas.openxmlformats.org/officeDocument/2006/relationships/image" Target="../media/image243.wmf"/><Relationship Id="rId15" Type="http://schemas.openxmlformats.org/officeDocument/2006/relationships/image" Target="../media/image248.wmf"/><Relationship Id="rId23" Type="http://schemas.openxmlformats.org/officeDocument/2006/relationships/image" Target="../media/image252.wmf"/><Relationship Id="rId28" Type="http://schemas.openxmlformats.org/officeDocument/2006/relationships/oleObject" Target="../embeddings/oleObject215.bin"/><Relationship Id="rId10" Type="http://schemas.openxmlformats.org/officeDocument/2006/relationships/oleObject" Target="../embeddings/oleObject206.bin"/><Relationship Id="rId19" Type="http://schemas.openxmlformats.org/officeDocument/2006/relationships/image" Target="../media/image250.wmf"/><Relationship Id="rId31" Type="http://schemas.openxmlformats.org/officeDocument/2006/relationships/image" Target="../media/image256.wmf"/><Relationship Id="rId4" Type="http://schemas.openxmlformats.org/officeDocument/2006/relationships/oleObject" Target="../embeddings/oleObject203.bin"/><Relationship Id="rId9" Type="http://schemas.openxmlformats.org/officeDocument/2006/relationships/image" Target="../media/image245.wmf"/><Relationship Id="rId14" Type="http://schemas.openxmlformats.org/officeDocument/2006/relationships/oleObject" Target="../embeddings/oleObject208.bin"/><Relationship Id="rId22" Type="http://schemas.openxmlformats.org/officeDocument/2006/relationships/oleObject" Target="../embeddings/oleObject212.bin"/><Relationship Id="rId27" Type="http://schemas.openxmlformats.org/officeDocument/2006/relationships/image" Target="../media/image254.wmf"/><Relationship Id="rId30" Type="http://schemas.openxmlformats.org/officeDocument/2006/relationships/oleObject" Target="../embeddings/oleObject216.bin"/></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220.bin"/><Relationship Id="rId13" Type="http://schemas.openxmlformats.org/officeDocument/2006/relationships/image" Target="../media/image262.wmf"/><Relationship Id="rId3" Type="http://schemas.openxmlformats.org/officeDocument/2006/relationships/image" Target="../media/image257.wmf"/><Relationship Id="rId7" Type="http://schemas.openxmlformats.org/officeDocument/2006/relationships/image" Target="../media/image259.wmf"/><Relationship Id="rId12" Type="http://schemas.openxmlformats.org/officeDocument/2006/relationships/oleObject" Target="../embeddings/oleObject222.bin"/><Relationship Id="rId17" Type="http://schemas.openxmlformats.org/officeDocument/2006/relationships/image" Target="../media/image264.wmf"/><Relationship Id="rId2" Type="http://schemas.openxmlformats.org/officeDocument/2006/relationships/oleObject" Target="../embeddings/oleObject217.bin"/><Relationship Id="rId16" Type="http://schemas.openxmlformats.org/officeDocument/2006/relationships/oleObject" Target="../embeddings/oleObject224.bin"/><Relationship Id="rId1" Type="http://schemas.openxmlformats.org/officeDocument/2006/relationships/slideLayout" Target="../slideLayouts/slideLayout7.xml"/><Relationship Id="rId6" Type="http://schemas.openxmlformats.org/officeDocument/2006/relationships/oleObject" Target="../embeddings/oleObject219.bin"/><Relationship Id="rId11" Type="http://schemas.openxmlformats.org/officeDocument/2006/relationships/image" Target="../media/image261.wmf"/><Relationship Id="rId5" Type="http://schemas.openxmlformats.org/officeDocument/2006/relationships/image" Target="../media/image258.wmf"/><Relationship Id="rId15" Type="http://schemas.openxmlformats.org/officeDocument/2006/relationships/image" Target="../media/image263.wmf"/><Relationship Id="rId10" Type="http://schemas.openxmlformats.org/officeDocument/2006/relationships/oleObject" Target="../embeddings/oleObject221.bin"/><Relationship Id="rId4" Type="http://schemas.openxmlformats.org/officeDocument/2006/relationships/oleObject" Target="../embeddings/oleObject218.bin"/><Relationship Id="rId9" Type="http://schemas.openxmlformats.org/officeDocument/2006/relationships/image" Target="../media/image260.wmf"/><Relationship Id="rId14" Type="http://schemas.openxmlformats.org/officeDocument/2006/relationships/oleObject" Target="../embeddings/oleObject223.bin"/></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228.bin"/><Relationship Id="rId13" Type="http://schemas.openxmlformats.org/officeDocument/2006/relationships/image" Target="../media/image270.wmf"/><Relationship Id="rId18" Type="http://schemas.openxmlformats.org/officeDocument/2006/relationships/oleObject" Target="../embeddings/oleObject233.bin"/><Relationship Id="rId3" Type="http://schemas.openxmlformats.org/officeDocument/2006/relationships/image" Target="../media/image265.emf"/><Relationship Id="rId7" Type="http://schemas.openxmlformats.org/officeDocument/2006/relationships/image" Target="../media/image267.wmf"/><Relationship Id="rId12" Type="http://schemas.openxmlformats.org/officeDocument/2006/relationships/oleObject" Target="../embeddings/oleObject230.bin"/><Relationship Id="rId17" Type="http://schemas.openxmlformats.org/officeDocument/2006/relationships/image" Target="../media/image272.wmf"/><Relationship Id="rId2" Type="http://schemas.openxmlformats.org/officeDocument/2006/relationships/oleObject" Target="../embeddings/oleObject225.bin"/><Relationship Id="rId16" Type="http://schemas.openxmlformats.org/officeDocument/2006/relationships/oleObject" Target="../embeddings/oleObject232.bin"/><Relationship Id="rId1" Type="http://schemas.openxmlformats.org/officeDocument/2006/relationships/slideLayout" Target="../slideLayouts/slideLayout7.xml"/><Relationship Id="rId6" Type="http://schemas.openxmlformats.org/officeDocument/2006/relationships/oleObject" Target="../embeddings/oleObject227.bin"/><Relationship Id="rId11" Type="http://schemas.openxmlformats.org/officeDocument/2006/relationships/image" Target="../media/image269.wmf"/><Relationship Id="rId5" Type="http://schemas.openxmlformats.org/officeDocument/2006/relationships/image" Target="../media/image266.emf"/><Relationship Id="rId15" Type="http://schemas.openxmlformats.org/officeDocument/2006/relationships/image" Target="../media/image271.wmf"/><Relationship Id="rId10" Type="http://schemas.openxmlformats.org/officeDocument/2006/relationships/oleObject" Target="../embeddings/oleObject229.bin"/><Relationship Id="rId19" Type="http://schemas.openxmlformats.org/officeDocument/2006/relationships/image" Target="../media/image273.wmf"/><Relationship Id="rId4" Type="http://schemas.openxmlformats.org/officeDocument/2006/relationships/oleObject" Target="../embeddings/oleObject226.bin"/><Relationship Id="rId9" Type="http://schemas.openxmlformats.org/officeDocument/2006/relationships/image" Target="../media/image268.wmf"/><Relationship Id="rId14" Type="http://schemas.openxmlformats.org/officeDocument/2006/relationships/oleObject" Target="../embeddings/oleObject231.bin"/></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237.bin"/><Relationship Id="rId3" Type="http://schemas.openxmlformats.org/officeDocument/2006/relationships/image" Target="../media/image274.wmf"/><Relationship Id="rId7" Type="http://schemas.openxmlformats.org/officeDocument/2006/relationships/image" Target="../media/image276.wmf"/><Relationship Id="rId2" Type="http://schemas.openxmlformats.org/officeDocument/2006/relationships/oleObject" Target="../embeddings/oleObject234.bin"/><Relationship Id="rId1" Type="http://schemas.openxmlformats.org/officeDocument/2006/relationships/slideLayout" Target="../slideLayouts/slideLayout7.xml"/><Relationship Id="rId6" Type="http://schemas.openxmlformats.org/officeDocument/2006/relationships/oleObject" Target="../embeddings/oleObject236.bin"/><Relationship Id="rId11" Type="http://schemas.openxmlformats.org/officeDocument/2006/relationships/image" Target="../media/image278.wmf"/><Relationship Id="rId5" Type="http://schemas.openxmlformats.org/officeDocument/2006/relationships/image" Target="../media/image275.wmf"/><Relationship Id="rId10" Type="http://schemas.openxmlformats.org/officeDocument/2006/relationships/oleObject" Target="../embeddings/oleObject238.bin"/><Relationship Id="rId4" Type="http://schemas.openxmlformats.org/officeDocument/2006/relationships/oleObject" Target="../embeddings/oleObject235.bin"/><Relationship Id="rId9" Type="http://schemas.openxmlformats.org/officeDocument/2006/relationships/image" Target="../media/image277.wmf"/></Relationships>
</file>

<file path=ppt/slides/_rels/slide48.xml.rels><?xml version="1.0" encoding="UTF-8" standalone="yes"?>
<Relationships xmlns="http://schemas.openxmlformats.org/package/2006/relationships"><Relationship Id="rId8" Type="http://schemas.openxmlformats.org/officeDocument/2006/relationships/image" Target="../media/image282.wmf"/><Relationship Id="rId13" Type="http://schemas.openxmlformats.org/officeDocument/2006/relationships/oleObject" Target="../embeddings/oleObject244.bin"/><Relationship Id="rId3" Type="http://schemas.openxmlformats.org/officeDocument/2006/relationships/oleObject" Target="../embeddings/oleObject239.bin"/><Relationship Id="rId7" Type="http://schemas.openxmlformats.org/officeDocument/2006/relationships/oleObject" Target="../embeddings/oleObject241.bin"/><Relationship Id="rId12" Type="http://schemas.openxmlformats.org/officeDocument/2006/relationships/image" Target="../media/image284.wmf"/><Relationship Id="rId2" Type="http://schemas.openxmlformats.org/officeDocument/2006/relationships/image" Target="../media/image279.jpeg"/><Relationship Id="rId1" Type="http://schemas.openxmlformats.org/officeDocument/2006/relationships/slideLayout" Target="../slideLayouts/slideLayout7.xml"/><Relationship Id="rId6" Type="http://schemas.openxmlformats.org/officeDocument/2006/relationships/image" Target="../media/image281.wmf"/><Relationship Id="rId11" Type="http://schemas.openxmlformats.org/officeDocument/2006/relationships/oleObject" Target="../embeddings/oleObject243.bin"/><Relationship Id="rId5" Type="http://schemas.openxmlformats.org/officeDocument/2006/relationships/oleObject" Target="../embeddings/oleObject240.bin"/><Relationship Id="rId10" Type="http://schemas.openxmlformats.org/officeDocument/2006/relationships/image" Target="../media/image283.wmf"/><Relationship Id="rId4" Type="http://schemas.openxmlformats.org/officeDocument/2006/relationships/image" Target="../media/image280.wmf"/><Relationship Id="rId9" Type="http://schemas.openxmlformats.org/officeDocument/2006/relationships/oleObject" Target="../embeddings/oleObject242.bin"/><Relationship Id="rId14" Type="http://schemas.openxmlformats.org/officeDocument/2006/relationships/image" Target="../media/image285.wmf"/></Relationships>
</file>

<file path=ppt/slides/_rels/slide49.xml.rels><?xml version="1.0" encoding="UTF-8" standalone="yes"?>
<Relationships xmlns="http://schemas.openxmlformats.org/package/2006/relationships"><Relationship Id="rId8" Type="http://schemas.openxmlformats.org/officeDocument/2006/relationships/image" Target="../media/image289.wmf"/><Relationship Id="rId3" Type="http://schemas.openxmlformats.org/officeDocument/2006/relationships/image" Target="../media/image286.wmf"/><Relationship Id="rId7" Type="http://schemas.openxmlformats.org/officeDocument/2006/relationships/oleObject" Target="../embeddings/oleObject247.bin"/><Relationship Id="rId12" Type="http://schemas.openxmlformats.org/officeDocument/2006/relationships/image" Target="../media/image291.wmf"/><Relationship Id="rId2" Type="http://schemas.openxmlformats.org/officeDocument/2006/relationships/oleObject" Target="../embeddings/oleObject245.bin"/><Relationship Id="rId1" Type="http://schemas.openxmlformats.org/officeDocument/2006/relationships/slideLayout" Target="../slideLayouts/slideLayout13.xml"/><Relationship Id="rId6" Type="http://schemas.openxmlformats.org/officeDocument/2006/relationships/image" Target="../media/image288.emf"/><Relationship Id="rId11" Type="http://schemas.openxmlformats.org/officeDocument/2006/relationships/oleObject" Target="../embeddings/oleObject249.bin"/><Relationship Id="rId5" Type="http://schemas.openxmlformats.org/officeDocument/2006/relationships/oleObject" Target="../embeddings/oleObject246.bin"/><Relationship Id="rId10" Type="http://schemas.openxmlformats.org/officeDocument/2006/relationships/image" Target="../media/image290.wmf"/><Relationship Id="rId4" Type="http://schemas.openxmlformats.org/officeDocument/2006/relationships/image" Target="../media/image287.jpeg"/><Relationship Id="rId9" Type="http://schemas.openxmlformats.org/officeDocument/2006/relationships/oleObject" Target="../embeddings/oleObject248.bin"/></Relationships>
</file>

<file path=ppt/slides/_rels/slide50.xml.rels><?xml version="1.0" encoding="UTF-8" standalone="yes"?>
<Relationships xmlns="http://schemas.openxmlformats.org/package/2006/relationships"><Relationship Id="rId8" Type="http://schemas.openxmlformats.org/officeDocument/2006/relationships/image" Target="../media/image295.wmf"/><Relationship Id="rId3" Type="http://schemas.openxmlformats.org/officeDocument/2006/relationships/oleObject" Target="../embeddings/oleObject250.bin"/><Relationship Id="rId7" Type="http://schemas.openxmlformats.org/officeDocument/2006/relationships/oleObject" Target="../embeddings/oleObject252.bin"/><Relationship Id="rId12" Type="http://schemas.openxmlformats.org/officeDocument/2006/relationships/image" Target="../media/image297.wmf"/><Relationship Id="rId2" Type="http://schemas.openxmlformats.org/officeDocument/2006/relationships/image" Target="../media/image292.jpeg"/><Relationship Id="rId1" Type="http://schemas.openxmlformats.org/officeDocument/2006/relationships/slideLayout" Target="../slideLayouts/slideLayout13.xml"/><Relationship Id="rId6" Type="http://schemas.openxmlformats.org/officeDocument/2006/relationships/image" Target="../media/image294.wmf"/><Relationship Id="rId11" Type="http://schemas.openxmlformats.org/officeDocument/2006/relationships/oleObject" Target="../embeddings/oleObject254.bin"/><Relationship Id="rId5" Type="http://schemas.openxmlformats.org/officeDocument/2006/relationships/oleObject" Target="../embeddings/oleObject251.bin"/><Relationship Id="rId10" Type="http://schemas.openxmlformats.org/officeDocument/2006/relationships/image" Target="../media/image296.wmf"/><Relationship Id="rId4" Type="http://schemas.openxmlformats.org/officeDocument/2006/relationships/image" Target="../media/image293.wmf"/><Relationship Id="rId9" Type="http://schemas.openxmlformats.org/officeDocument/2006/relationships/oleObject" Target="../embeddings/oleObject253.bin"/></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258.bin"/><Relationship Id="rId3" Type="http://schemas.openxmlformats.org/officeDocument/2006/relationships/image" Target="../media/image298.wmf"/><Relationship Id="rId7" Type="http://schemas.openxmlformats.org/officeDocument/2006/relationships/image" Target="../media/image300.wmf"/><Relationship Id="rId2" Type="http://schemas.openxmlformats.org/officeDocument/2006/relationships/oleObject" Target="../embeddings/oleObject255.bin"/><Relationship Id="rId1" Type="http://schemas.openxmlformats.org/officeDocument/2006/relationships/slideLayout" Target="../slideLayouts/slideLayout7.xml"/><Relationship Id="rId6" Type="http://schemas.openxmlformats.org/officeDocument/2006/relationships/oleObject" Target="../embeddings/oleObject257.bin"/><Relationship Id="rId11" Type="http://schemas.openxmlformats.org/officeDocument/2006/relationships/image" Target="../media/image302.wmf"/><Relationship Id="rId5" Type="http://schemas.openxmlformats.org/officeDocument/2006/relationships/image" Target="../media/image299.wmf"/><Relationship Id="rId10" Type="http://schemas.openxmlformats.org/officeDocument/2006/relationships/oleObject" Target="../embeddings/oleObject259.bin"/><Relationship Id="rId4" Type="http://schemas.openxmlformats.org/officeDocument/2006/relationships/oleObject" Target="../embeddings/oleObject256.bin"/><Relationship Id="rId9" Type="http://schemas.openxmlformats.org/officeDocument/2006/relationships/image" Target="../media/image301.wmf"/></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261.bin"/><Relationship Id="rId3" Type="http://schemas.openxmlformats.org/officeDocument/2006/relationships/image" Target="../media/image298.wmf"/><Relationship Id="rId7" Type="http://schemas.openxmlformats.org/officeDocument/2006/relationships/image" Target="../media/image303.wmf"/><Relationship Id="rId2" Type="http://schemas.openxmlformats.org/officeDocument/2006/relationships/oleObject" Target="../embeddings/oleObject255.bin"/><Relationship Id="rId1" Type="http://schemas.openxmlformats.org/officeDocument/2006/relationships/slideLayout" Target="../slideLayouts/slideLayout7.xml"/><Relationship Id="rId6" Type="http://schemas.openxmlformats.org/officeDocument/2006/relationships/oleObject" Target="../embeddings/oleObject260.bin"/><Relationship Id="rId11" Type="http://schemas.openxmlformats.org/officeDocument/2006/relationships/image" Target="../media/image305.wmf"/><Relationship Id="rId5" Type="http://schemas.openxmlformats.org/officeDocument/2006/relationships/image" Target="../media/image299.wmf"/><Relationship Id="rId10" Type="http://schemas.openxmlformats.org/officeDocument/2006/relationships/oleObject" Target="../embeddings/oleObject262.bin"/><Relationship Id="rId4" Type="http://schemas.openxmlformats.org/officeDocument/2006/relationships/oleObject" Target="../embeddings/oleObject256.bin"/><Relationship Id="rId9" Type="http://schemas.openxmlformats.org/officeDocument/2006/relationships/image" Target="../media/image304.wmf"/></Relationships>
</file>

<file path=ppt/slides/_rels/slide53.xml.rels><?xml version="1.0" encoding="UTF-8" standalone="yes"?>
<Relationships xmlns="http://schemas.openxmlformats.org/package/2006/relationships"><Relationship Id="rId2" Type="http://schemas.openxmlformats.org/officeDocument/2006/relationships/image" Target="../media/image306.jp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307.png"/><Relationship Id="rId2" Type="http://schemas.openxmlformats.org/officeDocument/2006/relationships/oleObject" Target="../embeddings/oleObject263.bin"/><Relationship Id="rId1" Type="http://schemas.openxmlformats.org/officeDocument/2006/relationships/slideLayout" Target="../slideLayouts/slideLayout7.xml"/><Relationship Id="rId4" Type="http://schemas.openxmlformats.org/officeDocument/2006/relationships/image" Target="../media/image308.jpeg"/></Relationships>
</file>

<file path=ppt/slides/_rels/slide55.xml.rels><?xml version="1.0" encoding="UTF-8" standalone="yes"?>
<Relationships xmlns="http://schemas.openxmlformats.org/package/2006/relationships"><Relationship Id="rId8" Type="http://schemas.openxmlformats.org/officeDocument/2006/relationships/image" Target="../media/image311.wmf"/><Relationship Id="rId13" Type="http://schemas.openxmlformats.org/officeDocument/2006/relationships/oleObject" Target="../embeddings/oleObject269.bin"/><Relationship Id="rId3" Type="http://schemas.openxmlformats.org/officeDocument/2006/relationships/oleObject" Target="../embeddings/oleObject264.bin"/><Relationship Id="rId7" Type="http://schemas.openxmlformats.org/officeDocument/2006/relationships/oleObject" Target="../embeddings/oleObject266.bin"/><Relationship Id="rId12" Type="http://schemas.openxmlformats.org/officeDocument/2006/relationships/image" Target="../media/image313.wmf"/><Relationship Id="rId2" Type="http://schemas.openxmlformats.org/officeDocument/2006/relationships/image" Target="../media/image279.jpeg"/><Relationship Id="rId16" Type="http://schemas.openxmlformats.org/officeDocument/2006/relationships/image" Target="../media/image315.emf"/><Relationship Id="rId1" Type="http://schemas.openxmlformats.org/officeDocument/2006/relationships/slideLayout" Target="../slideLayouts/slideLayout7.xml"/><Relationship Id="rId6" Type="http://schemas.openxmlformats.org/officeDocument/2006/relationships/image" Target="../media/image310.wmf"/><Relationship Id="rId11" Type="http://schemas.openxmlformats.org/officeDocument/2006/relationships/oleObject" Target="../embeddings/oleObject268.bin"/><Relationship Id="rId5" Type="http://schemas.openxmlformats.org/officeDocument/2006/relationships/oleObject" Target="../embeddings/oleObject265.bin"/><Relationship Id="rId15" Type="http://schemas.openxmlformats.org/officeDocument/2006/relationships/oleObject" Target="../embeddings/oleObject270.bin"/><Relationship Id="rId10" Type="http://schemas.openxmlformats.org/officeDocument/2006/relationships/image" Target="../media/image312.wmf"/><Relationship Id="rId4" Type="http://schemas.openxmlformats.org/officeDocument/2006/relationships/image" Target="../media/image309.emf"/><Relationship Id="rId9" Type="http://schemas.openxmlformats.org/officeDocument/2006/relationships/oleObject" Target="../embeddings/oleObject267.bin"/><Relationship Id="rId14" Type="http://schemas.openxmlformats.org/officeDocument/2006/relationships/image" Target="../media/image314.wmf"/></Relationships>
</file>

<file path=ppt/slides/_rels/slide56.xml.rels><?xml version="1.0" encoding="UTF-8" standalone="yes"?>
<Relationships xmlns="http://schemas.openxmlformats.org/package/2006/relationships"><Relationship Id="rId2" Type="http://schemas.openxmlformats.org/officeDocument/2006/relationships/image" Target="../media/image316.jpe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273.bin"/><Relationship Id="rId13" Type="http://schemas.openxmlformats.org/officeDocument/2006/relationships/image" Target="../media/image323.wmf"/><Relationship Id="rId3" Type="http://schemas.openxmlformats.org/officeDocument/2006/relationships/image" Target="../media/image317.wmf"/><Relationship Id="rId7" Type="http://schemas.openxmlformats.org/officeDocument/2006/relationships/image" Target="../media/image320.wmf"/><Relationship Id="rId12" Type="http://schemas.openxmlformats.org/officeDocument/2006/relationships/oleObject" Target="../embeddings/oleObject275.bin"/><Relationship Id="rId2" Type="http://schemas.openxmlformats.org/officeDocument/2006/relationships/oleObject" Target="../embeddings/oleObject271.bin"/><Relationship Id="rId1" Type="http://schemas.openxmlformats.org/officeDocument/2006/relationships/slideLayout" Target="../slideLayouts/slideLayout7.xml"/><Relationship Id="rId6" Type="http://schemas.openxmlformats.org/officeDocument/2006/relationships/oleObject" Target="../embeddings/oleObject272.bin"/><Relationship Id="rId11" Type="http://schemas.openxmlformats.org/officeDocument/2006/relationships/image" Target="../media/image322.wmf"/><Relationship Id="rId5" Type="http://schemas.openxmlformats.org/officeDocument/2006/relationships/image" Target="../media/image319.jpeg"/><Relationship Id="rId10" Type="http://schemas.openxmlformats.org/officeDocument/2006/relationships/oleObject" Target="../embeddings/oleObject274.bin"/><Relationship Id="rId4" Type="http://schemas.openxmlformats.org/officeDocument/2006/relationships/image" Target="../media/image318.jpeg"/><Relationship Id="rId9" Type="http://schemas.openxmlformats.org/officeDocument/2006/relationships/image" Target="../media/image321.wmf"/></Relationships>
</file>

<file path=ppt/slides/_rels/slide58.xml.rels><?xml version="1.0" encoding="UTF-8" standalone="yes"?>
<Relationships xmlns="http://schemas.openxmlformats.org/package/2006/relationships"><Relationship Id="rId8" Type="http://schemas.openxmlformats.org/officeDocument/2006/relationships/image" Target="../media/image327.wmf"/><Relationship Id="rId13" Type="http://schemas.openxmlformats.org/officeDocument/2006/relationships/oleObject" Target="../embeddings/oleObject281.bin"/><Relationship Id="rId3" Type="http://schemas.openxmlformats.org/officeDocument/2006/relationships/oleObject" Target="../embeddings/oleObject276.bin"/><Relationship Id="rId7" Type="http://schemas.openxmlformats.org/officeDocument/2006/relationships/oleObject" Target="../embeddings/oleObject278.bin"/><Relationship Id="rId12" Type="http://schemas.openxmlformats.org/officeDocument/2006/relationships/image" Target="../media/image329.wmf"/><Relationship Id="rId2" Type="http://schemas.openxmlformats.org/officeDocument/2006/relationships/image" Target="../media/image324.jpg"/><Relationship Id="rId16" Type="http://schemas.openxmlformats.org/officeDocument/2006/relationships/image" Target="../media/image331.wmf"/><Relationship Id="rId1" Type="http://schemas.openxmlformats.org/officeDocument/2006/relationships/slideLayout" Target="../slideLayouts/slideLayout7.xml"/><Relationship Id="rId6" Type="http://schemas.openxmlformats.org/officeDocument/2006/relationships/image" Target="../media/image326.wmf"/><Relationship Id="rId11" Type="http://schemas.openxmlformats.org/officeDocument/2006/relationships/oleObject" Target="../embeddings/oleObject280.bin"/><Relationship Id="rId5" Type="http://schemas.openxmlformats.org/officeDocument/2006/relationships/oleObject" Target="../embeddings/oleObject277.bin"/><Relationship Id="rId15" Type="http://schemas.openxmlformats.org/officeDocument/2006/relationships/oleObject" Target="../embeddings/oleObject282.bin"/><Relationship Id="rId10" Type="http://schemas.openxmlformats.org/officeDocument/2006/relationships/image" Target="../media/image328.wmf"/><Relationship Id="rId4" Type="http://schemas.openxmlformats.org/officeDocument/2006/relationships/image" Target="../media/image325.wmf"/><Relationship Id="rId9" Type="http://schemas.openxmlformats.org/officeDocument/2006/relationships/oleObject" Target="../embeddings/oleObject279.bin"/><Relationship Id="rId14" Type="http://schemas.openxmlformats.org/officeDocument/2006/relationships/image" Target="../media/image330.wmf"/></Relationships>
</file>

<file path=ppt/slides/_rels/slide59.xml.rels><?xml version="1.0" encoding="UTF-8" standalone="yes"?>
<Relationships xmlns="http://schemas.openxmlformats.org/package/2006/relationships"><Relationship Id="rId3" Type="http://schemas.openxmlformats.org/officeDocument/2006/relationships/image" Target="../media/image332.wmf"/><Relationship Id="rId2" Type="http://schemas.openxmlformats.org/officeDocument/2006/relationships/oleObject" Target="../embeddings/oleObject283.bin"/><Relationship Id="rId1" Type="http://schemas.openxmlformats.org/officeDocument/2006/relationships/slideLayout" Target="../slideLayouts/slideLayout7.xml"/><Relationship Id="rId4" Type="http://schemas.openxmlformats.org/officeDocument/2006/relationships/image" Target="../media/image333.jpg"/></Relationships>
</file>

<file path=ppt/slides/_rels/slide60.xml.rels><?xml version="1.0" encoding="UTF-8" standalone="yes"?>
<Relationships xmlns="http://schemas.openxmlformats.org/package/2006/relationships"><Relationship Id="rId8" Type="http://schemas.openxmlformats.org/officeDocument/2006/relationships/image" Target="../media/image336.wmf"/><Relationship Id="rId13" Type="http://schemas.openxmlformats.org/officeDocument/2006/relationships/oleObject" Target="../embeddings/oleObject289.bin"/><Relationship Id="rId18" Type="http://schemas.openxmlformats.org/officeDocument/2006/relationships/image" Target="../media/image341.emf"/><Relationship Id="rId3" Type="http://schemas.openxmlformats.org/officeDocument/2006/relationships/oleObject" Target="../embeddings/oleObject284.bin"/><Relationship Id="rId21" Type="http://schemas.openxmlformats.org/officeDocument/2006/relationships/image" Target="../media/image343.emf"/><Relationship Id="rId7" Type="http://schemas.openxmlformats.org/officeDocument/2006/relationships/oleObject" Target="../embeddings/oleObject286.bin"/><Relationship Id="rId12" Type="http://schemas.openxmlformats.org/officeDocument/2006/relationships/image" Target="../media/image338.wmf"/><Relationship Id="rId17" Type="http://schemas.openxmlformats.org/officeDocument/2006/relationships/oleObject" Target="../embeddings/oleObject291.bin"/><Relationship Id="rId2" Type="http://schemas.openxmlformats.org/officeDocument/2006/relationships/image" Target="../media/image279.jpeg"/><Relationship Id="rId16" Type="http://schemas.openxmlformats.org/officeDocument/2006/relationships/image" Target="../media/image340.emf"/><Relationship Id="rId20" Type="http://schemas.openxmlformats.org/officeDocument/2006/relationships/image" Target="../media/image342.emf"/><Relationship Id="rId1" Type="http://schemas.openxmlformats.org/officeDocument/2006/relationships/slideLayout" Target="../slideLayouts/slideLayout7.xml"/><Relationship Id="rId6" Type="http://schemas.openxmlformats.org/officeDocument/2006/relationships/image" Target="../media/image335.wmf"/><Relationship Id="rId11" Type="http://schemas.openxmlformats.org/officeDocument/2006/relationships/oleObject" Target="../embeddings/oleObject288.bin"/><Relationship Id="rId5" Type="http://schemas.openxmlformats.org/officeDocument/2006/relationships/oleObject" Target="../embeddings/oleObject285.bin"/><Relationship Id="rId15" Type="http://schemas.openxmlformats.org/officeDocument/2006/relationships/oleObject" Target="../embeddings/oleObject290.bin"/><Relationship Id="rId23" Type="http://schemas.openxmlformats.org/officeDocument/2006/relationships/image" Target="../media/image344.emf"/><Relationship Id="rId10" Type="http://schemas.openxmlformats.org/officeDocument/2006/relationships/image" Target="../media/image337.emf"/><Relationship Id="rId19" Type="http://schemas.openxmlformats.org/officeDocument/2006/relationships/oleObject" Target="../embeddings/oleObject292.bin"/><Relationship Id="rId4" Type="http://schemas.openxmlformats.org/officeDocument/2006/relationships/image" Target="../media/image334.wmf"/><Relationship Id="rId9" Type="http://schemas.openxmlformats.org/officeDocument/2006/relationships/oleObject" Target="../embeddings/oleObject287.bin"/><Relationship Id="rId14" Type="http://schemas.openxmlformats.org/officeDocument/2006/relationships/image" Target="../media/image339.wmf"/><Relationship Id="rId22" Type="http://schemas.openxmlformats.org/officeDocument/2006/relationships/oleObject" Target="../embeddings/oleObject293.bin"/></Relationships>
</file>

<file path=ppt/slides/_rels/slide61.xml.rels><?xml version="1.0" encoding="UTF-8" standalone="yes"?>
<Relationships xmlns="http://schemas.openxmlformats.org/package/2006/relationships"><Relationship Id="rId8" Type="http://schemas.openxmlformats.org/officeDocument/2006/relationships/oleObject" Target="../embeddings/oleObject297.bin"/><Relationship Id="rId13" Type="http://schemas.openxmlformats.org/officeDocument/2006/relationships/image" Target="../media/image350.wmf"/><Relationship Id="rId3" Type="http://schemas.openxmlformats.org/officeDocument/2006/relationships/image" Target="../media/image345.wmf"/><Relationship Id="rId7" Type="http://schemas.openxmlformats.org/officeDocument/2006/relationships/image" Target="../media/image347.wmf"/><Relationship Id="rId12" Type="http://schemas.openxmlformats.org/officeDocument/2006/relationships/oleObject" Target="../embeddings/oleObject299.bin"/><Relationship Id="rId2" Type="http://schemas.openxmlformats.org/officeDocument/2006/relationships/oleObject" Target="../embeddings/oleObject294.bin"/><Relationship Id="rId1" Type="http://schemas.openxmlformats.org/officeDocument/2006/relationships/slideLayout" Target="../slideLayouts/slideLayout14.xml"/><Relationship Id="rId6" Type="http://schemas.openxmlformats.org/officeDocument/2006/relationships/oleObject" Target="../embeddings/oleObject296.bin"/><Relationship Id="rId11" Type="http://schemas.openxmlformats.org/officeDocument/2006/relationships/image" Target="../media/image349.wmf"/><Relationship Id="rId5" Type="http://schemas.openxmlformats.org/officeDocument/2006/relationships/image" Target="../media/image346.wmf"/><Relationship Id="rId15" Type="http://schemas.openxmlformats.org/officeDocument/2006/relationships/image" Target="../media/image351.wmf"/><Relationship Id="rId10" Type="http://schemas.openxmlformats.org/officeDocument/2006/relationships/oleObject" Target="../embeddings/oleObject298.bin"/><Relationship Id="rId4" Type="http://schemas.openxmlformats.org/officeDocument/2006/relationships/oleObject" Target="../embeddings/oleObject295.bin"/><Relationship Id="rId9" Type="http://schemas.openxmlformats.org/officeDocument/2006/relationships/image" Target="../media/image348.emf"/><Relationship Id="rId14" Type="http://schemas.openxmlformats.org/officeDocument/2006/relationships/oleObject" Target="../embeddings/oleObject300.bin"/></Relationships>
</file>

<file path=ppt/slides/_rels/slide62.xml.rels><?xml version="1.0" encoding="UTF-8" standalone="yes"?>
<Relationships xmlns="http://schemas.openxmlformats.org/package/2006/relationships"><Relationship Id="rId8" Type="http://schemas.openxmlformats.org/officeDocument/2006/relationships/oleObject" Target="../embeddings/oleObject304.bin"/><Relationship Id="rId3" Type="http://schemas.openxmlformats.org/officeDocument/2006/relationships/image" Target="../media/image352.emf"/><Relationship Id="rId7" Type="http://schemas.openxmlformats.org/officeDocument/2006/relationships/image" Target="../media/image354.wmf"/><Relationship Id="rId2" Type="http://schemas.openxmlformats.org/officeDocument/2006/relationships/oleObject" Target="../embeddings/oleObject301.bin"/><Relationship Id="rId1" Type="http://schemas.openxmlformats.org/officeDocument/2006/relationships/slideLayout" Target="../slideLayouts/slideLayout7.xml"/><Relationship Id="rId6" Type="http://schemas.openxmlformats.org/officeDocument/2006/relationships/oleObject" Target="../embeddings/oleObject303.bin"/><Relationship Id="rId5" Type="http://schemas.openxmlformats.org/officeDocument/2006/relationships/image" Target="../media/image353.emf"/><Relationship Id="rId4" Type="http://schemas.openxmlformats.org/officeDocument/2006/relationships/oleObject" Target="../embeddings/oleObject302.bin"/><Relationship Id="rId9" Type="http://schemas.openxmlformats.org/officeDocument/2006/relationships/image" Target="../media/image355.wmf"/></Relationships>
</file>

<file path=ppt/slides/_rels/slide63.xml.rels><?xml version="1.0" encoding="UTF-8" standalone="yes"?>
<Relationships xmlns="http://schemas.openxmlformats.org/package/2006/relationships"><Relationship Id="rId3" Type="http://schemas.openxmlformats.org/officeDocument/2006/relationships/image" Target="../media/image357.png"/><Relationship Id="rId2" Type="http://schemas.openxmlformats.org/officeDocument/2006/relationships/image" Target="../media/image35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59.jpeg"/><Relationship Id="rId2" Type="http://schemas.openxmlformats.org/officeDocument/2006/relationships/image" Target="../media/image358.jpeg"/><Relationship Id="rId1" Type="http://schemas.openxmlformats.org/officeDocument/2006/relationships/slideLayout" Target="../slideLayouts/slideLayout7.xml"/><Relationship Id="rId4" Type="http://schemas.openxmlformats.org/officeDocument/2006/relationships/image" Target="../media/image360.jpeg"/></Relationships>
</file>

<file path=ppt/slides/_rels/slide65.xml.rels><?xml version="1.0" encoding="UTF-8" standalone="yes"?>
<Relationships xmlns="http://schemas.openxmlformats.org/package/2006/relationships"><Relationship Id="rId3" Type="http://schemas.openxmlformats.org/officeDocument/2006/relationships/image" Target="../media/image361.emf"/><Relationship Id="rId7" Type="http://schemas.openxmlformats.org/officeDocument/2006/relationships/image" Target="../media/image363.emf"/><Relationship Id="rId2" Type="http://schemas.openxmlformats.org/officeDocument/2006/relationships/oleObject" Target="../embeddings/oleObject305.bin"/><Relationship Id="rId1" Type="http://schemas.openxmlformats.org/officeDocument/2006/relationships/slideLayout" Target="../slideLayouts/slideLayout7.xml"/><Relationship Id="rId6" Type="http://schemas.openxmlformats.org/officeDocument/2006/relationships/oleObject" Target="../embeddings/oleObject307.bin"/><Relationship Id="rId5" Type="http://schemas.openxmlformats.org/officeDocument/2006/relationships/image" Target="../media/image362.emf"/><Relationship Id="rId4" Type="http://schemas.openxmlformats.org/officeDocument/2006/relationships/oleObject" Target="../embeddings/oleObject306.bin"/></Relationships>
</file>

<file path=ppt/slides/_rels/slide66.xml.rels><?xml version="1.0" encoding="UTF-8" standalone="yes"?>
<Relationships xmlns="http://schemas.openxmlformats.org/package/2006/relationships"><Relationship Id="rId8" Type="http://schemas.openxmlformats.org/officeDocument/2006/relationships/oleObject" Target="../embeddings/oleObject311.bin"/><Relationship Id="rId13" Type="http://schemas.openxmlformats.org/officeDocument/2006/relationships/oleObject" Target="../embeddings/oleObject314.bin"/><Relationship Id="rId18" Type="http://schemas.openxmlformats.org/officeDocument/2006/relationships/image" Target="../media/image371.wmf"/><Relationship Id="rId3" Type="http://schemas.openxmlformats.org/officeDocument/2006/relationships/image" Target="../media/image364.wmf"/><Relationship Id="rId7" Type="http://schemas.openxmlformats.org/officeDocument/2006/relationships/image" Target="../media/image366.wmf"/><Relationship Id="rId12" Type="http://schemas.openxmlformats.org/officeDocument/2006/relationships/image" Target="../media/image368.wmf"/><Relationship Id="rId17" Type="http://schemas.openxmlformats.org/officeDocument/2006/relationships/oleObject" Target="../embeddings/oleObject316.bin"/><Relationship Id="rId2" Type="http://schemas.openxmlformats.org/officeDocument/2006/relationships/oleObject" Target="../embeddings/oleObject308.bin"/><Relationship Id="rId16" Type="http://schemas.openxmlformats.org/officeDocument/2006/relationships/image" Target="../media/image370.wmf"/><Relationship Id="rId1" Type="http://schemas.openxmlformats.org/officeDocument/2006/relationships/slideLayout" Target="../slideLayouts/slideLayout13.xml"/><Relationship Id="rId6" Type="http://schemas.openxmlformats.org/officeDocument/2006/relationships/oleObject" Target="../embeddings/oleObject310.bin"/><Relationship Id="rId11" Type="http://schemas.openxmlformats.org/officeDocument/2006/relationships/oleObject" Target="../embeddings/oleObject313.bin"/><Relationship Id="rId5" Type="http://schemas.openxmlformats.org/officeDocument/2006/relationships/image" Target="../media/image365.wmf"/><Relationship Id="rId15" Type="http://schemas.openxmlformats.org/officeDocument/2006/relationships/oleObject" Target="../embeddings/oleObject315.bin"/><Relationship Id="rId10" Type="http://schemas.openxmlformats.org/officeDocument/2006/relationships/image" Target="../media/image367.wmf"/><Relationship Id="rId4" Type="http://schemas.openxmlformats.org/officeDocument/2006/relationships/oleObject" Target="../embeddings/oleObject309.bin"/><Relationship Id="rId9" Type="http://schemas.openxmlformats.org/officeDocument/2006/relationships/oleObject" Target="../embeddings/oleObject312.bin"/><Relationship Id="rId14" Type="http://schemas.openxmlformats.org/officeDocument/2006/relationships/image" Target="../media/image369.wmf"/></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78" name="Rectangle 30"/>
          <p:cNvSpPr>
            <a:spLocks noChangeArrowheads="1"/>
          </p:cNvSpPr>
          <p:nvPr/>
        </p:nvSpPr>
        <p:spPr bwMode="auto">
          <a:xfrm>
            <a:off x="755576" y="1052736"/>
            <a:ext cx="7100888" cy="646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defRPr/>
            </a:pPr>
            <a:r>
              <a:rPr kumimoji="1" lang="zh-CN" altLang="en-US" sz="3600" b="1" dirty="0">
                <a:latin typeface="黑体" panose="02010609060101010101" pitchFamily="49" charset="-122"/>
                <a:ea typeface="黑体" panose="02010609060101010101" pitchFamily="49" charset="-122"/>
              </a:rPr>
              <a:t>第</a:t>
            </a:r>
            <a:r>
              <a:rPr lang="zh-CN" altLang="en-US" sz="3600" b="1" dirty="0">
                <a:latin typeface="黑体" panose="02010609060101010101" pitchFamily="49" charset="-122"/>
                <a:ea typeface="黑体" panose="02010609060101010101" pitchFamily="49" charset="-122"/>
              </a:rPr>
              <a:t>六</a:t>
            </a:r>
            <a:r>
              <a:rPr kumimoji="1" lang="zh-CN" altLang="en-US" sz="3600" b="1" dirty="0">
                <a:latin typeface="黑体" panose="02010609060101010101" pitchFamily="49" charset="-122"/>
                <a:ea typeface="黑体" panose="02010609060101010101" pitchFamily="49" charset="-122"/>
              </a:rPr>
              <a:t>章  轴向拉伸与压缩</a:t>
            </a:r>
          </a:p>
        </p:txBody>
      </p:sp>
      <p:sp>
        <p:nvSpPr>
          <p:cNvPr id="2084" name="Rectangle 36"/>
          <p:cNvSpPr>
            <a:spLocks noChangeArrowheads="1"/>
          </p:cNvSpPr>
          <p:nvPr/>
        </p:nvSpPr>
        <p:spPr bwMode="auto">
          <a:xfrm>
            <a:off x="1835696" y="2132856"/>
            <a:ext cx="6336704" cy="3352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0000"/>
              </a:lnSpc>
              <a:buFont typeface="Wingdings" panose="05000000000000000000" pitchFamily="2" charset="2"/>
              <a:buChar char="l"/>
            </a:pPr>
            <a:r>
              <a:rPr kumimoji="1" lang="zh-CN" altLang="en-US" sz="2800" b="1" dirty="0">
                <a:solidFill>
                  <a:srgbClr val="FF0000"/>
                </a:solidFill>
                <a:latin typeface="黑体" panose="02010609060101010101" pitchFamily="49" charset="-122"/>
                <a:ea typeface="黑体" panose="02010609060101010101" pitchFamily="49" charset="-122"/>
              </a:rPr>
              <a:t> 概述</a:t>
            </a:r>
          </a:p>
          <a:p>
            <a:pPr eaLnBrk="1" hangingPunct="1">
              <a:lnSpc>
                <a:spcPct val="110000"/>
              </a:lnSpc>
              <a:buFont typeface="Wingdings" panose="05000000000000000000" pitchFamily="2" charset="2"/>
              <a:buChar char="l"/>
            </a:pPr>
            <a:r>
              <a:rPr kumimoji="1" lang="zh-CN" altLang="en-US" sz="2800" b="1" dirty="0">
                <a:solidFill>
                  <a:srgbClr val="FF0000"/>
                </a:solidFill>
                <a:latin typeface="黑体" panose="02010609060101010101" pitchFamily="49" charset="-122"/>
                <a:ea typeface="黑体" panose="02010609060101010101" pitchFamily="49" charset="-122"/>
              </a:rPr>
              <a:t> 轴向拉压的内力、应力</a:t>
            </a:r>
            <a:r>
              <a:rPr lang="zh-CN" altLang="en-US" sz="2800" b="1" dirty="0">
                <a:solidFill>
                  <a:srgbClr val="FF0000"/>
                </a:solidFill>
                <a:latin typeface="黑体" panose="02010609060101010101" pitchFamily="49" charset="-122"/>
                <a:ea typeface="黑体" panose="02010609060101010101" pitchFamily="49" charset="-122"/>
              </a:rPr>
              <a:t> </a:t>
            </a:r>
            <a:endParaRPr lang="en-US" altLang="zh-CN" sz="2800" b="1" dirty="0">
              <a:solidFill>
                <a:srgbClr val="FF0000"/>
              </a:solidFill>
              <a:latin typeface="黑体" panose="02010609060101010101" pitchFamily="49" charset="-122"/>
              <a:ea typeface="黑体" panose="02010609060101010101" pitchFamily="49" charset="-122"/>
            </a:endParaRPr>
          </a:p>
          <a:p>
            <a:pPr eaLnBrk="1" hangingPunct="1">
              <a:lnSpc>
                <a:spcPct val="110000"/>
              </a:lnSpc>
              <a:buFont typeface="Wingdings" panose="05000000000000000000" pitchFamily="2" charset="2"/>
              <a:buChar char="l"/>
            </a:pPr>
            <a:r>
              <a:rPr lang="zh-CN" altLang="en-US" sz="2800" b="1" dirty="0">
                <a:solidFill>
                  <a:srgbClr val="FF0000"/>
                </a:solidFill>
                <a:latin typeface="黑体" panose="02010609060101010101" pitchFamily="49" charset="-122"/>
                <a:ea typeface="黑体" panose="02010609060101010101" pitchFamily="49" charset="-122"/>
              </a:rPr>
              <a:t> 材料拉压的力学性质</a:t>
            </a:r>
            <a:endParaRPr lang="en-US" altLang="zh-CN" sz="2800" b="1" dirty="0">
              <a:solidFill>
                <a:srgbClr val="FF0000"/>
              </a:solidFill>
              <a:latin typeface="黑体" panose="02010609060101010101" pitchFamily="49" charset="-122"/>
              <a:ea typeface="黑体" panose="02010609060101010101" pitchFamily="49" charset="-122"/>
            </a:endParaRPr>
          </a:p>
          <a:p>
            <a:pPr eaLnBrk="1" hangingPunct="1">
              <a:lnSpc>
                <a:spcPct val="110000"/>
              </a:lnSpc>
              <a:buFont typeface="Wingdings" panose="05000000000000000000" pitchFamily="2" charset="2"/>
              <a:buChar char="l"/>
            </a:pPr>
            <a:r>
              <a:rPr lang="zh-CN" altLang="en-US" sz="2800" b="1" dirty="0">
                <a:solidFill>
                  <a:srgbClr val="FF0000"/>
                </a:solidFill>
                <a:latin typeface="黑体" panose="02010609060101010101" pitchFamily="49" charset="-122"/>
                <a:ea typeface="黑体" panose="02010609060101010101" pitchFamily="49" charset="-122"/>
              </a:rPr>
              <a:t> 强度理论与安全因数</a:t>
            </a:r>
          </a:p>
          <a:p>
            <a:pPr eaLnBrk="1" hangingPunct="1">
              <a:lnSpc>
                <a:spcPct val="110000"/>
              </a:lnSpc>
              <a:buFont typeface="Wingdings" panose="05000000000000000000" pitchFamily="2" charset="2"/>
              <a:buChar char="l"/>
            </a:pPr>
            <a:r>
              <a:rPr lang="zh-CN" altLang="en-US" sz="2800" b="1" dirty="0">
                <a:solidFill>
                  <a:srgbClr val="FF0000"/>
                </a:solidFill>
                <a:latin typeface="黑体" panose="02010609060101010101" pitchFamily="49" charset="-122"/>
                <a:ea typeface="黑体" panose="02010609060101010101" pitchFamily="49" charset="-122"/>
              </a:rPr>
              <a:t> 轴向拉压的变形</a:t>
            </a:r>
            <a:endParaRPr kumimoji="1" lang="zh-CN" altLang="en-US" sz="2800" b="1" dirty="0">
              <a:solidFill>
                <a:srgbClr val="FF0000"/>
              </a:solidFill>
              <a:latin typeface="黑体" panose="02010609060101010101" pitchFamily="49" charset="-122"/>
              <a:ea typeface="黑体" panose="02010609060101010101" pitchFamily="49" charset="-122"/>
            </a:endParaRPr>
          </a:p>
          <a:p>
            <a:pPr eaLnBrk="1" hangingPunct="1">
              <a:lnSpc>
                <a:spcPct val="110000"/>
              </a:lnSpc>
              <a:buFont typeface="Wingdings" panose="05000000000000000000" pitchFamily="2" charset="2"/>
              <a:buChar char="l"/>
            </a:pPr>
            <a:r>
              <a:rPr kumimoji="1" lang="zh-CN" altLang="en-US" sz="2800" b="1" dirty="0">
                <a:solidFill>
                  <a:srgbClr val="FF0000"/>
                </a:solidFill>
                <a:latin typeface="黑体" panose="02010609060101010101" pitchFamily="49" charset="-122"/>
                <a:ea typeface="黑体" panose="02010609060101010101" pitchFamily="49" charset="-122"/>
              </a:rPr>
              <a:t> 拉压静</a:t>
            </a:r>
            <a:r>
              <a:rPr lang="zh-CN" altLang="en-US" sz="2800" b="1" dirty="0">
                <a:solidFill>
                  <a:srgbClr val="FF0000"/>
                </a:solidFill>
                <a:latin typeface="黑体" panose="02010609060101010101" pitchFamily="49" charset="-122"/>
                <a:ea typeface="黑体" panose="02010609060101010101" pitchFamily="49" charset="-122"/>
              </a:rPr>
              <a:t>不</a:t>
            </a:r>
            <a:r>
              <a:rPr kumimoji="1" lang="zh-CN" altLang="en-US" sz="2800" b="1" dirty="0">
                <a:solidFill>
                  <a:srgbClr val="FF0000"/>
                </a:solidFill>
                <a:latin typeface="黑体" panose="02010609060101010101" pitchFamily="49" charset="-122"/>
                <a:ea typeface="黑体" panose="02010609060101010101" pitchFamily="49" charset="-122"/>
              </a:rPr>
              <a:t>定问题</a:t>
            </a:r>
            <a:endParaRPr kumimoji="1" lang="en-US" altLang="zh-CN" sz="2800" b="1" dirty="0">
              <a:solidFill>
                <a:srgbClr val="FF0000"/>
              </a:solidFill>
              <a:latin typeface="黑体" panose="02010609060101010101" pitchFamily="49" charset="-122"/>
              <a:ea typeface="黑体" panose="02010609060101010101" pitchFamily="49" charset="-122"/>
            </a:endParaRPr>
          </a:p>
          <a:p>
            <a:pPr eaLnBrk="1" hangingPunct="1">
              <a:lnSpc>
                <a:spcPct val="110000"/>
              </a:lnSpc>
              <a:buFont typeface="Wingdings" panose="05000000000000000000" pitchFamily="2" charset="2"/>
              <a:buChar char="l"/>
            </a:pPr>
            <a:r>
              <a:rPr lang="en-US" altLang="zh-CN" sz="2800" b="1" dirty="0">
                <a:solidFill>
                  <a:srgbClr val="FF0000"/>
                </a:solidFill>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应力集中</a:t>
            </a:r>
            <a:endParaRPr kumimoji="1" lang="zh-CN" altLang="en-US" sz="2800" b="1" dirty="0">
              <a:solidFill>
                <a:srgbClr val="FF000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155084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78"/>
                                        </p:tgtEl>
                                        <p:attrNameLst>
                                          <p:attrName>style.visibility</p:attrName>
                                        </p:attrNameLst>
                                      </p:cBhvr>
                                      <p:to>
                                        <p:strVal val="visible"/>
                                      </p:to>
                                    </p:set>
                                    <p:animEffect transition="in" filter="fade">
                                      <p:cBhvr>
                                        <p:cTn id="7" dur="500"/>
                                        <p:tgtEl>
                                          <p:spTgt spid="207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084"/>
                                        </p:tgtEl>
                                        <p:attrNameLst>
                                          <p:attrName>style.visibility</p:attrName>
                                        </p:attrNameLst>
                                      </p:cBhvr>
                                      <p:to>
                                        <p:strVal val="visible"/>
                                      </p:to>
                                    </p:set>
                                    <p:animEffect transition="in" filter="wipe(up)">
                                      <p:cBhvr>
                                        <p:cTn id="12" dur="500"/>
                                        <p:tgtEl>
                                          <p:spTgt spid="20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8" grpId="0"/>
      <p:bldP spid="208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2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340768"/>
            <a:ext cx="5087387" cy="3816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7" name="Rectangle 5"/>
          <p:cNvSpPr>
            <a:spLocks noChangeArrowheads="1"/>
          </p:cNvSpPr>
          <p:nvPr/>
        </p:nvSpPr>
        <p:spPr bwMode="auto">
          <a:xfrm>
            <a:off x="539552" y="5301208"/>
            <a:ext cx="502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400" b="1" dirty="0">
                <a:latin typeface="楷体_GB2312" pitchFamily="49" charset="-122"/>
                <a:ea typeface="华文楷体" panose="02010600040101010101" pitchFamily="2" charset="-122"/>
              </a:rPr>
              <a:t>建筑物中的支柱都是承压构件</a:t>
            </a:r>
          </a:p>
        </p:txBody>
      </p:sp>
      <p:sp>
        <p:nvSpPr>
          <p:cNvPr id="6148" name="Rectangle 8"/>
          <p:cNvSpPr>
            <a:spLocks noChangeArrowheads="1"/>
          </p:cNvSpPr>
          <p:nvPr/>
        </p:nvSpPr>
        <p:spPr bwMode="auto">
          <a:xfrm>
            <a:off x="1475656" y="390633"/>
            <a:ext cx="2736850" cy="585418"/>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3200" b="1" dirty="0">
                <a:solidFill>
                  <a:srgbClr val="0000FF"/>
                </a:solidFill>
                <a:latin typeface="Times New Roman" panose="02020603050405020304" pitchFamily="18" charset="0"/>
                <a:ea typeface="隶书" panose="02010509060101010101" pitchFamily="49" charset="-122"/>
              </a:rPr>
              <a:t>6-1  </a:t>
            </a:r>
            <a:r>
              <a:rPr kumimoji="1" lang="zh-CN" altLang="en-US" sz="3200" b="1" dirty="0">
                <a:solidFill>
                  <a:srgbClr val="0000FF"/>
                </a:solidFill>
                <a:latin typeface="Times New Roman" panose="02020603050405020304" pitchFamily="18" charset="0"/>
                <a:ea typeface="隶书" panose="02010509060101010101" pitchFamily="49" charset="-122"/>
              </a:rPr>
              <a:t>概述</a:t>
            </a:r>
          </a:p>
        </p:txBody>
      </p:sp>
      <p:pic>
        <p:nvPicPr>
          <p:cNvPr id="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2080" y="1124744"/>
            <a:ext cx="3369604" cy="5112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lg"/>
              </a14:hiddenLine>
            </a:ext>
          </a:extLst>
        </p:spPr>
      </p:pic>
    </p:spTree>
    <p:extLst>
      <p:ext uri="{BB962C8B-B14F-4D97-AF65-F5344CB8AC3E}">
        <p14:creationId xmlns:p14="http://schemas.microsoft.com/office/powerpoint/2010/main" val="45927037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 calcmode="lin" valueType="num">
                                      <p:cBhvr>
                                        <p:cTn id="7" dur="500" fill="hold"/>
                                        <p:tgtEl>
                                          <p:spTgt spid="6146"/>
                                        </p:tgtEl>
                                        <p:attrNameLst>
                                          <p:attrName>ppt_w</p:attrName>
                                        </p:attrNameLst>
                                      </p:cBhvr>
                                      <p:tavLst>
                                        <p:tav tm="0">
                                          <p:val>
                                            <p:fltVal val="0"/>
                                          </p:val>
                                        </p:tav>
                                        <p:tav tm="100000">
                                          <p:val>
                                            <p:strVal val="#ppt_w"/>
                                          </p:val>
                                        </p:tav>
                                      </p:tavLst>
                                    </p:anim>
                                    <p:anim calcmode="lin" valueType="num">
                                      <p:cBhvr>
                                        <p:cTn id="8" dur="500" fill="hold"/>
                                        <p:tgtEl>
                                          <p:spTgt spid="6146"/>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147"/>
                                        </p:tgtEl>
                                        <p:attrNameLst>
                                          <p:attrName>style.visibility</p:attrName>
                                        </p:attrNameLst>
                                      </p:cBhvr>
                                      <p:to>
                                        <p:strVal val="visible"/>
                                      </p:to>
                                    </p:set>
                                    <p:animEffect transition="in" filter="fade">
                                      <p:cBhvr>
                                        <p:cTn id="13" dur="500"/>
                                        <p:tgtEl>
                                          <p:spTgt spid="6147"/>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p:cTn id="18" dur="500" fill="hold"/>
                                        <p:tgtEl>
                                          <p:spTgt spid="5"/>
                                        </p:tgtEl>
                                        <p:attrNameLst>
                                          <p:attrName>ppt_w</p:attrName>
                                        </p:attrNameLst>
                                      </p:cBhvr>
                                      <p:tavLst>
                                        <p:tav tm="0">
                                          <p:val>
                                            <p:fltVal val="0"/>
                                          </p:val>
                                        </p:tav>
                                        <p:tav tm="100000">
                                          <p:val>
                                            <p:strVal val="#ppt_w"/>
                                          </p:val>
                                        </p:tav>
                                      </p:tavLst>
                                    </p:anim>
                                    <p:anim calcmode="lin" valueType="num">
                                      <p:cBhvr>
                                        <p:cTn id="19" dur="500" fill="hold"/>
                                        <p:tgtEl>
                                          <p:spTgt spid="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467544" y="4653136"/>
            <a:ext cx="4419600" cy="1938992"/>
          </a:xfrm>
          <a:prstGeom prst="rect">
            <a:avLst/>
          </a:prstGeom>
          <a:noFill/>
          <a:ln>
            <a:noFill/>
          </a:ln>
          <a:effectLst/>
          <a:extLst>
            <a:ext uri="{909E8E84-426E-40DD-AFC4-6F175D3DCCD1}">
              <a14:hiddenFill xmlns:a14="http://schemas.microsoft.com/office/drawing/2010/main">
                <a:solidFill>
                  <a:srgbClr val="CC99FF"/>
                </a:solidFill>
              </a14:hiddenFill>
            </a:ext>
            <a:ext uri="{91240B29-F687-4F45-9708-019B960494DF}">
              <a14:hiddenLine xmlns:a14="http://schemas.microsoft.com/office/drawing/2010/main" w="38100">
                <a:solidFill>
                  <a:srgbClr val="FF0000"/>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400" b="1" dirty="0">
                <a:latin typeface="楷体" panose="02010609060101010101" pitchFamily="49" charset="-122"/>
                <a:ea typeface="楷体" panose="02010609060101010101" pitchFamily="49" charset="-122"/>
              </a:rPr>
              <a:t>杨浦大桥，主塔高</a:t>
            </a:r>
            <a:r>
              <a:rPr kumimoji="1" lang="en-US" altLang="zh-CN" sz="2400" b="1" dirty="0">
                <a:latin typeface="楷体" panose="02010609060101010101" pitchFamily="49" charset="-122"/>
                <a:ea typeface="楷体" panose="02010609060101010101" pitchFamily="49" charset="-122"/>
              </a:rPr>
              <a:t>208</a:t>
            </a:r>
            <a:r>
              <a:rPr kumimoji="1" lang="zh-CN" altLang="en-US" sz="2400" b="1" dirty="0">
                <a:latin typeface="楷体" panose="02010609060101010101" pitchFamily="49" charset="-122"/>
                <a:ea typeface="楷体" panose="02010609060101010101" pitchFamily="49" charset="-122"/>
              </a:rPr>
              <a:t>米，两侧各有</a:t>
            </a:r>
            <a:r>
              <a:rPr kumimoji="1" lang="en-US" altLang="zh-CN" sz="2400" b="1" dirty="0">
                <a:latin typeface="楷体" panose="02010609060101010101" pitchFamily="49" charset="-122"/>
                <a:ea typeface="楷体" panose="02010609060101010101" pitchFamily="49" charset="-122"/>
              </a:rPr>
              <a:t>32</a:t>
            </a:r>
            <a:r>
              <a:rPr kumimoji="1" lang="zh-CN" altLang="en-US" sz="2400" b="1" dirty="0">
                <a:latin typeface="楷体" panose="02010609060101010101" pitchFamily="49" charset="-122"/>
                <a:ea typeface="楷体" panose="02010609060101010101" pitchFamily="49" charset="-122"/>
              </a:rPr>
              <a:t>对共</a:t>
            </a:r>
            <a:r>
              <a:rPr kumimoji="1" lang="en-US" altLang="zh-CN" sz="2400" b="1" dirty="0">
                <a:latin typeface="楷体" panose="02010609060101010101" pitchFamily="49" charset="-122"/>
                <a:ea typeface="楷体" panose="02010609060101010101" pitchFamily="49" charset="-122"/>
              </a:rPr>
              <a:t>256</a:t>
            </a:r>
            <a:r>
              <a:rPr kumimoji="1" lang="zh-CN" altLang="en-US" sz="2400" b="1" dirty="0">
                <a:latin typeface="楷体" panose="02010609060101010101" pitchFamily="49" charset="-122"/>
                <a:ea typeface="楷体" panose="02010609060101010101" pitchFamily="49" charset="-122"/>
              </a:rPr>
              <a:t>根拉索，将桥面悬空拉起。其中最长一根钢索</a:t>
            </a:r>
            <a:r>
              <a:rPr kumimoji="1" lang="en-US" altLang="zh-CN" sz="2400" b="1" dirty="0">
                <a:latin typeface="楷体" panose="02010609060101010101" pitchFamily="49" charset="-122"/>
                <a:ea typeface="楷体" panose="02010609060101010101" pitchFamily="49" charset="-122"/>
              </a:rPr>
              <a:t>328</a:t>
            </a:r>
            <a:r>
              <a:rPr kumimoji="1" lang="zh-CN" altLang="en-US" sz="2400" b="1" dirty="0">
                <a:latin typeface="楷体" panose="02010609060101010101" pitchFamily="49" charset="-122"/>
                <a:ea typeface="楷体" panose="02010609060101010101" pitchFamily="49" charset="-122"/>
              </a:rPr>
              <a:t>米，自重</a:t>
            </a:r>
            <a:r>
              <a:rPr kumimoji="1" lang="en-US" altLang="zh-CN" sz="2400" b="1" dirty="0">
                <a:latin typeface="楷体" panose="02010609060101010101" pitchFamily="49" charset="-122"/>
                <a:ea typeface="楷体" panose="02010609060101010101" pitchFamily="49" charset="-122"/>
              </a:rPr>
              <a:t>37</a:t>
            </a:r>
            <a:r>
              <a:rPr kumimoji="1" lang="zh-CN" altLang="en-US" sz="2400" b="1" dirty="0">
                <a:latin typeface="楷体" panose="02010609060101010101" pitchFamily="49" charset="-122"/>
                <a:ea typeface="楷体" panose="02010609060101010101" pitchFamily="49" charset="-122"/>
              </a:rPr>
              <a:t>吨，能承受</a:t>
            </a:r>
            <a:r>
              <a:rPr kumimoji="1" lang="en-US" altLang="zh-CN" sz="2400" b="1" dirty="0">
                <a:latin typeface="楷体" panose="02010609060101010101" pitchFamily="49" charset="-122"/>
                <a:ea typeface="楷体" panose="02010609060101010101" pitchFamily="49" charset="-122"/>
              </a:rPr>
              <a:t>800</a:t>
            </a:r>
            <a:r>
              <a:rPr kumimoji="1" lang="zh-CN" altLang="en-US" sz="2400" b="1" dirty="0">
                <a:latin typeface="楷体" panose="02010609060101010101" pitchFamily="49" charset="-122"/>
                <a:ea typeface="楷体" panose="02010609060101010101" pitchFamily="49" charset="-122"/>
              </a:rPr>
              <a:t>吨拉力。</a:t>
            </a:r>
          </a:p>
        </p:txBody>
      </p:sp>
      <p:pic>
        <p:nvPicPr>
          <p:cNvPr id="7171" name="Picture 3" descr="aaa"/>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838200"/>
            <a:ext cx="4038600"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2" name="Picture 8" descr="news_200510231629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04900"/>
            <a:ext cx="5105400" cy="335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Rectangle 9"/>
          <p:cNvSpPr>
            <a:spLocks noChangeArrowheads="1"/>
          </p:cNvSpPr>
          <p:nvPr/>
        </p:nvSpPr>
        <p:spPr bwMode="auto">
          <a:xfrm>
            <a:off x="1547664" y="331999"/>
            <a:ext cx="2736850" cy="585418"/>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3200" b="1" dirty="0">
                <a:solidFill>
                  <a:srgbClr val="0000FF"/>
                </a:solidFill>
                <a:latin typeface="Times New Roman" panose="02020603050405020304" pitchFamily="18" charset="0"/>
                <a:ea typeface="隶书" panose="02010509060101010101" pitchFamily="49" charset="-122"/>
              </a:rPr>
              <a:t>6-1  </a:t>
            </a:r>
            <a:r>
              <a:rPr kumimoji="1" lang="zh-CN" altLang="en-US" sz="3200" b="1" dirty="0">
                <a:solidFill>
                  <a:srgbClr val="0000FF"/>
                </a:solidFill>
                <a:latin typeface="Times New Roman" panose="02020603050405020304" pitchFamily="18" charset="0"/>
                <a:ea typeface="隶书" panose="02010509060101010101" pitchFamily="49" charset="-122"/>
              </a:rPr>
              <a:t>概述</a:t>
            </a:r>
          </a:p>
        </p:txBody>
      </p:sp>
    </p:spTree>
    <p:extLst>
      <p:ext uri="{BB962C8B-B14F-4D97-AF65-F5344CB8AC3E}">
        <p14:creationId xmlns:p14="http://schemas.microsoft.com/office/powerpoint/2010/main" val="1922198217"/>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feiji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596" y="1361274"/>
            <a:ext cx="4893999" cy="3672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5" name="Text Box 3"/>
          <p:cNvSpPr txBox="1">
            <a:spLocks noChangeArrowheads="1"/>
          </p:cNvSpPr>
          <p:nvPr/>
        </p:nvSpPr>
        <p:spPr bwMode="auto">
          <a:xfrm>
            <a:off x="899592" y="5192350"/>
            <a:ext cx="296536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00"/>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kumimoji="1" lang="zh-CN" altLang="en-US" sz="2400" b="1" dirty="0">
                <a:latin typeface="楷体" panose="02010609060101010101" pitchFamily="49" charset="-122"/>
                <a:ea typeface="楷体" panose="02010609060101010101" pitchFamily="49" charset="-122"/>
              </a:rPr>
              <a:t>飞机的起落架</a:t>
            </a:r>
          </a:p>
        </p:txBody>
      </p:sp>
      <p:sp>
        <p:nvSpPr>
          <p:cNvPr id="8196" name="Rectangle 8"/>
          <p:cNvSpPr>
            <a:spLocks noChangeArrowheads="1"/>
          </p:cNvSpPr>
          <p:nvPr/>
        </p:nvSpPr>
        <p:spPr bwMode="auto">
          <a:xfrm>
            <a:off x="611560" y="332656"/>
            <a:ext cx="2736850" cy="585418"/>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3200" b="1" dirty="0">
                <a:solidFill>
                  <a:srgbClr val="0000FF"/>
                </a:solidFill>
                <a:latin typeface="Times New Roman" panose="02020603050405020304" pitchFamily="18" charset="0"/>
                <a:ea typeface="隶书" panose="02010509060101010101" pitchFamily="49" charset="-122"/>
              </a:rPr>
              <a:t>6-1  </a:t>
            </a:r>
            <a:r>
              <a:rPr kumimoji="1" lang="zh-CN" altLang="en-US" sz="3200" b="1" dirty="0">
                <a:solidFill>
                  <a:srgbClr val="0000FF"/>
                </a:solidFill>
                <a:latin typeface="Times New Roman" panose="02020603050405020304" pitchFamily="18" charset="0"/>
                <a:ea typeface="隶书" panose="02010509060101010101" pitchFamily="49" charset="-122"/>
              </a:rPr>
              <a:t>概述</a:t>
            </a:r>
          </a:p>
        </p:txBody>
      </p:sp>
      <p:pic>
        <p:nvPicPr>
          <p:cNvPr id="5" name="Picture 2" descr="2000080801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6595" y="764704"/>
            <a:ext cx="3899644" cy="5136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9912187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descr="HJ0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22830" y="2692733"/>
            <a:ext cx="3886200" cy="1644650"/>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5" name="Text Box 5"/>
          <p:cNvSpPr txBox="1">
            <a:spLocks noChangeArrowheads="1"/>
          </p:cNvSpPr>
          <p:nvPr/>
        </p:nvSpPr>
        <p:spPr bwMode="auto">
          <a:xfrm>
            <a:off x="670274" y="1311370"/>
            <a:ext cx="8024813" cy="120472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5791" tIns="47895" rIns="95791" bIns="47895">
            <a:spAutoFit/>
          </a:bodyPr>
          <a:lstStyle>
            <a:lvl1pPr algn="l" defTabSz="958850">
              <a:defRPr>
                <a:solidFill>
                  <a:schemeClr val="tx1"/>
                </a:solidFill>
                <a:latin typeface="Arial" panose="020B0604020202020204" pitchFamily="34" charset="0"/>
                <a:ea typeface="宋体" panose="02010600030101010101" pitchFamily="2" charset="-122"/>
              </a:defRPr>
            </a:lvl1pPr>
            <a:lvl2pPr marL="479425" algn="l" defTabSz="958850">
              <a:defRPr>
                <a:solidFill>
                  <a:schemeClr val="tx1"/>
                </a:solidFill>
                <a:latin typeface="Arial" panose="020B0604020202020204" pitchFamily="34" charset="0"/>
                <a:ea typeface="宋体" panose="02010600030101010101" pitchFamily="2" charset="-122"/>
              </a:defRPr>
            </a:lvl2pPr>
            <a:lvl3pPr marL="958850" algn="l" defTabSz="958850">
              <a:defRPr>
                <a:solidFill>
                  <a:schemeClr val="tx1"/>
                </a:solidFill>
                <a:latin typeface="Arial" panose="020B0604020202020204" pitchFamily="34" charset="0"/>
                <a:ea typeface="宋体" panose="02010600030101010101" pitchFamily="2" charset="-122"/>
              </a:defRPr>
            </a:lvl3pPr>
            <a:lvl4pPr marL="1436688" algn="l" defTabSz="958850">
              <a:defRPr>
                <a:solidFill>
                  <a:schemeClr val="tx1"/>
                </a:solidFill>
                <a:latin typeface="Arial" panose="020B0604020202020204" pitchFamily="34" charset="0"/>
                <a:ea typeface="宋体" panose="02010600030101010101" pitchFamily="2" charset="-122"/>
              </a:defRPr>
            </a:lvl4pPr>
            <a:lvl5pPr marL="1916113" algn="l" defTabSz="958850">
              <a:defRPr>
                <a:solidFill>
                  <a:schemeClr val="tx1"/>
                </a:solidFill>
                <a:latin typeface="Arial" panose="020B0604020202020204" pitchFamily="34" charset="0"/>
                <a:ea typeface="宋体" panose="02010600030101010101" pitchFamily="2" charset="-122"/>
              </a:defRPr>
            </a:lvl5pPr>
            <a:lvl6pPr marL="2373313" defTabSz="95885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30513" defTabSz="95885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87713" defTabSz="95885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744913" defTabSz="95885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ts val="0"/>
              </a:spcBef>
            </a:pPr>
            <a:r>
              <a:rPr lang="zh-CN" altLang="en-US" b="1" dirty="0">
                <a:latin typeface="楷体" panose="02010609060101010101" pitchFamily="49" charset="-122"/>
                <a:ea typeface="楷体" panose="02010609060101010101" pitchFamily="49" charset="-122"/>
              </a:rPr>
              <a:t>工程中有很多构件，例如屋架中的杆，是等直杆，</a:t>
            </a:r>
            <a:r>
              <a:rPr lang="zh-CN" altLang="en-US" b="1" dirty="0">
                <a:solidFill>
                  <a:srgbClr val="FF0000"/>
                </a:solidFill>
                <a:latin typeface="楷体" panose="02010609060101010101" pitchFamily="49" charset="-122"/>
                <a:ea typeface="楷体" panose="02010609060101010101" pitchFamily="49" charset="-122"/>
              </a:rPr>
              <a:t>作用于杆上的外力的合力的作用线与杆的轴线重合</a:t>
            </a:r>
            <a:r>
              <a:rPr lang="zh-CN" altLang="en-US" b="1" dirty="0">
                <a:latin typeface="楷体" panose="02010609060101010101" pitchFamily="49" charset="-122"/>
                <a:ea typeface="楷体" panose="02010609060101010101" pitchFamily="49" charset="-122"/>
              </a:rPr>
              <a:t>。在这种受力情况下，杆的主要变形形式是轴向伸长或缩短</a:t>
            </a:r>
            <a:r>
              <a:rPr lang="zh-CN" altLang="en-US" b="1" dirty="0">
                <a:solidFill>
                  <a:schemeClr val="bg2"/>
                </a:solidFill>
                <a:latin typeface="楷体" panose="02010609060101010101" pitchFamily="49" charset="-122"/>
                <a:ea typeface="楷体" panose="02010609060101010101" pitchFamily="49" charset="-122"/>
              </a:rPr>
              <a:t>。</a:t>
            </a:r>
            <a:endParaRPr lang="zh-CN" altLang="en-US" sz="2500" b="1" dirty="0">
              <a:solidFill>
                <a:schemeClr val="bg2"/>
              </a:solidFill>
              <a:latin typeface="楷体" panose="02010609060101010101" pitchFamily="49" charset="-122"/>
              <a:ea typeface="楷体" panose="02010609060101010101" pitchFamily="49" charset="-122"/>
            </a:endParaRPr>
          </a:p>
        </p:txBody>
      </p:sp>
      <p:cxnSp>
        <p:nvCxnSpPr>
          <p:cNvPr id="5126" name="AutoShape 6"/>
          <p:cNvCxnSpPr>
            <a:cxnSpLocks noChangeShapeType="1"/>
          </p:cNvCxnSpPr>
          <p:nvPr/>
        </p:nvCxnSpPr>
        <p:spPr bwMode="auto">
          <a:xfrm>
            <a:off x="4656439" y="5074293"/>
            <a:ext cx="0" cy="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27" name="AutoShape 7"/>
          <p:cNvCxnSpPr>
            <a:cxnSpLocks noChangeShapeType="1"/>
          </p:cNvCxnSpPr>
          <p:nvPr/>
        </p:nvCxnSpPr>
        <p:spPr bwMode="auto">
          <a:xfrm>
            <a:off x="4656439" y="5074293"/>
            <a:ext cx="0" cy="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Rectangle 54"/>
          <p:cNvSpPr>
            <a:spLocks noChangeArrowheads="1"/>
          </p:cNvSpPr>
          <p:nvPr/>
        </p:nvSpPr>
        <p:spPr bwMode="auto">
          <a:xfrm>
            <a:off x="702089" y="583590"/>
            <a:ext cx="2736850" cy="585418"/>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3200" b="1" dirty="0">
                <a:solidFill>
                  <a:srgbClr val="0000CC"/>
                </a:solidFill>
                <a:latin typeface="+mn-lt"/>
                <a:ea typeface="隶书" panose="02010509060101010101" pitchFamily="49" charset="-122"/>
              </a:rPr>
              <a:t>6-1</a:t>
            </a:r>
            <a:r>
              <a:rPr kumimoji="1" lang="en-US" altLang="zh-CN" sz="3200" b="1" dirty="0">
                <a:solidFill>
                  <a:srgbClr val="0000CC"/>
                </a:solidFill>
                <a:latin typeface="隶书" panose="02010509060101010101" pitchFamily="49" charset="-122"/>
                <a:ea typeface="隶书" panose="02010509060101010101" pitchFamily="49" charset="-122"/>
              </a:rPr>
              <a:t>  </a:t>
            </a:r>
            <a:r>
              <a:rPr kumimoji="1" lang="zh-CN" altLang="en-US" sz="3200" b="1" dirty="0">
                <a:solidFill>
                  <a:srgbClr val="0000CC"/>
                </a:solidFill>
                <a:latin typeface="隶书" panose="02010509060101010101" pitchFamily="49" charset="-122"/>
                <a:ea typeface="隶书" panose="02010509060101010101" pitchFamily="49" charset="-122"/>
              </a:rPr>
              <a:t>概述</a:t>
            </a:r>
          </a:p>
        </p:txBody>
      </p:sp>
      <p:pic>
        <p:nvPicPr>
          <p:cNvPr id="11" name="Picture 5" descr="p7_2-1"/>
          <p:cNvPicPr>
            <a:picLocks noChangeAspect="1" noChangeArrowheads="1"/>
          </p:cNvPicPr>
          <p:nvPr/>
        </p:nvPicPr>
        <p:blipFill>
          <a:blip r:embed="rId3" cstate="print">
            <a:clrChange>
              <a:clrFrom>
                <a:srgbClr val="FFFFFF"/>
              </a:clrFrom>
              <a:clrTo>
                <a:srgbClr val="FFFFFF">
                  <a:alpha val="0"/>
                </a:srgbClr>
              </a:clrTo>
            </a:clrChange>
            <a:grayscl/>
            <a:extLst>
              <a:ext uri="{28A0092B-C50C-407E-A947-70E740481C1C}">
                <a14:useLocalDpi xmlns:a14="http://schemas.microsoft.com/office/drawing/2010/main" val="0"/>
              </a:ext>
            </a:extLst>
          </a:blip>
          <a:srcRect/>
          <a:stretch>
            <a:fillRect/>
          </a:stretch>
        </p:blipFill>
        <p:spPr bwMode="auto">
          <a:xfrm>
            <a:off x="4695269" y="2591926"/>
            <a:ext cx="3581400" cy="184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 Box 3"/>
          <p:cNvSpPr txBox="1">
            <a:spLocks noChangeArrowheads="1"/>
          </p:cNvSpPr>
          <p:nvPr/>
        </p:nvSpPr>
        <p:spPr bwMode="auto">
          <a:xfrm>
            <a:off x="1060376" y="4599997"/>
            <a:ext cx="6673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dirty="0">
                <a:latin typeface="楷体" panose="02010609060101010101" pitchFamily="49" charset="-122"/>
                <a:ea typeface="楷体" panose="02010609060101010101" pitchFamily="49" charset="-122"/>
              </a:rPr>
              <a:t>受轴向外力作用的等截面直杆</a:t>
            </a:r>
            <a:r>
              <a:rPr lang="en-US" altLang="zh-CN" dirty="0">
                <a:latin typeface="楷体" panose="02010609060101010101" pitchFamily="49" charset="-122"/>
                <a:ea typeface="楷体" panose="02010609060101010101" pitchFamily="49" charset="-122"/>
              </a:rPr>
              <a:t>——</a:t>
            </a:r>
            <a:r>
              <a:rPr lang="zh-CN" altLang="en-US" b="1" dirty="0">
                <a:solidFill>
                  <a:srgbClr val="FF0000"/>
                </a:solidFill>
                <a:latin typeface="楷体" panose="02010609060101010101" pitchFamily="49" charset="-122"/>
                <a:ea typeface="楷体" panose="02010609060101010101" pitchFamily="49" charset="-122"/>
              </a:rPr>
              <a:t>拉杆和压杆</a:t>
            </a:r>
          </a:p>
        </p:txBody>
      </p:sp>
      <p:sp>
        <p:nvSpPr>
          <p:cNvPr id="13" name="Text Box 4"/>
          <p:cNvSpPr txBox="1">
            <a:spLocks noChangeArrowheads="1"/>
          </p:cNvSpPr>
          <p:nvPr/>
        </p:nvSpPr>
        <p:spPr bwMode="auto">
          <a:xfrm>
            <a:off x="5004048" y="5553551"/>
            <a:ext cx="3600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dirty="0">
                <a:latin typeface="楷体" panose="02010609060101010101" pitchFamily="49" charset="-122"/>
                <a:ea typeface="楷体" panose="02010609060101010101" pitchFamily="49" charset="-122"/>
              </a:rPr>
              <a:t>（未考虑端部连接情况）</a:t>
            </a:r>
          </a:p>
        </p:txBody>
      </p:sp>
      <p:pic>
        <p:nvPicPr>
          <p:cNvPr id="14" name="Picture 6" descr="p7_2-2"/>
          <p:cNvPicPr>
            <a:picLocks noChangeAspect="1" noChangeArrowheads="1"/>
          </p:cNvPicPr>
          <p:nvPr/>
        </p:nvPicPr>
        <p:blipFill rotWithShape="1">
          <a:blip r:embed="rId4" cstate="print">
            <a:clrChange>
              <a:clrFrom>
                <a:srgbClr val="FFFFFF"/>
              </a:clrFrom>
              <a:clrTo>
                <a:srgbClr val="FFFFFF">
                  <a:alpha val="0"/>
                </a:srgbClr>
              </a:clrTo>
            </a:clrChange>
            <a:grayscl/>
            <a:extLst>
              <a:ext uri="{28A0092B-C50C-407E-A947-70E740481C1C}">
                <a14:useLocalDpi xmlns:a14="http://schemas.microsoft.com/office/drawing/2010/main" val="0"/>
              </a:ext>
            </a:extLst>
          </a:blip>
          <a:srcRect l="9501"/>
          <a:stretch/>
        </p:blipFill>
        <p:spPr bwMode="auto">
          <a:xfrm>
            <a:off x="1259632" y="5219005"/>
            <a:ext cx="3516959" cy="1166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352405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5125"/>
                                        </p:tgtEl>
                                        <p:attrNameLst>
                                          <p:attrName>style.visibility</p:attrName>
                                        </p:attrNameLst>
                                      </p:cBhvr>
                                      <p:to>
                                        <p:strVal val="visible"/>
                                      </p:to>
                                    </p:set>
                                    <p:anim calcmode="lin" valueType="num">
                                      <p:cBhvr additive="base">
                                        <p:cTn id="7" dur="500"/>
                                        <p:tgtEl>
                                          <p:spTgt spid="5125"/>
                                        </p:tgtEl>
                                        <p:attrNameLst>
                                          <p:attrName>ppt_y</p:attrName>
                                        </p:attrNameLst>
                                      </p:cBhvr>
                                      <p:tavLst>
                                        <p:tav tm="0">
                                          <p:val>
                                            <p:strVal val="#ppt_y-#ppt_h*1.125000"/>
                                          </p:val>
                                        </p:tav>
                                        <p:tav tm="100000">
                                          <p:val>
                                            <p:strVal val="#ppt_y"/>
                                          </p:val>
                                        </p:tav>
                                      </p:tavLst>
                                    </p:anim>
                                    <p:animEffect transition="in" filter="wipe(down)">
                                      <p:cBhvr>
                                        <p:cTn id="8" dur="500"/>
                                        <p:tgtEl>
                                          <p:spTgt spid="5125"/>
                                        </p:tgtEl>
                                      </p:cBhvr>
                                    </p:animEffect>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4" fill="hold" nodeType="clickEffect">
                                  <p:stCondLst>
                                    <p:cond delay="0"/>
                                  </p:stCondLst>
                                  <p:childTnLst>
                                    <p:set>
                                      <p:cBhvr>
                                        <p:cTn id="12" dur="1" fill="hold">
                                          <p:stCondLst>
                                            <p:cond delay="0"/>
                                          </p:stCondLst>
                                        </p:cTn>
                                        <p:tgtEl>
                                          <p:spTgt spid="5124"/>
                                        </p:tgtEl>
                                        <p:attrNameLst>
                                          <p:attrName>style.visibility</p:attrName>
                                        </p:attrNameLst>
                                      </p:cBhvr>
                                      <p:to>
                                        <p:strVal val="visible"/>
                                      </p:to>
                                    </p:set>
                                    <p:animEffect transition="in" filter="slide(fromBottom)">
                                      <p:cBhvr>
                                        <p:cTn id="13" dur="500"/>
                                        <p:tgtEl>
                                          <p:spTgt spid="5124"/>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blinds(horizontal)">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checkerboard(across)">
                                      <p:cBhvr>
                                        <p:cTn id="23" dur="5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15" presetClass="entr" presetSubtype="0" fill="hold" nodeType="clickEffect">
                                  <p:stCondLst>
                                    <p:cond delay="0"/>
                                  </p:stCondLst>
                                  <p:childTnLst>
                                    <p:set>
                                      <p:cBhvr>
                                        <p:cTn id="27" dur="1" fill="hold">
                                          <p:stCondLst>
                                            <p:cond delay="0"/>
                                          </p:stCondLst>
                                        </p:cTn>
                                        <p:tgtEl>
                                          <p:spTgt spid="14"/>
                                        </p:tgtEl>
                                        <p:attrNameLst>
                                          <p:attrName>style.visibility</p:attrName>
                                        </p:attrNameLst>
                                      </p:cBhvr>
                                      <p:to>
                                        <p:strVal val="visible"/>
                                      </p:to>
                                    </p:set>
                                    <p:anim calcmode="lin" valueType="num">
                                      <p:cBhvr>
                                        <p:cTn id="28" dur="1000" fill="hold"/>
                                        <p:tgtEl>
                                          <p:spTgt spid="14"/>
                                        </p:tgtEl>
                                        <p:attrNameLst>
                                          <p:attrName>ppt_w</p:attrName>
                                        </p:attrNameLst>
                                      </p:cBhvr>
                                      <p:tavLst>
                                        <p:tav tm="0">
                                          <p:val>
                                            <p:fltVal val="0"/>
                                          </p:val>
                                        </p:tav>
                                        <p:tav tm="100000">
                                          <p:val>
                                            <p:strVal val="#ppt_w"/>
                                          </p:val>
                                        </p:tav>
                                      </p:tavLst>
                                    </p:anim>
                                    <p:anim calcmode="lin" valueType="num">
                                      <p:cBhvr>
                                        <p:cTn id="29" dur="1000" fill="hold"/>
                                        <p:tgtEl>
                                          <p:spTgt spid="14"/>
                                        </p:tgtEl>
                                        <p:attrNameLst>
                                          <p:attrName>ppt_h</p:attrName>
                                        </p:attrNameLst>
                                      </p:cBhvr>
                                      <p:tavLst>
                                        <p:tav tm="0">
                                          <p:val>
                                            <p:fltVal val="0"/>
                                          </p:val>
                                        </p:tav>
                                        <p:tav tm="100000">
                                          <p:val>
                                            <p:strVal val="#ppt_h"/>
                                          </p:val>
                                        </p:tav>
                                      </p:tavLst>
                                    </p:anim>
                                    <p:anim calcmode="lin" valueType="num">
                                      <p:cBhvr>
                                        <p:cTn id="30" dur="1000" fill="hold"/>
                                        <p:tgtEl>
                                          <p:spTgt spid="14"/>
                                        </p:tgtEl>
                                        <p:attrNameLst>
                                          <p:attrName>ppt_x</p:attrName>
                                        </p:attrNameLst>
                                      </p:cBhvr>
                                      <p:tavLst>
                                        <p:tav tm="0" fmla="#ppt_x+(cos(-2*pi*(1-$))*-#ppt_x-sin(-2*pi*(1-$))*(1-#ppt_y))*(1-$)">
                                          <p:val>
                                            <p:fltVal val="0"/>
                                          </p:val>
                                        </p:tav>
                                        <p:tav tm="100000">
                                          <p:val>
                                            <p:fltVal val="1"/>
                                          </p:val>
                                        </p:tav>
                                      </p:tavLst>
                                    </p:anim>
                                    <p:anim calcmode="lin" valueType="num">
                                      <p:cBhvr>
                                        <p:cTn id="31" dur="1000" fill="hold"/>
                                        <p:tgtEl>
                                          <p:spTgt spid="14"/>
                                        </p:tgtEl>
                                        <p:attrNameLst>
                                          <p:attrName>ppt_y</p:attrName>
                                        </p:attrNameLst>
                                      </p:cBhvr>
                                      <p:tavLst>
                                        <p:tav tm="0" fmla="#ppt_y+(sin(-2*pi*(1-$))*-#ppt_x+cos(-2*pi*(1-$))*(1-#ppt_y))*(1-$)">
                                          <p:val>
                                            <p:fltVal val="0"/>
                                          </p:val>
                                        </p:tav>
                                        <p:tav tm="100000">
                                          <p:val>
                                            <p:fltVal val="1"/>
                                          </p:val>
                                        </p:tav>
                                      </p:tavLst>
                                    </p:anim>
                                  </p:childTnLst>
                                </p:cTn>
                              </p:par>
                            </p:childTnLst>
                          </p:cTn>
                        </p:par>
                        <p:par>
                          <p:cTn id="32" fill="hold">
                            <p:stCondLst>
                              <p:cond delay="1000"/>
                            </p:stCondLst>
                            <p:childTnLst>
                              <p:par>
                                <p:cTn id="33" presetID="12" presetClass="entr" presetSubtype="4" fill="hold" grpId="0"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slide(fromBottom)">
                                      <p:cBhvr>
                                        <p:cTn id="3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5" grpId="0" autoUpdateAnimBg="0"/>
      <p:bldP spid="12" grpId="0" autoUpdateAnimBg="0"/>
      <p:bldP spid="13"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40" name="Rectangle 4"/>
          <p:cNvSpPr>
            <a:spLocks noChangeArrowheads="1"/>
          </p:cNvSpPr>
          <p:nvPr/>
        </p:nvSpPr>
        <p:spPr bwMode="auto">
          <a:xfrm>
            <a:off x="524340" y="4039153"/>
            <a:ext cx="7608419"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a:defRPr/>
            </a:pPr>
            <a:r>
              <a:rPr kumimoji="1" lang="zh-CN" altLang="en-US" sz="2400" b="1" dirty="0">
                <a:solidFill>
                  <a:srgbClr val="0000FF"/>
                </a:solidFill>
                <a:latin typeface="华文楷体" pitchFamily="2" charset="-122"/>
                <a:ea typeface="华文楷体" pitchFamily="2" charset="-122"/>
              </a:rPr>
              <a:t>受力特点：</a:t>
            </a:r>
            <a:r>
              <a:rPr lang="zh-CN" altLang="en-US" b="1" dirty="0">
                <a:solidFill>
                  <a:srgbClr val="000000"/>
                </a:solidFill>
                <a:latin typeface="楷体" panose="02010609060101010101" pitchFamily="49" charset="-122"/>
                <a:ea typeface="楷体" panose="02010609060101010101" pitchFamily="49" charset="-122"/>
              </a:rPr>
              <a:t>沿杆轴线的一对等值、反向、共线的力。</a:t>
            </a:r>
          </a:p>
        </p:txBody>
      </p:sp>
      <p:sp>
        <p:nvSpPr>
          <p:cNvPr id="167941" name="Rectangle 5"/>
          <p:cNvSpPr>
            <a:spLocks noChangeArrowheads="1"/>
          </p:cNvSpPr>
          <p:nvPr/>
        </p:nvSpPr>
        <p:spPr bwMode="auto">
          <a:xfrm>
            <a:off x="524340" y="4544322"/>
            <a:ext cx="5991876"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eaLnBrk="0" hangingPunct="0">
              <a:defRPr/>
            </a:pPr>
            <a:r>
              <a:rPr kumimoji="1" lang="zh-CN" altLang="en-US" sz="2400" b="1" dirty="0">
                <a:solidFill>
                  <a:srgbClr val="0000FF"/>
                </a:solidFill>
                <a:latin typeface="华文楷体" pitchFamily="2" charset="-122"/>
                <a:ea typeface="华文楷体" pitchFamily="2" charset="-122"/>
              </a:rPr>
              <a:t>变形特点：</a:t>
            </a:r>
            <a:r>
              <a:rPr kumimoji="1" lang="zh-CN" altLang="en-US" sz="2400" b="1" dirty="0">
                <a:latin typeface="华文楷体" pitchFamily="2" charset="-122"/>
                <a:ea typeface="华文楷体" pitchFamily="2" charset="-122"/>
              </a:rPr>
              <a:t>沿轴线伸长或缩短（主要）。</a:t>
            </a:r>
          </a:p>
        </p:txBody>
      </p:sp>
      <p:sp>
        <p:nvSpPr>
          <p:cNvPr id="167972" name="Rectangle 36"/>
          <p:cNvSpPr>
            <a:spLocks noChangeArrowheads="1"/>
          </p:cNvSpPr>
          <p:nvPr/>
        </p:nvSpPr>
        <p:spPr bwMode="auto">
          <a:xfrm>
            <a:off x="788985" y="5248829"/>
            <a:ext cx="7171896" cy="831639"/>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solidFill>
                  <a:srgbClr val="080808"/>
                </a:solidFill>
                <a:latin typeface="Times New Roman" panose="02020603050405020304" pitchFamily="18" charset="0"/>
                <a:ea typeface="华文楷体" panose="02010600040101010101" pitchFamily="2" charset="-122"/>
              </a:rPr>
              <a:t>具有上述受力和变形特点的杆件称为</a:t>
            </a:r>
            <a:r>
              <a:rPr kumimoji="1" lang="zh-CN" altLang="en-US" sz="2400" b="1" dirty="0">
                <a:solidFill>
                  <a:srgbClr val="FF0000"/>
                </a:solidFill>
                <a:latin typeface="Times New Roman" panose="02020603050405020304" pitchFamily="18" charset="0"/>
                <a:ea typeface="华文楷体" panose="02010600040101010101" pitchFamily="2" charset="-122"/>
              </a:rPr>
              <a:t>拉（压）杆</a:t>
            </a:r>
            <a:r>
              <a:rPr kumimoji="1" lang="zh-CN" altLang="en-US" sz="2400" b="1" dirty="0">
                <a:solidFill>
                  <a:srgbClr val="080808"/>
                </a:solidFill>
                <a:latin typeface="Times New Roman" panose="02020603050405020304" pitchFamily="18" charset="0"/>
                <a:ea typeface="华文楷体" panose="02010600040101010101" pitchFamily="2" charset="-122"/>
              </a:rPr>
              <a:t>；</a:t>
            </a:r>
            <a:endParaRPr kumimoji="1" lang="en-US" altLang="zh-CN" sz="2400" b="1" dirty="0">
              <a:solidFill>
                <a:srgbClr val="080808"/>
              </a:solidFill>
              <a:latin typeface="Times New Roman" panose="02020603050405020304" pitchFamily="18" charset="0"/>
              <a:ea typeface="华文楷体" panose="02010600040101010101" pitchFamily="2" charset="-122"/>
            </a:endParaRPr>
          </a:p>
          <a:p>
            <a:r>
              <a:rPr kumimoji="1" lang="zh-CN" altLang="en-US" sz="2400" b="1" dirty="0">
                <a:solidFill>
                  <a:srgbClr val="080808"/>
                </a:solidFill>
                <a:latin typeface="Times New Roman" panose="02020603050405020304" pitchFamily="18" charset="0"/>
                <a:ea typeface="华文楷体" panose="02010600040101010101" pitchFamily="2" charset="-122"/>
              </a:rPr>
              <a:t>拉（压）杆的变形称为</a:t>
            </a:r>
            <a:r>
              <a:rPr kumimoji="1" lang="zh-CN" altLang="en-US" sz="2400" b="1" dirty="0">
                <a:solidFill>
                  <a:srgbClr val="FF0000"/>
                </a:solidFill>
                <a:latin typeface="Times New Roman" panose="02020603050405020304" pitchFamily="18" charset="0"/>
                <a:ea typeface="华文楷体" panose="02010600040101010101" pitchFamily="2" charset="-122"/>
              </a:rPr>
              <a:t>轴向拉伸或压缩 </a:t>
            </a:r>
            <a:r>
              <a:rPr kumimoji="1" lang="zh-CN" altLang="en-US" sz="2400" b="1" dirty="0">
                <a:solidFill>
                  <a:srgbClr val="080808"/>
                </a:solidFill>
                <a:latin typeface="Times New Roman" panose="02020603050405020304" pitchFamily="18" charset="0"/>
                <a:ea typeface="华文楷体" panose="02010600040101010101" pitchFamily="2" charset="-122"/>
              </a:rPr>
              <a:t>。</a:t>
            </a:r>
          </a:p>
        </p:txBody>
      </p:sp>
      <p:sp>
        <p:nvSpPr>
          <p:cNvPr id="167987" name="Text Box 51"/>
          <p:cNvSpPr txBox="1">
            <a:spLocks noChangeArrowheads="1"/>
          </p:cNvSpPr>
          <p:nvPr/>
        </p:nvSpPr>
        <p:spPr bwMode="auto">
          <a:xfrm>
            <a:off x="5724128" y="1050853"/>
            <a:ext cx="1785938" cy="457200"/>
          </a:xfrm>
          <a:prstGeom prst="rect">
            <a:avLst/>
          </a:prstGeom>
          <a:solidFill>
            <a:srgbClr val="CC99FF"/>
          </a:solidFill>
          <a:ln>
            <a:noFill/>
          </a:ln>
          <a:effectLst/>
          <a:extLst>
            <a:ext uri="{91240B29-F687-4F45-9708-019B960494DF}">
              <a14:hiddenLine xmlns:a14="http://schemas.microsoft.com/office/drawing/2010/main" w="38100">
                <a:solidFill>
                  <a:srgbClr val="FF0000"/>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kumimoji="1" lang="zh-CN" altLang="en-US" sz="2400" b="1" dirty="0">
                <a:latin typeface="楷体" panose="02010609060101010101" pitchFamily="49" charset="-122"/>
                <a:ea typeface="楷体" panose="02010609060101010101" pitchFamily="49" charset="-122"/>
              </a:rPr>
              <a:t>计算简图</a:t>
            </a:r>
          </a:p>
        </p:txBody>
      </p:sp>
      <p:sp>
        <p:nvSpPr>
          <p:cNvPr id="11271" name="Rectangle 54"/>
          <p:cNvSpPr>
            <a:spLocks noChangeArrowheads="1"/>
          </p:cNvSpPr>
          <p:nvPr/>
        </p:nvSpPr>
        <p:spPr bwMode="auto">
          <a:xfrm>
            <a:off x="739775" y="365227"/>
            <a:ext cx="2736850" cy="585418"/>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3200" b="1" dirty="0">
                <a:solidFill>
                  <a:srgbClr val="0000CC"/>
                </a:solidFill>
                <a:latin typeface="+mn-lt"/>
                <a:ea typeface="隶书" panose="02010509060101010101" pitchFamily="49" charset="-122"/>
              </a:rPr>
              <a:t>6-1</a:t>
            </a:r>
            <a:r>
              <a:rPr kumimoji="1" lang="en-US" altLang="zh-CN" sz="3200" b="1" dirty="0">
                <a:solidFill>
                  <a:srgbClr val="0000CC"/>
                </a:solidFill>
                <a:latin typeface="隶书" panose="02010509060101010101" pitchFamily="49" charset="-122"/>
                <a:ea typeface="隶书" panose="02010509060101010101" pitchFamily="49" charset="-122"/>
              </a:rPr>
              <a:t>  </a:t>
            </a:r>
            <a:r>
              <a:rPr kumimoji="1" lang="zh-CN" altLang="en-US" sz="3200" b="1" dirty="0">
                <a:solidFill>
                  <a:srgbClr val="0000CC"/>
                </a:solidFill>
                <a:latin typeface="隶书" panose="02010509060101010101" pitchFamily="49" charset="-122"/>
                <a:ea typeface="隶书" panose="02010509060101010101" pitchFamily="49" charset="-122"/>
              </a:rPr>
              <a:t>概述</a:t>
            </a:r>
          </a:p>
        </p:txBody>
      </p:sp>
      <p:grpSp>
        <p:nvGrpSpPr>
          <p:cNvPr id="167991" name="Group 55"/>
          <p:cNvGrpSpPr>
            <a:grpSpLocks/>
          </p:cNvGrpSpPr>
          <p:nvPr/>
        </p:nvGrpSpPr>
        <p:grpSpPr bwMode="auto">
          <a:xfrm>
            <a:off x="379412" y="1566863"/>
            <a:ext cx="4084638" cy="825500"/>
            <a:chOff x="126" y="384"/>
            <a:chExt cx="2573" cy="520"/>
          </a:xfrm>
        </p:grpSpPr>
        <p:sp>
          <p:nvSpPr>
            <p:cNvPr id="11306" name="Line 56"/>
            <p:cNvSpPr>
              <a:spLocks noChangeShapeType="1"/>
            </p:cNvSpPr>
            <p:nvPr/>
          </p:nvSpPr>
          <p:spPr bwMode="auto">
            <a:xfrm>
              <a:off x="535" y="423"/>
              <a:ext cx="1755"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7" name="Line 57"/>
            <p:cNvSpPr>
              <a:spLocks noChangeShapeType="1"/>
            </p:cNvSpPr>
            <p:nvPr/>
          </p:nvSpPr>
          <p:spPr bwMode="auto">
            <a:xfrm>
              <a:off x="2290" y="423"/>
              <a:ext cx="0" cy="481"/>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8" name="Line 58"/>
            <p:cNvSpPr>
              <a:spLocks noChangeShapeType="1"/>
            </p:cNvSpPr>
            <p:nvPr/>
          </p:nvSpPr>
          <p:spPr bwMode="auto">
            <a:xfrm>
              <a:off x="535" y="904"/>
              <a:ext cx="1755"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9" name="Line 59"/>
            <p:cNvSpPr>
              <a:spLocks noChangeShapeType="1"/>
            </p:cNvSpPr>
            <p:nvPr/>
          </p:nvSpPr>
          <p:spPr bwMode="auto">
            <a:xfrm>
              <a:off x="535" y="423"/>
              <a:ext cx="0" cy="481"/>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0" name="Line 60"/>
            <p:cNvSpPr>
              <a:spLocks noChangeShapeType="1"/>
            </p:cNvSpPr>
            <p:nvPr/>
          </p:nvSpPr>
          <p:spPr bwMode="auto">
            <a:xfrm>
              <a:off x="535" y="664"/>
              <a:ext cx="1755" cy="0"/>
            </a:xfrm>
            <a:prstGeom prst="line">
              <a:avLst/>
            </a:prstGeom>
            <a:noFill/>
            <a:ln w="38100">
              <a:solidFill>
                <a:schemeClr val="tx1"/>
              </a:solidFill>
              <a:prstDash val="dash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1" name="Line 61"/>
            <p:cNvSpPr>
              <a:spLocks noChangeShapeType="1"/>
            </p:cNvSpPr>
            <p:nvPr/>
          </p:nvSpPr>
          <p:spPr bwMode="auto">
            <a:xfrm flipH="1">
              <a:off x="126" y="664"/>
              <a:ext cx="409" cy="0"/>
            </a:xfrm>
            <a:prstGeom prst="line">
              <a:avLst/>
            </a:prstGeom>
            <a:noFill/>
            <a:ln w="25400">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2" name="Line 62"/>
            <p:cNvSpPr>
              <a:spLocks noChangeShapeType="1"/>
            </p:cNvSpPr>
            <p:nvPr/>
          </p:nvSpPr>
          <p:spPr bwMode="auto">
            <a:xfrm>
              <a:off x="2290" y="664"/>
              <a:ext cx="409" cy="0"/>
            </a:xfrm>
            <a:prstGeom prst="line">
              <a:avLst/>
            </a:prstGeom>
            <a:noFill/>
            <a:ln w="25400">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3" name="Rectangle 63"/>
            <p:cNvSpPr>
              <a:spLocks noChangeArrowheads="1"/>
            </p:cNvSpPr>
            <p:nvPr/>
          </p:nvSpPr>
          <p:spPr bwMode="auto">
            <a:xfrm>
              <a:off x="157" y="384"/>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400" b="1" i="1" dirty="0">
                  <a:solidFill>
                    <a:srgbClr val="FF3300"/>
                  </a:solidFill>
                  <a:latin typeface="Times New Roman" panose="02020603050405020304" pitchFamily="18" charset="0"/>
                  <a:ea typeface="宋体" panose="02010600030101010101" pitchFamily="2" charset="-122"/>
                </a:rPr>
                <a:t>F</a:t>
              </a:r>
              <a:endParaRPr kumimoji="1" lang="en-US" altLang="zh-CN" sz="2400" b="1" i="1" dirty="0">
                <a:solidFill>
                  <a:srgbClr val="FF3300"/>
                </a:solidFill>
                <a:latin typeface="Times New Roman" panose="02020603050405020304" pitchFamily="18" charset="0"/>
                <a:ea typeface="'宋体" pitchFamily="34" charset="-122"/>
              </a:endParaRPr>
            </a:p>
          </p:txBody>
        </p:sp>
        <p:sp>
          <p:nvSpPr>
            <p:cNvPr id="11314" name="Rectangle 64"/>
            <p:cNvSpPr>
              <a:spLocks noChangeArrowheads="1"/>
            </p:cNvSpPr>
            <p:nvPr/>
          </p:nvSpPr>
          <p:spPr bwMode="auto">
            <a:xfrm>
              <a:off x="2429" y="393"/>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400" b="1" i="1" dirty="0">
                  <a:solidFill>
                    <a:srgbClr val="FF3300"/>
                  </a:solidFill>
                  <a:latin typeface="Times New Roman" panose="02020603050405020304" pitchFamily="18" charset="0"/>
                  <a:ea typeface="宋体" panose="02010600030101010101" pitchFamily="2" charset="-122"/>
                </a:rPr>
                <a:t>F</a:t>
              </a:r>
              <a:endParaRPr kumimoji="1" lang="en-US" altLang="zh-CN" sz="2400" b="1" i="1" dirty="0">
                <a:solidFill>
                  <a:srgbClr val="FF3300"/>
                </a:solidFill>
                <a:latin typeface="Times New Roman" panose="02020603050405020304" pitchFamily="18" charset="0"/>
                <a:ea typeface="'宋体" pitchFamily="34" charset="-122"/>
              </a:endParaRPr>
            </a:p>
          </p:txBody>
        </p:sp>
      </p:grpSp>
      <p:grpSp>
        <p:nvGrpSpPr>
          <p:cNvPr id="168001" name="Group 65"/>
          <p:cNvGrpSpPr>
            <a:grpSpLocks/>
          </p:cNvGrpSpPr>
          <p:nvPr/>
        </p:nvGrpSpPr>
        <p:grpSpPr bwMode="auto">
          <a:xfrm>
            <a:off x="889000" y="1763713"/>
            <a:ext cx="3044825" cy="512762"/>
            <a:chOff x="816" y="1680"/>
            <a:chExt cx="1680" cy="288"/>
          </a:xfrm>
        </p:grpSpPr>
        <p:sp>
          <p:nvSpPr>
            <p:cNvPr id="11302" name="Line 66"/>
            <p:cNvSpPr>
              <a:spLocks noChangeShapeType="1"/>
            </p:cNvSpPr>
            <p:nvPr/>
          </p:nvSpPr>
          <p:spPr bwMode="auto">
            <a:xfrm>
              <a:off x="864" y="1968"/>
              <a:ext cx="1584" cy="0"/>
            </a:xfrm>
            <a:prstGeom prst="line">
              <a:avLst/>
            </a:prstGeom>
            <a:noFill/>
            <a:ln w="25400">
              <a:solidFill>
                <a:srgbClr val="993366"/>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3" name="Line 67"/>
            <p:cNvSpPr>
              <a:spLocks noChangeShapeType="1"/>
            </p:cNvSpPr>
            <p:nvPr/>
          </p:nvSpPr>
          <p:spPr bwMode="auto">
            <a:xfrm>
              <a:off x="2496" y="1680"/>
              <a:ext cx="0" cy="288"/>
            </a:xfrm>
            <a:prstGeom prst="line">
              <a:avLst/>
            </a:prstGeom>
            <a:noFill/>
            <a:ln w="25400">
              <a:solidFill>
                <a:srgbClr val="993366"/>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4" name="Line 68"/>
            <p:cNvSpPr>
              <a:spLocks noChangeShapeType="1"/>
            </p:cNvSpPr>
            <p:nvPr/>
          </p:nvSpPr>
          <p:spPr bwMode="auto">
            <a:xfrm>
              <a:off x="816" y="1680"/>
              <a:ext cx="0" cy="288"/>
            </a:xfrm>
            <a:prstGeom prst="line">
              <a:avLst/>
            </a:prstGeom>
            <a:noFill/>
            <a:ln w="25400">
              <a:solidFill>
                <a:srgbClr val="993366"/>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5" name="Line 69"/>
            <p:cNvSpPr>
              <a:spLocks noChangeShapeType="1"/>
            </p:cNvSpPr>
            <p:nvPr/>
          </p:nvSpPr>
          <p:spPr bwMode="auto">
            <a:xfrm>
              <a:off x="864" y="1680"/>
              <a:ext cx="1584" cy="0"/>
            </a:xfrm>
            <a:prstGeom prst="line">
              <a:avLst/>
            </a:prstGeom>
            <a:noFill/>
            <a:ln w="25400">
              <a:solidFill>
                <a:srgbClr val="993366"/>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68006" name="Group 70"/>
          <p:cNvGrpSpPr>
            <a:grpSpLocks/>
          </p:cNvGrpSpPr>
          <p:nvPr/>
        </p:nvGrpSpPr>
        <p:grpSpPr bwMode="auto">
          <a:xfrm>
            <a:off x="382588" y="2763840"/>
            <a:ext cx="4083050" cy="782638"/>
            <a:chOff x="128" y="1018"/>
            <a:chExt cx="2572" cy="493"/>
          </a:xfrm>
        </p:grpSpPr>
        <p:sp>
          <p:nvSpPr>
            <p:cNvPr id="11293" name="Line 71"/>
            <p:cNvSpPr>
              <a:spLocks noChangeShapeType="1"/>
            </p:cNvSpPr>
            <p:nvPr/>
          </p:nvSpPr>
          <p:spPr bwMode="auto">
            <a:xfrm>
              <a:off x="537" y="1106"/>
              <a:ext cx="1754"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4" name="Line 72"/>
            <p:cNvSpPr>
              <a:spLocks noChangeShapeType="1"/>
            </p:cNvSpPr>
            <p:nvPr/>
          </p:nvSpPr>
          <p:spPr bwMode="auto">
            <a:xfrm>
              <a:off x="2291" y="1106"/>
              <a:ext cx="0" cy="405"/>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5" name="Line 73"/>
            <p:cNvSpPr>
              <a:spLocks noChangeShapeType="1"/>
            </p:cNvSpPr>
            <p:nvPr/>
          </p:nvSpPr>
          <p:spPr bwMode="auto">
            <a:xfrm>
              <a:off x="537" y="1511"/>
              <a:ext cx="1754"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6" name="Line 74"/>
            <p:cNvSpPr>
              <a:spLocks noChangeShapeType="1"/>
            </p:cNvSpPr>
            <p:nvPr/>
          </p:nvSpPr>
          <p:spPr bwMode="auto">
            <a:xfrm>
              <a:off x="537" y="1106"/>
              <a:ext cx="0" cy="405"/>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7" name="Line 75"/>
            <p:cNvSpPr>
              <a:spLocks noChangeShapeType="1"/>
            </p:cNvSpPr>
            <p:nvPr/>
          </p:nvSpPr>
          <p:spPr bwMode="auto">
            <a:xfrm>
              <a:off x="537" y="1309"/>
              <a:ext cx="1754" cy="0"/>
            </a:xfrm>
            <a:prstGeom prst="line">
              <a:avLst/>
            </a:prstGeom>
            <a:noFill/>
            <a:ln w="38100">
              <a:solidFill>
                <a:schemeClr val="tx1"/>
              </a:solidFill>
              <a:prstDash val="dash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8" name="Line 76"/>
            <p:cNvSpPr>
              <a:spLocks noChangeShapeType="1"/>
            </p:cNvSpPr>
            <p:nvPr/>
          </p:nvSpPr>
          <p:spPr bwMode="auto">
            <a:xfrm>
              <a:off x="128" y="1309"/>
              <a:ext cx="409" cy="0"/>
            </a:xfrm>
            <a:prstGeom prst="line">
              <a:avLst/>
            </a:prstGeom>
            <a:noFill/>
            <a:ln w="25400">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9" name="Line 77"/>
            <p:cNvSpPr>
              <a:spLocks noChangeShapeType="1"/>
            </p:cNvSpPr>
            <p:nvPr/>
          </p:nvSpPr>
          <p:spPr bwMode="auto">
            <a:xfrm flipH="1">
              <a:off x="2291" y="1309"/>
              <a:ext cx="409" cy="0"/>
            </a:xfrm>
            <a:prstGeom prst="line">
              <a:avLst/>
            </a:prstGeom>
            <a:noFill/>
            <a:ln w="25400">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0" name="Rectangle 78"/>
            <p:cNvSpPr>
              <a:spLocks noChangeArrowheads="1"/>
            </p:cNvSpPr>
            <p:nvPr/>
          </p:nvSpPr>
          <p:spPr bwMode="auto">
            <a:xfrm>
              <a:off x="130" y="1018"/>
              <a:ext cx="2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400" b="1" i="1" dirty="0">
                  <a:solidFill>
                    <a:srgbClr val="FF0000"/>
                  </a:solidFill>
                  <a:latin typeface="Times New Roman" panose="02020603050405020304" pitchFamily="18" charset="0"/>
                  <a:ea typeface="宋体" panose="02010600030101010101" pitchFamily="2" charset="-122"/>
                </a:rPr>
                <a:t>F</a:t>
              </a:r>
              <a:r>
                <a:rPr kumimoji="1" lang="en-US" altLang="zh-CN" sz="2400" b="1" dirty="0">
                  <a:solidFill>
                    <a:srgbClr val="FF0000"/>
                  </a:solidFill>
                  <a:latin typeface="Times New Roman" panose="02020603050405020304" pitchFamily="18" charset="0"/>
                  <a:ea typeface="'宋体" pitchFamily="34" charset="-122"/>
                </a:rPr>
                <a:t> </a:t>
              </a:r>
            </a:p>
          </p:txBody>
        </p:sp>
        <p:sp>
          <p:nvSpPr>
            <p:cNvPr id="11301" name="Rectangle 79"/>
            <p:cNvSpPr>
              <a:spLocks noChangeArrowheads="1"/>
            </p:cNvSpPr>
            <p:nvPr/>
          </p:nvSpPr>
          <p:spPr bwMode="auto">
            <a:xfrm>
              <a:off x="2436" y="1044"/>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400" b="1" i="1" dirty="0">
                  <a:solidFill>
                    <a:srgbClr val="FF0000"/>
                  </a:solidFill>
                  <a:latin typeface="Times New Roman" panose="02020603050405020304" pitchFamily="18" charset="0"/>
                  <a:ea typeface="宋体" panose="02010600030101010101" pitchFamily="2" charset="-122"/>
                </a:rPr>
                <a:t>F</a:t>
              </a:r>
              <a:endParaRPr kumimoji="1" lang="en-US" altLang="zh-CN" sz="2400" b="1" i="1" dirty="0">
                <a:solidFill>
                  <a:srgbClr val="FF0000"/>
                </a:solidFill>
                <a:latin typeface="Times New Roman" panose="02020603050405020304" pitchFamily="18" charset="0"/>
                <a:ea typeface="'宋体" pitchFamily="34" charset="-122"/>
              </a:endParaRPr>
            </a:p>
          </p:txBody>
        </p:sp>
      </p:grpSp>
      <p:grpSp>
        <p:nvGrpSpPr>
          <p:cNvPr id="168016" name="Group 80"/>
          <p:cNvGrpSpPr>
            <a:grpSpLocks/>
          </p:cNvGrpSpPr>
          <p:nvPr/>
        </p:nvGrpSpPr>
        <p:grpSpPr bwMode="auto">
          <a:xfrm>
            <a:off x="1123950" y="2789238"/>
            <a:ext cx="2598738" cy="873125"/>
            <a:chOff x="595" y="1034"/>
            <a:chExt cx="1637" cy="550"/>
          </a:xfrm>
        </p:grpSpPr>
        <p:sp>
          <p:nvSpPr>
            <p:cNvPr id="11289" name="Line 81"/>
            <p:cNvSpPr>
              <a:spLocks noChangeShapeType="1"/>
            </p:cNvSpPr>
            <p:nvPr/>
          </p:nvSpPr>
          <p:spPr bwMode="auto">
            <a:xfrm>
              <a:off x="595" y="1034"/>
              <a:ext cx="0" cy="550"/>
            </a:xfrm>
            <a:prstGeom prst="line">
              <a:avLst/>
            </a:prstGeom>
            <a:noFill/>
            <a:ln w="25400">
              <a:solidFill>
                <a:srgbClr val="993366"/>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0" name="Line 82"/>
            <p:cNvSpPr>
              <a:spLocks noChangeShapeType="1"/>
            </p:cNvSpPr>
            <p:nvPr/>
          </p:nvSpPr>
          <p:spPr bwMode="auto">
            <a:xfrm>
              <a:off x="2232" y="1034"/>
              <a:ext cx="0" cy="550"/>
            </a:xfrm>
            <a:prstGeom prst="line">
              <a:avLst/>
            </a:prstGeom>
            <a:noFill/>
            <a:ln w="25400">
              <a:solidFill>
                <a:srgbClr val="993366"/>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1" name="Line 83"/>
            <p:cNvSpPr>
              <a:spLocks noChangeShapeType="1"/>
            </p:cNvSpPr>
            <p:nvPr/>
          </p:nvSpPr>
          <p:spPr bwMode="auto">
            <a:xfrm>
              <a:off x="595" y="1034"/>
              <a:ext cx="1637" cy="0"/>
            </a:xfrm>
            <a:prstGeom prst="line">
              <a:avLst/>
            </a:prstGeom>
            <a:noFill/>
            <a:ln w="25400">
              <a:solidFill>
                <a:srgbClr val="993366"/>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2" name="Line 84"/>
            <p:cNvSpPr>
              <a:spLocks noChangeShapeType="1"/>
            </p:cNvSpPr>
            <p:nvPr/>
          </p:nvSpPr>
          <p:spPr bwMode="auto">
            <a:xfrm>
              <a:off x="595" y="1584"/>
              <a:ext cx="1637" cy="0"/>
            </a:xfrm>
            <a:prstGeom prst="line">
              <a:avLst/>
            </a:prstGeom>
            <a:noFill/>
            <a:ln w="25400">
              <a:solidFill>
                <a:srgbClr val="993366"/>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68021" name="Group 85"/>
          <p:cNvGrpSpPr>
            <a:grpSpLocks/>
          </p:cNvGrpSpPr>
          <p:nvPr/>
        </p:nvGrpSpPr>
        <p:grpSpPr bwMode="auto">
          <a:xfrm>
            <a:off x="4859335" y="2801937"/>
            <a:ext cx="3660775" cy="473075"/>
            <a:chOff x="3214" y="1056"/>
            <a:chExt cx="2306" cy="298"/>
          </a:xfrm>
        </p:grpSpPr>
        <p:sp>
          <p:nvSpPr>
            <p:cNvPr id="11284" name="Line 86"/>
            <p:cNvSpPr>
              <a:spLocks noChangeShapeType="1"/>
            </p:cNvSpPr>
            <p:nvPr/>
          </p:nvSpPr>
          <p:spPr bwMode="auto">
            <a:xfrm>
              <a:off x="3640" y="1335"/>
              <a:ext cx="1504" cy="0"/>
            </a:xfrm>
            <a:prstGeom prst="line">
              <a:avLst/>
            </a:prstGeom>
            <a:noFill/>
            <a:ln w="88900">
              <a:solidFill>
                <a:srgbClr val="0000FF"/>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5" name="Line 87"/>
            <p:cNvSpPr>
              <a:spLocks noChangeShapeType="1"/>
            </p:cNvSpPr>
            <p:nvPr/>
          </p:nvSpPr>
          <p:spPr bwMode="auto">
            <a:xfrm flipH="1">
              <a:off x="3264" y="1335"/>
              <a:ext cx="376" cy="0"/>
            </a:xfrm>
            <a:prstGeom prst="line">
              <a:avLst/>
            </a:prstGeom>
            <a:noFill/>
            <a:ln w="25400">
              <a:solidFill>
                <a:srgbClr val="FF0000"/>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6" name="Line 88"/>
            <p:cNvSpPr>
              <a:spLocks noChangeShapeType="1"/>
            </p:cNvSpPr>
            <p:nvPr/>
          </p:nvSpPr>
          <p:spPr bwMode="auto">
            <a:xfrm flipH="1">
              <a:off x="5144" y="1335"/>
              <a:ext cx="376" cy="0"/>
            </a:xfrm>
            <a:prstGeom prst="line">
              <a:avLst/>
            </a:prstGeom>
            <a:noFill/>
            <a:ln w="254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7" name="Text Box 89"/>
            <p:cNvSpPr txBox="1">
              <a:spLocks noChangeArrowheads="1"/>
            </p:cNvSpPr>
            <p:nvPr/>
          </p:nvSpPr>
          <p:spPr bwMode="auto">
            <a:xfrm>
              <a:off x="3214" y="1056"/>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00"/>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kumimoji="1" lang="en-US" altLang="zh-CN" sz="2400" b="1" i="1" dirty="0">
                  <a:solidFill>
                    <a:srgbClr val="FF0000"/>
                  </a:solidFill>
                  <a:latin typeface="Times New Roman" panose="02020603050405020304" pitchFamily="18" charset="0"/>
                  <a:ea typeface="宋体" panose="02010600030101010101" pitchFamily="2" charset="-122"/>
                </a:rPr>
                <a:t>F</a:t>
              </a:r>
            </a:p>
          </p:txBody>
        </p:sp>
        <p:sp>
          <p:nvSpPr>
            <p:cNvPr id="11288" name="Text Box 90"/>
            <p:cNvSpPr txBox="1">
              <a:spLocks noChangeArrowheads="1"/>
            </p:cNvSpPr>
            <p:nvPr/>
          </p:nvSpPr>
          <p:spPr bwMode="auto">
            <a:xfrm>
              <a:off x="5276" y="1066"/>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00"/>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kumimoji="1" lang="en-US" altLang="zh-CN" sz="2400" b="1" i="1" dirty="0">
                  <a:solidFill>
                    <a:srgbClr val="FF0000"/>
                  </a:solidFill>
                  <a:latin typeface="Times New Roman" panose="02020603050405020304" pitchFamily="18" charset="0"/>
                  <a:ea typeface="宋体" panose="02010600030101010101" pitchFamily="2" charset="-122"/>
                </a:rPr>
                <a:t>F</a:t>
              </a:r>
            </a:p>
          </p:txBody>
        </p:sp>
      </p:grpSp>
      <p:grpSp>
        <p:nvGrpSpPr>
          <p:cNvPr id="168027" name="Group 91"/>
          <p:cNvGrpSpPr>
            <a:grpSpLocks/>
          </p:cNvGrpSpPr>
          <p:nvPr/>
        </p:nvGrpSpPr>
        <p:grpSpPr bwMode="auto">
          <a:xfrm>
            <a:off x="4938712" y="1528763"/>
            <a:ext cx="3581400" cy="469900"/>
            <a:chOff x="3264" y="374"/>
            <a:chExt cx="2256" cy="296"/>
          </a:xfrm>
        </p:grpSpPr>
        <p:grpSp>
          <p:nvGrpSpPr>
            <p:cNvPr id="11278" name="Group 92"/>
            <p:cNvGrpSpPr>
              <a:grpSpLocks/>
            </p:cNvGrpSpPr>
            <p:nvPr/>
          </p:nvGrpSpPr>
          <p:grpSpPr bwMode="auto">
            <a:xfrm>
              <a:off x="3264" y="663"/>
              <a:ext cx="2256" cy="0"/>
              <a:chOff x="3072" y="672"/>
              <a:chExt cx="2592" cy="0"/>
            </a:xfrm>
          </p:grpSpPr>
          <p:sp>
            <p:nvSpPr>
              <p:cNvPr id="11281" name="Line 93"/>
              <p:cNvSpPr>
                <a:spLocks noChangeShapeType="1"/>
              </p:cNvSpPr>
              <p:nvPr/>
            </p:nvSpPr>
            <p:spPr bwMode="auto">
              <a:xfrm>
                <a:off x="3504" y="672"/>
                <a:ext cx="1728" cy="0"/>
              </a:xfrm>
              <a:prstGeom prst="line">
                <a:avLst/>
              </a:prstGeom>
              <a:noFill/>
              <a:ln w="88900">
                <a:solidFill>
                  <a:srgbClr val="0000FF"/>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2" name="Line 94"/>
              <p:cNvSpPr>
                <a:spLocks noChangeShapeType="1"/>
              </p:cNvSpPr>
              <p:nvPr/>
            </p:nvSpPr>
            <p:spPr bwMode="auto">
              <a:xfrm flipH="1">
                <a:off x="3072" y="672"/>
                <a:ext cx="432" cy="0"/>
              </a:xfrm>
              <a:prstGeom prst="line">
                <a:avLst/>
              </a:prstGeom>
              <a:noFill/>
              <a:ln w="254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3" name="Line 95"/>
              <p:cNvSpPr>
                <a:spLocks noChangeShapeType="1"/>
              </p:cNvSpPr>
              <p:nvPr/>
            </p:nvSpPr>
            <p:spPr bwMode="auto">
              <a:xfrm flipH="1">
                <a:off x="5232" y="672"/>
                <a:ext cx="432" cy="0"/>
              </a:xfrm>
              <a:prstGeom prst="line">
                <a:avLst/>
              </a:prstGeom>
              <a:noFill/>
              <a:ln w="25400">
                <a:solidFill>
                  <a:srgbClr val="FF0000"/>
                </a:solidFill>
                <a:round/>
                <a:headEnd type="triangle" w="med"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1279" name="Text Box 96"/>
            <p:cNvSpPr txBox="1">
              <a:spLocks noChangeArrowheads="1"/>
            </p:cNvSpPr>
            <p:nvPr/>
          </p:nvSpPr>
          <p:spPr bwMode="auto">
            <a:xfrm>
              <a:off x="3264" y="374"/>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00"/>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kumimoji="1" lang="en-US" altLang="zh-CN" sz="2400" b="1" i="1" dirty="0">
                  <a:solidFill>
                    <a:srgbClr val="FF0000"/>
                  </a:solidFill>
                  <a:latin typeface="Times New Roman" panose="02020603050405020304" pitchFamily="18" charset="0"/>
                  <a:ea typeface="宋体" panose="02010600030101010101" pitchFamily="2" charset="-122"/>
                </a:rPr>
                <a:t>F</a:t>
              </a:r>
            </a:p>
          </p:txBody>
        </p:sp>
        <p:sp>
          <p:nvSpPr>
            <p:cNvPr id="11280" name="Text Box 97"/>
            <p:cNvSpPr txBox="1">
              <a:spLocks noChangeArrowheads="1"/>
            </p:cNvSpPr>
            <p:nvPr/>
          </p:nvSpPr>
          <p:spPr bwMode="auto">
            <a:xfrm>
              <a:off x="5276" y="382"/>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00"/>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kumimoji="1" lang="en-US" altLang="zh-CN" sz="2400" b="1" i="1" dirty="0">
                  <a:solidFill>
                    <a:srgbClr val="FF0000"/>
                  </a:solidFill>
                  <a:latin typeface="Times New Roman" panose="02020603050405020304" pitchFamily="18" charset="0"/>
                  <a:ea typeface="宋体" panose="02010600030101010101" pitchFamily="2" charset="-122"/>
                </a:rPr>
                <a:t>F</a:t>
              </a:r>
            </a:p>
          </p:txBody>
        </p:sp>
      </p:grpSp>
      <p:sp>
        <p:nvSpPr>
          <p:cNvPr id="51" name="Text Box 51"/>
          <p:cNvSpPr txBox="1">
            <a:spLocks noChangeArrowheads="1"/>
          </p:cNvSpPr>
          <p:nvPr/>
        </p:nvSpPr>
        <p:spPr bwMode="auto">
          <a:xfrm>
            <a:off x="1528762" y="1001712"/>
            <a:ext cx="1785938" cy="457200"/>
          </a:xfrm>
          <a:prstGeom prst="rect">
            <a:avLst/>
          </a:prstGeom>
          <a:solidFill>
            <a:srgbClr val="CC99FF"/>
          </a:solidFill>
          <a:ln>
            <a:noFill/>
          </a:ln>
          <a:effectLst/>
          <a:extLst>
            <a:ext uri="{91240B29-F687-4F45-9708-019B960494DF}">
              <a14:hiddenLine xmlns:a14="http://schemas.microsoft.com/office/drawing/2010/main" w="38100">
                <a:solidFill>
                  <a:srgbClr val="FF0000"/>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zh-CN" altLang="en-US" b="1" dirty="0">
                <a:latin typeface="楷体" panose="02010609060101010101" pitchFamily="49" charset="-122"/>
                <a:ea typeface="楷体" panose="02010609060101010101" pitchFamily="49" charset="-122"/>
              </a:rPr>
              <a:t>力学模型</a:t>
            </a:r>
            <a:endParaRPr kumimoji="1" lang="zh-CN" altLang="en-US" sz="2400" b="1" dirty="0">
              <a:latin typeface="楷体" panose="02010609060101010101" pitchFamily="49" charset="-122"/>
              <a:ea typeface="楷体" panose="02010609060101010101" pitchFamily="49" charset="-122"/>
            </a:endParaRPr>
          </a:p>
        </p:txBody>
      </p:sp>
      <p:sp>
        <p:nvSpPr>
          <p:cNvPr id="52" name="Rectangle 4"/>
          <p:cNvSpPr>
            <a:spLocks noChangeArrowheads="1"/>
          </p:cNvSpPr>
          <p:nvPr/>
        </p:nvSpPr>
        <p:spPr bwMode="auto">
          <a:xfrm>
            <a:off x="5754629" y="2395629"/>
            <a:ext cx="2416735"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a:defRPr/>
            </a:pPr>
            <a:r>
              <a:rPr lang="zh-CN" altLang="en-US" sz="2000" b="1" dirty="0">
                <a:solidFill>
                  <a:srgbClr val="000000"/>
                </a:solidFill>
                <a:latin typeface="楷体" panose="02010609060101010101" pitchFamily="49" charset="-122"/>
                <a:ea typeface="楷体" panose="02010609060101010101" pitchFamily="49" charset="-122"/>
              </a:rPr>
              <a:t>用轴线代替构件</a:t>
            </a:r>
          </a:p>
        </p:txBody>
      </p:sp>
    </p:spTree>
    <p:extLst>
      <p:ext uri="{BB962C8B-B14F-4D97-AF65-F5344CB8AC3E}">
        <p14:creationId xmlns:p14="http://schemas.microsoft.com/office/powerpoint/2010/main" val="256405783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box(out)">
                                      <p:cBhvr>
                                        <p:cTn id="7" dur="500"/>
                                        <p:tgtEl>
                                          <p:spTgt spid="5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67991"/>
                                        </p:tgtEl>
                                        <p:attrNameLst>
                                          <p:attrName>style.visibility</p:attrName>
                                        </p:attrNameLst>
                                      </p:cBhvr>
                                      <p:to>
                                        <p:strVal val="visible"/>
                                      </p:to>
                                    </p:set>
                                    <p:animEffect transition="in" filter="box(out)">
                                      <p:cBhvr>
                                        <p:cTn id="12" dur="500"/>
                                        <p:tgtEl>
                                          <p:spTgt spid="167991"/>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168001"/>
                                        </p:tgtEl>
                                        <p:attrNameLst>
                                          <p:attrName>style.visibility</p:attrName>
                                        </p:attrNameLst>
                                      </p:cBhvr>
                                      <p:to>
                                        <p:strVal val="visible"/>
                                      </p:to>
                                    </p:set>
                                    <p:animEffect transition="in" filter="box(out)">
                                      <p:cBhvr>
                                        <p:cTn id="17" dur="500"/>
                                        <p:tgtEl>
                                          <p:spTgt spid="168001"/>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168006"/>
                                        </p:tgtEl>
                                        <p:attrNameLst>
                                          <p:attrName>style.visibility</p:attrName>
                                        </p:attrNameLst>
                                      </p:cBhvr>
                                      <p:to>
                                        <p:strVal val="visible"/>
                                      </p:to>
                                    </p:set>
                                    <p:animEffect transition="in" filter="box(out)">
                                      <p:cBhvr>
                                        <p:cTn id="22" dur="500"/>
                                        <p:tgtEl>
                                          <p:spTgt spid="168006"/>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168016"/>
                                        </p:tgtEl>
                                        <p:attrNameLst>
                                          <p:attrName>style.visibility</p:attrName>
                                        </p:attrNameLst>
                                      </p:cBhvr>
                                      <p:to>
                                        <p:strVal val="visible"/>
                                      </p:to>
                                    </p:set>
                                    <p:animEffect transition="in" filter="box(out)">
                                      <p:cBhvr>
                                        <p:cTn id="27" dur="500"/>
                                        <p:tgtEl>
                                          <p:spTgt spid="168016"/>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67987"/>
                                        </p:tgtEl>
                                        <p:attrNameLst>
                                          <p:attrName>style.visibility</p:attrName>
                                        </p:attrNameLst>
                                      </p:cBhvr>
                                      <p:to>
                                        <p:strVal val="visible"/>
                                      </p:to>
                                    </p:set>
                                    <p:animEffect transition="in" filter="box(out)">
                                      <p:cBhvr>
                                        <p:cTn id="32" dur="500"/>
                                        <p:tgtEl>
                                          <p:spTgt spid="167987"/>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nodeType="clickEffect">
                                  <p:stCondLst>
                                    <p:cond delay="0"/>
                                  </p:stCondLst>
                                  <p:childTnLst>
                                    <p:set>
                                      <p:cBhvr>
                                        <p:cTn id="36" dur="1" fill="hold">
                                          <p:stCondLst>
                                            <p:cond delay="0"/>
                                          </p:stCondLst>
                                        </p:cTn>
                                        <p:tgtEl>
                                          <p:spTgt spid="168027"/>
                                        </p:tgtEl>
                                        <p:attrNameLst>
                                          <p:attrName>style.visibility</p:attrName>
                                        </p:attrNameLst>
                                      </p:cBhvr>
                                      <p:to>
                                        <p:strVal val="visible"/>
                                      </p:to>
                                    </p:set>
                                    <p:animEffect transition="in" filter="box(out)">
                                      <p:cBhvr>
                                        <p:cTn id="37" dur="500"/>
                                        <p:tgtEl>
                                          <p:spTgt spid="168027"/>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nodeType="clickEffect">
                                  <p:stCondLst>
                                    <p:cond delay="0"/>
                                  </p:stCondLst>
                                  <p:childTnLst>
                                    <p:set>
                                      <p:cBhvr>
                                        <p:cTn id="41" dur="1" fill="hold">
                                          <p:stCondLst>
                                            <p:cond delay="0"/>
                                          </p:stCondLst>
                                        </p:cTn>
                                        <p:tgtEl>
                                          <p:spTgt spid="168021"/>
                                        </p:tgtEl>
                                        <p:attrNameLst>
                                          <p:attrName>style.visibility</p:attrName>
                                        </p:attrNameLst>
                                      </p:cBhvr>
                                      <p:to>
                                        <p:strVal val="visible"/>
                                      </p:to>
                                    </p:set>
                                    <p:animEffect transition="in" filter="box(out)">
                                      <p:cBhvr>
                                        <p:cTn id="42" dur="500"/>
                                        <p:tgtEl>
                                          <p:spTgt spid="168021"/>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52"/>
                                        </p:tgtEl>
                                        <p:attrNameLst>
                                          <p:attrName>style.visibility</p:attrName>
                                        </p:attrNameLst>
                                      </p:cBhvr>
                                      <p:to>
                                        <p:strVal val="visible"/>
                                      </p:to>
                                    </p:set>
                                    <p:animEffect transition="in" filter="box(out)">
                                      <p:cBhvr>
                                        <p:cTn id="47" dur="500"/>
                                        <p:tgtEl>
                                          <p:spTgt spid="52"/>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167940"/>
                                        </p:tgtEl>
                                        <p:attrNameLst>
                                          <p:attrName>style.visibility</p:attrName>
                                        </p:attrNameLst>
                                      </p:cBhvr>
                                      <p:to>
                                        <p:strVal val="visible"/>
                                      </p:to>
                                    </p:set>
                                    <p:animEffect transition="in" filter="box(out)">
                                      <p:cBhvr>
                                        <p:cTn id="52" dur="500"/>
                                        <p:tgtEl>
                                          <p:spTgt spid="167940"/>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32" fill="hold" grpId="0" nodeType="clickEffect">
                                  <p:stCondLst>
                                    <p:cond delay="0"/>
                                  </p:stCondLst>
                                  <p:childTnLst>
                                    <p:set>
                                      <p:cBhvr>
                                        <p:cTn id="56" dur="1" fill="hold">
                                          <p:stCondLst>
                                            <p:cond delay="0"/>
                                          </p:stCondLst>
                                        </p:cTn>
                                        <p:tgtEl>
                                          <p:spTgt spid="167941"/>
                                        </p:tgtEl>
                                        <p:attrNameLst>
                                          <p:attrName>style.visibility</p:attrName>
                                        </p:attrNameLst>
                                      </p:cBhvr>
                                      <p:to>
                                        <p:strVal val="visible"/>
                                      </p:to>
                                    </p:set>
                                    <p:animEffect transition="in" filter="box(out)">
                                      <p:cBhvr>
                                        <p:cTn id="57" dur="500"/>
                                        <p:tgtEl>
                                          <p:spTgt spid="167941"/>
                                        </p:tgtEl>
                                      </p:cBhvr>
                                    </p:animEffect>
                                  </p:childTnLst>
                                </p:cTn>
                              </p:par>
                            </p:childTnLst>
                          </p:cTn>
                        </p:par>
                      </p:childTnLst>
                    </p:cTn>
                  </p:par>
                  <p:par>
                    <p:cTn id="58" fill="hold">
                      <p:stCondLst>
                        <p:cond delay="indefinite"/>
                      </p:stCondLst>
                      <p:childTnLst>
                        <p:par>
                          <p:cTn id="59" fill="hold">
                            <p:stCondLst>
                              <p:cond delay="0"/>
                            </p:stCondLst>
                            <p:childTnLst>
                              <p:par>
                                <p:cTn id="60" presetID="4" presetClass="entr" presetSubtype="32" fill="hold" grpId="0" nodeType="clickEffect">
                                  <p:stCondLst>
                                    <p:cond delay="0"/>
                                  </p:stCondLst>
                                  <p:childTnLst>
                                    <p:set>
                                      <p:cBhvr>
                                        <p:cTn id="61" dur="1" fill="hold">
                                          <p:stCondLst>
                                            <p:cond delay="0"/>
                                          </p:stCondLst>
                                        </p:cTn>
                                        <p:tgtEl>
                                          <p:spTgt spid="167972"/>
                                        </p:tgtEl>
                                        <p:attrNameLst>
                                          <p:attrName>style.visibility</p:attrName>
                                        </p:attrNameLst>
                                      </p:cBhvr>
                                      <p:to>
                                        <p:strVal val="visible"/>
                                      </p:to>
                                    </p:set>
                                    <p:animEffect transition="in" filter="box(out)">
                                      <p:cBhvr>
                                        <p:cTn id="62" dur="500"/>
                                        <p:tgtEl>
                                          <p:spTgt spid="1679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40" grpId="0" autoUpdateAnimBg="0"/>
      <p:bldP spid="167941" grpId="0" autoUpdateAnimBg="0"/>
      <p:bldP spid="167972" grpId="0"/>
      <p:bldP spid="167987" grpId="0" animBg="1" autoUpdateAnimBg="0"/>
      <p:bldP spid="51" grpId="0" animBg="1" autoUpdateAnimBg="0"/>
      <p:bldP spid="52"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4" name="Text Box 4"/>
          <p:cNvSpPr txBox="1">
            <a:spLocks noChangeArrowheads="1"/>
          </p:cNvSpPr>
          <p:nvPr/>
        </p:nvSpPr>
        <p:spPr bwMode="auto">
          <a:xfrm>
            <a:off x="293625" y="843717"/>
            <a:ext cx="4932363"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800" b="1" dirty="0">
                <a:solidFill>
                  <a:srgbClr val="FF0000"/>
                </a:solidFill>
                <a:latin typeface="黑体" panose="02010609060101010101" pitchFamily="49" charset="-122"/>
                <a:ea typeface="黑体" panose="02010609060101010101" pitchFamily="49" charset="-122"/>
              </a:rPr>
              <a:t>一、直杆横截面上的内力</a:t>
            </a:r>
          </a:p>
        </p:txBody>
      </p:sp>
      <p:grpSp>
        <p:nvGrpSpPr>
          <p:cNvPr id="12353" name="Group 65"/>
          <p:cNvGrpSpPr>
            <a:grpSpLocks/>
          </p:cNvGrpSpPr>
          <p:nvPr/>
        </p:nvGrpSpPr>
        <p:grpSpPr bwMode="auto">
          <a:xfrm>
            <a:off x="4645026" y="1376421"/>
            <a:ext cx="3706812" cy="749300"/>
            <a:chOff x="3303" y="857"/>
            <a:chExt cx="2335" cy="472"/>
          </a:xfrm>
        </p:grpSpPr>
        <p:sp>
          <p:nvSpPr>
            <p:cNvPr id="12345" name="Rectangle 6" descr="Sandstone"/>
            <p:cNvSpPr>
              <a:spLocks noChangeArrowheads="1"/>
            </p:cNvSpPr>
            <p:nvPr/>
          </p:nvSpPr>
          <p:spPr bwMode="auto">
            <a:xfrm>
              <a:off x="3735" y="897"/>
              <a:ext cx="1392" cy="432"/>
            </a:xfrm>
            <a:prstGeom prst="rect">
              <a:avLst/>
            </a:prstGeom>
            <a:blipFill dpi="0" rotWithShape="0">
              <a:blip r:embed="rId2"/>
              <a:srcRect/>
              <a:tile tx="0" ty="0" sx="100000" sy="100000" flip="none" algn="tl"/>
            </a:blip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sz="2000">
                <a:ea typeface="宋体" panose="02010600030101010101" pitchFamily="2" charset="-122"/>
              </a:endParaRPr>
            </a:p>
          </p:txBody>
        </p:sp>
        <p:sp>
          <p:nvSpPr>
            <p:cNvPr id="12346" name="Line 7"/>
            <p:cNvSpPr>
              <a:spLocks noChangeShapeType="1"/>
            </p:cNvSpPr>
            <p:nvPr/>
          </p:nvSpPr>
          <p:spPr bwMode="auto">
            <a:xfrm>
              <a:off x="3735" y="1113"/>
              <a:ext cx="1406" cy="0"/>
            </a:xfrm>
            <a:prstGeom prst="line">
              <a:avLst/>
            </a:prstGeom>
            <a:noFill/>
            <a:ln w="25400">
              <a:solidFill>
                <a:schemeClr val="bg1"/>
              </a:solidFill>
              <a:prstDash val="dash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47" name="Line 8"/>
            <p:cNvSpPr>
              <a:spLocks noChangeShapeType="1"/>
            </p:cNvSpPr>
            <p:nvPr/>
          </p:nvSpPr>
          <p:spPr bwMode="auto">
            <a:xfrm flipH="1">
              <a:off x="3399" y="1113"/>
              <a:ext cx="336" cy="0"/>
            </a:xfrm>
            <a:prstGeom prst="line">
              <a:avLst/>
            </a:prstGeom>
            <a:noFill/>
            <a:ln w="25400">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48" name="Line 9"/>
            <p:cNvSpPr>
              <a:spLocks noChangeShapeType="1"/>
            </p:cNvSpPr>
            <p:nvPr/>
          </p:nvSpPr>
          <p:spPr bwMode="auto">
            <a:xfrm>
              <a:off x="5135" y="1113"/>
              <a:ext cx="336" cy="0"/>
            </a:xfrm>
            <a:prstGeom prst="line">
              <a:avLst/>
            </a:prstGeom>
            <a:noFill/>
            <a:ln w="25400">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49" name="Rectangle 10"/>
            <p:cNvSpPr>
              <a:spLocks noChangeArrowheads="1"/>
            </p:cNvSpPr>
            <p:nvPr/>
          </p:nvSpPr>
          <p:spPr bwMode="auto">
            <a:xfrm>
              <a:off x="3303" y="863"/>
              <a:ext cx="30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a:solidFill>
                    <a:srgbClr val="FF0000"/>
                  </a:solidFill>
                  <a:latin typeface="Times New Roman" panose="02020603050405020304" pitchFamily="18" charset="0"/>
                  <a:ea typeface="宋体" panose="02010600030101010101" pitchFamily="2" charset="-122"/>
                </a:rPr>
                <a:t>F</a:t>
              </a:r>
              <a:endParaRPr kumimoji="1" lang="en-US" altLang="zh-CN" sz="2000" b="1" i="1">
                <a:solidFill>
                  <a:srgbClr val="FF0000"/>
                </a:solidFill>
                <a:latin typeface="Times New Roman" panose="02020603050405020304" pitchFamily="18" charset="0"/>
                <a:ea typeface="'宋体" pitchFamily="34" charset="-122"/>
              </a:endParaRPr>
            </a:p>
          </p:txBody>
        </p:sp>
        <p:sp>
          <p:nvSpPr>
            <p:cNvPr id="12350" name="Rectangle 11"/>
            <p:cNvSpPr>
              <a:spLocks noChangeArrowheads="1"/>
            </p:cNvSpPr>
            <p:nvPr/>
          </p:nvSpPr>
          <p:spPr bwMode="auto">
            <a:xfrm>
              <a:off x="5415" y="857"/>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a:solidFill>
                    <a:srgbClr val="FF0000"/>
                  </a:solidFill>
                  <a:latin typeface="Times New Roman" panose="02020603050405020304" pitchFamily="18" charset="0"/>
                  <a:ea typeface="宋体" panose="02010600030101010101" pitchFamily="2" charset="-122"/>
                </a:rPr>
                <a:t>F</a:t>
              </a:r>
              <a:endParaRPr kumimoji="1" lang="en-US" altLang="zh-CN" sz="2000" b="1" i="1">
                <a:solidFill>
                  <a:srgbClr val="FF0000"/>
                </a:solidFill>
                <a:latin typeface="Times New Roman" panose="02020603050405020304" pitchFamily="18" charset="0"/>
                <a:ea typeface="'宋体" pitchFamily="34" charset="-122"/>
              </a:endParaRPr>
            </a:p>
          </p:txBody>
        </p:sp>
      </p:grpSp>
      <p:grpSp>
        <p:nvGrpSpPr>
          <p:cNvPr id="168972" name="Group 12"/>
          <p:cNvGrpSpPr>
            <a:grpSpLocks/>
          </p:cNvGrpSpPr>
          <p:nvPr/>
        </p:nvGrpSpPr>
        <p:grpSpPr bwMode="auto">
          <a:xfrm>
            <a:off x="6311901" y="1084321"/>
            <a:ext cx="396875" cy="1349375"/>
            <a:chOff x="4416" y="2448"/>
            <a:chExt cx="250" cy="850"/>
          </a:xfrm>
        </p:grpSpPr>
        <p:sp>
          <p:nvSpPr>
            <p:cNvPr id="12342" name="Line 13"/>
            <p:cNvSpPr>
              <a:spLocks noChangeShapeType="1"/>
            </p:cNvSpPr>
            <p:nvPr/>
          </p:nvSpPr>
          <p:spPr bwMode="auto">
            <a:xfrm>
              <a:off x="4666" y="2630"/>
              <a:ext cx="0" cy="576"/>
            </a:xfrm>
            <a:prstGeom prst="line">
              <a:avLst/>
            </a:prstGeom>
            <a:noFill/>
            <a:ln w="25400">
              <a:solidFill>
                <a:srgbClr val="FF00FF"/>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43" name="Rectangle 14"/>
            <p:cNvSpPr>
              <a:spLocks noChangeArrowheads="1"/>
            </p:cNvSpPr>
            <p:nvPr/>
          </p:nvSpPr>
          <p:spPr bwMode="auto">
            <a:xfrm>
              <a:off x="4416" y="244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a:solidFill>
                    <a:srgbClr val="0000FF"/>
                  </a:solidFill>
                  <a:latin typeface="Times New Roman" panose="02020603050405020304" pitchFamily="18" charset="0"/>
                  <a:ea typeface="宋体" panose="02010600030101010101" pitchFamily="2" charset="-122"/>
                </a:rPr>
                <a:t>m</a:t>
              </a:r>
            </a:p>
          </p:txBody>
        </p:sp>
        <p:sp>
          <p:nvSpPr>
            <p:cNvPr id="12344" name="Rectangle 15"/>
            <p:cNvSpPr>
              <a:spLocks noChangeArrowheads="1"/>
            </p:cNvSpPr>
            <p:nvPr/>
          </p:nvSpPr>
          <p:spPr bwMode="auto">
            <a:xfrm>
              <a:off x="4424" y="304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a:solidFill>
                    <a:srgbClr val="0000FF"/>
                  </a:solidFill>
                  <a:latin typeface="Times New Roman" panose="02020603050405020304" pitchFamily="18" charset="0"/>
                  <a:ea typeface="宋体" panose="02010600030101010101" pitchFamily="2" charset="-122"/>
                </a:rPr>
                <a:t>m</a:t>
              </a:r>
            </a:p>
          </p:txBody>
        </p:sp>
      </p:grpSp>
      <p:grpSp>
        <p:nvGrpSpPr>
          <p:cNvPr id="12355" name="Group 67"/>
          <p:cNvGrpSpPr>
            <a:grpSpLocks/>
          </p:cNvGrpSpPr>
          <p:nvPr/>
        </p:nvGrpSpPr>
        <p:grpSpPr bwMode="auto">
          <a:xfrm>
            <a:off x="4011613" y="2735263"/>
            <a:ext cx="2084387" cy="760412"/>
            <a:chOff x="2527" y="1723"/>
            <a:chExt cx="1313" cy="479"/>
          </a:xfrm>
        </p:grpSpPr>
        <p:grpSp>
          <p:nvGrpSpPr>
            <p:cNvPr id="12337" name="Group 17"/>
            <p:cNvGrpSpPr>
              <a:grpSpLocks/>
            </p:cNvGrpSpPr>
            <p:nvPr/>
          </p:nvGrpSpPr>
          <p:grpSpPr bwMode="auto">
            <a:xfrm>
              <a:off x="2592" y="1770"/>
              <a:ext cx="1248" cy="432"/>
              <a:chOff x="3216" y="1536"/>
              <a:chExt cx="1248" cy="432"/>
            </a:xfrm>
          </p:grpSpPr>
          <p:sp>
            <p:nvSpPr>
              <p:cNvPr id="12339" name="Rectangle 18" descr="Sandstone"/>
              <p:cNvSpPr>
                <a:spLocks noChangeArrowheads="1"/>
              </p:cNvSpPr>
              <p:nvPr/>
            </p:nvSpPr>
            <p:spPr bwMode="auto">
              <a:xfrm>
                <a:off x="3552" y="1536"/>
                <a:ext cx="912" cy="432"/>
              </a:xfrm>
              <a:prstGeom prst="rect">
                <a:avLst/>
              </a:prstGeom>
              <a:blipFill dpi="0" rotWithShape="0">
                <a:blip r:embed="rId2"/>
                <a:srcRect/>
                <a:tile tx="0" ty="0" sx="100000" sy="100000" flip="none" algn="tl"/>
              </a:blip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2340" name="Line 19"/>
              <p:cNvSpPr>
                <a:spLocks noChangeShapeType="1"/>
              </p:cNvSpPr>
              <p:nvPr/>
            </p:nvSpPr>
            <p:spPr bwMode="auto">
              <a:xfrm flipH="1">
                <a:off x="3216" y="1760"/>
                <a:ext cx="336" cy="0"/>
              </a:xfrm>
              <a:prstGeom prst="line">
                <a:avLst/>
              </a:prstGeom>
              <a:noFill/>
              <a:ln w="25400">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41" name="Line 20"/>
              <p:cNvSpPr>
                <a:spLocks noChangeShapeType="1"/>
              </p:cNvSpPr>
              <p:nvPr/>
            </p:nvSpPr>
            <p:spPr bwMode="auto">
              <a:xfrm>
                <a:off x="3552" y="1760"/>
                <a:ext cx="912" cy="0"/>
              </a:xfrm>
              <a:prstGeom prst="line">
                <a:avLst/>
              </a:prstGeom>
              <a:noFill/>
              <a:ln w="25400">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2338" name="Rectangle 21"/>
            <p:cNvSpPr>
              <a:spLocks noChangeArrowheads="1"/>
            </p:cNvSpPr>
            <p:nvPr/>
          </p:nvSpPr>
          <p:spPr bwMode="auto">
            <a:xfrm>
              <a:off x="2527" y="1723"/>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a:solidFill>
                    <a:srgbClr val="FF0000"/>
                  </a:solidFill>
                  <a:latin typeface="Times New Roman" panose="02020603050405020304" pitchFamily="18" charset="0"/>
                  <a:ea typeface="宋体" panose="02010600030101010101" pitchFamily="2" charset="-122"/>
                </a:rPr>
                <a:t>F</a:t>
              </a:r>
              <a:endParaRPr kumimoji="1" lang="en-US" altLang="zh-CN" sz="2000" b="1" i="1">
                <a:solidFill>
                  <a:srgbClr val="FF0000"/>
                </a:solidFill>
                <a:latin typeface="Times New Roman" panose="02020603050405020304" pitchFamily="18" charset="0"/>
                <a:ea typeface="'宋体" pitchFamily="34" charset="-122"/>
              </a:endParaRPr>
            </a:p>
          </p:txBody>
        </p:sp>
      </p:grpSp>
      <p:grpSp>
        <p:nvGrpSpPr>
          <p:cNvPr id="12354" name="Group 66"/>
          <p:cNvGrpSpPr>
            <a:grpSpLocks/>
          </p:cNvGrpSpPr>
          <p:nvPr/>
        </p:nvGrpSpPr>
        <p:grpSpPr bwMode="auto">
          <a:xfrm>
            <a:off x="6097588" y="2733675"/>
            <a:ext cx="977900" cy="431800"/>
            <a:chOff x="3841" y="1722"/>
            <a:chExt cx="616" cy="272"/>
          </a:xfrm>
        </p:grpSpPr>
        <p:sp>
          <p:nvSpPr>
            <p:cNvPr id="12335" name="Line 23"/>
            <p:cNvSpPr>
              <a:spLocks noChangeShapeType="1"/>
            </p:cNvSpPr>
            <p:nvPr/>
          </p:nvSpPr>
          <p:spPr bwMode="auto">
            <a:xfrm>
              <a:off x="3841" y="1994"/>
              <a:ext cx="469" cy="0"/>
            </a:xfrm>
            <a:prstGeom prst="line">
              <a:avLst/>
            </a:prstGeom>
            <a:noFill/>
            <a:ln w="25400">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36" name="Rectangle 24"/>
            <p:cNvSpPr>
              <a:spLocks noChangeArrowheads="1"/>
            </p:cNvSpPr>
            <p:nvPr/>
          </p:nvSpPr>
          <p:spPr bwMode="auto">
            <a:xfrm>
              <a:off x="3854" y="1722"/>
              <a:ext cx="60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a:solidFill>
                    <a:srgbClr val="FF0000"/>
                  </a:solidFill>
                  <a:latin typeface="Times New Roman" panose="02020603050405020304" pitchFamily="18" charset="0"/>
                  <a:ea typeface="宋体" panose="02010600030101010101" pitchFamily="2" charset="-122"/>
                </a:rPr>
                <a:t>F</a:t>
              </a:r>
              <a:r>
                <a:rPr kumimoji="1" lang="en-US" altLang="zh-CN" sz="2000" b="1" baseline="-25000">
                  <a:solidFill>
                    <a:srgbClr val="FF0000"/>
                  </a:solidFill>
                  <a:latin typeface="Times New Roman" panose="02020603050405020304" pitchFamily="18" charset="0"/>
                  <a:ea typeface="宋体" panose="02010600030101010101" pitchFamily="2" charset="-122"/>
                </a:rPr>
                <a:t>N</a:t>
              </a:r>
              <a:r>
                <a:rPr kumimoji="1" lang="en-US" altLang="zh-CN" sz="2000" b="1" i="1">
                  <a:solidFill>
                    <a:srgbClr val="FF0000"/>
                  </a:solidFill>
                  <a:latin typeface="Times New Roman" panose="02020603050405020304" pitchFamily="18" charset="0"/>
                  <a:ea typeface="宋体" panose="02010600030101010101" pitchFamily="2" charset="-122"/>
                </a:rPr>
                <a:t>=F</a:t>
              </a:r>
              <a:endParaRPr kumimoji="1" lang="en-US" altLang="zh-CN" sz="2000" b="1" i="1">
                <a:solidFill>
                  <a:srgbClr val="FF0000"/>
                </a:solidFill>
                <a:latin typeface="Times New Roman" panose="02020603050405020304" pitchFamily="18" charset="0"/>
                <a:ea typeface="'宋体" pitchFamily="34" charset="-122"/>
              </a:endParaRPr>
            </a:p>
          </p:txBody>
        </p:sp>
      </p:grpSp>
      <p:grpSp>
        <p:nvGrpSpPr>
          <p:cNvPr id="12356" name="Group 68"/>
          <p:cNvGrpSpPr>
            <a:grpSpLocks/>
          </p:cNvGrpSpPr>
          <p:nvPr/>
        </p:nvGrpSpPr>
        <p:grpSpPr bwMode="auto">
          <a:xfrm>
            <a:off x="6926263" y="2727325"/>
            <a:ext cx="2165350" cy="768350"/>
            <a:chOff x="4363" y="1718"/>
            <a:chExt cx="1364" cy="484"/>
          </a:xfrm>
        </p:grpSpPr>
        <p:sp>
          <p:nvSpPr>
            <p:cNvPr id="12329" name="Rectangle 26" descr="Sandstone"/>
            <p:cNvSpPr>
              <a:spLocks noChangeArrowheads="1"/>
            </p:cNvSpPr>
            <p:nvPr/>
          </p:nvSpPr>
          <p:spPr bwMode="auto">
            <a:xfrm>
              <a:off x="4836" y="1770"/>
              <a:ext cx="480" cy="432"/>
            </a:xfrm>
            <a:prstGeom prst="rect">
              <a:avLst/>
            </a:prstGeom>
            <a:blipFill dpi="0" rotWithShape="0">
              <a:blip r:embed="rId2"/>
              <a:srcRect/>
              <a:tile tx="0" ty="0" sx="100000" sy="100000" flip="none" algn="tl"/>
            </a:blip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2330" name="Rectangle 27"/>
            <p:cNvSpPr>
              <a:spLocks noChangeArrowheads="1"/>
            </p:cNvSpPr>
            <p:nvPr/>
          </p:nvSpPr>
          <p:spPr bwMode="auto">
            <a:xfrm>
              <a:off x="5423" y="1726"/>
              <a:ext cx="30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a:solidFill>
                    <a:srgbClr val="FF0000"/>
                  </a:solidFill>
                  <a:latin typeface="Times New Roman" panose="02020603050405020304" pitchFamily="18" charset="0"/>
                  <a:ea typeface="宋体" panose="02010600030101010101" pitchFamily="2" charset="-122"/>
                </a:rPr>
                <a:t>F</a:t>
              </a:r>
              <a:endParaRPr kumimoji="1" lang="en-US" altLang="zh-CN" sz="2000" b="1" i="1">
                <a:solidFill>
                  <a:srgbClr val="FF0000"/>
                </a:solidFill>
                <a:latin typeface="Times New Roman" panose="02020603050405020304" pitchFamily="18" charset="0"/>
                <a:ea typeface="'宋体" pitchFamily="34" charset="-122"/>
              </a:endParaRPr>
            </a:p>
          </p:txBody>
        </p:sp>
        <p:sp>
          <p:nvSpPr>
            <p:cNvPr id="12331" name="Line 28"/>
            <p:cNvSpPr>
              <a:spLocks noChangeShapeType="1"/>
            </p:cNvSpPr>
            <p:nvPr/>
          </p:nvSpPr>
          <p:spPr bwMode="auto">
            <a:xfrm>
              <a:off x="5348" y="1986"/>
              <a:ext cx="336" cy="0"/>
            </a:xfrm>
            <a:prstGeom prst="line">
              <a:avLst/>
            </a:prstGeom>
            <a:noFill/>
            <a:ln w="25400">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32" name="Line 29"/>
            <p:cNvSpPr>
              <a:spLocks noChangeShapeType="1"/>
            </p:cNvSpPr>
            <p:nvPr/>
          </p:nvSpPr>
          <p:spPr bwMode="auto">
            <a:xfrm>
              <a:off x="4836" y="1994"/>
              <a:ext cx="480" cy="0"/>
            </a:xfrm>
            <a:prstGeom prst="line">
              <a:avLst/>
            </a:prstGeom>
            <a:noFill/>
            <a:ln w="25400">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333" name="Line 30"/>
            <p:cNvSpPr>
              <a:spLocks noChangeShapeType="1"/>
            </p:cNvSpPr>
            <p:nvPr/>
          </p:nvSpPr>
          <p:spPr bwMode="auto">
            <a:xfrm>
              <a:off x="4484" y="1986"/>
              <a:ext cx="336" cy="0"/>
            </a:xfrm>
            <a:prstGeom prst="line">
              <a:avLst/>
            </a:prstGeom>
            <a:noFill/>
            <a:ln w="25400">
              <a:solidFill>
                <a:srgbClr val="FF0000"/>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34" name="Rectangle 31"/>
            <p:cNvSpPr>
              <a:spLocks noChangeArrowheads="1"/>
            </p:cNvSpPr>
            <p:nvPr/>
          </p:nvSpPr>
          <p:spPr bwMode="auto">
            <a:xfrm>
              <a:off x="4363" y="1718"/>
              <a:ext cx="5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a:solidFill>
                    <a:srgbClr val="FF0000"/>
                  </a:solidFill>
                  <a:latin typeface="Times New Roman" panose="02020603050405020304" pitchFamily="18" charset="0"/>
                  <a:ea typeface="宋体" panose="02010600030101010101" pitchFamily="2" charset="-122"/>
                </a:rPr>
                <a:t>F</a:t>
              </a:r>
              <a:r>
                <a:rPr kumimoji="1" lang="en-US" altLang="zh-CN" sz="2000" b="1" baseline="-25000">
                  <a:solidFill>
                    <a:srgbClr val="FF0000"/>
                  </a:solidFill>
                  <a:latin typeface="Times New Roman" panose="02020603050405020304" pitchFamily="18" charset="0"/>
                  <a:ea typeface="宋体" panose="02010600030101010101" pitchFamily="2" charset="-122"/>
                </a:rPr>
                <a:t>N</a:t>
              </a:r>
              <a:r>
                <a:rPr kumimoji="1" lang="en-US" altLang="zh-CN" sz="2000" b="1" i="1">
                  <a:solidFill>
                    <a:srgbClr val="FF0000"/>
                  </a:solidFill>
                  <a:latin typeface="Times New Roman" panose="02020603050405020304" pitchFamily="18" charset="0"/>
                  <a:ea typeface="宋体" panose="02010600030101010101" pitchFamily="2" charset="-122"/>
                </a:rPr>
                <a:t>=F</a:t>
              </a:r>
              <a:endParaRPr kumimoji="1" lang="en-US" altLang="zh-CN" sz="2000" b="1" i="1">
                <a:solidFill>
                  <a:srgbClr val="FF0000"/>
                </a:solidFill>
                <a:latin typeface="Times New Roman" panose="02020603050405020304" pitchFamily="18" charset="0"/>
                <a:ea typeface="'宋体" pitchFamily="34" charset="-122"/>
              </a:endParaRPr>
            </a:p>
          </p:txBody>
        </p:sp>
      </p:grpSp>
      <p:sp>
        <p:nvSpPr>
          <p:cNvPr id="168992" name="Text Box 32"/>
          <p:cNvSpPr txBox="1">
            <a:spLocks noChangeArrowheads="1"/>
          </p:cNvSpPr>
          <p:nvPr/>
        </p:nvSpPr>
        <p:spPr bwMode="auto">
          <a:xfrm>
            <a:off x="423863" y="1397920"/>
            <a:ext cx="4362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400" b="1" dirty="0">
                <a:solidFill>
                  <a:srgbClr val="080808"/>
                </a:solidFill>
                <a:latin typeface="Times New Roman" panose="02020603050405020304" pitchFamily="18" charset="0"/>
                <a:ea typeface="华文楷体" panose="02010600040101010101" pitchFamily="2" charset="-122"/>
                <a:cs typeface="Times New Roman" panose="02020603050405020304" pitchFamily="18" charset="0"/>
              </a:rPr>
              <a:t>轴力</a:t>
            </a:r>
            <a:r>
              <a:rPr kumimoji="1" lang="en-US" altLang="zh-CN" sz="2400" b="1" dirty="0">
                <a:solidFill>
                  <a:srgbClr val="080808"/>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dirty="0">
                <a:solidFill>
                  <a:srgbClr val="080808"/>
                </a:solidFill>
                <a:latin typeface="Times New Roman" panose="02020603050405020304" pitchFamily="18" charset="0"/>
                <a:ea typeface="华文楷体" panose="02010600040101010101" pitchFamily="2" charset="-122"/>
                <a:cs typeface="Times New Roman" panose="02020603050405020304" pitchFamily="18" charset="0"/>
              </a:rPr>
              <a:t>Axial Force</a:t>
            </a:r>
            <a:r>
              <a:rPr kumimoji="1" lang="en-US" altLang="zh-CN" sz="2400" b="1" dirty="0">
                <a:solidFill>
                  <a:srgbClr val="080808"/>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i="1" dirty="0">
                <a:solidFill>
                  <a:srgbClr val="080808"/>
                </a:solidFill>
                <a:latin typeface="Times New Roman" panose="02020603050405020304" pitchFamily="18" charset="0"/>
                <a:ea typeface="华文楷体" panose="02010600040101010101" pitchFamily="2" charset="-122"/>
                <a:cs typeface="Times New Roman" panose="02020603050405020304" pitchFamily="18" charset="0"/>
              </a:rPr>
              <a:t>F</a:t>
            </a:r>
            <a:r>
              <a:rPr kumimoji="1" lang="en-US" altLang="zh-CN" sz="2400" b="1" baseline="-25000" dirty="0">
                <a:solidFill>
                  <a:srgbClr val="080808"/>
                </a:solidFill>
                <a:latin typeface="Times New Roman" panose="02020603050405020304" pitchFamily="18" charset="0"/>
                <a:ea typeface="华文楷体" panose="02010600040101010101" pitchFamily="2" charset="-122"/>
                <a:cs typeface="Times New Roman" panose="02020603050405020304" pitchFamily="18" charset="0"/>
              </a:rPr>
              <a:t>N</a:t>
            </a:r>
            <a:endParaRPr kumimoji="1" lang="zh-CN" altLang="en-US" sz="2400" b="1" baseline="-25000" dirty="0">
              <a:solidFill>
                <a:srgbClr val="080808"/>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68993" name="Text Box 33"/>
          <p:cNvSpPr txBox="1">
            <a:spLocks noChangeArrowheads="1"/>
          </p:cNvSpPr>
          <p:nvPr/>
        </p:nvSpPr>
        <p:spPr bwMode="auto">
          <a:xfrm>
            <a:off x="450850" y="1997870"/>
            <a:ext cx="368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kumimoji="1" lang="zh-CN" altLang="en-US" sz="2400" b="1" dirty="0">
                <a:solidFill>
                  <a:srgbClr val="0000FF"/>
                </a:solidFill>
                <a:latin typeface="Times New Roman" pitchFamily="18" charset="0"/>
                <a:ea typeface="华文楷体" pitchFamily="2" charset="-122"/>
                <a:cs typeface="Times New Roman" pitchFamily="18" charset="0"/>
              </a:rPr>
              <a:t>轴力的符号规则：</a:t>
            </a:r>
          </a:p>
        </p:txBody>
      </p:sp>
      <p:sp>
        <p:nvSpPr>
          <p:cNvPr id="168994" name="Text Box 34"/>
          <p:cNvSpPr txBox="1">
            <a:spLocks noChangeArrowheads="1"/>
          </p:cNvSpPr>
          <p:nvPr/>
        </p:nvSpPr>
        <p:spPr bwMode="auto">
          <a:xfrm>
            <a:off x="431267" y="2501617"/>
            <a:ext cx="3259138" cy="830997"/>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i="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F</a:t>
            </a:r>
            <a:r>
              <a:rPr kumimoji="1" lang="en-US" altLang="zh-CN" sz="2400" b="1" baseline="-25000"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N</a:t>
            </a:r>
            <a:r>
              <a:rPr kumimoji="1" lang="en-US" altLang="zh-CN" sz="2400"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400"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与截面外法线方向一致为正，相反为负</a:t>
            </a:r>
          </a:p>
        </p:txBody>
      </p:sp>
      <p:sp>
        <p:nvSpPr>
          <p:cNvPr id="168995" name="Text Box 35"/>
          <p:cNvSpPr txBox="1">
            <a:spLocks noChangeArrowheads="1"/>
          </p:cNvSpPr>
          <p:nvPr/>
        </p:nvSpPr>
        <p:spPr bwMode="auto">
          <a:xfrm>
            <a:off x="335757" y="3572065"/>
            <a:ext cx="4068763" cy="1569660"/>
          </a:xfrm>
          <a:prstGeom prst="rect">
            <a:avLst/>
          </a:prstGeom>
          <a:solidFill>
            <a:schemeClr val="accent5">
              <a:lumMod val="40000"/>
              <a:lumOff val="60000"/>
            </a:schemeClr>
          </a:solidFill>
          <a:ln>
            <a:noFill/>
          </a:ln>
          <a:effectLst/>
        </p:spPr>
        <p:txBody>
          <a:bodyPr wrap="square">
            <a:spAutoFit/>
          </a:bodyPr>
          <a:lstStyle/>
          <a:p>
            <a:pPr>
              <a:defRPr/>
            </a:pPr>
            <a:r>
              <a:rPr kumimoji="1" lang="zh-CN" altLang="en-US" sz="2400" b="1" dirty="0">
                <a:latin typeface="Times New Roman" pitchFamily="18" charset="0"/>
                <a:ea typeface="华文楷体" pitchFamily="2" charset="-122"/>
                <a:cs typeface="Times New Roman" pitchFamily="18" charset="0"/>
              </a:rPr>
              <a:t>注意：轴力的符号是通过截面的方向定义的，与坐标方向无关，这样可以确保同一截面上的轴力符号一致！</a:t>
            </a:r>
          </a:p>
        </p:txBody>
      </p:sp>
      <p:sp>
        <p:nvSpPr>
          <p:cNvPr id="168996" name="Text Box 36"/>
          <p:cNvSpPr txBox="1">
            <a:spLocks noChangeArrowheads="1"/>
          </p:cNvSpPr>
          <p:nvPr/>
        </p:nvSpPr>
        <p:spPr bwMode="auto">
          <a:xfrm>
            <a:off x="461963" y="5363747"/>
            <a:ext cx="3392487" cy="919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20000"/>
              </a:lnSpc>
            </a:pPr>
            <a:r>
              <a:rPr kumimoji="1" lang="zh-CN" altLang="en-US" sz="2400" b="1" dirty="0">
                <a:latin typeface="楷体" panose="02010609060101010101" pitchFamily="49" charset="-122"/>
                <a:ea typeface="楷体" panose="02010609060101010101" pitchFamily="49" charset="-122"/>
                <a:cs typeface="Times New Roman" panose="02020603050405020304" pitchFamily="18" charset="0"/>
              </a:rPr>
              <a:t>轴力为正，直杆受拉；</a:t>
            </a:r>
          </a:p>
          <a:p>
            <a:pPr eaLnBrk="1" hangingPunct="1">
              <a:lnSpc>
                <a:spcPct val="120000"/>
              </a:lnSpc>
            </a:pPr>
            <a:r>
              <a:rPr kumimoji="1" lang="zh-CN" altLang="en-US" sz="2400" b="1" dirty="0">
                <a:latin typeface="楷体" panose="02010609060101010101" pitchFamily="49" charset="-122"/>
                <a:ea typeface="楷体" panose="02010609060101010101" pitchFamily="49" charset="-122"/>
                <a:cs typeface="Times New Roman" panose="02020603050405020304" pitchFamily="18" charset="0"/>
              </a:rPr>
              <a:t>轴力为负，直杆受压。</a:t>
            </a:r>
          </a:p>
        </p:txBody>
      </p:sp>
      <p:grpSp>
        <p:nvGrpSpPr>
          <p:cNvPr id="12357" name="Group 69"/>
          <p:cNvGrpSpPr>
            <a:grpSpLocks/>
          </p:cNvGrpSpPr>
          <p:nvPr/>
        </p:nvGrpSpPr>
        <p:grpSpPr bwMode="auto">
          <a:xfrm>
            <a:off x="4841876" y="4062297"/>
            <a:ext cx="3560762" cy="750888"/>
            <a:chOff x="3315" y="2600"/>
            <a:chExt cx="2243" cy="473"/>
          </a:xfrm>
        </p:grpSpPr>
        <p:sp>
          <p:nvSpPr>
            <p:cNvPr id="12323" name="Rectangle 38" descr="Sandstone"/>
            <p:cNvSpPr>
              <a:spLocks noChangeArrowheads="1"/>
            </p:cNvSpPr>
            <p:nvPr/>
          </p:nvSpPr>
          <p:spPr bwMode="auto">
            <a:xfrm>
              <a:off x="3727" y="2641"/>
              <a:ext cx="1392" cy="432"/>
            </a:xfrm>
            <a:prstGeom prst="rect">
              <a:avLst/>
            </a:prstGeom>
            <a:blipFill dpi="0" rotWithShape="0">
              <a:blip r:embed="rId2"/>
              <a:srcRect/>
              <a:tile tx="0" ty="0" sx="100000" sy="100000" flip="none" algn="tl"/>
            </a:blip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sz="2000">
                <a:ea typeface="宋体" panose="02010600030101010101" pitchFamily="2" charset="-122"/>
              </a:endParaRPr>
            </a:p>
          </p:txBody>
        </p:sp>
        <p:sp>
          <p:nvSpPr>
            <p:cNvPr id="12324" name="Line 39"/>
            <p:cNvSpPr>
              <a:spLocks noChangeShapeType="1"/>
            </p:cNvSpPr>
            <p:nvPr/>
          </p:nvSpPr>
          <p:spPr bwMode="auto">
            <a:xfrm>
              <a:off x="3727" y="2857"/>
              <a:ext cx="1406" cy="0"/>
            </a:xfrm>
            <a:prstGeom prst="line">
              <a:avLst/>
            </a:prstGeom>
            <a:noFill/>
            <a:ln w="25400">
              <a:solidFill>
                <a:schemeClr val="bg1"/>
              </a:solidFill>
              <a:prstDash val="dash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5" name="Line 40"/>
            <p:cNvSpPr>
              <a:spLocks noChangeShapeType="1"/>
            </p:cNvSpPr>
            <p:nvPr/>
          </p:nvSpPr>
          <p:spPr bwMode="auto">
            <a:xfrm flipH="1">
              <a:off x="3391" y="2857"/>
              <a:ext cx="336" cy="0"/>
            </a:xfrm>
            <a:prstGeom prst="line">
              <a:avLst/>
            </a:prstGeom>
            <a:noFill/>
            <a:ln w="25400">
              <a:solidFill>
                <a:srgbClr val="FF0000"/>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6" name="Line 41"/>
            <p:cNvSpPr>
              <a:spLocks noChangeShapeType="1"/>
            </p:cNvSpPr>
            <p:nvPr/>
          </p:nvSpPr>
          <p:spPr bwMode="auto">
            <a:xfrm>
              <a:off x="5127" y="2857"/>
              <a:ext cx="336" cy="0"/>
            </a:xfrm>
            <a:prstGeom prst="line">
              <a:avLst/>
            </a:prstGeom>
            <a:noFill/>
            <a:ln w="25400">
              <a:solidFill>
                <a:srgbClr val="FF0000"/>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7" name="Rectangle 42"/>
            <p:cNvSpPr>
              <a:spLocks noChangeArrowheads="1"/>
            </p:cNvSpPr>
            <p:nvPr/>
          </p:nvSpPr>
          <p:spPr bwMode="auto">
            <a:xfrm>
              <a:off x="3315" y="2600"/>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a:solidFill>
                    <a:srgbClr val="FF0000"/>
                  </a:solidFill>
                  <a:latin typeface="Times New Roman" panose="02020603050405020304" pitchFamily="18" charset="0"/>
                  <a:ea typeface="宋体" panose="02010600030101010101" pitchFamily="2" charset="-122"/>
                </a:rPr>
                <a:t>F</a:t>
              </a:r>
              <a:endParaRPr kumimoji="1" lang="en-US" altLang="zh-CN" sz="2000" b="1" i="1">
                <a:solidFill>
                  <a:srgbClr val="FF0000"/>
                </a:solidFill>
                <a:latin typeface="Times New Roman" panose="02020603050405020304" pitchFamily="18" charset="0"/>
                <a:ea typeface="'宋体" pitchFamily="34" charset="-122"/>
              </a:endParaRPr>
            </a:p>
          </p:txBody>
        </p:sp>
        <p:sp>
          <p:nvSpPr>
            <p:cNvPr id="12328" name="Rectangle 43"/>
            <p:cNvSpPr>
              <a:spLocks noChangeArrowheads="1"/>
            </p:cNvSpPr>
            <p:nvPr/>
          </p:nvSpPr>
          <p:spPr bwMode="auto">
            <a:xfrm>
              <a:off x="5335" y="2610"/>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a:solidFill>
                    <a:srgbClr val="FF0000"/>
                  </a:solidFill>
                  <a:latin typeface="Times New Roman" panose="02020603050405020304" pitchFamily="18" charset="0"/>
                  <a:ea typeface="宋体" panose="02010600030101010101" pitchFamily="2" charset="-122"/>
                </a:rPr>
                <a:t>F</a:t>
              </a:r>
              <a:endParaRPr kumimoji="1" lang="en-US" altLang="zh-CN" sz="2000" b="1" i="1">
                <a:solidFill>
                  <a:srgbClr val="FF0000"/>
                </a:solidFill>
                <a:latin typeface="Times New Roman" panose="02020603050405020304" pitchFamily="18" charset="0"/>
                <a:ea typeface="'宋体" pitchFamily="34" charset="-122"/>
              </a:endParaRPr>
            </a:p>
          </p:txBody>
        </p:sp>
      </p:grpSp>
      <p:grpSp>
        <p:nvGrpSpPr>
          <p:cNvPr id="169004" name="Group 44"/>
          <p:cNvGrpSpPr>
            <a:grpSpLocks/>
          </p:cNvGrpSpPr>
          <p:nvPr/>
        </p:nvGrpSpPr>
        <p:grpSpPr bwMode="auto">
          <a:xfrm>
            <a:off x="6562726" y="3768610"/>
            <a:ext cx="396875" cy="1349375"/>
            <a:chOff x="4416" y="2448"/>
            <a:chExt cx="250" cy="850"/>
          </a:xfrm>
        </p:grpSpPr>
        <p:sp>
          <p:nvSpPr>
            <p:cNvPr id="12320" name="Line 45"/>
            <p:cNvSpPr>
              <a:spLocks noChangeShapeType="1"/>
            </p:cNvSpPr>
            <p:nvPr/>
          </p:nvSpPr>
          <p:spPr bwMode="auto">
            <a:xfrm>
              <a:off x="4666" y="2650"/>
              <a:ext cx="0" cy="576"/>
            </a:xfrm>
            <a:prstGeom prst="line">
              <a:avLst/>
            </a:prstGeom>
            <a:noFill/>
            <a:ln w="25400">
              <a:solidFill>
                <a:srgbClr val="FF00FF"/>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1" name="Rectangle 46"/>
            <p:cNvSpPr>
              <a:spLocks noChangeArrowheads="1"/>
            </p:cNvSpPr>
            <p:nvPr/>
          </p:nvSpPr>
          <p:spPr bwMode="auto">
            <a:xfrm>
              <a:off x="4416" y="244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a:solidFill>
                    <a:srgbClr val="0000FF"/>
                  </a:solidFill>
                  <a:latin typeface="Times New Roman" panose="02020603050405020304" pitchFamily="18" charset="0"/>
                  <a:ea typeface="宋体" panose="02010600030101010101" pitchFamily="2" charset="-122"/>
                </a:rPr>
                <a:t>m</a:t>
              </a:r>
            </a:p>
          </p:txBody>
        </p:sp>
        <p:sp>
          <p:nvSpPr>
            <p:cNvPr id="12322" name="Rectangle 47"/>
            <p:cNvSpPr>
              <a:spLocks noChangeArrowheads="1"/>
            </p:cNvSpPr>
            <p:nvPr/>
          </p:nvSpPr>
          <p:spPr bwMode="auto">
            <a:xfrm>
              <a:off x="4424" y="304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a:solidFill>
                    <a:srgbClr val="0000FF"/>
                  </a:solidFill>
                  <a:latin typeface="Times New Roman" panose="02020603050405020304" pitchFamily="18" charset="0"/>
                  <a:ea typeface="宋体" panose="02010600030101010101" pitchFamily="2" charset="-122"/>
                </a:rPr>
                <a:t>m</a:t>
              </a:r>
            </a:p>
          </p:txBody>
        </p:sp>
      </p:grpSp>
      <p:grpSp>
        <p:nvGrpSpPr>
          <p:cNvPr id="12358" name="Group 70"/>
          <p:cNvGrpSpPr>
            <a:grpSpLocks/>
          </p:cNvGrpSpPr>
          <p:nvPr/>
        </p:nvGrpSpPr>
        <p:grpSpPr bwMode="auto">
          <a:xfrm>
            <a:off x="3687288" y="5449714"/>
            <a:ext cx="1981200" cy="736600"/>
            <a:chOff x="2592" y="3562"/>
            <a:chExt cx="1248" cy="464"/>
          </a:xfrm>
        </p:grpSpPr>
        <p:grpSp>
          <p:nvGrpSpPr>
            <p:cNvPr id="12315" name="Group 49"/>
            <p:cNvGrpSpPr>
              <a:grpSpLocks/>
            </p:cNvGrpSpPr>
            <p:nvPr/>
          </p:nvGrpSpPr>
          <p:grpSpPr bwMode="auto">
            <a:xfrm>
              <a:off x="2592" y="3594"/>
              <a:ext cx="1248" cy="432"/>
              <a:chOff x="3472" y="3136"/>
              <a:chExt cx="1248" cy="432"/>
            </a:xfrm>
          </p:grpSpPr>
          <p:sp>
            <p:nvSpPr>
              <p:cNvPr id="12317" name="Rectangle 50" descr="Sandstone"/>
              <p:cNvSpPr>
                <a:spLocks noChangeArrowheads="1"/>
              </p:cNvSpPr>
              <p:nvPr/>
            </p:nvSpPr>
            <p:spPr bwMode="auto">
              <a:xfrm>
                <a:off x="3808" y="3136"/>
                <a:ext cx="912" cy="432"/>
              </a:xfrm>
              <a:prstGeom prst="rect">
                <a:avLst/>
              </a:prstGeom>
              <a:blipFill dpi="0" rotWithShape="0">
                <a:blip r:embed="rId2"/>
                <a:srcRect/>
                <a:tile tx="0" ty="0" sx="100000" sy="100000" flip="none" algn="tl"/>
              </a:blip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2318" name="Line 51"/>
              <p:cNvSpPr>
                <a:spLocks noChangeShapeType="1"/>
              </p:cNvSpPr>
              <p:nvPr/>
            </p:nvSpPr>
            <p:spPr bwMode="auto">
              <a:xfrm flipH="1">
                <a:off x="3472" y="3360"/>
                <a:ext cx="336" cy="0"/>
              </a:xfrm>
              <a:prstGeom prst="line">
                <a:avLst/>
              </a:prstGeom>
              <a:noFill/>
              <a:ln w="25400">
                <a:solidFill>
                  <a:srgbClr val="FF0000"/>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9" name="Line 52"/>
              <p:cNvSpPr>
                <a:spLocks noChangeShapeType="1"/>
              </p:cNvSpPr>
              <p:nvPr/>
            </p:nvSpPr>
            <p:spPr bwMode="auto">
              <a:xfrm>
                <a:off x="3808" y="3360"/>
                <a:ext cx="912" cy="0"/>
              </a:xfrm>
              <a:prstGeom prst="line">
                <a:avLst/>
              </a:prstGeom>
              <a:noFill/>
              <a:ln w="25400">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2316" name="Rectangle 53"/>
            <p:cNvSpPr>
              <a:spLocks noChangeArrowheads="1"/>
            </p:cNvSpPr>
            <p:nvPr/>
          </p:nvSpPr>
          <p:spPr bwMode="auto">
            <a:xfrm>
              <a:off x="2604" y="3562"/>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a:solidFill>
                    <a:srgbClr val="FF0000"/>
                  </a:solidFill>
                  <a:latin typeface="Times New Roman" panose="02020603050405020304" pitchFamily="18" charset="0"/>
                  <a:ea typeface="宋体" panose="02010600030101010101" pitchFamily="2" charset="-122"/>
                </a:rPr>
                <a:t>F</a:t>
              </a:r>
              <a:endParaRPr kumimoji="1" lang="en-US" altLang="zh-CN" sz="2000" b="1" i="1">
                <a:solidFill>
                  <a:srgbClr val="FF0000"/>
                </a:solidFill>
                <a:latin typeface="Times New Roman" panose="02020603050405020304" pitchFamily="18" charset="0"/>
                <a:ea typeface="'宋体" pitchFamily="34" charset="-122"/>
              </a:endParaRPr>
            </a:p>
          </p:txBody>
        </p:sp>
      </p:grpSp>
      <p:grpSp>
        <p:nvGrpSpPr>
          <p:cNvPr id="12360" name="Group 72"/>
          <p:cNvGrpSpPr>
            <a:grpSpLocks/>
          </p:cNvGrpSpPr>
          <p:nvPr/>
        </p:nvGrpSpPr>
        <p:grpSpPr bwMode="auto">
          <a:xfrm>
            <a:off x="5620866" y="5424308"/>
            <a:ext cx="1046163" cy="434974"/>
            <a:chOff x="3810" y="3546"/>
            <a:chExt cx="659" cy="274"/>
          </a:xfrm>
        </p:grpSpPr>
        <p:sp>
          <p:nvSpPr>
            <p:cNvPr id="12313" name="Line 55"/>
            <p:cNvSpPr>
              <a:spLocks noChangeShapeType="1"/>
            </p:cNvSpPr>
            <p:nvPr/>
          </p:nvSpPr>
          <p:spPr bwMode="auto">
            <a:xfrm flipH="1">
              <a:off x="3824" y="3820"/>
              <a:ext cx="423" cy="0"/>
            </a:xfrm>
            <a:prstGeom prst="line">
              <a:avLst/>
            </a:prstGeom>
            <a:noFill/>
            <a:ln w="25400">
              <a:solidFill>
                <a:srgbClr val="FF0000"/>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4" name="Rectangle 56"/>
            <p:cNvSpPr>
              <a:spLocks noChangeArrowheads="1"/>
            </p:cNvSpPr>
            <p:nvPr/>
          </p:nvSpPr>
          <p:spPr bwMode="auto">
            <a:xfrm>
              <a:off x="3810" y="3546"/>
              <a:ext cx="65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dirty="0">
                  <a:solidFill>
                    <a:srgbClr val="FF0000"/>
                  </a:solidFill>
                  <a:latin typeface="Times New Roman" panose="02020603050405020304" pitchFamily="18" charset="0"/>
                  <a:ea typeface="宋体" panose="02010600030101010101" pitchFamily="2" charset="-122"/>
                </a:rPr>
                <a:t>F</a:t>
              </a:r>
              <a:r>
                <a:rPr kumimoji="1" lang="en-US" altLang="zh-CN" sz="2000" b="1" baseline="-25000" dirty="0">
                  <a:solidFill>
                    <a:srgbClr val="FF0000"/>
                  </a:solidFill>
                  <a:latin typeface="Times New Roman" panose="02020603050405020304" pitchFamily="18" charset="0"/>
                  <a:ea typeface="宋体" panose="02010600030101010101" pitchFamily="2" charset="-122"/>
                </a:rPr>
                <a:t>N</a:t>
              </a:r>
              <a:r>
                <a:rPr kumimoji="1" lang="en-US" altLang="zh-CN" sz="2000" b="1" i="1" dirty="0">
                  <a:solidFill>
                    <a:srgbClr val="FF0000"/>
                  </a:solidFill>
                  <a:latin typeface="Times New Roman" panose="02020603050405020304" pitchFamily="18" charset="0"/>
                  <a:ea typeface="宋体" panose="02010600030101010101" pitchFamily="2" charset="-122"/>
                </a:rPr>
                <a:t>=  ̶ F</a:t>
              </a:r>
              <a:endParaRPr kumimoji="1" lang="en-US" altLang="zh-CN" sz="2000" b="1" i="1" dirty="0">
                <a:solidFill>
                  <a:srgbClr val="FF0000"/>
                </a:solidFill>
                <a:latin typeface="Times New Roman" panose="02020603050405020304" pitchFamily="18" charset="0"/>
                <a:ea typeface="'宋体" pitchFamily="34" charset="-122"/>
              </a:endParaRPr>
            </a:p>
          </p:txBody>
        </p:sp>
      </p:grpSp>
      <p:grpSp>
        <p:nvGrpSpPr>
          <p:cNvPr id="169017" name="Group 57"/>
          <p:cNvGrpSpPr>
            <a:grpSpLocks/>
          </p:cNvGrpSpPr>
          <p:nvPr/>
        </p:nvGrpSpPr>
        <p:grpSpPr bwMode="auto">
          <a:xfrm>
            <a:off x="6634164" y="5422903"/>
            <a:ext cx="2301876" cy="798513"/>
            <a:chOff x="4134" y="3705"/>
            <a:chExt cx="1450" cy="503"/>
          </a:xfrm>
        </p:grpSpPr>
        <p:sp>
          <p:nvSpPr>
            <p:cNvPr id="12307" name="Rectangle 58" descr="Sandstone"/>
            <p:cNvSpPr>
              <a:spLocks noChangeArrowheads="1"/>
            </p:cNvSpPr>
            <p:nvPr/>
          </p:nvSpPr>
          <p:spPr bwMode="auto">
            <a:xfrm>
              <a:off x="4736" y="3776"/>
              <a:ext cx="480" cy="432"/>
            </a:xfrm>
            <a:prstGeom prst="rect">
              <a:avLst/>
            </a:prstGeom>
            <a:blipFill dpi="0" rotWithShape="0">
              <a:blip r:embed="rId2"/>
              <a:srcRect/>
              <a:tile tx="0" ty="0" sx="100000" sy="100000" flip="none" algn="tl"/>
            </a:blip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sz="2000">
                <a:ea typeface="宋体" panose="02010600030101010101" pitchFamily="2" charset="-122"/>
              </a:endParaRPr>
            </a:p>
          </p:txBody>
        </p:sp>
        <p:sp>
          <p:nvSpPr>
            <p:cNvPr id="12308" name="Rectangle 59"/>
            <p:cNvSpPr>
              <a:spLocks noChangeArrowheads="1"/>
            </p:cNvSpPr>
            <p:nvPr/>
          </p:nvSpPr>
          <p:spPr bwMode="auto">
            <a:xfrm>
              <a:off x="5349" y="3712"/>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a:solidFill>
                    <a:srgbClr val="FF0000"/>
                  </a:solidFill>
                  <a:latin typeface="Times New Roman" panose="02020603050405020304" pitchFamily="18" charset="0"/>
                  <a:ea typeface="宋体" panose="02010600030101010101" pitchFamily="2" charset="-122"/>
                </a:rPr>
                <a:t>F</a:t>
              </a:r>
              <a:endParaRPr kumimoji="1" lang="en-US" altLang="zh-CN" sz="2000" b="1" i="1">
                <a:solidFill>
                  <a:srgbClr val="FF0000"/>
                </a:solidFill>
                <a:latin typeface="Times New Roman" panose="02020603050405020304" pitchFamily="18" charset="0"/>
                <a:ea typeface="'宋体" pitchFamily="34" charset="-122"/>
              </a:endParaRPr>
            </a:p>
          </p:txBody>
        </p:sp>
        <p:sp>
          <p:nvSpPr>
            <p:cNvPr id="12309" name="Line 60"/>
            <p:cNvSpPr>
              <a:spLocks noChangeShapeType="1"/>
            </p:cNvSpPr>
            <p:nvPr/>
          </p:nvSpPr>
          <p:spPr bwMode="auto">
            <a:xfrm>
              <a:off x="5248" y="3992"/>
              <a:ext cx="336" cy="0"/>
            </a:xfrm>
            <a:prstGeom prst="line">
              <a:avLst/>
            </a:prstGeom>
            <a:noFill/>
            <a:ln w="25400">
              <a:solidFill>
                <a:srgbClr val="FF0000"/>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0" name="Line 61"/>
            <p:cNvSpPr>
              <a:spLocks noChangeShapeType="1"/>
            </p:cNvSpPr>
            <p:nvPr/>
          </p:nvSpPr>
          <p:spPr bwMode="auto">
            <a:xfrm>
              <a:off x="4736" y="4000"/>
              <a:ext cx="480" cy="0"/>
            </a:xfrm>
            <a:prstGeom prst="line">
              <a:avLst/>
            </a:prstGeom>
            <a:noFill/>
            <a:ln w="25400">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311" name="Line 62"/>
            <p:cNvSpPr>
              <a:spLocks noChangeShapeType="1"/>
            </p:cNvSpPr>
            <p:nvPr/>
          </p:nvSpPr>
          <p:spPr bwMode="auto">
            <a:xfrm flipH="1">
              <a:off x="4384" y="3992"/>
              <a:ext cx="336" cy="0"/>
            </a:xfrm>
            <a:prstGeom prst="line">
              <a:avLst/>
            </a:prstGeom>
            <a:noFill/>
            <a:ln w="254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2" name="Rectangle 63"/>
            <p:cNvSpPr>
              <a:spLocks noChangeArrowheads="1"/>
            </p:cNvSpPr>
            <p:nvPr/>
          </p:nvSpPr>
          <p:spPr bwMode="auto">
            <a:xfrm>
              <a:off x="4134" y="3705"/>
              <a:ext cx="66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dirty="0">
                  <a:solidFill>
                    <a:srgbClr val="FF0000"/>
                  </a:solidFill>
                  <a:latin typeface="Times New Roman" panose="02020603050405020304" pitchFamily="18" charset="0"/>
                  <a:ea typeface="宋体" panose="02010600030101010101" pitchFamily="2" charset="-122"/>
                </a:rPr>
                <a:t>F</a:t>
              </a:r>
              <a:r>
                <a:rPr kumimoji="1" lang="en-US" altLang="zh-CN" sz="2000" b="1" baseline="-25000" dirty="0">
                  <a:solidFill>
                    <a:srgbClr val="FF0000"/>
                  </a:solidFill>
                  <a:latin typeface="Times New Roman" panose="02020603050405020304" pitchFamily="18" charset="0"/>
                  <a:ea typeface="宋体" panose="02010600030101010101" pitchFamily="2" charset="-122"/>
                </a:rPr>
                <a:t>N</a:t>
              </a:r>
              <a:r>
                <a:rPr kumimoji="1" lang="en-US" altLang="zh-CN" sz="2000" b="1" i="1" dirty="0">
                  <a:solidFill>
                    <a:srgbClr val="FF0000"/>
                  </a:solidFill>
                  <a:latin typeface="Times New Roman" panose="02020603050405020304" pitchFamily="18" charset="0"/>
                  <a:ea typeface="宋体" panose="02010600030101010101" pitchFamily="2" charset="-122"/>
                </a:rPr>
                <a:t>=  ̶ F</a:t>
              </a:r>
              <a:endParaRPr kumimoji="1" lang="en-US" altLang="zh-CN" sz="2000" b="1" i="1" dirty="0">
                <a:solidFill>
                  <a:srgbClr val="FF0000"/>
                </a:solidFill>
                <a:latin typeface="Times New Roman" panose="02020603050405020304" pitchFamily="18" charset="0"/>
                <a:ea typeface="'宋体" pitchFamily="34" charset="-122"/>
              </a:endParaRPr>
            </a:p>
          </p:txBody>
        </p:sp>
      </p:grpSp>
      <p:sp>
        <p:nvSpPr>
          <p:cNvPr id="12306" name="Rectangle 66"/>
          <p:cNvSpPr>
            <a:spLocks noChangeArrowheads="1"/>
          </p:cNvSpPr>
          <p:nvPr/>
        </p:nvSpPr>
        <p:spPr bwMode="auto">
          <a:xfrm>
            <a:off x="425451" y="261847"/>
            <a:ext cx="5370685" cy="585418"/>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3200" b="1" dirty="0">
                <a:solidFill>
                  <a:srgbClr val="0000CC"/>
                </a:solidFill>
                <a:latin typeface="Times New Roman" panose="02020603050405020304" pitchFamily="18" charset="0"/>
                <a:ea typeface="隶书" panose="02010509060101010101" pitchFamily="49" charset="-122"/>
              </a:rPr>
              <a:t>6-2  </a:t>
            </a:r>
            <a:r>
              <a:rPr kumimoji="1" lang="zh-CN" altLang="en-US" sz="3200" b="1" dirty="0">
                <a:solidFill>
                  <a:srgbClr val="0000CC"/>
                </a:solidFill>
                <a:latin typeface="Times New Roman" panose="02020603050405020304" pitchFamily="18" charset="0"/>
                <a:ea typeface="隶书" panose="02010509060101010101" pitchFamily="49" charset="-122"/>
              </a:rPr>
              <a:t>轴向拉压的内力、应力</a:t>
            </a:r>
          </a:p>
        </p:txBody>
      </p:sp>
    </p:spTree>
    <p:extLst>
      <p:ext uri="{BB962C8B-B14F-4D97-AF65-F5344CB8AC3E}">
        <p14:creationId xmlns:p14="http://schemas.microsoft.com/office/powerpoint/2010/main" val="32558799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8964"/>
                                        </p:tgtEl>
                                        <p:attrNameLst>
                                          <p:attrName>style.visibility</p:attrName>
                                        </p:attrNameLst>
                                      </p:cBhvr>
                                      <p:to>
                                        <p:strVal val="visible"/>
                                      </p:to>
                                    </p:set>
                                    <p:animEffect transition="in" filter="dissolve">
                                      <p:cBhvr>
                                        <p:cTn id="7" dur="500"/>
                                        <p:tgtEl>
                                          <p:spTgt spid="16896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2353"/>
                                        </p:tgtEl>
                                        <p:attrNameLst>
                                          <p:attrName>style.visibility</p:attrName>
                                        </p:attrNameLst>
                                      </p:cBhvr>
                                      <p:to>
                                        <p:strVal val="visible"/>
                                      </p:to>
                                    </p:set>
                                    <p:animEffect transition="in" filter="blinds(horizontal)">
                                      <p:cBhvr>
                                        <p:cTn id="12" dur="500"/>
                                        <p:tgtEl>
                                          <p:spTgt spid="1235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68972"/>
                                        </p:tgtEl>
                                        <p:attrNameLst>
                                          <p:attrName>style.visibility</p:attrName>
                                        </p:attrNameLst>
                                      </p:cBhvr>
                                      <p:to>
                                        <p:strVal val="visible"/>
                                      </p:to>
                                    </p:set>
                                    <p:animEffect transition="in" filter="blinds(horizontal)">
                                      <p:cBhvr>
                                        <p:cTn id="17" dur="500"/>
                                        <p:tgtEl>
                                          <p:spTgt spid="16897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2355"/>
                                        </p:tgtEl>
                                        <p:attrNameLst>
                                          <p:attrName>style.visibility</p:attrName>
                                        </p:attrNameLst>
                                      </p:cBhvr>
                                      <p:to>
                                        <p:strVal val="visible"/>
                                      </p:to>
                                    </p:set>
                                    <p:animEffect transition="in" filter="blinds(horizontal)">
                                      <p:cBhvr>
                                        <p:cTn id="22" dur="500"/>
                                        <p:tgtEl>
                                          <p:spTgt spid="1235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2354"/>
                                        </p:tgtEl>
                                        <p:attrNameLst>
                                          <p:attrName>style.visibility</p:attrName>
                                        </p:attrNameLst>
                                      </p:cBhvr>
                                      <p:to>
                                        <p:strVal val="visible"/>
                                      </p:to>
                                    </p:set>
                                    <p:animEffect transition="in" filter="blinds(horizontal)">
                                      <p:cBhvr>
                                        <p:cTn id="27" dur="500"/>
                                        <p:tgtEl>
                                          <p:spTgt spid="1235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68992"/>
                                        </p:tgtEl>
                                        <p:attrNameLst>
                                          <p:attrName>style.visibility</p:attrName>
                                        </p:attrNameLst>
                                      </p:cBhvr>
                                      <p:to>
                                        <p:strVal val="visible"/>
                                      </p:to>
                                    </p:set>
                                    <p:animEffect transition="in" filter="dissolve">
                                      <p:cBhvr>
                                        <p:cTn id="32" dur="500"/>
                                        <p:tgtEl>
                                          <p:spTgt spid="16899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12356"/>
                                        </p:tgtEl>
                                        <p:attrNameLst>
                                          <p:attrName>style.visibility</p:attrName>
                                        </p:attrNameLst>
                                      </p:cBhvr>
                                      <p:to>
                                        <p:strVal val="visible"/>
                                      </p:to>
                                    </p:set>
                                    <p:animEffect transition="in" filter="blinds(horizontal)">
                                      <p:cBhvr>
                                        <p:cTn id="37" dur="500"/>
                                        <p:tgtEl>
                                          <p:spTgt spid="12356"/>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68993"/>
                                        </p:tgtEl>
                                        <p:attrNameLst>
                                          <p:attrName>style.visibility</p:attrName>
                                        </p:attrNameLst>
                                      </p:cBhvr>
                                      <p:to>
                                        <p:strVal val="visible"/>
                                      </p:to>
                                    </p:set>
                                    <p:animEffect transition="in" filter="dissolve">
                                      <p:cBhvr>
                                        <p:cTn id="42" dur="500"/>
                                        <p:tgtEl>
                                          <p:spTgt spid="168993"/>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68994"/>
                                        </p:tgtEl>
                                        <p:attrNameLst>
                                          <p:attrName>style.visibility</p:attrName>
                                        </p:attrNameLst>
                                      </p:cBhvr>
                                      <p:to>
                                        <p:strVal val="visible"/>
                                      </p:to>
                                    </p:set>
                                    <p:animEffect transition="in" filter="dissolve">
                                      <p:cBhvr>
                                        <p:cTn id="47" dur="500"/>
                                        <p:tgtEl>
                                          <p:spTgt spid="168994"/>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12357"/>
                                        </p:tgtEl>
                                        <p:attrNameLst>
                                          <p:attrName>style.visibility</p:attrName>
                                        </p:attrNameLst>
                                      </p:cBhvr>
                                      <p:to>
                                        <p:strVal val="visible"/>
                                      </p:to>
                                    </p:set>
                                    <p:animEffect transition="in" filter="blinds(horizontal)">
                                      <p:cBhvr>
                                        <p:cTn id="52" dur="500"/>
                                        <p:tgtEl>
                                          <p:spTgt spid="12357"/>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169004"/>
                                        </p:tgtEl>
                                        <p:attrNameLst>
                                          <p:attrName>style.visibility</p:attrName>
                                        </p:attrNameLst>
                                      </p:cBhvr>
                                      <p:to>
                                        <p:strVal val="visible"/>
                                      </p:to>
                                    </p:set>
                                    <p:animEffect transition="in" filter="blinds(horizontal)">
                                      <p:cBhvr>
                                        <p:cTn id="57" dur="500"/>
                                        <p:tgtEl>
                                          <p:spTgt spid="169004"/>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12358"/>
                                        </p:tgtEl>
                                        <p:attrNameLst>
                                          <p:attrName>style.visibility</p:attrName>
                                        </p:attrNameLst>
                                      </p:cBhvr>
                                      <p:to>
                                        <p:strVal val="visible"/>
                                      </p:to>
                                    </p:set>
                                    <p:animEffect transition="in" filter="blinds(horizontal)">
                                      <p:cBhvr>
                                        <p:cTn id="62" dur="500"/>
                                        <p:tgtEl>
                                          <p:spTgt spid="12358"/>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12360"/>
                                        </p:tgtEl>
                                        <p:attrNameLst>
                                          <p:attrName>style.visibility</p:attrName>
                                        </p:attrNameLst>
                                      </p:cBhvr>
                                      <p:to>
                                        <p:strVal val="visible"/>
                                      </p:to>
                                    </p:set>
                                    <p:animEffect transition="in" filter="blinds(horizontal)">
                                      <p:cBhvr>
                                        <p:cTn id="67" dur="500"/>
                                        <p:tgtEl>
                                          <p:spTgt spid="12360"/>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169017"/>
                                        </p:tgtEl>
                                        <p:attrNameLst>
                                          <p:attrName>style.visibility</p:attrName>
                                        </p:attrNameLst>
                                      </p:cBhvr>
                                      <p:to>
                                        <p:strVal val="visible"/>
                                      </p:to>
                                    </p:set>
                                    <p:animEffect transition="in" filter="blinds(horizontal)">
                                      <p:cBhvr>
                                        <p:cTn id="72" dur="500"/>
                                        <p:tgtEl>
                                          <p:spTgt spid="169017"/>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9" presetClass="entr" presetSubtype="0" fill="hold" grpId="0" nodeType="clickEffect">
                                  <p:stCondLst>
                                    <p:cond delay="0"/>
                                  </p:stCondLst>
                                  <p:childTnLst>
                                    <p:set>
                                      <p:cBhvr>
                                        <p:cTn id="76" dur="1" fill="hold">
                                          <p:stCondLst>
                                            <p:cond delay="0"/>
                                          </p:stCondLst>
                                        </p:cTn>
                                        <p:tgtEl>
                                          <p:spTgt spid="168995"/>
                                        </p:tgtEl>
                                        <p:attrNameLst>
                                          <p:attrName>style.visibility</p:attrName>
                                        </p:attrNameLst>
                                      </p:cBhvr>
                                      <p:to>
                                        <p:strVal val="visible"/>
                                      </p:to>
                                    </p:set>
                                    <p:animEffect transition="in" filter="dissolve">
                                      <p:cBhvr>
                                        <p:cTn id="77" dur="500"/>
                                        <p:tgtEl>
                                          <p:spTgt spid="168995"/>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9" presetClass="entr" presetSubtype="0" fill="hold" grpId="0" nodeType="clickEffect">
                                  <p:stCondLst>
                                    <p:cond delay="0"/>
                                  </p:stCondLst>
                                  <p:childTnLst>
                                    <p:set>
                                      <p:cBhvr>
                                        <p:cTn id="81" dur="1" fill="hold">
                                          <p:stCondLst>
                                            <p:cond delay="0"/>
                                          </p:stCondLst>
                                        </p:cTn>
                                        <p:tgtEl>
                                          <p:spTgt spid="168996"/>
                                        </p:tgtEl>
                                        <p:attrNameLst>
                                          <p:attrName>style.visibility</p:attrName>
                                        </p:attrNameLst>
                                      </p:cBhvr>
                                      <p:to>
                                        <p:strVal val="visible"/>
                                      </p:to>
                                    </p:set>
                                    <p:animEffect transition="in" filter="dissolve">
                                      <p:cBhvr>
                                        <p:cTn id="82" dur="500"/>
                                        <p:tgtEl>
                                          <p:spTgt spid="1689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4" grpId="0" autoUpdateAnimBg="0"/>
      <p:bldP spid="168992" grpId="0" autoUpdateAnimBg="0"/>
      <p:bldP spid="168993" grpId="0" autoUpdateAnimBg="0"/>
      <p:bldP spid="168994" grpId="0"/>
      <p:bldP spid="168995" grpId="0" animBg="1" autoUpdateAnimBg="0"/>
      <p:bldP spid="168996"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9987" name="Group 3"/>
          <p:cNvGrpSpPr>
            <a:grpSpLocks/>
          </p:cNvGrpSpPr>
          <p:nvPr/>
        </p:nvGrpSpPr>
        <p:grpSpPr bwMode="auto">
          <a:xfrm>
            <a:off x="5555440" y="2154908"/>
            <a:ext cx="731838" cy="584200"/>
            <a:chOff x="2707" y="2416"/>
            <a:chExt cx="461" cy="368"/>
          </a:xfrm>
        </p:grpSpPr>
        <p:sp>
          <p:nvSpPr>
            <p:cNvPr id="169988" name="Rectangle 4"/>
            <p:cNvSpPr>
              <a:spLocks noChangeArrowheads="1"/>
            </p:cNvSpPr>
            <p:nvPr/>
          </p:nvSpPr>
          <p:spPr bwMode="auto">
            <a:xfrm>
              <a:off x="2707" y="2416"/>
              <a:ext cx="27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defRPr/>
              </a:pPr>
              <a:r>
                <a:rPr kumimoji="1" lang="en-US" altLang="zh-CN" sz="2000" dirty="0">
                  <a:latin typeface="Times New Roman" pitchFamily="18" charset="0"/>
                </a:rPr>
                <a:t>20</a:t>
              </a:r>
              <a:endParaRPr kumimoji="1" lang="en-US" altLang="zh-CN" sz="2000" dirty="0">
                <a:latin typeface="Times New Roman" pitchFamily="18" charset="0"/>
                <a:ea typeface="'宋体" pitchFamily="34" charset="-122"/>
              </a:endParaRPr>
            </a:p>
          </p:txBody>
        </p:sp>
        <p:sp>
          <p:nvSpPr>
            <p:cNvPr id="13395" name="Line 5"/>
            <p:cNvSpPr>
              <a:spLocks noChangeShapeType="1"/>
            </p:cNvSpPr>
            <p:nvPr/>
          </p:nvSpPr>
          <p:spPr bwMode="auto">
            <a:xfrm>
              <a:off x="2976" y="2496"/>
              <a:ext cx="192" cy="0"/>
            </a:xfrm>
            <a:prstGeom prst="line">
              <a:avLst/>
            </a:prstGeom>
            <a:noFill/>
            <a:ln w="317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96" name="Line 6"/>
            <p:cNvSpPr>
              <a:spLocks noChangeShapeType="1"/>
            </p:cNvSpPr>
            <p:nvPr/>
          </p:nvSpPr>
          <p:spPr bwMode="auto">
            <a:xfrm>
              <a:off x="2976" y="2496"/>
              <a:ext cx="0" cy="288"/>
            </a:xfrm>
            <a:prstGeom prst="line">
              <a:avLst/>
            </a:prstGeom>
            <a:noFill/>
            <a:ln w="317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97" name="Line 7"/>
            <p:cNvSpPr>
              <a:spLocks noChangeShapeType="1"/>
            </p:cNvSpPr>
            <p:nvPr/>
          </p:nvSpPr>
          <p:spPr bwMode="auto">
            <a:xfrm>
              <a:off x="2976" y="2784"/>
              <a:ext cx="192" cy="0"/>
            </a:xfrm>
            <a:prstGeom prst="line">
              <a:avLst/>
            </a:prstGeom>
            <a:noFill/>
            <a:ln w="317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98" name="Line 8"/>
            <p:cNvSpPr>
              <a:spLocks noChangeShapeType="1"/>
            </p:cNvSpPr>
            <p:nvPr/>
          </p:nvSpPr>
          <p:spPr bwMode="auto">
            <a:xfrm>
              <a:off x="3168" y="2496"/>
              <a:ext cx="0" cy="288"/>
            </a:xfrm>
            <a:prstGeom prst="line">
              <a:avLst/>
            </a:prstGeom>
            <a:noFill/>
            <a:ln w="38100">
              <a:solidFill>
                <a:srgbClr val="008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99" name="Line 9"/>
            <p:cNvSpPr>
              <a:spLocks noChangeShapeType="1"/>
            </p:cNvSpPr>
            <p:nvPr/>
          </p:nvSpPr>
          <p:spPr bwMode="auto">
            <a:xfrm flipH="1">
              <a:off x="2736" y="2640"/>
              <a:ext cx="240" cy="0"/>
            </a:xfrm>
            <a:prstGeom prst="line">
              <a:avLst/>
            </a:prstGeom>
            <a:noFill/>
            <a:ln w="31750">
              <a:solidFill>
                <a:srgbClr val="FF0000"/>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169996" name="Object 12"/>
          <p:cNvGraphicFramePr>
            <a:graphicFrameLocks/>
          </p:cNvGraphicFramePr>
          <p:nvPr>
            <p:extLst>
              <p:ext uri="{D42A27DB-BD31-4B8C-83A1-F6EECF244321}">
                <p14:modId xmlns:p14="http://schemas.microsoft.com/office/powerpoint/2010/main" val="1236967033"/>
              </p:ext>
            </p:extLst>
          </p:nvPr>
        </p:nvGraphicFramePr>
        <p:xfrm>
          <a:off x="879016" y="1557724"/>
          <a:ext cx="1439862" cy="508000"/>
        </p:xfrm>
        <a:graphic>
          <a:graphicData uri="http://schemas.openxmlformats.org/presentationml/2006/ole">
            <mc:AlternateContent xmlns:mc="http://schemas.openxmlformats.org/markup-compatibility/2006">
              <mc:Choice xmlns:v="urn:schemas-microsoft-com:vml" Requires="v">
                <p:oleObj name="Equation" r:id="rId2" imgW="749160" imgH="241200" progId="Equation.DSMT4">
                  <p:embed/>
                </p:oleObj>
              </mc:Choice>
              <mc:Fallback>
                <p:oleObj name="Equation" r:id="rId2" imgW="749160" imgH="241200" progId="Equation.DSMT4">
                  <p:embed/>
                  <p:pic>
                    <p:nvPicPr>
                      <p:cNvPr id="0" name=""/>
                      <p:cNvPicPr>
                        <a:picLocks noChangeArrowheads="1"/>
                      </p:cNvPicPr>
                      <p:nvPr/>
                    </p:nvPicPr>
                    <p:blipFill>
                      <a:blip r:embed="rId3"/>
                      <a:srcRect/>
                      <a:stretch>
                        <a:fillRect/>
                      </a:stretch>
                    </p:blipFill>
                    <p:spPr bwMode="auto">
                      <a:xfrm>
                        <a:off x="879016" y="1557724"/>
                        <a:ext cx="1439862" cy="508000"/>
                      </a:xfrm>
                      <a:prstGeom prst="rect">
                        <a:avLst/>
                      </a:prstGeom>
                      <a:noFill/>
                      <a:ln>
                        <a:noFill/>
                      </a:ln>
                      <a:effectLst/>
                    </p:spPr>
                  </p:pic>
                </p:oleObj>
              </mc:Fallback>
            </mc:AlternateContent>
          </a:graphicData>
        </a:graphic>
      </p:graphicFrame>
      <p:grpSp>
        <p:nvGrpSpPr>
          <p:cNvPr id="169997" name="Group 13"/>
          <p:cNvGrpSpPr>
            <a:grpSpLocks/>
          </p:cNvGrpSpPr>
          <p:nvPr/>
        </p:nvGrpSpPr>
        <p:grpSpPr bwMode="auto">
          <a:xfrm>
            <a:off x="5566547" y="2826420"/>
            <a:ext cx="2360613" cy="666750"/>
            <a:chOff x="3615" y="2122"/>
            <a:chExt cx="1487" cy="420"/>
          </a:xfrm>
        </p:grpSpPr>
        <p:sp>
          <p:nvSpPr>
            <p:cNvPr id="13383" name="Line 14"/>
            <p:cNvSpPr>
              <a:spLocks noChangeShapeType="1"/>
            </p:cNvSpPr>
            <p:nvPr/>
          </p:nvSpPr>
          <p:spPr bwMode="auto">
            <a:xfrm>
              <a:off x="3874" y="2251"/>
              <a:ext cx="0" cy="288"/>
            </a:xfrm>
            <a:prstGeom prst="line">
              <a:avLst/>
            </a:prstGeom>
            <a:noFill/>
            <a:ln w="317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84" name="Line 15"/>
            <p:cNvSpPr>
              <a:spLocks noChangeShapeType="1"/>
            </p:cNvSpPr>
            <p:nvPr/>
          </p:nvSpPr>
          <p:spPr bwMode="auto">
            <a:xfrm>
              <a:off x="4370" y="2251"/>
              <a:ext cx="0" cy="288"/>
            </a:xfrm>
            <a:prstGeom prst="line">
              <a:avLst/>
            </a:prstGeom>
            <a:noFill/>
            <a:ln w="317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85" name="Line 16"/>
            <p:cNvSpPr>
              <a:spLocks noChangeShapeType="1"/>
            </p:cNvSpPr>
            <p:nvPr/>
          </p:nvSpPr>
          <p:spPr bwMode="auto">
            <a:xfrm>
              <a:off x="3874" y="2251"/>
              <a:ext cx="732" cy="0"/>
            </a:xfrm>
            <a:prstGeom prst="line">
              <a:avLst/>
            </a:prstGeom>
            <a:noFill/>
            <a:ln w="317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86" name="Line 17"/>
            <p:cNvSpPr>
              <a:spLocks noChangeShapeType="1"/>
            </p:cNvSpPr>
            <p:nvPr/>
          </p:nvSpPr>
          <p:spPr bwMode="auto">
            <a:xfrm>
              <a:off x="3874" y="2539"/>
              <a:ext cx="732" cy="0"/>
            </a:xfrm>
            <a:prstGeom prst="line">
              <a:avLst/>
            </a:prstGeom>
            <a:noFill/>
            <a:ln w="317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87" name="Line 18"/>
            <p:cNvSpPr>
              <a:spLocks noChangeShapeType="1"/>
            </p:cNvSpPr>
            <p:nvPr/>
          </p:nvSpPr>
          <p:spPr bwMode="auto">
            <a:xfrm flipH="1">
              <a:off x="3634" y="2395"/>
              <a:ext cx="240" cy="0"/>
            </a:xfrm>
            <a:prstGeom prst="line">
              <a:avLst/>
            </a:prstGeom>
            <a:noFill/>
            <a:ln w="31750">
              <a:solidFill>
                <a:srgbClr val="FF0000"/>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88" name="Line 19"/>
            <p:cNvSpPr>
              <a:spLocks noChangeShapeType="1"/>
            </p:cNvSpPr>
            <p:nvPr/>
          </p:nvSpPr>
          <p:spPr bwMode="auto">
            <a:xfrm>
              <a:off x="4034" y="2395"/>
              <a:ext cx="336" cy="0"/>
            </a:xfrm>
            <a:prstGeom prst="line">
              <a:avLst/>
            </a:prstGeom>
            <a:noFill/>
            <a:ln w="31750">
              <a:solidFill>
                <a:srgbClr val="FF0000"/>
              </a:solidFill>
              <a:round/>
              <a:headEnd type="triangle"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0004" name="Rectangle 20"/>
            <p:cNvSpPr>
              <a:spLocks noChangeArrowheads="1"/>
            </p:cNvSpPr>
            <p:nvPr/>
          </p:nvSpPr>
          <p:spPr bwMode="auto">
            <a:xfrm>
              <a:off x="3615" y="2158"/>
              <a:ext cx="39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defRPr/>
              </a:pPr>
              <a:r>
                <a:rPr kumimoji="1" lang="en-US" altLang="zh-CN" sz="2000" dirty="0">
                  <a:latin typeface="Times New Roman" pitchFamily="18" charset="0"/>
                </a:rPr>
                <a:t>20</a:t>
              </a:r>
              <a:endParaRPr kumimoji="1" lang="en-US" altLang="zh-CN" sz="2000" dirty="0">
                <a:latin typeface="Times New Roman" pitchFamily="18" charset="0"/>
                <a:ea typeface="'宋体" pitchFamily="34" charset="-122"/>
              </a:endParaRPr>
            </a:p>
          </p:txBody>
        </p:sp>
        <p:sp>
          <p:nvSpPr>
            <p:cNvPr id="170005" name="Rectangle 21"/>
            <p:cNvSpPr>
              <a:spLocks noChangeArrowheads="1"/>
            </p:cNvSpPr>
            <p:nvPr/>
          </p:nvSpPr>
          <p:spPr bwMode="auto">
            <a:xfrm>
              <a:off x="4093" y="2195"/>
              <a:ext cx="27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dirty="0">
                  <a:latin typeface="Times New Roman" panose="02020603050405020304" pitchFamily="18" charset="0"/>
                </a:rPr>
                <a:t>10</a:t>
              </a:r>
              <a:endParaRPr kumimoji="1" lang="en-US" altLang="zh-CN" sz="2000" dirty="0">
                <a:latin typeface="Times New Roman" panose="02020603050405020304" pitchFamily="18" charset="0"/>
                <a:ea typeface="'宋体" pitchFamily="34" charset="-122"/>
              </a:endParaRPr>
            </a:p>
          </p:txBody>
        </p:sp>
        <p:sp>
          <p:nvSpPr>
            <p:cNvPr id="13391" name="Line 22"/>
            <p:cNvSpPr>
              <a:spLocks noChangeShapeType="1"/>
            </p:cNvSpPr>
            <p:nvPr/>
          </p:nvSpPr>
          <p:spPr bwMode="auto">
            <a:xfrm flipH="1">
              <a:off x="4626" y="2387"/>
              <a:ext cx="336" cy="0"/>
            </a:xfrm>
            <a:prstGeom prst="line">
              <a:avLst/>
            </a:prstGeom>
            <a:noFill/>
            <a:ln w="31750">
              <a:solidFill>
                <a:srgbClr val="FF0000"/>
              </a:solidFill>
              <a:round/>
              <a:headEnd type="triangle"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3392" name="Object 23"/>
            <p:cNvGraphicFramePr>
              <a:graphicFrameLocks/>
            </p:cNvGraphicFramePr>
            <p:nvPr>
              <p:extLst>
                <p:ext uri="{D42A27DB-BD31-4B8C-83A1-F6EECF244321}">
                  <p14:modId xmlns:p14="http://schemas.microsoft.com/office/powerpoint/2010/main" val="901060048"/>
                </p:ext>
              </p:extLst>
            </p:nvPr>
          </p:nvGraphicFramePr>
          <p:xfrm>
            <a:off x="4823" y="2122"/>
            <a:ext cx="279" cy="238"/>
          </p:xfrm>
          <a:graphic>
            <a:graphicData uri="http://schemas.openxmlformats.org/presentationml/2006/ole">
              <mc:AlternateContent xmlns:mc="http://schemas.openxmlformats.org/markup-compatibility/2006">
                <mc:Choice xmlns:v="urn:schemas-microsoft-com:vml" Requires="v">
                  <p:oleObj name="Equation" r:id="rId4" imgW="241200" imgH="241200" progId="Equation.DSMT4">
                    <p:embed/>
                  </p:oleObj>
                </mc:Choice>
                <mc:Fallback>
                  <p:oleObj name="Equation" r:id="rId4" imgW="241200" imgH="241200" progId="Equation.DSMT4">
                    <p:embed/>
                    <p:pic>
                      <p:nvPicPr>
                        <p:cNvPr id="0" name=""/>
                        <p:cNvPicPr>
                          <a:picLocks noChangeArrowheads="1"/>
                        </p:cNvPicPr>
                        <p:nvPr/>
                      </p:nvPicPr>
                      <p:blipFill>
                        <a:blip r:embed="rId5"/>
                        <a:srcRect/>
                        <a:stretch>
                          <a:fillRect/>
                        </a:stretch>
                      </p:blipFill>
                      <p:spPr bwMode="auto">
                        <a:xfrm>
                          <a:off x="4823" y="2122"/>
                          <a:ext cx="279" cy="238"/>
                        </a:xfrm>
                        <a:prstGeom prst="rect">
                          <a:avLst/>
                        </a:prstGeom>
                        <a:noFill/>
                        <a:ln>
                          <a:noFill/>
                        </a:ln>
                        <a:effectLst/>
                      </p:spPr>
                    </p:pic>
                  </p:oleObj>
                </mc:Fallback>
              </mc:AlternateContent>
            </a:graphicData>
          </a:graphic>
        </p:graphicFrame>
        <p:sp>
          <p:nvSpPr>
            <p:cNvPr id="13393" name="Line 24"/>
            <p:cNvSpPr>
              <a:spLocks noChangeShapeType="1"/>
            </p:cNvSpPr>
            <p:nvPr/>
          </p:nvSpPr>
          <p:spPr bwMode="auto">
            <a:xfrm>
              <a:off x="4616" y="2254"/>
              <a:ext cx="0" cy="288"/>
            </a:xfrm>
            <a:prstGeom prst="line">
              <a:avLst/>
            </a:prstGeom>
            <a:noFill/>
            <a:ln w="38100">
              <a:solidFill>
                <a:srgbClr val="008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170009" name="Object 25"/>
          <p:cNvGraphicFramePr>
            <a:graphicFrameLocks/>
          </p:cNvGraphicFramePr>
          <p:nvPr>
            <p:extLst>
              <p:ext uri="{D42A27DB-BD31-4B8C-83A1-F6EECF244321}">
                <p14:modId xmlns:p14="http://schemas.microsoft.com/office/powerpoint/2010/main" val="3671929108"/>
              </p:ext>
            </p:extLst>
          </p:nvPr>
        </p:nvGraphicFramePr>
        <p:xfrm>
          <a:off x="861554" y="2176849"/>
          <a:ext cx="1831569" cy="472793"/>
        </p:xfrm>
        <a:graphic>
          <a:graphicData uri="http://schemas.openxmlformats.org/presentationml/2006/ole">
            <mc:AlternateContent xmlns:mc="http://schemas.openxmlformats.org/markup-compatibility/2006">
              <mc:Choice xmlns:v="urn:schemas-microsoft-com:vml" Requires="v">
                <p:oleObj name="Equation" r:id="rId6" imgW="1015920" imgH="241200" progId="Equation.DSMT4">
                  <p:embed/>
                </p:oleObj>
              </mc:Choice>
              <mc:Fallback>
                <p:oleObj name="Equation" r:id="rId6" imgW="1015920" imgH="241200" progId="Equation.DSMT4">
                  <p:embed/>
                  <p:pic>
                    <p:nvPicPr>
                      <p:cNvPr id="0" name=""/>
                      <p:cNvPicPr>
                        <a:picLocks noChangeArrowheads="1"/>
                      </p:cNvPicPr>
                      <p:nvPr/>
                    </p:nvPicPr>
                    <p:blipFill>
                      <a:blip r:embed="rId7"/>
                      <a:srcRect/>
                      <a:stretch>
                        <a:fillRect/>
                      </a:stretch>
                    </p:blipFill>
                    <p:spPr bwMode="auto">
                      <a:xfrm>
                        <a:off x="861554" y="2176849"/>
                        <a:ext cx="1831569" cy="472793"/>
                      </a:xfrm>
                      <a:prstGeom prst="rect">
                        <a:avLst/>
                      </a:prstGeom>
                      <a:noFill/>
                      <a:ln>
                        <a:noFill/>
                      </a:ln>
                      <a:effectLst/>
                    </p:spPr>
                  </p:pic>
                </p:oleObj>
              </mc:Fallback>
            </mc:AlternateContent>
          </a:graphicData>
        </a:graphic>
      </p:graphicFrame>
      <p:graphicFrame>
        <p:nvGraphicFramePr>
          <p:cNvPr id="170010" name="Object 26"/>
          <p:cNvGraphicFramePr>
            <a:graphicFrameLocks/>
          </p:cNvGraphicFramePr>
          <p:nvPr>
            <p:extLst>
              <p:ext uri="{D42A27DB-BD31-4B8C-83A1-F6EECF244321}">
                <p14:modId xmlns:p14="http://schemas.microsoft.com/office/powerpoint/2010/main" val="2977786180"/>
              </p:ext>
            </p:extLst>
          </p:nvPr>
        </p:nvGraphicFramePr>
        <p:xfrm>
          <a:off x="600639" y="2772470"/>
          <a:ext cx="2629125" cy="481793"/>
        </p:xfrm>
        <a:graphic>
          <a:graphicData uri="http://schemas.openxmlformats.org/presentationml/2006/ole">
            <mc:AlternateContent xmlns:mc="http://schemas.openxmlformats.org/markup-compatibility/2006">
              <mc:Choice xmlns:v="urn:schemas-microsoft-com:vml" Requires="v">
                <p:oleObj name="Equation" r:id="rId8" imgW="1307880" imgH="241200" progId="Equation.DSMT4">
                  <p:embed/>
                </p:oleObj>
              </mc:Choice>
              <mc:Fallback>
                <p:oleObj name="Equation" r:id="rId8" imgW="1307880" imgH="241200" progId="Equation.DSMT4">
                  <p:embed/>
                  <p:pic>
                    <p:nvPicPr>
                      <p:cNvPr id="0" name=""/>
                      <p:cNvPicPr>
                        <a:picLocks noChangeArrowheads="1"/>
                      </p:cNvPicPr>
                      <p:nvPr/>
                    </p:nvPicPr>
                    <p:blipFill>
                      <a:blip r:embed="rId9"/>
                      <a:srcRect/>
                      <a:stretch>
                        <a:fillRect/>
                      </a:stretch>
                    </p:blipFill>
                    <p:spPr bwMode="auto">
                      <a:xfrm>
                        <a:off x="600639" y="2772470"/>
                        <a:ext cx="2629125" cy="481793"/>
                      </a:xfrm>
                      <a:prstGeom prst="rect">
                        <a:avLst/>
                      </a:prstGeom>
                      <a:noFill/>
                      <a:ln>
                        <a:noFill/>
                      </a:ln>
                      <a:effectLst/>
                    </p:spPr>
                  </p:pic>
                </p:oleObj>
              </mc:Fallback>
            </mc:AlternateContent>
          </a:graphicData>
        </a:graphic>
      </p:graphicFrame>
      <p:grpSp>
        <p:nvGrpSpPr>
          <p:cNvPr id="170027" name="Group 43"/>
          <p:cNvGrpSpPr>
            <a:grpSpLocks/>
          </p:cNvGrpSpPr>
          <p:nvPr/>
        </p:nvGrpSpPr>
        <p:grpSpPr bwMode="auto">
          <a:xfrm>
            <a:off x="6069783" y="992858"/>
            <a:ext cx="342900" cy="1120775"/>
            <a:chOff x="746" y="2304"/>
            <a:chExt cx="216" cy="706"/>
          </a:xfrm>
        </p:grpSpPr>
        <p:sp>
          <p:nvSpPr>
            <p:cNvPr id="13366" name="Line 44"/>
            <p:cNvSpPr>
              <a:spLocks noChangeShapeType="1"/>
            </p:cNvSpPr>
            <p:nvPr/>
          </p:nvSpPr>
          <p:spPr bwMode="auto">
            <a:xfrm>
              <a:off x="912" y="2304"/>
              <a:ext cx="0" cy="576"/>
            </a:xfrm>
            <a:prstGeom prst="line">
              <a:avLst/>
            </a:prstGeom>
            <a:noFill/>
            <a:ln w="22225">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67" name="Rectangle 45"/>
            <p:cNvSpPr>
              <a:spLocks noChangeArrowheads="1"/>
            </p:cNvSpPr>
            <p:nvPr/>
          </p:nvSpPr>
          <p:spPr bwMode="auto">
            <a:xfrm>
              <a:off x="746" y="2758"/>
              <a:ext cx="21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i="1" dirty="0">
                  <a:latin typeface="Times New Roman" panose="02020603050405020304" pitchFamily="18" charset="0"/>
                </a:rPr>
                <a:t>A</a:t>
              </a:r>
              <a:endParaRPr kumimoji="1" lang="en-US" altLang="zh-CN" sz="2000" i="1" dirty="0">
                <a:latin typeface="Times New Roman" panose="02020603050405020304" pitchFamily="18" charset="0"/>
                <a:ea typeface="'宋体" pitchFamily="34" charset="-122"/>
              </a:endParaRPr>
            </a:p>
          </p:txBody>
        </p:sp>
      </p:grpSp>
      <p:grpSp>
        <p:nvGrpSpPr>
          <p:cNvPr id="170030" name="Group 46"/>
          <p:cNvGrpSpPr>
            <a:grpSpLocks/>
          </p:cNvGrpSpPr>
          <p:nvPr/>
        </p:nvGrpSpPr>
        <p:grpSpPr bwMode="auto">
          <a:xfrm>
            <a:off x="6858769" y="1091285"/>
            <a:ext cx="342900" cy="1017588"/>
            <a:chOff x="1243" y="2304"/>
            <a:chExt cx="216" cy="641"/>
          </a:xfrm>
        </p:grpSpPr>
        <p:sp>
          <p:nvSpPr>
            <p:cNvPr id="13364" name="Line 47"/>
            <p:cNvSpPr>
              <a:spLocks noChangeShapeType="1"/>
            </p:cNvSpPr>
            <p:nvPr/>
          </p:nvSpPr>
          <p:spPr bwMode="auto">
            <a:xfrm>
              <a:off x="1440" y="2304"/>
              <a:ext cx="0" cy="576"/>
            </a:xfrm>
            <a:prstGeom prst="line">
              <a:avLst/>
            </a:prstGeom>
            <a:noFill/>
            <a:ln w="22225">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65" name="Rectangle 48"/>
            <p:cNvSpPr>
              <a:spLocks noChangeArrowheads="1"/>
            </p:cNvSpPr>
            <p:nvPr/>
          </p:nvSpPr>
          <p:spPr bwMode="auto">
            <a:xfrm>
              <a:off x="1243" y="2693"/>
              <a:ext cx="21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i="1" dirty="0">
                  <a:latin typeface="Times New Roman" panose="02020603050405020304" pitchFamily="18" charset="0"/>
                </a:rPr>
                <a:t>B</a:t>
              </a:r>
              <a:endParaRPr kumimoji="1" lang="en-US" altLang="zh-CN" sz="2000" i="1" dirty="0">
                <a:latin typeface="Times New Roman" panose="02020603050405020304" pitchFamily="18" charset="0"/>
                <a:ea typeface="'宋体" pitchFamily="34" charset="-122"/>
              </a:endParaRPr>
            </a:p>
          </p:txBody>
        </p:sp>
      </p:grpSp>
      <p:grpSp>
        <p:nvGrpSpPr>
          <p:cNvPr id="170033" name="Group 49"/>
          <p:cNvGrpSpPr>
            <a:grpSpLocks/>
          </p:cNvGrpSpPr>
          <p:nvPr/>
        </p:nvGrpSpPr>
        <p:grpSpPr bwMode="auto">
          <a:xfrm>
            <a:off x="7790635" y="980160"/>
            <a:ext cx="357188" cy="1112838"/>
            <a:chOff x="1782" y="2304"/>
            <a:chExt cx="225" cy="701"/>
          </a:xfrm>
        </p:grpSpPr>
        <p:sp>
          <p:nvSpPr>
            <p:cNvPr id="13362" name="Line 50"/>
            <p:cNvSpPr>
              <a:spLocks noChangeShapeType="1"/>
            </p:cNvSpPr>
            <p:nvPr/>
          </p:nvSpPr>
          <p:spPr bwMode="auto">
            <a:xfrm>
              <a:off x="1968" y="2304"/>
              <a:ext cx="0" cy="576"/>
            </a:xfrm>
            <a:prstGeom prst="line">
              <a:avLst/>
            </a:prstGeom>
            <a:noFill/>
            <a:ln w="22225">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63" name="Rectangle 51"/>
            <p:cNvSpPr>
              <a:spLocks noChangeArrowheads="1"/>
            </p:cNvSpPr>
            <p:nvPr/>
          </p:nvSpPr>
          <p:spPr bwMode="auto">
            <a:xfrm>
              <a:off x="1782" y="2753"/>
              <a:ext cx="22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i="1" dirty="0">
                  <a:latin typeface="Times New Roman" panose="02020603050405020304" pitchFamily="18" charset="0"/>
                  <a:ea typeface="宋体" panose="02010600030101010101" pitchFamily="2" charset="-122"/>
                </a:rPr>
                <a:t>C</a:t>
              </a:r>
            </a:p>
          </p:txBody>
        </p:sp>
      </p:grpSp>
      <p:sp>
        <p:nvSpPr>
          <p:cNvPr id="170036" name="Text Box 52"/>
          <p:cNvSpPr txBox="1">
            <a:spLocks noChangeArrowheads="1"/>
          </p:cNvSpPr>
          <p:nvPr/>
        </p:nvSpPr>
        <p:spPr bwMode="auto">
          <a:xfrm>
            <a:off x="302394" y="1032545"/>
            <a:ext cx="414813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defRPr/>
            </a:pPr>
            <a:r>
              <a:rPr kumimoji="1" lang="zh-CN" altLang="en-US" sz="2400" b="1" dirty="0">
                <a:solidFill>
                  <a:srgbClr val="FF0000"/>
                </a:solidFill>
                <a:effectLst>
                  <a:outerShdw blurRad="38100" dist="38100" dir="2700000" algn="tl">
                    <a:srgbClr val="C0C0C0"/>
                  </a:outerShdw>
                </a:effectLst>
                <a:latin typeface="楷体_GB2312" pitchFamily="49" charset="-122"/>
                <a:ea typeface="楷体_GB2312" pitchFamily="49" charset="-122"/>
              </a:rPr>
              <a:t> </a:t>
            </a:r>
            <a:r>
              <a:rPr kumimoji="1" lang="zh-CN" altLang="en-US" sz="2400" b="1" dirty="0">
                <a:solidFill>
                  <a:srgbClr val="0000FF"/>
                </a:solidFill>
                <a:latin typeface="楷体" panose="02010609060101010101" pitchFamily="49" charset="-122"/>
                <a:ea typeface="楷体" panose="02010609060101010101" pitchFamily="49" charset="-122"/>
              </a:rPr>
              <a:t>解：分三段求解轴力</a:t>
            </a:r>
          </a:p>
        </p:txBody>
      </p:sp>
      <p:sp>
        <p:nvSpPr>
          <p:cNvPr id="170037" name="Rectangle 53"/>
          <p:cNvSpPr>
            <a:spLocks noChangeArrowheads="1"/>
          </p:cNvSpPr>
          <p:nvPr/>
        </p:nvSpPr>
        <p:spPr bwMode="auto">
          <a:xfrm>
            <a:off x="442912" y="526761"/>
            <a:ext cx="6336486"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solidFill>
                  <a:srgbClr val="FF0000"/>
                </a:solidFill>
                <a:latin typeface="+mn-lt"/>
                <a:ea typeface="楷体" panose="02010609060101010101" pitchFamily="49" charset="-122"/>
              </a:rPr>
              <a:t>例</a:t>
            </a:r>
            <a:r>
              <a:rPr kumimoji="1" lang="zh-CN" altLang="en-US" sz="2400" b="1" dirty="0">
                <a:latin typeface="+mn-lt"/>
                <a:ea typeface="楷体" panose="02010609060101010101" pitchFamily="49" charset="-122"/>
              </a:rPr>
              <a:t>  求图示等截面直杆的内力（单位：</a:t>
            </a:r>
            <a:r>
              <a:rPr kumimoji="1" lang="en-US" altLang="zh-CN" sz="2400" dirty="0" err="1">
                <a:latin typeface="+mn-lt"/>
                <a:ea typeface="楷体" panose="02010609060101010101" pitchFamily="49" charset="-122"/>
              </a:rPr>
              <a:t>kN</a:t>
            </a:r>
            <a:r>
              <a:rPr kumimoji="1" lang="en-US" altLang="zh-CN" sz="2400" dirty="0">
                <a:latin typeface="+mn-lt"/>
                <a:ea typeface="楷体" panose="02010609060101010101" pitchFamily="49" charset="-122"/>
              </a:rPr>
              <a:t>)</a:t>
            </a:r>
            <a:r>
              <a:rPr kumimoji="1" lang="zh-CN" altLang="en-US" sz="2400" b="1" dirty="0">
                <a:latin typeface="+mn-lt"/>
                <a:ea typeface="楷体" panose="02010609060101010101" pitchFamily="49" charset="-122"/>
              </a:rPr>
              <a:t>。</a:t>
            </a:r>
            <a:endParaRPr kumimoji="1" lang="en-US" altLang="zh-CN" sz="2400" b="1" dirty="0">
              <a:latin typeface="+mn-lt"/>
              <a:ea typeface="楷体" panose="02010609060101010101" pitchFamily="49" charset="-122"/>
            </a:endParaRPr>
          </a:p>
        </p:txBody>
      </p:sp>
      <p:grpSp>
        <p:nvGrpSpPr>
          <p:cNvPr id="13325" name="Group 54"/>
          <p:cNvGrpSpPr>
            <a:grpSpLocks/>
          </p:cNvGrpSpPr>
          <p:nvPr/>
        </p:nvGrpSpPr>
        <p:grpSpPr bwMode="auto">
          <a:xfrm>
            <a:off x="5461773" y="908720"/>
            <a:ext cx="3200400" cy="990600"/>
            <a:chOff x="3531" y="768"/>
            <a:chExt cx="2016" cy="624"/>
          </a:xfrm>
        </p:grpSpPr>
        <p:grpSp>
          <p:nvGrpSpPr>
            <p:cNvPr id="13345" name="Group 55"/>
            <p:cNvGrpSpPr>
              <a:grpSpLocks/>
            </p:cNvGrpSpPr>
            <p:nvPr/>
          </p:nvGrpSpPr>
          <p:grpSpPr bwMode="auto">
            <a:xfrm>
              <a:off x="3531" y="768"/>
              <a:ext cx="2016" cy="624"/>
              <a:chOff x="3531" y="768"/>
              <a:chExt cx="2016" cy="624"/>
            </a:xfrm>
          </p:grpSpPr>
          <p:sp>
            <p:nvSpPr>
              <p:cNvPr id="13349" name="Line 56"/>
              <p:cNvSpPr>
                <a:spLocks noChangeShapeType="1"/>
              </p:cNvSpPr>
              <p:nvPr/>
            </p:nvSpPr>
            <p:spPr bwMode="auto">
              <a:xfrm>
                <a:off x="5399" y="768"/>
                <a:ext cx="0" cy="624"/>
              </a:xfrm>
              <a:prstGeom prst="line">
                <a:avLst/>
              </a:prstGeom>
              <a:noFill/>
              <a:ln w="317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50" name="Line 57"/>
              <p:cNvSpPr>
                <a:spLocks noChangeShapeType="1"/>
              </p:cNvSpPr>
              <p:nvPr/>
            </p:nvSpPr>
            <p:spPr bwMode="auto">
              <a:xfrm flipH="1">
                <a:off x="4023" y="1104"/>
                <a:ext cx="344" cy="0"/>
              </a:xfrm>
              <a:prstGeom prst="line">
                <a:avLst/>
              </a:prstGeom>
              <a:noFill/>
              <a:ln w="31750">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51" name="Line 58"/>
              <p:cNvSpPr>
                <a:spLocks noChangeShapeType="1"/>
              </p:cNvSpPr>
              <p:nvPr/>
            </p:nvSpPr>
            <p:spPr bwMode="auto">
              <a:xfrm flipH="1">
                <a:off x="4613" y="1104"/>
                <a:ext cx="344" cy="0"/>
              </a:xfrm>
              <a:prstGeom prst="line">
                <a:avLst/>
              </a:prstGeom>
              <a:noFill/>
              <a:ln w="31750">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52" name="Line 59"/>
              <p:cNvSpPr>
                <a:spLocks noChangeShapeType="1"/>
              </p:cNvSpPr>
              <p:nvPr/>
            </p:nvSpPr>
            <p:spPr bwMode="auto">
              <a:xfrm>
                <a:off x="3875" y="1104"/>
                <a:ext cx="246" cy="0"/>
              </a:xfrm>
              <a:prstGeom prst="line">
                <a:avLst/>
              </a:prstGeom>
              <a:noFill/>
              <a:ln w="31750">
                <a:solidFill>
                  <a:schemeClr val="tx1"/>
                </a:solidFill>
                <a:prstDash val="dash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53" name="Line 60"/>
              <p:cNvSpPr>
                <a:spLocks noChangeShapeType="1"/>
              </p:cNvSpPr>
              <p:nvPr/>
            </p:nvSpPr>
            <p:spPr bwMode="auto">
              <a:xfrm>
                <a:off x="4416" y="1104"/>
                <a:ext cx="246" cy="0"/>
              </a:xfrm>
              <a:prstGeom prst="line">
                <a:avLst/>
              </a:prstGeom>
              <a:noFill/>
              <a:ln w="31750">
                <a:solidFill>
                  <a:schemeClr val="tx1"/>
                </a:solidFill>
                <a:prstDash val="dash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54" name="Line 61"/>
              <p:cNvSpPr>
                <a:spLocks noChangeShapeType="1"/>
              </p:cNvSpPr>
              <p:nvPr/>
            </p:nvSpPr>
            <p:spPr bwMode="auto">
              <a:xfrm>
                <a:off x="5006" y="1104"/>
                <a:ext cx="541" cy="0"/>
              </a:xfrm>
              <a:prstGeom prst="line">
                <a:avLst/>
              </a:prstGeom>
              <a:noFill/>
              <a:ln w="31750">
                <a:solidFill>
                  <a:schemeClr val="tx1"/>
                </a:solidFill>
                <a:prstDash val="dash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0046" name="Rectangle 62"/>
              <p:cNvSpPr>
                <a:spLocks noChangeArrowheads="1"/>
              </p:cNvSpPr>
              <p:nvPr/>
            </p:nvSpPr>
            <p:spPr bwMode="auto">
              <a:xfrm>
                <a:off x="3531" y="864"/>
                <a:ext cx="27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defRPr/>
                </a:pPr>
                <a:r>
                  <a:rPr kumimoji="1" lang="en-US" altLang="zh-CN" sz="2000" dirty="0">
                    <a:latin typeface="Times New Roman" pitchFamily="18" charset="0"/>
                  </a:rPr>
                  <a:t>20</a:t>
                </a:r>
                <a:endParaRPr kumimoji="1" lang="en-US" altLang="zh-CN" sz="2000" dirty="0">
                  <a:latin typeface="Times New Roman" pitchFamily="18" charset="0"/>
                  <a:ea typeface="'宋体" pitchFamily="34" charset="-122"/>
                </a:endParaRPr>
              </a:p>
            </p:txBody>
          </p:sp>
          <p:sp>
            <p:nvSpPr>
              <p:cNvPr id="170047" name="Rectangle 63"/>
              <p:cNvSpPr>
                <a:spLocks noChangeArrowheads="1"/>
              </p:cNvSpPr>
              <p:nvPr/>
            </p:nvSpPr>
            <p:spPr bwMode="auto">
              <a:xfrm>
                <a:off x="4090" y="1056"/>
                <a:ext cx="27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dirty="0">
                    <a:latin typeface="Times New Roman" panose="02020603050405020304" pitchFamily="18" charset="0"/>
                  </a:rPr>
                  <a:t>10</a:t>
                </a:r>
                <a:endParaRPr kumimoji="1" lang="en-US" altLang="zh-CN" sz="2000" dirty="0">
                  <a:latin typeface="Times New Roman" panose="02020603050405020304" pitchFamily="18" charset="0"/>
                  <a:ea typeface="'宋体" pitchFamily="34" charset="-122"/>
                </a:endParaRPr>
              </a:p>
            </p:txBody>
          </p:sp>
          <p:sp>
            <p:nvSpPr>
              <p:cNvPr id="170048" name="Rectangle 64"/>
              <p:cNvSpPr>
                <a:spLocks noChangeArrowheads="1"/>
              </p:cNvSpPr>
              <p:nvPr/>
            </p:nvSpPr>
            <p:spPr bwMode="auto">
              <a:xfrm>
                <a:off x="4711" y="1056"/>
                <a:ext cx="28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dirty="0">
                    <a:latin typeface="Times New Roman" panose="02020603050405020304" pitchFamily="18" charset="0"/>
                  </a:rPr>
                  <a:t>50</a:t>
                </a:r>
                <a:endParaRPr kumimoji="1" lang="en-US" altLang="zh-CN" sz="2000" dirty="0">
                  <a:latin typeface="Times New Roman" panose="02020603050405020304" pitchFamily="18" charset="0"/>
                  <a:ea typeface="'宋体" pitchFamily="34" charset="-122"/>
                </a:endParaRPr>
              </a:p>
            </p:txBody>
          </p:sp>
          <p:sp>
            <p:nvSpPr>
              <p:cNvPr id="13358" name="Line 65"/>
              <p:cNvSpPr>
                <a:spLocks noChangeShapeType="1"/>
              </p:cNvSpPr>
              <p:nvPr/>
            </p:nvSpPr>
            <p:spPr bwMode="auto">
              <a:xfrm>
                <a:off x="4367" y="912"/>
                <a:ext cx="0" cy="384"/>
              </a:xfrm>
              <a:prstGeom prst="line">
                <a:avLst/>
              </a:prstGeom>
              <a:noFill/>
              <a:ln w="317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59" name="Line 66"/>
              <p:cNvSpPr>
                <a:spLocks noChangeShapeType="1"/>
              </p:cNvSpPr>
              <p:nvPr/>
            </p:nvSpPr>
            <p:spPr bwMode="auto">
              <a:xfrm>
                <a:off x="4957" y="912"/>
                <a:ext cx="0" cy="384"/>
              </a:xfrm>
              <a:prstGeom prst="line">
                <a:avLst/>
              </a:prstGeom>
              <a:noFill/>
              <a:ln w="317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60" name="Line 67"/>
              <p:cNvSpPr>
                <a:spLocks noChangeShapeType="1"/>
              </p:cNvSpPr>
              <p:nvPr/>
            </p:nvSpPr>
            <p:spPr bwMode="auto">
              <a:xfrm>
                <a:off x="3580" y="1104"/>
                <a:ext cx="295" cy="0"/>
              </a:xfrm>
              <a:prstGeom prst="line">
                <a:avLst/>
              </a:prstGeom>
              <a:noFill/>
              <a:ln w="31750">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0052" name="Rectangle 68"/>
              <p:cNvSpPr>
                <a:spLocks noChangeArrowheads="1"/>
              </p:cNvSpPr>
              <p:nvPr/>
            </p:nvSpPr>
            <p:spPr bwMode="auto">
              <a:xfrm>
                <a:off x="3875" y="912"/>
                <a:ext cx="1524" cy="384"/>
              </a:xfrm>
              <a:prstGeom prst="rect">
                <a:avLst/>
              </a:prstGeom>
              <a:noFill/>
              <a:ln w="31750">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defRPr/>
                </a:pPr>
                <a:endParaRPr kumimoji="1" lang="zh-CN" altLang="en-US" sz="2400" b="1">
                  <a:effectLst>
                    <a:outerShdw blurRad="38100" dist="38100" dir="2700000" algn="tl">
                      <a:srgbClr val="C0C0C0"/>
                    </a:outerShdw>
                  </a:effectLst>
                  <a:latin typeface="Times New Roman" pitchFamily="18" charset="0"/>
                  <a:ea typeface="宋体" pitchFamily="2" charset="-122"/>
                </a:endParaRPr>
              </a:p>
            </p:txBody>
          </p:sp>
        </p:grpSp>
        <p:sp>
          <p:nvSpPr>
            <p:cNvPr id="13346" name="Line 69"/>
            <p:cNvSpPr>
              <a:spLocks noChangeShapeType="1"/>
            </p:cNvSpPr>
            <p:nvPr/>
          </p:nvSpPr>
          <p:spPr bwMode="auto">
            <a:xfrm flipH="1">
              <a:off x="5399" y="768"/>
              <a:ext cx="148" cy="192"/>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347" name="Line 70"/>
            <p:cNvSpPr>
              <a:spLocks noChangeShapeType="1"/>
            </p:cNvSpPr>
            <p:nvPr/>
          </p:nvSpPr>
          <p:spPr bwMode="auto">
            <a:xfrm flipH="1">
              <a:off x="5399" y="960"/>
              <a:ext cx="148" cy="192"/>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348" name="Line 71"/>
            <p:cNvSpPr>
              <a:spLocks noChangeShapeType="1"/>
            </p:cNvSpPr>
            <p:nvPr/>
          </p:nvSpPr>
          <p:spPr bwMode="auto">
            <a:xfrm flipH="1">
              <a:off x="5399" y="1152"/>
              <a:ext cx="148" cy="192"/>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70056" name="Text Box 72"/>
          <p:cNvSpPr txBox="1">
            <a:spLocks noChangeArrowheads="1"/>
          </p:cNvSpPr>
          <p:nvPr/>
        </p:nvSpPr>
        <p:spPr bwMode="auto">
          <a:xfrm>
            <a:off x="579141" y="4494040"/>
            <a:ext cx="1447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defRPr/>
            </a:pPr>
            <a:r>
              <a:rPr kumimoji="1" lang="zh-CN" altLang="en-US" sz="2400" b="1" dirty="0">
                <a:solidFill>
                  <a:srgbClr val="FF0000"/>
                </a:solidFill>
                <a:latin typeface="楷体" panose="02010609060101010101" pitchFamily="49" charset="-122"/>
                <a:ea typeface="楷体" panose="02010609060101010101" pitchFamily="49" charset="-122"/>
              </a:rPr>
              <a:t>讨论：</a:t>
            </a:r>
          </a:p>
        </p:txBody>
      </p:sp>
      <p:sp>
        <p:nvSpPr>
          <p:cNvPr id="170057" name="Text Box 73"/>
          <p:cNvSpPr txBox="1">
            <a:spLocks noChangeArrowheads="1"/>
          </p:cNvSpPr>
          <p:nvPr/>
        </p:nvSpPr>
        <p:spPr bwMode="auto">
          <a:xfrm>
            <a:off x="6641285" y="5953109"/>
            <a:ext cx="1387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400" b="1" dirty="0">
                <a:solidFill>
                  <a:srgbClr val="0000FF"/>
                </a:solidFill>
                <a:latin typeface="华文楷体" panose="02010600040101010101" pitchFamily="2" charset="-122"/>
                <a:ea typeface="华文楷体" panose="02010600040101010101" pitchFamily="2" charset="-122"/>
              </a:rPr>
              <a:t>轴力图</a:t>
            </a:r>
          </a:p>
        </p:txBody>
      </p:sp>
      <p:sp>
        <p:nvSpPr>
          <p:cNvPr id="170058" name="Text Box 74"/>
          <p:cNvSpPr txBox="1">
            <a:spLocks noChangeArrowheads="1"/>
          </p:cNvSpPr>
          <p:nvPr/>
        </p:nvSpPr>
        <p:spPr bwMode="auto">
          <a:xfrm>
            <a:off x="627252" y="3372748"/>
            <a:ext cx="4376626" cy="1015663"/>
          </a:xfrm>
          <a:prstGeom prst="rect">
            <a:avLst/>
          </a:prstGeom>
          <a:noFill/>
          <a:ln>
            <a:noFill/>
          </a:ln>
          <a:effec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000" b="1" dirty="0">
                <a:latin typeface="Times New Roman" panose="02020603050405020304" pitchFamily="18" charset="0"/>
                <a:ea typeface="华文楷体" panose="02010600040101010101" pitchFamily="2" charset="-122"/>
              </a:rPr>
              <a:t>由于</a:t>
            </a:r>
            <a:r>
              <a:rPr kumimoji="1" lang="en-US" altLang="zh-CN" sz="2000" i="1" dirty="0">
                <a:latin typeface="Times New Roman" panose="02020603050405020304" pitchFamily="18" charset="0"/>
                <a:ea typeface="华文楷体" panose="02010600040101010101" pitchFamily="2" charset="-122"/>
              </a:rPr>
              <a:t>A</a:t>
            </a:r>
            <a:r>
              <a:rPr kumimoji="1" lang="zh-CN" altLang="en-US" sz="2000" b="1" dirty="0">
                <a:latin typeface="Times New Roman" panose="02020603050405020304" pitchFamily="18" charset="0"/>
                <a:ea typeface="华文楷体" panose="02010600040101010101" pitchFamily="2" charset="-122"/>
              </a:rPr>
              <a:t>、</a:t>
            </a:r>
            <a:r>
              <a:rPr kumimoji="1" lang="en-US" altLang="zh-CN" sz="2000" i="1" dirty="0">
                <a:latin typeface="Times New Roman" panose="02020603050405020304" pitchFamily="18" charset="0"/>
                <a:ea typeface="华文楷体" panose="02010600040101010101" pitchFamily="2" charset="-122"/>
              </a:rPr>
              <a:t>B</a:t>
            </a:r>
            <a:r>
              <a:rPr kumimoji="1" lang="zh-CN" altLang="en-US" sz="2000" b="1" dirty="0">
                <a:latin typeface="Times New Roman" panose="02020603050405020304" pitchFamily="18" charset="0"/>
                <a:ea typeface="华文楷体" panose="02010600040101010101" pitchFamily="2" charset="-122"/>
              </a:rPr>
              <a:t>、</a:t>
            </a:r>
            <a:r>
              <a:rPr kumimoji="1" lang="en-US" altLang="zh-CN" sz="2000" i="1" dirty="0">
                <a:latin typeface="Times New Roman" panose="02020603050405020304" pitchFamily="18" charset="0"/>
                <a:ea typeface="华文楷体" panose="02010600040101010101" pitchFamily="2" charset="-122"/>
              </a:rPr>
              <a:t>C</a:t>
            </a:r>
            <a:r>
              <a:rPr kumimoji="1" lang="en-US" altLang="zh-CN" sz="2000" b="1" i="1" dirty="0">
                <a:latin typeface="Times New Roman" panose="02020603050405020304" pitchFamily="18" charset="0"/>
                <a:ea typeface="华文楷体" panose="02010600040101010101" pitchFamily="2" charset="-122"/>
              </a:rPr>
              <a:t> </a:t>
            </a:r>
            <a:r>
              <a:rPr kumimoji="1" lang="zh-CN" altLang="en-US" sz="2000" b="1" dirty="0">
                <a:latin typeface="Times New Roman" panose="02020603050405020304" pitchFamily="18" charset="0"/>
                <a:ea typeface="华文楷体" panose="02010600040101010101" pitchFamily="2" charset="-122"/>
              </a:rPr>
              <a:t>三个截面上的轴力未知，所以先假设其为正值，求出若为正，其值就为正。此方法称为</a:t>
            </a:r>
            <a:r>
              <a:rPr kumimoji="1" lang="zh-CN" altLang="en-US" sz="2000" b="1" dirty="0">
                <a:solidFill>
                  <a:srgbClr val="FF0000"/>
                </a:solidFill>
                <a:latin typeface="Times New Roman" panose="02020603050405020304" pitchFamily="18" charset="0"/>
                <a:ea typeface="华文楷体" panose="02010600040101010101" pitchFamily="2" charset="-122"/>
              </a:rPr>
              <a:t>设正法</a:t>
            </a:r>
            <a:r>
              <a:rPr kumimoji="1" lang="zh-CN" altLang="en-US" sz="2000" b="1" dirty="0">
                <a:latin typeface="Times New Roman" panose="02020603050405020304" pitchFamily="18" charset="0"/>
                <a:ea typeface="华文楷体" panose="02010600040101010101" pitchFamily="2" charset="-122"/>
              </a:rPr>
              <a:t>。</a:t>
            </a:r>
          </a:p>
        </p:txBody>
      </p:sp>
      <p:grpSp>
        <p:nvGrpSpPr>
          <p:cNvPr id="170062" name="Group 78"/>
          <p:cNvGrpSpPr>
            <a:grpSpLocks/>
          </p:cNvGrpSpPr>
          <p:nvPr/>
        </p:nvGrpSpPr>
        <p:grpSpPr bwMode="auto">
          <a:xfrm>
            <a:off x="5547497" y="3682085"/>
            <a:ext cx="3154363" cy="655638"/>
            <a:chOff x="3585" y="2419"/>
            <a:chExt cx="1987" cy="413"/>
          </a:xfrm>
        </p:grpSpPr>
        <p:sp>
          <p:nvSpPr>
            <p:cNvPr id="13331" name="Line 79"/>
            <p:cNvSpPr>
              <a:spLocks noChangeShapeType="1"/>
            </p:cNvSpPr>
            <p:nvPr/>
          </p:nvSpPr>
          <p:spPr bwMode="auto">
            <a:xfrm>
              <a:off x="3865" y="2544"/>
              <a:ext cx="0" cy="288"/>
            </a:xfrm>
            <a:prstGeom prst="line">
              <a:avLst/>
            </a:prstGeom>
            <a:noFill/>
            <a:ln w="317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2" name="Line 80"/>
            <p:cNvSpPr>
              <a:spLocks noChangeShapeType="1"/>
            </p:cNvSpPr>
            <p:nvPr/>
          </p:nvSpPr>
          <p:spPr bwMode="auto">
            <a:xfrm>
              <a:off x="4361" y="2544"/>
              <a:ext cx="0" cy="288"/>
            </a:xfrm>
            <a:prstGeom prst="line">
              <a:avLst/>
            </a:prstGeom>
            <a:noFill/>
            <a:ln w="317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3" name="Line 81"/>
            <p:cNvSpPr>
              <a:spLocks noChangeShapeType="1"/>
            </p:cNvSpPr>
            <p:nvPr/>
          </p:nvSpPr>
          <p:spPr bwMode="auto">
            <a:xfrm>
              <a:off x="3865" y="2544"/>
              <a:ext cx="1367" cy="0"/>
            </a:xfrm>
            <a:prstGeom prst="line">
              <a:avLst/>
            </a:prstGeom>
            <a:noFill/>
            <a:ln w="317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4" name="Line 82"/>
            <p:cNvSpPr>
              <a:spLocks noChangeShapeType="1"/>
            </p:cNvSpPr>
            <p:nvPr/>
          </p:nvSpPr>
          <p:spPr bwMode="auto">
            <a:xfrm>
              <a:off x="3865" y="2832"/>
              <a:ext cx="1367" cy="0"/>
            </a:xfrm>
            <a:prstGeom prst="line">
              <a:avLst/>
            </a:prstGeom>
            <a:noFill/>
            <a:ln w="317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5" name="Line 83"/>
            <p:cNvSpPr>
              <a:spLocks noChangeShapeType="1"/>
            </p:cNvSpPr>
            <p:nvPr/>
          </p:nvSpPr>
          <p:spPr bwMode="auto">
            <a:xfrm flipH="1">
              <a:off x="3625" y="2688"/>
              <a:ext cx="240" cy="0"/>
            </a:xfrm>
            <a:prstGeom prst="line">
              <a:avLst/>
            </a:prstGeom>
            <a:noFill/>
            <a:ln w="31750">
              <a:solidFill>
                <a:srgbClr val="FF0000"/>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6" name="Line 84"/>
            <p:cNvSpPr>
              <a:spLocks noChangeShapeType="1"/>
            </p:cNvSpPr>
            <p:nvPr/>
          </p:nvSpPr>
          <p:spPr bwMode="auto">
            <a:xfrm>
              <a:off x="4025" y="2688"/>
              <a:ext cx="336" cy="0"/>
            </a:xfrm>
            <a:prstGeom prst="line">
              <a:avLst/>
            </a:prstGeom>
            <a:noFill/>
            <a:ln w="31750">
              <a:solidFill>
                <a:srgbClr val="FF0000"/>
              </a:solidFill>
              <a:round/>
              <a:headEnd type="triangle"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0069" name="Rectangle 85"/>
            <p:cNvSpPr>
              <a:spLocks noChangeArrowheads="1"/>
            </p:cNvSpPr>
            <p:nvPr/>
          </p:nvSpPr>
          <p:spPr bwMode="auto">
            <a:xfrm>
              <a:off x="3585" y="2451"/>
              <a:ext cx="39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defRPr/>
              </a:pPr>
              <a:r>
                <a:rPr kumimoji="1" lang="en-US" altLang="zh-CN" sz="2000" dirty="0">
                  <a:latin typeface="Times New Roman" pitchFamily="18" charset="0"/>
                </a:rPr>
                <a:t>20</a:t>
              </a:r>
              <a:endParaRPr kumimoji="1" lang="en-US" altLang="zh-CN" sz="2000" dirty="0">
                <a:latin typeface="Times New Roman" pitchFamily="18" charset="0"/>
                <a:ea typeface="'宋体" pitchFamily="34" charset="-122"/>
              </a:endParaRPr>
            </a:p>
          </p:txBody>
        </p:sp>
        <p:sp>
          <p:nvSpPr>
            <p:cNvPr id="170070" name="Rectangle 86"/>
            <p:cNvSpPr>
              <a:spLocks noChangeArrowheads="1"/>
            </p:cNvSpPr>
            <p:nvPr/>
          </p:nvSpPr>
          <p:spPr bwMode="auto">
            <a:xfrm>
              <a:off x="4083" y="2484"/>
              <a:ext cx="27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dirty="0">
                  <a:latin typeface="Times New Roman" panose="02020603050405020304" pitchFamily="18" charset="0"/>
                </a:rPr>
                <a:t>10</a:t>
              </a:r>
              <a:endParaRPr kumimoji="1" lang="en-US" altLang="zh-CN" sz="2000" dirty="0">
                <a:latin typeface="Times New Roman" panose="02020603050405020304" pitchFamily="18" charset="0"/>
                <a:ea typeface="'宋体" pitchFamily="34" charset="-122"/>
              </a:endParaRPr>
            </a:p>
          </p:txBody>
        </p:sp>
        <p:sp>
          <p:nvSpPr>
            <p:cNvPr id="13339" name="Line 87"/>
            <p:cNvSpPr>
              <a:spLocks noChangeShapeType="1"/>
            </p:cNvSpPr>
            <p:nvPr/>
          </p:nvSpPr>
          <p:spPr bwMode="auto">
            <a:xfrm flipH="1">
              <a:off x="5236" y="2676"/>
              <a:ext cx="336" cy="0"/>
            </a:xfrm>
            <a:prstGeom prst="line">
              <a:avLst/>
            </a:prstGeom>
            <a:noFill/>
            <a:ln w="31750">
              <a:solidFill>
                <a:srgbClr val="FF0000"/>
              </a:solidFill>
              <a:round/>
              <a:headEnd type="triangle"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3340" name="Object 88"/>
            <p:cNvGraphicFramePr>
              <a:graphicFrameLocks/>
            </p:cNvGraphicFramePr>
            <p:nvPr>
              <p:extLst>
                <p:ext uri="{D42A27DB-BD31-4B8C-83A1-F6EECF244321}">
                  <p14:modId xmlns:p14="http://schemas.microsoft.com/office/powerpoint/2010/main" val="3968244221"/>
                </p:ext>
              </p:extLst>
            </p:nvPr>
          </p:nvGraphicFramePr>
          <p:xfrm>
            <a:off x="5263" y="2419"/>
            <a:ext cx="230" cy="225"/>
          </p:xfrm>
          <a:graphic>
            <a:graphicData uri="http://schemas.openxmlformats.org/presentationml/2006/ole">
              <mc:AlternateContent xmlns:mc="http://schemas.openxmlformats.org/markup-compatibility/2006">
                <mc:Choice xmlns:v="urn:schemas-microsoft-com:vml" Requires="v">
                  <p:oleObj name="Equation" r:id="rId10" imgW="241200" imgH="241200" progId="Equation.DSMT4">
                    <p:embed/>
                  </p:oleObj>
                </mc:Choice>
                <mc:Fallback>
                  <p:oleObj name="Equation" r:id="rId10" imgW="241200" imgH="241200" progId="Equation.DSMT4">
                    <p:embed/>
                    <p:pic>
                      <p:nvPicPr>
                        <p:cNvPr id="0" name=""/>
                        <p:cNvPicPr>
                          <a:picLocks noChangeArrowheads="1"/>
                        </p:cNvPicPr>
                        <p:nvPr/>
                      </p:nvPicPr>
                      <p:blipFill>
                        <a:blip r:embed="rId11"/>
                        <a:srcRect/>
                        <a:stretch>
                          <a:fillRect/>
                        </a:stretch>
                      </p:blipFill>
                      <p:spPr bwMode="auto">
                        <a:xfrm>
                          <a:off x="5263" y="2419"/>
                          <a:ext cx="230" cy="225"/>
                        </a:xfrm>
                        <a:prstGeom prst="rect">
                          <a:avLst/>
                        </a:prstGeom>
                        <a:noFill/>
                        <a:ln>
                          <a:noFill/>
                        </a:ln>
                        <a:effectLst/>
                      </p:spPr>
                    </p:pic>
                  </p:oleObj>
                </mc:Fallback>
              </mc:AlternateContent>
            </a:graphicData>
          </a:graphic>
        </p:graphicFrame>
        <p:sp>
          <p:nvSpPr>
            <p:cNvPr id="13341" name="Line 89"/>
            <p:cNvSpPr>
              <a:spLocks noChangeShapeType="1"/>
            </p:cNvSpPr>
            <p:nvPr/>
          </p:nvSpPr>
          <p:spPr bwMode="auto">
            <a:xfrm>
              <a:off x="5226" y="2543"/>
              <a:ext cx="0" cy="288"/>
            </a:xfrm>
            <a:prstGeom prst="line">
              <a:avLst/>
            </a:prstGeom>
            <a:noFill/>
            <a:ln w="38100">
              <a:solidFill>
                <a:srgbClr val="008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42" name="Line 90"/>
            <p:cNvSpPr>
              <a:spLocks noChangeShapeType="1"/>
            </p:cNvSpPr>
            <p:nvPr/>
          </p:nvSpPr>
          <p:spPr bwMode="auto">
            <a:xfrm>
              <a:off x="5004" y="2538"/>
              <a:ext cx="0" cy="288"/>
            </a:xfrm>
            <a:prstGeom prst="line">
              <a:avLst/>
            </a:prstGeom>
            <a:noFill/>
            <a:ln w="317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43" name="Line 91"/>
            <p:cNvSpPr>
              <a:spLocks noChangeShapeType="1"/>
            </p:cNvSpPr>
            <p:nvPr/>
          </p:nvSpPr>
          <p:spPr bwMode="auto">
            <a:xfrm>
              <a:off x="4668" y="2682"/>
              <a:ext cx="336" cy="0"/>
            </a:xfrm>
            <a:prstGeom prst="line">
              <a:avLst/>
            </a:prstGeom>
            <a:noFill/>
            <a:ln w="31750">
              <a:solidFill>
                <a:srgbClr val="FF0000"/>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0076" name="Rectangle 92"/>
            <p:cNvSpPr>
              <a:spLocks noChangeArrowheads="1"/>
            </p:cNvSpPr>
            <p:nvPr/>
          </p:nvSpPr>
          <p:spPr bwMode="auto">
            <a:xfrm>
              <a:off x="4656" y="2484"/>
              <a:ext cx="27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dirty="0">
                  <a:latin typeface="Times New Roman" panose="02020603050405020304" pitchFamily="18" charset="0"/>
                </a:rPr>
                <a:t>50</a:t>
              </a:r>
              <a:endParaRPr kumimoji="1" lang="en-US" altLang="zh-CN" sz="2000" dirty="0">
                <a:latin typeface="Times New Roman" panose="02020603050405020304" pitchFamily="18" charset="0"/>
                <a:ea typeface="'宋体" pitchFamily="34" charset="-122"/>
              </a:endParaRPr>
            </a:p>
          </p:txBody>
        </p:sp>
      </p:grpSp>
      <p:graphicFrame>
        <p:nvGraphicFramePr>
          <p:cNvPr id="2" name="Object 12"/>
          <p:cNvGraphicFramePr>
            <a:graphicFrameLocks/>
          </p:cNvGraphicFramePr>
          <p:nvPr>
            <p:extLst>
              <p:ext uri="{D42A27DB-BD31-4B8C-83A1-F6EECF244321}">
                <p14:modId xmlns:p14="http://schemas.microsoft.com/office/powerpoint/2010/main" val="140036694"/>
              </p:ext>
            </p:extLst>
          </p:nvPr>
        </p:nvGraphicFramePr>
        <p:xfrm>
          <a:off x="3408802" y="1531840"/>
          <a:ext cx="1470029" cy="468259"/>
        </p:xfrm>
        <a:graphic>
          <a:graphicData uri="http://schemas.openxmlformats.org/presentationml/2006/ole">
            <mc:AlternateContent xmlns:mc="http://schemas.openxmlformats.org/markup-compatibility/2006">
              <mc:Choice xmlns:v="urn:schemas-microsoft-com:vml" Requires="v">
                <p:oleObj name="Equation" r:id="rId12" imgW="736560" imgH="241200" progId="Equation.DSMT4">
                  <p:embed/>
                </p:oleObj>
              </mc:Choice>
              <mc:Fallback>
                <p:oleObj name="Equation" r:id="rId12" imgW="736560" imgH="241200" progId="Equation.DSMT4">
                  <p:embed/>
                  <p:pic>
                    <p:nvPicPr>
                      <p:cNvPr id="0" name=""/>
                      <p:cNvPicPr>
                        <a:picLocks noChangeArrowheads="1"/>
                      </p:cNvPicPr>
                      <p:nvPr/>
                    </p:nvPicPr>
                    <p:blipFill>
                      <a:blip r:embed="rId13"/>
                      <a:srcRect/>
                      <a:stretch>
                        <a:fillRect/>
                      </a:stretch>
                    </p:blipFill>
                    <p:spPr bwMode="auto">
                      <a:xfrm>
                        <a:off x="3408802" y="1531840"/>
                        <a:ext cx="1470029" cy="468259"/>
                      </a:xfrm>
                      <a:prstGeom prst="rect">
                        <a:avLst/>
                      </a:prstGeom>
                      <a:noFill/>
                      <a:ln>
                        <a:noFill/>
                      </a:ln>
                      <a:effectLst/>
                    </p:spPr>
                  </p:pic>
                </p:oleObj>
              </mc:Fallback>
            </mc:AlternateContent>
          </a:graphicData>
        </a:graphic>
      </p:graphicFrame>
      <p:graphicFrame>
        <p:nvGraphicFramePr>
          <p:cNvPr id="3" name="Object 12"/>
          <p:cNvGraphicFramePr>
            <a:graphicFrameLocks/>
          </p:cNvGraphicFramePr>
          <p:nvPr>
            <p:extLst>
              <p:ext uri="{D42A27DB-BD31-4B8C-83A1-F6EECF244321}">
                <p14:modId xmlns:p14="http://schemas.microsoft.com/office/powerpoint/2010/main" val="4169868734"/>
              </p:ext>
            </p:extLst>
          </p:nvPr>
        </p:nvGraphicFramePr>
        <p:xfrm>
          <a:off x="3448147" y="2140760"/>
          <a:ext cx="1436241" cy="473463"/>
        </p:xfrm>
        <a:graphic>
          <a:graphicData uri="http://schemas.openxmlformats.org/presentationml/2006/ole">
            <mc:AlternateContent xmlns:mc="http://schemas.openxmlformats.org/markup-compatibility/2006">
              <mc:Choice xmlns:v="urn:schemas-microsoft-com:vml" Requires="v">
                <p:oleObj name="Equation" r:id="rId14" imgW="736560" imgH="241200" progId="Equation.DSMT4">
                  <p:embed/>
                </p:oleObj>
              </mc:Choice>
              <mc:Fallback>
                <p:oleObj name="Equation" r:id="rId14" imgW="736560" imgH="241200" progId="Equation.DSMT4">
                  <p:embed/>
                  <p:pic>
                    <p:nvPicPr>
                      <p:cNvPr id="0" name=""/>
                      <p:cNvPicPr>
                        <a:picLocks noChangeArrowheads="1"/>
                      </p:cNvPicPr>
                      <p:nvPr/>
                    </p:nvPicPr>
                    <p:blipFill>
                      <a:blip r:embed="rId15"/>
                      <a:srcRect/>
                      <a:stretch>
                        <a:fillRect/>
                      </a:stretch>
                    </p:blipFill>
                    <p:spPr bwMode="auto">
                      <a:xfrm>
                        <a:off x="3448147" y="2140760"/>
                        <a:ext cx="1436241" cy="473463"/>
                      </a:xfrm>
                      <a:prstGeom prst="rect">
                        <a:avLst/>
                      </a:prstGeom>
                      <a:noFill/>
                      <a:ln>
                        <a:noFill/>
                      </a:ln>
                      <a:effectLst/>
                    </p:spPr>
                  </p:pic>
                </p:oleObj>
              </mc:Fallback>
            </mc:AlternateContent>
          </a:graphicData>
        </a:graphic>
      </p:graphicFrame>
      <p:graphicFrame>
        <p:nvGraphicFramePr>
          <p:cNvPr id="4" name="Object 26"/>
          <p:cNvGraphicFramePr>
            <a:graphicFrameLocks/>
          </p:cNvGraphicFramePr>
          <p:nvPr>
            <p:extLst>
              <p:ext uri="{D42A27DB-BD31-4B8C-83A1-F6EECF244321}">
                <p14:modId xmlns:p14="http://schemas.microsoft.com/office/powerpoint/2010/main" val="2125867964"/>
              </p:ext>
            </p:extLst>
          </p:nvPr>
        </p:nvGraphicFramePr>
        <p:xfrm>
          <a:off x="3452014" y="2793888"/>
          <a:ext cx="1562100" cy="460375"/>
        </p:xfrm>
        <a:graphic>
          <a:graphicData uri="http://schemas.openxmlformats.org/presentationml/2006/ole">
            <mc:AlternateContent xmlns:mc="http://schemas.openxmlformats.org/markup-compatibility/2006">
              <mc:Choice xmlns:v="urn:schemas-microsoft-com:vml" Requires="v">
                <p:oleObj name="Equation" r:id="rId16" imgW="825480" imgH="241200" progId="Equation.DSMT4">
                  <p:embed/>
                </p:oleObj>
              </mc:Choice>
              <mc:Fallback>
                <p:oleObj name="Equation" r:id="rId16" imgW="825480" imgH="241200" progId="Equation.DSMT4">
                  <p:embed/>
                  <p:pic>
                    <p:nvPicPr>
                      <p:cNvPr id="0" name=""/>
                      <p:cNvPicPr>
                        <a:picLocks noChangeArrowheads="1"/>
                      </p:cNvPicPr>
                      <p:nvPr/>
                    </p:nvPicPr>
                    <p:blipFill>
                      <a:blip r:embed="rId17"/>
                      <a:srcRect/>
                      <a:stretch>
                        <a:fillRect/>
                      </a:stretch>
                    </p:blipFill>
                    <p:spPr bwMode="auto">
                      <a:xfrm>
                        <a:off x="3452014" y="2793888"/>
                        <a:ext cx="1562100" cy="460375"/>
                      </a:xfrm>
                      <a:prstGeom prst="rect">
                        <a:avLst/>
                      </a:prstGeom>
                      <a:noFill/>
                      <a:ln>
                        <a:noFill/>
                      </a:ln>
                      <a:effectLst/>
                    </p:spPr>
                  </p:pic>
                </p:oleObj>
              </mc:Fallback>
            </mc:AlternateContent>
          </a:graphicData>
        </a:graphic>
      </p:graphicFrame>
      <p:grpSp>
        <p:nvGrpSpPr>
          <p:cNvPr id="13409" name="Group 97"/>
          <p:cNvGrpSpPr>
            <a:grpSpLocks/>
          </p:cNvGrpSpPr>
          <p:nvPr/>
        </p:nvGrpSpPr>
        <p:grpSpPr bwMode="auto">
          <a:xfrm>
            <a:off x="5591155" y="4414821"/>
            <a:ext cx="3319462" cy="1784349"/>
            <a:chOff x="3651" y="2827"/>
            <a:chExt cx="2091" cy="1124"/>
          </a:xfrm>
        </p:grpSpPr>
        <p:sp>
          <p:nvSpPr>
            <p:cNvPr id="170012" name="Rectangle 28"/>
            <p:cNvSpPr>
              <a:spLocks noChangeArrowheads="1"/>
            </p:cNvSpPr>
            <p:nvPr/>
          </p:nvSpPr>
          <p:spPr bwMode="auto">
            <a:xfrm>
              <a:off x="3651" y="2827"/>
              <a:ext cx="70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i="1" dirty="0">
                  <a:latin typeface="Times New Roman" panose="02020603050405020304" pitchFamily="18" charset="0"/>
                  <a:ea typeface="宋体" panose="02010600030101010101" pitchFamily="2" charset="-122"/>
                </a:rPr>
                <a:t>F</a:t>
              </a:r>
              <a:r>
                <a:rPr kumimoji="1" lang="en-US" altLang="zh-CN" sz="2000" b="1" baseline="-25000" dirty="0">
                  <a:latin typeface="Times New Roman" panose="02020603050405020304" pitchFamily="18" charset="0"/>
                  <a:ea typeface="宋体" panose="02010600030101010101" pitchFamily="2" charset="-122"/>
                </a:rPr>
                <a:t>N</a:t>
              </a:r>
              <a:r>
                <a:rPr kumimoji="1" lang="en-US" altLang="zh-CN" sz="2000" b="1" dirty="0">
                  <a:latin typeface="Times New Roman" panose="02020603050405020304" pitchFamily="18" charset="0"/>
                  <a:ea typeface="宋体" panose="02010600030101010101" pitchFamily="2" charset="-122"/>
                </a:rPr>
                <a:t>(</a:t>
              </a:r>
              <a:r>
                <a:rPr kumimoji="1" lang="en-US" altLang="zh-CN" sz="2000" dirty="0" err="1">
                  <a:latin typeface="Times New Roman" panose="02020603050405020304" pitchFamily="18" charset="0"/>
                  <a:ea typeface="宋体" panose="02010600030101010101" pitchFamily="2" charset="-122"/>
                </a:rPr>
                <a:t>kN</a:t>
              </a:r>
              <a:r>
                <a:rPr kumimoji="1" lang="en-US" altLang="zh-CN" sz="2000" b="1" dirty="0">
                  <a:latin typeface="Times New Roman" panose="02020603050405020304" pitchFamily="18" charset="0"/>
                  <a:ea typeface="宋体" panose="02010600030101010101" pitchFamily="2" charset="-122"/>
                </a:rPr>
                <a:t>)</a:t>
              </a:r>
            </a:p>
          </p:txBody>
        </p:sp>
        <p:sp>
          <p:nvSpPr>
            <p:cNvPr id="13369" name="Line 29"/>
            <p:cNvSpPr>
              <a:spLocks noChangeShapeType="1"/>
            </p:cNvSpPr>
            <p:nvPr/>
          </p:nvSpPr>
          <p:spPr bwMode="auto">
            <a:xfrm>
              <a:off x="3874" y="3565"/>
              <a:ext cx="1828" cy="0"/>
            </a:xfrm>
            <a:prstGeom prst="line">
              <a:avLst/>
            </a:prstGeom>
            <a:noFill/>
            <a:ln w="254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70" name="Line 30"/>
            <p:cNvSpPr>
              <a:spLocks noChangeShapeType="1"/>
            </p:cNvSpPr>
            <p:nvPr/>
          </p:nvSpPr>
          <p:spPr bwMode="auto">
            <a:xfrm flipV="1">
              <a:off x="3881" y="3058"/>
              <a:ext cx="0" cy="811"/>
            </a:xfrm>
            <a:prstGeom prst="line">
              <a:avLst/>
            </a:prstGeom>
            <a:noFill/>
            <a:ln w="254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0015" name="Rectangle 31"/>
            <p:cNvSpPr>
              <a:spLocks noChangeArrowheads="1"/>
            </p:cNvSpPr>
            <p:nvPr/>
          </p:nvSpPr>
          <p:spPr bwMode="auto">
            <a:xfrm>
              <a:off x="5148" y="3718"/>
              <a:ext cx="29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defRPr/>
              </a:pPr>
              <a:r>
                <a:rPr kumimoji="1" lang="en-US" altLang="zh-CN" sz="1600" b="1" dirty="0">
                  <a:latin typeface="Times New Roman" pitchFamily="18" charset="0"/>
                  <a:ea typeface="宋体" pitchFamily="2" charset="-122"/>
                </a:rPr>
                <a:t>̶ </a:t>
              </a:r>
              <a:r>
                <a:rPr kumimoji="1" lang="en-US" altLang="zh-CN" sz="1800" dirty="0">
                  <a:latin typeface="Times New Roman" pitchFamily="18" charset="0"/>
                  <a:ea typeface="宋体" pitchFamily="2" charset="-122"/>
                </a:rPr>
                <a:t>20</a:t>
              </a:r>
            </a:p>
          </p:txBody>
        </p:sp>
        <p:sp>
          <p:nvSpPr>
            <p:cNvPr id="170016" name="Rectangle 32"/>
            <p:cNvSpPr>
              <a:spLocks noChangeArrowheads="1"/>
            </p:cNvSpPr>
            <p:nvPr/>
          </p:nvSpPr>
          <p:spPr bwMode="auto">
            <a:xfrm>
              <a:off x="4042" y="3159"/>
              <a:ext cx="26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1800" dirty="0">
                  <a:latin typeface="Times New Roman" panose="02020603050405020304" pitchFamily="18" charset="0"/>
                  <a:ea typeface="宋体" panose="02010600030101010101" pitchFamily="2" charset="-122"/>
                </a:rPr>
                <a:t>20</a:t>
              </a:r>
            </a:p>
          </p:txBody>
        </p:sp>
        <p:sp>
          <p:nvSpPr>
            <p:cNvPr id="170017" name="Rectangle 33"/>
            <p:cNvSpPr>
              <a:spLocks noChangeArrowheads="1"/>
            </p:cNvSpPr>
            <p:nvPr/>
          </p:nvSpPr>
          <p:spPr bwMode="auto">
            <a:xfrm>
              <a:off x="4568" y="3067"/>
              <a:ext cx="26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1800" dirty="0">
                  <a:latin typeface="Times New Roman" panose="02020603050405020304" pitchFamily="18" charset="0"/>
                </a:rPr>
                <a:t>30</a:t>
              </a:r>
              <a:endParaRPr kumimoji="1" lang="en-US" altLang="zh-CN" sz="1800" dirty="0">
                <a:latin typeface="Times New Roman" panose="02020603050405020304" pitchFamily="18" charset="0"/>
                <a:ea typeface="'宋体" pitchFamily="34" charset="-122"/>
              </a:endParaRPr>
            </a:p>
          </p:txBody>
        </p:sp>
        <p:sp>
          <p:nvSpPr>
            <p:cNvPr id="170018" name="Rectangle 34"/>
            <p:cNvSpPr>
              <a:spLocks noChangeArrowheads="1"/>
            </p:cNvSpPr>
            <p:nvPr/>
          </p:nvSpPr>
          <p:spPr bwMode="auto">
            <a:xfrm>
              <a:off x="5553" y="3515"/>
              <a:ext cx="18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defRPr/>
              </a:pPr>
              <a:r>
                <a:rPr kumimoji="1" lang="en-US" altLang="zh-CN" sz="2000" i="1" dirty="0">
                  <a:latin typeface="Times New Roman" pitchFamily="18" charset="0"/>
                </a:rPr>
                <a:t>x</a:t>
              </a:r>
              <a:endParaRPr kumimoji="1" lang="en-US" altLang="zh-CN" sz="2000" i="1" dirty="0">
                <a:latin typeface="Times New Roman" pitchFamily="18" charset="0"/>
                <a:ea typeface="'宋体" pitchFamily="34" charset="-122"/>
              </a:endParaRPr>
            </a:p>
          </p:txBody>
        </p:sp>
        <p:sp>
          <p:nvSpPr>
            <p:cNvPr id="13380" name="Rectangle 40"/>
            <p:cNvSpPr>
              <a:spLocks noChangeArrowheads="1"/>
            </p:cNvSpPr>
            <p:nvPr/>
          </p:nvSpPr>
          <p:spPr bwMode="auto">
            <a:xfrm>
              <a:off x="4404" y="3249"/>
              <a:ext cx="621" cy="314"/>
            </a:xfrm>
            <a:prstGeom prst="rect">
              <a:avLst/>
            </a:prstGeom>
            <a:gradFill rotWithShape="0">
              <a:gsLst>
                <a:gs pos="0">
                  <a:srgbClr val="00CCFF"/>
                </a:gs>
                <a:gs pos="50000">
                  <a:srgbClr val="66FFFF"/>
                </a:gs>
                <a:gs pos="100000">
                  <a:srgbClr val="00CCFF"/>
                </a:gs>
              </a:gsLst>
              <a:lin ang="0" scaled="1"/>
            </a:gra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3381" name="Rectangle 41"/>
            <p:cNvSpPr>
              <a:spLocks noChangeArrowheads="1"/>
            </p:cNvSpPr>
            <p:nvPr/>
          </p:nvSpPr>
          <p:spPr bwMode="auto">
            <a:xfrm>
              <a:off x="3881" y="3361"/>
              <a:ext cx="523" cy="203"/>
            </a:xfrm>
            <a:prstGeom prst="rect">
              <a:avLst/>
            </a:prstGeom>
            <a:gradFill rotWithShape="0">
              <a:gsLst>
                <a:gs pos="0">
                  <a:srgbClr val="00CCFF"/>
                </a:gs>
                <a:gs pos="50000">
                  <a:srgbClr val="66FFFF"/>
                </a:gs>
                <a:gs pos="100000">
                  <a:srgbClr val="00CCFF"/>
                </a:gs>
              </a:gsLst>
              <a:lin ang="0" scaled="1"/>
            </a:gra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3407" name="Rectangle 41"/>
            <p:cNvSpPr>
              <a:spLocks noChangeArrowheads="1"/>
            </p:cNvSpPr>
            <p:nvPr/>
          </p:nvSpPr>
          <p:spPr bwMode="auto">
            <a:xfrm>
              <a:off x="5024" y="3566"/>
              <a:ext cx="523" cy="203"/>
            </a:xfrm>
            <a:prstGeom prst="rect">
              <a:avLst/>
            </a:prstGeom>
            <a:gradFill rotWithShape="0">
              <a:gsLst>
                <a:gs pos="0">
                  <a:srgbClr val="00CCFF"/>
                </a:gs>
                <a:gs pos="50000">
                  <a:srgbClr val="66FFFF"/>
                </a:gs>
                <a:gs pos="100000">
                  <a:srgbClr val="00CCFF"/>
                </a:gs>
              </a:gsLst>
              <a:lin ang="0" scaled="1"/>
            </a:gra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grpSp>
      <p:sp>
        <p:nvSpPr>
          <p:cNvPr id="88" name="Text Box 121"/>
          <p:cNvSpPr txBox="1">
            <a:spLocks noChangeArrowheads="1"/>
          </p:cNvSpPr>
          <p:nvPr/>
        </p:nvSpPr>
        <p:spPr bwMode="auto">
          <a:xfrm>
            <a:off x="777464" y="5070019"/>
            <a:ext cx="3510752" cy="461665"/>
          </a:xfrm>
          <a:prstGeom prst="rect">
            <a:avLst/>
          </a:prstGeom>
          <a:noFill/>
          <a:ln>
            <a:noFill/>
          </a:ln>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zh-CN" altLang="en-US" dirty="0">
                <a:solidFill>
                  <a:srgbClr val="0000FF"/>
                </a:solidFill>
                <a:latin typeface="楷体" panose="02010609060101010101" pitchFamily="49" charset="-122"/>
                <a:ea typeface="楷体" panose="02010609060101010101" pitchFamily="49" charset="-122"/>
              </a:rPr>
              <a:t>若从右边截开如何计算？</a:t>
            </a:r>
          </a:p>
        </p:txBody>
      </p:sp>
      <p:grpSp>
        <p:nvGrpSpPr>
          <p:cNvPr id="5" name="组合 4"/>
          <p:cNvGrpSpPr/>
          <p:nvPr/>
        </p:nvGrpSpPr>
        <p:grpSpPr>
          <a:xfrm>
            <a:off x="6311348" y="2105509"/>
            <a:ext cx="542926" cy="397669"/>
            <a:chOff x="7342959" y="2063245"/>
            <a:chExt cx="542926" cy="397669"/>
          </a:xfrm>
        </p:grpSpPr>
        <p:sp>
          <p:nvSpPr>
            <p:cNvPr id="89" name="Line 10"/>
            <p:cNvSpPr>
              <a:spLocks noChangeShapeType="1"/>
            </p:cNvSpPr>
            <p:nvPr/>
          </p:nvSpPr>
          <p:spPr bwMode="auto">
            <a:xfrm flipH="1">
              <a:off x="7342959" y="2460914"/>
              <a:ext cx="457200" cy="0"/>
            </a:xfrm>
            <a:prstGeom prst="line">
              <a:avLst/>
            </a:prstGeom>
            <a:noFill/>
            <a:ln w="31750">
              <a:solidFill>
                <a:srgbClr val="FF0000"/>
              </a:solidFill>
              <a:round/>
              <a:headEnd type="triangle"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90" name="Object 11"/>
            <p:cNvGraphicFramePr>
              <a:graphicFrameLocks/>
            </p:cNvGraphicFramePr>
            <p:nvPr>
              <p:extLst>
                <p:ext uri="{D42A27DB-BD31-4B8C-83A1-F6EECF244321}">
                  <p14:modId xmlns:p14="http://schemas.microsoft.com/office/powerpoint/2010/main" val="142217819"/>
                </p:ext>
              </p:extLst>
            </p:nvPr>
          </p:nvGraphicFramePr>
          <p:xfrm>
            <a:off x="7508060" y="2063245"/>
            <a:ext cx="377825" cy="376238"/>
          </p:xfrm>
          <a:graphic>
            <a:graphicData uri="http://schemas.openxmlformats.org/presentationml/2006/ole">
              <mc:AlternateContent xmlns:mc="http://schemas.openxmlformats.org/markup-compatibility/2006">
                <mc:Choice xmlns:v="urn:schemas-microsoft-com:vml" Requires="v">
                  <p:oleObj name="Equation" r:id="rId18" imgW="241200" imgH="241200" progId="Equation.DSMT4">
                    <p:embed/>
                  </p:oleObj>
                </mc:Choice>
                <mc:Fallback>
                  <p:oleObj name="Equation" r:id="rId18" imgW="241200" imgH="241200" progId="Equation.DSMT4">
                    <p:embed/>
                    <p:pic>
                      <p:nvPicPr>
                        <p:cNvPr id="0" name=""/>
                        <p:cNvPicPr>
                          <a:picLocks noChangeArrowheads="1"/>
                        </p:cNvPicPr>
                        <p:nvPr/>
                      </p:nvPicPr>
                      <p:blipFill>
                        <a:blip r:embed="rId19"/>
                        <a:srcRect/>
                        <a:stretch>
                          <a:fillRect/>
                        </a:stretch>
                      </p:blipFill>
                      <p:spPr bwMode="auto">
                        <a:xfrm>
                          <a:off x="7508060" y="2063245"/>
                          <a:ext cx="377825" cy="376238"/>
                        </a:xfrm>
                        <a:prstGeom prst="rect">
                          <a:avLst/>
                        </a:prstGeom>
                        <a:noFill/>
                        <a:ln>
                          <a:noFill/>
                        </a:ln>
                        <a:effectLst/>
                      </p:spPr>
                    </p:pic>
                  </p:oleObj>
                </mc:Fallback>
              </mc:AlternateContent>
            </a:graphicData>
          </a:graphic>
        </p:graphicFrame>
      </p:grpSp>
      <p:sp>
        <p:nvSpPr>
          <p:cNvPr id="91" name="Text Box 121"/>
          <p:cNvSpPr txBox="1">
            <a:spLocks noChangeArrowheads="1"/>
          </p:cNvSpPr>
          <p:nvPr/>
        </p:nvSpPr>
        <p:spPr bwMode="auto">
          <a:xfrm>
            <a:off x="781862" y="5628188"/>
            <a:ext cx="3757612" cy="461665"/>
          </a:xfrm>
          <a:prstGeom prst="rect">
            <a:avLst/>
          </a:prstGeom>
          <a:noFill/>
          <a:ln>
            <a:noFill/>
          </a:ln>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zh-CN" altLang="en-US" dirty="0">
                <a:solidFill>
                  <a:srgbClr val="0000FF"/>
                </a:solidFill>
                <a:latin typeface="楷体" panose="02010609060101010101" pitchFamily="49" charset="-122"/>
                <a:ea typeface="楷体" panose="02010609060101010101" pitchFamily="49" charset="-122"/>
              </a:rPr>
              <a:t>外力作用处的内力是多少？</a:t>
            </a:r>
          </a:p>
        </p:txBody>
      </p:sp>
    </p:spTree>
    <p:extLst>
      <p:ext uri="{BB962C8B-B14F-4D97-AF65-F5344CB8AC3E}">
        <p14:creationId xmlns:p14="http://schemas.microsoft.com/office/powerpoint/2010/main" val="45492647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70036"/>
                                        </p:tgtEl>
                                        <p:attrNameLst>
                                          <p:attrName>style.visibility</p:attrName>
                                        </p:attrNameLst>
                                      </p:cBhvr>
                                      <p:to>
                                        <p:strVal val="visible"/>
                                      </p:to>
                                    </p:set>
                                    <p:animEffect transition="in" filter="box(out)">
                                      <p:cBhvr>
                                        <p:cTn id="7" dur="500"/>
                                        <p:tgtEl>
                                          <p:spTgt spid="17003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170027"/>
                                        </p:tgtEl>
                                        <p:attrNameLst>
                                          <p:attrName>style.visibility</p:attrName>
                                        </p:attrNameLst>
                                      </p:cBhvr>
                                      <p:to>
                                        <p:strVal val="visible"/>
                                      </p:to>
                                    </p:set>
                                    <p:animEffect transition="in" filter="box(out)">
                                      <p:cBhvr>
                                        <p:cTn id="12" dur="500"/>
                                        <p:tgtEl>
                                          <p:spTgt spid="17002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169987"/>
                                        </p:tgtEl>
                                        <p:attrNameLst>
                                          <p:attrName>style.visibility</p:attrName>
                                        </p:attrNameLst>
                                      </p:cBhvr>
                                      <p:to>
                                        <p:strVal val="visible"/>
                                      </p:to>
                                    </p:set>
                                    <p:animEffect transition="in" filter="box(out)">
                                      <p:cBhvr>
                                        <p:cTn id="17" dur="500"/>
                                        <p:tgtEl>
                                          <p:spTgt spid="16998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2"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1+#ppt_w/2"/>
                                          </p:val>
                                        </p:tav>
                                        <p:tav tm="100000">
                                          <p:val>
                                            <p:strVal val="#ppt_x"/>
                                          </p:val>
                                        </p:tav>
                                      </p:tavLst>
                                    </p:anim>
                                    <p:anim calcmode="lin" valueType="num">
                                      <p:cBhvr additive="base">
                                        <p:cTn id="23"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 presetClass="entr" presetSubtype="32" fill="hold" nodeType="clickEffect">
                                  <p:stCondLst>
                                    <p:cond delay="0"/>
                                  </p:stCondLst>
                                  <p:childTnLst>
                                    <p:set>
                                      <p:cBhvr>
                                        <p:cTn id="27" dur="1" fill="hold">
                                          <p:stCondLst>
                                            <p:cond delay="0"/>
                                          </p:stCondLst>
                                        </p:cTn>
                                        <p:tgtEl>
                                          <p:spTgt spid="169996"/>
                                        </p:tgtEl>
                                        <p:attrNameLst>
                                          <p:attrName>style.visibility</p:attrName>
                                        </p:attrNameLst>
                                      </p:cBhvr>
                                      <p:to>
                                        <p:strVal val="visible"/>
                                      </p:to>
                                    </p:set>
                                    <p:animEffect transition="in" filter="box(out)">
                                      <p:cBhvr>
                                        <p:cTn id="28" dur="500"/>
                                        <p:tgtEl>
                                          <p:spTgt spid="169996"/>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32"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box(out)">
                                      <p:cBhvr>
                                        <p:cTn id="33" dur="500"/>
                                        <p:tgtEl>
                                          <p:spTgt spid="2"/>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32" fill="hold" nodeType="clickEffect">
                                  <p:stCondLst>
                                    <p:cond delay="0"/>
                                  </p:stCondLst>
                                  <p:childTnLst>
                                    <p:set>
                                      <p:cBhvr>
                                        <p:cTn id="37" dur="1" fill="hold">
                                          <p:stCondLst>
                                            <p:cond delay="0"/>
                                          </p:stCondLst>
                                        </p:cTn>
                                        <p:tgtEl>
                                          <p:spTgt spid="170030"/>
                                        </p:tgtEl>
                                        <p:attrNameLst>
                                          <p:attrName>style.visibility</p:attrName>
                                        </p:attrNameLst>
                                      </p:cBhvr>
                                      <p:to>
                                        <p:strVal val="visible"/>
                                      </p:to>
                                    </p:set>
                                    <p:animEffect transition="in" filter="box(out)">
                                      <p:cBhvr>
                                        <p:cTn id="38" dur="500"/>
                                        <p:tgtEl>
                                          <p:spTgt spid="170030"/>
                                        </p:tgtEl>
                                      </p:cBhvr>
                                    </p:animEffect>
                                  </p:childTnLst>
                                </p:cTn>
                              </p:par>
                            </p:childTnLst>
                          </p:cTn>
                        </p:par>
                      </p:childTnLst>
                    </p:cTn>
                  </p:par>
                  <p:par>
                    <p:cTn id="39" fill="hold">
                      <p:stCondLst>
                        <p:cond delay="indefinite"/>
                      </p:stCondLst>
                      <p:childTnLst>
                        <p:par>
                          <p:cTn id="40" fill="hold">
                            <p:stCondLst>
                              <p:cond delay="0"/>
                            </p:stCondLst>
                            <p:childTnLst>
                              <p:par>
                                <p:cTn id="41" presetID="4" presetClass="entr" presetSubtype="32" fill="hold" nodeType="clickEffect">
                                  <p:stCondLst>
                                    <p:cond delay="0"/>
                                  </p:stCondLst>
                                  <p:childTnLst>
                                    <p:set>
                                      <p:cBhvr>
                                        <p:cTn id="42" dur="1" fill="hold">
                                          <p:stCondLst>
                                            <p:cond delay="0"/>
                                          </p:stCondLst>
                                        </p:cTn>
                                        <p:tgtEl>
                                          <p:spTgt spid="169997"/>
                                        </p:tgtEl>
                                        <p:attrNameLst>
                                          <p:attrName>style.visibility</p:attrName>
                                        </p:attrNameLst>
                                      </p:cBhvr>
                                      <p:to>
                                        <p:strVal val="visible"/>
                                      </p:to>
                                    </p:set>
                                    <p:animEffect transition="in" filter="box(out)">
                                      <p:cBhvr>
                                        <p:cTn id="43" dur="500"/>
                                        <p:tgtEl>
                                          <p:spTgt spid="169997"/>
                                        </p:tgtEl>
                                      </p:cBhvr>
                                    </p:animEffect>
                                  </p:childTnLst>
                                </p:cTn>
                              </p:par>
                            </p:childTnLst>
                          </p:cTn>
                        </p:par>
                      </p:childTnLst>
                    </p:cTn>
                  </p:par>
                  <p:par>
                    <p:cTn id="44" fill="hold">
                      <p:stCondLst>
                        <p:cond delay="indefinite"/>
                      </p:stCondLst>
                      <p:childTnLst>
                        <p:par>
                          <p:cTn id="45" fill="hold">
                            <p:stCondLst>
                              <p:cond delay="0"/>
                            </p:stCondLst>
                            <p:childTnLst>
                              <p:par>
                                <p:cTn id="46" presetID="4" presetClass="entr" presetSubtype="32" fill="hold" nodeType="clickEffect">
                                  <p:stCondLst>
                                    <p:cond delay="0"/>
                                  </p:stCondLst>
                                  <p:childTnLst>
                                    <p:set>
                                      <p:cBhvr>
                                        <p:cTn id="47" dur="1" fill="hold">
                                          <p:stCondLst>
                                            <p:cond delay="0"/>
                                          </p:stCondLst>
                                        </p:cTn>
                                        <p:tgtEl>
                                          <p:spTgt spid="170009"/>
                                        </p:tgtEl>
                                        <p:attrNameLst>
                                          <p:attrName>style.visibility</p:attrName>
                                        </p:attrNameLst>
                                      </p:cBhvr>
                                      <p:to>
                                        <p:strVal val="visible"/>
                                      </p:to>
                                    </p:set>
                                    <p:animEffect transition="in" filter="box(out)">
                                      <p:cBhvr>
                                        <p:cTn id="48" dur="500"/>
                                        <p:tgtEl>
                                          <p:spTgt spid="170009"/>
                                        </p:tgtEl>
                                      </p:cBhvr>
                                    </p:animEffect>
                                  </p:childTnLst>
                                </p:cTn>
                              </p:par>
                            </p:childTnLst>
                          </p:cTn>
                        </p:par>
                      </p:childTnLst>
                    </p:cTn>
                  </p:par>
                  <p:par>
                    <p:cTn id="49" fill="hold">
                      <p:stCondLst>
                        <p:cond delay="indefinite"/>
                      </p:stCondLst>
                      <p:childTnLst>
                        <p:par>
                          <p:cTn id="50" fill="hold">
                            <p:stCondLst>
                              <p:cond delay="0"/>
                            </p:stCondLst>
                            <p:childTnLst>
                              <p:par>
                                <p:cTn id="51" presetID="4" presetClass="entr" presetSubtype="32" fill="hold" nodeType="clickEffect">
                                  <p:stCondLst>
                                    <p:cond delay="0"/>
                                  </p:stCondLst>
                                  <p:childTnLst>
                                    <p:set>
                                      <p:cBhvr>
                                        <p:cTn id="52" dur="1" fill="hold">
                                          <p:stCondLst>
                                            <p:cond delay="0"/>
                                          </p:stCondLst>
                                        </p:cTn>
                                        <p:tgtEl>
                                          <p:spTgt spid="3"/>
                                        </p:tgtEl>
                                        <p:attrNameLst>
                                          <p:attrName>style.visibility</p:attrName>
                                        </p:attrNameLst>
                                      </p:cBhvr>
                                      <p:to>
                                        <p:strVal val="visible"/>
                                      </p:to>
                                    </p:set>
                                    <p:animEffect transition="in" filter="box(out)">
                                      <p:cBhvr>
                                        <p:cTn id="53" dur="500"/>
                                        <p:tgtEl>
                                          <p:spTgt spid="3"/>
                                        </p:tgtEl>
                                      </p:cBhvr>
                                    </p:animEffect>
                                  </p:childTnLst>
                                </p:cTn>
                              </p:par>
                            </p:childTnLst>
                          </p:cTn>
                        </p:par>
                      </p:childTnLst>
                    </p:cTn>
                  </p:par>
                  <p:par>
                    <p:cTn id="54" fill="hold">
                      <p:stCondLst>
                        <p:cond delay="indefinite"/>
                      </p:stCondLst>
                      <p:childTnLst>
                        <p:par>
                          <p:cTn id="55" fill="hold">
                            <p:stCondLst>
                              <p:cond delay="0"/>
                            </p:stCondLst>
                            <p:childTnLst>
                              <p:par>
                                <p:cTn id="56" presetID="4" presetClass="entr" presetSubtype="32" fill="hold" nodeType="clickEffect">
                                  <p:stCondLst>
                                    <p:cond delay="0"/>
                                  </p:stCondLst>
                                  <p:childTnLst>
                                    <p:set>
                                      <p:cBhvr>
                                        <p:cTn id="57" dur="1" fill="hold">
                                          <p:stCondLst>
                                            <p:cond delay="0"/>
                                          </p:stCondLst>
                                        </p:cTn>
                                        <p:tgtEl>
                                          <p:spTgt spid="170033"/>
                                        </p:tgtEl>
                                        <p:attrNameLst>
                                          <p:attrName>style.visibility</p:attrName>
                                        </p:attrNameLst>
                                      </p:cBhvr>
                                      <p:to>
                                        <p:strVal val="visible"/>
                                      </p:to>
                                    </p:set>
                                    <p:animEffect transition="in" filter="box(out)">
                                      <p:cBhvr>
                                        <p:cTn id="58" dur="500"/>
                                        <p:tgtEl>
                                          <p:spTgt spid="170033"/>
                                        </p:tgtEl>
                                      </p:cBhvr>
                                    </p:animEffect>
                                  </p:childTnLst>
                                </p:cTn>
                              </p:par>
                            </p:childTnLst>
                          </p:cTn>
                        </p:par>
                      </p:childTnLst>
                    </p:cTn>
                  </p:par>
                  <p:par>
                    <p:cTn id="59" fill="hold">
                      <p:stCondLst>
                        <p:cond delay="indefinite"/>
                      </p:stCondLst>
                      <p:childTnLst>
                        <p:par>
                          <p:cTn id="60" fill="hold">
                            <p:stCondLst>
                              <p:cond delay="0"/>
                            </p:stCondLst>
                            <p:childTnLst>
                              <p:par>
                                <p:cTn id="61" presetID="8" presetClass="entr" presetSubtype="32" fill="hold" nodeType="clickEffect">
                                  <p:stCondLst>
                                    <p:cond delay="0"/>
                                  </p:stCondLst>
                                  <p:childTnLst>
                                    <p:set>
                                      <p:cBhvr>
                                        <p:cTn id="62" dur="1" fill="hold">
                                          <p:stCondLst>
                                            <p:cond delay="0"/>
                                          </p:stCondLst>
                                        </p:cTn>
                                        <p:tgtEl>
                                          <p:spTgt spid="170062"/>
                                        </p:tgtEl>
                                        <p:attrNameLst>
                                          <p:attrName>style.visibility</p:attrName>
                                        </p:attrNameLst>
                                      </p:cBhvr>
                                      <p:to>
                                        <p:strVal val="visible"/>
                                      </p:to>
                                    </p:set>
                                    <p:animEffect transition="in" filter="diamond(out)">
                                      <p:cBhvr>
                                        <p:cTn id="63" dur="750"/>
                                        <p:tgtEl>
                                          <p:spTgt spid="170062"/>
                                        </p:tgtEl>
                                      </p:cBhvr>
                                    </p:animEffect>
                                  </p:childTnLst>
                                </p:cTn>
                              </p:par>
                            </p:childTnLst>
                          </p:cTn>
                        </p:par>
                      </p:childTnLst>
                    </p:cTn>
                  </p:par>
                  <p:par>
                    <p:cTn id="64" fill="hold">
                      <p:stCondLst>
                        <p:cond delay="indefinite"/>
                      </p:stCondLst>
                      <p:childTnLst>
                        <p:par>
                          <p:cTn id="65" fill="hold">
                            <p:stCondLst>
                              <p:cond delay="0"/>
                            </p:stCondLst>
                            <p:childTnLst>
                              <p:par>
                                <p:cTn id="66" presetID="4" presetClass="entr" presetSubtype="32" fill="hold" nodeType="clickEffect">
                                  <p:stCondLst>
                                    <p:cond delay="0"/>
                                  </p:stCondLst>
                                  <p:childTnLst>
                                    <p:set>
                                      <p:cBhvr>
                                        <p:cTn id="67" dur="1" fill="hold">
                                          <p:stCondLst>
                                            <p:cond delay="0"/>
                                          </p:stCondLst>
                                        </p:cTn>
                                        <p:tgtEl>
                                          <p:spTgt spid="170010"/>
                                        </p:tgtEl>
                                        <p:attrNameLst>
                                          <p:attrName>style.visibility</p:attrName>
                                        </p:attrNameLst>
                                      </p:cBhvr>
                                      <p:to>
                                        <p:strVal val="visible"/>
                                      </p:to>
                                    </p:set>
                                    <p:animEffect transition="in" filter="box(out)">
                                      <p:cBhvr>
                                        <p:cTn id="68" dur="500"/>
                                        <p:tgtEl>
                                          <p:spTgt spid="170010"/>
                                        </p:tgtEl>
                                      </p:cBhvr>
                                    </p:animEffect>
                                  </p:childTnLst>
                                </p:cTn>
                              </p:par>
                            </p:childTnLst>
                          </p:cTn>
                        </p:par>
                      </p:childTnLst>
                    </p:cTn>
                  </p:par>
                  <p:par>
                    <p:cTn id="69" fill="hold">
                      <p:stCondLst>
                        <p:cond delay="indefinite"/>
                      </p:stCondLst>
                      <p:childTnLst>
                        <p:par>
                          <p:cTn id="70" fill="hold">
                            <p:stCondLst>
                              <p:cond delay="0"/>
                            </p:stCondLst>
                            <p:childTnLst>
                              <p:par>
                                <p:cTn id="71" presetID="4" presetClass="entr" presetSubtype="32" fill="hold" nodeType="clickEffect">
                                  <p:stCondLst>
                                    <p:cond delay="0"/>
                                  </p:stCondLst>
                                  <p:childTnLst>
                                    <p:set>
                                      <p:cBhvr>
                                        <p:cTn id="72" dur="1" fill="hold">
                                          <p:stCondLst>
                                            <p:cond delay="0"/>
                                          </p:stCondLst>
                                        </p:cTn>
                                        <p:tgtEl>
                                          <p:spTgt spid="4"/>
                                        </p:tgtEl>
                                        <p:attrNameLst>
                                          <p:attrName>style.visibility</p:attrName>
                                        </p:attrNameLst>
                                      </p:cBhvr>
                                      <p:to>
                                        <p:strVal val="visible"/>
                                      </p:to>
                                    </p:set>
                                    <p:animEffect transition="in" filter="box(out)">
                                      <p:cBhvr>
                                        <p:cTn id="73" dur="500"/>
                                        <p:tgtEl>
                                          <p:spTgt spid="4"/>
                                        </p:tgtEl>
                                      </p:cBhvr>
                                    </p:animEffect>
                                  </p:childTnLst>
                                </p:cTn>
                              </p:par>
                            </p:childTnLst>
                          </p:cTn>
                        </p:par>
                      </p:childTnLst>
                    </p:cTn>
                  </p:par>
                  <p:par>
                    <p:cTn id="74" fill="hold">
                      <p:stCondLst>
                        <p:cond delay="indefinite"/>
                      </p:stCondLst>
                      <p:childTnLst>
                        <p:par>
                          <p:cTn id="75" fill="hold">
                            <p:stCondLst>
                              <p:cond delay="0"/>
                            </p:stCondLst>
                            <p:childTnLst>
                              <p:par>
                                <p:cTn id="76" presetID="4" presetClass="entr" presetSubtype="32" fill="hold" grpId="0" nodeType="clickEffect">
                                  <p:stCondLst>
                                    <p:cond delay="0"/>
                                  </p:stCondLst>
                                  <p:childTnLst>
                                    <p:set>
                                      <p:cBhvr>
                                        <p:cTn id="77" dur="1" fill="hold">
                                          <p:stCondLst>
                                            <p:cond delay="0"/>
                                          </p:stCondLst>
                                        </p:cTn>
                                        <p:tgtEl>
                                          <p:spTgt spid="170058"/>
                                        </p:tgtEl>
                                        <p:attrNameLst>
                                          <p:attrName>style.visibility</p:attrName>
                                        </p:attrNameLst>
                                      </p:cBhvr>
                                      <p:to>
                                        <p:strVal val="visible"/>
                                      </p:to>
                                    </p:set>
                                    <p:animEffect transition="in" filter="box(out)">
                                      <p:cBhvr>
                                        <p:cTn id="78" dur="500"/>
                                        <p:tgtEl>
                                          <p:spTgt spid="170058"/>
                                        </p:tgtEl>
                                      </p:cBhvr>
                                    </p:animEffect>
                                  </p:childTnLst>
                                </p:cTn>
                              </p:par>
                            </p:childTnLst>
                          </p:cTn>
                        </p:par>
                      </p:childTnLst>
                    </p:cTn>
                  </p:par>
                  <p:par>
                    <p:cTn id="79" fill="hold">
                      <p:stCondLst>
                        <p:cond delay="indefinite"/>
                      </p:stCondLst>
                      <p:childTnLst>
                        <p:par>
                          <p:cTn id="80" fill="hold">
                            <p:stCondLst>
                              <p:cond delay="0"/>
                            </p:stCondLst>
                            <p:childTnLst>
                              <p:par>
                                <p:cTn id="81" presetID="3" presetClass="entr" presetSubtype="10" fill="hold" nodeType="clickEffect">
                                  <p:stCondLst>
                                    <p:cond delay="0"/>
                                  </p:stCondLst>
                                  <p:childTnLst>
                                    <p:set>
                                      <p:cBhvr>
                                        <p:cTn id="82" dur="1" fill="hold">
                                          <p:stCondLst>
                                            <p:cond delay="0"/>
                                          </p:stCondLst>
                                        </p:cTn>
                                        <p:tgtEl>
                                          <p:spTgt spid="13409"/>
                                        </p:tgtEl>
                                        <p:attrNameLst>
                                          <p:attrName>style.visibility</p:attrName>
                                        </p:attrNameLst>
                                      </p:cBhvr>
                                      <p:to>
                                        <p:strVal val="visible"/>
                                      </p:to>
                                    </p:set>
                                    <p:animEffect transition="in" filter="blinds(horizontal)">
                                      <p:cBhvr>
                                        <p:cTn id="83" dur="500"/>
                                        <p:tgtEl>
                                          <p:spTgt spid="13409"/>
                                        </p:tgtEl>
                                      </p:cBhvr>
                                    </p:animEffect>
                                  </p:childTnLst>
                                </p:cTn>
                              </p:par>
                            </p:childTnLst>
                          </p:cTn>
                        </p:par>
                      </p:childTnLst>
                    </p:cTn>
                  </p:par>
                  <p:par>
                    <p:cTn id="84" fill="hold">
                      <p:stCondLst>
                        <p:cond delay="indefinite"/>
                      </p:stCondLst>
                      <p:childTnLst>
                        <p:par>
                          <p:cTn id="85" fill="hold">
                            <p:stCondLst>
                              <p:cond delay="0"/>
                            </p:stCondLst>
                            <p:childTnLst>
                              <p:par>
                                <p:cTn id="86" presetID="4" presetClass="entr" presetSubtype="32" fill="hold" grpId="0" nodeType="clickEffect">
                                  <p:stCondLst>
                                    <p:cond delay="0"/>
                                  </p:stCondLst>
                                  <p:childTnLst>
                                    <p:set>
                                      <p:cBhvr>
                                        <p:cTn id="87" dur="1" fill="hold">
                                          <p:stCondLst>
                                            <p:cond delay="0"/>
                                          </p:stCondLst>
                                        </p:cTn>
                                        <p:tgtEl>
                                          <p:spTgt spid="170057"/>
                                        </p:tgtEl>
                                        <p:attrNameLst>
                                          <p:attrName>style.visibility</p:attrName>
                                        </p:attrNameLst>
                                      </p:cBhvr>
                                      <p:to>
                                        <p:strVal val="visible"/>
                                      </p:to>
                                    </p:set>
                                    <p:animEffect transition="in" filter="box(out)">
                                      <p:cBhvr>
                                        <p:cTn id="88" dur="500"/>
                                        <p:tgtEl>
                                          <p:spTgt spid="170057"/>
                                        </p:tgtEl>
                                      </p:cBhvr>
                                    </p:animEffect>
                                  </p:childTnLst>
                                </p:cTn>
                              </p:par>
                            </p:childTnLst>
                          </p:cTn>
                        </p:par>
                      </p:childTnLst>
                    </p:cTn>
                  </p:par>
                  <p:par>
                    <p:cTn id="89" fill="hold">
                      <p:stCondLst>
                        <p:cond delay="indefinite"/>
                      </p:stCondLst>
                      <p:childTnLst>
                        <p:par>
                          <p:cTn id="90" fill="hold">
                            <p:stCondLst>
                              <p:cond delay="0"/>
                            </p:stCondLst>
                            <p:childTnLst>
                              <p:par>
                                <p:cTn id="91" presetID="4" presetClass="entr" presetSubtype="32" fill="hold" grpId="0" nodeType="clickEffect">
                                  <p:stCondLst>
                                    <p:cond delay="0"/>
                                  </p:stCondLst>
                                  <p:childTnLst>
                                    <p:set>
                                      <p:cBhvr>
                                        <p:cTn id="92" dur="1" fill="hold">
                                          <p:stCondLst>
                                            <p:cond delay="0"/>
                                          </p:stCondLst>
                                        </p:cTn>
                                        <p:tgtEl>
                                          <p:spTgt spid="170056"/>
                                        </p:tgtEl>
                                        <p:attrNameLst>
                                          <p:attrName>style.visibility</p:attrName>
                                        </p:attrNameLst>
                                      </p:cBhvr>
                                      <p:to>
                                        <p:strVal val="visible"/>
                                      </p:to>
                                    </p:set>
                                    <p:animEffect transition="in" filter="box(out)">
                                      <p:cBhvr>
                                        <p:cTn id="93" dur="500"/>
                                        <p:tgtEl>
                                          <p:spTgt spid="170056"/>
                                        </p:tgtEl>
                                      </p:cBhvr>
                                    </p:animEffect>
                                  </p:childTnLst>
                                </p:cTn>
                              </p:par>
                            </p:childTnLst>
                          </p:cTn>
                        </p:par>
                      </p:childTnLst>
                    </p:cTn>
                  </p:par>
                  <p:par>
                    <p:cTn id="94" fill="hold">
                      <p:stCondLst>
                        <p:cond delay="indefinite"/>
                      </p:stCondLst>
                      <p:childTnLst>
                        <p:par>
                          <p:cTn id="95" fill="hold">
                            <p:stCondLst>
                              <p:cond delay="0"/>
                            </p:stCondLst>
                            <p:childTnLst>
                              <p:par>
                                <p:cTn id="96" presetID="2" presetClass="entr" presetSubtype="4" fill="hold" grpId="0" nodeType="clickEffect">
                                  <p:stCondLst>
                                    <p:cond delay="0"/>
                                  </p:stCondLst>
                                  <p:childTnLst>
                                    <p:set>
                                      <p:cBhvr>
                                        <p:cTn id="97" dur="1" fill="hold">
                                          <p:stCondLst>
                                            <p:cond delay="0"/>
                                          </p:stCondLst>
                                        </p:cTn>
                                        <p:tgtEl>
                                          <p:spTgt spid="88"/>
                                        </p:tgtEl>
                                        <p:attrNameLst>
                                          <p:attrName>style.visibility</p:attrName>
                                        </p:attrNameLst>
                                      </p:cBhvr>
                                      <p:to>
                                        <p:strVal val="visible"/>
                                      </p:to>
                                    </p:set>
                                    <p:anim calcmode="lin" valueType="num">
                                      <p:cBhvr additive="base">
                                        <p:cTn id="98" dur="500" fill="hold"/>
                                        <p:tgtEl>
                                          <p:spTgt spid="88"/>
                                        </p:tgtEl>
                                        <p:attrNameLst>
                                          <p:attrName>ppt_x</p:attrName>
                                        </p:attrNameLst>
                                      </p:cBhvr>
                                      <p:tavLst>
                                        <p:tav tm="0">
                                          <p:val>
                                            <p:strVal val="#ppt_x"/>
                                          </p:val>
                                        </p:tav>
                                        <p:tav tm="100000">
                                          <p:val>
                                            <p:strVal val="#ppt_x"/>
                                          </p:val>
                                        </p:tav>
                                      </p:tavLst>
                                    </p:anim>
                                    <p:anim calcmode="lin" valueType="num">
                                      <p:cBhvr additive="base">
                                        <p:cTn id="99" dur="500" fill="hold"/>
                                        <p:tgtEl>
                                          <p:spTgt spid="88"/>
                                        </p:tgtEl>
                                        <p:attrNameLst>
                                          <p:attrName>ppt_y</p:attrName>
                                        </p:attrNameLst>
                                      </p:cBhvr>
                                      <p:tavLst>
                                        <p:tav tm="0">
                                          <p:val>
                                            <p:strVal val="1+#ppt_h/2"/>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2" presetClass="entr" presetSubtype="4" fill="hold" grpId="0" nodeType="clickEffect">
                                  <p:stCondLst>
                                    <p:cond delay="0"/>
                                  </p:stCondLst>
                                  <p:childTnLst>
                                    <p:set>
                                      <p:cBhvr>
                                        <p:cTn id="103" dur="1" fill="hold">
                                          <p:stCondLst>
                                            <p:cond delay="0"/>
                                          </p:stCondLst>
                                        </p:cTn>
                                        <p:tgtEl>
                                          <p:spTgt spid="91"/>
                                        </p:tgtEl>
                                        <p:attrNameLst>
                                          <p:attrName>style.visibility</p:attrName>
                                        </p:attrNameLst>
                                      </p:cBhvr>
                                      <p:to>
                                        <p:strVal val="visible"/>
                                      </p:to>
                                    </p:set>
                                    <p:anim calcmode="lin" valueType="num">
                                      <p:cBhvr additive="base">
                                        <p:cTn id="104" dur="500" fill="hold"/>
                                        <p:tgtEl>
                                          <p:spTgt spid="91"/>
                                        </p:tgtEl>
                                        <p:attrNameLst>
                                          <p:attrName>ppt_x</p:attrName>
                                        </p:attrNameLst>
                                      </p:cBhvr>
                                      <p:tavLst>
                                        <p:tav tm="0">
                                          <p:val>
                                            <p:strVal val="#ppt_x"/>
                                          </p:val>
                                        </p:tav>
                                        <p:tav tm="100000">
                                          <p:val>
                                            <p:strVal val="#ppt_x"/>
                                          </p:val>
                                        </p:tav>
                                      </p:tavLst>
                                    </p:anim>
                                    <p:anim calcmode="lin" valueType="num">
                                      <p:cBhvr additive="base">
                                        <p:cTn id="105" dur="500" fill="hold"/>
                                        <p:tgtEl>
                                          <p:spTgt spid="9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036" grpId="0" autoUpdateAnimBg="0"/>
      <p:bldP spid="170056" grpId="0" autoUpdateAnimBg="0"/>
      <p:bldP spid="170057" grpId="0" autoUpdateAnimBg="0"/>
      <p:bldP spid="170058" grpId="0"/>
      <p:bldP spid="88" grpId="0"/>
      <p:bldP spid="9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55" name="Rectangle 11"/>
          <p:cNvSpPr>
            <a:spLocks noChangeArrowheads="1"/>
          </p:cNvSpPr>
          <p:nvPr/>
        </p:nvSpPr>
        <p:spPr bwMode="auto">
          <a:xfrm>
            <a:off x="1043037" y="2111846"/>
            <a:ext cx="7437437"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dirty="0">
                <a:solidFill>
                  <a:srgbClr val="E2220E"/>
                </a:solidFill>
                <a:latin typeface="黑体" panose="02010609060101010101" pitchFamily="49" charset="-122"/>
                <a:ea typeface="黑体" panose="02010609060101010101" pitchFamily="49" charset="-122"/>
              </a:rPr>
              <a:t>截开</a:t>
            </a:r>
            <a:r>
              <a:rPr lang="zh-CN" altLang="en-US" b="0" dirty="0">
                <a:solidFill>
                  <a:srgbClr val="2113DD"/>
                </a:solidFill>
                <a:latin typeface="黑体" panose="02010609060101010101" pitchFamily="49" charset="-122"/>
                <a:ea typeface="黑体" panose="02010609060101010101" pitchFamily="49" charset="-122"/>
              </a:rPr>
              <a:t>  </a:t>
            </a:r>
            <a:r>
              <a:rPr lang="zh-CN" altLang="en-US" dirty="0">
                <a:solidFill>
                  <a:srgbClr val="000000"/>
                </a:solidFill>
                <a:latin typeface="楷体" panose="02010609060101010101" pitchFamily="49" charset="-122"/>
                <a:ea typeface="楷体" panose="02010609060101010101" pitchFamily="49" charset="-122"/>
              </a:rPr>
              <a:t>在需求内力的截面处假想用截面将杆件</a:t>
            </a:r>
          </a:p>
          <a:p>
            <a:pPr algn="l" eaLnBrk="1" hangingPunct="1"/>
            <a:r>
              <a:rPr lang="zh-CN" altLang="en-US" dirty="0">
                <a:solidFill>
                  <a:srgbClr val="000000"/>
                </a:solidFill>
                <a:latin typeface="楷体" panose="02010609060101010101" pitchFamily="49" charset="-122"/>
                <a:ea typeface="楷体" panose="02010609060101010101" pitchFamily="49" charset="-122"/>
              </a:rPr>
              <a:t>     一分为二，并取其中一部分作为研究对象。</a:t>
            </a:r>
          </a:p>
        </p:txBody>
      </p:sp>
      <p:sp>
        <p:nvSpPr>
          <p:cNvPr id="57356" name="Rectangle 12"/>
          <p:cNvSpPr>
            <a:spLocks noChangeArrowheads="1"/>
          </p:cNvSpPr>
          <p:nvPr/>
        </p:nvSpPr>
        <p:spPr bwMode="auto">
          <a:xfrm>
            <a:off x="1043037" y="3199284"/>
            <a:ext cx="6985000" cy="457200"/>
          </a:xfrm>
          <a:prstGeom prst="rect">
            <a:avLst/>
          </a:prstGeom>
          <a:noFill/>
          <a:ln w="9525">
            <a:noFill/>
            <a:miter lim="800000"/>
            <a:headEnd/>
            <a:tailEnd/>
          </a:ln>
          <a:effectLst/>
        </p:spPr>
        <p:txBody>
          <a:bodyPr>
            <a:spAutoFit/>
          </a:bodyPr>
          <a:lstStyle/>
          <a:p>
            <a:pPr algn="l">
              <a:defRPr/>
            </a:pPr>
            <a:r>
              <a:rPr lang="zh-CN" altLang="en-US" b="1" dirty="0">
                <a:solidFill>
                  <a:srgbClr val="E2220E"/>
                </a:solidFill>
                <a:latin typeface="黑体" panose="02010609060101010101" pitchFamily="49" charset="-122"/>
                <a:ea typeface="黑体" panose="02010609060101010101" pitchFamily="49" charset="-122"/>
              </a:rPr>
              <a:t>设正</a:t>
            </a:r>
            <a:r>
              <a:rPr lang="zh-CN" altLang="en-US" dirty="0">
                <a:solidFill>
                  <a:srgbClr val="E2220E"/>
                </a:solidFill>
                <a:effectLst>
                  <a:outerShdw blurRad="38100" dist="38100" dir="2700000" algn="tl">
                    <a:srgbClr val="C0C0C0"/>
                  </a:outerShdw>
                </a:effectLst>
                <a:latin typeface="楷体_GB2312" pitchFamily="49" charset="-122"/>
                <a:ea typeface="楷体_GB2312" pitchFamily="49" charset="-122"/>
              </a:rPr>
              <a:t> </a:t>
            </a:r>
            <a:r>
              <a:rPr lang="zh-CN" altLang="en-US" b="0" dirty="0">
                <a:solidFill>
                  <a:srgbClr val="2113DD"/>
                </a:solidFill>
                <a:latin typeface="楷体_GB2312" pitchFamily="49" charset="-122"/>
                <a:ea typeface="楷体_GB2312" pitchFamily="49" charset="-122"/>
              </a:rPr>
              <a:t> </a:t>
            </a:r>
            <a:r>
              <a:rPr lang="en-US" altLang="zh-CN" b="1" i="1" dirty="0">
                <a:solidFill>
                  <a:srgbClr val="000000"/>
                </a:solidFill>
                <a:latin typeface="+mj-lt"/>
                <a:ea typeface="楷体" panose="02010609060101010101" pitchFamily="49" charset="-122"/>
              </a:rPr>
              <a:t>F</a:t>
            </a:r>
            <a:r>
              <a:rPr lang="en-US" altLang="zh-CN" b="1" baseline="-25000" dirty="0">
                <a:solidFill>
                  <a:srgbClr val="000000"/>
                </a:solidFill>
                <a:latin typeface="+mj-lt"/>
                <a:ea typeface="楷体" panose="02010609060101010101" pitchFamily="49" charset="-122"/>
              </a:rPr>
              <a:t>N</a:t>
            </a:r>
            <a:r>
              <a:rPr lang="zh-CN" altLang="en-US" b="1" dirty="0">
                <a:solidFill>
                  <a:srgbClr val="000000"/>
                </a:solidFill>
                <a:latin typeface="+mj-lt"/>
                <a:ea typeface="楷体" panose="02010609060101010101" pitchFamily="49" charset="-122"/>
              </a:rPr>
              <a:t>背离截面设为正轴力。（确定轴力方向）</a:t>
            </a:r>
          </a:p>
        </p:txBody>
      </p:sp>
      <p:sp>
        <p:nvSpPr>
          <p:cNvPr id="57357" name="Rectangle 13"/>
          <p:cNvSpPr>
            <a:spLocks noChangeArrowheads="1"/>
          </p:cNvSpPr>
          <p:nvPr/>
        </p:nvSpPr>
        <p:spPr bwMode="auto">
          <a:xfrm>
            <a:off x="1043037" y="3913659"/>
            <a:ext cx="6535738" cy="830262"/>
          </a:xfrm>
          <a:prstGeom prst="rect">
            <a:avLst/>
          </a:prstGeom>
          <a:noFill/>
          <a:ln w="9525">
            <a:noFill/>
            <a:miter lim="800000"/>
            <a:headEnd/>
            <a:tailEnd/>
          </a:ln>
          <a:effectLst/>
        </p:spPr>
        <p:txBody>
          <a:bodyPr>
            <a:spAutoFit/>
          </a:bodyPr>
          <a:lstStyle/>
          <a:p>
            <a:pPr algn="l">
              <a:defRPr/>
            </a:pPr>
            <a:r>
              <a:rPr lang="zh-CN" altLang="en-US" b="1" dirty="0">
                <a:solidFill>
                  <a:srgbClr val="E2220E"/>
                </a:solidFill>
                <a:latin typeface="黑体" panose="02010609060101010101" pitchFamily="49" charset="-122"/>
                <a:ea typeface="黑体" panose="02010609060101010101" pitchFamily="49" charset="-122"/>
              </a:rPr>
              <a:t>平衡</a:t>
            </a:r>
            <a:r>
              <a:rPr lang="zh-CN" altLang="en-US" dirty="0">
                <a:solidFill>
                  <a:srgbClr val="E2220E"/>
                </a:solidFill>
                <a:effectLst>
                  <a:outerShdw blurRad="38100" dist="38100" dir="2700000" algn="tl">
                    <a:srgbClr val="C0C0C0"/>
                  </a:outerShdw>
                </a:effectLst>
                <a:latin typeface="楷体_GB2312" pitchFamily="49" charset="-122"/>
                <a:ea typeface="楷体_GB2312" pitchFamily="49" charset="-122"/>
              </a:rPr>
              <a:t>  </a:t>
            </a:r>
            <a:r>
              <a:rPr lang="zh-CN" altLang="en-US" b="1" dirty="0">
                <a:solidFill>
                  <a:srgbClr val="000000"/>
                </a:solidFill>
                <a:latin typeface="楷体" panose="02010609060101010101" pitchFamily="49" charset="-122"/>
                <a:ea typeface="楷体" panose="02010609060101010101" pitchFamily="49" charset="-122"/>
              </a:rPr>
              <a:t>根据研究对象的受力图建立平衡方程，</a:t>
            </a:r>
          </a:p>
          <a:p>
            <a:pPr algn="l">
              <a:defRPr/>
            </a:pPr>
            <a:r>
              <a:rPr lang="zh-CN" altLang="en-US" b="1" dirty="0">
                <a:solidFill>
                  <a:srgbClr val="000000"/>
                </a:solidFill>
                <a:latin typeface="楷体" panose="02010609060101010101" pitchFamily="49" charset="-122"/>
                <a:ea typeface="楷体" panose="02010609060101010101" pitchFamily="49" charset="-122"/>
              </a:rPr>
              <a:t>      求出截面上的内力值。</a:t>
            </a:r>
          </a:p>
        </p:txBody>
      </p:sp>
      <p:sp>
        <p:nvSpPr>
          <p:cNvPr id="57358" name="Rectangle 14"/>
          <p:cNvSpPr>
            <a:spLocks noChangeArrowheads="1"/>
          </p:cNvSpPr>
          <p:nvPr/>
        </p:nvSpPr>
        <p:spPr bwMode="auto">
          <a:xfrm>
            <a:off x="1043037" y="4985349"/>
            <a:ext cx="6794500" cy="830262"/>
          </a:xfrm>
          <a:prstGeom prst="rect">
            <a:avLst/>
          </a:prstGeom>
          <a:noFill/>
          <a:ln w="9525">
            <a:noFill/>
            <a:miter lim="800000"/>
            <a:headEnd/>
            <a:tailEnd/>
          </a:ln>
          <a:effectLst/>
        </p:spPr>
        <p:txBody>
          <a:bodyPr>
            <a:spAutoFit/>
          </a:bodyPr>
          <a:lstStyle/>
          <a:p>
            <a:pPr algn="l">
              <a:defRPr/>
            </a:pPr>
            <a:r>
              <a:rPr lang="zh-CN" altLang="en-US" b="1" dirty="0">
                <a:solidFill>
                  <a:srgbClr val="E2220E"/>
                </a:solidFill>
                <a:latin typeface="黑体" panose="02010609060101010101" pitchFamily="49" charset="-122"/>
                <a:ea typeface="黑体" panose="02010609060101010101" pitchFamily="49" charset="-122"/>
              </a:rPr>
              <a:t>绘图</a:t>
            </a:r>
            <a:r>
              <a:rPr lang="zh-CN" altLang="en-US" dirty="0">
                <a:solidFill>
                  <a:srgbClr val="E2220E"/>
                </a:solidFill>
                <a:effectLst>
                  <a:outerShdw blurRad="38100" dist="38100" dir="2700000" algn="tl">
                    <a:srgbClr val="C0C0C0"/>
                  </a:outerShdw>
                </a:effectLst>
                <a:latin typeface="楷体_GB2312" pitchFamily="49" charset="-122"/>
                <a:ea typeface="楷体_GB2312" pitchFamily="49" charset="-122"/>
              </a:rPr>
              <a:t>  </a:t>
            </a:r>
            <a:r>
              <a:rPr lang="zh-CN" altLang="en-US" b="1" dirty="0">
                <a:solidFill>
                  <a:srgbClr val="000000"/>
                </a:solidFill>
                <a:latin typeface="+mj-lt"/>
                <a:ea typeface="楷体" panose="02010609060101010101" pitchFamily="49" charset="-122"/>
              </a:rPr>
              <a:t>以</a:t>
            </a:r>
            <a:r>
              <a:rPr lang="en-US" altLang="zh-CN" b="1" i="1" dirty="0">
                <a:solidFill>
                  <a:srgbClr val="000000"/>
                </a:solidFill>
                <a:latin typeface="+mj-lt"/>
                <a:ea typeface="楷体" panose="02010609060101010101" pitchFamily="49" charset="-122"/>
              </a:rPr>
              <a:t>F</a:t>
            </a:r>
            <a:r>
              <a:rPr lang="en-US" altLang="zh-CN" b="1" baseline="-25000" dirty="0">
                <a:solidFill>
                  <a:srgbClr val="000000"/>
                </a:solidFill>
                <a:latin typeface="+mj-lt"/>
                <a:ea typeface="楷体" panose="02010609060101010101" pitchFamily="49" charset="-122"/>
              </a:rPr>
              <a:t>N</a:t>
            </a:r>
            <a:r>
              <a:rPr lang="zh-CN" altLang="en-US" b="1" dirty="0">
                <a:solidFill>
                  <a:srgbClr val="000000"/>
                </a:solidFill>
                <a:latin typeface="+mj-lt"/>
                <a:ea typeface="楷体" panose="02010609060101010101" pitchFamily="49" charset="-122"/>
              </a:rPr>
              <a:t>为纵坐标，</a:t>
            </a:r>
            <a:r>
              <a:rPr lang="en-US" altLang="zh-CN" i="1" dirty="0">
                <a:solidFill>
                  <a:srgbClr val="000000"/>
                </a:solidFill>
                <a:latin typeface="+mj-lt"/>
                <a:ea typeface="楷体" panose="02010609060101010101" pitchFamily="49" charset="-122"/>
              </a:rPr>
              <a:t>x</a:t>
            </a:r>
            <a:r>
              <a:rPr lang="zh-CN" altLang="en-US" b="1" dirty="0">
                <a:solidFill>
                  <a:srgbClr val="000000"/>
                </a:solidFill>
                <a:latin typeface="+mj-lt"/>
                <a:ea typeface="楷体" panose="02010609060101010101" pitchFamily="49" charset="-122"/>
              </a:rPr>
              <a:t>为横坐标，绘出轴力</a:t>
            </a:r>
          </a:p>
          <a:p>
            <a:pPr algn="l">
              <a:defRPr/>
            </a:pPr>
            <a:r>
              <a:rPr lang="zh-CN" altLang="en-US" b="1" dirty="0">
                <a:solidFill>
                  <a:srgbClr val="000000"/>
                </a:solidFill>
                <a:latin typeface="+mj-lt"/>
                <a:ea typeface="楷体" panose="02010609060101010101" pitchFamily="49" charset="-122"/>
              </a:rPr>
              <a:t>           沿轴线的分布图</a:t>
            </a:r>
            <a:r>
              <a:rPr lang="en-US" altLang="zh-CN" b="1" dirty="0">
                <a:solidFill>
                  <a:srgbClr val="000000"/>
                </a:solidFill>
                <a:latin typeface="+mj-lt"/>
                <a:ea typeface="楷体" panose="02010609060101010101" pitchFamily="49" charset="-122"/>
              </a:rPr>
              <a:t>—</a:t>
            </a:r>
            <a:r>
              <a:rPr lang="zh-CN" altLang="en-US" b="1" dirty="0">
                <a:solidFill>
                  <a:srgbClr val="000000"/>
                </a:solidFill>
                <a:latin typeface="+mj-lt"/>
                <a:ea typeface="楷体" panose="02010609060101010101" pitchFamily="49" charset="-122"/>
              </a:rPr>
              <a:t>轴力图。</a:t>
            </a:r>
          </a:p>
        </p:txBody>
      </p:sp>
      <p:sp>
        <p:nvSpPr>
          <p:cNvPr id="57359" name="Text Box 15"/>
          <p:cNvSpPr txBox="1">
            <a:spLocks noChangeArrowheads="1"/>
          </p:cNvSpPr>
          <p:nvPr/>
        </p:nvSpPr>
        <p:spPr bwMode="auto">
          <a:xfrm>
            <a:off x="1031996" y="1494209"/>
            <a:ext cx="25922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dirty="0">
                <a:latin typeface="楷体" panose="02010609060101010101" pitchFamily="49" charset="-122"/>
                <a:ea typeface="楷体" panose="02010609060101010101" pitchFamily="49" charset="-122"/>
              </a:rPr>
              <a:t>内力图求解步骤：</a:t>
            </a:r>
          </a:p>
        </p:txBody>
      </p:sp>
      <p:sp>
        <p:nvSpPr>
          <p:cNvPr id="9" name="Text Box 4"/>
          <p:cNvSpPr txBox="1">
            <a:spLocks noChangeArrowheads="1"/>
          </p:cNvSpPr>
          <p:nvPr/>
        </p:nvSpPr>
        <p:spPr bwMode="auto">
          <a:xfrm>
            <a:off x="611560" y="711822"/>
            <a:ext cx="4932363"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800" b="1" dirty="0">
                <a:solidFill>
                  <a:srgbClr val="FF0000"/>
                </a:solidFill>
                <a:latin typeface="黑体" panose="02010609060101010101" pitchFamily="49" charset="-122"/>
                <a:ea typeface="黑体" panose="02010609060101010101" pitchFamily="49" charset="-122"/>
              </a:rPr>
              <a:t>一、</a:t>
            </a:r>
            <a:r>
              <a:rPr kumimoji="1" lang="zh-CN" altLang="en-US" sz="28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 </a:t>
            </a:r>
            <a:r>
              <a:rPr kumimoji="1" lang="zh-CN" altLang="en-US" sz="2800" b="1" dirty="0">
                <a:solidFill>
                  <a:srgbClr val="FF0000"/>
                </a:solidFill>
                <a:latin typeface="黑体" panose="02010609060101010101" pitchFamily="49" charset="-122"/>
                <a:ea typeface="黑体" panose="02010609060101010101" pitchFamily="49" charset="-122"/>
              </a:rPr>
              <a:t>直杆横截面上的内力</a:t>
            </a:r>
          </a:p>
        </p:txBody>
      </p:sp>
    </p:spTree>
    <p:extLst>
      <p:ext uri="{BB962C8B-B14F-4D97-AF65-F5344CB8AC3E}">
        <p14:creationId xmlns:p14="http://schemas.microsoft.com/office/powerpoint/2010/main" val="40612086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7355"/>
                                        </p:tgtEl>
                                        <p:attrNameLst>
                                          <p:attrName>style.visibility</p:attrName>
                                        </p:attrNameLst>
                                      </p:cBhvr>
                                      <p:to>
                                        <p:strVal val="visible"/>
                                      </p:to>
                                    </p:set>
                                    <p:animEffect transition="in" filter="blinds(horizontal)">
                                      <p:cBhvr>
                                        <p:cTn id="7" dur="500"/>
                                        <p:tgtEl>
                                          <p:spTgt spid="5735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7356"/>
                                        </p:tgtEl>
                                        <p:attrNameLst>
                                          <p:attrName>style.visibility</p:attrName>
                                        </p:attrNameLst>
                                      </p:cBhvr>
                                      <p:to>
                                        <p:strVal val="visible"/>
                                      </p:to>
                                    </p:set>
                                    <p:animEffect transition="in" filter="blinds(horizontal)">
                                      <p:cBhvr>
                                        <p:cTn id="12" dur="500"/>
                                        <p:tgtEl>
                                          <p:spTgt spid="5735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7357"/>
                                        </p:tgtEl>
                                        <p:attrNameLst>
                                          <p:attrName>style.visibility</p:attrName>
                                        </p:attrNameLst>
                                      </p:cBhvr>
                                      <p:to>
                                        <p:strVal val="visible"/>
                                      </p:to>
                                    </p:set>
                                    <p:animEffect transition="in" filter="blinds(horizontal)">
                                      <p:cBhvr>
                                        <p:cTn id="17" dur="500"/>
                                        <p:tgtEl>
                                          <p:spTgt spid="5735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7358"/>
                                        </p:tgtEl>
                                        <p:attrNameLst>
                                          <p:attrName>style.visibility</p:attrName>
                                        </p:attrNameLst>
                                      </p:cBhvr>
                                      <p:to>
                                        <p:strVal val="visible"/>
                                      </p:to>
                                    </p:set>
                                    <p:animEffect transition="in" filter="blinds(horizontal)">
                                      <p:cBhvr>
                                        <p:cTn id="22" dur="500"/>
                                        <p:tgtEl>
                                          <p:spTgt spid="573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55" grpId="0" autoUpdateAnimBg="0"/>
      <p:bldP spid="57356" grpId="0" autoUpdateAnimBg="0"/>
      <p:bldP spid="57357" grpId="0" autoUpdateAnimBg="0"/>
      <p:bldP spid="57358"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Text Box 2"/>
          <p:cNvSpPr txBox="1">
            <a:spLocks noChangeArrowheads="1"/>
          </p:cNvSpPr>
          <p:nvPr/>
        </p:nvSpPr>
        <p:spPr bwMode="auto">
          <a:xfrm>
            <a:off x="412270" y="485435"/>
            <a:ext cx="4876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800" b="1" dirty="0">
                <a:solidFill>
                  <a:srgbClr val="FF3300"/>
                </a:solidFill>
                <a:latin typeface="黑体" panose="02010609060101010101" pitchFamily="49" charset="-122"/>
                <a:ea typeface="黑体" panose="02010609060101010101" pitchFamily="49" charset="-122"/>
              </a:rPr>
              <a:t>二、</a:t>
            </a:r>
            <a:r>
              <a:rPr kumimoji="1" lang="zh-CN" altLang="en-US" sz="2800" b="1" dirty="0">
                <a:solidFill>
                  <a:srgbClr val="FF3300"/>
                </a:solidFill>
                <a:latin typeface="黑体" panose="02010609060101010101" pitchFamily="49" charset="-122"/>
                <a:ea typeface="黑体" panose="02010609060101010101" pitchFamily="49" charset="-122"/>
                <a:cs typeface="Times New Roman" panose="02020603050405020304" pitchFamily="18" charset="0"/>
              </a:rPr>
              <a:t> </a:t>
            </a:r>
            <a:r>
              <a:rPr kumimoji="1" lang="zh-CN" altLang="en-US" sz="2800" b="1" dirty="0">
                <a:solidFill>
                  <a:srgbClr val="FF3300"/>
                </a:solidFill>
                <a:latin typeface="黑体" panose="02010609060101010101" pitchFamily="49" charset="-122"/>
                <a:ea typeface="黑体" panose="02010609060101010101" pitchFamily="49" charset="-122"/>
              </a:rPr>
              <a:t>直杆横截面上的应力</a:t>
            </a:r>
          </a:p>
        </p:txBody>
      </p:sp>
      <p:sp>
        <p:nvSpPr>
          <p:cNvPr id="171015" name="Text Box 7"/>
          <p:cNvSpPr txBox="1">
            <a:spLocks noChangeArrowheads="1"/>
          </p:cNvSpPr>
          <p:nvPr/>
        </p:nvSpPr>
        <p:spPr bwMode="auto">
          <a:xfrm>
            <a:off x="460493" y="1131853"/>
            <a:ext cx="2447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en-US" sz="2400" b="1" dirty="0">
                <a:latin typeface="黑体" panose="02010609060101010101" pitchFamily="49" charset="-122"/>
                <a:ea typeface="黑体" panose="02010609060101010101" pitchFamily="49" charset="-122"/>
              </a:rPr>
              <a:t>方法一：实验</a:t>
            </a:r>
          </a:p>
        </p:txBody>
      </p:sp>
      <p:sp>
        <p:nvSpPr>
          <p:cNvPr id="171016" name="Text Box 8"/>
          <p:cNvSpPr txBox="1">
            <a:spLocks noChangeArrowheads="1"/>
          </p:cNvSpPr>
          <p:nvPr/>
        </p:nvSpPr>
        <p:spPr bwMode="auto">
          <a:xfrm>
            <a:off x="2853799" y="1139825"/>
            <a:ext cx="936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en-US" sz="2400" b="1" dirty="0">
                <a:solidFill>
                  <a:srgbClr val="0000FF"/>
                </a:solidFill>
                <a:latin typeface="楷体" panose="02010609060101010101" pitchFamily="49" charset="-122"/>
                <a:ea typeface="楷体" panose="02010609060101010101" pitchFamily="49" charset="-122"/>
              </a:rPr>
              <a:t>变形</a:t>
            </a:r>
          </a:p>
        </p:txBody>
      </p:sp>
      <p:sp>
        <p:nvSpPr>
          <p:cNvPr id="171017" name="Line 9"/>
          <p:cNvSpPr>
            <a:spLocks noChangeShapeType="1"/>
          </p:cNvSpPr>
          <p:nvPr/>
        </p:nvSpPr>
        <p:spPr bwMode="auto">
          <a:xfrm>
            <a:off x="3691999" y="1368425"/>
            <a:ext cx="647700" cy="0"/>
          </a:xfrm>
          <a:prstGeom prst="line">
            <a:avLst/>
          </a:prstGeom>
          <a:noFill/>
          <a:ln w="508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1018" name="Text Box 10"/>
          <p:cNvSpPr txBox="1">
            <a:spLocks noChangeArrowheads="1"/>
          </p:cNvSpPr>
          <p:nvPr/>
        </p:nvSpPr>
        <p:spPr bwMode="auto">
          <a:xfrm>
            <a:off x="4279374" y="1139825"/>
            <a:ext cx="936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en-US" b="1" dirty="0">
                <a:solidFill>
                  <a:srgbClr val="0000FF"/>
                </a:solidFill>
                <a:latin typeface="楷体" panose="02010609060101010101" pitchFamily="49" charset="-122"/>
                <a:ea typeface="楷体" panose="02010609060101010101" pitchFamily="49" charset="-122"/>
              </a:rPr>
              <a:t>应变</a:t>
            </a:r>
          </a:p>
        </p:txBody>
      </p:sp>
      <p:sp>
        <p:nvSpPr>
          <p:cNvPr id="171019" name="Text Box 11"/>
          <p:cNvSpPr txBox="1">
            <a:spLocks noChangeArrowheads="1"/>
          </p:cNvSpPr>
          <p:nvPr/>
        </p:nvSpPr>
        <p:spPr bwMode="auto">
          <a:xfrm>
            <a:off x="5692249" y="1139825"/>
            <a:ext cx="1800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en-US" b="1" dirty="0">
                <a:solidFill>
                  <a:srgbClr val="0000FF"/>
                </a:solidFill>
                <a:latin typeface="楷体" panose="02010609060101010101" pitchFamily="49" charset="-122"/>
                <a:ea typeface="楷体" panose="02010609060101010101" pitchFamily="49" charset="-122"/>
              </a:rPr>
              <a:t>胡克定律</a:t>
            </a:r>
          </a:p>
        </p:txBody>
      </p:sp>
      <p:sp>
        <p:nvSpPr>
          <p:cNvPr id="171020" name="Line 12"/>
          <p:cNvSpPr>
            <a:spLocks noChangeShapeType="1"/>
          </p:cNvSpPr>
          <p:nvPr/>
        </p:nvSpPr>
        <p:spPr bwMode="auto">
          <a:xfrm>
            <a:off x="5093762" y="1368425"/>
            <a:ext cx="647700" cy="0"/>
          </a:xfrm>
          <a:prstGeom prst="line">
            <a:avLst/>
          </a:prstGeom>
          <a:noFill/>
          <a:ln w="508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1021" name="Line 13"/>
          <p:cNvSpPr>
            <a:spLocks noChangeShapeType="1"/>
          </p:cNvSpPr>
          <p:nvPr/>
        </p:nvSpPr>
        <p:spPr bwMode="auto">
          <a:xfrm>
            <a:off x="7105124" y="1368425"/>
            <a:ext cx="647700" cy="0"/>
          </a:xfrm>
          <a:prstGeom prst="line">
            <a:avLst/>
          </a:prstGeom>
          <a:noFill/>
          <a:ln w="508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1022" name="Text Box 14"/>
          <p:cNvSpPr txBox="1">
            <a:spLocks noChangeArrowheads="1"/>
          </p:cNvSpPr>
          <p:nvPr/>
        </p:nvSpPr>
        <p:spPr bwMode="auto">
          <a:xfrm>
            <a:off x="7713137" y="1139825"/>
            <a:ext cx="936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en-US" b="1" dirty="0">
                <a:solidFill>
                  <a:srgbClr val="0000FF"/>
                </a:solidFill>
                <a:latin typeface="楷体" panose="02010609060101010101" pitchFamily="49" charset="-122"/>
                <a:ea typeface="楷体" panose="02010609060101010101" pitchFamily="49" charset="-122"/>
              </a:rPr>
              <a:t>应力</a:t>
            </a:r>
          </a:p>
        </p:txBody>
      </p:sp>
      <p:sp>
        <p:nvSpPr>
          <p:cNvPr id="171023" name="AutoShape 15"/>
          <p:cNvSpPr>
            <a:spLocks noChangeArrowheads="1"/>
          </p:cNvSpPr>
          <p:nvPr/>
        </p:nvSpPr>
        <p:spPr bwMode="auto">
          <a:xfrm>
            <a:off x="1775887" y="1817653"/>
            <a:ext cx="5329237" cy="1584325"/>
          </a:xfrm>
          <a:prstGeom prst="cube">
            <a:avLst>
              <a:gd name="adj" fmla="val 33699"/>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grpSp>
        <p:nvGrpSpPr>
          <p:cNvPr id="171024" name="Group 16"/>
          <p:cNvGrpSpPr>
            <a:grpSpLocks/>
          </p:cNvGrpSpPr>
          <p:nvPr/>
        </p:nvGrpSpPr>
        <p:grpSpPr bwMode="auto">
          <a:xfrm>
            <a:off x="3033187" y="1817653"/>
            <a:ext cx="2451100" cy="1584325"/>
            <a:chOff x="1147" y="1480"/>
            <a:chExt cx="1043" cy="816"/>
          </a:xfrm>
        </p:grpSpPr>
        <p:sp>
          <p:nvSpPr>
            <p:cNvPr id="14360" name="Line 17"/>
            <p:cNvSpPr>
              <a:spLocks noChangeShapeType="1"/>
            </p:cNvSpPr>
            <p:nvPr/>
          </p:nvSpPr>
          <p:spPr bwMode="auto">
            <a:xfrm flipH="1">
              <a:off x="1147" y="1480"/>
              <a:ext cx="272" cy="272"/>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61" name="Line 18"/>
            <p:cNvSpPr>
              <a:spLocks noChangeShapeType="1"/>
            </p:cNvSpPr>
            <p:nvPr/>
          </p:nvSpPr>
          <p:spPr bwMode="auto">
            <a:xfrm flipH="1">
              <a:off x="1404" y="1480"/>
              <a:ext cx="272" cy="272"/>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62" name="Line 19"/>
            <p:cNvSpPr>
              <a:spLocks noChangeShapeType="1"/>
            </p:cNvSpPr>
            <p:nvPr/>
          </p:nvSpPr>
          <p:spPr bwMode="auto">
            <a:xfrm flipH="1">
              <a:off x="1661" y="1480"/>
              <a:ext cx="272" cy="272"/>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63" name="Line 20"/>
            <p:cNvSpPr>
              <a:spLocks noChangeShapeType="1"/>
            </p:cNvSpPr>
            <p:nvPr/>
          </p:nvSpPr>
          <p:spPr bwMode="auto">
            <a:xfrm flipH="1">
              <a:off x="1918" y="1480"/>
              <a:ext cx="272" cy="272"/>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64" name="Line 21"/>
            <p:cNvSpPr>
              <a:spLocks noChangeShapeType="1"/>
            </p:cNvSpPr>
            <p:nvPr/>
          </p:nvSpPr>
          <p:spPr bwMode="auto">
            <a:xfrm>
              <a:off x="1147" y="1752"/>
              <a:ext cx="0" cy="544"/>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65" name="Line 22"/>
            <p:cNvSpPr>
              <a:spLocks noChangeShapeType="1"/>
            </p:cNvSpPr>
            <p:nvPr/>
          </p:nvSpPr>
          <p:spPr bwMode="auto">
            <a:xfrm>
              <a:off x="1407" y="1752"/>
              <a:ext cx="0" cy="544"/>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66" name="Line 23"/>
            <p:cNvSpPr>
              <a:spLocks noChangeShapeType="1"/>
            </p:cNvSpPr>
            <p:nvPr/>
          </p:nvSpPr>
          <p:spPr bwMode="auto">
            <a:xfrm>
              <a:off x="1667" y="1752"/>
              <a:ext cx="0" cy="544"/>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67" name="Line 24"/>
            <p:cNvSpPr>
              <a:spLocks noChangeShapeType="1"/>
            </p:cNvSpPr>
            <p:nvPr/>
          </p:nvSpPr>
          <p:spPr bwMode="auto">
            <a:xfrm>
              <a:off x="1927" y="1752"/>
              <a:ext cx="0" cy="544"/>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68" name="Line 25"/>
            <p:cNvSpPr>
              <a:spLocks noChangeShapeType="1"/>
            </p:cNvSpPr>
            <p:nvPr/>
          </p:nvSpPr>
          <p:spPr bwMode="auto">
            <a:xfrm>
              <a:off x="1147" y="1878"/>
              <a:ext cx="771"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69" name="Line 26"/>
            <p:cNvSpPr>
              <a:spLocks noChangeShapeType="1"/>
            </p:cNvSpPr>
            <p:nvPr/>
          </p:nvSpPr>
          <p:spPr bwMode="auto">
            <a:xfrm>
              <a:off x="1354" y="1543"/>
              <a:ext cx="771"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70" name="Line 27"/>
            <p:cNvSpPr>
              <a:spLocks noChangeShapeType="1"/>
            </p:cNvSpPr>
            <p:nvPr/>
          </p:nvSpPr>
          <p:spPr bwMode="auto">
            <a:xfrm>
              <a:off x="1147" y="2037"/>
              <a:ext cx="771"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71" name="Line 28"/>
            <p:cNvSpPr>
              <a:spLocks noChangeShapeType="1"/>
            </p:cNvSpPr>
            <p:nvPr/>
          </p:nvSpPr>
          <p:spPr bwMode="auto">
            <a:xfrm>
              <a:off x="1147" y="2196"/>
              <a:ext cx="771"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72" name="Line 29"/>
            <p:cNvSpPr>
              <a:spLocks noChangeShapeType="1"/>
            </p:cNvSpPr>
            <p:nvPr/>
          </p:nvSpPr>
          <p:spPr bwMode="auto">
            <a:xfrm>
              <a:off x="1273" y="1620"/>
              <a:ext cx="771"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73" name="Line 30"/>
            <p:cNvSpPr>
              <a:spLocks noChangeShapeType="1"/>
            </p:cNvSpPr>
            <p:nvPr/>
          </p:nvSpPr>
          <p:spPr bwMode="auto">
            <a:xfrm>
              <a:off x="1201" y="1697"/>
              <a:ext cx="771"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4376" name="Group 40"/>
          <p:cNvGrpSpPr>
            <a:grpSpLocks/>
          </p:cNvGrpSpPr>
          <p:nvPr/>
        </p:nvGrpSpPr>
        <p:grpSpPr bwMode="auto">
          <a:xfrm>
            <a:off x="912288" y="2022440"/>
            <a:ext cx="7450138" cy="514350"/>
            <a:chOff x="475" y="1558"/>
            <a:chExt cx="4693" cy="324"/>
          </a:xfrm>
        </p:grpSpPr>
        <p:sp>
          <p:nvSpPr>
            <p:cNvPr id="171039" name="Line 31"/>
            <p:cNvSpPr>
              <a:spLocks noChangeShapeType="1"/>
            </p:cNvSpPr>
            <p:nvPr/>
          </p:nvSpPr>
          <p:spPr bwMode="auto">
            <a:xfrm>
              <a:off x="4240" y="1882"/>
              <a:ext cx="771" cy="0"/>
            </a:xfrm>
            <a:prstGeom prst="line">
              <a:avLst/>
            </a:prstGeom>
            <a:noFill/>
            <a:ln w="508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1040" name="Line 32"/>
            <p:cNvSpPr>
              <a:spLocks noChangeShapeType="1"/>
            </p:cNvSpPr>
            <p:nvPr/>
          </p:nvSpPr>
          <p:spPr bwMode="auto">
            <a:xfrm flipH="1" flipV="1">
              <a:off x="475" y="1874"/>
              <a:ext cx="544" cy="8"/>
            </a:xfrm>
            <a:prstGeom prst="line">
              <a:avLst/>
            </a:prstGeom>
            <a:noFill/>
            <a:ln w="508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1041" name="Text Box 33"/>
            <p:cNvSpPr txBox="1">
              <a:spLocks noChangeArrowheads="1"/>
            </p:cNvSpPr>
            <p:nvPr/>
          </p:nvSpPr>
          <p:spPr bwMode="auto">
            <a:xfrm>
              <a:off x="515" y="1558"/>
              <a:ext cx="4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sz="2400" b="1" i="1" dirty="0">
                  <a:solidFill>
                    <a:srgbClr val="FF0000"/>
                  </a:solidFill>
                  <a:latin typeface="Times New Roman" panose="02020603050405020304" pitchFamily="18" charset="0"/>
                  <a:ea typeface="楷体_GB2312" pitchFamily="49" charset="-122"/>
                </a:rPr>
                <a:t>F</a:t>
              </a:r>
            </a:p>
          </p:txBody>
        </p:sp>
        <p:sp>
          <p:nvSpPr>
            <p:cNvPr id="171042" name="Text Box 34"/>
            <p:cNvSpPr txBox="1">
              <a:spLocks noChangeArrowheads="1"/>
            </p:cNvSpPr>
            <p:nvPr/>
          </p:nvSpPr>
          <p:spPr bwMode="auto">
            <a:xfrm>
              <a:off x="4760" y="1581"/>
              <a:ext cx="4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sz="2400" b="1" i="1" dirty="0">
                  <a:solidFill>
                    <a:srgbClr val="FF0000"/>
                  </a:solidFill>
                  <a:latin typeface="Times New Roman" panose="02020603050405020304" pitchFamily="18" charset="0"/>
                  <a:ea typeface="楷体_GB2312" pitchFamily="49" charset="-122"/>
                </a:rPr>
                <a:t>F</a:t>
              </a:r>
            </a:p>
          </p:txBody>
        </p:sp>
      </p:grpSp>
      <p:sp>
        <p:nvSpPr>
          <p:cNvPr id="171043" name="Text Box 35"/>
          <p:cNvSpPr txBox="1">
            <a:spLocks noChangeArrowheads="1"/>
          </p:cNvSpPr>
          <p:nvPr/>
        </p:nvSpPr>
        <p:spPr bwMode="auto">
          <a:xfrm>
            <a:off x="478900" y="3594700"/>
            <a:ext cx="12969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en-US" sz="2400" b="1" dirty="0">
                <a:solidFill>
                  <a:srgbClr val="0000FF"/>
                </a:solidFill>
                <a:latin typeface="楷体" panose="02010609060101010101" pitchFamily="49" charset="-122"/>
                <a:ea typeface="楷体" panose="02010609060101010101" pitchFamily="49" charset="-122"/>
              </a:rPr>
              <a:t>现象：</a:t>
            </a:r>
          </a:p>
        </p:txBody>
      </p:sp>
      <p:sp>
        <p:nvSpPr>
          <p:cNvPr id="171044" name="Text Box 36"/>
          <p:cNvSpPr txBox="1">
            <a:spLocks noChangeArrowheads="1"/>
          </p:cNvSpPr>
          <p:nvPr/>
        </p:nvSpPr>
        <p:spPr bwMode="auto">
          <a:xfrm>
            <a:off x="1486962" y="3594700"/>
            <a:ext cx="68405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eaLnBrk="1" hangingPunct="1">
              <a:spcBef>
                <a:spcPct val="50000"/>
              </a:spcBef>
              <a:defRPr b="1">
                <a:solidFill>
                  <a:srgbClr val="0000FF"/>
                </a:solidFill>
                <a:latin typeface="楷体" panose="02010609060101010101" pitchFamily="49" charset="-122"/>
                <a:ea typeface="楷体" panose="02010609060101010101" pitchFamily="49" charset="-122"/>
              </a:defRPr>
            </a:lvl1pPr>
            <a:lvl2pPr marL="742950" indent="-285750">
              <a:defRPr>
                <a:latin typeface="Arial" panose="020B0604020202020204" pitchFamily="34" charset="0"/>
              </a:defRPr>
            </a:lvl2pPr>
            <a:lvl3pPr marL="1143000" indent="-228600">
              <a:defRPr>
                <a:latin typeface="Arial" panose="020B0604020202020204" pitchFamily="34" charset="0"/>
              </a:defRPr>
            </a:lvl3pPr>
            <a:lvl4pPr marL="1600200" indent="-228600">
              <a:defRPr>
                <a:latin typeface="Arial" panose="020B0604020202020204" pitchFamily="34" charset="0"/>
              </a:defRPr>
            </a:lvl4pPr>
            <a:lvl5pPr marL="2057400" indent="-228600">
              <a:defRPr>
                <a:latin typeface="Arial" panose="020B0604020202020204" pitchFamily="34" charset="0"/>
              </a:defRPr>
            </a:lvl5pPr>
            <a:lvl6pPr marL="2514600" indent="-228600" eaLnBrk="0" fontAlgn="base" hangingPunct="0">
              <a:spcBef>
                <a:spcPct val="0"/>
              </a:spcBef>
              <a:spcAft>
                <a:spcPct val="0"/>
              </a:spcAft>
              <a:defRPr>
                <a:latin typeface="Arial" panose="020B0604020202020204" pitchFamily="34" charset="0"/>
              </a:defRPr>
            </a:lvl6pPr>
            <a:lvl7pPr marL="2971800" indent="-228600" eaLnBrk="0" fontAlgn="base" hangingPunct="0">
              <a:spcBef>
                <a:spcPct val="0"/>
              </a:spcBef>
              <a:spcAft>
                <a:spcPct val="0"/>
              </a:spcAft>
              <a:defRPr>
                <a:latin typeface="Arial" panose="020B0604020202020204" pitchFamily="34" charset="0"/>
              </a:defRPr>
            </a:lvl7pPr>
            <a:lvl8pPr marL="3429000" indent="-228600" eaLnBrk="0" fontAlgn="base" hangingPunct="0">
              <a:spcBef>
                <a:spcPct val="0"/>
              </a:spcBef>
              <a:spcAft>
                <a:spcPct val="0"/>
              </a:spcAft>
              <a:defRPr>
                <a:latin typeface="Arial" panose="020B0604020202020204" pitchFamily="34" charset="0"/>
              </a:defRPr>
            </a:lvl8pPr>
            <a:lvl9pPr marL="3886200" indent="-228600" eaLnBrk="0" fontAlgn="base" hangingPunct="0">
              <a:spcBef>
                <a:spcPct val="0"/>
              </a:spcBef>
              <a:spcAft>
                <a:spcPct val="0"/>
              </a:spcAft>
              <a:defRPr>
                <a:latin typeface="Arial" panose="020B0604020202020204" pitchFamily="34" charset="0"/>
              </a:defRPr>
            </a:lvl9pPr>
          </a:lstStyle>
          <a:p>
            <a:r>
              <a:rPr lang="zh-CN" altLang="en-US" dirty="0">
                <a:solidFill>
                  <a:schemeClr val="tx1"/>
                </a:solidFill>
              </a:rPr>
              <a:t>纵线仍平行于轴线，且各线段均匀伸长；</a:t>
            </a:r>
          </a:p>
        </p:txBody>
      </p:sp>
      <p:sp>
        <p:nvSpPr>
          <p:cNvPr id="171045" name="Text Box 37"/>
          <p:cNvSpPr txBox="1">
            <a:spLocks noChangeArrowheads="1"/>
          </p:cNvSpPr>
          <p:nvPr/>
        </p:nvSpPr>
        <p:spPr bwMode="auto">
          <a:xfrm>
            <a:off x="1486962" y="4043963"/>
            <a:ext cx="655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eaLnBrk="1" hangingPunct="1">
              <a:spcBef>
                <a:spcPct val="50000"/>
              </a:spcBef>
              <a:defRPr b="1">
                <a:solidFill>
                  <a:srgbClr val="0000FF"/>
                </a:solidFill>
                <a:latin typeface="楷体" panose="02010609060101010101" pitchFamily="49" charset="-122"/>
                <a:ea typeface="楷体" panose="02010609060101010101" pitchFamily="49" charset="-122"/>
              </a:defRPr>
            </a:lvl1pPr>
            <a:lvl2pPr marL="742950" indent="-285750">
              <a:defRPr>
                <a:latin typeface="Arial" panose="020B0604020202020204" pitchFamily="34" charset="0"/>
              </a:defRPr>
            </a:lvl2pPr>
            <a:lvl3pPr marL="1143000" indent="-228600">
              <a:defRPr>
                <a:latin typeface="Arial" panose="020B0604020202020204" pitchFamily="34" charset="0"/>
              </a:defRPr>
            </a:lvl3pPr>
            <a:lvl4pPr marL="1600200" indent="-228600">
              <a:defRPr>
                <a:latin typeface="Arial" panose="020B0604020202020204" pitchFamily="34" charset="0"/>
              </a:defRPr>
            </a:lvl4pPr>
            <a:lvl5pPr marL="2057400" indent="-228600">
              <a:defRPr>
                <a:latin typeface="Arial" panose="020B0604020202020204" pitchFamily="34" charset="0"/>
              </a:defRPr>
            </a:lvl5pPr>
            <a:lvl6pPr marL="2514600" indent="-228600" eaLnBrk="0" fontAlgn="base" hangingPunct="0">
              <a:spcBef>
                <a:spcPct val="0"/>
              </a:spcBef>
              <a:spcAft>
                <a:spcPct val="0"/>
              </a:spcAft>
              <a:defRPr>
                <a:latin typeface="Arial" panose="020B0604020202020204" pitchFamily="34" charset="0"/>
              </a:defRPr>
            </a:lvl6pPr>
            <a:lvl7pPr marL="2971800" indent="-228600" eaLnBrk="0" fontAlgn="base" hangingPunct="0">
              <a:spcBef>
                <a:spcPct val="0"/>
              </a:spcBef>
              <a:spcAft>
                <a:spcPct val="0"/>
              </a:spcAft>
              <a:defRPr>
                <a:latin typeface="Arial" panose="020B0604020202020204" pitchFamily="34" charset="0"/>
              </a:defRPr>
            </a:lvl7pPr>
            <a:lvl8pPr marL="3429000" indent="-228600" eaLnBrk="0" fontAlgn="base" hangingPunct="0">
              <a:spcBef>
                <a:spcPct val="0"/>
              </a:spcBef>
              <a:spcAft>
                <a:spcPct val="0"/>
              </a:spcAft>
              <a:defRPr>
                <a:latin typeface="Arial" panose="020B0604020202020204" pitchFamily="34" charset="0"/>
              </a:defRPr>
            </a:lvl8pPr>
            <a:lvl9pPr marL="3886200" indent="-228600" eaLnBrk="0" fontAlgn="base" hangingPunct="0">
              <a:spcBef>
                <a:spcPct val="0"/>
              </a:spcBef>
              <a:spcAft>
                <a:spcPct val="0"/>
              </a:spcAft>
              <a:defRPr>
                <a:latin typeface="Arial" panose="020B0604020202020204" pitchFamily="34" charset="0"/>
              </a:defRPr>
            </a:lvl9pPr>
          </a:lstStyle>
          <a:p>
            <a:r>
              <a:rPr lang="zh-CN" altLang="en-US" dirty="0">
                <a:solidFill>
                  <a:schemeClr val="tx1"/>
                </a:solidFill>
              </a:rPr>
              <a:t>横线仍为直线，且垂直于轴线和纵线。</a:t>
            </a:r>
          </a:p>
        </p:txBody>
      </p:sp>
      <p:sp>
        <p:nvSpPr>
          <p:cNvPr id="171046" name="Text Box 38"/>
          <p:cNvSpPr txBox="1">
            <a:spLocks noChangeArrowheads="1"/>
          </p:cNvSpPr>
          <p:nvPr/>
        </p:nvSpPr>
        <p:spPr bwMode="auto">
          <a:xfrm>
            <a:off x="478234" y="4521800"/>
            <a:ext cx="12969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en-US" b="1" dirty="0">
                <a:solidFill>
                  <a:srgbClr val="0000FF"/>
                </a:solidFill>
                <a:latin typeface="楷体" panose="02010609060101010101" pitchFamily="49" charset="-122"/>
                <a:ea typeface="楷体" panose="02010609060101010101" pitchFamily="49" charset="-122"/>
              </a:rPr>
              <a:t>假设：</a:t>
            </a:r>
          </a:p>
        </p:txBody>
      </p:sp>
      <p:sp>
        <p:nvSpPr>
          <p:cNvPr id="171047" name="Text Box 39"/>
          <p:cNvSpPr txBox="1">
            <a:spLocks noChangeArrowheads="1"/>
          </p:cNvSpPr>
          <p:nvPr/>
        </p:nvSpPr>
        <p:spPr bwMode="auto">
          <a:xfrm>
            <a:off x="1496487" y="4521800"/>
            <a:ext cx="74072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eaLnBrk="1" hangingPunct="1">
              <a:spcBef>
                <a:spcPct val="50000"/>
              </a:spcBef>
              <a:defRPr b="1">
                <a:solidFill>
                  <a:srgbClr val="0000FF"/>
                </a:solidFill>
                <a:latin typeface="楷体" panose="02010609060101010101" pitchFamily="49" charset="-122"/>
                <a:ea typeface="楷体" panose="02010609060101010101" pitchFamily="49" charset="-122"/>
              </a:defRPr>
            </a:lvl1pPr>
            <a:lvl2pPr marL="742950" indent="-285750">
              <a:defRPr>
                <a:latin typeface="Arial" panose="020B0604020202020204" pitchFamily="34" charset="0"/>
              </a:defRPr>
            </a:lvl2pPr>
            <a:lvl3pPr marL="1143000" indent="-228600">
              <a:defRPr>
                <a:latin typeface="Arial" panose="020B0604020202020204" pitchFamily="34" charset="0"/>
              </a:defRPr>
            </a:lvl3pPr>
            <a:lvl4pPr marL="1600200" indent="-228600">
              <a:defRPr>
                <a:latin typeface="Arial" panose="020B0604020202020204" pitchFamily="34" charset="0"/>
              </a:defRPr>
            </a:lvl4pPr>
            <a:lvl5pPr marL="2057400" indent="-228600">
              <a:defRPr>
                <a:latin typeface="Arial" panose="020B0604020202020204" pitchFamily="34" charset="0"/>
              </a:defRPr>
            </a:lvl5pPr>
            <a:lvl6pPr marL="2514600" indent="-228600" eaLnBrk="0" fontAlgn="base" hangingPunct="0">
              <a:spcBef>
                <a:spcPct val="0"/>
              </a:spcBef>
              <a:spcAft>
                <a:spcPct val="0"/>
              </a:spcAft>
              <a:defRPr>
                <a:latin typeface="Arial" panose="020B0604020202020204" pitchFamily="34" charset="0"/>
              </a:defRPr>
            </a:lvl6pPr>
            <a:lvl7pPr marL="2971800" indent="-228600" eaLnBrk="0" fontAlgn="base" hangingPunct="0">
              <a:spcBef>
                <a:spcPct val="0"/>
              </a:spcBef>
              <a:spcAft>
                <a:spcPct val="0"/>
              </a:spcAft>
              <a:defRPr>
                <a:latin typeface="Arial" panose="020B0604020202020204" pitchFamily="34" charset="0"/>
              </a:defRPr>
            </a:lvl7pPr>
            <a:lvl8pPr marL="3429000" indent="-228600" eaLnBrk="0" fontAlgn="base" hangingPunct="0">
              <a:spcBef>
                <a:spcPct val="0"/>
              </a:spcBef>
              <a:spcAft>
                <a:spcPct val="0"/>
              </a:spcAft>
              <a:defRPr>
                <a:latin typeface="Arial" panose="020B0604020202020204" pitchFamily="34" charset="0"/>
              </a:defRPr>
            </a:lvl8pPr>
            <a:lvl9pPr marL="3886200" indent="-228600" eaLnBrk="0" fontAlgn="base" hangingPunct="0">
              <a:spcBef>
                <a:spcPct val="0"/>
              </a:spcBef>
              <a:spcAft>
                <a:spcPct val="0"/>
              </a:spcAft>
              <a:defRPr>
                <a:latin typeface="Arial" panose="020B0604020202020204" pitchFamily="34" charset="0"/>
              </a:defRPr>
            </a:lvl9pPr>
          </a:lstStyle>
          <a:p>
            <a:r>
              <a:rPr lang="zh-CN" altLang="en-US" dirty="0">
                <a:solidFill>
                  <a:schemeClr val="tx1"/>
                </a:solidFill>
              </a:rPr>
              <a:t>变形前横截面内各点，变形后仍在同一平面内。</a:t>
            </a:r>
          </a:p>
        </p:txBody>
      </p:sp>
      <p:sp>
        <p:nvSpPr>
          <p:cNvPr id="39" name="Text Box 38"/>
          <p:cNvSpPr txBox="1">
            <a:spLocks noChangeArrowheads="1"/>
          </p:cNvSpPr>
          <p:nvPr/>
        </p:nvSpPr>
        <p:spPr bwMode="auto">
          <a:xfrm>
            <a:off x="462065" y="5140118"/>
            <a:ext cx="12969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en-US" b="1" dirty="0">
                <a:solidFill>
                  <a:srgbClr val="0000FF"/>
                </a:solidFill>
                <a:latin typeface="楷体" panose="02010609060101010101" pitchFamily="49" charset="-122"/>
                <a:ea typeface="楷体" panose="02010609060101010101" pitchFamily="49" charset="-122"/>
              </a:rPr>
              <a:t>结论：</a:t>
            </a:r>
          </a:p>
        </p:txBody>
      </p:sp>
      <p:sp>
        <p:nvSpPr>
          <p:cNvPr id="40" name="Text Box 36"/>
          <p:cNvSpPr txBox="1">
            <a:spLocks noChangeArrowheads="1"/>
          </p:cNvSpPr>
          <p:nvPr/>
        </p:nvSpPr>
        <p:spPr bwMode="auto">
          <a:xfrm>
            <a:off x="1496487" y="5140118"/>
            <a:ext cx="3364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eaLnBrk="1" hangingPunct="1">
              <a:spcBef>
                <a:spcPct val="50000"/>
              </a:spcBef>
              <a:defRPr b="1">
                <a:solidFill>
                  <a:srgbClr val="0000FF"/>
                </a:solidFill>
                <a:latin typeface="楷体" panose="02010609060101010101" pitchFamily="49" charset="-122"/>
                <a:ea typeface="楷体" panose="02010609060101010101" pitchFamily="49" charset="-122"/>
              </a:defRPr>
            </a:lvl1pPr>
            <a:lvl2pPr marL="742950" indent="-285750">
              <a:defRPr>
                <a:latin typeface="Arial" panose="020B0604020202020204" pitchFamily="34" charset="0"/>
              </a:defRPr>
            </a:lvl2pPr>
            <a:lvl3pPr marL="1143000" indent="-228600">
              <a:defRPr>
                <a:latin typeface="Arial" panose="020B0604020202020204" pitchFamily="34" charset="0"/>
              </a:defRPr>
            </a:lvl3pPr>
            <a:lvl4pPr marL="1600200" indent="-228600">
              <a:defRPr>
                <a:latin typeface="Arial" panose="020B0604020202020204" pitchFamily="34" charset="0"/>
              </a:defRPr>
            </a:lvl4pPr>
            <a:lvl5pPr marL="2057400" indent="-228600">
              <a:defRPr>
                <a:latin typeface="Arial" panose="020B0604020202020204" pitchFamily="34" charset="0"/>
              </a:defRPr>
            </a:lvl5pPr>
            <a:lvl6pPr marL="2514600" indent="-228600" eaLnBrk="0" fontAlgn="base" hangingPunct="0">
              <a:spcBef>
                <a:spcPct val="0"/>
              </a:spcBef>
              <a:spcAft>
                <a:spcPct val="0"/>
              </a:spcAft>
              <a:defRPr>
                <a:latin typeface="Arial" panose="020B0604020202020204" pitchFamily="34" charset="0"/>
              </a:defRPr>
            </a:lvl6pPr>
            <a:lvl7pPr marL="2971800" indent="-228600" eaLnBrk="0" fontAlgn="base" hangingPunct="0">
              <a:spcBef>
                <a:spcPct val="0"/>
              </a:spcBef>
              <a:spcAft>
                <a:spcPct val="0"/>
              </a:spcAft>
              <a:defRPr>
                <a:latin typeface="Arial" panose="020B0604020202020204" pitchFamily="34" charset="0"/>
              </a:defRPr>
            </a:lvl7pPr>
            <a:lvl8pPr marL="3429000" indent="-228600" eaLnBrk="0" fontAlgn="base" hangingPunct="0">
              <a:spcBef>
                <a:spcPct val="0"/>
              </a:spcBef>
              <a:spcAft>
                <a:spcPct val="0"/>
              </a:spcAft>
              <a:defRPr>
                <a:latin typeface="Arial" panose="020B0604020202020204" pitchFamily="34" charset="0"/>
              </a:defRPr>
            </a:lvl8pPr>
            <a:lvl9pPr marL="3886200" indent="-228600" eaLnBrk="0" fontAlgn="base" hangingPunct="0">
              <a:spcBef>
                <a:spcPct val="0"/>
              </a:spcBef>
              <a:spcAft>
                <a:spcPct val="0"/>
              </a:spcAft>
              <a:defRPr>
                <a:latin typeface="Arial" panose="020B0604020202020204" pitchFamily="34" charset="0"/>
              </a:defRPr>
            </a:lvl9pPr>
          </a:lstStyle>
          <a:p>
            <a:r>
              <a:rPr lang="zh-CN" altLang="en-US" dirty="0">
                <a:solidFill>
                  <a:schemeClr val="tx1"/>
                </a:solidFill>
              </a:rPr>
              <a:t>横截面上只有正应力；</a:t>
            </a:r>
          </a:p>
        </p:txBody>
      </p:sp>
      <p:sp>
        <p:nvSpPr>
          <p:cNvPr id="2" name="矩形 1"/>
          <p:cNvSpPr/>
          <p:nvPr/>
        </p:nvSpPr>
        <p:spPr>
          <a:xfrm>
            <a:off x="1450956" y="5608679"/>
            <a:ext cx="6876544" cy="830997"/>
          </a:xfrm>
          <a:prstGeom prst="rect">
            <a:avLst/>
          </a:prstGeom>
        </p:spPr>
        <p:txBody>
          <a:bodyPr wrap="square">
            <a:spAutoFit/>
          </a:bodyPr>
          <a:lstStyle/>
          <a:p>
            <a:pPr eaLnBrk="1" hangingPunct="1">
              <a:spcBef>
                <a:spcPct val="50000"/>
              </a:spcBef>
            </a:pPr>
            <a:r>
              <a:rPr lang="zh-CN" altLang="en-US" b="1" dirty="0">
                <a:latin typeface="楷体" panose="02010609060101010101" pitchFamily="49" charset="-122"/>
                <a:ea typeface="楷体" panose="02010609060101010101" pitchFamily="49" charset="-122"/>
              </a:rPr>
              <a:t>横截面内各点沿轴线方向的变形是均匀的，因此沿轴线方向的线应变是均匀的，应力也是均匀的。</a:t>
            </a:r>
          </a:p>
        </p:txBody>
      </p:sp>
    </p:spTree>
    <p:extLst>
      <p:ext uri="{BB962C8B-B14F-4D97-AF65-F5344CB8AC3E}">
        <p14:creationId xmlns:p14="http://schemas.microsoft.com/office/powerpoint/2010/main" val="136412306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1015"/>
                                        </p:tgtEl>
                                        <p:attrNameLst>
                                          <p:attrName>style.visibility</p:attrName>
                                        </p:attrNameLst>
                                      </p:cBhvr>
                                      <p:to>
                                        <p:strVal val="visible"/>
                                      </p:to>
                                    </p:set>
                                    <p:animEffect transition="in" filter="blinds(horizontal)">
                                      <p:cBhvr>
                                        <p:cTn id="7" dur="500"/>
                                        <p:tgtEl>
                                          <p:spTgt spid="1710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71016"/>
                                        </p:tgtEl>
                                        <p:attrNameLst>
                                          <p:attrName>style.visibility</p:attrName>
                                        </p:attrNameLst>
                                      </p:cBhvr>
                                      <p:to>
                                        <p:strVal val="visible"/>
                                      </p:to>
                                    </p:set>
                                    <p:animEffect transition="in" filter="slide(fromBottom)">
                                      <p:cBhvr>
                                        <p:cTn id="12" dur="500"/>
                                        <p:tgtEl>
                                          <p:spTgt spid="17101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71017"/>
                                        </p:tgtEl>
                                        <p:attrNameLst>
                                          <p:attrName>style.visibility</p:attrName>
                                        </p:attrNameLst>
                                      </p:cBhvr>
                                      <p:to>
                                        <p:strVal val="visible"/>
                                      </p:to>
                                    </p:set>
                                    <p:animEffect transition="in" filter="slide(fromBottom)">
                                      <p:cBhvr>
                                        <p:cTn id="17" dur="500"/>
                                        <p:tgtEl>
                                          <p:spTgt spid="171017"/>
                                        </p:tgtEl>
                                      </p:cBhvr>
                                    </p:animEffect>
                                  </p:childTnLst>
                                </p:cTn>
                              </p:par>
                              <p:par>
                                <p:cTn id="18" presetID="12" presetClass="entr" presetSubtype="4" fill="hold" grpId="0" nodeType="withEffect">
                                  <p:stCondLst>
                                    <p:cond delay="0"/>
                                  </p:stCondLst>
                                  <p:childTnLst>
                                    <p:set>
                                      <p:cBhvr>
                                        <p:cTn id="19" dur="1" fill="hold">
                                          <p:stCondLst>
                                            <p:cond delay="0"/>
                                          </p:stCondLst>
                                        </p:cTn>
                                        <p:tgtEl>
                                          <p:spTgt spid="171018"/>
                                        </p:tgtEl>
                                        <p:attrNameLst>
                                          <p:attrName>style.visibility</p:attrName>
                                        </p:attrNameLst>
                                      </p:cBhvr>
                                      <p:to>
                                        <p:strVal val="visible"/>
                                      </p:to>
                                    </p:set>
                                    <p:animEffect transition="in" filter="slide(fromBottom)">
                                      <p:cBhvr>
                                        <p:cTn id="20" dur="500"/>
                                        <p:tgtEl>
                                          <p:spTgt spid="17101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171020"/>
                                        </p:tgtEl>
                                        <p:attrNameLst>
                                          <p:attrName>style.visibility</p:attrName>
                                        </p:attrNameLst>
                                      </p:cBhvr>
                                      <p:to>
                                        <p:strVal val="visible"/>
                                      </p:to>
                                    </p:set>
                                    <p:animEffect transition="in" filter="slide(fromBottom)">
                                      <p:cBhvr>
                                        <p:cTn id="25" dur="500"/>
                                        <p:tgtEl>
                                          <p:spTgt spid="171020"/>
                                        </p:tgtEl>
                                      </p:cBhvr>
                                    </p:animEffect>
                                  </p:childTnLst>
                                </p:cTn>
                              </p:par>
                              <p:par>
                                <p:cTn id="26" presetID="12" presetClass="entr" presetSubtype="4" fill="hold" grpId="0" nodeType="withEffect">
                                  <p:stCondLst>
                                    <p:cond delay="0"/>
                                  </p:stCondLst>
                                  <p:childTnLst>
                                    <p:set>
                                      <p:cBhvr>
                                        <p:cTn id="27" dur="1" fill="hold">
                                          <p:stCondLst>
                                            <p:cond delay="0"/>
                                          </p:stCondLst>
                                        </p:cTn>
                                        <p:tgtEl>
                                          <p:spTgt spid="171019"/>
                                        </p:tgtEl>
                                        <p:attrNameLst>
                                          <p:attrName>style.visibility</p:attrName>
                                        </p:attrNameLst>
                                      </p:cBhvr>
                                      <p:to>
                                        <p:strVal val="visible"/>
                                      </p:to>
                                    </p:set>
                                    <p:animEffect transition="in" filter="slide(fromBottom)">
                                      <p:cBhvr>
                                        <p:cTn id="28" dur="500"/>
                                        <p:tgtEl>
                                          <p:spTgt spid="171019"/>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2" presetClass="entr" presetSubtype="4" fill="hold" grpId="0" nodeType="clickEffect">
                                  <p:stCondLst>
                                    <p:cond delay="0"/>
                                  </p:stCondLst>
                                  <p:childTnLst>
                                    <p:set>
                                      <p:cBhvr>
                                        <p:cTn id="32" dur="1" fill="hold">
                                          <p:stCondLst>
                                            <p:cond delay="0"/>
                                          </p:stCondLst>
                                        </p:cTn>
                                        <p:tgtEl>
                                          <p:spTgt spid="171021"/>
                                        </p:tgtEl>
                                        <p:attrNameLst>
                                          <p:attrName>style.visibility</p:attrName>
                                        </p:attrNameLst>
                                      </p:cBhvr>
                                      <p:to>
                                        <p:strVal val="visible"/>
                                      </p:to>
                                    </p:set>
                                    <p:animEffect transition="in" filter="slide(fromBottom)">
                                      <p:cBhvr>
                                        <p:cTn id="33" dur="500"/>
                                        <p:tgtEl>
                                          <p:spTgt spid="171021"/>
                                        </p:tgtEl>
                                      </p:cBhvr>
                                    </p:animEffect>
                                  </p:childTnLst>
                                </p:cTn>
                              </p:par>
                              <p:par>
                                <p:cTn id="34" presetID="12" presetClass="entr" presetSubtype="4" fill="hold" grpId="0" nodeType="withEffect">
                                  <p:stCondLst>
                                    <p:cond delay="0"/>
                                  </p:stCondLst>
                                  <p:childTnLst>
                                    <p:set>
                                      <p:cBhvr>
                                        <p:cTn id="35" dur="1" fill="hold">
                                          <p:stCondLst>
                                            <p:cond delay="0"/>
                                          </p:stCondLst>
                                        </p:cTn>
                                        <p:tgtEl>
                                          <p:spTgt spid="171022"/>
                                        </p:tgtEl>
                                        <p:attrNameLst>
                                          <p:attrName>style.visibility</p:attrName>
                                        </p:attrNameLst>
                                      </p:cBhvr>
                                      <p:to>
                                        <p:strVal val="visible"/>
                                      </p:to>
                                    </p:set>
                                    <p:animEffect transition="in" filter="slide(fromBottom)">
                                      <p:cBhvr>
                                        <p:cTn id="36" dur="500"/>
                                        <p:tgtEl>
                                          <p:spTgt spid="171022"/>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8" presetClass="entr" presetSubtype="32" fill="hold" grpId="0" nodeType="clickEffect">
                                  <p:stCondLst>
                                    <p:cond delay="0"/>
                                  </p:stCondLst>
                                  <p:childTnLst>
                                    <p:set>
                                      <p:cBhvr>
                                        <p:cTn id="40" dur="1" fill="hold">
                                          <p:stCondLst>
                                            <p:cond delay="0"/>
                                          </p:stCondLst>
                                        </p:cTn>
                                        <p:tgtEl>
                                          <p:spTgt spid="171023"/>
                                        </p:tgtEl>
                                        <p:attrNameLst>
                                          <p:attrName>style.visibility</p:attrName>
                                        </p:attrNameLst>
                                      </p:cBhvr>
                                      <p:to>
                                        <p:strVal val="visible"/>
                                      </p:to>
                                    </p:set>
                                    <p:animEffect transition="in" filter="diamond(out)">
                                      <p:cBhvr>
                                        <p:cTn id="41" dur="750"/>
                                        <p:tgtEl>
                                          <p:spTgt spid="171023"/>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4" presetClass="entr" presetSubtype="10" fill="hold" nodeType="clickEffect">
                                  <p:stCondLst>
                                    <p:cond delay="0"/>
                                  </p:stCondLst>
                                  <p:childTnLst>
                                    <p:set>
                                      <p:cBhvr>
                                        <p:cTn id="45" dur="1" fill="hold">
                                          <p:stCondLst>
                                            <p:cond delay="0"/>
                                          </p:stCondLst>
                                        </p:cTn>
                                        <p:tgtEl>
                                          <p:spTgt spid="171024"/>
                                        </p:tgtEl>
                                        <p:attrNameLst>
                                          <p:attrName>style.visibility</p:attrName>
                                        </p:attrNameLst>
                                      </p:cBhvr>
                                      <p:to>
                                        <p:strVal val="visible"/>
                                      </p:to>
                                    </p:set>
                                    <p:animEffect transition="in" filter="randombar(horizontal)">
                                      <p:cBhvr>
                                        <p:cTn id="46" dur="500"/>
                                        <p:tgtEl>
                                          <p:spTgt spid="171024"/>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3" presetClass="entr" presetSubtype="10" fill="hold" nodeType="clickEffect">
                                  <p:stCondLst>
                                    <p:cond delay="0"/>
                                  </p:stCondLst>
                                  <p:childTnLst>
                                    <p:set>
                                      <p:cBhvr>
                                        <p:cTn id="50" dur="1" fill="hold">
                                          <p:stCondLst>
                                            <p:cond delay="0"/>
                                          </p:stCondLst>
                                        </p:cTn>
                                        <p:tgtEl>
                                          <p:spTgt spid="14376"/>
                                        </p:tgtEl>
                                        <p:attrNameLst>
                                          <p:attrName>style.visibility</p:attrName>
                                        </p:attrNameLst>
                                      </p:cBhvr>
                                      <p:to>
                                        <p:strVal val="visible"/>
                                      </p:to>
                                    </p:set>
                                    <p:animEffect transition="in" filter="blinds(horizontal)">
                                      <p:cBhvr>
                                        <p:cTn id="51" dur="500"/>
                                        <p:tgtEl>
                                          <p:spTgt spid="14376"/>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 presetClass="entr" presetSubtype="8" fill="hold" grpId="0" nodeType="clickEffect">
                                  <p:stCondLst>
                                    <p:cond delay="0"/>
                                  </p:stCondLst>
                                  <p:childTnLst>
                                    <p:set>
                                      <p:cBhvr>
                                        <p:cTn id="55" dur="1" fill="hold">
                                          <p:stCondLst>
                                            <p:cond delay="0"/>
                                          </p:stCondLst>
                                        </p:cTn>
                                        <p:tgtEl>
                                          <p:spTgt spid="171043"/>
                                        </p:tgtEl>
                                        <p:attrNameLst>
                                          <p:attrName>style.visibility</p:attrName>
                                        </p:attrNameLst>
                                      </p:cBhvr>
                                      <p:to>
                                        <p:strVal val="visible"/>
                                      </p:to>
                                    </p:set>
                                    <p:anim calcmode="lin" valueType="num">
                                      <p:cBhvr additive="base">
                                        <p:cTn id="56" dur="500" fill="hold"/>
                                        <p:tgtEl>
                                          <p:spTgt spid="171043"/>
                                        </p:tgtEl>
                                        <p:attrNameLst>
                                          <p:attrName>ppt_x</p:attrName>
                                        </p:attrNameLst>
                                      </p:cBhvr>
                                      <p:tavLst>
                                        <p:tav tm="0">
                                          <p:val>
                                            <p:strVal val="0-#ppt_w/2"/>
                                          </p:val>
                                        </p:tav>
                                        <p:tav tm="100000">
                                          <p:val>
                                            <p:strVal val="#ppt_x"/>
                                          </p:val>
                                        </p:tav>
                                      </p:tavLst>
                                    </p:anim>
                                    <p:anim calcmode="lin" valueType="num">
                                      <p:cBhvr additive="base">
                                        <p:cTn id="57" dur="500" fill="hold"/>
                                        <p:tgtEl>
                                          <p:spTgt spid="171043"/>
                                        </p:tgtEl>
                                        <p:attrNameLst>
                                          <p:attrName>ppt_y</p:attrName>
                                        </p:attrNameLst>
                                      </p:cBhvr>
                                      <p:tavLst>
                                        <p:tav tm="0">
                                          <p:val>
                                            <p:strVal val="#ppt_y"/>
                                          </p:val>
                                        </p:tav>
                                        <p:tav tm="100000">
                                          <p:val>
                                            <p:strVal val="#ppt_y"/>
                                          </p:val>
                                        </p:tav>
                                      </p:tavLst>
                                    </p:anim>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71044"/>
                                        </p:tgtEl>
                                        <p:attrNameLst>
                                          <p:attrName>style.visibility</p:attrName>
                                        </p:attrNameLst>
                                      </p:cBhvr>
                                      <p:to>
                                        <p:strVal val="visible"/>
                                      </p:to>
                                    </p:set>
                                    <p:animEffect transition="in" filter="blinds(horizontal)">
                                      <p:cBhvr>
                                        <p:cTn id="62" dur="500"/>
                                        <p:tgtEl>
                                          <p:spTgt spid="171044"/>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171045"/>
                                        </p:tgtEl>
                                        <p:attrNameLst>
                                          <p:attrName>style.visibility</p:attrName>
                                        </p:attrNameLst>
                                      </p:cBhvr>
                                      <p:to>
                                        <p:strVal val="visible"/>
                                      </p:to>
                                    </p:set>
                                    <p:animEffect transition="in" filter="blinds(horizontal)">
                                      <p:cBhvr>
                                        <p:cTn id="67" dur="500"/>
                                        <p:tgtEl>
                                          <p:spTgt spid="171045"/>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 presetClass="entr" presetSubtype="8" fill="hold" grpId="0" nodeType="clickEffect">
                                  <p:stCondLst>
                                    <p:cond delay="0"/>
                                  </p:stCondLst>
                                  <p:childTnLst>
                                    <p:set>
                                      <p:cBhvr>
                                        <p:cTn id="71" dur="1" fill="hold">
                                          <p:stCondLst>
                                            <p:cond delay="0"/>
                                          </p:stCondLst>
                                        </p:cTn>
                                        <p:tgtEl>
                                          <p:spTgt spid="171046"/>
                                        </p:tgtEl>
                                        <p:attrNameLst>
                                          <p:attrName>style.visibility</p:attrName>
                                        </p:attrNameLst>
                                      </p:cBhvr>
                                      <p:to>
                                        <p:strVal val="visible"/>
                                      </p:to>
                                    </p:set>
                                    <p:anim calcmode="lin" valueType="num">
                                      <p:cBhvr additive="base">
                                        <p:cTn id="72" dur="500" fill="hold"/>
                                        <p:tgtEl>
                                          <p:spTgt spid="171046"/>
                                        </p:tgtEl>
                                        <p:attrNameLst>
                                          <p:attrName>ppt_x</p:attrName>
                                        </p:attrNameLst>
                                      </p:cBhvr>
                                      <p:tavLst>
                                        <p:tav tm="0">
                                          <p:val>
                                            <p:strVal val="0-#ppt_w/2"/>
                                          </p:val>
                                        </p:tav>
                                        <p:tav tm="100000">
                                          <p:val>
                                            <p:strVal val="#ppt_x"/>
                                          </p:val>
                                        </p:tav>
                                      </p:tavLst>
                                    </p:anim>
                                    <p:anim calcmode="lin" valueType="num">
                                      <p:cBhvr additive="base">
                                        <p:cTn id="73" dur="500" fill="hold"/>
                                        <p:tgtEl>
                                          <p:spTgt spid="171046"/>
                                        </p:tgtEl>
                                        <p:attrNameLst>
                                          <p:attrName>ppt_y</p:attrName>
                                        </p:attrNameLst>
                                      </p:cBhvr>
                                      <p:tavLst>
                                        <p:tav tm="0">
                                          <p:val>
                                            <p:strVal val="#ppt_y"/>
                                          </p:val>
                                        </p:tav>
                                        <p:tav tm="100000">
                                          <p:val>
                                            <p:strVal val="#ppt_y"/>
                                          </p:val>
                                        </p:tav>
                                      </p:tavLst>
                                    </p:anim>
                                  </p:childTnLst>
                                </p:cTn>
                              </p:par>
                            </p:childTnLst>
                          </p:cTn>
                        </p:par>
                      </p:childTnLst>
                    </p:cTn>
                  </p:par>
                  <p:par>
                    <p:cTn id="74" fill="hold" nodeType="clickPar">
                      <p:stCondLst>
                        <p:cond delay="indefinite"/>
                      </p:stCondLst>
                      <p:childTnLst>
                        <p:par>
                          <p:cTn id="75" fill="hold" nodeType="withGroup">
                            <p:stCondLst>
                              <p:cond delay="0"/>
                            </p:stCondLst>
                            <p:childTnLst>
                              <p:par>
                                <p:cTn id="76" presetID="3" presetClass="entr" presetSubtype="10" fill="hold" grpId="0" nodeType="clickEffect">
                                  <p:stCondLst>
                                    <p:cond delay="0"/>
                                  </p:stCondLst>
                                  <p:childTnLst>
                                    <p:set>
                                      <p:cBhvr>
                                        <p:cTn id="77" dur="1" fill="hold">
                                          <p:stCondLst>
                                            <p:cond delay="0"/>
                                          </p:stCondLst>
                                        </p:cTn>
                                        <p:tgtEl>
                                          <p:spTgt spid="171047"/>
                                        </p:tgtEl>
                                        <p:attrNameLst>
                                          <p:attrName>style.visibility</p:attrName>
                                        </p:attrNameLst>
                                      </p:cBhvr>
                                      <p:to>
                                        <p:strVal val="visible"/>
                                      </p:to>
                                    </p:set>
                                    <p:animEffect transition="in" filter="blinds(horizontal)">
                                      <p:cBhvr>
                                        <p:cTn id="78" dur="500"/>
                                        <p:tgtEl>
                                          <p:spTgt spid="171047"/>
                                        </p:tgtEl>
                                      </p:cBhvr>
                                    </p:animEffect>
                                  </p:childTnLst>
                                </p:cTn>
                              </p:par>
                            </p:childTnLst>
                          </p:cTn>
                        </p:par>
                      </p:childTnLst>
                    </p:cTn>
                  </p:par>
                  <p:par>
                    <p:cTn id="79" fill="hold">
                      <p:stCondLst>
                        <p:cond delay="indefinite"/>
                      </p:stCondLst>
                      <p:childTnLst>
                        <p:par>
                          <p:cTn id="80" fill="hold">
                            <p:stCondLst>
                              <p:cond delay="0"/>
                            </p:stCondLst>
                            <p:childTnLst>
                              <p:par>
                                <p:cTn id="81" presetID="2" presetClass="entr" presetSubtype="8" fill="hold" grpId="0" nodeType="clickEffect">
                                  <p:stCondLst>
                                    <p:cond delay="0"/>
                                  </p:stCondLst>
                                  <p:childTnLst>
                                    <p:set>
                                      <p:cBhvr>
                                        <p:cTn id="82" dur="1" fill="hold">
                                          <p:stCondLst>
                                            <p:cond delay="0"/>
                                          </p:stCondLst>
                                        </p:cTn>
                                        <p:tgtEl>
                                          <p:spTgt spid="39"/>
                                        </p:tgtEl>
                                        <p:attrNameLst>
                                          <p:attrName>style.visibility</p:attrName>
                                        </p:attrNameLst>
                                      </p:cBhvr>
                                      <p:to>
                                        <p:strVal val="visible"/>
                                      </p:to>
                                    </p:set>
                                    <p:anim calcmode="lin" valueType="num">
                                      <p:cBhvr additive="base">
                                        <p:cTn id="83" dur="500" fill="hold"/>
                                        <p:tgtEl>
                                          <p:spTgt spid="39"/>
                                        </p:tgtEl>
                                        <p:attrNameLst>
                                          <p:attrName>ppt_x</p:attrName>
                                        </p:attrNameLst>
                                      </p:cBhvr>
                                      <p:tavLst>
                                        <p:tav tm="0">
                                          <p:val>
                                            <p:strVal val="0-#ppt_w/2"/>
                                          </p:val>
                                        </p:tav>
                                        <p:tav tm="100000">
                                          <p:val>
                                            <p:strVal val="#ppt_x"/>
                                          </p:val>
                                        </p:tav>
                                      </p:tavLst>
                                    </p:anim>
                                    <p:anim calcmode="lin" valueType="num">
                                      <p:cBhvr additive="base">
                                        <p:cTn id="84" dur="500" fill="hold"/>
                                        <p:tgtEl>
                                          <p:spTgt spid="39"/>
                                        </p:tgtEl>
                                        <p:attrNameLst>
                                          <p:attrName>ppt_y</p:attrName>
                                        </p:attrNameLst>
                                      </p:cBhvr>
                                      <p:tavLst>
                                        <p:tav tm="0">
                                          <p:val>
                                            <p:strVal val="#ppt_y"/>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3" presetClass="entr" presetSubtype="10" fill="hold" grpId="0" nodeType="clickEffect">
                                  <p:stCondLst>
                                    <p:cond delay="0"/>
                                  </p:stCondLst>
                                  <p:childTnLst>
                                    <p:set>
                                      <p:cBhvr>
                                        <p:cTn id="88" dur="1" fill="hold">
                                          <p:stCondLst>
                                            <p:cond delay="0"/>
                                          </p:stCondLst>
                                        </p:cTn>
                                        <p:tgtEl>
                                          <p:spTgt spid="40"/>
                                        </p:tgtEl>
                                        <p:attrNameLst>
                                          <p:attrName>style.visibility</p:attrName>
                                        </p:attrNameLst>
                                      </p:cBhvr>
                                      <p:to>
                                        <p:strVal val="visible"/>
                                      </p:to>
                                    </p:set>
                                    <p:animEffect transition="in" filter="blinds(horizontal)">
                                      <p:cBhvr>
                                        <p:cTn id="89" dur="500"/>
                                        <p:tgtEl>
                                          <p:spTgt spid="40"/>
                                        </p:tgtEl>
                                      </p:cBhvr>
                                    </p:animEffect>
                                  </p:childTnLst>
                                </p:cTn>
                              </p:par>
                            </p:childTnLst>
                          </p:cTn>
                        </p:par>
                      </p:childTnLst>
                    </p:cTn>
                  </p:par>
                  <p:par>
                    <p:cTn id="90" fill="hold">
                      <p:stCondLst>
                        <p:cond delay="indefinite"/>
                      </p:stCondLst>
                      <p:childTnLst>
                        <p:par>
                          <p:cTn id="91" fill="hold">
                            <p:stCondLst>
                              <p:cond delay="0"/>
                            </p:stCondLst>
                            <p:childTnLst>
                              <p:par>
                                <p:cTn id="92" presetID="6" presetClass="entr" presetSubtype="32" fill="hold" grpId="0" nodeType="clickEffect">
                                  <p:stCondLst>
                                    <p:cond delay="0"/>
                                  </p:stCondLst>
                                  <p:childTnLst>
                                    <p:set>
                                      <p:cBhvr>
                                        <p:cTn id="93" dur="1" fill="hold">
                                          <p:stCondLst>
                                            <p:cond delay="0"/>
                                          </p:stCondLst>
                                        </p:cTn>
                                        <p:tgtEl>
                                          <p:spTgt spid="2"/>
                                        </p:tgtEl>
                                        <p:attrNameLst>
                                          <p:attrName>style.visibility</p:attrName>
                                        </p:attrNameLst>
                                      </p:cBhvr>
                                      <p:to>
                                        <p:strVal val="visible"/>
                                      </p:to>
                                    </p:set>
                                    <p:animEffect transition="in" filter="circle(out)">
                                      <p:cBhvr>
                                        <p:cTn id="9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5" grpId="0"/>
      <p:bldP spid="171016" grpId="0"/>
      <p:bldP spid="171017" grpId="0" animBg="1"/>
      <p:bldP spid="171018" grpId="0"/>
      <p:bldP spid="171019" grpId="0"/>
      <p:bldP spid="171020" grpId="0" animBg="1"/>
      <p:bldP spid="171021" grpId="0" animBg="1"/>
      <p:bldP spid="171022" grpId="0"/>
      <p:bldP spid="171023" grpId="0" animBg="1"/>
      <p:bldP spid="171043" grpId="0"/>
      <p:bldP spid="171044" grpId="0"/>
      <p:bldP spid="171045" grpId="0"/>
      <p:bldP spid="171046" grpId="0"/>
      <p:bldP spid="171047" grpId="0"/>
      <p:bldP spid="39" grpId="0"/>
      <p:bldP spid="40" grpId="0"/>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2034" name="Object 2"/>
          <p:cNvGraphicFramePr>
            <a:graphicFrameLocks noChangeAspect="1"/>
          </p:cNvGraphicFramePr>
          <p:nvPr>
            <p:extLst>
              <p:ext uri="{D42A27DB-BD31-4B8C-83A1-F6EECF244321}">
                <p14:modId xmlns:p14="http://schemas.microsoft.com/office/powerpoint/2010/main" val="629473205"/>
              </p:ext>
            </p:extLst>
          </p:nvPr>
        </p:nvGraphicFramePr>
        <p:xfrm>
          <a:off x="4515625" y="1230608"/>
          <a:ext cx="1416048" cy="1008063"/>
        </p:xfrm>
        <a:graphic>
          <a:graphicData uri="http://schemas.openxmlformats.org/presentationml/2006/ole">
            <mc:AlternateContent xmlns:mc="http://schemas.openxmlformats.org/markup-compatibility/2006">
              <mc:Choice xmlns:v="urn:schemas-microsoft-com:vml" Requires="v">
                <p:oleObj name="Equation" r:id="rId2" imgW="545760" imgH="431640" progId="Equation.DSMT4">
                  <p:embed/>
                </p:oleObj>
              </mc:Choice>
              <mc:Fallback>
                <p:oleObj name="Equation" r:id="rId2" imgW="545760" imgH="431640" progId="Equation.DSMT4">
                  <p:embed/>
                  <p:pic>
                    <p:nvPicPr>
                      <p:cNvPr id="0" name=""/>
                      <p:cNvPicPr>
                        <a:picLocks noChangeAspect="1" noChangeArrowheads="1"/>
                      </p:cNvPicPr>
                      <p:nvPr/>
                    </p:nvPicPr>
                    <p:blipFill>
                      <a:blip r:embed="rId3"/>
                      <a:srcRect/>
                      <a:stretch>
                        <a:fillRect/>
                      </a:stretch>
                    </p:blipFill>
                    <p:spPr bwMode="auto">
                      <a:xfrm>
                        <a:off x="4515625" y="1230608"/>
                        <a:ext cx="1416048" cy="1008063"/>
                      </a:xfrm>
                      <a:prstGeom prst="rect">
                        <a:avLst/>
                      </a:prstGeom>
                      <a:solidFill>
                        <a:schemeClr val="accent1">
                          <a:lumMod val="40000"/>
                          <a:lumOff val="60000"/>
                        </a:schemeClr>
                      </a:solidFill>
                      <a:ln>
                        <a:noFill/>
                      </a:ln>
                      <a:effectLst/>
                    </p:spPr>
                  </p:pic>
                </p:oleObj>
              </mc:Fallback>
            </mc:AlternateContent>
          </a:graphicData>
        </a:graphic>
      </p:graphicFrame>
      <p:grpSp>
        <p:nvGrpSpPr>
          <p:cNvPr id="172035" name="Group 3"/>
          <p:cNvGrpSpPr>
            <a:grpSpLocks/>
          </p:cNvGrpSpPr>
          <p:nvPr/>
        </p:nvGrpSpPr>
        <p:grpSpPr bwMode="auto">
          <a:xfrm>
            <a:off x="547689" y="1301751"/>
            <a:ext cx="1946275" cy="762001"/>
            <a:chOff x="3574" y="672"/>
            <a:chExt cx="1226" cy="480"/>
          </a:xfrm>
        </p:grpSpPr>
        <p:grpSp>
          <p:nvGrpSpPr>
            <p:cNvPr id="15403" name="Group 4"/>
            <p:cNvGrpSpPr>
              <a:grpSpLocks/>
            </p:cNvGrpSpPr>
            <p:nvPr/>
          </p:nvGrpSpPr>
          <p:grpSpPr bwMode="auto">
            <a:xfrm>
              <a:off x="3574" y="672"/>
              <a:ext cx="986" cy="476"/>
              <a:chOff x="3574" y="672"/>
              <a:chExt cx="986" cy="476"/>
            </a:xfrm>
          </p:grpSpPr>
          <p:sp>
            <p:nvSpPr>
              <p:cNvPr id="15413" name="Rectangle 5"/>
              <p:cNvSpPr>
                <a:spLocks noChangeArrowheads="1"/>
              </p:cNvSpPr>
              <p:nvPr/>
            </p:nvSpPr>
            <p:spPr bwMode="auto">
              <a:xfrm>
                <a:off x="3940" y="772"/>
                <a:ext cx="616" cy="376"/>
              </a:xfrm>
              <a:prstGeom prst="rect">
                <a:avLst/>
              </a:prstGeom>
              <a:noFill/>
              <a:ln w="317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5414" name="Line 6"/>
              <p:cNvSpPr>
                <a:spLocks noChangeShapeType="1"/>
              </p:cNvSpPr>
              <p:nvPr/>
            </p:nvSpPr>
            <p:spPr bwMode="auto">
              <a:xfrm flipH="1">
                <a:off x="3600" y="960"/>
                <a:ext cx="336" cy="0"/>
              </a:xfrm>
              <a:prstGeom prst="line">
                <a:avLst/>
              </a:prstGeom>
              <a:noFill/>
              <a:ln w="31750">
                <a:solidFill>
                  <a:srgbClr val="FF33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15" name="Line 7"/>
              <p:cNvSpPr>
                <a:spLocks noChangeShapeType="1"/>
              </p:cNvSpPr>
              <p:nvPr/>
            </p:nvSpPr>
            <p:spPr bwMode="auto">
              <a:xfrm>
                <a:off x="3936" y="960"/>
                <a:ext cx="624" cy="0"/>
              </a:xfrm>
              <a:prstGeom prst="line">
                <a:avLst/>
              </a:prstGeom>
              <a:noFill/>
              <a:ln w="31750">
                <a:solidFill>
                  <a:schemeClr val="tx1"/>
                </a:solidFill>
                <a:prstDash val="dash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40" name="Rectangle 8"/>
              <p:cNvSpPr>
                <a:spLocks noChangeArrowheads="1"/>
              </p:cNvSpPr>
              <p:nvPr/>
            </p:nvSpPr>
            <p:spPr bwMode="auto">
              <a:xfrm>
                <a:off x="3574" y="672"/>
                <a:ext cx="24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400" b="1" i="1" dirty="0">
                    <a:solidFill>
                      <a:srgbClr val="FF0000"/>
                    </a:solidFill>
                    <a:latin typeface="Times New Roman" panose="02020603050405020304" pitchFamily="18" charset="0"/>
                  </a:rPr>
                  <a:t>F</a:t>
                </a:r>
                <a:endParaRPr kumimoji="1" lang="en-US" altLang="zh-CN" sz="2400" b="1" i="1" dirty="0">
                  <a:solidFill>
                    <a:srgbClr val="FF0000"/>
                  </a:solidFill>
                  <a:latin typeface="Times New Roman" panose="02020603050405020304" pitchFamily="18" charset="0"/>
                  <a:ea typeface="'宋体" pitchFamily="34" charset="-122"/>
                </a:endParaRPr>
              </a:p>
            </p:txBody>
          </p:sp>
        </p:grpSp>
        <p:grpSp>
          <p:nvGrpSpPr>
            <p:cNvPr id="15404" name="Group 9"/>
            <p:cNvGrpSpPr>
              <a:grpSpLocks/>
            </p:cNvGrpSpPr>
            <p:nvPr/>
          </p:nvGrpSpPr>
          <p:grpSpPr bwMode="auto">
            <a:xfrm>
              <a:off x="4560" y="768"/>
              <a:ext cx="240" cy="384"/>
              <a:chOff x="4560" y="768"/>
              <a:chExt cx="240" cy="384"/>
            </a:xfrm>
          </p:grpSpPr>
          <p:sp>
            <p:nvSpPr>
              <p:cNvPr id="15405" name="Line 10"/>
              <p:cNvSpPr>
                <a:spLocks noChangeShapeType="1"/>
              </p:cNvSpPr>
              <p:nvPr/>
            </p:nvSpPr>
            <p:spPr bwMode="auto">
              <a:xfrm>
                <a:off x="4560" y="768"/>
                <a:ext cx="240" cy="0"/>
              </a:xfrm>
              <a:prstGeom prst="line">
                <a:avLst/>
              </a:prstGeom>
              <a:noFill/>
              <a:ln w="31750">
                <a:solidFill>
                  <a:srgbClr val="0000FF"/>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06" name="Line 11"/>
              <p:cNvSpPr>
                <a:spLocks noChangeShapeType="1"/>
              </p:cNvSpPr>
              <p:nvPr/>
            </p:nvSpPr>
            <p:spPr bwMode="auto">
              <a:xfrm>
                <a:off x="4560" y="864"/>
                <a:ext cx="240" cy="0"/>
              </a:xfrm>
              <a:prstGeom prst="line">
                <a:avLst/>
              </a:prstGeom>
              <a:noFill/>
              <a:ln w="31750">
                <a:solidFill>
                  <a:srgbClr val="0000FF"/>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07" name="Line 12"/>
              <p:cNvSpPr>
                <a:spLocks noChangeShapeType="1"/>
              </p:cNvSpPr>
              <p:nvPr/>
            </p:nvSpPr>
            <p:spPr bwMode="auto">
              <a:xfrm>
                <a:off x="4560" y="960"/>
                <a:ext cx="240" cy="0"/>
              </a:xfrm>
              <a:prstGeom prst="line">
                <a:avLst/>
              </a:prstGeom>
              <a:noFill/>
              <a:ln w="31750">
                <a:solidFill>
                  <a:srgbClr val="0000FF"/>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08" name="Line 13"/>
              <p:cNvSpPr>
                <a:spLocks noChangeShapeType="1"/>
              </p:cNvSpPr>
              <p:nvPr/>
            </p:nvSpPr>
            <p:spPr bwMode="auto">
              <a:xfrm>
                <a:off x="4560" y="1056"/>
                <a:ext cx="240" cy="0"/>
              </a:xfrm>
              <a:prstGeom prst="line">
                <a:avLst/>
              </a:prstGeom>
              <a:noFill/>
              <a:ln w="31750">
                <a:solidFill>
                  <a:srgbClr val="0000FF"/>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09" name="Line 14"/>
              <p:cNvSpPr>
                <a:spLocks noChangeShapeType="1"/>
              </p:cNvSpPr>
              <p:nvPr/>
            </p:nvSpPr>
            <p:spPr bwMode="auto">
              <a:xfrm>
                <a:off x="4560" y="1152"/>
                <a:ext cx="240" cy="0"/>
              </a:xfrm>
              <a:prstGeom prst="line">
                <a:avLst/>
              </a:prstGeom>
              <a:noFill/>
              <a:ln w="31750">
                <a:solidFill>
                  <a:srgbClr val="0000FF"/>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5" name="组合 4"/>
          <p:cNvGrpSpPr/>
          <p:nvPr/>
        </p:nvGrpSpPr>
        <p:grpSpPr>
          <a:xfrm>
            <a:off x="828317" y="2452279"/>
            <a:ext cx="3579992" cy="473892"/>
            <a:chOff x="776108" y="2460625"/>
            <a:chExt cx="3579992" cy="473892"/>
          </a:xfrm>
        </p:grpSpPr>
        <p:graphicFrame>
          <p:nvGraphicFramePr>
            <p:cNvPr id="172051" name="Object 19"/>
            <p:cNvGraphicFramePr>
              <a:graphicFrameLocks/>
            </p:cNvGraphicFramePr>
            <p:nvPr>
              <p:extLst>
                <p:ext uri="{D42A27DB-BD31-4B8C-83A1-F6EECF244321}">
                  <p14:modId xmlns:p14="http://schemas.microsoft.com/office/powerpoint/2010/main" val="4285262756"/>
                </p:ext>
              </p:extLst>
            </p:nvPr>
          </p:nvGraphicFramePr>
          <p:xfrm>
            <a:off x="776108" y="2487433"/>
            <a:ext cx="2095501" cy="447084"/>
          </p:xfrm>
          <a:graphic>
            <a:graphicData uri="http://schemas.openxmlformats.org/presentationml/2006/ole">
              <mc:AlternateContent xmlns:mc="http://schemas.openxmlformats.org/markup-compatibility/2006">
                <mc:Choice xmlns:v="urn:schemas-microsoft-com:vml" Requires="v">
                  <p:oleObj name="Equation" r:id="rId4" imgW="927000" imgH="228600" progId="Equation.DSMT4">
                    <p:embed/>
                  </p:oleObj>
                </mc:Choice>
                <mc:Fallback>
                  <p:oleObj name="Equation" r:id="rId4" imgW="927000" imgH="228600" progId="Equation.DSMT4">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6108" y="2487433"/>
                          <a:ext cx="2095501" cy="447084"/>
                        </a:xfrm>
                        <a:prstGeom prst="rect">
                          <a:avLst/>
                        </a:prstGeom>
                        <a:noFill/>
                        <a:ln>
                          <a:noFill/>
                        </a:ln>
                        <a:effectLst/>
                      </p:spPr>
                    </p:pic>
                  </p:oleObj>
                </mc:Fallback>
              </mc:AlternateContent>
            </a:graphicData>
          </a:graphic>
        </p:graphicFrame>
        <p:sp>
          <p:nvSpPr>
            <p:cNvPr id="172052" name="Rectangle 20"/>
            <p:cNvSpPr>
              <a:spLocks noChangeArrowheads="1"/>
            </p:cNvSpPr>
            <p:nvPr/>
          </p:nvSpPr>
          <p:spPr bwMode="auto">
            <a:xfrm>
              <a:off x="2959100" y="2460625"/>
              <a:ext cx="139700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defRPr/>
              </a:pPr>
              <a:r>
                <a:rPr kumimoji="1" lang="zh-CN" altLang="en-US" sz="2400" b="1" dirty="0">
                  <a:latin typeface="楷体_GB2312" pitchFamily="49" charset="-122"/>
                  <a:ea typeface="楷体_GB2312" pitchFamily="49" charset="-122"/>
                </a:rPr>
                <a:t>拉应力</a:t>
              </a:r>
            </a:p>
          </p:txBody>
        </p:sp>
      </p:grpSp>
      <p:grpSp>
        <p:nvGrpSpPr>
          <p:cNvPr id="6" name="组合 5"/>
          <p:cNvGrpSpPr/>
          <p:nvPr/>
        </p:nvGrpSpPr>
        <p:grpSpPr>
          <a:xfrm>
            <a:off x="4719638" y="2428875"/>
            <a:ext cx="3813175" cy="503817"/>
            <a:chOff x="4719638" y="2428875"/>
            <a:chExt cx="3813175" cy="503817"/>
          </a:xfrm>
        </p:grpSpPr>
        <p:graphicFrame>
          <p:nvGraphicFramePr>
            <p:cNvPr id="172053" name="Object 21"/>
            <p:cNvGraphicFramePr>
              <a:graphicFrameLocks/>
            </p:cNvGraphicFramePr>
            <p:nvPr>
              <p:extLst>
                <p:ext uri="{D42A27DB-BD31-4B8C-83A1-F6EECF244321}">
                  <p14:modId xmlns:p14="http://schemas.microsoft.com/office/powerpoint/2010/main" val="1846622924"/>
                </p:ext>
              </p:extLst>
            </p:nvPr>
          </p:nvGraphicFramePr>
          <p:xfrm>
            <a:off x="4719638" y="2462448"/>
            <a:ext cx="2061416" cy="470244"/>
          </p:xfrm>
          <a:graphic>
            <a:graphicData uri="http://schemas.openxmlformats.org/presentationml/2006/ole">
              <mc:AlternateContent xmlns:mc="http://schemas.openxmlformats.org/markup-compatibility/2006">
                <mc:Choice xmlns:v="urn:schemas-microsoft-com:vml" Requires="v">
                  <p:oleObj name="Equation" r:id="rId6" imgW="927000" imgH="228600" progId="Equation.DSMT4">
                    <p:embed/>
                  </p:oleObj>
                </mc:Choice>
                <mc:Fallback>
                  <p:oleObj name="Equation" r:id="rId6" imgW="927000" imgH="228600" progId="Equation.DSMT4">
                    <p:embed/>
                    <p:pic>
                      <p:nvPicPr>
                        <p:cNvPr id="0" nam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19638" y="2462448"/>
                          <a:ext cx="2061416" cy="470244"/>
                        </a:xfrm>
                        <a:prstGeom prst="rect">
                          <a:avLst/>
                        </a:prstGeom>
                        <a:noFill/>
                        <a:ln>
                          <a:noFill/>
                        </a:ln>
                        <a:effectLst/>
                      </p:spPr>
                    </p:pic>
                  </p:oleObj>
                </mc:Fallback>
              </mc:AlternateContent>
            </a:graphicData>
          </a:graphic>
        </p:graphicFrame>
        <p:sp>
          <p:nvSpPr>
            <p:cNvPr id="172054" name="Rectangle 22"/>
            <p:cNvSpPr>
              <a:spLocks noChangeArrowheads="1"/>
            </p:cNvSpPr>
            <p:nvPr/>
          </p:nvSpPr>
          <p:spPr bwMode="auto">
            <a:xfrm>
              <a:off x="7053263" y="2428875"/>
              <a:ext cx="147955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defRPr/>
              </a:pPr>
              <a:r>
                <a:rPr kumimoji="1" lang="zh-CN" altLang="en-US" sz="2400" b="1" dirty="0">
                  <a:latin typeface="楷体_GB2312" pitchFamily="49" charset="-122"/>
                  <a:ea typeface="楷体_GB2312" pitchFamily="49" charset="-122"/>
                </a:rPr>
                <a:t>压应力</a:t>
              </a:r>
            </a:p>
          </p:txBody>
        </p:sp>
      </p:grpSp>
      <p:sp>
        <p:nvSpPr>
          <p:cNvPr id="172059" name="Text Box 27"/>
          <p:cNvSpPr txBox="1">
            <a:spLocks noChangeArrowheads="1"/>
          </p:cNvSpPr>
          <p:nvPr/>
        </p:nvSpPr>
        <p:spPr bwMode="auto">
          <a:xfrm>
            <a:off x="533400" y="4925016"/>
            <a:ext cx="8212910" cy="1200329"/>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squar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solidFill>
                  <a:srgbClr val="FF0000"/>
                </a:solidFill>
                <a:latin typeface="Times New Roman" panose="02020603050405020304" pitchFamily="18" charset="0"/>
                <a:ea typeface="华文楷体" panose="02010600040101010101" pitchFamily="2" charset="-122"/>
              </a:rPr>
              <a:t>圣</a:t>
            </a:r>
            <a:r>
              <a:rPr lang="zh-CN" altLang="en-US" b="1" dirty="0">
                <a:solidFill>
                  <a:srgbClr val="FF0000"/>
                </a:solidFill>
                <a:latin typeface="Times New Roman" panose="02020603050405020304" pitchFamily="18" charset="0"/>
                <a:ea typeface="华文楷体" panose="02010600040101010101" pitchFamily="2" charset="-122"/>
              </a:rPr>
              <a:t>维</a:t>
            </a:r>
            <a:r>
              <a:rPr kumimoji="1" lang="zh-CN" altLang="en-US" sz="2400" b="1" dirty="0">
                <a:solidFill>
                  <a:srgbClr val="FF0000"/>
                </a:solidFill>
                <a:latin typeface="Times New Roman" panose="02020603050405020304" pitchFamily="18" charset="0"/>
                <a:ea typeface="华文楷体" panose="02010600040101010101" pitchFamily="2" charset="-122"/>
              </a:rPr>
              <a:t>南原理</a:t>
            </a:r>
            <a:r>
              <a:rPr kumimoji="1" lang="en-US" altLang="zh-CN" sz="2400" b="1" dirty="0">
                <a:solidFill>
                  <a:srgbClr val="FF0000"/>
                </a:solidFill>
                <a:latin typeface="Times New Roman" panose="02020603050405020304" pitchFamily="18" charset="0"/>
                <a:ea typeface="华文楷体" panose="02010600040101010101" pitchFamily="2" charset="-122"/>
              </a:rPr>
              <a:t>(</a:t>
            </a:r>
            <a:r>
              <a:rPr kumimoji="1" lang="en-US" altLang="zh-CN" sz="2400" dirty="0">
                <a:solidFill>
                  <a:srgbClr val="FF0000"/>
                </a:solidFill>
                <a:latin typeface="Times New Roman" panose="02020603050405020304" pitchFamily="18" charset="0"/>
                <a:ea typeface="华文楷体" panose="02010600040101010101" pitchFamily="2" charset="-122"/>
              </a:rPr>
              <a:t>Saint-</a:t>
            </a:r>
            <a:r>
              <a:rPr kumimoji="1" lang="en-US" altLang="zh-CN" sz="2400" dirty="0" err="1">
                <a:solidFill>
                  <a:srgbClr val="FF0000"/>
                </a:solidFill>
                <a:latin typeface="Times New Roman" panose="02020603050405020304" pitchFamily="18" charset="0"/>
                <a:ea typeface="华文楷体" panose="02010600040101010101" pitchFamily="2" charset="-122"/>
              </a:rPr>
              <a:t>Venant’s</a:t>
            </a:r>
            <a:r>
              <a:rPr kumimoji="1" lang="en-US" altLang="zh-CN" sz="2400" dirty="0">
                <a:solidFill>
                  <a:srgbClr val="FF0000"/>
                </a:solidFill>
                <a:latin typeface="Times New Roman" panose="02020603050405020304" pitchFamily="18" charset="0"/>
                <a:ea typeface="华文楷体" panose="02010600040101010101" pitchFamily="2" charset="-122"/>
              </a:rPr>
              <a:t> Principle</a:t>
            </a:r>
            <a:r>
              <a:rPr kumimoji="1" lang="en-US" altLang="zh-CN" sz="2400" b="1" dirty="0">
                <a:solidFill>
                  <a:srgbClr val="FF0000"/>
                </a:solidFill>
                <a:latin typeface="Times New Roman" panose="02020603050405020304" pitchFamily="18" charset="0"/>
                <a:ea typeface="华文楷体" panose="02010600040101010101" pitchFamily="2" charset="-122"/>
              </a:rPr>
              <a:t>)</a:t>
            </a:r>
            <a:r>
              <a:rPr kumimoji="1" lang="zh-CN" altLang="en-US" sz="2400" b="1" dirty="0">
                <a:solidFill>
                  <a:srgbClr val="FF0000"/>
                </a:solidFill>
                <a:latin typeface="Times New Roman" panose="02020603050405020304" pitchFamily="18" charset="0"/>
                <a:ea typeface="华文楷体" panose="02010600040101010101" pitchFamily="2" charset="-122"/>
              </a:rPr>
              <a:t>：</a:t>
            </a:r>
            <a:r>
              <a:rPr kumimoji="1" lang="zh-CN" altLang="en-US" sz="2400" b="1" dirty="0">
                <a:latin typeface="Times New Roman" panose="02020603050405020304" pitchFamily="18" charset="0"/>
                <a:ea typeface="华文楷体" panose="02010600040101010101" pitchFamily="2" charset="-122"/>
              </a:rPr>
              <a:t>在静力等效的条件下，不同的加载方式只对加载处附近区域的应力分布有影响，而在离加载处较远的区域，其应力分布没有显著的差别。</a:t>
            </a:r>
          </a:p>
        </p:txBody>
      </p:sp>
      <p:sp>
        <p:nvSpPr>
          <p:cNvPr id="172060" name="Text Box 28"/>
          <p:cNvSpPr txBox="1">
            <a:spLocks noChangeArrowheads="1"/>
          </p:cNvSpPr>
          <p:nvPr/>
        </p:nvSpPr>
        <p:spPr bwMode="auto">
          <a:xfrm>
            <a:off x="168275" y="3321050"/>
            <a:ext cx="1368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en-US" sz="2400" b="1" dirty="0">
                <a:latin typeface="黑体" panose="02010609060101010101" pitchFamily="49" charset="-122"/>
                <a:ea typeface="黑体" panose="02010609060101010101" pitchFamily="49" charset="-122"/>
              </a:rPr>
              <a:t>方法二</a:t>
            </a:r>
          </a:p>
        </p:txBody>
      </p:sp>
      <p:grpSp>
        <p:nvGrpSpPr>
          <p:cNvPr id="172061" name="Group 29"/>
          <p:cNvGrpSpPr>
            <a:grpSpLocks/>
          </p:cNvGrpSpPr>
          <p:nvPr/>
        </p:nvGrpSpPr>
        <p:grpSpPr bwMode="auto">
          <a:xfrm>
            <a:off x="1527946" y="3215761"/>
            <a:ext cx="4103688" cy="647700"/>
            <a:chOff x="884" y="2433"/>
            <a:chExt cx="2585" cy="408"/>
          </a:xfrm>
        </p:grpSpPr>
        <p:sp>
          <p:nvSpPr>
            <p:cNvPr id="15390" name="Rectangle 30"/>
            <p:cNvSpPr>
              <a:spLocks noChangeArrowheads="1"/>
            </p:cNvSpPr>
            <p:nvPr/>
          </p:nvSpPr>
          <p:spPr bwMode="auto">
            <a:xfrm>
              <a:off x="1156" y="2433"/>
              <a:ext cx="2041" cy="408"/>
            </a:xfrm>
            <a:prstGeom prst="rect">
              <a:avLst/>
            </a:prstGeom>
            <a:solidFill>
              <a:schemeClr val="accent1"/>
            </a:solidFill>
            <a:ln w="222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grpSp>
          <p:nvGrpSpPr>
            <p:cNvPr id="15391" name="Group 31"/>
            <p:cNvGrpSpPr>
              <a:grpSpLocks/>
            </p:cNvGrpSpPr>
            <p:nvPr/>
          </p:nvGrpSpPr>
          <p:grpSpPr bwMode="auto">
            <a:xfrm>
              <a:off x="3197" y="2433"/>
              <a:ext cx="272" cy="403"/>
              <a:chOff x="2853" y="2886"/>
              <a:chExt cx="272" cy="403"/>
            </a:xfrm>
          </p:grpSpPr>
          <p:sp>
            <p:nvSpPr>
              <p:cNvPr id="15398" name="Line 32"/>
              <p:cNvSpPr>
                <a:spLocks noChangeShapeType="1"/>
              </p:cNvSpPr>
              <p:nvPr/>
            </p:nvSpPr>
            <p:spPr bwMode="auto">
              <a:xfrm>
                <a:off x="2853" y="2886"/>
                <a:ext cx="272" cy="0"/>
              </a:xfrm>
              <a:prstGeom prst="line">
                <a:avLst/>
              </a:prstGeom>
              <a:noFill/>
              <a:ln w="2540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9" name="Line 33"/>
              <p:cNvSpPr>
                <a:spLocks noChangeShapeType="1"/>
              </p:cNvSpPr>
              <p:nvPr/>
            </p:nvSpPr>
            <p:spPr bwMode="auto">
              <a:xfrm>
                <a:off x="2853" y="2986"/>
                <a:ext cx="272" cy="0"/>
              </a:xfrm>
              <a:prstGeom prst="line">
                <a:avLst/>
              </a:prstGeom>
              <a:noFill/>
              <a:ln w="2540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00" name="Line 34"/>
              <p:cNvSpPr>
                <a:spLocks noChangeShapeType="1"/>
              </p:cNvSpPr>
              <p:nvPr/>
            </p:nvSpPr>
            <p:spPr bwMode="auto">
              <a:xfrm>
                <a:off x="2853" y="3087"/>
                <a:ext cx="272" cy="0"/>
              </a:xfrm>
              <a:prstGeom prst="line">
                <a:avLst/>
              </a:prstGeom>
              <a:noFill/>
              <a:ln w="2540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01" name="Line 35"/>
              <p:cNvSpPr>
                <a:spLocks noChangeShapeType="1"/>
              </p:cNvSpPr>
              <p:nvPr/>
            </p:nvSpPr>
            <p:spPr bwMode="auto">
              <a:xfrm>
                <a:off x="2853" y="3188"/>
                <a:ext cx="272" cy="0"/>
              </a:xfrm>
              <a:prstGeom prst="line">
                <a:avLst/>
              </a:prstGeom>
              <a:noFill/>
              <a:ln w="2540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02" name="Line 36"/>
              <p:cNvSpPr>
                <a:spLocks noChangeShapeType="1"/>
              </p:cNvSpPr>
              <p:nvPr/>
            </p:nvSpPr>
            <p:spPr bwMode="auto">
              <a:xfrm>
                <a:off x="2853" y="3289"/>
                <a:ext cx="272" cy="0"/>
              </a:xfrm>
              <a:prstGeom prst="line">
                <a:avLst/>
              </a:prstGeom>
              <a:noFill/>
              <a:ln w="2540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392" name="Group 37"/>
            <p:cNvGrpSpPr>
              <a:grpSpLocks/>
            </p:cNvGrpSpPr>
            <p:nvPr/>
          </p:nvGrpSpPr>
          <p:grpSpPr bwMode="auto">
            <a:xfrm flipH="1">
              <a:off x="884" y="2433"/>
              <a:ext cx="272" cy="403"/>
              <a:chOff x="2853" y="2886"/>
              <a:chExt cx="272" cy="403"/>
            </a:xfrm>
          </p:grpSpPr>
          <p:sp>
            <p:nvSpPr>
              <p:cNvPr id="15393" name="Line 38"/>
              <p:cNvSpPr>
                <a:spLocks noChangeShapeType="1"/>
              </p:cNvSpPr>
              <p:nvPr/>
            </p:nvSpPr>
            <p:spPr bwMode="auto">
              <a:xfrm>
                <a:off x="2853" y="2886"/>
                <a:ext cx="272" cy="0"/>
              </a:xfrm>
              <a:prstGeom prst="line">
                <a:avLst/>
              </a:prstGeom>
              <a:noFill/>
              <a:ln w="2540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4" name="Line 39"/>
              <p:cNvSpPr>
                <a:spLocks noChangeShapeType="1"/>
              </p:cNvSpPr>
              <p:nvPr/>
            </p:nvSpPr>
            <p:spPr bwMode="auto">
              <a:xfrm>
                <a:off x="2853" y="2986"/>
                <a:ext cx="272" cy="0"/>
              </a:xfrm>
              <a:prstGeom prst="line">
                <a:avLst/>
              </a:prstGeom>
              <a:noFill/>
              <a:ln w="2540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5" name="Line 40"/>
              <p:cNvSpPr>
                <a:spLocks noChangeShapeType="1"/>
              </p:cNvSpPr>
              <p:nvPr/>
            </p:nvSpPr>
            <p:spPr bwMode="auto">
              <a:xfrm>
                <a:off x="2853" y="3087"/>
                <a:ext cx="272" cy="0"/>
              </a:xfrm>
              <a:prstGeom prst="line">
                <a:avLst/>
              </a:prstGeom>
              <a:noFill/>
              <a:ln w="2540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6" name="Line 41"/>
              <p:cNvSpPr>
                <a:spLocks noChangeShapeType="1"/>
              </p:cNvSpPr>
              <p:nvPr/>
            </p:nvSpPr>
            <p:spPr bwMode="auto">
              <a:xfrm>
                <a:off x="2853" y="3188"/>
                <a:ext cx="272" cy="0"/>
              </a:xfrm>
              <a:prstGeom prst="line">
                <a:avLst/>
              </a:prstGeom>
              <a:noFill/>
              <a:ln w="2540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7" name="Line 42"/>
              <p:cNvSpPr>
                <a:spLocks noChangeShapeType="1"/>
              </p:cNvSpPr>
              <p:nvPr/>
            </p:nvSpPr>
            <p:spPr bwMode="auto">
              <a:xfrm>
                <a:off x="2853" y="3289"/>
                <a:ext cx="272" cy="0"/>
              </a:xfrm>
              <a:prstGeom prst="line">
                <a:avLst/>
              </a:prstGeom>
              <a:noFill/>
              <a:ln w="2540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172075" name="Line 43"/>
          <p:cNvSpPr>
            <a:spLocks noChangeShapeType="1"/>
          </p:cNvSpPr>
          <p:nvPr/>
        </p:nvSpPr>
        <p:spPr bwMode="auto">
          <a:xfrm>
            <a:off x="3582171" y="3028436"/>
            <a:ext cx="0" cy="1079500"/>
          </a:xfrm>
          <a:prstGeom prst="line">
            <a:avLst/>
          </a:prstGeom>
          <a:noFill/>
          <a:ln w="25400">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72076" name="Group 44"/>
          <p:cNvGrpSpPr>
            <a:grpSpLocks/>
          </p:cNvGrpSpPr>
          <p:nvPr/>
        </p:nvGrpSpPr>
        <p:grpSpPr bwMode="auto">
          <a:xfrm>
            <a:off x="6072952" y="3206159"/>
            <a:ext cx="2519363" cy="647700"/>
            <a:chOff x="3878" y="2433"/>
            <a:chExt cx="1587" cy="408"/>
          </a:xfrm>
        </p:grpSpPr>
        <p:sp>
          <p:nvSpPr>
            <p:cNvPr id="15377" name="Rectangle 45"/>
            <p:cNvSpPr>
              <a:spLocks noChangeArrowheads="1"/>
            </p:cNvSpPr>
            <p:nvPr/>
          </p:nvSpPr>
          <p:spPr bwMode="auto">
            <a:xfrm>
              <a:off x="4150" y="2433"/>
              <a:ext cx="1043" cy="408"/>
            </a:xfrm>
            <a:prstGeom prst="rect">
              <a:avLst/>
            </a:prstGeom>
            <a:solidFill>
              <a:schemeClr val="accent1"/>
            </a:solidFill>
            <a:ln w="222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grpSp>
          <p:nvGrpSpPr>
            <p:cNvPr id="15378" name="Group 46"/>
            <p:cNvGrpSpPr>
              <a:grpSpLocks/>
            </p:cNvGrpSpPr>
            <p:nvPr/>
          </p:nvGrpSpPr>
          <p:grpSpPr bwMode="auto">
            <a:xfrm flipH="1">
              <a:off x="3878" y="2433"/>
              <a:ext cx="272" cy="403"/>
              <a:chOff x="2853" y="2886"/>
              <a:chExt cx="272" cy="403"/>
            </a:xfrm>
          </p:grpSpPr>
          <p:sp>
            <p:nvSpPr>
              <p:cNvPr id="15385" name="Line 47"/>
              <p:cNvSpPr>
                <a:spLocks noChangeShapeType="1"/>
              </p:cNvSpPr>
              <p:nvPr/>
            </p:nvSpPr>
            <p:spPr bwMode="auto">
              <a:xfrm>
                <a:off x="2853" y="2886"/>
                <a:ext cx="272" cy="0"/>
              </a:xfrm>
              <a:prstGeom prst="line">
                <a:avLst/>
              </a:prstGeom>
              <a:noFill/>
              <a:ln w="2540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6" name="Line 48"/>
              <p:cNvSpPr>
                <a:spLocks noChangeShapeType="1"/>
              </p:cNvSpPr>
              <p:nvPr/>
            </p:nvSpPr>
            <p:spPr bwMode="auto">
              <a:xfrm>
                <a:off x="2853" y="2986"/>
                <a:ext cx="272" cy="0"/>
              </a:xfrm>
              <a:prstGeom prst="line">
                <a:avLst/>
              </a:prstGeom>
              <a:noFill/>
              <a:ln w="2540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7" name="Line 49"/>
              <p:cNvSpPr>
                <a:spLocks noChangeShapeType="1"/>
              </p:cNvSpPr>
              <p:nvPr/>
            </p:nvSpPr>
            <p:spPr bwMode="auto">
              <a:xfrm>
                <a:off x="2853" y="3087"/>
                <a:ext cx="272" cy="0"/>
              </a:xfrm>
              <a:prstGeom prst="line">
                <a:avLst/>
              </a:prstGeom>
              <a:noFill/>
              <a:ln w="2540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8" name="Line 50"/>
              <p:cNvSpPr>
                <a:spLocks noChangeShapeType="1"/>
              </p:cNvSpPr>
              <p:nvPr/>
            </p:nvSpPr>
            <p:spPr bwMode="auto">
              <a:xfrm>
                <a:off x="2853" y="3188"/>
                <a:ext cx="272" cy="0"/>
              </a:xfrm>
              <a:prstGeom prst="line">
                <a:avLst/>
              </a:prstGeom>
              <a:noFill/>
              <a:ln w="2540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9" name="Line 51"/>
              <p:cNvSpPr>
                <a:spLocks noChangeShapeType="1"/>
              </p:cNvSpPr>
              <p:nvPr/>
            </p:nvSpPr>
            <p:spPr bwMode="auto">
              <a:xfrm>
                <a:off x="2853" y="3289"/>
                <a:ext cx="272" cy="0"/>
              </a:xfrm>
              <a:prstGeom prst="line">
                <a:avLst/>
              </a:prstGeom>
              <a:noFill/>
              <a:ln w="2540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379" name="Group 52"/>
            <p:cNvGrpSpPr>
              <a:grpSpLocks/>
            </p:cNvGrpSpPr>
            <p:nvPr/>
          </p:nvGrpSpPr>
          <p:grpSpPr bwMode="auto">
            <a:xfrm>
              <a:off x="5193" y="2433"/>
              <a:ext cx="272" cy="403"/>
              <a:chOff x="2853" y="2886"/>
              <a:chExt cx="272" cy="403"/>
            </a:xfrm>
          </p:grpSpPr>
          <p:sp>
            <p:nvSpPr>
              <p:cNvPr id="15380" name="Line 53"/>
              <p:cNvSpPr>
                <a:spLocks noChangeShapeType="1"/>
              </p:cNvSpPr>
              <p:nvPr/>
            </p:nvSpPr>
            <p:spPr bwMode="auto">
              <a:xfrm>
                <a:off x="2853" y="2886"/>
                <a:ext cx="272" cy="0"/>
              </a:xfrm>
              <a:prstGeom prst="line">
                <a:avLst/>
              </a:prstGeom>
              <a:noFill/>
              <a:ln w="2540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1" name="Line 54"/>
              <p:cNvSpPr>
                <a:spLocks noChangeShapeType="1"/>
              </p:cNvSpPr>
              <p:nvPr/>
            </p:nvSpPr>
            <p:spPr bwMode="auto">
              <a:xfrm>
                <a:off x="2853" y="2986"/>
                <a:ext cx="272" cy="0"/>
              </a:xfrm>
              <a:prstGeom prst="line">
                <a:avLst/>
              </a:prstGeom>
              <a:noFill/>
              <a:ln w="2540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2" name="Line 55"/>
              <p:cNvSpPr>
                <a:spLocks noChangeShapeType="1"/>
              </p:cNvSpPr>
              <p:nvPr/>
            </p:nvSpPr>
            <p:spPr bwMode="auto">
              <a:xfrm>
                <a:off x="2853" y="3087"/>
                <a:ext cx="272" cy="0"/>
              </a:xfrm>
              <a:prstGeom prst="line">
                <a:avLst/>
              </a:prstGeom>
              <a:noFill/>
              <a:ln w="2540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3" name="Line 56"/>
              <p:cNvSpPr>
                <a:spLocks noChangeShapeType="1"/>
              </p:cNvSpPr>
              <p:nvPr/>
            </p:nvSpPr>
            <p:spPr bwMode="auto">
              <a:xfrm>
                <a:off x="2853" y="3188"/>
                <a:ext cx="272" cy="0"/>
              </a:xfrm>
              <a:prstGeom prst="line">
                <a:avLst/>
              </a:prstGeom>
              <a:noFill/>
              <a:ln w="2540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4" name="Line 57"/>
              <p:cNvSpPr>
                <a:spLocks noChangeShapeType="1"/>
              </p:cNvSpPr>
              <p:nvPr/>
            </p:nvSpPr>
            <p:spPr bwMode="auto">
              <a:xfrm>
                <a:off x="2853" y="3289"/>
                <a:ext cx="272" cy="0"/>
              </a:xfrm>
              <a:prstGeom prst="line">
                <a:avLst/>
              </a:prstGeom>
              <a:noFill/>
              <a:ln w="2540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172090" name="Line 58"/>
          <p:cNvSpPr>
            <a:spLocks noChangeShapeType="1"/>
          </p:cNvSpPr>
          <p:nvPr/>
        </p:nvSpPr>
        <p:spPr bwMode="auto">
          <a:xfrm>
            <a:off x="7342952" y="2968034"/>
            <a:ext cx="0" cy="1079500"/>
          </a:xfrm>
          <a:prstGeom prst="line">
            <a:avLst/>
          </a:prstGeom>
          <a:noFill/>
          <a:ln w="25400">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2091" name="Text Box 59"/>
          <p:cNvSpPr txBox="1">
            <a:spLocks noChangeArrowheads="1"/>
          </p:cNvSpPr>
          <p:nvPr/>
        </p:nvSpPr>
        <p:spPr bwMode="auto">
          <a:xfrm>
            <a:off x="533400" y="4257675"/>
            <a:ext cx="7975600" cy="45720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FFCC99"/>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en-US" sz="2400" b="1" dirty="0">
                <a:ea typeface="华文楷体" panose="02010600040101010101" pitchFamily="2" charset="-122"/>
              </a:rPr>
              <a:t>如此继续分割下去，即可得到平截面假设，且应力均匀！</a:t>
            </a:r>
          </a:p>
        </p:txBody>
      </p:sp>
      <p:sp>
        <p:nvSpPr>
          <p:cNvPr id="179249" name="AutoShape 49"/>
          <p:cNvSpPr>
            <a:spLocks noChangeArrowheads="1"/>
          </p:cNvSpPr>
          <p:nvPr/>
        </p:nvSpPr>
        <p:spPr bwMode="auto">
          <a:xfrm>
            <a:off x="1900238" y="1525588"/>
            <a:ext cx="228600" cy="228600"/>
          </a:xfrm>
          <a:prstGeom prst="cube">
            <a:avLst>
              <a:gd name="adj" fmla="val 25000"/>
            </a:avLst>
          </a:prstGeom>
          <a:solidFill>
            <a:srgbClr val="99CC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b="1">
              <a:ea typeface="宋体" panose="02010600030101010101" pitchFamily="2" charset="-122"/>
            </a:endParaRPr>
          </a:p>
        </p:txBody>
      </p:sp>
      <p:grpSp>
        <p:nvGrpSpPr>
          <p:cNvPr id="15427" name="Group 67"/>
          <p:cNvGrpSpPr>
            <a:grpSpLocks/>
          </p:cNvGrpSpPr>
          <p:nvPr/>
        </p:nvGrpSpPr>
        <p:grpSpPr bwMode="auto">
          <a:xfrm>
            <a:off x="6385690" y="1083144"/>
            <a:ext cx="2206625" cy="871537"/>
            <a:chOff x="4150" y="749"/>
            <a:chExt cx="1390" cy="549"/>
          </a:xfrm>
        </p:grpSpPr>
        <p:sp>
          <p:nvSpPr>
            <p:cNvPr id="2" name="AutoShape 49"/>
            <p:cNvSpPr>
              <a:spLocks noChangeArrowheads="1"/>
            </p:cNvSpPr>
            <p:nvPr/>
          </p:nvSpPr>
          <p:spPr bwMode="auto">
            <a:xfrm>
              <a:off x="4558" y="799"/>
              <a:ext cx="544" cy="499"/>
            </a:xfrm>
            <a:prstGeom prst="cube">
              <a:avLst>
                <a:gd name="adj" fmla="val 25000"/>
              </a:avLst>
            </a:prstGeom>
            <a:solidFill>
              <a:srgbClr val="99CC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b="1">
                <a:ea typeface="宋体" panose="02010600030101010101" pitchFamily="2" charset="-122"/>
              </a:endParaRPr>
            </a:p>
          </p:txBody>
        </p:sp>
        <p:sp>
          <p:nvSpPr>
            <p:cNvPr id="15422" name="Line 62"/>
            <p:cNvSpPr>
              <a:spLocks noChangeShapeType="1"/>
            </p:cNvSpPr>
            <p:nvPr/>
          </p:nvSpPr>
          <p:spPr bwMode="ltGray">
            <a:xfrm>
              <a:off x="5037" y="1046"/>
              <a:ext cx="408" cy="0"/>
            </a:xfrm>
            <a:prstGeom prst="line">
              <a:avLst/>
            </a:prstGeom>
            <a:noFill/>
            <a:ln w="3492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23" name="Line 63"/>
            <p:cNvSpPr>
              <a:spLocks noChangeShapeType="1"/>
            </p:cNvSpPr>
            <p:nvPr/>
          </p:nvSpPr>
          <p:spPr bwMode="ltGray">
            <a:xfrm flipH="1">
              <a:off x="4206" y="1046"/>
              <a:ext cx="340" cy="0"/>
            </a:xfrm>
            <a:prstGeom prst="line">
              <a:avLst/>
            </a:prstGeom>
            <a:noFill/>
            <a:ln w="3492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25" name="Text Box 65"/>
            <p:cNvSpPr txBox="1">
              <a:spLocks noChangeArrowheads="1"/>
            </p:cNvSpPr>
            <p:nvPr/>
          </p:nvSpPr>
          <p:spPr bwMode="ltGray">
            <a:xfrm>
              <a:off x="5223" y="759"/>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i="1">
                  <a:solidFill>
                    <a:srgbClr val="FF0000"/>
                  </a:solidFill>
                  <a:ea typeface="宋体" panose="02010600030101010101" pitchFamily="2" charset="-122"/>
                  <a:sym typeface="Symbol" panose="05050102010706020507" pitchFamily="18" charset="2"/>
                </a:rPr>
                <a:t></a:t>
              </a:r>
            </a:p>
          </p:txBody>
        </p:sp>
        <p:sp>
          <p:nvSpPr>
            <p:cNvPr id="15426" name="Text Box 66"/>
            <p:cNvSpPr txBox="1">
              <a:spLocks noChangeArrowheads="1"/>
            </p:cNvSpPr>
            <p:nvPr/>
          </p:nvSpPr>
          <p:spPr bwMode="ltGray">
            <a:xfrm>
              <a:off x="4150" y="749"/>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i="1">
                  <a:solidFill>
                    <a:srgbClr val="FF0000"/>
                  </a:solidFill>
                  <a:ea typeface="宋体" panose="02010600030101010101" pitchFamily="2" charset="-122"/>
                  <a:sym typeface="Symbol" panose="05050102010706020507" pitchFamily="18" charset="2"/>
                </a:rPr>
                <a:t></a:t>
              </a:r>
            </a:p>
          </p:txBody>
        </p:sp>
      </p:grpSp>
      <p:sp>
        <p:nvSpPr>
          <p:cNvPr id="15428" name="Text Box 68"/>
          <p:cNvSpPr txBox="1">
            <a:spLocks noChangeArrowheads="1"/>
          </p:cNvSpPr>
          <p:nvPr/>
        </p:nvSpPr>
        <p:spPr bwMode="ltGray">
          <a:xfrm>
            <a:off x="2024860" y="1032670"/>
            <a:ext cx="503237" cy="457200"/>
          </a:xfrm>
          <a:prstGeom prst="rect">
            <a:avLst/>
          </a:prstGeom>
          <a:noFill/>
          <a:ln w="31750">
            <a:no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stStyle>
          <a:p>
            <a:r>
              <a:rPr lang="zh-CN" altLang="en-US" i="1" dirty="0">
                <a:solidFill>
                  <a:srgbClr val="0000FF"/>
                </a:solidFill>
                <a:latin typeface="+mn-lt"/>
                <a:sym typeface="Symbol" panose="05050102010706020507" pitchFamily="18" charset="2"/>
              </a:rPr>
              <a:t></a:t>
            </a:r>
          </a:p>
        </p:txBody>
      </p:sp>
      <p:sp>
        <p:nvSpPr>
          <p:cNvPr id="3" name="Text Box 59"/>
          <p:cNvSpPr txBox="1">
            <a:spLocks noChangeArrowheads="1"/>
          </p:cNvSpPr>
          <p:nvPr/>
        </p:nvSpPr>
        <p:spPr bwMode="auto">
          <a:xfrm>
            <a:off x="6400935" y="1996189"/>
            <a:ext cx="2520950" cy="45720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FFCC99"/>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en-US" sz="2400" b="1" dirty="0">
                <a:solidFill>
                  <a:srgbClr val="0000FF"/>
                </a:solidFill>
                <a:ea typeface="楷体_GB2312" pitchFamily="49" charset="-122"/>
              </a:rPr>
              <a:t>（</a:t>
            </a:r>
            <a:r>
              <a:rPr lang="zh-CN" altLang="en-US" sz="2400" b="1" dirty="0">
                <a:solidFill>
                  <a:srgbClr val="0000FF"/>
                </a:solidFill>
                <a:latin typeface="楷体" panose="02010609060101010101" pitchFamily="49" charset="-122"/>
                <a:ea typeface="楷体" panose="02010609060101010101" pitchFamily="49" charset="-122"/>
              </a:rPr>
              <a:t>单向应力</a:t>
            </a:r>
            <a:r>
              <a:rPr lang="zh-CN" altLang="en-US" sz="2400" b="1" dirty="0">
                <a:solidFill>
                  <a:srgbClr val="0000FF"/>
                </a:solidFill>
                <a:ea typeface="楷体_GB2312" pitchFamily="49" charset="-122"/>
              </a:rPr>
              <a:t>）</a:t>
            </a:r>
          </a:p>
        </p:txBody>
      </p:sp>
      <p:sp>
        <p:nvSpPr>
          <p:cNvPr id="65" name="Text Box 2"/>
          <p:cNvSpPr txBox="1">
            <a:spLocks noChangeArrowheads="1"/>
          </p:cNvSpPr>
          <p:nvPr/>
        </p:nvSpPr>
        <p:spPr bwMode="auto">
          <a:xfrm>
            <a:off x="433209" y="452391"/>
            <a:ext cx="4876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800" b="1" dirty="0">
                <a:solidFill>
                  <a:srgbClr val="FF3300"/>
                </a:solidFill>
                <a:latin typeface="黑体" panose="02010609060101010101" pitchFamily="49" charset="-122"/>
                <a:ea typeface="黑体" panose="02010609060101010101" pitchFamily="49" charset="-122"/>
              </a:rPr>
              <a:t>二、</a:t>
            </a:r>
            <a:r>
              <a:rPr kumimoji="1" lang="zh-CN" altLang="en-US" sz="2800" b="1" dirty="0">
                <a:solidFill>
                  <a:srgbClr val="FF3300"/>
                </a:solidFill>
                <a:latin typeface="黑体" panose="02010609060101010101" pitchFamily="49" charset="-122"/>
                <a:ea typeface="黑体" panose="02010609060101010101" pitchFamily="49" charset="-122"/>
                <a:cs typeface="Times New Roman" panose="02020603050405020304" pitchFamily="18" charset="0"/>
              </a:rPr>
              <a:t> </a:t>
            </a:r>
            <a:r>
              <a:rPr kumimoji="1" lang="zh-CN" altLang="en-US" sz="2800" b="1" dirty="0">
                <a:solidFill>
                  <a:srgbClr val="FF3300"/>
                </a:solidFill>
                <a:latin typeface="黑体" panose="02010609060101010101" pitchFamily="49" charset="-122"/>
                <a:ea typeface="黑体" panose="02010609060101010101" pitchFamily="49" charset="-122"/>
              </a:rPr>
              <a:t>直杆横截面上的应力</a:t>
            </a:r>
          </a:p>
        </p:txBody>
      </p:sp>
      <p:graphicFrame>
        <p:nvGraphicFramePr>
          <p:cNvPr id="4" name="对象 3"/>
          <p:cNvGraphicFramePr>
            <a:graphicFrameLocks noChangeAspect="1"/>
          </p:cNvGraphicFramePr>
          <p:nvPr>
            <p:extLst>
              <p:ext uri="{D42A27DB-BD31-4B8C-83A1-F6EECF244321}">
                <p14:modId xmlns:p14="http://schemas.microsoft.com/office/powerpoint/2010/main" val="2958477305"/>
              </p:ext>
            </p:extLst>
          </p:nvPr>
        </p:nvGraphicFramePr>
        <p:xfrm>
          <a:off x="2658592" y="1825492"/>
          <a:ext cx="1697508" cy="506008"/>
        </p:xfrm>
        <a:graphic>
          <a:graphicData uri="http://schemas.openxmlformats.org/presentationml/2006/ole">
            <mc:AlternateContent xmlns:mc="http://schemas.openxmlformats.org/markup-compatibility/2006">
              <mc:Choice xmlns:v="urn:schemas-microsoft-com:vml" Requires="v">
                <p:oleObj name="Equation" r:id="rId8" imgW="825480" imgH="228600" progId="Equation.DSMT4">
                  <p:embed/>
                </p:oleObj>
              </mc:Choice>
              <mc:Fallback>
                <p:oleObj name="Equation" r:id="rId8" imgW="825480" imgH="228600" progId="Equation.DSMT4">
                  <p:embed/>
                  <p:pic>
                    <p:nvPicPr>
                      <p:cNvPr id="0" name=""/>
                      <p:cNvPicPr/>
                      <p:nvPr/>
                    </p:nvPicPr>
                    <p:blipFill>
                      <a:blip r:embed="rId9"/>
                      <a:stretch>
                        <a:fillRect/>
                      </a:stretch>
                    </p:blipFill>
                    <p:spPr>
                      <a:xfrm>
                        <a:off x="2658592" y="1825492"/>
                        <a:ext cx="1697508" cy="506008"/>
                      </a:xfrm>
                      <a:prstGeom prst="rect">
                        <a:avLst/>
                      </a:prstGeom>
                    </p:spPr>
                  </p:pic>
                </p:oleObj>
              </mc:Fallback>
            </mc:AlternateContent>
          </a:graphicData>
        </a:graphic>
      </p:graphicFrame>
      <p:grpSp>
        <p:nvGrpSpPr>
          <p:cNvPr id="7" name="组合 6"/>
          <p:cNvGrpSpPr/>
          <p:nvPr/>
        </p:nvGrpSpPr>
        <p:grpSpPr>
          <a:xfrm>
            <a:off x="2382729" y="1267878"/>
            <a:ext cx="1170891" cy="831108"/>
            <a:chOff x="5301957" y="9352"/>
            <a:chExt cx="1170891" cy="831108"/>
          </a:xfrm>
        </p:grpSpPr>
        <p:sp>
          <p:nvSpPr>
            <p:cNvPr id="68" name="Rectangle 17"/>
            <p:cNvSpPr>
              <a:spLocks noChangeArrowheads="1"/>
            </p:cNvSpPr>
            <p:nvPr/>
          </p:nvSpPr>
          <p:spPr bwMode="auto">
            <a:xfrm>
              <a:off x="5553685" y="9352"/>
              <a:ext cx="919163"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400" b="1" i="1" dirty="0">
                  <a:solidFill>
                    <a:srgbClr val="FF0000"/>
                  </a:solidFill>
                  <a:latin typeface="Times New Roman" panose="02020603050405020304" pitchFamily="18" charset="0"/>
                  <a:ea typeface="宋体" panose="02010600030101010101" pitchFamily="2" charset="-122"/>
                </a:rPr>
                <a:t>F</a:t>
              </a:r>
              <a:r>
                <a:rPr kumimoji="1" lang="en-US" altLang="zh-CN" sz="2400" b="1" baseline="-25000" dirty="0">
                  <a:solidFill>
                    <a:srgbClr val="FF0000"/>
                  </a:solidFill>
                  <a:latin typeface="Times New Roman" panose="02020603050405020304" pitchFamily="18" charset="0"/>
                  <a:ea typeface="宋体" panose="02010600030101010101" pitchFamily="2" charset="-122"/>
                </a:rPr>
                <a:t>N</a:t>
              </a:r>
              <a:r>
                <a:rPr kumimoji="1" lang="en-US" altLang="zh-CN" sz="2400" b="1" i="1" dirty="0">
                  <a:solidFill>
                    <a:srgbClr val="FF0000"/>
                  </a:solidFill>
                  <a:latin typeface="Times New Roman" panose="02020603050405020304" pitchFamily="18" charset="0"/>
                </a:rPr>
                <a:t>=F</a:t>
              </a:r>
              <a:endParaRPr kumimoji="1" lang="en-US" altLang="zh-CN" sz="2400" b="1" i="1" dirty="0">
                <a:solidFill>
                  <a:srgbClr val="FF0000"/>
                </a:solidFill>
                <a:latin typeface="Times New Roman" panose="02020603050405020304" pitchFamily="18" charset="0"/>
                <a:ea typeface="'宋体" pitchFamily="34" charset="-122"/>
              </a:endParaRPr>
            </a:p>
          </p:txBody>
        </p:sp>
        <p:sp>
          <p:nvSpPr>
            <p:cNvPr id="69" name="Line 16"/>
            <p:cNvSpPr>
              <a:spLocks noChangeShapeType="1"/>
            </p:cNvSpPr>
            <p:nvPr/>
          </p:nvSpPr>
          <p:spPr bwMode="auto">
            <a:xfrm>
              <a:off x="5663837" y="505188"/>
              <a:ext cx="533400" cy="0"/>
            </a:xfrm>
            <a:prstGeom prst="line">
              <a:avLst/>
            </a:prstGeom>
            <a:noFill/>
            <a:ln w="31750">
              <a:solidFill>
                <a:srgbClr val="FF33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0" name="Object 15"/>
            <p:cNvGraphicFramePr>
              <a:graphicFrameLocks/>
            </p:cNvGraphicFramePr>
            <p:nvPr>
              <p:extLst>
                <p:ext uri="{D42A27DB-BD31-4B8C-83A1-F6EECF244321}">
                  <p14:modId xmlns:p14="http://schemas.microsoft.com/office/powerpoint/2010/main" val="3620467170"/>
                </p:ext>
              </p:extLst>
            </p:nvPr>
          </p:nvGraphicFramePr>
          <p:xfrm>
            <a:off x="5301957" y="114972"/>
            <a:ext cx="322263" cy="725488"/>
          </p:xfrm>
          <a:graphic>
            <a:graphicData uri="http://schemas.openxmlformats.org/presentationml/2006/ole">
              <mc:AlternateContent xmlns:mc="http://schemas.openxmlformats.org/markup-compatibility/2006">
                <mc:Choice xmlns:v="urn:schemas-microsoft-com:vml" Requires="v">
                  <p:oleObj name="Equation" r:id="rId10" imgW="171450" imgH="257175" progId="Equation.DSMT4">
                    <p:embed/>
                  </p:oleObj>
                </mc:Choice>
                <mc:Fallback>
                  <p:oleObj name="Equation" r:id="rId10" imgW="171450" imgH="257175" progId="Equation.DSMT4">
                    <p:embed/>
                    <p:pic>
                      <p:nvPicPr>
                        <p:cNvPr id="0" name=""/>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301957" y="114972"/>
                          <a:ext cx="322263" cy="72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extLst>
      <p:ext uri="{BB962C8B-B14F-4D97-AF65-F5344CB8AC3E}">
        <p14:creationId xmlns:p14="http://schemas.microsoft.com/office/powerpoint/2010/main" val="414225422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72035"/>
                                        </p:tgtEl>
                                        <p:attrNameLst>
                                          <p:attrName>style.visibility</p:attrName>
                                        </p:attrNameLst>
                                      </p:cBhvr>
                                      <p:to>
                                        <p:strVal val="visible"/>
                                      </p:to>
                                    </p:set>
                                    <p:animEffect transition="in" filter="box(out)">
                                      <p:cBhvr>
                                        <p:cTn id="7" dur="500"/>
                                        <p:tgtEl>
                                          <p:spTgt spid="17203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428"/>
                                        </p:tgtEl>
                                        <p:attrNameLst>
                                          <p:attrName>style.visibility</p:attrName>
                                        </p:attrNameLst>
                                      </p:cBhvr>
                                      <p:to>
                                        <p:strVal val="visible"/>
                                      </p:to>
                                    </p:set>
                                    <p:animEffect transition="in" filter="blinds(horizontal)">
                                      <p:cBhvr>
                                        <p:cTn id="12" dur="500"/>
                                        <p:tgtEl>
                                          <p:spTgt spid="154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172034"/>
                                        </p:tgtEl>
                                        <p:attrNameLst>
                                          <p:attrName>style.visibility</p:attrName>
                                        </p:attrNameLst>
                                      </p:cBhvr>
                                      <p:to>
                                        <p:strVal val="visible"/>
                                      </p:to>
                                    </p:set>
                                    <p:animEffect transition="in" filter="box(out)">
                                      <p:cBhvr>
                                        <p:cTn id="27" dur="500"/>
                                        <p:tgtEl>
                                          <p:spTgt spid="1720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179249"/>
                                        </p:tgtEl>
                                        <p:attrNameLst>
                                          <p:attrName>style.visibility</p:attrName>
                                        </p:attrNameLst>
                                      </p:cBhvr>
                                      <p:to>
                                        <p:strVal val="visible"/>
                                      </p:to>
                                    </p:set>
                                    <p:animEffect transition="in" filter="checkerboard(across)">
                                      <p:cBhvr>
                                        <p:cTn id="42" dur="500"/>
                                        <p:tgtEl>
                                          <p:spTgt spid="179249"/>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15427"/>
                                        </p:tgtEl>
                                        <p:attrNameLst>
                                          <p:attrName>style.visibility</p:attrName>
                                        </p:attrNameLst>
                                      </p:cBhvr>
                                      <p:to>
                                        <p:strVal val="visible"/>
                                      </p:to>
                                    </p:set>
                                    <p:animEffect transition="in" filter="blinds(horizontal)">
                                      <p:cBhvr>
                                        <p:cTn id="47" dur="500"/>
                                        <p:tgtEl>
                                          <p:spTgt spid="15427"/>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blinds(horizontal)">
                                      <p:cBhvr>
                                        <p:cTn id="52" dur="500"/>
                                        <p:tgtEl>
                                          <p:spTgt spid="3"/>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72060"/>
                                        </p:tgtEl>
                                        <p:attrNameLst>
                                          <p:attrName>style.visibility</p:attrName>
                                        </p:attrNameLst>
                                      </p:cBhvr>
                                      <p:to>
                                        <p:strVal val="visible"/>
                                      </p:to>
                                    </p:set>
                                    <p:animEffect transition="in" filter="blinds(horizontal)">
                                      <p:cBhvr>
                                        <p:cTn id="57" dur="500"/>
                                        <p:tgtEl>
                                          <p:spTgt spid="172060"/>
                                        </p:tgtEl>
                                      </p:cBhvr>
                                    </p:animEffect>
                                  </p:childTnLst>
                                </p:cTn>
                              </p:par>
                            </p:childTnLst>
                          </p:cTn>
                        </p:par>
                      </p:childTnLst>
                    </p:cTn>
                  </p:par>
                  <p:par>
                    <p:cTn id="58" fill="hold">
                      <p:stCondLst>
                        <p:cond delay="indefinite"/>
                      </p:stCondLst>
                      <p:childTnLst>
                        <p:par>
                          <p:cTn id="59" fill="hold">
                            <p:stCondLst>
                              <p:cond delay="0"/>
                            </p:stCondLst>
                            <p:childTnLst>
                              <p:par>
                                <p:cTn id="60" presetID="12" presetClass="entr" presetSubtype="4" fill="hold" nodeType="clickEffect">
                                  <p:stCondLst>
                                    <p:cond delay="0"/>
                                  </p:stCondLst>
                                  <p:childTnLst>
                                    <p:set>
                                      <p:cBhvr>
                                        <p:cTn id="61" dur="1" fill="hold">
                                          <p:stCondLst>
                                            <p:cond delay="0"/>
                                          </p:stCondLst>
                                        </p:cTn>
                                        <p:tgtEl>
                                          <p:spTgt spid="172061"/>
                                        </p:tgtEl>
                                        <p:attrNameLst>
                                          <p:attrName>style.visibility</p:attrName>
                                        </p:attrNameLst>
                                      </p:cBhvr>
                                      <p:to>
                                        <p:strVal val="visible"/>
                                      </p:to>
                                    </p:set>
                                    <p:animEffect transition="in" filter="slide(fromBottom)">
                                      <p:cBhvr>
                                        <p:cTn id="62" dur="500"/>
                                        <p:tgtEl>
                                          <p:spTgt spid="172061"/>
                                        </p:tgtEl>
                                      </p:cBhvr>
                                    </p:animEffect>
                                  </p:childTnLst>
                                </p:cTn>
                              </p:par>
                            </p:childTnLst>
                          </p:cTn>
                        </p:par>
                      </p:childTnLst>
                    </p:cTn>
                  </p:par>
                  <p:par>
                    <p:cTn id="63" fill="hold">
                      <p:stCondLst>
                        <p:cond delay="indefinite"/>
                      </p:stCondLst>
                      <p:childTnLst>
                        <p:par>
                          <p:cTn id="64" fill="hold">
                            <p:stCondLst>
                              <p:cond delay="0"/>
                            </p:stCondLst>
                            <p:childTnLst>
                              <p:par>
                                <p:cTn id="65" presetID="12" presetClass="entr" presetSubtype="4" fill="hold" grpId="0" nodeType="clickEffect">
                                  <p:stCondLst>
                                    <p:cond delay="0"/>
                                  </p:stCondLst>
                                  <p:childTnLst>
                                    <p:set>
                                      <p:cBhvr>
                                        <p:cTn id="66" dur="1" fill="hold">
                                          <p:stCondLst>
                                            <p:cond delay="0"/>
                                          </p:stCondLst>
                                        </p:cTn>
                                        <p:tgtEl>
                                          <p:spTgt spid="172075"/>
                                        </p:tgtEl>
                                        <p:attrNameLst>
                                          <p:attrName>style.visibility</p:attrName>
                                        </p:attrNameLst>
                                      </p:cBhvr>
                                      <p:to>
                                        <p:strVal val="visible"/>
                                      </p:to>
                                    </p:set>
                                    <p:animEffect transition="in" filter="slide(fromBottom)">
                                      <p:cBhvr>
                                        <p:cTn id="67" dur="500"/>
                                        <p:tgtEl>
                                          <p:spTgt spid="172075"/>
                                        </p:tgtEl>
                                      </p:cBhvr>
                                    </p:animEffect>
                                  </p:childTnLst>
                                </p:cTn>
                              </p:par>
                            </p:childTnLst>
                          </p:cTn>
                        </p:par>
                      </p:childTnLst>
                    </p:cTn>
                  </p:par>
                  <p:par>
                    <p:cTn id="68" fill="hold">
                      <p:stCondLst>
                        <p:cond delay="indefinite"/>
                      </p:stCondLst>
                      <p:childTnLst>
                        <p:par>
                          <p:cTn id="69" fill="hold">
                            <p:stCondLst>
                              <p:cond delay="0"/>
                            </p:stCondLst>
                            <p:childTnLst>
                              <p:par>
                                <p:cTn id="70" presetID="12" presetClass="entr" presetSubtype="4" fill="hold" nodeType="clickEffect">
                                  <p:stCondLst>
                                    <p:cond delay="0"/>
                                  </p:stCondLst>
                                  <p:childTnLst>
                                    <p:set>
                                      <p:cBhvr>
                                        <p:cTn id="71" dur="1" fill="hold">
                                          <p:stCondLst>
                                            <p:cond delay="0"/>
                                          </p:stCondLst>
                                        </p:cTn>
                                        <p:tgtEl>
                                          <p:spTgt spid="172076"/>
                                        </p:tgtEl>
                                        <p:attrNameLst>
                                          <p:attrName>style.visibility</p:attrName>
                                        </p:attrNameLst>
                                      </p:cBhvr>
                                      <p:to>
                                        <p:strVal val="visible"/>
                                      </p:to>
                                    </p:set>
                                    <p:animEffect transition="in" filter="slide(fromBottom)">
                                      <p:cBhvr>
                                        <p:cTn id="72" dur="500"/>
                                        <p:tgtEl>
                                          <p:spTgt spid="172076"/>
                                        </p:tgtEl>
                                      </p:cBhvr>
                                    </p:animEffect>
                                  </p:childTnLst>
                                </p:cTn>
                              </p:par>
                            </p:childTnLst>
                          </p:cTn>
                        </p:par>
                      </p:childTnLst>
                    </p:cTn>
                  </p:par>
                  <p:par>
                    <p:cTn id="73" fill="hold">
                      <p:stCondLst>
                        <p:cond delay="indefinite"/>
                      </p:stCondLst>
                      <p:childTnLst>
                        <p:par>
                          <p:cTn id="74" fill="hold">
                            <p:stCondLst>
                              <p:cond delay="0"/>
                            </p:stCondLst>
                            <p:childTnLst>
                              <p:par>
                                <p:cTn id="75" presetID="12" presetClass="entr" presetSubtype="4" fill="hold" grpId="0" nodeType="clickEffect">
                                  <p:stCondLst>
                                    <p:cond delay="0"/>
                                  </p:stCondLst>
                                  <p:childTnLst>
                                    <p:set>
                                      <p:cBhvr>
                                        <p:cTn id="76" dur="1" fill="hold">
                                          <p:stCondLst>
                                            <p:cond delay="0"/>
                                          </p:stCondLst>
                                        </p:cTn>
                                        <p:tgtEl>
                                          <p:spTgt spid="172090"/>
                                        </p:tgtEl>
                                        <p:attrNameLst>
                                          <p:attrName>style.visibility</p:attrName>
                                        </p:attrNameLst>
                                      </p:cBhvr>
                                      <p:to>
                                        <p:strVal val="visible"/>
                                      </p:to>
                                    </p:set>
                                    <p:animEffect transition="in" filter="slide(fromBottom)">
                                      <p:cBhvr>
                                        <p:cTn id="77" dur="500"/>
                                        <p:tgtEl>
                                          <p:spTgt spid="172090"/>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172091"/>
                                        </p:tgtEl>
                                        <p:attrNameLst>
                                          <p:attrName>style.visibility</p:attrName>
                                        </p:attrNameLst>
                                      </p:cBhvr>
                                      <p:to>
                                        <p:strVal val="visible"/>
                                      </p:to>
                                    </p:set>
                                    <p:animEffect transition="in" filter="blinds(horizontal)">
                                      <p:cBhvr>
                                        <p:cTn id="82" dur="500"/>
                                        <p:tgtEl>
                                          <p:spTgt spid="172091"/>
                                        </p:tgtEl>
                                      </p:cBhvr>
                                    </p:animEffect>
                                  </p:childTnLst>
                                </p:cTn>
                              </p:par>
                            </p:childTnLst>
                          </p:cTn>
                        </p:par>
                      </p:childTnLst>
                    </p:cTn>
                  </p:par>
                  <p:par>
                    <p:cTn id="83" fill="hold">
                      <p:stCondLst>
                        <p:cond delay="indefinite"/>
                      </p:stCondLst>
                      <p:childTnLst>
                        <p:par>
                          <p:cTn id="84" fill="hold">
                            <p:stCondLst>
                              <p:cond delay="0"/>
                            </p:stCondLst>
                            <p:childTnLst>
                              <p:par>
                                <p:cTn id="85" presetID="5" presetClass="entr" presetSubtype="10" fill="hold" grpId="0" nodeType="clickEffect">
                                  <p:stCondLst>
                                    <p:cond delay="0"/>
                                  </p:stCondLst>
                                  <p:childTnLst>
                                    <p:set>
                                      <p:cBhvr>
                                        <p:cTn id="86" dur="1" fill="hold">
                                          <p:stCondLst>
                                            <p:cond delay="0"/>
                                          </p:stCondLst>
                                        </p:cTn>
                                        <p:tgtEl>
                                          <p:spTgt spid="172059"/>
                                        </p:tgtEl>
                                        <p:attrNameLst>
                                          <p:attrName>style.visibility</p:attrName>
                                        </p:attrNameLst>
                                      </p:cBhvr>
                                      <p:to>
                                        <p:strVal val="visible"/>
                                      </p:to>
                                    </p:set>
                                    <p:animEffect transition="in" filter="checkerboard(across)">
                                      <p:cBhvr>
                                        <p:cTn id="87" dur="500"/>
                                        <p:tgtEl>
                                          <p:spTgt spid="1720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59" grpId="0"/>
      <p:bldP spid="172060" grpId="0"/>
      <p:bldP spid="172075" grpId="0" animBg="1"/>
      <p:bldP spid="172090" grpId="0" animBg="1"/>
      <p:bldP spid="172091" grpId="0"/>
      <p:bldP spid="179249" grpId="0" animBg="1"/>
      <p:bldP spid="15428" grpId="0"/>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5"/>
          <p:cNvSpPr txBox="1">
            <a:spLocks noChangeArrowheads="1"/>
          </p:cNvSpPr>
          <p:nvPr/>
        </p:nvSpPr>
        <p:spPr bwMode="auto">
          <a:xfrm>
            <a:off x="516531" y="460657"/>
            <a:ext cx="8231187" cy="830997"/>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dirty="0">
                <a:solidFill>
                  <a:srgbClr val="FF0000"/>
                </a:solidFill>
                <a:latin typeface="+mn-lt"/>
                <a:ea typeface="楷体" panose="02010609060101010101" pitchFamily="49" charset="-122"/>
              </a:rPr>
              <a:t>圣维南</a:t>
            </a:r>
            <a:r>
              <a:rPr lang="en-US" altLang="zh-CN" b="1" dirty="0">
                <a:solidFill>
                  <a:srgbClr val="FF0000"/>
                </a:solidFill>
                <a:latin typeface="+mn-lt"/>
                <a:ea typeface="楷体" panose="02010609060101010101" pitchFamily="49" charset="-122"/>
              </a:rPr>
              <a:t>(</a:t>
            </a:r>
            <a:r>
              <a:rPr lang="en-US" altLang="zh-CN" dirty="0">
                <a:solidFill>
                  <a:srgbClr val="FF0000"/>
                </a:solidFill>
                <a:latin typeface="+mn-lt"/>
                <a:ea typeface="楷体" panose="02010609060101010101" pitchFamily="49" charset="-122"/>
              </a:rPr>
              <a:t>Saint-</a:t>
            </a:r>
            <a:r>
              <a:rPr lang="en-US" altLang="zh-CN" dirty="0" err="1">
                <a:solidFill>
                  <a:srgbClr val="FF0000"/>
                </a:solidFill>
                <a:latin typeface="+mn-lt"/>
                <a:ea typeface="楷体" panose="02010609060101010101" pitchFamily="49" charset="-122"/>
              </a:rPr>
              <a:t>Venant</a:t>
            </a:r>
            <a:r>
              <a:rPr lang="en-US" altLang="zh-CN" b="1" dirty="0">
                <a:solidFill>
                  <a:srgbClr val="FF0000"/>
                </a:solidFill>
                <a:latin typeface="+mn-lt"/>
                <a:ea typeface="楷体" panose="02010609060101010101" pitchFamily="49" charset="-122"/>
              </a:rPr>
              <a:t>)</a:t>
            </a:r>
            <a:r>
              <a:rPr lang="zh-CN" altLang="en-US" b="1" dirty="0">
                <a:solidFill>
                  <a:srgbClr val="FF0000"/>
                </a:solidFill>
                <a:latin typeface="+mn-lt"/>
                <a:ea typeface="楷体" panose="02010609060101010101" pitchFamily="49" charset="-122"/>
              </a:rPr>
              <a:t>原理</a:t>
            </a:r>
            <a:r>
              <a:rPr lang="zh-CN" altLang="en-US" b="1" dirty="0">
                <a:latin typeface="+mn-lt"/>
                <a:ea typeface="楷体" panose="02010609060101010101" pitchFamily="49" charset="-122"/>
              </a:rPr>
              <a:t>：“力作用于杆端方式的不同，只会使与杆端距离不大于杆的横向尺寸的范围内受到影响”。</a:t>
            </a:r>
          </a:p>
        </p:txBody>
      </p:sp>
      <p:sp>
        <p:nvSpPr>
          <p:cNvPr id="3" name="Text Box 2"/>
          <p:cNvSpPr txBox="1">
            <a:spLocks noChangeArrowheads="1"/>
          </p:cNvSpPr>
          <p:nvPr/>
        </p:nvSpPr>
        <p:spPr bwMode="auto">
          <a:xfrm>
            <a:off x="987077" y="5226906"/>
            <a:ext cx="7543089"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zh-CN" altLang="en-US" sz="2000" b="1" dirty="0">
                <a:latin typeface="楷体" panose="02010609060101010101" pitchFamily="49" charset="-122"/>
                <a:ea typeface="楷体" panose="02010609060101010101" pitchFamily="49" charset="-122"/>
              </a:rPr>
              <a:t>这一原理虽被许多实验所证实，但没有经过严格的理论证明，也没有确切的数学表达式，因此不能随便使用。上图为不能应用圣维南原理的例子（详见奚绍中编</a:t>
            </a:r>
            <a:r>
              <a:rPr lang="en-US" altLang="zh-CN" sz="2000" b="1" dirty="0">
                <a:latin typeface="楷体" panose="02010609060101010101" pitchFamily="49" charset="-122"/>
                <a:ea typeface="楷体" panose="02010609060101010101" pitchFamily="49" charset="-122"/>
              </a:rPr>
              <a:t>《</a:t>
            </a:r>
            <a:r>
              <a:rPr lang="zh-CN" altLang="en-US" sz="2000" b="1" dirty="0">
                <a:latin typeface="楷体" panose="02010609060101010101" pitchFamily="49" charset="-122"/>
                <a:ea typeface="楷体" panose="02010609060101010101" pitchFamily="49" charset="-122"/>
              </a:rPr>
              <a:t>材料力学精讲</a:t>
            </a:r>
            <a:r>
              <a:rPr lang="en-US" altLang="zh-CN" sz="2000" b="1" dirty="0">
                <a:latin typeface="楷体" panose="02010609060101010101" pitchFamily="49" charset="-122"/>
                <a:ea typeface="楷体" panose="02010609060101010101" pitchFamily="49" charset="-122"/>
              </a:rPr>
              <a:t>》</a:t>
            </a:r>
            <a:r>
              <a:rPr lang="zh-CN" altLang="en-US" sz="2000" b="1" dirty="0">
                <a:latin typeface="楷体" panose="02010609060101010101" pitchFamily="49" charset="-122"/>
                <a:ea typeface="楷体" panose="02010609060101010101" pitchFamily="49" charset="-122"/>
              </a:rPr>
              <a:t>，</a:t>
            </a:r>
            <a:r>
              <a:rPr lang="en-US" altLang="zh-CN" sz="2000" dirty="0">
                <a:latin typeface="+mn-lt"/>
                <a:ea typeface="楷体" panose="02010609060101010101" pitchFamily="49" charset="-122"/>
              </a:rPr>
              <a:t>p15</a:t>
            </a:r>
            <a:r>
              <a:rPr lang="en-US" altLang="zh-CN" sz="2000" b="1" dirty="0">
                <a:latin typeface="楷体" panose="02010609060101010101" pitchFamily="49" charset="-122"/>
                <a:ea typeface="楷体" panose="02010609060101010101" pitchFamily="49" charset="-122"/>
              </a:rPr>
              <a:t>)</a:t>
            </a:r>
            <a:r>
              <a:rPr lang="zh-CN" altLang="en-US" sz="2000" b="1" dirty="0">
                <a:latin typeface="楷体" panose="02010609060101010101" pitchFamily="49" charset="-122"/>
                <a:ea typeface="楷体" panose="02010609060101010101" pitchFamily="49" charset="-122"/>
              </a:rPr>
              <a:t>。</a:t>
            </a:r>
          </a:p>
        </p:txBody>
      </p:sp>
      <p:grpSp>
        <p:nvGrpSpPr>
          <p:cNvPr id="4" name="Group 4"/>
          <p:cNvGrpSpPr>
            <a:grpSpLocks noChangeAspect="1"/>
          </p:cNvGrpSpPr>
          <p:nvPr/>
        </p:nvGrpSpPr>
        <p:grpSpPr bwMode="auto">
          <a:xfrm>
            <a:off x="1462916" y="1965811"/>
            <a:ext cx="6434139" cy="3245153"/>
            <a:chOff x="0" y="0"/>
            <a:chExt cx="4582" cy="2311"/>
          </a:xfrm>
        </p:grpSpPr>
        <p:sp>
          <p:nvSpPr>
            <p:cNvPr id="5" name="AutoShape 5"/>
            <p:cNvSpPr>
              <a:spLocks noChangeAspect="1" noChangeArrowheads="1" noTextEdit="1"/>
            </p:cNvSpPr>
            <p:nvPr/>
          </p:nvSpPr>
          <p:spPr bwMode="auto">
            <a:xfrm>
              <a:off x="207" y="42"/>
              <a:ext cx="3788" cy="2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nvGrpSpPr>
            <p:cNvPr id="6" name="Group 6"/>
            <p:cNvGrpSpPr>
              <a:grpSpLocks noChangeAspect="1"/>
            </p:cNvGrpSpPr>
            <p:nvPr/>
          </p:nvGrpSpPr>
          <p:grpSpPr bwMode="auto">
            <a:xfrm>
              <a:off x="0" y="0"/>
              <a:ext cx="4582" cy="2311"/>
              <a:chOff x="0" y="0"/>
              <a:chExt cx="4582" cy="2311"/>
            </a:xfrm>
          </p:grpSpPr>
          <p:sp>
            <p:nvSpPr>
              <p:cNvPr id="316" name="Rectangle 7"/>
              <p:cNvSpPr>
                <a:spLocks noChangeAspect="1" noChangeArrowheads="1"/>
              </p:cNvSpPr>
              <p:nvPr/>
            </p:nvSpPr>
            <p:spPr bwMode="auto">
              <a:xfrm>
                <a:off x="0" y="0"/>
                <a:ext cx="4582" cy="2311"/>
              </a:xfrm>
              <a:prstGeom prst="rect">
                <a:avLst/>
              </a:prstGeom>
              <a:noFill/>
              <a:ln>
                <a:noFill/>
              </a:ln>
              <a:extLst>
                <a:ext uri="{909E8E84-426E-40DD-AFC4-6F175D3DCCD1}">
                  <a14:hiddenFill xmlns:a14="http://schemas.microsoft.com/office/drawing/2010/main">
                    <a:solidFill>
                      <a:srgbClr val="FFFFFF">
                        <a:alpha val="0"/>
                      </a:srgbClr>
                    </a:solidFill>
                  </a14:hiddenFill>
                </a:ext>
                <a:ext uri="{91240B29-F687-4F45-9708-019B960494DF}">
                  <a14:hiddenLine xmlns:a14="http://schemas.microsoft.com/office/drawing/2010/main" w="0">
                    <a:solidFill>
                      <a:srgbClr val="FFFFFF"/>
                    </a:solidFill>
                    <a:miter lim="800000"/>
                    <a:headEnd/>
                    <a:tailEnd/>
                  </a14:hiddenLine>
                </a:ext>
              </a:extLst>
            </p:spPr>
            <p:txBody>
              <a:bodyPr/>
              <a:lstStyle/>
              <a:p>
                <a:endParaRPr lang="zh-CN" altLang="en-US"/>
              </a:p>
            </p:txBody>
          </p:sp>
          <p:sp>
            <p:nvSpPr>
              <p:cNvPr id="317" name="未知"/>
              <p:cNvSpPr>
                <a:spLocks noChangeAspect="1"/>
              </p:cNvSpPr>
              <p:nvPr/>
            </p:nvSpPr>
            <p:spPr bwMode="auto">
              <a:xfrm>
                <a:off x="612" y="526"/>
                <a:ext cx="19" cy="7"/>
              </a:xfrm>
              <a:custGeom>
                <a:avLst/>
                <a:gdLst>
                  <a:gd name="T0" fmla="*/ 51 w 102"/>
                  <a:gd name="T1" fmla="*/ 52 h 52"/>
                  <a:gd name="T2" fmla="*/ 0 w 102"/>
                  <a:gd name="T3" fmla="*/ 52 h 52"/>
                  <a:gd name="T4" fmla="*/ 1 w 102"/>
                  <a:gd name="T5" fmla="*/ 41 h 52"/>
                  <a:gd name="T6" fmla="*/ 5 w 102"/>
                  <a:gd name="T7" fmla="*/ 29 h 52"/>
                  <a:gd name="T8" fmla="*/ 11 w 102"/>
                  <a:gd name="T9" fmla="*/ 20 h 52"/>
                  <a:gd name="T10" fmla="*/ 19 w 102"/>
                  <a:gd name="T11" fmla="*/ 12 h 52"/>
                  <a:gd name="T12" fmla="*/ 28 w 102"/>
                  <a:gd name="T13" fmla="*/ 6 h 52"/>
                  <a:gd name="T14" fmla="*/ 39 w 102"/>
                  <a:gd name="T15" fmla="*/ 2 h 52"/>
                  <a:gd name="T16" fmla="*/ 51 w 102"/>
                  <a:gd name="T17" fmla="*/ 0 h 52"/>
                  <a:gd name="T18" fmla="*/ 62 w 102"/>
                  <a:gd name="T19" fmla="*/ 2 h 52"/>
                  <a:gd name="T20" fmla="*/ 73 w 102"/>
                  <a:gd name="T21" fmla="*/ 6 h 52"/>
                  <a:gd name="T22" fmla="*/ 82 w 102"/>
                  <a:gd name="T23" fmla="*/ 12 h 52"/>
                  <a:gd name="T24" fmla="*/ 90 w 102"/>
                  <a:gd name="T25" fmla="*/ 20 h 52"/>
                  <a:gd name="T26" fmla="*/ 96 w 102"/>
                  <a:gd name="T27" fmla="*/ 29 h 52"/>
                  <a:gd name="T28" fmla="*/ 100 w 102"/>
                  <a:gd name="T29" fmla="*/ 41 h 52"/>
                  <a:gd name="T30" fmla="*/ 102 w 102"/>
                  <a:gd name="T31" fmla="*/ 52 h 52"/>
                  <a:gd name="T32" fmla="*/ 51 w 102"/>
                  <a:gd name="T33"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2" h="52">
                    <a:moveTo>
                      <a:pt x="51" y="52"/>
                    </a:moveTo>
                    <a:lnTo>
                      <a:pt x="0" y="52"/>
                    </a:lnTo>
                    <a:lnTo>
                      <a:pt x="1" y="41"/>
                    </a:lnTo>
                    <a:lnTo>
                      <a:pt x="5" y="29"/>
                    </a:lnTo>
                    <a:lnTo>
                      <a:pt x="11" y="20"/>
                    </a:lnTo>
                    <a:lnTo>
                      <a:pt x="19" y="12"/>
                    </a:lnTo>
                    <a:lnTo>
                      <a:pt x="28" y="6"/>
                    </a:lnTo>
                    <a:lnTo>
                      <a:pt x="39" y="2"/>
                    </a:lnTo>
                    <a:lnTo>
                      <a:pt x="51" y="0"/>
                    </a:lnTo>
                    <a:lnTo>
                      <a:pt x="62" y="2"/>
                    </a:lnTo>
                    <a:lnTo>
                      <a:pt x="73" y="6"/>
                    </a:lnTo>
                    <a:lnTo>
                      <a:pt x="82" y="12"/>
                    </a:lnTo>
                    <a:lnTo>
                      <a:pt x="90" y="20"/>
                    </a:lnTo>
                    <a:lnTo>
                      <a:pt x="96" y="29"/>
                    </a:lnTo>
                    <a:lnTo>
                      <a:pt x="100" y="41"/>
                    </a:lnTo>
                    <a:lnTo>
                      <a:pt x="102" y="52"/>
                    </a:lnTo>
                    <a:lnTo>
                      <a:pt x="51"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8" name="未知"/>
              <p:cNvSpPr>
                <a:spLocks noChangeAspect="1"/>
              </p:cNvSpPr>
              <p:nvPr/>
            </p:nvSpPr>
            <p:spPr bwMode="auto">
              <a:xfrm>
                <a:off x="612" y="526"/>
                <a:ext cx="19" cy="7"/>
              </a:xfrm>
              <a:custGeom>
                <a:avLst/>
                <a:gdLst>
                  <a:gd name="T0" fmla="*/ 0 w 102"/>
                  <a:gd name="T1" fmla="*/ 52 h 52"/>
                  <a:gd name="T2" fmla="*/ 1 w 102"/>
                  <a:gd name="T3" fmla="*/ 41 h 52"/>
                  <a:gd name="T4" fmla="*/ 5 w 102"/>
                  <a:gd name="T5" fmla="*/ 29 h 52"/>
                  <a:gd name="T6" fmla="*/ 11 w 102"/>
                  <a:gd name="T7" fmla="*/ 20 h 52"/>
                  <a:gd name="T8" fmla="*/ 19 w 102"/>
                  <a:gd name="T9" fmla="*/ 12 h 52"/>
                  <a:gd name="T10" fmla="*/ 28 w 102"/>
                  <a:gd name="T11" fmla="*/ 6 h 52"/>
                  <a:gd name="T12" fmla="*/ 39 w 102"/>
                  <a:gd name="T13" fmla="*/ 2 h 52"/>
                  <a:gd name="T14" fmla="*/ 51 w 102"/>
                  <a:gd name="T15" fmla="*/ 0 h 52"/>
                  <a:gd name="T16" fmla="*/ 62 w 102"/>
                  <a:gd name="T17" fmla="*/ 2 h 52"/>
                  <a:gd name="T18" fmla="*/ 73 w 102"/>
                  <a:gd name="T19" fmla="*/ 6 h 52"/>
                  <a:gd name="T20" fmla="*/ 82 w 102"/>
                  <a:gd name="T21" fmla="*/ 12 h 52"/>
                  <a:gd name="T22" fmla="*/ 90 w 102"/>
                  <a:gd name="T23" fmla="*/ 20 h 52"/>
                  <a:gd name="T24" fmla="*/ 96 w 102"/>
                  <a:gd name="T25" fmla="*/ 29 h 52"/>
                  <a:gd name="T26" fmla="*/ 100 w 102"/>
                  <a:gd name="T27" fmla="*/ 41 h 52"/>
                  <a:gd name="T28" fmla="*/ 102 w 102"/>
                  <a:gd name="T29"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2" h="52">
                    <a:moveTo>
                      <a:pt x="0" y="52"/>
                    </a:moveTo>
                    <a:lnTo>
                      <a:pt x="1" y="41"/>
                    </a:lnTo>
                    <a:lnTo>
                      <a:pt x="5" y="29"/>
                    </a:lnTo>
                    <a:lnTo>
                      <a:pt x="11" y="20"/>
                    </a:lnTo>
                    <a:lnTo>
                      <a:pt x="19" y="12"/>
                    </a:lnTo>
                    <a:lnTo>
                      <a:pt x="28" y="6"/>
                    </a:lnTo>
                    <a:lnTo>
                      <a:pt x="39" y="2"/>
                    </a:lnTo>
                    <a:lnTo>
                      <a:pt x="51" y="0"/>
                    </a:lnTo>
                    <a:lnTo>
                      <a:pt x="62" y="2"/>
                    </a:lnTo>
                    <a:lnTo>
                      <a:pt x="73" y="6"/>
                    </a:lnTo>
                    <a:lnTo>
                      <a:pt x="82" y="12"/>
                    </a:lnTo>
                    <a:lnTo>
                      <a:pt x="90" y="20"/>
                    </a:lnTo>
                    <a:lnTo>
                      <a:pt x="96" y="29"/>
                    </a:lnTo>
                    <a:lnTo>
                      <a:pt x="100" y="41"/>
                    </a:lnTo>
                    <a:lnTo>
                      <a:pt x="102" y="52"/>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9" name="未知"/>
              <p:cNvSpPr>
                <a:spLocks noChangeAspect="1"/>
              </p:cNvSpPr>
              <p:nvPr/>
            </p:nvSpPr>
            <p:spPr bwMode="auto">
              <a:xfrm>
                <a:off x="612" y="533"/>
                <a:ext cx="19" cy="979"/>
              </a:xfrm>
              <a:custGeom>
                <a:avLst/>
                <a:gdLst>
                  <a:gd name="T0" fmla="*/ 102 w 102"/>
                  <a:gd name="T1" fmla="*/ 0 h 6453"/>
                  <a:gd name="T2" fmla="*/ 51 w 102"/>
                  <a:gd name="T3" fmla="*/ 0 h 6453"/>
                  <a:gd name="T4" fmla="*/ 0 w 102"/>
                  <a:gd name="T5" fmla="*/ 0 h 6453"/>
                  <a:gd name="T6" fmla="*/ 0 w 102"/>
                  <a:gd name="T7" fmla="*/ 6453 h 6453"/>
                  <a:gd name="T8" fmla="*/ 51 w 102"/>
                  <a:gd name="T9" fmla="*/ 6453 h 6453"/>
                  <a:gd name="T10" fmla="*/ 102 w 102"/>
                  <a:gd name="T11" fmla="*/ 6453 h 6453"/>
                  <a:gd name="T12" fmla="*/ 102 w 102"/>
                  <a:gd name="T13" fmla="*/ 0 h 6453"/>
                </a:gdLst>
                <a:ahLst/>
                <a:cxnLst>
                  <a:cxn ang="0">
                    <a:pos x="T0" y="T1"/>
                  </a:cxn>
                  <a:cxn ang="0">
                    <a:pos x="T2" y="T3"/>
                  </a:cxn>
                  <a:cxn ang="0">
                    <a:pos x="T4" y="T5"/>
                  </a:cxn>
                  <a:cxn ang="0">
                    <a:pos x="T6" y="T7"/>
                  </a:cxn>
                  <a:cxn ang="0">
                    <a:pos x="T8" y="T9"/>
                  </a:cxn>
                  <a:cxn ang="0">
                    <a:pos x="T10" y="T11"/>
                  </a:cxn>
                  <a:cxn ang="0">
                    <a:pos x="T12" y="T13"/>
                  </a:cxn>
                </a:cxnLst>
                <a:rect l="0" t="0" r="r" b="b"/>
                <a:pathLst>
                  <a:path w="102" h="6453">
                    <a:moveTo>
                      <a:pt x="102" y="0"/>
                    </a:moveTo>
                    <a:lnTo>
                      <a:pt x="51" y="0"/>
                    </a:lnTo>
                    <a:lnTo>
                      <a:pt x="0" y="0"/>
                    </a:lnTo>
                    <a:lnTo>
                      <a:pt x="0" y="6453"/>
                    </a:lnTo>
                    <a:lnTo>
                      <a:pt x="51" y="6453"/>
                    </a:lnTo>
                    <a:lnTo>
                      <a:pt x="102" y="6453"/>
                    </a:lnTo>
                    <a:lnTo>
                      <a:pt x="10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0" name="未知"/>
              <p:cNvSpPr>
                <a:spLocks noChangeAspect="1"/>
              </p:cNvSpPr>
              <p:nvPr/>
            </p:nvSpPr>
            <p:spPr bwMode="auto">
              <a:xfrm>
                <a:off x="612" y="533"/>
                <a:ext cx="19" cy="979"/>
              </a:xfrm>
              <a:custGeom>
                <a:avLst/>
                <a:gdLst>
                  <a:gd name="T0" fmla="*/ 102 w 102"/>
                  <a:gd name="T1" fmla="*/ 0 h 6453"/>
                  <a:gd name="T2" fmla="*/ 51 w 102"/>
                  <a:gd name="T3" fmla="*/ 0 h 6453"/>
                  <a:gd name="T4" fmla="*/ 0 w 102"/>
                  <a:gd name="T5" fmla="*/ 0 h 6453"/>
                  <a:gd name="T6" fmla="*/ 0 w 102"/>
                  <a:gd name="T7" fmla="*/ 6453 h 6453"/>
                  <a:gd name="T8" fmla="*/ 51 w 102"/>
                  <a:gd name="T9" fmla="*/ 6453 h 6453"/>
                  <a:gd name="T10" fmla="*/ 102 w 102"/>
                  <a:gd name="T11" fmla="*/ 6453 h 6453"/>
                  <a:gd name="T12" fmla="*/ 102 w 102"/>
                  <a:gd name="T13" fmla="*/ 0 h 6453"/>
                </a:gdLst>
                <a:ahLst/>
                <a:cxnLst>
                  <a:cxn ang="0">
                    <a:pos x="T0" y="T1"/>
                  </a:cxn>
                  <a:cxn ang="0">
                    <a:pos x="T2" y="T3"/>
                  </a:cxn>
                  <a:cxn ang="0">
                    <a:pos x="T4" y="T5"/>
                  </a:cxn>
                  <a:cxn ang="0">
                    <a:pos x="T6" y="T7"/>
                  </a:cxn>
                  <a:cxn ang="0">
                    <a:pos x="T8" y="T9"/>
                  </a:cxn>
                  <a:cxn ang="0">
                    <a:pos x="T10" y="T11"/>
                  </a:cxn>
                  <a:cxn ang="0">
                    <a:pos x="T12" y="T13"/>
                  </a:cxn>
                </a:cxnLst>
                <a:rect l="0" t="0" r="r" b="b"/>
                <a:pathLst>
                  <a:path w="102" h="6453">
                    <a:moveTo>
                      <a:pt x="102" y="0"/>
                    </a:moveTo>
                    <a:lnTo>
                      <a:pt x="51" y="0"/>
                    </a:lnTo>
                    <a:lnTo>
                      <a:pt x="0" y="0"/>
                    </a:lnTo>
                    <a:lnTo>
                      <a:pt x="0" y="6453"/>
                    </a:lnTo>
                    <a:lnTo>
                      <a:pt x="51" y="6453"/>
                    </a:lnTo>
                    <a:lnTo>
                      <a:pt x="102" y="6453"/>
                    </a:lnTo>
                    <a:lnTo>
                      <a:pt x="102"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21" name="未知"/>
              <p:cNvSpPr>
                <a:spLocks noChangeAspect="1"/>
              </p:cNvSpPr>
              <p:nvPr/>
            </p:nvSpPr>
            <p:spPr bwMode="auto">
              <a:xfrm>
                <a:off x="612" y="1512"/>
                <a:ext cx="19" cy="7"/>
              </a:xfrm>
              <a:custGeom>
                <a:avLst/>
                <a:gdLst>
                  <a:gd name="T0" fmla="*/ 51 w 102"/>
                  <a:gd name="T1" fmla="*/ 0 h 50"/>
                  <a:gd name="T2" fmla="*/ 102 w 102"/>
                  <a:gd name="T3" fmla="*/ 0 h 50"/>
                  <a:gd name="T4" fmla="*/ 100 w 102"/>
                  <a:gd name="T5" fmla="*/ 11 h 50"/>
                  <a:gd name="T6" fmla="*/ 96 w 102"/>
                  <a:gd name="T7" fmla="*/ 22 h 50"/>
                  <a:gd name="T8" fmla="*/ 90 w 102"/>
                  <a:gd name="T9" fmla="*/ 31 h 50"/>
                  <a:gd name="T10" fmla="*/ 82 w 102"/>
                  <a:gd name="T11" fmla="*/ 39 h 50"/>
                  <a:gd name="T12" fmla="*/ 73 w 102"/>
                  <a:gd name="T13" fmla="*/ 45 h 50"/>
                  <a:gd name="T14" fmla="*/ 62 w 102"/>
                  <a:gd name="T15" fmla="*/ 49 h 50"/>
                  <a:gd name="T16" fmla="*/ 51 w 102"/>
                  <a:gd name="T17" fmla="*/ 50 h 50"/>
                  <a:gd name="T18" fmla="*/ 39 w 102"/>
                  <a:gd name="T19" fmla="*/ 49 h 50"/>
                  <a:gd name="T20" fmla="*/ 28 w 102"/>
                  <a:gd name="T21" fmla="*/ 45 h 50"/>
                  <a:gd name="T22" fmla="*/ 19 w 102"/>
                  <a:gd name="T23" fmla="*/ 39 h 50"/>
                  <a:gd name="T24" fmla="*/ 11 w 102"/>
                  <a:gd name="T25" fmla="*/ 31 h 50"/>
                  <a:gd name="T26" fmla="*/ 5 w 102"/>
                  <a:gd name="T27" fmla="*/ 22 h 50"/>
                  <a:gd name="T28" fmla="*/ 1 w 102"/>
                  <a:gd name="T29" fmla="*/ 11 h 50"/>
                  <a:gd name="T30" fmla="*/ 0 w 102"/>
                  <a:gd name="T31" fmla="*/ 0 h 50"/>
                  <a:gd name="T32" fmla="*/ 51 w 102"/>
                  <a:gd name="T33"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2" h="50">
                    <a:moveTo>
                      <a:pt x="51" y="0"/>
                    </a:moveTo>
                    <a:lnTo>
                      <a:pt x="102" y="0"/>
                    </a:lnTo>
                    <a:lnTo>
                      <a:pt x="100" y="11"/>
                    </a:lnTo>
                    <a:lnTo>
                      <a:pt x="96" y="22"/>
                    </a:lnTo>
                    <a:lnTo>
                      <a:pt x="90" y="31"/>
                    </a:lnTo>
                    <a:lnTo>
                      <a:pt x="82" y="39"/>
                    </a:lnTo>
                    <a:lnTo>
                      <a:pt x="73" y="45"/>
                    </a:lnTo>
                    <a:lnTo>
                      <a:pt x="62" y="49"/>
                    </a:lnTo>
                    <a:lnTo>
                      <a:pt x="51" y="50"/>
                    </a:lnTo>
                    <a:lnTo>
                      <a:pt x="39" y="49"/>
                    </a:lnTo>
                    <a:lnTo>
                      <a:pt x="28" y="45"/>
                    </a:lnTo>
                    <a:lnTo>
                      <a:pt x="19" y="39"/>
                    </a:lnTo>
                    <a:lnTo>
                      <a:pt x="11" y="31"/>
                    </a:lnTo>
                    <a:lnTo>
                      <a:pt x="5" y="22"/>
                    </a:lnTo>
                    <a:lnTo>
                      <a:pt x="1" y="11"/>
                    </a:lnTo>
                    <a:lnTo>
                      <a:pt x="0" y="0"/>
                    </a:lnTo>
                    <a:lnTo>
                      <a:pt x="5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2" name="未知"/>
              <p:cNvSpPr>
                <a:spLocks noChangeAspect="1"/>
              </p:cNvSpPr>
              <p:nvPr/>
            </p:nvSpPr>
            <p:spPr bwMode="auto">
              <a:xfrm>
                <a:off x="612" y="1512"/>
                <a:ext cx="19" cy="7"/>
              </a:xfrm>
              <a:custGeom>
                <a:avLst/>
                <a:gdLst>
                  <a:gd name="T0" fmla="*/ 102 w 102"/>
                  <a:gd name="T1" fmla="*/ 0 h 50"/>
                  <a:gd name="T2" fmla="*/ 100 w 102"/>
                  <a:gd name="T3" fmla="*/ 11 h 50"/>
                  <a:gd name="T4" fmla="*/ 96 w 102"/>
                  <a:gd name="T5" fmla="*/ 22 h 50"/>
                  <a:gd name="T6" fmla="*/ 90 w 102"/>
                  <a:gd name="T7" fmla="*/ 31 h 50"/>
                  <a:gd name="T8" fmla="*/ 82 w 102"/>
                  <a:gd name="T9" fmla="*/ 39 h 50"/>
                  <a:gd name="T10" fmla="*/ 73 w 102"/>
                  <a:gd name="T11" fmla="*/ 45 h 50"/>
                  <a:gd name="T12" fmla="*/ 62 w 102"/>
                  <a:gd name="T13" fmla="*/ 49 h 50"/>
                  <a:gd name="T14" fmla="*/ 51 w 102"/>
                  <a:gd name="T15" fmla="*/ 50 h 50"/>
                  <a:gd name="T16" fmla="*/ 39 w 102"/>
                  <a:gd name="T17" fmla="*/ 49 h 50"/>
                  <a:gd name="T18" fmla="*/ 28 w 102"/>
                  <a:gd name="T19" fmla="*/ 45 h 50"/>
                  <a:gd name="T20" fmla="*/ 19 w 102"/>
                  <a:gd name="T21" fmla="*/ 39 h 50"/>
                  <a:gd name="T22" fmla="*/ 11 w 102"/>
                  <a:gd name="T23" fmla="*/ 31 h 50"/>
                  <a:gd name="T24" fmla="*/ 5 w 102"/>
                  <a:gd name="T25" fmla="*/ 22 h 50"/>
                  <a:gd name="T26" fmla="*/ 1 w 102"/>
                  <a:gd name="T27" fmla="*/ 11 h 50"/>
                  <a:gd name="T28" fmla="*/ 0 w 102"/>
                  <a:gd name="T29"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2" h="50">
                    <a:moveTo>
                      <a:pt x="102" y="0"/>
                    </a:moveTo>
                    <a:lnTo>
                      <a:pt x="100" y="11"/>
                    </a:lnTo>
                    <a:lnTo>
                      <a:pt x="96" y="22"/>
                    </a:lnTo>
                    <a:lnTo>
                      <a:pt x="90" y="31"/>
                    </a:lnTo>
                    <a:lnTo>
                      <a:pt x="82" y="39"/>
                    </a:lnTo>
                    <a:lnTo>
                      <a:pt x="73" y="45"/>
                    </a:lnTo>
                    <a:lnTo>
                      <a:pt x="62" y="49"/>
                    </a:lnTo>
                    <a:lnTo>
                      <a:pt x="51" y="50"/>
                    </a:lnTo>
                    <a:lnTo>
                      <a:pt x="39" y="49"/>
                    </a:lnTo>
                    <a:lnTo>
                      <a:pt x="28" y="45"/>
                    </a:lnTo>
                    <a:lnTo>
                      <a:pt x="19" y="39"/>
                    </a:lnTo>
                    <a:lnTo>
                      <a:pt x="11" y="31"/>
                    </a:lnTo>
                    <a:lnTo>
                      <a:pt x="5" y="22"/>
                    </a:lnTo>
                    <a:lnTo>
                      <a:pt x="1" y="11"/>
                    </a:lnTo>
                    <a:lnTo>
                      <a:pt x="0"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23" name="未知"/>
              <p:cNvSpPr>
                <a:spLocks noChangeAspect="1"/>
              </p:cNvSpPr>
              <p:nvPr/>
            </p:nvSpPr>
            <p:spPr bwMode="auto">
              <a:xfrm>
                <a:off x="1059" y="891"/>
                <a:ext cx="19" cy="8"/>
              </a:xfrm>
              <a:custGeom>
                <a:avLst/>
                <a:gdLst>
                  <a:gd name="T0" fmla="*/ 50 w 102"/>
                  <a:gd name="T1" fmla="*/ 52 h 52"/>
                  <a:gd name="T2" fmla="*/ 0 w 102"/>
                  <a:gd name="T3" fmla="*/ 52 h 52"/>
                  <a:gd name="T4" fmla="*/ 1 w 102"/>
                  <a:gd name="T5" fmla="*/ 41 h 52"/>
                  <a:gd name="T6" fmla="*/ 5 w 102"/>
                  <a:gd name="T7" fmla="*/ 30 h 52"/>
                  <a:gd name="T8" fmla="*/ 11 w 102"/>
                  <a:gd name="T9" fmla="*/ 20 h 52"/>
                  <a:gd name="T10" fmla="*/ 19 w 102"/>
                  <a:gd name="T11" fmla="*/ 12 h 52"/>
                  <a:gd name="T12" fmla="*/ 28 w 102"/>
                  <a:gd name="T13" fmla="*/ 6 h 52"/>
                  <a:gd name="T14" fmla="*/ 39 w 102"/>
                  <a:gd name="T15" fmla="*/ 2 h 52"/>
                  <a:gd name="T16" fmla="*/ 50 w 102"/>
                  <a:gd name="T17" fmla="*/ 0 h 52"/>
                  <a:gd name="T18" fmla="*/ 61 w 102"/>
                  <a:gd name="T19" fmla="*/ 2 h 52"/>
                  <a:gd name="T20" fmla="*/ 73 w 102"/>
                  <a:gd name="T21" fmla="*/ 6 h 52"/>
                  <a:gd name="T22" fmla="*/ 82 w 102"/>
                  <a:gd name="T23" fmla="*/ 12 h 52"/>
                  <a:gd name="T24" fmla="*/ 90 w 102"/>
                  <a:gd name="T25" fmla="*/ 20 h 52"/>
                  <a:gd name="T26" fmla="*/ 96 w 102"/>
                  <a:gd name="T27" fmla="*/ 30 h 52"/>
                  <a:gd name="T28" fmla="*/ 100 w 102"/>
                  <a:gd name="T29" fmla="*/ 41 h 52"/>
                  <a:gd name="T30" fmla="*/ 102 w 102"/>
                  <a:gd name="T31" fmla="*/ 52 h 52"/>
                  <a:gd name="T32" fmla="*/ 50 w 102"/>
                  <a:gd name="T33"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2" h="52">
                    <a:moveTo>
                      <a:pt x="50" y="52"/>
                    </a:moveTo>
                    <a:lnTo>
                      <a:pt x="0" y="52"/>
                    </a:lnTo>
                    <a:lnTo>
                      <a:pt x="1" y="41"/>
                    </a:lnTo>
                    <a:lnTo>
                      <a:pt x="5" y="30"/>
                    </a:lnTo>
                    <a:lnTo>
                      <a:pt x="11" y="20"/>
                    </a:lnTo>
                    <a:lnTo>
                      <a:pt x="19" y="12"/>
                    </a:lnTo>
                    <a:lnTo>
                      <a:pt x="28" y="6"/>
                    </a:lnTo>
                    <a:lnTo>
                      <a:pt x="39" y="2"/>
                    </a:lnTo>
                    <a:lnTo>
                      <a:pt x="50" y="0"/>
                    </a:lnTo>
                    <a:lnTo>
                      <a:pt x="61" y="2"/>
                    </a:lnTo>
                    <a:lnTo>
                      <a:pt x="73" y="6"/>
                    </a:lnTo>
                    <a:lnTo>
                      <a:pt x="82" y="12"/>
                    </a:lnTo>
                    <a:lnTo>
                      <a:pt x="90" y="20"/>
                    </a:lnTo>
                    <a:lnTo>
                      <a:pt x="96" y="30"/>
                    </a:lnTo>
                    <a:lnTo>
                      <a:pt x="100" y="41"/>
                    </a:lnTo>
                    <a:lnTo>
                      <a:pt x="102" y="52"/>
                    </a:lnTo>
                    <a:lnTo>
                      <a:pt x="50"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4" name="未知"/>
              <p:cNvSpPr>
                <a:spLocks noChangeAspect="1"/>
              </p:cNvSpPr>
              <p:nvPr/>
            </p:nvSpPr>
            <p:spPr bwMode="auto">
              <a:xfrm>
                <a:off x="1059" y="891"/>
                <a:ext cx="19" cy="8"/>
              </a:xfrm>
              <a:custGeom>
                <a:avLst/>
                <a:gdLst>
                  <a:gd name="T0" fmla="*/ 0 w 102"/>
                  <a:gd name="T1" fmla="*/ 52 h 52"/>
                  <a:gd name="T2" fmla="*/ 1 w 102"/>
                  <a:gd name="T3" fmla="*/ 41 h 52"/>
                  <a:gd name="T4" fmla="*/ 5 w 102"/>
                  <a:gd name="T5" fmla="*/ 30 h 52"/>
                  <a:gd name="T6" fmla="*/ 11 w 102"/>
                  <a:gd name="T7" fmla="*/ 20 h 52"/>
                  <a:gd name="T8" fmla="*/ 19 w 102"/>
                  <a:gd name="T9" fmla="*/ 12 h 52"/>
                  <a:gd name="T10" fmla="*/ 28 w 102"/>
                  <a:gd name="T11" fmla="*/ 6 h 52"/>
                  <a:gd name="T12" fmla="*/ 39 w 102"/>
                  <a:gd name="T13" fmla="*/ 2 h 52"/>
                  <a:gd name="T14" fmla="*/ 50 w 102"/>
                  <a:gd name="T15" fmla="*/ 0 h 52"/>
                  <a:gd name="T16" fmla="*/ 61 w 102"/>
                  <a:gd name="T17" fmla="*/ 2 h 52"/>
                  <a:gd name="T18" fmla="*/ 73 w 102"/>
                  <a:gd name="T19" fmla="*/ 6 h 52"/>
                  <a:gd name="T20" fmla="*/ 82 w 102"/>
                  <a:gd name="T21" fmla="*/ 12 h 52"/>
                  <a:gd name="T22" fmla="*/ 90 w 102"/>
                  <a:gd name="T23" fmla="*/ 20 h 52"/>
                  <a:gd name="T24" fmla="*/ 96 w 102"/>
                  <a:gd name="T25" fmla="*/ 30 h 52"/>
                  <a:gd name="T26" fmla="*/ 100 w 102"/>
                  <a:gd name="T27" fmla="*/ 41 h 52"/>
                  <a:gd name="T28" fmla="*/ 102 w 102"/>
                  <a:gd name="T29"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2" h="52">
                    <a:moveTo>
                      <a:pt x="0" y="52"/>
                    </a:moveTo>
                    <a:lnTo>
                      <a:pt x="1" y="41"/>
                    </a:lnTo>
                    <a:lnTo>
                      <a:pt x="5" y="30"/>
                    </a:lnTo>
                    <a:lnTo>
                      <a:pt x="11" y="20"/>
                    </a:lnTo>
                    <a:lnTo>
                      <a:pt x="19" y="12"/>
                    </a:lnTo>
                    <a:lnTo>
                      <a:pt x="28" y="6"/>
                    </a:lnTo>
                    <a:lnTo>
                      <a:pt x="39" y="2"/>
                    </a:lnTo>
                    <a:lnTo>
                      <a:pt x="50" y="0"/>
                    </a:lnTo>
                    <a:lnTo>
                      <a:pt x="61" y="2"/>
                    </a:lnTo>
                    <a:lnTo>
                      <a:pt x="73" y="6"/>
                    </a:lnTo>
                    <a:lnTo>
                      <a:pt x="82" y="12"/>
                    </a:lnTo>
                    <a:lnTo>
                      <a:pt x="90" y="20"/>
                    </a:lnTo>
                    <a:lnTo>
                      <a:pt x="96" y="30"/>
                    </a:lnTo>
                    <a:lnTo>
                      <a:pt x="100" y="41"/>
                    </a:lnTo>
                    <a:lnTo>
                      <a:pt x="102" y="52"/>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25" name="未知"/>
              <p:cNvSpPr>
                <a:spLocks noChangeAspect="1"/>
              </p:cNvSpPr>
              <p:nvPr/>
            </p:nvSpPr>
            <p:spPr bwMode="auto">
              <a:xfrm>
                <a:off x="1059" y="899"/>
                <a:ext cx="19" cy="978"/>
              </a:xfrm>
              <a:custGeom>
                <a:avLst/>
                <a:gdLst>
                  <a:gd name="T0" fmla="*/ 102 w 102"/>
                  <a:gd name="T1" fmla="*/ 0 h 6452"/>
                  <a:gd name="T2" fmla="*/ 50 w 102"/>
                  <a:gd name="T3" fmla="*/ 0 h 6452"/>
                  <a:gd name="T4" fmla="*/ 0 w 102"/>
                  <a:gd name="T5" fmla="*/ 0 h 6452"/>
                  <a:gd name="T6" fmla="*/ 0 w 102"/>
                  <a:gd name="T7" fmla="*/ 6452 h 6452"/>
                  <a:gd name="T8" fmla="*/ 50 w 102"/>
                  <a:gd name="T9" fmla="*/ 6452 h 6452"/>
                  <a:gd name="T10" fmla="*/ 102 w 102"/>
                  <a:gd name="T11" fmla="*/ 6452 h 6452"/>
                  <a:gd name="T12" fmla="*/ 102 w 102"/>
                  <a:gd name="T13" fmla="*/ 0 h 6452"/>
                </a:gdLst>
                <a:ahLst/>
                <a:cxnLst>
                  <a:cxn ang="0">
                    <a:pos x="T0" y="T1"/>
                  </a:cxn>
                  <a:cxn ang="0">
                    <a:pos x="T2" y="T3"/>
                  </a:cxn>
                  <a:cxn ang="0">
                    <a:pos x="T4" y="T5"/>
                  </a:cxn>
                  <a:cxn ang="0">
                    <a:pos x="T6" y="T7"/>
                  </a:cxn>
                  <a:cxn ang="0">
                    <a:pos x="T8" y="T9"/>
                  </a:cxn>
                  <a:cxn ang="0">
                    <a:pos x="T10" y="T11"/>
                  </a:cxn>
                  <a:cxn ang="0">
                    <a:pos x="T12" y="T13"/>
                  </a:cxn>
                </a:cxnLst>
                <a:rect l="0" t="0" r="r" b="b"/>
                <a:pathLst>
                  <a:path w="102" h="6452">
                    <a:moveTo>
                      <a:pt x="102" y="0"/>
                    </a:moveTo>
                    <a:lnTo>
                      <a:pt x="50" y="0"/>
                    </a:lnTo>
                    <a:lnTo>
                      <a:pt x="0" y="0"/>
                    </a:lnTo>
                    <a:lnTo>
                      <a:pt x="0" y="6452"/>
                    </a:lnTo>
                    <a:lnTo>
                      <a:pt x="50" y="6452"/>
                    </a:lnTo>
                    <a:lnTo>
                      <a:pt x="102" y="6452"/>
                    </a:lnTo>
                    <a:lnTo>
                      <a:pt x="10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6" name="未知"/>
              <p:cNvSpPr>
                <a:spLocks noChangeAspect="1"/>
              </p:cNvSpPr>
              <p:nvPr/>
            </p:nvSpPr>
            <p:spPr bwMode="auto">
              <a:xfrm>
                <a:off x="1059" y="899"/>
                <a:ext cx="19" cy="978"/>
              </a:xfrm>
              <a:custGeom>
                <a:avLst/>
                <a:gdLst>
                  <a:gd name="T0" fmla="*/ 102 w 102"/>
                  <a:gd name="T1" fmla="*/ 0 h 6452"/>
                  <a:gd name="T2" fmla="*/ 50 w 102"/>
                  <a:gd name="T3" fmla="*/ 0 h 6452"/>
                  <a:gd name="T4" fmla="*/ 0 w 102"/>
                  <a:gd name="T5" fmla="*/ 0 h 6452"/>
                  <a:gd name="T6" fmla="*/ 0 w 102"/>
                  <a:gd name="T7" fmla="*/ 6452 h 6452"/>
                  <a:gd name="T8" fmla="*/ 50 w 102"/>
                  <a:gd name="T9" fmla="*/ 6452 h 6452"/>
                  <a:gd name="T10" fmla="*/ 102 w 102"/>
                  <a:gd name="T11" fmla="*/ 6452 h 6452"/>
                  <a:gd name="T12" fmla="*/ 102 w 102"/>
                  <a:gd name="T13" fmla="*/ 0 h 6452"/>
                </a:gdLst>
                <a:ahLst/>
                <a:cxnLst>
                  <a:cxn ang="0">
                    <a:pos x="T0" y="T1"/>
                  </a:cxn>
                  <a:cxn ang="0">
                    <a:pos x="T2" y="T3"/>
                  </a:cxn>
                  <a:cxn ang="0">
                    <a:pos x="T4" y="T5"/>
                  </a:cxn>
                  <a:cxn ang="0">
                    <a:pos x="T6" y="T7"/>
                  </a:cxn>
                  <a:cxn ang="0">
                    <a:pos x="T8" y="T9"/>
                  </a:cxn>
                  <a:cxn ang="0">
                    <a:pos x="T10" y="T11"/>
                  </a:cxn>
                  <a:cxn ang="0">
                    <a:pos x="T12" y="T13"/>
                  </a:cxn>
                </a:cxnLst>
                <a:rect l="0" t="0" r="r" b="b"/>
                <a:pathLst>
                  <a:path w="102" h="6452">
                    <a:moveTo>
                      <a:pt x="102" y="0"/>
                    </a:moveTo>
                    <a:lnTo>
                      <a:pt x="50" y="0"/>
                    </a:lnTo>
                    <a:lnTo>
                      <a:pt x="0" y="0"/>
                    </a:lnTo>
                    <a:lnTo>
                      <a:pt x="0" y="6452"/>
                    </a:lnTo>
                    <a:lnTo>
                      <a:pt x="50" y="6452"/>
                    </a:lnTo>
                    <a:lnTo>
                      <a:pt x="102" y="6452"/>
                    </a:lnTo>
                    <a:lnTo>
                      <a:pt x="102"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27" name="未知"/>
              <p:cNvSpPr>
                <a:spLocks noChangeAspect="1"/>
              </p:cNvSpPr>
              <p:nvPr/>
            </p:nvSpPr>
            <p:spPr bwMode="auto">
              <a:xfrm>
                <a:off x="1059" y="1877"/>
                <a:ext cx="19" cy="7"/>
              </a:xfrm>
              <a:custGeom>
                <a:avLst/>
                <a:gdLst>
                  <a:gd name="T0" fmla="*/ 50 w 102"/>
                  <a:gd name="T1" fmla="*/ 0 h 50"/>
                  <a:gd name="T2" fmla="*/ 102 w 102"/>
                  <a:gd name="T3" fmla="*/ 0 h 50"/>
                  <a:gd name="T4" fmla="*/ 100 w 102"/>
                  <a:gd name="T5" fmla="*/ 11 h 50"/>
                  <a:gd name="T6" fmla="*/ 96 w 102"/>
                  <a:gd name="T7" fmla="*/ 22 h 50"/>
                  <a:gd name="T8" fmla="*/ 90 w 102"/>
                  <a:gd name="T9" fmla="*/ 31 h 50"/>
                  <a:gd name="T10" fmla="*/ 82 w 102"/>
                  <a:gd name="T11" fmla="*/ 39 h 50"/>
                  <a:gd name="T12" fmla="*/ 73 w 102"/>
                  <a:gd name="T13" fmla="*/ 45 h 50"/>
                  <a:gd name="T14" fmla="*/ 61 w 102"/>
                  <a:gd name="T15" fmla="*/ 49 h 50"/>
                  <a:gd name="T16" fmla="*/ 50 w 102"/>
                  <a:gd name="T17" fmla="*/ 50 h 50"/>
                  <a:gd name="T18" fmla="*/ 39 w 102"/>
                  <a:gd name="T19" fmla="*/ 49 h 50"/>
                  <a:gd name="T20" fmla="*/ 28 w 102"/>
                  <a:gd name="T21" fmla="*/ 45 h 50"/>
                  <a:gd name="T22" fmla="*/ 19 w 102"/>
                  <a:gd name="T23" fmla="*/ 39 h 50"/>
                  <a:gd name="T24" fmla="*/ 11 w 102"/>
                  <a:gd name="T25" fmla="*/ 31 h 50"/>
                  <a:gd name="T26" fmla="*/ 5 w 102"/>
                  <a:gd name="T27" fmla="*/ 22 h 50"/>
                  <a:gd name="T28" fmla="*/ 1 w 102"/>
                  <a:gd name="T29" fmla="*/ 11 h 50"/>
                  <a:gd name="T30" fmla="*/ 0 w 102"/>
                  <a:gd name="T31" fmla="*/ 0 h 50"/>
                  <a:gd name="T32" fmla="*/ 50 w 102"/>
                  <a:gd name="T33"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2" h="50">
                    <a:moveTo>
                      <a:pt x="50" y="0"/>
                    </a:moveTo>
                    <a:lnTo>
                      <a:pt x="102" y="0"/>
                    </a:lnTo>
                    <a:lnTo>
                      <a:pt x="100" y="11"/>
                    </a:lnTo>
                    <a:lnTo>
                      <a:pt x="96" y="22"/>
                    </a:lnTo>
                    <a:lnTo>
                      <a:pt x="90" y="31"/>
                    </a:lnTo>
                    <a:lnTo>
                      <a:pt x="82" y="39"/>
                    </a:lnTo>
                    <a:lnTo>
                      <a:pt x="73" y="45"/>
                    </a:lnTo>
                    <a:lnTo>
                      <a:pt x="61" y="49"/>
                    </a:lnTo>
                    <a:lnTo>
                      <a:pt x="50" y="50"/>
                    </a:lnTo>
                    <a:lnTo>
                      <a:pt x="39" y="49"/>
                    </a:lnTo>
                    <a:lnTo>
                      <a:pt x="28" y="45"/>
                    </a:lnTo>
                    <a:lnTo>
                      <a:pt x="19" y="39"/>
                    </a:lnTo>
                    <a:lnTo>
                      <a:pt x="11" y="31"/>
                    </a:lnTo>
                    <a:lnTo>
                      <a:pt x="5" y="22"/>
                    </a:lnTo>
                    <a:lnTo>
                      <a:pt x="1" y="11"/>
                    </a:lnTo>
                    <a:lnTo>
                      <a:pt x="0" y="0"/>
                    </a:lnTo>
                    <a:lnTo>
                      <a:pt x="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8" name="未知"/>
              <p:cNvSpPr>
                <a:spLocks noChangeAspect="1"/>
              </p:cNvSpPr>
              <p:nvPr/>
            </p:nvSpPr>
            <p:spPr bwMode="auto">
              <a:xfrm>
                <a:off x="1059" y="1877"/>
                <a:ext cx="19" cy="7"/>
              </a:xfrm>
              <a:custGeom>
                <a:avLst/>
                <a:gdLst>
                  <a:gd name="T0" fmla="*/ 102 w 102"/>
                  <a:gd name="T1" fmla="*/ 0 h 50"/>
                  <a:gd name="T2" fmla="*/ 100 w 102"/>
                  <a:gd name="T3" fmla="*/ 11 h 50"/>
                  <a:gd name="T4" fmla="*/ 96 w 102"/>
                  <a:gd name="T5" fmla="*/ 22 h 50"/>
                  <a:gd name="T6" fmla="*/ 90 w 102"/>
                  <a:gd name="T7" fmla="*/ 31 h 50"/>
                  <a:gd name="T8" fmla="*/ 82 w 102"/>
                  <a:gd name="T9" fmla="*/ 39 h 50"/>
                  <a:gd name="T10" fmla="*/ 73 w 102"/>
                  <a:gd name="T11" fmla="*/ 45 h 50"/>
                  <a:gd name="T12" fmla="*/ 61 w 102"/>
                  <a:gd name="T13" fmla="*/ 49 h 50"/>
                  <a:gd name="T14" fmla="*/ 50 w 102"/>
                  <a:gd name="T15" fmla="*/ 50 h 50"/>
                  <a:gd name="T16" fmla="*/ 39 w 102"/>
                  <a:gd name="T17" fmla="*/ 49 h 50"/>
                  <a:gd name="T18" fmla="*/ 28 w 102"/>
                  <a:gd name="T19" fmla="*/ 45 h 50"/>
                  <a:gd name="T20" fmla="*/ 19 w 102"/>
                  <a:gd name="T21" fmla="*/ 39 h 50"/>
                  <a:gd name="T22" fmla="*/ 11 w 102"/>
                  <a:gd name="T23" fmla="*/ 31 h 50"/>
                  <a:gd name="T24" fmla="*/ 5 w 102"/>
                  <a:gd name="T25" fmla="*/ 22 h 50"/>
                  <a:gd name="T26" fmla="*/ 1 w 102"/>
                  <a:gd name="T27" fmla="*/ 11 h 50"/>
                  <a:gd name="T28" fmla="*/ 0 w 102"/>
                  <a:gd name="T29"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2" h="50">
                    <a:moveTo>
                      <a:pt x="102" y="0"/>
                    </a:moveTo>
                    <a:lnTo>
                      <a:pt x="100" y="11"/>
                    </a:lnTo>
                    <a:lnTo>
                      <a:pt x="96" y="22"/>
                    </a:lnTo>
                    <a:lnTo>
                      <a:pt x="90" y="31"/>
                    </a:lnTo>
                    <a:lnTo>
                      <a:pt x="82" y="39"/>
                    </a:lnTo>
                    <a:lnTo>
                      <a:pt x="73" y="45"/>
                    </a:lnTo>
                    <a:lnTo>
                      <a:pt x="61" y="49"/>
                    </a:lnTo>
                    <a:lnTo>
                      <a:pt x="50" y="50"/>
                    </a:lnTo>
                    <a:lnTo>
                      <a:pt x="39" y="49"/>
                    </a:lnTo>
                    <a:lnTo>
                      <a:pt x="28" y="45"/>
                    </a:lnTo>
                    <a:lnTo>
                      <a:pt x="19" y="39"/>
                    </a:lnTo>
                    <a:lnTo>
                      <a:pt x="11" y="31"/>
                    </a:lnTo>
                    <a:lnTo>
                      <a:pt x="5" y="22"/>
                    </a:lnTo>
                    <a:lnTo>
                      <a:pt x="1" y="11"/>
                    </a:lnTo>
                    <a:lnTo>
                      <a:pt x="0"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29" name="未知"/>
              <p:cNvSpPr>
                <a:spLocks noChangeAspect="1"/>
              </p:cNvSpPr>
              <p:nvPr/>
            </p:nvSpPr>
            <p:spPr bwMode="auto">
              <a:xfrm>
                <a:off x="612" y="526"/>
                <a:ext cx="16" cy="14"/>
              </a:xfrm>
              <a:custGeom>
                <a:avLst/>
                <a:gdLst>
                  <a:gd name="T0" fmla="*/ 51 w 86"/>
                  <a:gd name="T1" fmla="*/ 51 h 87"/>
                  <a:gd name="T2" fmla="*/ 15 w 86"/>
                  <a:gd name="T3" fmla="*/ 87 h 87"/>
                  <a:gd name="T4" fmla="*/ 8 w 86"/>
                  <a:gd name="T5" fmla="*/ 78 h 87"/>
                  <a:gd name="T6" fmla="*/ 3 w 86"/>
                  <a:gd name="T7" fmla="*/ 68 h 87"/>
                  <a:gd name="T8" fmla="*/ 0 w 86"/>
                  <a:gd name="T9" fmla="*/ 57 h 87"/>
                  <a:gd name="T10" fmla="*/ 0 w 86"/>
                  <a:gd name="T11" fmla="*/ 46 h 87"/>
                  <a:gd name="T12" fmla="*/ 2 w 86"/>
                  <a:gd name="T13" fmla="*/ 35 h 87"/>
                  <a:gd name="T14" fmla="*/ 7 w 86"/>
                  <a:gd name="T15" fmla="*/ 24 h 87"/>
                  <a:gd name="T16" fmla="*/ 14 w 86"/>
                  <a:gd name="T17" fmla="*/ 15 h 87"/>
                  <a:gd name="T18" fmla="*/ 23 w 86"/>
                  <a:gd name="T19" fmla="*/ 8 h 87"/>
                  <a:gd name="T20" fmla="*/ 33 w 86"/>
                  <a:gd name="T21" fmla="*/ 3 h 87"/>
                  <a:gd name="T22" fmla="*/ 44 w 86"/>
                  <a:gd name="T23" fmla="*/ 0 h 87"/>
                  <a:gd name="T24" fmla="*/ 56 w 86"/>
                  <a:gd name="T25" fmla="*/ 0 h 87"/>
                  <a:gd name="T26" fmla="*/ 67 w 86"/>
                  <a:gd name="T27" fmla="*/ 2 h 87"/>
                  <a:gd name="T28" fmla="*/ 77 w 86"/>
                  <a:gd name="T29" fmla="*/ 7 h 87"/>
                  <a:gd name="T30" fmla="*/ 86 w 86"/>
                  <a:gd name="T31" fmla="*/ 14 h 87"/>
                  <a:gd name="T32" fmla="*/ 51 w 86"/>
                  <a:gd name="T33" fmla="*/ 5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6" h="87">
                    <a:moveTo>
                      <a:pt x="51" y="51"/>
                    </a:moveTo>
                    <a:lnTo>
                      <a:pt x="15" y="87"/>
                    </a:lnTo>
                    <a:lnTo>
                      <a:pt x="8" y="78"/>
                    </a:lnTo>
                    <a:lnTo>
                      <a:pt x="3" y="68"/>
                    </a:lnTo>
                    <a:lnTo>
                      <a:pt x="0" y="57"/>
                    </a:lnTo>
                    <a:lnTo>
                      <a:pt x="0" y="46"/>
                    </a:lnTo>
                    <a:lnTo>
                      <a:pt x="2" y="35"/>
                    </a:lnTo>
                    <a:lnTo>
                      <a:pt x="7" y="24"/>
                    </a:lnTo>
                    <a:lnTo>
                      <a:pt x="14" y="15"/>
                    </a:lnTo>
                    <a:lnTo>
                      <a:pt x="23" y="8"/>
                    </a:lnTo>
                    <a:lnTo>
                      <a:pt x="33" y="3"/>
                    </a:lnTo>
                    <a:lnTo>
                      <a:pt x="44" y="0"/>
                    </a:lnTo>
                    <a:lnTo>
                      <a:pt x="56" y="0"/>
                    </a:lnTo>
                    <a:lnTo>
                      <a:pt x="67" y="2"/>
                    </a:lnTo>
                    <a:lnTo>
                      <a:pt x="77" y="7"/>
                    </a:lnTo>
                    <a:lnTo>
                      <a:pt x="86" y="14"/>
                    </a:lnTo>
                    <a:lnTo>
                      <a:pt x="51" y="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0" name="未知"/>
              <p:cNvSpPr>
                <a:spLocks noChangeAspect="1"/>
              </p:cNvSpPr>
              <p:nvPr/>
            </p:nvSpPr>
            <p:spPr bwMode="auto">
              <a:xfrm>
                <a:off x="612" y="526"/>
                <a:ext cx="16" cy="14"/>
              </a:xfrm>
              <a:custGeom>
                <a:avLst/>
                <a:gdLst>
                  <a:gd name="T0" fmla="*/ 15 w 86"/>
                  <a:gd name="T1" fmla="*/ 87 h 87"/>
                  <a:gd name="T2" fmla="*/ 8 w 86"/>
                  <a:gd name="T3" fmla="*/ 78 h 87"/>
                  <a:gd name="T4" fmla="*/ 3 w 86"/>
                  <a:gd name="T5" fmla="*/ 68 h 87"/>
                  <a:gd name="T6" fmla="*/ 0 w 86"/>
                  <a:gd name="T7" fmla="*/ 57 h 87"/>
                  <a:gd name="T8" fmla="*/ 0 w 86"/>
                  <a:gd name="T9" fmla="*/ 46 h 87"/>
                  <a:gd name="T10" fmla="*/ 2 w 86"/>
                  <a:gd name="T11" fmla="*/ 35 h 87"/>
                  <a:gd name="T12" fmla="*/ 7 w 86"/>
                  <a:gd name="T13" fmla="*/ 24 h 87"/>
                  <a:gd name="T14" fmla="*/ 14 w 86"/>
                  <a:gd name="T15" fmla="*/ 15 h 87"/>
                  <a:gd name="T16" fmla="*/ 23 w 86"/>
                  <a:gd name="T17" fmla="*/ 8 h 87"/>
                  <a:gd name="T18" fmla="*/ 33 w 86"/>
                  <a:gd name="T19" fmla="*/ 3 h 87"/>
                  <a:gd name="T20" fmla="*/ 44 w 86"/>
                  <a:gd name="T21" fmla="*/ 0 h 87"/>
                  <a:gd name="T22" fmla="*/ 56 w 86"/>
                  <a:gd name="T23" fmla="*/ 0 h 87"/>
                  <a:gd name="T24" fmla="*/ 67 w 86"/>
                  <a:gd name="T25" fmla="*/ 2 h 87"/>
                  <a:gd name="T26" fmla="*/ 77 w 86"/>
                  <a:gd name="T27" fmla="*/ 7 h 87"/>
                  <a:gd name="T28" fmla="*/ 86 w 86"/>
                  <a:gd name="T29" fmla="*/ 14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6" h="87">
                    <a:moveTo>
                      <a:pt x="15" y="87"/>
                    </a:moveTo>
                    <a:lnTo>
                      <a:pt x="8" y="78"/>
                    </a:lnTo>
                    <a:lnTo>
                      <a:pt x="3" y="68"/>
                    </a:lnTo>
                    <a:lnTo>
                      <a:pt x="0" y="57"/>
                    </a:lnTo>
                    <a:lnTo>
                      <a:pt x="0" y="46"/>
                    </a:lnTo>
                    <a:lnTo>
                      <a:pt x="2" y="35"/>
                    </a:lnTo>
                    <a:lnTo>
                      <a:pt x="7" y="24"/>
                    </a:lnTo>
                    <a:lnTo>
                      <a:pt x="14" y="15"/>
                    </a:lnTo>
                    <a:lnTo>
                      <a:pt x="23" y="8"/>
                    </a:lnTo>
                    <a:lnTo>
                      <a:pt x="33" y="3"/>
                    </a:lnTo>
                    <a:lnTo>
                      <a:pt x="44" y="0"/>
                    </a:lnTo>
                    <a:lnTo>
                      <a:pt x="56" y="0"/>
                    </a:lnTo>
                    <a:lnTo>
                      <a:pt x="67" y="2"/>
                    </a:lnTo>
                    <a:lnTo>
                      <a:pt x="77" y="7"/>
                    </a:lnTo>
                    <a:lnTo>
                      <a:pt x="86" y="14"/>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1" name="未知"/>
              <p:cNvSpPr>
                <a:spLocks noChangeAspect="1"/>
              </p:cNvSpPr>
              <p:nvPr/>
            </p:nvSpPr>
            <p:spPr bwMode="auto">
              <a:xfrm>
                <a:off x="615" y="528"/>
                <a:ext cx="461" cy="376"/>
              </a:xfrm>
              <a:custGeom>
                <a:avLst/>
                <a:gdLst>
                  <a:gd name="T0" fmla="*/ 71 w 2529"/>
                  <a:gd name="T1" fmla="*/ 0 h 2480"/>
                  <a:gd name="T2" fmla="*/ 36 w 2529"/>
                  <a:gd name="T3" fmla="*/ 37 h 2480"/>
                  <a:gd name="T4" fmla="*/ 0 w 2529"/>
                  <a:gd name="T5" fmla="*/ 73 h 2480"/>
                  <a:gd name="T6" fmla="*/ 2458 w 2529"/>
                  <a:gd name="T7" fmla="*/ 2480 h 2480"/>
                  <a:gd name="T8" fmla="*/ 2493 w 2529"/>
                  <a:gd name="T9" fmla="*/ 2444 h 2480"/>
                  <a:gd name="T10" fmla="*/ 2529 w 2529"/>
                  <a:gd name="T11" fmla="*/ 2407 h 2480"/>
                  <a:gd name="T12" fmla="*/ 71 w 2529"/>
                  <a:gd name="T13" fmla="*/ 0 h 2480"/>
                </a:gdLst>
                <a:ahLst/>
                <a:cxnLst>
                  <a:cxn ang="0">
                    <a:pos x="T0" y="T1"/>
                  </a:cxn>
                  <a:cxn ang="0">
                    <a:pos x="T2" y="T3"/>
                  </a:cxn>
                  <a:cxn ang="0">
                    <a:pos x="T4" y="T5"/>
                  </a:cxn>
                  <a:cxn ang="0">
                    <a:pos x="T6" y="T7"/>
                  </a:cxn>
                  <a:cxn ang="0">
                    <a:pos x="T8" y="T9"/>
                  </a:cxn>
                  <a:cxn ang="0">
                    <a:pos x="T10" y="T11"/>
                  </a:cxn>
                  <a:cxn ang="0">
                    <a:pos x="T12" y="T13"/>
                  </a:cxn>
                </a:cxnLst>
                <a:rect l="0" t="0" r="r" b="b"/>
                <a:pathLst>
                  <a:path w="2529" h="2480">
                    <a:moveTo>
                      <a:pt x="71" y="0"/>
                    </a:moveTo>
                    <a:lnTo>
                      <a:pt x="36" y="37"/>
                    </a:lnTo>
                    <a:lnTo>
                      <a:pt x="0" y="73"/>
                    </a:lnTo>
                    <a:lnTo>
                      <a:pt x="2458" y="2480"/>
                    </a:lnTo>
                    <a:lnTo>
                      <a:pt x="2493" y="2444"/>
                    </a:lnTo>
                    <a:lnTo>
                      <a:pt x="2529" y="2407"/>
                    </a:lnTo>
                    <a:lnTo>
                      <a:pt x="7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2" name="未知"/>
              <p:cNvSpPr>
                <a:spLocks noChangeAspect="1"/>
              </p:cNvSpPr>
              <p:nvPr/>
            </p:nvSpPr>
            <p:spPr bwMode="auto">
              <a:xfrm>
                <a:off x="615" y="528"/>
                <a:ext cx="461" cy="376"/>
              </a:xfrm>
              <a:custGeom>
                <a:avLst/>
                <a:gdLst>
                  <a:gd name="T0" fmla="*/ 71 w 2529"/>
                  <a:gd name="T1" fmla="*/ 0 h 2480"/>
                  <a:gd name="T2" fmla="*/ 36 w 2529"/>
                  <a:gd name="T3" fmla="*/ 37 h 2480"/>
                  <a:gd name="T4" fmla="*/ 0 w 2529"/>
                  <a:gd name="T5" fmla="*/ 73 h 2480"/>
                  <a:gd name="T6" fmla="*/ 2458 w 2529"/>
                  <a:gd name="T7" fmla="*/ 2480 h 2480"/>
                  <a:gd name="T8" fmla="*/ 2493 w 2529"/>
                  <a:gd name="T9" fmla="*/ 2444 h 2480"/>
                  <a:gd name="T10" fmla="*/ 2529 w 2529"/>
                  <a:gd name="T11" fmla="*/ 2407 h 2480"/>
                  <a:gd name="T12" fmla="*/ 71 w 2529"/>
                  <a:gd name="T13" fmla="*/ 0 h 2480"/>
                </a:gdLst>
                <a:ahLst/>
                <a:cxnLst>
                  <a:cxn ang="0">
                    <a:pos x="T0" y="T1"/>
                  </a:cxn>
                  <a:cxn ang="0">
                    <a:pos x="T2" y="T3"/>
                  </a:cxn>
                  <a:cxn ang="0">
                    <a:pos x="T4" y="T5"/>
                  </a:cxn>
                  <a:cxn ang="0">
                    <a:pos x="T6" y="T7"/>
                  </a:cxn>
                  <a:cxn ang="0">
                    <a:pos x="T8" y="T9"/>
                  </a:cxn>
                  <a:cxn ang="0">
                    <a:pos x="T10" y="T11"/>
                  </a:cxn>
                  <a:cxn ang="0">
                    <a:pos x="T12" y="T13"/>
                  </a:cxn>
                </a:cxnLst>
                <a:rect l="0" t="0" r="r" b="b"/>
                <a:pathLst>
                  <a:path w="2529" h="2480">
                    <a:moveTo>
                      <a:pt x="71" y="0"/>
                    </a:moveTo>
                    <a:lnTo>
                      <a:pt x="36" y="37"/>
                    </a:lnTo>
                    <a:lnTo>
                      <a:pt x="0" y="73"/>
                    </a:lnTo>
                    <a:lnTo>
                      <a:pt x="2458" y="2480"/>
                    </a:lnTo>
                    <a:lnTo>
                      <a:pt x="2493" y="2444"/>
                    </a:lnTo>
                    <a:lnTo>
                      <a:pt x="2529" y="2407"/>
                    </a:lnTo>
                    <a:lnTo>
                      <a:pt x="71"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3" name="未知"/>
              <p:cNvSpPr>
                <a:spLocks noChangeAspect="1"/>
              </p:cNvSpPr>
              <p:nvPr/>
            </p:nvSpPr>
            <p:spPr bwMode="auto">
              <a:xfrm>
                <a:off x="1062" y="893"/>
                <a:ext cx="16" cy="13"/>
              </a:xfrm>
              <a:custGeom>
                <a:avLst/>
                <a:gdLst>
                  <a:gd name="T0" fmla="*/ 35 w 86"/>
                  <a:gd name="T1" fmla="*/ 37 h 87"/>
                  <a:gd name="T2" fmla="*/ 71 w 86"/>
                  <a:gd name="T3" fmla="*/ 0 h 87"/>
                  <a:gd name="T4" fmla="*/ 78 w 86"/>
                  <a:gd name="T5" fmla="*/ 9 h 87"/>
                  <a:gd name="T6" fmla="*/ 83 w 86"/>
                  <a:gd name="T7" fmla="*/ 20 h 87"/>
                  <a:gd name="T8" fmla="*/ 86 w 86"/>
                  <a:gd name="T9" fmla="*/ 31 h 87"/>
                  <a:gd name="T10" fmla="*/ 86 w 86"/>
                  <a:gd name="T11" fmla="*/ 42 h 87"/>
                  <a:gd name="T12" fmla="*/ 84 w 86"/>
                  <a:gd name="T13" fmla="*/ 53 h 87"/>
                  <a:gd name="T14" fmla="*/ 79 w 86"/>
                  <a:gd name="T15" fmla="*/ 63 h 87"/>
                  <a:gd name="T16" fmla="*/ 72 w 86"/>
                  <a:gd name="T17" fmla="*/ 72 h 87"/>
                  <a:gd name="T18" fmla="*/ 63 w 86"/>
                  <a:gd name="T19" fmla="*/ 79 h 87"/>
                  <a:gd name="T20" fmla="*/ 52 w 86"/>
                  <a:gd name="T21" fmla="*/ 84 h 87"/>
                  <a:gd name="T22" fmla="*/ 41 w 86"/>
                  <a:gd name="T23" fmla="*/ 87 h 87"/>
                  <a:gd name="T24" fmla="*/ 30 w 86"/>
                  <a:gd name="T25" fmla="*/ 87 h 87"/>
                  <a:gd name="T26" fmla="*/ 19 w 86"/>
                  <a:gd name="T27" fmla="*/ 85 h 87"/>
                  <a:gd name="T28" fmla="*/ 9 w 86"/>
                  <a:gd name="T29" fmla="*/ 80 h 87"/>
                  <a:gd name="T30" fmla="*/ 0 w 86"/>
                  <a:gd name="T31" fmla="*/ 73 h 87"/>
                  <a:gd name="T32" fmla="*/ 35 w 86"/>
                  <a:gd name="T33"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6" h="87">
                    <a:moveTo>
                      <a:pt x="35" y="37"/>
                    </a:moveTo>
                    <a:lnTo>
                      <a:pt x="71" y="0"/>
                    </a:lnTo>
                    <a:lnTo>
                      <a:pt x="78" y="9"/>
                    </a:lnTo>
                    <a:lnTo>
                      <a:pt x="83" y="20"/>
                    </a:lnTo>
                    <a:lnTo>
                      <a:pt x="86" y="31"/>
                    </a:lnTo>
                    <a:lnTo>
                      <a:pt x="86" y="42"/>
                    </a:lnTo>
                    <a:lnTo>
                      <a:pt x="84" y="53"/>
                    </a:lnTo>
                    <a:lnTo>
                      <a:pt x="79" y="63"/>
                    </a:lnTo>
                    <a:lnTo>
                      <a:pt x="72" y="72"/>
                    </a:lnTo>
                    <a:lnTo>
                      <a:pt x="63" y="79"/>
                    </a:lnTo>
                    <a:lnTo>
                      <a:pt x="52" y="84"/>
                    </a:lnTo>
                    <a:lnTo>
                      <a:pt x="41" y="87"/>
                    </a:lnTo>
                    <a:lnTo>
                      <a:pt x="30" y="87"/>
                    </a:lnTo>
                    <a:lnTo>
                      <a:pt x="19" y="85"/>
                    </a:lnTo>
                    <a:lnTo>
                      <a:pt x="9" y="80"/>
                    </a:lnTo>
                    <a:lnTo>
                      <a:pt x="0" y="73"/>
                    </a:lnTo>
                    <a:lnTo>
                      <a:pt x="35"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4" name="未知"/>
              <p:cNvSpPr>
                <a:spLocks noChangeAspect="1"/>
              </p:cNvSpPr>
              <p:nvPr/>
            </p:nvSpPr>
            <p:spPr bwMode="auto">
              <a:xfrm>
                <a:off x="1062" y="893"/>
                <a:ext cx="16" cy="13"/>
              </a:xfrm>
              <a:custGeom>
                <a:avLst/>
                <a:gdLst>
                  <a:gd name="T0" fmla="*/ 71 w 86"/>
                  <a:gd name="T1" fmla="*/ 0 h 87"/>
                  <a:gd name="T2" fmla="*/ 78 w 86"/>
                  <a:gd name="T3" fmla="*/ 9 h 87"/>
                  <a:gd name="T4" fmla="*/ 83 w 86"/>
                  <a:gd name="T5" fmla="*/ 20 h 87"/>
                  <a:gd name="T6" fmla="*/ 86 w 86"/>
                  <a:gd name="T7" fmla="*/ 31 h 87"/>
                  <a:gd name="T8" fmla="*/ 86 w 86"/>
                  <a:gd name="T9" fmla="*/ 42 h 87"/>
                  <a:gd name="T10" fmla="*/ 84 w 86"/>
                  <a:gd name="T11" fmla="*/ 53 h 87"/>
                  <a:gd name="T12" fmla="*/ 79 w 86"/>
                  <a:gd name="T13" fmla="*/ 63 h 87"/>
                  <a:gd name="T14" fmla="*/ 72 w 86"/>
                  <a:gd name="T15" fmla="*/ 72 h 87"/>
                  <a:gd name="T16" fmla="*/ 63 w 86"/>
                  <a:gd name="T17" fmla="*/ 79 h 87"/>
                  <a:gd name="T18" fmla="*/ 52 w 86"/>
                  <a:gd name="T19" fmla="*/ 84 h 87"/>
                  <a:gd name="T20" fmla="*/ 41 w 86"/>
                  <a:gd name="T21" fmla="*/ 87 h 87"/>
                  <a:gd name="T22" fmla="*/ 30 w 86"/>
                  <a:gd name="T23" fmla="*/ 87 h 87"/>
                  <a:gd name="T24" fmla="*/ 19 w 86"/>
                  <a:gd name="T25" fmla="*/ 85 h 87"/>
                  <a:gd name="T26" fmla="*/ 9 w 86"/>
                  <a:gd name="T27" fmla="*/ 80 h 87"/>
                  <a:gd name="T28" fmla="*/ 0 w 86"/>
                  <a:gd name="T29" fmla="*/ 73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6" h="87">
                    <a:moveTo>
                      <a:pt x="71" y="0"/>
                    </a:moveTo>
                    <a:lnTo>
                      <a:pt x="78" y="9"/>
                    </a:lnTo>
                    <a:lnTo>
                      <a:pt x="83" y="20"/>
                    </a:lnTo>
                    <a:lnTo>
                      <a:pt x="86" y="31"/>
                    </a:lnTo>
                    <a:lnTo>
                      <a:pt x="86" y="42"/>
                    </a:lnTo>
                    <a:lnTo>
                      <a:pt x="84" y="53"/>
                    </a:lnTo>
                    <a:lnTo>
                      <a:pt x="79" y="63"/>
                    </a:lnTo>
                    <a:lnTo>
                      <a:pt x="72" y="72"/>
                    </a:lnTo>
                    <a:lnTo>
                      <a:pt x="63" y="79"/>
                    </a:lnTo>
                    <a:lnTo>
                      <a:pt x="52" y="84"/>
                    </a:lnTo>
                    <a:lnTo>
                      <a:pt x="41" y="87"/>
                    </a:lnTo>
                    <a:lnTo>
                      <a:pt x="30" y="87"/>
                    </a:lnTo>
                    <a:lnTo>
                      <a:pt x="19" y="85"/>
                    </a:lnTo>
                    <a:lnTo>
                      <a:pt x="9" y="80"/>
                    </a:lnTo>
                    <a:lnTo>
                      <a:pt x="0" y="73"/>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5" name="未知"/>
              <p:cNvSpPr>
                <a:spLocks noChangeAspect="1"/>
              </p:cNvSpPr>
              <p:nvPr/>
            </p:nvSpPr>
            <p:spPr bwMode="auto">
              <a:xfrm>
                <a:off x="612" y="1505"/>
                <a:ext cx="16" cy="13"/>
              </a:xfrm>
              <a:custGeom>
                <a:avLst/>
                <a:gdLst>
                  <a:gd name="T0" fmla="*/ 51 w 86"/>
                  <a:gd name="T1" fmla="*/ 51 h 87"/>
                  <a:gd name="T2" fmla="*/ 15 w 86"/>
                  <a:gd name="T3" fmla="*/ 87 h 87"/>
                  <a:gd name="T4" fmla="*/ 8 w 86"/>
                  <a:gd name="T5" fmla="*/ 78 h 87"/>
                  <a:gd name="T6" fmla="*/ 3 w 86"/>
                  <a:gd name="T7" fmla="*/ 68 h 87"/>
                  <a:gd name="T8" fmla="*/ 0 w 86"/>
                  <a:gd name="T9" fmla="*/ 57 h 87"/>
                  <a:gd name="T10" fmla="*/ 0 w 86"/>
                  <a:gd name="T11" fmla="*/ 46 h 87"/>
                  <a:gd name="T12" fmla="*/ 2 w 86"/>
                  <a:gd name="T13" fmla="*/ 34 h 87"/>
                  <a:gd name="T14" fmla="*/ 7 w 86"/>
                  <a:gd name="T15" fmla="*/ 24 h 87"/>
                  <a:gd name="T16" fmla="*/ 14 w 86"/>
                  <a:gd name="T17" fmla="*/ 15 h 87"/>
                  <a:gd name="T18" fmla="*/ 23 w 86"/>
                  <a:gd name="T19" fmla="*/ 8 h 87"/>
                  <a:gd name="T20" fmla="*/ 33 w 86"/>
                  <a:gd name="T21" fmla="*/ 3 h 87"/>
                  <a:gd name="T22" fmla="*/ 44 w 86"/>
                  <a:gd name="T23" fmla="*/ 0 h 87"/>
                  <a:gd name="T24" fmla="*/ 56 w 86"/>
                  <a:gd name="T25" fmla="*/ 0 h 87"/>
                  <a:gd name="T26" fmla="*/ 67 w 86"/>
                  <a:gd name="T27" fmla="*/ 2 h 87"/>
                  <a:gd name="T28" fmla="*/ 77 w 86"/>
                  <a:gd name="T29" fmla="*/ 7 h 87"/>
                  <a:gd name="T30" fmla="*/ 86 w 86"/>
                  <a:gd name="T31" fmla="*/ 14 h 87"/>
                  <a:gd name="T32" fmla="*/ 51 w 86"/>
                  <a:gd name="T33" fmla="*/ 5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6" h="87">
                    <a:moveTo>
                      <a:pt x="51" y="51"/>
                    </a:moveTo>
                    <a:lnTo>
                      <a:pt x="15" y="87"/>
                    </a:lnTo>
                    <a:lnTo>
                      <a:pt x="8" y="78"/>
                    </a:lnTo>
                    <a:lnTo>
                      <a:pt x="3" y="68"/>
                    </a:lnTo>
                    <a:lnTo>
                      <a:pt x="0" y="57"/>
                    </a:lnTo>
                    <a:lnTo>
                      <a:pt x="0" y="46"/>
                    </a:lnTo>
                    <a:lnTo>
                      <a:pt x="2" y="34"/>
                    </a:lnTo>
                    <a:lnTo>
                      <a:pt x="7" y="24"/>
                    </a:lnTo>
                    <a:lnTo>
                      <a:pt x="14" y="15"/>
                    </a:lnTo>
                    <a:lnTo>
                      <a:pt x="23" y="8"/>
                    </a:lnTo>
                    <a:lnTo>
                      <a:pt x="33" y="3"/>
                    </a:lnTo>
                    <a:lnTo>
                      <a:pt x="44" y="0"/>
                    </a:lnTo>
                    <a:lnTo>
                      <a:pt x="56" y="0"/>
                    </a:lnTo>
                    <a:lnTo>
                      <a:pt x="67" y="2"/>
                    </a:lnTo>
                    <a:lnTo>
                      <a:pt x="77" y="7"/>
                    </a:lnTo>
                    <a:lnTo>
                      <a:pt x="86" y="14"/>
                    </a:lnTo>
                    <a:lnTo>
                      <a:pt x="51" y="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6" name="未知"/>
              <p:cNvSpPr>
                <a:spLocks noChangeAspect="1"/>
              </p:cNvSpPr>
              <p:nvPr/>
            </p:nvSpPr>
            <p:spPr bwMode="auto">
              <a:xfrm>
                <a:off x="612" y="1505"/>
                <a:ext cx="16" cy="13"/>
              </a:xfrm>
              <a:custGeom>
                <a:avLst/>
                <a:gdLst>
                  <a:gd name="T0" fmla="*/ 15 w 86"/>
                  <a:gd name="T1" fmla="*/ 87 h 87"/>
                  <a:gd name="T2" fmla="*/ 8 w 86"/>
                  <a:gd name="T3" fmla="*/ 78 h 87"/>
                  <a:gd name="T4" fmla="*/ 3 w 86"/>
                  <a:gd name="T5" fmla="*/ 68 h 87"/>
                  <a:gd name="T6" fmla="*/ 0 w 86"/>
                  <a:gd name="T7" fmla="*/ 57 h 87"/>
                  <a:gd name="T8" fmla="*/ 0 w 86"/>
                  <a:gd name="T9" fmla="*/ 46 h 87"/>
                  <a:gd name="T10" fmla="*/ 2 w 86"/>
                  <a:gd name="T11" fmla="*/ 34 h 87"/>
                  <a:gd name="T12" fmla="*/ 7 w 86"/>
                  <a:gd name="T13" fmla="*/ 24 h 87"/>
                  <a:gd name="T14" fmla="*/ 14 w 86"/>
                  <a:gd name="T15" fmla="*/ 15 h 87"/>
                  <a:gd name="T16" fmla="*/ 23 w 86"/>
                  <a:gd name="T17" fmla="*/ 8 h 87"/>
                  <a:gd name="T18" fmla="*/ 33 w 86"/>
                  <a:gd name="T19" fmla="*/ 3 h 87"/>
                  <a:gd name="T20" fmla="*/ 44 w 86"/>
                  <a:gd name="T21" fmla="*/ 0 h 87"/>
                  <a:gd name="T22" fmla="*/ 56 w 86"/>
                  <a:gd name="T23" fmla="*/ 0 h 87"/>
                  <a:gd name="T24" fmla="*/ 67 w 86"/>
                  <a:gd name="T25" fmla="*/ 2 h 87"/>
                  <a:gd name="T26" fmla="*/ 77 w 86"/>
                  <a:gd name="T27" fmla="*/ 7 h 87"/>
                  <a:gd name="T28" fmla="*/ 86 w 86"/>
                  <a:gd name="T29" fmla="*/ 14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6" h="87">
                    <a:moveTo>
                      <a:pt x="15" y="87"/>
                    </a:moveTo>
                    <a:lnTo>
                      <a:pt x="8" y="78"/>
                    </a:lnTo>
                    <a:lnTo>
                      <a:pt x="3" y="68"/>
                    </a:lnTo>
                    <a:lnTo>
                      <a:pt x="0" y="57"/>
                    </a:lnTo>
                    <a:lnTo>
                      <a:pt x="0" y="46"/>
                    </a:lnTo>
                    <a:lnTo>
                      <a:pt x="2" y="34"/>
                    </a:lnTo>
                    <a:lnTo>
                      <a:pt x="7" y="24"/>
                    </a:lnTo>
                    <a:lnTo>
                      <a:pt x="14" y="15"/>
                    </a:lnTo>
                    <a:lnTo>
                      <a:pt x="23" y="8"/>
                    </a:lnTo>
                    <a:lnTo>
                      <a:pt x="33" y="3"/>
                    </a:lnTo>
                    <a:lnTo>
                      <a:pt x="44" y="0"/>
                    </a:lnTo>
                    <a:lnTo>
                      <a:pt x="56" y="0"/>
                    </a:lnTo>
                    <a:lnTo>
                      <a:pt x="67" y="2"/>
                    </a:lnTo>
                    <a:lnTo>
                      <a:pt x="77" y="7"/>
                    </a:lnTo>
                    <a:lnTo>
                      <a:pt x="86" y="14"/>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7" name="未知"/>
              <p:cNvSpPr>
                <a:spLocks noChangeAspect="1"/>
              </p:cNvSpPr>
              <p:nvPr/>
            </p:nvSpPr>
            <p:spPr bwMode="auto">
              <a:xfrm>
                <a:off x="615" y="1507"/>
                <a:ext cx="461" cy="375"/>
              </a:xfrm>
              <a:custGeom>
                <a:avLst/>
                <a:gdLst>
                  <a:gd name="T0" fmla="*/ 71 w 2529"/>
                  <a:gd name="T1" fmla="*/ 0 h 2479"/>
                  <a:gd name="T2" fmla="*/ 36 w 2529"/>
                  <a:gd name="T3" fmla="*/ 37 h 2479"/>
                  <a:gd name="T4" fmla="*/ 0 w 2529"/>
                  <a:gd name="T5" fmla="*/ 73 h 2479"/>
                  <a:gd name="T6" fmla="*/ 2458 w 2529"/>
                  <a:gd name="T7" fmla="*/ 2479 h 2479"/>
                  <a:gd name="T8" fmla="*/ 2493 w 2529"/>
                  <a:gd name="T9" fmla="*/ 2443 h 2479"/>
                  <a:gd name="T10" fmla="*/ 2529 w 2529"/>
                  <a:gd name="T11" fmla="*/ 2406 h 2479"/>
                  <a:gd name="T12" fmla="*/ 71 w 2529"/>
                  <a:gd name="T13" fmla="*/ 0 h 2479"/>
                </a:gdLst>
                <a:ahLst/>
                <a:cxnLst>
                  <a:cxn ang="0">
                    <a:pos x="T0" y="T1"/>
                  </a:cxn>
                  <a:cxn ang="0">
                    <a:pos x="T2" y="T3"/>
                  </a:cxn>
                  <a:cxn ang="0">
                    <a:pos x="T4" y="T5"/>
                  </a:cxn>
                  <a:cxn ang="0">
                    <a:pos x="T6" y="T7"/>
                  </a:cxn>
                  <a:cxn ang="0">
                    <a:pos x="T8" y="T9"/>
                  </a:cxn>
                  <a:cxn ang="0">
                    <a:pos x="T10" y="T11"/>
                  </a:cxn>
                  <a:cxn ang="0">
                    <a:pos x="T12" y="T13"/>
                  </a:cxn>
                </a:cxnLst>
                <a:rect l="0" t="0" r="r" b="b"/>
                <a:pathLst>
                  <a:path w="2529" h="2479">
                    <a:moveTo>
                      <a:pt x="71" y="0"/>
                    </a:moveTo>
                    <a:lnTo>
                      <a:pt x="36" y="37"/>
                    </a:lnTo>
                    <a:lnTo>
                      <a:pt x="0" y="73"/>
                    </a:lnTo>
                    <a:lnTo>
                      <a:pt x="2458" y="2479"/>
                    </a:lnTo>
                    <a:lnTo>
                      <a:pt x="2493" y="2443"/>
                    </a:lnTo>
                    <a:lnTo>
                      <a:pt x="2529" y="2406"/>
                    </a:lnTo>
                    <a:lnTo>
                      <a:pt x="7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 name="未知"/>
              <p:cNvSpPr>
                <a:spLocks noChangeAspect="1"/>
              </p:cNvSpPr>
              <p:nvPr/>
            </p:nvSpPr>
            <p:spPr bwMode="auto">
              <a:xfrm>
                <a:off x="615" y="1507"/>
                <a:ext cx="461" cy="375"/>
              </a:xfrm>
              <a:custGeom>
                <a:avLst/>
                <a:gdLst>
                  <a:gd name="T0" fmla="*/ 71 w 2529"/>
                  <a:gd name="T1" fmla="*/ 0 h 2479"/>
                  <a:gd name="T2" fmla="*/ 36 w 2529"/>
                  <a:gd name="T3" fmla="*/ 37 h 2479"/>
                  <a:gd name="T4" fmla="*/ 0 w 2529"/>
                  <a:gd name="T5" fmla="*/ 73 h 2479"/>
                  <a:gd name="T6" fmla="*/ 2458 w 2529"/>
                  <a:gd name="T7" fmla="*/ 2479 h 2479"/>
                  <a:gd name="T8" fmla="*/ 2493 w 2529"/>
                  <a:gd name="T9" fmla="*/ 2443 h 2479"/>
                  <a:gd name="T10" fmla="*/ 2529 w 2529"/>
                  <a:gd name="T11" fmla="*/ 2406 h 2479"/>
                  <a:gd name="T12" fmla="*/ 71 w 2529"/>
                  <a:gd name="T13" fmla="*/ 0 h 2479"/>
                </a:gdLst>
                <a:ahLst/>
                <a:cxnLst>
                  <a:cxn ang="0">
                    <a:pos x="T0" y="T1"/>
                  </a:cxn>
                  <a:cxn ang="0">
                    <a:pos x="T2" y="T3"/>
                  </a:cxn>
                  <a:cxn ang="0">
                    <a:pos x="T4" y="T5"/>
                  </a:cxn>
                  <a:cxn ang="0">
                    <a:pos x="T6" y="T7"/>
                  </a:cxn>
                  <a:cxn ang="0">
                    <a:pos x="T8" y="T9"/>
                  </a:cxn>
                  <a:cxn ang="0">
                    <a:pos x="T10" y="T11"/>
                  </a:cxn>
                  <a:cxn ang="0">
                    <a:pos x="T12" y="T13"/>
                  </a:cxn>
                </a:cxnLst>
                <a:rect l="0" t="0" r="r" b="b"/>
                <a:pathLst>
                  <a:path w="2529" h="2479">
                    <a:moveTo>
                      <a:pt x="71" y="0"/>
                    </a:moveTo>
                    <a:lnTo>
                      <a:pt x="36" y="37"/>
                    </a:lnTo>
                    <a:lnTo>
                      <a:pt x="0" y="73"/>
                    </a:lnTo>
                    <a:lnTo>
                      <a:pt x="2458" y="2479"/>
                    </a:lnTo>
                    <a:lnTo>
                      <a:pt x="2493" y="2443"/>
                    </a:lnTo>
                    <a:lnTo>
                      <a:pt x="2529" y="2406"/>
                    </a:lnTo>
                    <a:lnTo>
                      <a:pt x="71"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9" name="未知"/>
              <p:cNvSpPr>
                <a:spLocks noChangeAspect="1"/>
              </p:cNvSpPr>
              <p:nvPr/>
            </p:nvSpPr>
            <p:spPr bwMode="auto">
              <a:xfrm>
                <a:off x="1062" y="1872"/>
                <a:ext cx="16" cy="12"/>
              </a:xfrm>
              <a:custGeom>
                <a:avLst/>
                <a:gdLst>
                  <a:gd name="T0" fmla="*/ 35 w 86"/>
                  <a:gd name="T1" fmla="*/ 37 h 87"/>
                  <a:gd name="T2" fmla="*/ 71 w 86"/>
                  <a:gd name="T3" fmla="*/ 0 h 87"/>
                  <a:gd name="T4" fmla="*/ 78 w 86"/>
                  <a:gd name="T5" fmla="*/ 9 h 87"/>
                  <a:gd name="T6" fmla="*/ 83 w 86"/>
                  <a:gd name="T7" fmla="*/ 19 h 87"/>
                  <a:gd name="T8" fmla="*/ 86 w 86"/>
                  <a:gd name="T9" fmla="*/ 31 h 87"/>
                  <a:gd name="T10" fmla="*/ 86 w 86"/>
                  <a:gd name="T11" fmla="*/ 42 h 87"/>
                  <a:gd name="T12" fmla="*/ 84 w 86"/>
                  <a:gd name="T13" fmla="*/ 53 h 87"/>
                  <a:gd name="T14" fmla="*/ 79 w 86"/>
                  <a:gd name="T15" fmla="*/ 63 h 87"/>
                  <a:gd name="T16" fmla="*/ 72 w 86"/>
                  <a:gd name="T17" fmla="*/ 72 h 87"/>
                  <a:gd name="T18" fmla="*/ 63 w 86"/>
                  <a:gd name="T19" fmla="*/ 79 h 87"/>
                  <a:gd name="T20" fmla="*/ 52 w 86"/>
                  <a:gd name="T21" fmla="*/ 84 h 87"/>
                  <a:gd name="T22" fmla="*/ 41 w 86"/>
                  <a:gd name="T23" fmla="*/ 87 h 87"/>
                  <a:gd name="T24" fmla="*/ 30 w 86"/>
                  <a:gd name="T25" fmla="*/ 87 h 87"/>
                  <a:gd name="T26" fmla="*/ 19 w 86"/>
                  <a:gd name="T27" fmla="*/ 85 h 87"/>
                  <a:gd name="T28" fmla="*/ 9 w 86"/>
                  <a:gd name="T29" fmla="*/ 80 h 87"/>
                  <a:gd name="T30" fmla="*/ 0 w 86"/>
                  <a:gd name="T31" fmla="*/ 73 h 87"/>
                  <a:gd name="T32" fmla="*/ 35 w 86"/>
                  <a:gd name="T33"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6" h="87">
                    <a:moveTo>
                      <a:pt x="35" y="37"/>
                    </a:moveTo>
                    <a:lnTo>
                      <a:pt x="71" y="0"/>
                    </a:lnTo>
                    <a:lnTo>
                      <a:pt x="78" y="9"/>
                    </a:lnTo>
                    <a:lnTo>
                      <a:pt x="83" y="19"/>
                    </a:lnTo>
                    <a:lnTo>
                      <a:pt x="86" y="31"/>
                    </a:lnTo>
                    <a:lnTo>
                      <a:pt x="86" y="42"/>
                    </a:lnTo>
                    <a:lnTo>
                      <a:pt x="84" y="53"/>
                    </a:lnTo>
                    <a:lnTo>
                      <a:pt x="79" y="63"/>
                    </a:lnTo>
                    <a:lnTo>
                      <a:pt x="72" y="72"/>
                    </a:lnTo>
                    <a:lnTo>
                      <a:pt x="63" y="79"/>
                    </a:lnTo>
                    <a:lnTo>
                      <a:pt x="52" y="84"/>
                    </a:lnTo>
                    <a:lnTo>
                      <a:pt x="41" y="87"/>
                    </a:lnTo>
                    <a:lnTo>
                      <a:pt x="30" y="87"/>
                    </a:lnTo>
                    <a:lnTo>
                      <a:pt x="19" y="85"/>
                    </a:lnTo>
                    <a:lnTo>
                      <a:pt x="9" y="80"/>
                    </a:lnTo>
                    <a:lnTo>
                      <a:pt x="0" y="73"/>
                    </a:lnTo>
                    <a:lnTo>
                      <a:pt x="35"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0" name="未知"/>
              <p:cNvSpPr>
                <a:spLocks noChangeAspect="1"/>
              </p:cNvSpPr>
              <p:nvPr/>
            </p:nvSpPr>
            <p:spPr bwMode="auto">
              <a:xfrm>
                <a:off x="1062" y="1872"/>
                <a:ext cx="16" cy="12"/>
              </a:xfrm>
              <a:custGeom>
                <a:avLst/>
                <a:gdLst>
                  <a:gd name="T0" fmla="*/ 71 w 86"/>
                  <a:gd name="T1" fmla="*/ 0 h 87"/>
                  <a:gd name="T2" fmla="*/ 78 w 86"/>
                  <a:gd name="T3" fmla="*/ 9 h 87"/>
                  <a:gd name="T4" fmla="*/ 83 w 86"/>
                  <a:gd name="T5" fmla="*/ 19 h 87"/>
                  <a:gd name="T6" fmla="*/ 86 w 86"/>
                  <a:gd name="T7" fmla="*/ 31 h 87"/>
                  <a:gd name="T8" fmla="*/ 86 w 86"/>
                  <a:gd name="T9" fmla="*/ 42 h 87"/>
                  <a:gd name="T10" fmla="*/ 84 w 86"/>
                  <a:gd name="T11" fmla="*/ 53 h 87"/>
                  <a:gd name="T12" fmla="*/ 79 w 86"/>
                  <a:gd name="T13" fmla="*/ 63 h 87"/>
                  <a:gd name="T14" fmla="*/ 72 w 86"/>
                  <a:gd name="T15" fmla="*/ 72 h 87"/>
                  <a:gd name="T16" fmla="*/ 63 w 86"/>
                  <a:gd name="T17" fmla="*/ 79 h 87"/>
                  <a:gd name="T18" fmla="*/ 52 w 86"/>
                  <a:gd name="T19" fmla="*/ 84 h 87"/>
                  <a:gd name="T20" fmla="*/ 41 w 86"/>
                  <a:gd name="T21" fmla="*/ 87 h 87"/>
                  <a:gd name="T22" fmla="*/ 30 w 86"/>
                  <a:gd name="T23" fmla="*/ 87 h 87"/>
                  <a:gd name="T24" fmla="*/ 19 w 86"/>
                  <a:gd name="T25" fmla="*/ 85 h 87"/>
                  <a:gd name="T26" fmla="*/ 9 w 86"/>
                  <a:gd name="T27" fmla="*/ 80 h 87"/>
                  <a:gd name="T28" fmla="*/ 0 w 86"/>
                  <a:gd name="T29" fmla="*/ 73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6" h="87">
                    <a:moveTo>
                      <a:pt x="71" y="0"/>
                    </a:moveTo>
                    <a:lnTo>
                      <a:pt x="78" y="9"/>
                    </a:lnTo>
                    <a:lnTo>
                      <a:pt x="83" y="19"/>
                    </a:lnTo>
                    <a:lnTo>
                      <a:pt x="86" y="31"/>
                    </a:lnTo>
                    <a:lnTo>
                      <a:pt x="86" y="42"/>
                    </a:lnTo>
                    <a:lnTo>
                      <a:pt x="84" y="53"/>
                    </a:lnTo>
                    <a:lnTo>
                      <a:pt x="79" y="63"/>
                    </a:lnTo>
                    <a:lnTo>
                      <a:pt x="72" y="72"/>
                    </a:lnTo>
                    <a:lnTo>
                      <a:pt x="63" y="79"/>
                    </a:lnTo>
                    <a:lnTo>
                      <a:pt x="52" y="84"/>
                    </a:lnTo>
                    <a:lnTo>
                      <a:pt x="41" y="87"/>
                    </a:lnTo>
                    <a:lnTo>
                      <a:pt x="30" y="87"/>
                    </a:lnTo>
                    <a:lnTo>
                      <a:pt x="19" y="85"/>
                    </a:lnTo>
                    <a:lnTo>
                      <a:pt x="9" y="80"/>
                    </a:lnTo>
                    <a:lnTo>
                      <a:pt x="0" y="73"/>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1" name="未知"/>
              <p:cNvSpPr>
                <a:spLocks noChangeAspect="1"/>
              </p:cNvSpPr>
              <p:nvPr/>
            </p:nvSpPr>
            <p:spPr bwMode="auto">
              <a:xfrm>
                <a:off x="622" y="526"/>
                <a:ext cx="9" cy="15"/>
              </a:xfrm>
              <a:custGeom>
                <a:avLst/>
                <a:gdLst>
                  <a:gd name="T0" fmla="*/ 0 w 51"/>
                  <a:gd name="T1" fmla="*/ 52 h 102"/>
                  <a:gd name="T2" fmla="*/ 0 w 51"/>
                  <a:gd name="T3" fmla="*/ 0 h 102"/>
                  <a:gd name="T4" fmla="*/ 11 w 51"/>
                  <a:gd name="T5" fmla="*/ 2 h 102"/>
                  <a:gd name="T6" fmla="*/ 22 w 51"/>
                  <a:gd name="T7" fmla="*/ 6 h 102"/>
                  <a:gd name="T8" fmla="*/ 31 w 51"/>
                  <a:gd name="T9" fmla="*/ 12 h 102"/>
                  <a:gd name="T10" fmla="*/ 39 w 51"/>
                  <a:gd name="T11" fmla="*/ 20 h 102"/>
                  <a:gd name="T12" fmla="*/ 45 w 51"/>
                  <a:gd name="T13" fmla="*/ 29 h 102"/>
                  <a:gd name="T14" fmla="*/ 49 w 51"/>
                  <a:gd name="T15" fmla="*/ 41 h 102"/>
                  <a:gd name="T16" fmla="*/ 51 w 51"/>
                  <a:gd name="T17" fmla="*/ 52 h 102"/>
                  <a:gd name="T18" fmla="*/ 49 w 51"/>
                  <a:gd name="T19" fmla="*/ 63 h 102"/>
                  <a:gd name="T20" fmla="*/ 45 w 51"/>
                  <a:gd name="T21" fmla="*/ 74 h 102"/>
                  <a:gd name="T22" fmla="*/ 39 w 51"/>
                  <a:gd name="T23" fmla="*/ 83 h 102"/>
                  <a:gd name="T24" fmla="*/ 31 w 51"/>
                  <a:gd name="T25" fmla="*/ 91 h 102"/>
                  <a:gd name="T26" fmla="*/ 22 w 51"/>
                  <a:gd name="T27" fmla="*/ 97 h 102"/>
                  <a:gd name="T28" fmla="*/ 11 w 51"/>
                  <a:gd name="T29" fmla="*/ 101 h 102"/>
                  <a:gd name="T30" fmla="*/ 0 w 51"/>
                  <a:gd name="T31" fmla="*/ 102 h 102"/>
                  <a:gd name="T32" fmla="*/ 0 w 51"/>
                  <a:gd name="T33" fmla="*/ 5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1" h="102">
                    <a:moveTo>
                      <a:pt x="0" y="52"/>
                    </a:moveTo>
                    <a:lnTo>
                      <a:pt x="0" y="0"/>
                    </a:lnTo>
                    <a:lnTo>
                      <a:pt x="11" y="2"/>
                    </a:lnTo>
                    <a:lnTo>
                      <a:pt x="22" y="6"/>
                    </a:lnTo>
                    <a:lnTo>
                      <a:pt x="31" y="12"/>
                    </a:lnTo>
                    <a:lnTo>
                      <a:pt x="39" y="20"/>
                    </a:lnTo>
                    <a:lnTo>
                      <a:pt x="45" y="29"/>
                    </a:lnTo>
                    <a:lnTo>
                      <a:pt x="49" y="41"/>
                    </a:lnTo>
                    <a:lnTo>
                      <a:pt x="51" y="52"/>
                    </a:lnTo>
                    <a:lnTo>
                      <a:pt x="49" y="63"/>
                    </a:lnTo>
                    <a:lnTo>
                      <a:pt x="45" y="74"/>
                    </a:lnTo>
                    <a:lnTo>
                      <a:pt x="39" y="83"/>
                    </a:lnTo>
                    <a:lnTo>
                      <a:pt x="31" y="91"/>
                    </a:lnTo>
                    <a:lnTo>
                      <a:pt x="22" y="97"/>
                    </a:lnTo>
                    <a:lnTo>
                      <a:pt x="11" y="101"/>
                    </a:lnTo>
                    <a:lnTo>
                      <a:pt x="0" y="102"/>
                    </a:lnTo>
                    <a:lnTo>
                      <a:pt x="0"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2" name="未知"/>
              <p:cNvSpPr>
                <a:spLocks noChangeAspect="1"/>
              </p:cNvSpPr>
              <p:nvPr/>
            </p:nvSpPr>
            <p:spPr bwMode="auto">
              <a:xfrm>
                <a:off x="622" y="526"/>
                <a:ext cx="9" cy="15"/>
              </a:xfrm>
              <a:custGeom>
                <a:avLst/>
                <a:gdLst>
                  <a:gd name="T0" fmla="*/ 0 w 51"/>
                  <a:gd name="T1" fmla="*/ 0 h 102"/>
                  <a:gd name="T2" fmla="*/ 11 w 51"/>
                  <a:gd name="T3" fmla="*/ 2 h 102"/>
                  <a:gd name="T4" fmla="*/ 22 w 51"/>
                  <a:gd name="T5" fmla="*/ 6 h 102"/>
                  <a:gd name="T6" fmla="*/ 31 w 51"/>
                  <a:gd name="T7" fmla="*/ 12 h 102"/>
                  <a:gd name="T8" fmla="*/ 39 w 51"/>
                  <a:gd name="T9" fmla="*/ 20 h 102"/>
                  <a:gd name="T10" fmla="*/ 45 w 51"/>
                  <a:gd name="T11" fmla="*/ 29 h 102"/>
                  <a:gd name="T12" fmla="*/ 49 w 51"/>
                  <a:gd name="T13" fmla="*/ 41 h 102"/>
                  <a:gd name="T14" fmla="*/ 51 w 51"/>
                  <a:gd name="T15" fmla="*/ 52 h 102"/>
                  <a:gd name="T16" fmla="*/ 49 w 51"/>
                  <a:gd name="T17" fmla="*/ 63 h 102"/>
                  <a:gd name="T18" fmla="*/ 45 w 51"/>
                  <a:gd name="T19" fmla="*/ 74 h 102"/>
                  <a:gd name="T20" fmla="*/ 39 w 51"/>
                  <a:gd name="T21" fmla="*/ 83 h 102"/>
                  <a:gd name="T22" fmla="*/ 31 w 51"/>
                  <a:gd name="T23" fmla="*/ 91 h 102"/>
                  <a:gd name="T24" fmla="*/ 22 w 51"/>
                  <a:gd name="T25" fmla="*/ 97 h 102"/>
                  <a:gd name="T26" fmla="*/ 11 w 51"/>
                  <a:gd name="T27" fmla="*/ 101 h 102"/>
                  <a:gd name="T28" fmla="*/ 0 w 51"/>
                  <a:gd name="T2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1" h="102">
                    <a:moveTo>
                      <a:pt x="0" y="0"/>
                    </a:moveTo>
                    <a:lnTo>
                      <a:pt x="11" y="2"/>
                    </a:lnTo>
                    <a:lnTo>
                      <a:pt x="22" y="6"/>
                    </a:lnTo>
                    <a:lnTo>
                      <a:pt x="31" y="12"/>
                    </a:lnTo>
                    <a:lnTo>
                      <a:pt x="39" y="20"/>
                    </a:lnTo>
                    <a:lnTo>
                      <a:pt x="45" y="29"/>
                    </a:lnTo>
                    <a:lnTo>
                      <a:pt x="49" y="41"/>
                    </a:lnTo>
                    <a:lnTo>
                      <a:pt x="51" y="52"/>
                    </a:lnTo>
                    <a:lnTo>
                      <a:pt x="49" y="63"/>
                    </a:lnTo>
                    <a:lnTo>
                      <a:pt x="45" y="74"/>
                    </a:lnTo>
                    <a:lnTo>
                      <a:pt x="39" y="83"/>
                    </a:lnTo>
                    <a:lnTo>
                      <a:pt x="31" y="91"/>
                    </a:lnTo>
                    <a:lnTo>
                      <a:pt x="22" y="97"/>
                    </a:lnTo>
                    <a:lnTo>
                      <a:pt x="11" y="101"/>
                    </a:lnTo>
                    <a:lnTo>
                      <a:pt x="0" y="102"/>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3" name="未知"/>
              <p:cNvSpPr>
                <a:spLocks noChangeAspect="1"/>
              </p:cNvSpPr>
              <p:nvPr/>
            </p:nvSpPr>
            <p:spPr bwMode="auto">
              <a:xfrm>
                <a:off x="444" y="526"/>
                <a:ext cx="178" cy="15"/>
              </a:xfrm>
              <a:custGeom>
                <a:avLst/>
                <a:gdLst>
                  <a:gd name="T0" fmla="*/ 976 w 976"/>
                  <a:gd name="T1" fmla="*/ 102 h 102"/>
                  <a:gd name="T2" fmla="*/ 976 w 976"/>
                  <a:gd name="T3" fmla="*/ 52 h 102"/>
                  <a:gd name="T4" fmla="*/ 976 w 976"/>
                  <a:gd name="T5" fmla="*/ 0 h 102"/>
                  <a:gd name="T6" fmla="*/ 0 w 976"/>
                  <a:gd name="T7" fmla="*/ 0 h 102"/>
                  <a:gd name="T8" fmla="*/ 0 w 976"/>
                  <a:gd name="T9" fmla="*/ 52 h 102"/>
                  <a:gd name="T10" fmla="*/ 0 w 976"/>
                  <a:gd name="T11" fmla="*/ 102 h 102"/>
                  <a:gd name="T12" fmla="*/ 976 w 976"/>
                  <a:gd name="T13" fmla="*/ 102 h 102"/>
                </a:gdLst>
                <a:ahLst/>
                <a:cxnLst>
                  <a:cxn ang="0">
                    <a:pos x="T0" y="T1"/>
                  </a:cxn>
                  <a:cxn ang="0">
                    <a:pos x="T2" y="T3"/>
                  </a:cxn>
                  <a:cxn ang="0">
                    <a:pos x="T4" y="T5"/>
                  </a:cxn>
                  <a:cxn ang="0">
                    <a:pos x="T6" y="T7"/>
                  </a:cxn>
                  <a:cxn ang="0">
                    <a:pos x="T8" y="T9"/>
                  </a:cxn>
                  <a:cxn ang="0">
                    <a:pos x="T10" y="T11"/>
                  </a:cxn>
                  <a:cxn ang="0">
                    <a:pos x="T12" y="T13"/>
                  </a:cxn>
                </a:cxnLst>
                <a:rect l="0" t="0" r="r" b="b"/>
                <a:pathLst>
                  <a:path w="976" h="102">
                    <a:moveTo>
                      <a:pt x="976" y="102"/>
                    </a:moveTo>
                    <a:lnTo>
                      <a:pt x="976" y="52"/>
                    </a:lnTo>
                    <a:lnTo>
                      <a:pt x="976" y="0"/>
                    </a:lnTo>
                    <a:lnTo>
                      <a:pt x="0" y="0"/>
                    </a:lnTo>
                    <a:lnTo>
                      <a:pt x="0" y="52"/>
                    </a:lnTo>
                    <a:lnTo>
                      <a:pt x="0" y="102"/>
                    </a:lnTo>
                    <a:lnTo>
                      <a:pt x="976" y="1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4" name="未知"/>
              <p:cNvSpPr>
                <a:spLocks noChangeAspect="1"/>
              </p:cNvSpPr>
              <p:nvPr/>
            </p:nvSpPr>
            <p:spPr bwMode="auto">
              <a:xfrm>
                <a:off x="444" y="526"/>
                <a:ext cx="178" cy="15"/>
              </a:xfrm>
              <a:custGeom>
                <a:avLst/>
                <a:gdLst>
                  <a:gd name="T0" fmla="*/ 976 w 976"/>
                  <a:gd name="T1" fmla="*/ 102 h 102"/>
                  <a:gd name="T2" fmla="*/ 976 w 976"/>
                  <a:gd name="T3" fmla="*/ 52 h 102"/>
                  <a:gd name="T4" fmla="*/ 976 w 976"/>
                  <a:gd name="T5" fmla="*/ 0 h 102"/>
                  <a:gd name="T6" fmla="*/ 0 w 976"/>
                  <a:gd name="T7" fmla="*/ 0 h 102"/>
                  <a:gd name="T8" fmla="*/ 0 w 976"/>
                  <a:gd name="T9" fmla="*/ 52 h 102"/>
                  <a:gd name="T10" fmla="*/ 0 w 976"/>
                  <a:gd name="T11" fmla="*/ 102 h 102"/>
                  <a:gd name="T12" fmla="*/ 976 w 976"/>
                  <a:gd name="T13" fmla="*/ 102 h 102"/>
                </a:gdLst>
                <a:ahLst/>
                <a:cxnLst>
                  <a:cxn ang="0">
                    <a:pos x="T0" y="T1"/>
                  </a:cxn>
                  <a:cxn ang="0">
                    <a:pos x="T2" y="T3"/>
                  </a:cxn>
                  <a:cxn ang="0">
                    <a:pos x="T4" y="T5"/>
                  </a:cxn>
                  <a:cxn ang="0">
                    <a:pos x="T6" y="T7"/>
                  </a:cxn>
                  <a:cxn ang="0">
                    <a:pos x="T8" y="T9"/>
                  </a:cxn>
                  <a:cxn ang="0">
                    <a:pos x="T10" y="T11"/>
                  </a:cxn>
                  <a:cxn ang="0">
                    <a:pos x="T12" y="T13"/>
                  </a:cxn>
                </a:cxnLst>
                <a:rect l="0" t="0" r="r" b="b"/>
                <a:pathLst>
                  <a:path w="976" h="102">
                    <a:moveTo>
                      <a:pt x="976" y="102"/>
                    </a:moveTo>
                    <a:lnTo>
                      <a:pt x="976" y="52"/>
                    </a:lnTo>
                    <a:lnTo>
                      <a:pt x="976" y="0"/>
                    </a:lnTo>
                    <a:lnTo>
                      <a:pt x="0" y="0"/>
                    </a:lnTo>
                    <a:lnTo>
                      <a:pt x="0" y="52"/>
                    </a:lnTo>
                    <a:lnTo>
                      <a:pt x="0" y="102"/>
                    </a:lnTo>
                    <a:lnTo>
                      <a:pt x="976" y="102"/>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5" name="未知"/>
              <p:cNvSpPr>
                <a:spLocks noChangeAspect="1"/>
              </p:cNvSpPr>
              <p:nvPr/>
            </p:nvSpPr>
            <p:spPr bwMode="auto">
              <a:xfrm>
                <a:off x="435" y="526"/>
                <a:ext cx="9" cy="15"/>
              </a:xfrm>
              <a:custGeom>
                <a:avLst/>
                <a:gdLst>
                  <a:gd name="T0" fmla="*/ 51 w 51"/>
                  <a:gd name="T1" fmla="*/ 52 h 102"/>
                  <a:gd name="T2" fmla="*/ 51 w 51"/>
                  <a:gd name="T3" fmla="*/ 102 h 102"/>
                  <a:gd name="T4" fmla="*/ 40 w 51"/>
                  <a:gd name="T5" fmla="*/ 101 h 102"/>
                  <a:gd name="T6" fmla="*/ 28 w 51"/>
                  <a:gd name="T7" fmla="*/ 97 h 102"/>
                  <a:gd name="T8" fmla="*/ 19 w 51"/>
                  <a:gd name="T9" fmla="*/ 91 h 102"/>
                  <a:gd name="T10" fmla="*/ 11 w 51"/>
                  <a:gd name="T11" fmla="*/ 83 h 102"/>
                  <a:gd name="T12" fmla="*/ 5 w 51"/>
                  <a:gd name="T13" fmla="*/ 74 h 102"/>
                  <a:gd name="T14" fmla="*/ 1 w 51"/>
                  <a:gd name="T15" fmla="*/ 63 h 102"/>
                  <a:gd name="T16" fmla="*/ 0 w 51"/>
                  <a:gd name="T17" fmla="*/ 52 h 102"/>
                  <a:gd name="T18" fmla="*/ 1 w 51"/>
                  <a:gd name="T19" fmla="*/ 41 h 102"/>
                  <a:gd name="T20" fmla="*/ 5 w 51"/>
                  <a:gd name="T21" fmla="*/ 29 h 102"/>
                  <a:gd name="T22" fmla="*/ 11 w 51"/>
                  <a:gd name="T23" fmla="*/ 20 h 102"/>
                  <a:gd name="T24" fmla="*/ 19 w 51"/>
                  <a:gd name="T25" fmla="*/ 12 h 102"/>
                  <a:gd name="T26" fmla="*/ 28 w 51"/>
                  <a:gd name="T27" fmla="*/ 6 h 102"/>
                  <a:gd name="T28" fmla="*/ 40 w 51"/>
                  <a:gd name="T29" fmla="*/ 2 h 102"/>
                  <a:gd name="T30" fmla="*/ 51 w 51"/>
                  <a:gd name="T31" fmla="*/ 0 h 102"/>
                  <a:gd name="T32" fmla="*/ 51 w 51"/>
                  <a:gd name="T33" fmla="*/ 5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1" h="102">
                    <a:moveTo>
                      <a:pt x="51" y="52"/>
                    </a:moveTo>
                    <a:lnTo>
                      <a:pt x="51" y="102"/>
                    </a:lnTo>
                    <a:lnTo>
                      <a:pt x="40" y="101"/>
                    </a:lnTo>
                    <a:lnTo>
                      <a:pt x="28" y="97"/>
                    </a:lnTo>
                    <a:lnTo>
                      <a:pt x="19" y="91"/>
                    </a:lnTo>
                    <a:lnTo>
                      <a:pt x="11" y="83"/>
                    </a:lnTo>
                    <a:lnTo>
                      <a:pt x="5" y="74"/>
                    </a:lnTo>
                    <a:lnTo>
                      <a:pt x="1" y="63"/>
                    </a:lnTo>
                    <a:lnTo>
                      <a:pt x="0" y="52"/>
                    </a:lnTo>
                    <a:lnTo>
                      <a:pt x="1" y="41"/>
                    </a:lnTo>
                    <a:lnTo>
                      <a:pt x="5" y="29"/>
                    </a:lnTo>
                    <a:lnTo>
                      <a:pt x="11" y="20"/>
                    </a:lnTo>
                    <a:lnTo>
                      <a:pt x="19" y="12"/>
                    </a:lnTo>
                    <a:lnTo>
                      <a:pt x="28" y="6"/>
                    </a:lnTo>
                    <a:lnTo>
                      <a:pt x="40" y="2"/>
                    </a:lnTo>
                    <a:lnTo>
                      <a:pt x="51" y="0"/>
                    </a:lnTo>
                    <a:lnTo>
                      <a:pt x="51"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6" name="未知"/>
              <p:cNvSpPr>
                <a:spLocks noChangeAspect="1"/>
              </p:cNvSpPr>
              <p:nvPr/>
            </p:nvSpPr>
            <p:spPr bwMode="auto">
              <a:xfrm>
                <a:off x="435" y="526"/>
                <a:ext cx="9" cy="15"/>
              </a:xfrm>
              <a:custGeom>
                <a:avLst/>
                <a:gdLst>
                  <a:gd name="T0" fmla="*/ 51 w 51"/>
                  <a:gd name="T1" fmla="*/ 102 h 102"/>
                  <a:gd name="T2" fmla="*/ 40 w 51"/>
                  <a:gd name="T3" fmla="*/ 101 h 102"/>
                  <a:gd name="T4" fmla="*/ 28 w 51"/>
                  <a:gd name="T5" fmla="*/ 97 h 102"/>
                  <a:gd name="T6" fmla="*/ 19 w 51"/>
                  <a:gd name="T7" fmla="*/ 91 h 102"/>
                  <a:gd name="T8" fmla="*/ 11 w 51"/>
                  <a:gd name="T9" fmla="*/ 83 h 102"/>
                  <a:gd name="T10" fmla="*/ 5 w 51"/>
                  <a:gd name="T11" fmla="*/ 74 h 102"/>
                  <a:gd name="T12" fmla="*/ 1 w 51"/>
                  <a:gd name="T13" fmla="*/ 63 h 102"/>
                  <a:gd name="T14" fmla="*/ 0 w 51"/>
                  <a:gd name="T15" fmla="*/ 52 h 102"/>
                  <a:gd name="T16" fmla="*/ 1 w 51"/>
                  <a:gd name="T17" fmla="*/ 41 h 102"/>
                  <a:gd name="T18" fmla="*/ 5 w 51"/>
                  <a:gd name="T19" fmla="*/ 29 h 102"/>
                  <a:gd name="T20" fmla="*/ 11 w 51"/>
                  <a:gd name="T21" fmla="*/ 20 h 102"/>
                  <a:gd name="T22" fmla="*/ 19 w 51"/>
                  <a:gd name="T23" fmla="*/ 12 h 102"/>
                  <a:gd name="T24" fmla="*/ 28 w 51"/>
                  <a:gd name="T25" fmla="*/ 6 h 102"/>
                  <a:gd name="T26" fmla="*/ 40 w 51"/>
                  <a:gd name="T27" fmla="*/ 2 h 102"/>
                  <a:gd name="T28" fmla="*/ 51 w 51"/>
                  <a:gd name="T29"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1" h="102">
                    <a:moveTo>
                      <a:pt x="51" y="102"/>
                    </a:moveTo>
                    <a:lnTo>
                      <a:pt x="40" y="101"/>
                    </a:lnTo>
                    <a:lnTo>
                      <a:pt x="28" y="97"/>
                    </a:lnTo>
                    <a:lnTo>
                      <a:pt x="19" y="91"/>
                    </a:lnTo>
                    <a:lnTo>
                      <a:pt x="11" y="83"/>
                    </a:lnTo>
                    <a:lnTo>
                      <a:pt x="5" y="74"/>
                    </a:lnTo>
                    <a:lnTo>
                      <a:pt x="1" y="63"/>
                    </a:lnTo>
                    <a:lnTo>
                      <a:pt x="0" y="52"/>
                    </a:lnTo>
                    <a:lnTo>
                      <a:pt x="1" y="41"/>
                    </a:lnTo>
                    <a:lnTo>
                      <a:pt x="5" y="29"/>
                    </a:lnTo>
                    <a:lnTo>
                      <a:pt x="11" y="20"/>
                    </a:lnTo>
                    <a:lnTo>
                      <a:pt x="19" y="12"/>
                    </a:lnTo>
                    <a:lnTo>
                      <a:pt x="28" y="6"/>
                    </a:lnTo>
                    <a:lnTo>
                      <a:pt x="40" y="2"/>
                    </a:lnTo>
                    <a:lnTo>
                      <a:pt x="51"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7" name="未知"/>
              <p:cNvSpPr>
                <a:spLocks noChangeAspect="1"/>
              </p:cNvSpPr>
              <p:nvPr/>
            </p:nvSpPr>
            <p:spPr bwMode="auto">
              <a:xfrm>
                <a:off x="622" y="1504"/>
                <a:ext cx="9" cy="15"/>
              </a:xfrm>
              <a:custGeom>
                <a:avLst/>
                <a:gdLst>
                  <a:gd name="T0" fmla="*/ 0 w 51"/>
                  <a:gd name="T1" fmla="*/ 52 h 102"/>
                  <a:gd name="T2" fmla="*/ 0 w 51"/>
                  <a:gd name="T3" fmla="*/ 0 h 102"/>
                  <a:gd name="T4" fmla="*/ 11 w 51"/>
                  <a:gd name="T5" fmla="*/ 2 h 102"/>
                  <a:gd name="T6" fmla="*/ 22 w 51"/>
                  <a:gd name="T7" fmla="*/ 6 h 102"/>
                  <a:gd name="T8" fmla="*/ 31 w 51"/>
                  <a:gd name="T9" fmla="*/ 12 h 102"/>
                  <a:gd name="T10" fmla="*/ 39 w 51"/>
                  <a:gd name="T11" fmla="*/ 20 h 102"/>
                  <a:gd name="T12" fmla="*/ 45 w 51"/>
                  <a:gd name="T13" fmla="*/ 29 h 102"/>
                  <a:gd name="T14" fmla="*/ 49 w 51"/>
                  <a:gd name="T15" fmla="*/ 41 h 102"/>
                  <a:gd name="T16" fmla="*/ 51 w 51"/>
                  <a:gd name="T17" fmla="*/ 52 h 102"/>
                  <a:gd name="T18" fmla="*/ 49 w 51"/>
                  <a:gd name="T19" fmla="*/ 63 h 102"/>
                  <a:gd name="T20" fmla="*/ 45 w 51"/>
                  <a:gd name="T21" fmla="*/ 74 h 102"/>
                  <a:gd name="T22" fmla="*/ 39 w 51"/>
                  <a:gd name="T23" fmla="*/ 83 h 102"/>
                  <a:gd name="T24" fmla="*/ 31 w 51"/>
                  <a:gd name="T25" fmla="*/ 91 h 102"/>
                  <a:gd name="T26" fmla="*/ 22 w 51"/>
                  <a:gd name="T27" fmla="*/ 97 h 102"/>
                  <a:gd name="T28" fmla="*/ 11 w 51"/>
                  <a:gd name="T29" fmla="*/ 101 h 102"/>
                  <a:gd name="T30" fmla="*/ 0 w 51"/>
                  <a:gd name="T31" fmla="*/ 102 h 102"/>
                  <a:gd name="T32" fmla="*/ 0 w 51"/>
                  <a:gd name="T33" fmla="*/ 5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1" h="102">
                    <a:moveTo>
                      <a:pt x="0" y="52"/>
                    </a:moveTo>
                    <a:lnTo>
                      <a:pt x="0" y="0"/>
                    </a:lnTo>
                    <a:lnTo>
                      <a:pt x="11" y="2"/>
                    </a:lnTo>
                    <a:lnTo>
                      <a:pt x="22" y="6"/>
                    </a:lnTo>
                    <a:lnTo>
                      <a:pt x="31" y="12"/>
                    </a:lnTo>
                    <a:lnTo>
                      <a:pt x="39" y="20"/>
                    </a:lnTo>
                    <a:lnTo>
                      <a:pt x="45" y="29"/>
                    </a:lnTo>
                    <a:lnTo>
                      <a:pt x="49" y="41"/>
                    </a:lnTo>
                    <a:lnTo>
                      <a:pt x="51" y="52"/>
                    </a:lnTo>
                    <a:lnTo>
                      <a:pt x="49" y="63"/>
                    </a:lnTo>
                    <a:lnTo>
                      <a:pt x="45" y="74"/>
                    </a:lnTo>
                    <a:lnTo>
                      <a:pt x="39" y="83"/>
                    </a:lnTo>
                    <a:lnTo>
                      <a:pt x="31" y="91"/>
                    </a:lnTo>
                    <a:lnTo>
                      <a:pt x="22" y="97"/>
                    </a:lnTo>
                    <a:lnTo>
                      <a:pt x="11" y="101"/>
                    </a:lnTo>
                    <a:lnTo>
                      <a:pt x="0" y="102"/>
                    </a:lnTo>
                    <a:lnTo>
                      <a:pt x="0"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8" name="未知"/>
              <p:cNvSpPr>
                <a:spLocks noChangeAspect="1"/>
              </p:cNvSpPr>
              <p:nvPr/>
            </p:nvSpPr>
            <p:spPr bwMode="auto">
              <a:xfrm>
                <a:off x="622" y="1504"/>
                <a:ext cx="9" cy="15"/>
              </a:xfrm>
              <a:custGeom>
                <a:avLst/>
                <a:gdLst>
                  <a:gd name="T0" fmla="*/ 0 w 51"/>
                  <a:gd name="T1" fmla="*/ 0 h 102"/>
                  <a:gd name="T2" fmla="*/ 11 w 51"/>
                  <a:gd name="T3" fmla="*/ 2 h 102"/>
                  <a:gd name="T4" fmla="*/ 22 w 51"/>
                  <a:gd name="T5" fmla="*/ 6 h 102"/>
                  <a:gd name="T6" fmla="*/ 31 w 51"/>
                  <a:gd name="T7" fmla="*/ 12 h 102"/>
                  <a:gd name="T8" fmla="*/ 39 w 51"/>
                  <a:gd name="T9" fmla="*/ 20 h 102"/>
                  <a:gd name="T10" fmla="*/ 45 w 51"/>
                  <a:gd name="T11" fmla="*/ 29 h 102"/>
                  <a:gd name="T12" fmla="*/ 49 w 51"/>
                  <a:gd name="T13" fmla="*/ 41 h 102"/>
                  <a:gd name="T14" fmla="*/ 51 w 51"/>
                  <a:gd name="T15" fmla="*/ 52 h 102"/>
                  <a:gd name="T16" fmla="*/ 49 w 51"/>
                  <a:gd name="T17" fmla="*/ 63 h 102"/>
                  <a:gd name="T18" fmla="*/ 45 w 51"/>
                  <a:gd name="T19" fmla="*/ 74 h 102"/>
                  <a:gd name="T20" fmla="*/ 39 w 51"/>
                  <a:gd name="T21" fmla="*/ 83 h 102"/>
                  <a:gd name="T22" fmla="*/ 31 w 51"/>
                  <a:gd name="T23" fmla="*/ 91 h 102"/>
                  <a:gd name="T24" fmla="*/ 22 w 51"/>
                  <a:gd name="T25" fmla="*/ 97 h 102"/>
                  <a:gd name="T26" fmla="*/ 11 w 51"/>
                  <a:gd name="T27" fmla="*/ 101 h 102"/>
                  <a:gd name="T28" fmla="*/ 0 w 51"/>
                  <a:gd name="T2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1" h="102">
                    <a:moveTo>
                      <a:pt x="0" y="0"/>
                    </a:moveTo>
                    <a:lnTo>
                      <a:pt x="11" y="2"/>
                    </a:lnTo>
                    <a:lnTo>
                      <a:pt x="22" y="6"/>
                    </a:lnTo>
                    <a:lnTo>
                      <a:pt x="31" y="12"/>
                    </a:lnTo>
                    <a:lnTo>
                      <a:pt x="39" y="20"/>
                    </a:lnTo>
                    <a:lnTo>
                      <a:pt x="45" y="29"/>
                    </a:lnTo>
                    <a:lnTo>
                      <a:pt x="49" y="41"/>
                    </a:lnTo>
                    <a:lnTo>
                      <a:pt x="51" y="52"/>
                    </a:lnTo>
                    <a:lnTo>
                      <a:pt x="49" y="63"/>
                    </a:lnTo>
                    <a:lnTo>
                      <a:pt x="45" y="74"/>
                    </a:lnTo>
                    <a:lnTo>
                      <a:pt x="39" y="83"/>
                    </a:lnTo>
                    <a:lnTo>
                      <a:pt x="31" y="91"/>
                    </a:lnTo>
                    <a:lnTo>
                      <a:pt x="22" y="97"/>
                    </a:lnTo>
                    <a:lnTo>
                      <a:pt x="11" y="101"/>
                    </a:lnTo>
                    <a:lnTo>
                      <a:pt x="0" y="102"/>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9" name="未知"/>
              <p:cNvSpPr>
                <a:spLocks noChangeAspect="1"/>
              </p:cNvSpPr>
              <p:nvPr/>
            </p:nvSpPr>
            <p:spPr bwMode="auto">
              <a:xfrm>
                <a:off x="444" y="1504"/>
                <a:ext cx="178" cy="15"/>
              </a:xfrm>
              <a:custGeom>
                <a:avLst/>
                <a:gdLst>
                  <a:gd name="T0" fmla="*/ 976 w 976"/>
                  <a:gd name="T1" fmla="*/ 102 h 102"/>
                  <a:gd name="T2" fmla="*/ 976 w 976"/>
                  <a:gd name="T3" fmla="*/ 52 h 102"/>
                  <a:gd name="T4" fmla="*/ 976 w 976"/>
                  <a:gd name="T5" fmla="*/ 0 h 102"/>
                  <a:gd name="T6" fmla="*/ 0 w 976"/>
                  <a:gd name="T7" fmla="*/ 0 h 102"/>
                  <a:gd name="T8" fmla="*/ 0 w 976"/>
                  <a:gd name="T9" fmla="*/ 52 h 102"/>
                  <a:gd name="T10" fmla="*/ 0 w 976"/>
                  <a:gd name="T11" fmla="*/ 102 h 102"/>
                  <a:gd name="T12" fmla="*/ 976 w 976"/>
                  <a:gd name="T13" fmla="*/ 102 h 102"/>
                </a:gdLst>
                <a:ahLst/>
                <a:cxnLst>
                  <a:cxn ang="0">
                    <a:pos x="T0" y="T1"/>
                  </a:cxn>
                  <a:cxn ang="0">
                    <a:pos x="T2" y="T3"/>
                  </a:cxn>
                  <a:cxn ang="0">
                    <a:pos x="T4" y="T5"/>
                  </a:cxn>
                  <a:cxn ang="0">
                    <a:pos x="T6" y="T7"/>
                  </a:cxn>
                  <a:cxn ang="0">
                    <a:pos x="T8" y="T9"/>
                  </a:cxn>
                  <a:cxn ang="0">
                    <a:pos x="T10" y="T11"/>
                  </a:cxn>
                  <a:cxn ang="0">
                    <a:pos x="T12" y="T13"/>
                  </a:cxn>
                </a:cxnLst>
                <a:rect l="0" t="0" r="r" b="b"/>
                <a:pathLst>
                  <a:path w="976" h="102">
                    <a:moveTo>
                      <a:pt x="976" y="102"/>
                    </a:moveTo>
                    <a:lnTo>
                      <a:pt x="976" y="52"/>
                    </a:lnTo>
                    <a:lnTo>
                      <a:pt x="976" y="0"/>
                    </a:lnTo>
                    <a:lnTo>
                      <a:pt x="0" y="0"/>
                    </a:lnTo>
                    <a:lnTo>
                      <a:pt x="0" y="52"/>
                    </a:lnTo>
                    <a:lnTo>
                      <a:pt x="0" y="102"/>
                    </a:lnTo>
                    <a:lnTo>
                      <a:pt x="976" y="1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0" name="未知"/>
              <p:cNvSpPr>
                <a:spLocks noChangeAspect="1"/>
              </p:cNvSpPr>
              <p:nvPr/>
            </p:nvSpPr>
            <p:spPr bwMode="auto">
              <a:xfrm>
                <a:off x="444" y="1504"/>
                <a:ext cx="178" cy="15"/>
              </a:xfrm>
              <a:custGeom>
                <a:avLst/>
                <a:gdLst>
                  <a:gd name="T0" fmla="*/ 976 w 976"/>
                  <a:gd name="T1" fmla="*/ 102 h 102"/>
                  <a:gd name="T2" fmla="*/ 976 w 976"/>
                  <a:gd name="T3" fmla="*/ 52 h 102"/>
                  <a:gd name="T4" fmla="*/ 976 w 976"/>
                  <a:gd name="T5" fmla="*/ 0 h 102"/>
                  <a:gd name="T6" fmla="*/ 0 w 976"/>
                  <a:gd name="T7" fmla="*/ 0 h 102"/>
                  <a:gd name="T8" fmla="*/ 0 w 976"/>
                  <a:gd name="T9" fmla="*/ 52 h 102"/>
                  <a:gd name="T10" fmla="*/ 0 w 976"/>
                  <a:gd name="T11" fmla="*/ 102 h 102"/>
                  <a:gd name="T12" fmla="*/ 976 w 976"/>
                  <a:gd name="T13" fmla="*/ 102 h 102"/>
                </a:gdLst>
                <a:ahLst/>
                <a:cxnLst>
                  <a:cxn ang="0">
                    <a:pos x="T0" y="T1"/>
                  </a:cxn>
                  <a:cxn ang="0">
                    <a:pos x="T2" y="T3"/>
                  </a:cxn>
                  <a:cxn ang="0">
                    <a:pos x="T4" y="T5"/>
                  </a:cxn>
                  <a:cxn ang="0">
                    <a:pos x="T6" y="T7"/>
                  </a:cxn>
                  <a:cxn ang="0">
                    <a:pos x="T8" y="T9"/>
                  </a:cxn>
                  <a:cxn ang="0">
                    <a:pos x="T10" y="T11"/>
                  </a:cxn>
                  <a:cxn ang="0">
                    <a:pos x="T12" y="T13"/>
                  </a:cxn>
                </a:cxnLst>
                <a:rect l="0" t="0" r="r" b="b"/>
                <a:pathLst>
                  <a:path w="976" h="102">
                    <a:moveTo>
                      <a:pt x="976" y="102"/>
                    </a:moveTo>
                    <a:lnTo>
                      <a:pt x="976" y="52"/>
                    </a:lnTo>
                    <a:lnTo>
                      <a:pt x="976" y="0"/>
                    </a:lnTo>
                    <a:lnTo>
                      <a:pt x="0" y="0"/>
                    </a:lnTo>
                    <a:lnTo>
                      <a:pt x="0" y="52"/>
                    </a:lnTo>
                    <a:lnTo>
                      <a:pt x="0" y="102"/>
                    </a:lnTo>
                    <a:lnTo>
                      <a:pt x="976" y="102"/>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1" name="未知"/>
              <p:cNvSpPr>
                <a:spLocks noChangeAspect="1"/>
              </p:cNvSpPr>
              <p:nvPr/>
            </p:nvSpPr>
            <p:spPr bwMode="auto">
              <a:xfrm>
                <a:off x="435" y="1504"/>
                <a:ext cx="9" cy="15"/>
              </a:xfrm>
              <a:custGeom>
                <a:avLst/>
                <a:gdLst>
                  <a:gd name="T0" fmla="*/ 51 w 51"/>
                  <a:gd name="T1" fmla="*/ 52 h 102"/>
                  <a:gd name="T2" fmla="*/ 51 w 51"/>
                  <a:gd name="T3" fmla="*/ 102 h 102"/>
                  <a:gd name="T4" fmla="*/ 40 w 51"/>
                  <a:gd name="T5" fmla="*/ 101 h 102"/>
                  <a:gd name="T6" fmla="*/ 28 w 51"/>
                  <a:gd name="T7" fmla="*/ 97 h 102"/>
                  <a:gd name="T8" fmla="*/ 19 w 51"/>
                  <a:gd name="T9" fmla="*/ 91 h 102"/>
                  <a:gd name="T10" fmla="*/ 11 w 51"/>
                  <a:gd name="T11" fmla="*/ 83 h 102"/>
                  <a:gd name="T12" fmla="*/ 5 w 51"/>
                  <a:gd name="T13" fmla="*/ 74 h 102"/>
                  <a:gd name="T14" fmla="*/ 1 w 51"/>
                  <a:gd name="T15" fmla="*/ 63 h 102"/>
                  <a:gd name="T16" fmla="*/ 0 w 51"/>
                  <a:gd name="T17" fmla="*/ 52 h 102"/>
                  <a:gd name="T18" fmla="*/ 1 w 51"/>
                  <a:gd name="T19" fmla="*/ 41 h 102"/>
                  <a:gd name="T20" fmla="*/ 5 w 51"/>
                  <a:gd name="T21" fmla="*/ 29 h 102"/>
                  <a:gd name="T22" fmla="*/ 11 w 51"/>
                  <a:gd name="T23" fmla="*/ 20 h 102"/>
                  <a:gd name="T24" fmla="*/ 19 w 51"/>
                  <a:gd name="T25" fmla="*/ 12 h 102"/>
                  <a:gd name="T26" fmla="*/ 28 w 51"/>
                  <a:gd name="T27" fmla="*/ 6 h 102"/>
                  <a:gd name="T28" fmla="*/ 40 w 51"/>
                  <a:gd name="T29" fmla="*/ 2 h 102"/>
                  <a:gd name="T30" fmla="*/ 51 w 51"/>
                  <a:gd name="T31" fmla="*/ 0 h 102"/>
                  <a:gd name="T32" fmla="*/ 51 w 51"/>
                  <a:gd name="T33" fmla="*/ 5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1" h="102">
                    <a:moveTo>
                      <a:pt x="51" y="52"/>
                    </a:moveTo>
                    <a:lnTo>
                      <a:pt x="51" y="102"/>
                    </a:lnTo>
                    <a:lnTo>
                      <a:pt x="40" y="101"/>
                    </a:lnTo>
                    <a:lnTo>
                      <a:pt x="28" y="97"/>
                    </a:lnTo>
                    <a:lnTo>
                      <a:pt x="19" y="91"/>
                    </a:lnTo>
                    <a:lnTo>
                      <a:pt x="11" y="83"/>
                    </a:lnTo>
                    <a:lnTo>
                      <a:pt x="5" y="74"/>
                    </a:lnTo>
                    <a:lnTo>
                      <a:pt x="1" y="63"/>
                    </a:lnTo>
                    <a:lnTo>
                      <a:pt x="0" y="52"/>
                    </a:lnTo>
                    <a:lnTo>
                      <a:pt x="1" y="41"/>
                    </a:lnTo>
                    <a:lnTo>
                      <a:pt x="5" y="29"/>
                    </a:lnTo>
                    <a:lnTo>
                      <a:pt x="11" y="20"/>
                    </a:lnTo>
                    <a:lnTo>
                      <a:pt x="19" y="12"/>
                    </a:lnTo>
                    <a:lnTo>
                      <a:pt x="28" y="6"/>
                    </a:lnTo>
                    <a:lnTo>
                      <a:pt x="40" y="2"/>
                    </a:lnTo>
                    <a:lnTo>
                      <a:pt x="51" y="0"/>
                    </a:lnTo>
                    <a:lnTo>
                      <a:pt x="51"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2" name="未知"/>
              <p:cNvSpPr>
                <a:spLocks noChangeAspect="1"/>
              </p:cNvSpPr>
              <p:nvPr/>
            </p:nvSpPr>
            <p:spPr bwMode="auto">
              <a:xfrm>
                <a:off x="435" y="1504"/>
                <a:ext cx="9" cy="15"/>
              </a:xfrm>
              <a:custGeom>
                <a:avLst/>
                <a:gdLst>
                  <a:gd name="T0" fmla="*/ 51 w 51"/>
                  <a:gd name="T1" fmla="*/ 102 h 102"/>
                  <a:gd name="T2" fmla="*/ 40 w 51"/>
                  <a:gd name="T3" fmla="*/ 101 h 102"/>
                  <a:gd name="T4" fmla="*/ 28 w 51"/>
                  <a:gd name="T5" fmla="*/ 97 h 102"/>
                  <a:gd name="T6" fmla="*/ 19 w 51"/>
                  <a:gd name="T7" fmla="*/ 91 h 102"/>
                  <a:gd name="T8" fmla="*/ 11 w 51"/>
                  <a:gd name="T9" fmla="*/ 83 h 102"/>
                  <a:gd name="T10" fmla="*/ 5 w 51"/>
                  <a:gd name="T11" fmla="*/ 74 h 102"/>
                  <a:gd name="T12" fmla="*/ 1 w 51"/>
                  <a:gd name="T13" fmla="*/ 63 h 102"/>
                  <a:gd name="T14" fmla="*/ 0 w 51"/>
                  <a:gd name="T15" fmla="*/ 52 h 102"/>
                  <a:gd name="T16" fmla="*/ 1 w 51"/>
                  <a:gd name="T17" fmla="*/ 41 h 102"/>
                  <a:gd name="T18" fmla="*/ 5 w 51"/>
                  <a:gd name="T19" fmla="*/ 29 h 102"/>
                  <a:gd name="T20" fmla="*/ 11 w 51"/>
                  <a:gd name="T21" fmla="*/ 20 h 102"/>
                  <a:gd name="T22" fmla="*/ 19 w 51"/>
                  <a:gd name="T23" fmla="*/ 12 h 102"/>
                  <a:gd name="T24" fmla="*/ 28 w 51"/>
                  <a:gd name="T25" fmla="*/ 6 h 102"/>
                  <a:gd name="T26" fmla="*/ 40 w 51"/>
                  <a:gd name="T27" fmla="*/ 2 h 102"/>
                  <a:gd name="T28" fmla="*/ 51 w 51"/>
                  <a:gd name="T29"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1" h="102">
                    <a:moveTo>
                      <a:pt x="51" y="102"/>
                    </a:moveTo>
                    <a:lnTo>
                      <a:pt x="40" y="101"/>
                    </a:lnTo>
                    <a:lnTo>
                      <a:pt x="28" y="97"/>
                    </a:lnTo>
                    <a:lnTo>
                      <a:pt x="19" y="91"/>
                    </a:lnTo>
                    <a:lnTo>
                      <a:pt x="11" y="83"/>
                    </a:lnTo>
                    <a:lnTo>
                      <a:pt x="5" y="74"/>
                    </a:lnTo>
                    <a:lnTo>
                      <a:pt x="1" y="63"/>
                    </a:lnTo>
                    <a:lnTo>
                      <a:pt x="0" y="52"/>
                    </a:lnTo>
                    <a:lnTo>
                      <a:pt x="1" y="41"/>
                    </a:lnTo>
                    <a:lnTo>
                      <a:pt x="5" y="29"/>
                    </a:lnTo>
                    <a:lnTo>
                      <a:pt x="11" y="20"/>
                    </a:lnTo>
                    <a:lnTo>
                      <a:pt x="19" y="12"/>
                    </a:lnTo>
                    <a:lnTo>
                      <a:pt x="28" y="6"/>
                    </a:lnTo>
                    <a:lnTo>
                      <a:pt x="40" y="2"/>
                    </a:lnTo>
                    <a:lnTo>
                      <a:pt x="51"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3" name="未知"/>
              <p:cNvSpPr>
                <a:spLocks noChangeAspect="1"/>
              </p:cNvSpPr>
              <p:nvPr/>
            </p:nvSpPr>
            <p:spPr bwMode="auto">
              <a:xfrm>
                <a:off x="1059" y="891"/>
                <a:ext cx="9" cy="15"/>
              </a:xfrm>
              <a:custGeom>
                <a:avLst/>
                <a:gdLst>
                  <a:gd name="T0" fmla="*/ 50 w 50"/>
                  <a:gd name="T1" fmla="*/ 52 h 102"/>
                  <a:gd name="T2" fmla="*/ 50 w 50"/>
                  <a:gd name="T3" fmla="*/ 102 h 102"/>
                  <a:gd name="T4" fmla="*/ 39 w 50"/>
                  <a:gd name="T5" fmla="*/ 101 h 102"/>
                  <a:gd name="T6" fmla="*/ 28 w 50"/>
                  <a:gd name="T7" fmla="*/ 97 h 102"/>
                  <a:gd name="T8" fmla="*/ 19 w 50"/>
                  <a:gd name="T9" fmla="*/ 91 h 102"/>
                  <a:gd name="T10" fmla="*/ 11 w 50"/>
                  <a:gd name="T11" fmla="*/ 83 h 102"/>
                  <a:gd name="T12" fmla="*/ 5 w 50"/>
                  <a:gd name="T13" fmla="*/ 74 h 102"/>
                  <a:gd name="T14" fmla="*/ 1 w 50"/>
                  <a:gd name="T15" fmla="*/ 63 h 102"/>
                  <a:gd name="T16" fmla="*/ 0 w 50"/>
                  <a:gd name="T17" fmla="*/ 52 h 102"/>
                  <a:gd name="T18" fmla="*/ 1 w 50"/>
                  <a:gd name="T19" fmla="*/ 41 h 102"/>
                  <a:gd name="T20" fmla="*/ 5 w 50"/>
                  <a:gd name="T21" fmla="*/ 30 h 102"/>
                  <a:gd name="T22" fmla="*/ 11 w 50"/>
                  <a:gd name="T23" fmla="*/ 20 h 102"/>
                  <a:gd name="T24" fmla="*/ 19 w 50"/>
                  <a:gd name="T25" fmla="*/ 12 h 102"/>
                  <a:gd name="T26" fmla="*/ 28 w 50"/>
                  <a:gd name="T27" fmla="*/ 6 h 102"/>
                  <a:gd name="T28" fmla="*/ 39 w 50"/>
                  <a:gd name="T29" fmla="*/ 2 h 102"/>
                  <a:gd name="T30" fmla="*/ 50 w 50"/>
                  <a:gd name="T31" fmla="*/ 0 h 102"/>
                  <a:gd name="T32" fmla="*/ 50 w 50"/>
                  <a:gd name="T33" fmla="*/ 5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0" h="102">
                    <a:moveTo>
                      <a:pt x="50" y="52"/>
                    </a:moveTo>
                    <a:lnTo>
                      <a:pt x="50" y="102"/>
                    </a:lnTo>
                    <a:lnTo>
                      <a:pt x="39" y="101"/>
                    </a:lnTo>
                    <a:lnTo>
                      <a:pt x="28" y="97"/>
                    </a:lnTo>
                    <a:lnTo>
                      <a:pt x="19" y="91"/>
                    </a:lnTo>
                    <a:lnTo>
                      <a:pt x="11" y="83"/>
                    </a:lnTo>
                    <a:lnTo>
                      <a:pt x="5" y="74"/>
                    </a:lnTo>
                    <a:lnTo>
                      <a:pt x="1" y="63"/>
                    </a:lnTo>
                    <a:lnTo>
                      <a:pt x="0" y="52"/>
                    </a:lnTo>
                    <a:lnTo>
                      <a:pt x="1" y="41"/>
                    </a:lnTo>
                    <a:lnTo>
                      <a:pt x="5" y="30"/>
                    </a:lnTo>
                    <a:lnTo>
                      <a:pt x="11" y="20"/>
                    </a:lnTo>
                    <a:lnTo>
                      <a:pt x="19" y="12"/>
                    </a:lnTo>
                    <a:lnTo>
                      <a:pt x="28" y="6"/>
                    </a:lnTo>
                    <a:lnTo>
                      <a:pt x="39" y="2"/>
                    </a:lnTo>
                    <a:lnTo>
                      <a:pt x="50" y="0"/>
                    </a:lnTo>
                    <a:lnTo>
                      <a:pt x="50"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4" name="未知"/>
              <p:cNvSpPr>
                <a:spLocks noChangeAspect="1"/>
              </p:cNvSpPr>
              <p:nvPr/>
            </p:nvSpPr>
            <p:spPr bwMode="auto">
              <a:xfrm>
                <a:off x="1059" y="891"/>
                <a:ext cx="9" cy="15"/>
              </a:xfrm>
              <a:custGeom>
                <a:avLst/>
                <a:gdLst>
                  <a:gd name="T0" fmla="*/ 50 w 50"/>
                  <a:gd name="T1" fmla="*/ 102 h 102"/>
                  <a:gd name="T2" fmla="*/ 39 w 50"/>
                  <a:gd name="T3" fmla="*/ 101 h 102"/>
                  <a:gd name="T4" fmla="*/ 28 w 50"/>
                  <a:gd name="T5" fmla="*/ 97 h 102"/>
                  <a:gd name="T6" fmla="*/ 19 w 50"/>
                  <a:gd name="T7" fmla="*/ 91 h 102"/>
                  <a:gd name="T8" fmla="*/ 11 w 50"/>
                  <a:gd name="T9" fmla="*/ 83 h 102"/>
                  <a:gd name="T10" fmla="*/ 5 w 50"/>
                  <a:gd name="T11" fmla="*/ 74 h 102"/>
                  <a:gd name="T12" fmla="*/ 1 w 50"/>
                  <a:gd name="T13" fmla="*/ 63 h 102"/>
                  <a:gd name="T14" fmla="*/ 0 w 50"/>
                  <a:gd name="T15" fmla="*/ 52 h 102"/>
                  <a:gd name="T16" fmla="*/ 1 w 50"/>
                  <a:gd name="T17" fmla="*/ 41 h 102"/>
                  <a:gd name="T18" fmla="*/ 5 w 50"/>
                  <a:gd name="T19" fmla="*/ 30 h 102"/>
                  <a:gd name="T20" fmla="*/ 11 w 50"/>
                  <a:gd name="T21" fmla="*/ 20 h 102"/>
                  <a:gd name="T22" fmla="*/ 19 w 50"/>
                  <a:gd name="T23" fmla="*/ 12 h 102"/>
                  <a:gd name="T24" fmla="*/ 28 w 50"/>
                  <a:gd name="T25" fmla="*/ 6 h 102"/>
                  <a:gd name="T26" fmla="*/ 39 w 50"/>
                  <a:gd name="T27" fmla="*/ 2 h 102"/>
                  <a:gd name="T28" fmla="*/ 50 w 50"/>
                  <a:gd name="T29"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0" h="102">
                    <a:moveTo>
                      <a:pt x="50" y="102"/>
                    </a:moveTo>
                    <a:lnTo>
                      <a:pt x="39" y="101"/>
                    </a:lnTo>
                    <a:lnTo>
                      <a:pt x="28" y="97"/>
                    </a:lnTo>
                    <a:lnTo>
                      <a:pt x="19" y="91"/>
                    </a:lnTo>
                    <a:lnTo>
                      <a:pt x="11" y="83"/>
                    </a:lnTo>
                    <a:lnTo>
                      <a:pt x="5" y="74"/>
                    </a:lnTo>
                    <a:lnTo>
                      <a:pt x="1" y="63"/>
                    </a:lnTo>
                    <a:lnTo>
                      <a:pt x="0" y="52"/>
                    </a:lnTo>
                    <a:lnTo>
                      <a:pt x="1" y="41"/>
                    </a:lnTo>
                    <a:lnTo>
                      <a:pt x="5" y="30"/>
                    </a:lnTo>
                    <a:lnTo>
                      <a:pt x="11" y="20"/>
                    </a:lnTo>
                    <a:lnTo>
                      <a:pt x="19" y="12"/>
                    </a:lnTo>
                    <a:lnTo>
                      <a:pt x="28" y="6"/>
                    </a:lnTo>
                    <a:lnTo>
                      <a:pt x="39" y="2"/>
                    </a:lnTo>
                    <a:lnTo>
                      <a:pt x="50"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5" name="未知"/>
              <p:cNvSpPr>
                <a:spLocks noChangeAspect="1"/>
              </p:cNvSpPr>
              <p:nvPr/>
            </p:nvSpPr>
            <p:spPr bwMode="auto">
              <a:xfrm>
                <a:off x="1068" y="891"/>
                <a:ext cx="179" cy="15"/>
              </a:xfrm>
              <a:custGeom>
                <a:avLst/>
                <a:gdLst>
                  <a:gd name="T0" fmla="*/ 0 w 976"/>
                  <a:gd name="T1" fmla="*/ 0 h 102"/>
                  <a:gd name="T2" fmla="*/ 0 w 976"/>
                  <a:gd name="T3" fmla="*/ 52 h 102"/>
                  <a:gd name="T4" fmla="*/ 0 w 976"/>
                  <a:gd name="T5" fmla="*/ 102 h 102"/>
                  <a:gd name="T6" fmla="*/ 976 w 976"/>
                  <a:gd name="T7" fmla="*/ 102 h 102"/>
                  <a:gd name="T8" fmla="*/ 976 w 976"/>
                  <a:gd name="T9" fmla="*/ 52 h 102"/>
                  <a:gd name="T10" fmla="*/ 976 w 976"/>
                  <a:gd name="T11" fmla="*/ 0 h 102"/>
                  <a:gd name="T12" fmla="*/ 0 w 976"/>
                  <a:gd name="T13" fmla="*/ 0 h 102"/>
                </a:gdLst>
                <a:ahLst/>
                <a:cxnLst>
                  <a:cxn ang="0">
                    <a:pos x="T0" y="T1"/>
                  </a:cxn>
                  <a:cxn ang="0">
                    <a:pos x="T2" y="T3"/>
                  </a:cxn>
                  <a:cxn ang="0">
                    <a:pos x="T4" y="T5"/>
                  </a:cxn>
                  <a:cxn ang="0">
                    <a:pos x="T6" y="T7"/>
                  </a:cxn>
                  <a:cxn ang="0">
                    <a:pos x="T8" y="T9"/>
                  </a:cxn>
                  <a:cxn ang="0">
                    <a:pos x="T10" y="T11"/>
                  </a:cxn>
                  <a:cxn ang="0">
                    <a:pos x="T12" y="T13"/>
                  </a:cxn>
                </a:cxnLst>
                <a:rect l="0" t="0" r="r" b="b"/>
                <a:pathLst>
                  <a:path w="976" h="102">
                    <a:moveTo>
                      <a:pt x="0" y="0"/>
                    </a:moveTo>
                    <a:lnTo>
                      <a:pt x="0" y="52"/>
                    </a:lnTo>
                    <a:lnTo>
                      <a:pt x="0" y="102"/>
                    </a:lnTo>
                    <a:lnTo>
                      <a:pt x="976" y="102"/>
                    </a:lnTo>
                    <a:lnTo>
                      <a:pt x="976" y="52"/>
                    </a:lnTo>
                    <a:lnTo>
                      <a:pt x="976"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6" name="未知"/>
              <p:cNvSpPr>
                <a:spLocks noChangeAspect="1"/>
              </p:cNvSpPr>
              <p:nvPr/>
            </p:nvSpPr>
            <p:spPr bwMode="auto">
              <a:xfrm>
                <a:off x="1068" y="891"/>
                <a:ext cx="179" cy="15"/>
              </a:xfrm>
              <a:custGeom>
                <a:avLst/>
                <a:gdLst>
                  <a:gd name="T0" fmla="*/ 0 w 976"/>
                  <a:gd name="T1" fmla="*/ 0 h 102"/>
                  <a:gd name="T2" fmla="*/ 0 w 976"/>
                  <a:gd name="T3" fmla="*/ 52 h 102"/>
                  <a:gd name="T4" fmla="*/ 0 w 976"/>
                  <a:gd name="T5" fmla="*/ 102 h 102"/>
                  <a:gd name="T6" fmla="*/ 976 w 976"/>
                  <a:gd name="T7" fmla="*/ 102 h 102"/>
                  <a:gd name="T8" fmla="*/ 976 w 976"/>
                  <a:gd name="T9" fmla="*/ 52 h 102"/>
                  <a:gd name="T10" fmla="*/ 976 w 976"/>
                  <a:gd name="T11" fmla="*/ 0 h 102"/>
                  <a:gd name="T12" fmla="*/ 0 w 976"/>
                  <a:gd name="T13" fmla="*/ 0 h 102"/>
                </a:gdLst>
                <a:ahLst/>
                <a:cxnLst>
                  <a:cxn ang="0">
                    <a:pos x="T0" y="T1"/>
                  </a:cxn>
                  <a:cxn ang="0">
                    <a:pos x="T2" y="T3"/>
                  </a:cxn>
                  <a:cxn ang="0">
                    <a:pos x="T4" y="T5"/>
                  </a:cxn>
                  <a:cxn ang="0">
                    <a:pos x="T6" y="T7"/>
                  </a:cxn>
                  <a:cxn ang="0">
                    <a:pos x="T8" y="T9"/>
                  </a:cxn>
                  <a:cxn ang="0">
                    <a:pos x="T10" y="T11"/>
                  </a:cxn>
                  <a:cxn ang="0">
                    <a:pos x="T12" y="T13"/>
                  </a:cxn>
                </a:cxnLst>
                <a:rect l="0" t="0" r="r" b="b"/>
                <a:pathLst>
                  <a:path w="976" h="102">
                    <a:moveTo>
                      <a:pt x="0" y="0"/>
                    </a:moveTo>
                    <a:lnTo>
                      <a:pt x="0" y="52"/>
                    </a:lnTo>
                    <a:lnTo>
                      <a:pt x="0" y="102"/>
                    </a:lnTo>
                    <a:lnTo>
                      <a:pt x="976" y="102"/>
                    </a:lnTo>
                    <a:lnTo>
                      <a:pt x="976" y="52"/>
                    </a:lnTo>
                    <a:lnTo>
                      <a:pt x="976" y="0"/>
                    </a:lnTo>
                    <a:lnTo>
                      <a:pt x="0"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7" name="未知"/>
              <p:cNvSpPr>
                <a:spLocks noChangeAspect="1"/>
              </p:cNvSpPr>
              <p:nvPr/>
            </p:nvSpPr>
            <p:spPr bwMode="auto">
              <a:xfrm>
                <a:off x="1247" y="891"/>
                <a:ext cx="9" cy="15"/>
              </a:xfrm>
              <a:custGeom>
                <a:avLst/>
                <a:gdLst>
                  <a:gd name="T0" fmla="*/ 0 w 52"/>
                  <a:gd name="T1" fmla="*/ 52 h 102"/>
                  <a:gd name="T2" fmla="*/ 0 w 52"/>
                  <a:gd name="T3" fmla="*/ 0 h 102"/>
                  <a:gd name="T4" fmla="*/ 11 w 52"/>
                  <a:gd name="T5" fmla="*/ 2 h 102"/>
                  <a:gd name="T6" fmla="*/ 22 w 52"/>
                  <a:gd name="T7" fmla="*/ 6 h 102"/>
                  <a:gd name="T8" fmla="*/ 31 w 52"/>
                  <a:gd name="T9" fmla="*/ 12 h 102"/>
                  <a:gd name="T10" fmla="*/ 40 w 52"/>
                  <a:gd name="T11" fmla="*/ 20 h 102"/>
                  <a:gd name="T12" fmla="*/ 46 w 52"/>
                  <a:gd name="T13" fmla="*/ 30 h 102"/>
                  <a:gd name="T14" fmla="*/ 50 w 52"/>
                  <a:gd name="T15" fmla="*/ 41 h 102"/>
                  <a:gd name="T16" fmla="*/ 52 w 52"/>
                  <a:gd name="T17" fmla="*/ 52 h 102"/>
                  <a:gd name="T18" fmla="*/ 50 w 52"/>
                  <a:gd name="T19" fmla="*/ 63 h 102"/>
                  <a:gd name="T20" fmla="*/ 46 w 52"/>
                  <a:gd name="T21" fmla="*/ 74 h 102"/>
                  <a:gd name="T22" fmla="*/ 40 w 52"/>
                  <a:gd name="T23" fmla="*/ 83 h 102"/>
                  <a:gd name="T24" fmla="*/ 31 w 52"/>
                  <a:gd name="T25" fmla="*/ 91 h 102"/>
                  <a:gd name="T26" fmla="*/ 22 w 52"/>
                  <a:gd name="T27" fmla="*/ 97 h 102"/>
                  <a:gd name="T28" fmla="*/ 11 w 52"/>
                  <a:gd name="T29" fmla="*/ 101 h 102"/>
                  <a:gd name="T30" fmla="*/ 0 w 52"/>
                  <a:gd name="T31" fmla="*/ 102 h 102"/>
                  <a:gd name="T32" fmla="*/ 0 w 52"/>
                  <a:gd name="T33" fmla="*/ 5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102">
                    <a:moveTo>
                      <a:pt x="0" y="52"/>
                    </a:moveTo>
                    <a:lnTo>
                      <a:pt x="0" y="0"/>
                    </a:lnTo>
                    <a:lnTo>
                      <a:pt x="11" y="2"/>
                    </a:lnTo>
                    <a:lnTo>
                      <a:pt x="22" y="6"/>
                    </a:lnTo>
                    <a:lnTo>
                      <a:pt x="31" y="12"/>
                    </a:lnTo>
                    <a:lnTo>
                      <a:pt x="40" y="20"/>
                    </a:lnTo>
                    <a:lnTo>
                      <a:pt x="46" y="30"/>
                    </a:lnTo>
                    <a:lnTo>
                      <a:pt x="50" y="41"/>
                    </a:lnTo>
                    <a:lnTo>
                      <a:pt x="52" y="52"/>
                    </a:lnTo>
                    <a:lnTo>
                      <a:pt x="50" y="63"/>
                    </a:lnTo>
                    <a:lnTo>
                      <a:pt x="46" y="74"/>
                    </a:lnTo>
                    <a:lnTo>
                      <a:pt x="40" y="83"/>
                    </a:lnTo>
                    <a:lnTo>
                      <a:pt x="31" y="91"/>
                    </a:lnTo>
                    <a:lnTo>
                      <a:pt x="22" y="97"/>
                    </a:lnTo>
                    <a:lnTo>
                      <a:pt x="11" y="101"/>
                    </a:lnTo>
                    <a:lnTo>
                      <a:pt x="0" y="102"/>
                    </a:lnTo>
                    <a:lnTo>
                      <a:pt x="0"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8" name="未知"/>
              <p:cNvSpPr>
                <a:spLocks noChangeAspect="1"/>
              </p:cNvSpPr>
              <p:nvPr/>
            </p:nvSpPr>
            <p:spPr bwMode="auto">
              <a:xfrm>
                <a:off x="1247" y="891"/>
                <a:ext cx="9" cy="15"/>
              </a:xfrm>
              <a:custGeom>
                <a:avLst/>
                <a:gdLst>
                  <a:gd name="T0" fmla="*/ 0 w 52"/>
                  <a:gd name="T1" fmla="*/ 0 h 102"/>
                  <a:gd name="T2" fmla="*/ 11 w 52"/>
                  <a:gd name="T3" fmla="*/ 2 h 102"/>
                  <a:gd name="T4" fmla="*/ 22 w 52"/>
                  <a:gd name="T5" fmla="*/ 6 h 102"/>
                  <a:gd name="T6" fmla="*/ 31 w 52"/>
                  <a:gd name="T7" fmla="*/ 12 h 102"/>
                  <a:gd name="T8" fmla="*/ 40 w 52"/>
                  <a:gd name="T9" fmla="*/ 20 h 102"/>
                  <a:gd name="T10" fmla="*/ 46 w 52"/>
                  <a:gd name="T11" fmla="*/ 30 h 102"/>
                  <a:gd name="T12" fmla="*/ 50 w 52"/>
                  <a:gd name="T13" fmla="*/ 41 h 102"/>
                  <a:gd name="T14" fmla="*/ 52 w 52"/>
                  <a:gd name="T15" fmla="*/ 52 h 102"/>
                  <a:gd name="T16" fmla="*/ 50 w 52"/>
                  <a:gd name="T17" fmla="*/ 63 h 102"/>
                  <a:gd name="T18" fmla="*/ 46 w 52"/>
                  <a:gd name="T19" fmla="*/ 74 h 102"/>
                  <a:gd name="T20" fmla="*/ 40 w 52"/>
                  <a:gd name="T21" fmla="*/ 83 h 102"/>
                  <a:gd name="T22" fmla="*/ 31 w 52"/>
                  <a:gd name="T23" fmla="*/ 91 h 102"/>
                  <a:gd name="T24" fmla="*/ 22 w 52"/>
                  <a:gd name="T25" fmla="*/ 97 h 102"/>
                  <a:gd name="T26" fmla="*/ 11 w 52"/>
                  <a:gd name="T27" fmla="*/ 101 h 102"/>
                  <a:gd name="T28" fmla="*/ 0 w 52"/>
                  <a:gd name="T2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2" h="102">
                    <a:moveTo>
                      <a:pt x="0" y="0"/>
                    </a:moveTo>
                    <a:lnTo>
                      <a:pt x="11" y="2"/>
                    </a:lnTo>
                    <a:lnTo>
                      <a:pt x="22" y="6"/>
                    </a:lnTo>
                    <a:lnTo>
                      <a:pt x="31" y="12"/>
                    </a:lnTo>
                    <a:lnTo>
                      <a:pt x="40" y="20"/>
                    </a:lnTo>
                    <a:lnTo>
                      <a:pt x="46" y="30"/>
                    </a:lnTo>
                    <a:lnTo>
                      <a:pt x="50" y="41"/>
                    </a:lnTo>
                    <a:lnTo>
                      <a:pt x="52" y="52"/>
                    </a:lnTo>
                    <a:lnTo>
                      <a:pt x="50" y="63"/>
                    </a:lnTo>
                    <a:lnTo>
                      <a:pt x="46" y="74"/>
                    </a:lnTo>
                    <a:lnTo>
                      <a:pt x="40" y="83"/>
                    </a:lnTo>
                    <a:lnTo>
                      <a:pt x="31" y="91"/>
                    </a:lnTo>
                    <a:lnTo>
                      <a:pt x="22" y="97"/>
                    </a:lnTo>
                    <a:lnTo>
                      <a:pt x="11" y="101"/>
                    </a:lnTo>
                    <a:lnTo>
                      <a:pt x="0" y="102"/>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9" name="未知"/>
              <p:cNvSpPr>
                <a:spLocks noChangeAspect="1"/>
              </p:cNvSpPr>
              <p:nvPr/>
            </p:nvSpPr>
            <p:spPr bwMode="auto">
              <a:xfrm>
                <a:off x="435" y="526"/>
                <a:ext cx="18" cy="7"/>
              </a:xfrm>
              <a:custGeom>
                <a:avLst/>
                <a:gdLst>
                  <a:gd name="T0" fmla="*/ 51 w 102"/>
                  <a:gd name="T1" fmla="*/ 52 h 52"/>
                  <a:gd name="T2" fmla="*/ 0 w 102"/>
                  <a:gd name="T3" fmla="*/ 52 h 52"/>
                  <a:gd name="T4" fmla="*/ 1 w 102"/>
                  <a:gd name="T5" fmla="*/ 41 h 52"/>
                  <a:gd name="T6" fmla="*/ 5 w 102"/>
                  <a:gd name="T7" fmla="*/ 29 h 52"/>
                  <a:gd name="T8" fmla="*/ 11 w 102"/>
                  <a:gd name="T9" fmla="*/ 20 h 52"/>
                  <a:gd name="T10" fmla="*/ 19 w 102"/>
                  <a:gd name="T11" fmla="*/ 12 h 52"/>
                  <a:gd name="T12" fmla="*/ 28 w 102"/>
                  <a:gd name="T13" fmla="*/ 6 h 52"/>
                  <a:gd name="T14" fmla="*/ 40 w 102"/>
                  <a:gd name="T15" fmla="*/ 2 h 52"/>
                  <a:gd name="T16" fmla="*/ 51 w 102"/>
                  <a:gd name="T17" fmla="*/ 0 h 52"/>
                  <a:gd name="T18" fmla="*/ 62 w 102"/>
                  <a:gd name="T19" fmla="*/ 2 h 52"/>
                  <a:gd name="T20" fmla="*/ 73 w 102"/>
                  <a:gd name="T21" fmla="*/ 6 h 52"/>
                  <a:gd name="T22" fmla="*/ 82 w 102"/>
                  <a:gd name="T23" fmla="*/ 12 h 52"/>
                  <a:gd name="T24" fmla="*/ 90 w 102"/>
                  <a:gd name="T25" fmla="*/ 20 h 52"/>
                  <a:gd name="T26" fmla="*/ 96 w 102"/>
                  <a:gd name="T27" fmla="*/ 29 h 52"/>
                  <a:gd name="T28" fmla="*/ 100 w 102"/>
                  <a:gd name="T29" fmla="*/ 41 h 52"/>
                  <a:gd name="T30" fmla="*/ 102 w 102"/>
                  <a:gd name="T31" fmla="*/ 52 h 52"/>
                  <a:gd name="T32" fmla="*/ 51 w 102"/>
                  <a:gd name="T33"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2" h="52">
                    <a:moveTo>
                      <a:pt x="51" y="52"/>
                    </a:moveTo>
                    <a:lnTo>
                      <a:pt x="0" y="52"/>
                    </a:lnTo>
                    <a:lnTo>
                      <a:pt x="1" y="41"/>
                    </a:lnTo>
                    <a:lnTo>
                      <a:pt x="5" y="29"/>
                    </a:lnTo>
                    <a:lnTo>
                      <a:pt x="11" y="20"/>
                    </a:lnTo>
                    <a:lnTo>
                      <a:pt x="19" y="12"/>
                    </a:lnTo>
                    <a:lnTo>
                      <a:pt x="28" y="6"/>
                    </a:lnTo>
                    <a:lnTo>
                      <a:pt x="40" y="2"/>
                    </a:lnTo>
                    <a:lnTo>
                      <a:pt x="51" y="0"/>
                    </a:lnTo>
                    <a:lnTo>
                      <a:pt x="62" y="2"/>
                    </a:lnTo>
                    <a:lnTo>
                      <a:pt x="73" y="6"/>
                    </a:lnTo>
                    <a:lnTo>
                      <a:pt x="82" y="12"/>
                    </a:lnTo>
                    <a:lnTo>
                      <a:pt x="90" y="20"/>
                    </a:lnTo>
                    <a:lnTo>
                      <a:pt x="96" y="29"/>
                    </a:lnTo>
                    <a:lnTo>
                      <a:pt x="100" y="41"/>
                    </a:lnTo>
                    <a:lnTo>
                      <a:pt x="102" y="52"/>
                    </a:lnTo>
                    <a:lnTo>
                      <a:pt x="51"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0" name="未知"/>
              <p:cNvSpPr>
                <a:spLocks noChangeAspect="1"/>
              </p:cNvSpPr>
              <p:nvPr/>
            </p:nvSpPr>
            <p:spPr bwMode="auto">
              <a:xfrm>
                <a:off x="435" y="526"/>
                <a:ext cx="18" cy="7"/>
              </a:xfrm>
              <a:custGeom>
                <a:avLst/>
                <a:gdLst>
                  <a:gd name="T0" fmla="*/ 0 w 102"/>
                  <a:gd name="T1" fmla="*/ 52 h 52"/>
                  <a:gd name="T2" fmla="*/ 1 w 102"/>
                  <a:gd name="T3" fmla="*/ 41 h 52"/>
                  <a:gd name="T4" fmla="*/ 5 w 102"/>
                  <a:gd name="T5" fmla="*/ 29 h 52"/>
                  <a:gd name="T6" fmla="*/ 11 w 102"/>
                  <a:gd name="T7" fmla="*/ 20 h 52"/>
                  <a:gd name="T8" fmla="*/ 19 w 102"/>
                  <a:gd name="T9" fmla="*/ 12 h 52"/>
                  <a:gd name="T10" fmla="*/ 28 w 102"/>
                  <a:gd name="T11" fmla="*/ 6 h 52"/>
                  <a:gd name="T12" fmla="*/ 40 w 102"/>
                  <a:gd name="T13" fmla="*/ 2 h 52"/>
                  <a:gd name="T14" fmla="*/ 51 w 102"/>
                  <a:gd name="T15" fmla="*/ 0 h 52"/>
                  <a:gd name="T16" fmla="*/ 62 w 102"/>
                  <a:gd name="T17" fmla="*/ 2 h 52"/>
                  <a:gd name="T18" fmla="*/ 73 w 102"/>
                  <a:gd name="T19" fmla="*/ 6 h 52"/>
                  <a:gd name="T20" fmla="*/ 82 w 102"/>
                  <a:gd name="T21" fmla="*/ 12 h 52"/>
                  <a:gd name="T22" fmla="*/ 90 w 102"/>
                  <a:gd name="T23" fmla="*/ 20 h 52"/>
                  <a:gd name="T24" fmla="*/ 96 w 102"/>
                  <a:gd name="T25" fmla="*/ 29 h 52"/>
                  <a:gd name="T26" fmla="*/ 100 w 102"/>
                  <a:gd name="T27" fmla="*/ 41 h 52"/>
                  <a:gd name="T28" fmla="*/ 102 w 102"/>
                  <a:gd name="T29"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2" h="52">
                    <a:moveTo>
                      <a:pt x="0" y="52"/>
                    </a:moveTo>
                    <a:lnTo>
                      <a:pt x="1" y="41"/>
                    </a:lnTo>
                    <a:lnTo>
                      <a:pt x="5" y="29"/>
                    </a:lnTo>
                    <a:lnTo>
                      <a:pt x="11" y="20"/>
                    </a:lnTo>
                    <a:lnTo>
                      <a:pt x="19" y="12"/>
                    </a:lnTo>
                    <a:lnTo>
                      <a:pt x="28" y="6"/>
                    </a:lnTo>
                    <a:lnTo>
                      <a:pt x="40" y="2"/>
                    </a:lnTo>
                    <a:lnTo>
                      <a:pt x="51" y="0"/>
                    </a:lnTo>
                    <a:lnTo>
                      <a:pt x="62" y="2"/>
                    </a:lnTo>
                    <a:lnTo>
                      <a:pt x="73" y="6"/>
                    </a:lnTo>
                    <a:lnTo>
                      <a:pt x="82" y="12"/>
                    </a:lnTo>
                    <a:lnTo>
                      <a:pt x="90" y="20"/>
                    </a:lnTo>
                    <a:lnTo>
                      <a:pt x="96" y="29"/>
                    </a:lnTo>
                    <a:lnTo>
                      <a:pt x="100" y="41"/>
                    </a:lnTo>
                    <a:lnTo>
                      <a:pt x="102" y="52"/>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1" name="未知"/>
              <p:cNvSpPr>
                <a:spLocks noChangeAspect="1"/>
              </p:cNvSpPr>
              <p:nvPr/>
            </p:nvSpPr>
            <p:spPr bwMode="auto">
              <a:xfrm>
                <a:off x="435" y="533"/>
                <a:ext cx="18" cy="979"/>
              </a:xfrm>
              <a:custGeom>
                <a:avLst/>
                <a:gdLst>
                  <a:gd name="T0" fmla="*/ 102 w 102"/>
                  <a:gd name="T1" fmla="*/ 0 h 6453"/>
                  <a:gd name="T2" fmla="*/ 51 w 102"/>
                  <a:gd name="T3" fmla="*/ 0 h 6453"/>
                  <a:gd name="T4" fmla="*/ 0 w 102"/>
                  <a:gd name="T5" fmla="*/ 0 h 6453"/>
                  <a:gd name="T6" fmla="*/ 0 w 102"/>
                  <a:gd name="T7" fmla="*/ 6453 h 6453"/>
                  <a:gd name="T8" fmla="*/ 51 w 102"/>
                  <a:gd name="T9" fmla="*/ 6453 h 6453"/>
                  <a:gd name="T10" fmla="*/ 102 w 102"/>
                  <a:gd name="T11" fmla="*/ 6453 h 6453"/>
                  <a:gd name="T12" fmla="*/ 102 w 102"/>
                  <a:gd name="T13" fmla="*/ 0 h 6453"/>
                </a:gdLst>
                <a:ahLst/>
                <a:cxnLst>
                  <a:cxn ang="0">
                    <a:pos x="T0" y="T1"/>
                  </a:cxn>
                  <a:cxn ang="0">
                    <a:pos x="T2" y="T3"/>
                  </a:cxn>
                  <a:cxn ang="0">
                    <a:pos x="T4" y="T5"/>
                  </a:cxn>
                  <a:cxn ang="0">
                    <a:pos x="T6" y="T7"/>
                  </a:cxn>
                  <a:cxn ang="0">
                    <a:pos x="T8" y="T9"/>
                  </a:cxn>
                  <a:cxn ang="0">
                    <a:pos x="T10" y="T11"/>
                  </a:cxn>
                  <a:cxn ang="0">
                    <a:pos x="T12" y="T13"/>
                  </a:cxn>
                </a:cxnLst>
                <a:rect l="0" t="0" r="r" b="b"/>
                <a:pathLst>
                  <a:path w="102" h="6453">
                    <a:moveTo>
                      <a:pt x="102" y="0"/>
                    </a:moveTo>
                    <a:lnTo>
                      <a:pt x="51" y="0"/>
                    </a:lnTo>
                    <a:lnTo>
                      <a:pt x="0" y="0"/>
                    </a:lnTo>
                    <a:lnTo>
                      <a:pt x="0" y="6453"/>
                    </a:lnTo>
                    <a:lnTo>
                      <a:pt x="51" y="6453"/>
                    </a:lnTo>
                    <a:lnTo>
                      <a:pt x="102" y="6453"/>
                    </a:lnTo>
                    <a:lnTo>
                      <a:pt x="10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2" name="未知"/>
              <p:cNvSpPr>
                <a:spLocks noChangeAspect="1"/>
              </p:cNvSpPr>
              <p:nvPr/>
            </p:nvSpPr>
            <p:spPr bwMode="auto">
              <a:xfrm>
                <a:off x="435" y="533"/>
                <a:ext cx="18" cy="979"/>
              </a:xfrm>
              <a:custGeom>
                <a:avLst/>
                <a:gdLst>
                  <a:gd name="T0" fmla="*/ 102 w 102"/>
                  <a:gd name="T1" fmla="*/ 0 h 6453"/>
                  <a:gd name="T2" fmla="*/ 51 w 102"/>
                  <a:gd name="T3" fmla="*/ 0 h 6453"/>
                  <a:gd name="T4" fmla="*/ 0 w 102"/>
                  <a:gd name="T5" fmla="*/ 0 h 6453"/>
                  <a:gd name="T6" fmla="*/ 0 w 102"/>
                  <a:gd name="T7" fmla="*/ 6453 h 6453"/>
                  <a:gd name="T8" fmla="*/ 51 w 102"/>
                  <a:gd name="T9" fmla="*/ 6453 h 6453"/>
                  <a:gd name="T10" fmla="*/ 102 w 102"/>
                  <a:gd name="T11" fmla="*/ 6453 h 6453"/>
                  <a:gd name="T12" fmla="*/ 102 w 102"/>
                  <a:gd name="T13" fmla="*/ 0 h 6453"/>
                </a:gdLst>
                <a:ahLst/>
                <a:cxnLst>
                  <a:cxn ang="0">
                    <a:pos x="T0" y="T1"/>
                  </a:cxn>
                  <a:cxn ang="0">
                    <a:pos x="T2" y="T3"/>
                  </a:cxn>
                  <a:cxn ang="0">
                    <a:pos x="T4" y="T5"/>
                  </a:cxn>
                  <a:cxn ang="0">
                    <a:pos x="T6" y="T7"/>
                  </a:cxn>
                  <a:cxn ang="0">
                    <a:pos x="T8" y="T9"/>
                  </a:cxn>
                  <a:cxn ang="0">
                    <a:pos x="T10" y="T11"/>
                  </a:cxn>
                  <a:cxn ang="0">
                    <a:pos x="T12" y="T13"/>
                  </a:cxn>
                </a:cxnLst>
                <a:rect l="0" t="0" r="r" b="b"/>
                <a:pathLst>
                  <a:path w="102" h="6453">
                    <a:moveTo>
                      <a:pt x="102" y="0"/>
                    </a:moveTo>
                    <a:lnTo>
                      <a:pt x="51" y="0"/>
                    </a:lnTo>
                    <a:lnTo>
                      <a:pt x="0" y="0"/>
                    </a:lnTo>
                    <a:lnTo>
                      <a:pt x="0" y="6453"/>
                    </a:lnTo>
                    <a:lnTo>
                      <a:pt x="51" y="6453"/>
                    </a:lnTo>
                    <a:lnTo>
                      <a:pt x="102" y="6453"/>
                    </a:lnTo>
                    <a:lnTo>
                      <a:pt x="102"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3" name="未知"/>
              <p:cNvSpPr>
                <a:spLocks noChangeAspect="1"/>
              </p:cNvSpPr>
              <p:nvPr/>
            </p:nvSpPr>
            <p:spPr bwMode="auto">
              <a:xfrm>
                <a:off x="435" y="1512"/>
                <a:ext cx="18" cy="7"/>
              </a:xfrm>
              <a:custGeom>
                <a:avLst/>
                <a:gdLst>
                  <a:gd name="T0" fmla="*/ 51 w 102"/>
                  <a:gd name="T1" fmla="*/ 0 h 50"/>
                  <a:gd name="T2" fmla="*/ 102 w 102"/>
                  <a:gd name="T3" fmla="*/ 0 h 50"/>
                  <a:gd name="T4" fmla="*/ 100 w 102"/>
                  <a:gd name="T5" fmla="*/ 11 h 50"/>
                  <a:gd name="T6" fmla="*/ 96 w 102"/>
                  <a:gd name="T7" fmla="*/ 22 h 50"/>
                  <a:gd name="T8" fmla="*/ 90 w 102"/>
                  <a:gd name="T9" fmla="*/ 31 h 50"/>
                  <a:gd name="T10" fmla="*/ 82 w 102"/>
                  <a:gd name="T11" fmla="*/ 39 h 50"/>
                  <a:gd name="T12" fmla="*/ 73 w 102"/>
                  <a:gd name="T13" fmla="*/ 45 h 50"/>
                  <a:gd name="T14" fmla="*/ 62 w 102"/>
                  <a:gd name="T15" fmla="*/ 49 h 50"/>
                  <a:gd name="T16" fmla="*/ 51 w 102"/>
                  <a:gd name="T17" fmla="*/ 50 h 50"/>
                  <a:gd name="T18" fmla="*/ 40 w 102"/>
                  <a:gd name="T19" fmla="*/ 49 h 50"/>
                  <a:gd name="T20" fmla="*/ 28 w 102"/>
                  <a:gd name="T21" fmla="*/ 45 h 50"/>
                  <a:gd name="T22" fmla="*/ 19 w 102"/>
                  <a:gd name="T23" fmla="*/ 39 h 50"/>
                  <a:gd name="T24" fmla="*/ 11 w 102"/>
                  <a:gd name="T25" fmla="*/ 31 h 50"/>
                  <a:gd name="T26" fmla="*/ 5 w 102"/>
                  <a:gd name="T27" fmla="*/ 22 h 50"/>
                  <a:gd name="T28" fmla="*/ 1 w 102"/>
                  <a:gd name="T29" fmla="*/ 11 h 50"/>
                  <a:gd name="T30" fmla="*/ 0 w 102"/>
                  <a:gd name="T31" fmla="*/ 0 h 50"/>
                  <a:gd name="T32" fmla="*/ 51 w 102"/>
                  <a:gd name="T33"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2" h="50">
                    <a:moveTo>
                      <a:pt x="51" y="0"/>
                    </a:moveTo>
                    <a:lnTo>
                      <a:pt x="102" y="0"/>
                    </a:lnTo>
                    <a:lnTo>
                      <a:pt x="100" y="11"/>
                    </a:lnTo>
                    <a:lnTo>
                      <a:pt x="96" y="22"/>
                    </a:lnTo>
                    <a:lnTo>
                      <a:pt x="90" y="31"/>
                    </a:lnTo>
                    <a:lnTo>
                      <a:pt x="82" y="39"/>
                    </a:lnTo>
                    <a:lnTo>
                      <a:pt x="73" y="45"/>
                    </a:lnTo>
                    <a:lnTo>
                      <a:pt x="62" y="49"/>
                    </a:lnTo>
                    <a:lnTo>
                      <a:pt x="51" y="50"/>
                    </a:lnTo>
                    <a:lnTo>
                      <a:pt x="40" y="49"/>
                    </a:lnTo>
                    <a:lnTo>
                      <a:pt x="28" y="45"/>
                    </a:lnTo>
                    <a:lnTo>
                      <a:pt x="19" y="39"/>
                    </a:lnTo>
                    <a:lnTo>
                      <a:pt x="11" y="31"/>
                    </a:lnTo>
                    <a:lnTo>
                      <a:pt x="5" y="22"/>
                    </a:lnTo>
                    <a:lnTo>
                      <a:pt x="1" y="11"/>
                    </a:lnTo>
                    <a:lnTo>
                      <a:pt x="0" y="0"/>
                    </a:lnTo>
                    <a:lnTo>
                      <a:pt x="5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4" name="未知"/>
              <p:cNvSpPr>
                <a:spLocks noChangeAspect="1"/>
              </p:cNvSpPr>
              <p:nvPr/>
            </p:nvSpPr>
            <p:spPr bwMode="auto">
              <a:xfrm>
                <a:off x="435" y="1512"/>
                <a:ext cx="18" cy="7"/>
              </a:xfrm>
              <a:custGeom>
                <a:avLst/>
                <a:gdLst>
                  <a:gd name="T0" fmla="*/ 102 w 102"/>
                  <a:gd name="T1" fmla="*/ 0 h 50"/>
                  <a:gd name="T2" fmla="*/ 100 w 102"/>
                  <a:gd name="T3" fmla="*/ 11 h 50"/>
                  <a:gd name="T4" fmla="*/ 96 w 102"/>
                  <a:gd name="T5" fmla="*/ 22 h 50"/>
                  <a:gd name="T6" fmla="*/ 90 w 102"/>
                  <a:gd name="T7" fmla="*/ 31 h 50"/>
                  <a:gd name="T8" fmla="*/ 82 w 102"/>
                  <a:gd name="T9" fmla="*/ 39 h 50"/>
                  <a:gd name="T10" fmla="*/ 73 w 102"/>
                  <a:gd name="T11" fmla="*/ 45 h 50"/>
                  <a:gd name="T12" fmla="*/ 62 w 102"/>
                  <a:gd name="T13" fmla="*/ 49 h 50"/>
                  <a:gd name="T14" fmla="*/ 51 w 102"/>
                  <a:gd name="T15" fmla="*/ 50 h 50"/>
                  <a:gd name="T16" fmla="*/ 40 w 102"/>
                  <a:gd name="T17" fmla="*/ 49 h 50"/>
                  <a:gd name="T18" fmla="*/ 28 w 102"/>
                  <a:gd name="T19" fmla="*/ 45 h 50"/>
                  <a:gd name="T20" fmla="*/ 19 w 102"/>
                  <a:gd name="T21" fmla="*/ 39 h 50"/>
                  <a:gd name="T22" fmla="*/ 11 w 102"/>
                  <a:gd name="T23" fmla="*/ 31 h 50"/>
                  <a:gd name="T24" fmla="*/ 5 w 102"/>
                  <a:gd name="T25" fmla="*/ 22 h 50"/>
                  <a:gd name="T26" fmla="*/ 1 w 102"/>
                  <a:gd name="T27" fmla="*/ 11 h 50"/>
                  <a:gd name="T28" fmla="*/ 0 w 102"/>
                  <a:gd name="T29"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2" h="50">
                    <a:moveTo>
                      <a:pt x="102" y="0"/>
                    </a:moveTo>
                    <a:lnTo>
                      <a:pt x="100" y="11"/>
                    </a:lnTo>
                    <a:lnTo>
                      <a:pt x="96" y="22"/>
                    </a:lnTo>
                    <a:lnTo>
                      <a:pt x="90" y="31"/>
                    </a:lnTo>
                    <a:lnTo>
                      <a:pt x="82" y="39"/>
                    </a:lnTo>
                    <a:lnTo>
                      <a:pt x="73" y="45"/>
                    </a:lnTo>
                    <a:lnTo>
                      <a:pt x="62" y="49"/>
                    </a:lnTo>
                    <a:lnTo>
                      <a:pt x="51" y="50"/>
                    </a:lnTo>
                    <a:lnTo>
                      <a:pt x="40" y="49"/>
                    </a:lnTo>
                    <a:lnTo>
                      <a:pt x="28" y="45"/>
                    </a:lnTo>
                    <a:lnTo>
                      <a:pt x="19" y="39"/>
                    </a:lnTo>
                    <a:lnTo>
                      <a:pt x="11" y="31"/>
                    </a:lnTo>
                    <a:lnTo>
                      <a:pt x="5" y="22"/>
                    </a:lnTo>
                    <a:lnTo>
                      <a:pt x="1" y="11"/>
                    </a:lnTo>
                    <a:lnTo>
                      <a:pt x="0"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5" name="未知"/>
              <p:cNvSpPr>
                <a:spLocks noChangeAspect="1"/>
              </p:cNvSpPr>
              <p:nvPr/>
            </p:nvSpPr>
            <p:spPr bwMode="auto">
              <a:xfrm>
                <a:off x="1237" y="891"/>
                <a:ext cx="19" cy="8"/>
              </a:xfrm>
              <a:custGeom>
                <a:avLst/>
                <a:gdLst>
                  <a:gd name="T0" fmla="*/ 51 w 103"/>
                  <a:gd name="T1" fmla="*/ 52 h 52"/>
                  <a:gd name="T2" fmla="*/ 0 w 103"/>
                  <a:gd name="T3" fmla="*/ 52 h 52"/>
                  <a:gd name="T4" fmla="*/ 1 w 103"/>
                  <a:gd name="T5" fmla="*/ 41 h 52"/>
                  <a:gd name="T6" fmla="*/ 5 w 103"/>
                  <a:gd name="T7" fmla="*/ 30 h 52"/>
                  <a:gd name="T8" fmla="*/ 12 w 103"/>
                  <a:gd name="T9" fmla="*/ 20 h 52"/>
                  <a:gd name="T10" fmla="*/ 20 w 103"/>
                  <a:gd name="T11" fmla="*/ 12 h 52"/>
                  <a:gd name="T12" fmla="*/ 29 w 103"/>
                  <a:gd name="T13" fmla="*/ 6 h 52"/>
                  <a:gd name="T14" fmla="*/ 40 w 103"/>
                  <a:gd name="T15" fmla="*/ 2 h 52"/>
                  <a:gd name="T16" fmla="*/ 51 w 103"/>
                  <a:gd name="T17" fmla="*/ 0 h 52"/>
                  <a:gd name="T18" fmla="*/ 62 w 103"/>
                  <a:gd name="T19" fmla="*/ 2 h 52"/>
                  <a:gd name="T20" fmla="*/ 73 w 103"/>
                  <a:gd name="T21" fmla="*/ 6 h 52"/>
                  <a:gd name="T22" fmla="*/ 82 w 103"/>
                  <a:gd name="T23" fmla="*/ 12 h 52"/>
                  <a:gd name="T24" fmla="*/ 91 w 103"/>
                  <a:gd name="T25" fmla="*/ 20 h 52"/>
                  <a:gd name="T26" fmla="*/ 97 w 103"/>
                  <a:gd name="T27" fmla="*/ 30 h 52"/>
                  <a:gd name="T28" fmla="*/ 101 w 103"/>
                  <a:gd name="T29" fmla="*/ 41 h 52"/>
                  <a:gd name="T30" fmla="*/ 103 w 103"/>
                  <a:gd name="T31" fmla="*/ 52 h 52"/>
                  <a:gd name="T32" fmla="*/ 51 w 103"/>
                  <a:gd name="T33"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52">
                    <a:moveTo>
                      <a:pt x="51" y="52"/>
                    </a:moveTo>
                    <a:lnTo>
                      <a:pt x="0" y="52"/>
                    </a:lnTo>
                    <a:lnTo>
                      <a:pt x="1" y="41"/>
                    </a:lnTo>
                    <a:lnTo>
                      <a:pt x="5" y="30"/>
                    </a:lnTo>
                    <a:lnTo>
                      <a:pt x="12" y="20"/>
                    </a:lnTo>
                    <a:lnTo>
                      <a:pt x="20" y="12"/>
                    </a:lnTo>
                    <a:lnTo>
                      <a:pt x="29" y="6"/>
                    </a:lnTo>
                    <a:lnTo>
                      <a:pt x="40" y="2"/>
                    </a:lnTo>
                    <a:lnTo>
                      <a:pt x="51" y="0"/>
                    </a:lnTo>
                    <a:lnTo>
                      <a:pt x="62" y="2"/>
                    </a:lnTo>
                    <a:lnTo>
                      <a:pt x="73" y="6"/>
                    </a:lnTo>
                    <a:lnTo>
                      <a:pt x="82" y="12"/>
                    </a:lnTo>
                    <a:lnTo>
                      <a:pt x="91" y="20"/>
                    </a:lnTo>
                    <a:lnTo>
                      <a:pt x="97" y="30"/>
                    </a:lnTo>
                    <a:lnTo>
                      <a:pt x="101" y="41"/>
                    </a:lnTo>
                    <a:lnTo>
                      <a:pt x="103" y="52"/>
                    </a:lnTo>
                    <a:lnTo>
                      <a:pt x="51"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6" name="未知"/>
              <p:cNvSpPr>
                <a:spLocks noChangeAspect="1"/>
              </p:cNvSpPr>
              <p:nvPr/>
            </p:nvSpPr>
            <p:spPr bwMode="auto">
              <a:xfrm>
                <a:off x="1237" y="891"/>
                <a:ext cx="19" cy="8"/>
              </a:xfrm>
              <a:custGeom>
                <a:avLst/>
                <a:gdLst>
                  <a:gd name="T0" fmla="*/ 0 w 103"/>
                  <a:gd name="T1" fmla="*/ 52 h 52"/>
                  <a:gd name="T2" fmla="*/ 1 w 103"/>
                  <a:gd name="T3" fmla="*/ 41 h 52"/>
                  <a:gd name="T4" fmla="*/ 5 w 103"/>
                  <a:gd name="T5" fmla="*/ 30 h 52"/>
                  <a:gd name="T6" fmla="*/ 12 w 103"/>
                  <a:gd name="T7" fmla="*/ 20 h 52"/>
                  <a:gd name="T8" fmla="*/ 20 w 103"/>
                  <a:gd name="T9" fmla="*/ 12 h 52"/>
                  <a:gd name="T10" fmla="*/ 29 w 103"/>
                  <a:gd name="T11" fmla="*/ 6 h 52"/>
                  <a:gd name="T12" fmla="*/ 40 w 103"/>
                  <a:gd name="T13" fmla="*/ 2 h 52"/>
                  <a:gd name="T14" fmla="*/ 51 w 103"/>
                  <a:gd name="T15" fmla="*/ 0 h 52"/>
                  <a:gd name="T16" fmla="*/ 62 w 103"/>
                  <a:gd name="T17" fmla="*/ 2 h 52"/>
                  <a:gd name="T18" fmla="*/ 73 w 103"/>
                  <a:gd name="T19" fmla="*/ 6 h 52"/>
                  <a:gd name="T20" fmla="*/ 82 w 103"/>
                  <a:gd name="T21" fmla="*/ 12 h 52"/>
                  <a:gd name="T22" fmla="*/ 91 w 103"/>
                  <a:gd name="T23" fmla="*/ 20 h 52"/>
                  <a:gd name="T24" fmla="*/ 97 w 103"/>
                  <a:gd name="T25" fmla="*/ 30 h 52"/>
                  <a:gd name="T26" fmla="*/ 101 w 103"/>
                  <a:gd name="T27" fmla="*/ 41 h 52"/>
                  <a:gd name="T28" fmla="*/ 103 w 103"/>
                  <a:gd name="T29"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3" h="52">
                    <a:moveTo>
                      <a:pt x="0" y="52"/>
                    </a:moveTo>
                    <a:lnTo>
                      <a:pt x="1" y="41"/>
                    </a:lnTo>
                    <a:lnTo>
                      <a:pt x="5" y="30"/>
                    </a:lnTo>
                    <a:lnTo>
                      <a:pt x="12" y="20"/>
                    </a:lnTo>
                    <a:lnTo>
                      <a:pt x="20" y="12"/>
                    </a:lnTo>
                    <a:lnTo>
                      <a:pt x="29" y="6"/>
                    </a:lnTo>
                    <a:lnTo>
                      <a:pt x="40" y="2"/>
                    </a:lnTo>
                    <a:lnTo>
                      <a:pt x="51" y="0"/>
                    </a:lnTo>
                    <a:lnTo>
                      <a:pt x="62" y="2"/>
                    </a:lnTo>
                    <a:lnTo>
                      <a:pt x="73" y="6"/>
                    </a:lnTo>
                    <a:lnTo>
                      <a:pt x="82" y="12"/>
                    </a:lnTo>
                    <a:lnTo>
                      <a:pt x="91" y="20"/>
                    </a:lnTo>
                    <a:lnTo>
                      <a:pt x="97" y="30"/>
                    </a:lnTo>
                    <a:lnTo>
                      <a:pt x="101" y="41"/>
                    </a:lnTo>
                    <a:lnTo>
                      <a:pt x="103" y="52"/>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7" name="未知"/>
              <p:cNvSpPr>
                <a:spLocks noChangeAspect="1"/>
              </p:cNvSpPr>
              <p:nvPr/>
            </p:nvSpPr>
            <p:spPr bwMode="auto">
              <a:xfrm>
                <a:off x="1237" y="899"/>
                <a:ext cx="19" cy="978"/>
              </a:xfrm>
              <a:custGeom>
                <a:avLst/>
                <a:gdLst>
                  <a:gd name="T0" fmla="*/ 103 w 103"/>
                  <a:gd name="T1" fmla="*/ 0 h 6452"/>
                  <a:gd name="T2" fmla="*/ 51 w 103"/>
                  <a:gd name="T3" fmla="*/ 0 h 6452"/>
                  <a:gd name="T4" fmla="*/ 0 w 103"/>
                  <a:gd name="T5" fmla="*/ 0 h 6452"/>
                  <a:gd name="T6" fmla="*/ 0 w 103"/>
                  <a:gd name="T7" fmla="*/ 6452 h 6452"/>
                  <a:gd name="T8" fmla="*/ 51 w 103"/>
                  <a:gd name="T9" fmla="*/ 6452 h 6452"/>
                  <a:gd name="T10" fmla="*/ 103 w 103"/>
                  <a:gd name="T11" fmla="*/ 6452 h 6452"/>
                  <a:gd name="T12" fmla="*/ 103 w 103"/>
                  <a:gd name="T13" fmla="*/ 0 h 6452"/>
                </a:gdLst>
                <a:ahLst/>
                <a:cxnLst>
                  <a:cxn ang="0">
                    <a:pos x="T0" y="T1"/>
                  </a:cxn>
                  <a:cxn ang="0">
                    <a:pos x="T2" y="T3"/>
                  </a:cxn>
                  <a:cxn ang="0">
                    <a:pos x="T4" y="T5"/>
                  </a:cxn>
                  <a:cxn ang="0">
                    <a:pos x="T6" y="T7"/>
                  </a:cxn>
                  <a:cxn ang="0">
                    <a:pos x="T8" y="T9"/>
                  </a:cxn>
                  <a:cxn ang="0">
                    <a:pos x="T10" y="T11"/>
                  </a:cxn>
                  <a:cxn ang="0">
                    <a:pos x="T12" y="T13"/>
                  </a:cxn>
                </a:cxnLst>
                <a:rect l="0" t="0" r="r" b="b"/>
                <a:pathLst>
                  <a:path w="103" h="6452">
                    <a:moveTo>
                      <a:pt x="103" y="0"/>
                    </a:moveTo>
                    <a:lnTo>
                      <a:pt x="51" y="0"/>
                    </a:lnTo>
                    <a:lnTo>
                      <a:pt x="0" y="0"/>
                    </a:lnTo>
                    <a:lnTo>
                      <a:pt x="0" y="6452"/>
                    </a:lnTo>
                    <a:lnTo>
                      <a:pt x="51" y="6452"/>
                    </a:lnTo>
                    <a:lnTo>
                      <a:pt x="103" y="6452"/>
                    </a:lnTo>
                    <a:lnTo>
                      <a:pt x="10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8" name="未知"/>
              <p:cNvSpPr>
                <a:spLocks noChangeAspect="1"/>
              </p:cNvSpPr>
              <p:nvPr/>
            </p:nvSpPr>
            <p:spPr bwMode="auto">
              <a:xfrm>
                <a:off x="1237" y="899"/>
                <a:ext cx="19" cy="978"/>
              </a:xfrm>
              <a:custGeom>
                <a:avLst/>
                <a:gdLst>
                  <a:gd name="T0" fmla="*/ 103 w 103"/>
                  <a:gd name="T1" fmla="*/ 0 h 6452"/>
                  <a:gd name="T2" fmla="*/ 51 w 103"/>
                  <a:gd name="T3" fmla="*/ 0 h 6452"/>
                  <a:gd name="T4" fmla="*/ 0 w 103"/>
                  <a:gd name="T5" fmla="*/ 0 h 6452"/>
                  <a:gd name="T6" fmla="*/ 0 w 103"/>
                  <a:gd name="T7" fmla="*/ 6452 h 6452"/>
                  <a:gd name="T8" fmla="*/ 51 w 103"/>
                  <a:gd name="T9" fmla="*/ 6452 h 6452"/>
                  <a:gd name="T10" fmla="*/ 103 w 103"/>
                  <a:gd name="T11" fmla="*/ 6452 h 6452"/>
                  <a:gd name="T12" fmla="*/ 103 w 103"/>
                  <a:gd name="T13" fmla="*/ 0 h 6452"/>
                </a:gdLst>
                <a:ahLst/>
                <a:cxnLst>
                  <a:cxn ang="0">
                    <a:pos x="T0" y="T1"/>
                  </a:cxn>
                  <a:cxn ang="0">
                    <a:pos x="T2" y="T3"/>
                  </a:cxn>
                  <a:cxn ang="0">
                    <a:pos x="T4" y="T5"/>
                  </a:cxn>
                  <a:cxn ang="0">
                    <a:pos x="T6" y="T7"/>
                  </a:cxn>
                  <a:cxn ang="0">
                    <a:pos x="T8" y="T9"/>
                  </a:cxn>
                  <a:cxn ang="0">
                    <a:pos x="T10" y="T11"/>
                  </a:cxn>
                  <a:cxn ang="0">
                    <a:pos x="T12" y="T13"/>
                  </a:cxn>
                </a:cxnLst>
                <a:rect l="0" t="0" r="r" b="b"/>
                <a:pathLst>
                  <a:path w="103" h="6452">
                    <a:moveTo>
                      <a:pt x="103" y="0"/>
                    </a:moveTo>
                    <a:lnTo>
                      <a:pt x="51" y="0"/>
                    </a:lnTo>
                    <a:lnTo>
                      <a:pt x="0" y="0"/>
                    </a:lnTo>
                    <a:lnTo>
                      <a:pt x="0" y="6452"/>
                    </a:lnTo>
                    <a:lnTo>
                      <a:pt x="51" y="6452"/>
                    </a:lnTo>
                    <a:lnTo>
                      <a:pt x="103" y="6452"/>
                    </a:lnTo>
                    <a:lnTo>
                      <a:pt x="103"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9" name="未知"/>
              <p:cNvSpPr>
                <a:spLocks noChangeAspect="1"/>
              </p:cNvSpPr>
              <p:nvPr/>
            </p:nvSpPr>
            <p:spPr bwMode="auto">
              <a:xfrm>
                <a:off x="1237" y="1877"/>
                <a:ext cx="19" cy="7"/>
              </a:xfrm>
              <a:custGeom>
                <a:avLst/>
                <a:gdLst>
                  <a:gd name="T0" fmla="*/ 51 w 103"/>
                  <a:gd name="T1" fmla="*/ 0 h 50"/>
                  <a:gd name="T2" fmla="*/ 103 w 103"/>
                  <a:gd name="T3" fmla="*/ 0 h 50"/>
                  <a:gd name="T4" fmla="*/ 101 w 103"/>
                  <a:gd name="T5" fmla="*/ 11 h 50"/>
                  <a:gd name="T6" fmla="*/ 97 w 103"/>
                  <a:gd name="T7" fmla="*/ 22 h 50"/>
                  <a:gd name="T8" fmla="*/ 91 w 103"/>
                  <a:gd name="T9" fmla="*/ 31 h 50"/>
                  <a:gd name="T10" fmla="*/ 82 w 103"/>
                  <a:gd name="T11" fmla="*/ 39 h 50"/>
                  <a:gd name="T12" fmla="*/ 73 w 103"/>
                  <a:gd name="T13" fmla="*/ 45 h 50"/>
                  <a:gd name="T14" fmla="*/ 62 w 103"/>
                  <a:gd name="T15" fmla="*/ 49 h 50"/>
                  <a:gd name="T16" fmla="*/ 51 w 103"/>
                  <a:gd name="T17" fmla="*/ 50 h 50"/>
                  <a:gd name="T18" fmla="*/ 40 w 103"/>
                  <a:gd name="T19" fmla="*/ 49 h 50"/>
                  <a:gd name="T20" fmla="*/ 29 w 103"/>
                  <a:gd name="T21" fmla="*/ 45 h 50"/>
                  <a:gd name="T22" fmla="*/ 20 w 103"/>
                  <a:gd name="T23" fmla="*/ 39 h 50"/>
                  <a:gd name="T24" fmla="*/ 12 w 103"/>
                  <a:gd name="T25" fmla="*/ 31 h 50"/>
                  <a:gd name="T26" fmla="*/ 5 w 103"/>
                  <a:gd name="T27" fmla="*/ 22 h 50"/>
                  <a:gd name="T28" fmla="*/ 1 w 103"/>
                  <a:gd name="T29" fmla="*/ 11 h 50"/>
                  <a:gd name="T30" fmla="*/ 0 w 103"/>
                  <a:gd name="T31" fmla="*/ 0 h 50"/>
                  <a:gd name="T32" fmla="*/ 51 w 103"/>
                  <a:gd name="T33"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50">
                    <a:moveTo>
                      <a:pt x="51" y="0"/>
                    </a:moveTo>
                    <a:lnTo>
                      <a:pt x="103" y="0"/>
                    </a:lnTo>
                    <a:lnTo>
                      <a:pt x="101" y="11"/>
                    </a:lnTo>
                    <a:lnTo>
                      <a:pt x="97" y="22"/>
                    </a:lnTo>
                    <a:lnTo>
                      <a:pt x="91" y="31"/>
                    </a:lnTo>
                    <a:lnTo>
                      <a:pt x="82" y="39"/>
                    </a:lnTo>
                    <a:lnTo>
                      <a:pt x="73" y="45"/>
                    </a:lnTo>
                    <a:lnTo>
                      <a:pt x="62" y="49"/>
                    </a:lnTo>
                    <a:lnTo>
                      <a:pt x="51" y="50"/>
                    </a:lnTo>
                    <a:lnTo>
                      <a:pt x="40" y="49"/>
                    </a:lnTo>
                    <a:lnTo>
                      <a:pt x="29" y="45"/>
                    </a:lnTo>
                    <a:lnTo>
                      <a:pt x="20" y="39"/>
                    </a:lnTo>
                    <a:lnTo>
                      <a:pt x="12" y="31"/>
                    </a:lnTo>
                    <a:lnTo>
                      <a:pt x="5" y="22"/>
                    </a:lnTo>
                    <a:lnTo>
                      <a:pt x="1" y="11"/>
                    </a:lnTo>
                    <a:lnTo>
                      <a:pt x="0" y="0"/>
                    </a:lnTo>
                    <a:lnTo>
                      <a:pt x="5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0" name="未知"/>
              <p:cNvSpPr>
                <a:spLocks noChangeAspect="1"/>
              </p:cNvSpPr>
              <p:nvPr/>
            </p:nvSpPr>
            <p:spPr bwMode="auto">
              <a:xfrm>
                <a:off x="1237" y="1877"/>
                <a:ext cx="19" cy="7"/>
              </a:xfrm>
              <a:custGeom>
                <a:avLst/>
                <a:gdLst>
                  <a:gd name="T0" fmla="*/ 103 w 103"/>
                  <a:gd name="T1" fmla="*/ 0 h 50"/>
                  <a:gd name="T2" fmla="*/ 101 w 103"/>
                  <a:gd name="T3" fmla="*/ 11 h 50"/>
                  <a:gd name="T4" fmla="*/ 97 w 103"/>
                  <a:gd name="T5" fmla="*/ 22 h 50"/>
                  <a:gd name="T6" fmla="*/ 91 w 103"/>
                  <a:gd name="T7" fmla="*/ 31 h 50"/>
                  <a:gd name="T8" fmla="*/ 82 w 103"/>
                  <a:gd name="T9" fmla="*/ 39 h 50"/>
                  <a:gd name="T10" fmla="*/ 73 w 103"/>
                  <a:gd name="T11" fmla="*/ 45 h 50"/>
                  <a:gd name="T12" fmla="*/ 62 w 103"/>
                  <a:gd name="T13" fmla="*/ 49 h 50"/>
                  <a:gd name="T14" fmla="*/ 51 w 103"/>
                  <a:gd name="T15" fmla="*/ 50 h 50"/>
                  <a:gd name="T16" fmla="*/ 40 w 103"/>
                  <a:gd name="T17" fmla="*/ 49 h 50"/>
                  <a:gd name="T18" fmla="*/ 29 w 103"/>
                  <a:gd name="T19" fmla="*/ 45 h 50"/>
                  <a:gd name="T20" fmla="*/ 20 w 103"/>
                  <a:gd name="T21" fmla="*/ 39 h 50"/>
                  <a:gd name="T22" fmla="*/ 12 w 103"/>
                  <a:gd name="T23" fmla="*/ 31 h 50"/>
                  <a:gd name="T24" fmla="*/ 5 w 103"/>
                  <a:gd name="T25" fmla="*/ 22 h 50"/>
                  <a:gd name="T26" fmla="*/ 1 w 103"/>
                  <a:gd name="T27" fmla="*/ 11 h 50"/>
                  <a:gd name="T28" fmla="*/ 0 w 103"/>
                  <a:gd name="T29"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3" h="50">
                    <a:moveTo>
                      <a:pt x="103" y="0"/>
                    </a:moveTo>
                    <a:lnTo>
                      <a:pt x="101" y="11"/>
                    </a:lnTo>
                    <a:lnTo>
                      <a:pt x="97" y="22"/>
                    </a:lnTo>
                    <a:lnTo>
                      <a:pt x="91" y="31"/>
                    </a:lnTo>
                    <a:lnTo>
                      <a:pt x="82" y="39"/>
                    </a:lnTo>
                    <a:lnTo>
                      <a:pt x="73" y="45"/>
                    </a:lnTo>
                    <a:lnTo>
                      <a:pt x="62" y="49"/>
                    </a:lnTo>
                    <a:lnTo>
                      <a:pt x="51" y="50"/>
                    </a:lnTo>
                    <a:lnTo>
                      <a:pt x="40" y="49"/>
                    </a:lnTo>
                    <a:lnTo>
                      <a:pt x="29" y="45"/>
                    </a:lnTo>
                    <a:lnTo>
                      <a:pt x="20" y="39"/>
                    </a:lnTo>
                    <a:lnTo>
                      <a:pt x="12" y="31"/>
                    </a:lnTo>
                    <a:lnTo>
                      <a:pt x="5" y="22"/>
                    </a:lnTo>
                    <a:lnTo>
                      <a:pt x="1" y="11"/>
                    </a:lnTo>
                    <a:lnTo>
                      <a:pt x="0"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1" name="未知"/>
              <p:cNvSpPr>
                <a:spLocks noChangeAspect="1"/>
              </p:cNvSpPr>
              <p:nvPr/>
            </p:nvSpPr>
            <p:spPr bwMode="auto">
              <a:xfrm>
                <a:off x="433" y="381"/>
                <a:ext cx="23" cy="58"/>
              </a:xfrm>
              <a:custGeom>
                <a:avLst/>
                <a:gdLst>
                  <a:gd name="T0" fmla="*/ 0 w 128"/>
                  <a:gd name="T1" fmla="*/ 386 h 386"/>
                  <a:gd name="T2" fmla="*/ 128 w 128"/>
                  <a:gd name="T3" fmla="*/ 386 h 386"/>
                  <a:gd name="T4" fmla="*/ 64 w 128"/>
                  <a:gd name="T5" fmla="*/ 0 h 386"/>
                  <a:gd name="T6" fmla="*/ 0 w 128"/>
                  <a:gd name="T7" fmla="*/ 386 h 386"/>
                </a:gdLst>
                <a:ahLst/>
                <a:cxnLst>
                  <a:cxn ang="0">
                    <a:pos x="T0" y="T1"/>
                  </a:cxn>
                  <a:cxn ang="0">
                    <a:pos x="T2" y="T3"/>
                  </a:cxn>
                  <a:cxn ang="0">
                    <a:pos x="T4" y="T5"/>
                  </a:cxn>
                  <a:cxn ang="0">
                    <a:pos x="T6" y="T7"/>
                  </a:cxn>
                </a:cxnLst>
                <a:rect l="0" t="0" r="r" b="b"/>
                <a:pathLst>
                  <a:path w="128" h="386">
                    <a:moveTo>
                      <a:pt x="0" y="386"/>
                    </a:moveTo>
                    <a:lnTo>
                      <a:pt x="128" y="386"/>
                    </a:lnTo>
                    <a:lnTo>
                      <a:pt x="64" y="0"/>
                    </a:lnTo>
                    <a:lnTo>
                      <a:pt x="0" y="386"/>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2" name="未知"/>
              <p:cNvSpPr>
                <a:spLocks noChangeAspect="1"/>
              </p:cNvSpPr>
              <p:nvPr/>
            </p:nvSpPr>
            <p:spPr bwMode="auto">
              <a:xfrm>
                <a:off x="433" y="381"/>
                <a:ext cx="23" cy="58"/>
              </a:xfrm>
              <a:custGeom>
                <a:avLst/>
                <a:gdLst>
                  <a:gd name="T0" fmla="*/ 0 w 128"/>
                  <a:gd name="T1" fmla="*/ 386 h 386"/>
                  <a:gd name="T2" fmla="*/ 128 w 128"/>
                  <a:gd name="T3" fmla="*/ 386 h 386"/>
                  <a:gd name="T4" fmla="*/ 64 w 128"/>
                  <a:gd name="T5" fmla="*/ 0 h 386"/>
                  <a:gd name="T6" fmla="*/ 0 w 128"/>
                  <a:gd name="T7" fmla="*/ 386 h 386"/>
                </a:gdLst>
                <a:ahLst/>
                <a:cxnLst>
                  <a:cxn ang="0">
                    <a:pos x="T0" y="T1"/>
                  </a:cxn>
                  <a:cxn ang="0">
                    <a:pos x="T2" y="T3"/>
                  </a:cxn>
                  <a:cxn ang="0">
                    <a:pos x="T4" y="T5"/>
                  </a:cxn>
                  <a:cxn ang="0">
                    <a:pos x="T6" y="T7"/>
                  </a:cxn>
                </a:cxnLst>
                <a:rect l="0" t="0" r="r" b="b"/>
                <a:pathLst>
                  <a:path w="128" h="386">
                    <a:moveTo>
                      <a:pt x="0" y="386"/>
                    </a:moveTo>
                    <a:lnTo>
                      <a:pt x="128" y="386"/>
                    </a:lnTo>
                    <a:lnTo>
                      <a:pt x="64" y="0"/>
                    </a:lnTo>
                    <a:lnTo>
                      <a:pt x="0" y="386"/>
                    </a:lnTo>
                  </a:path>
                </a:pathLst>
              </a:custGeom>
              <a:noFill/>
              <a:ln w="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3" name="Line 64"/>
              <p:cNvSpPr>
                <a:spLocks noChangeAspect="1" noChangeShapeType="1"/>
              </p:cNvSpPr>
              <p:nvPr/>
            </p:nvSpPr>
            <p:spPr bwMode="auto">
              <a:xfrm flipV="1">
                <a:off x="444" y="438"/>
                <a:ext cx="1" cy="95"/>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4" name="Line 65"/>
              <p:cNvSpPr>
                <a:spLocks noChangeAspect="1" noChangeShapeType="1"/>
              </p:cNvSpPr>
              <p:nvPr/>
            </p:nvSpPr>
            <p:spPr bwMode="auto">
              <a:xfrm flipV="1">
                <a:off x="532" y="438"/>
                <a:ext cx="1" cy="95"/>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5" name="未知"/>
              <p:cNvSpPr>
                <a:spLocks noChangeAspect="1"/>
              </p:cNvSpPr>
              <p:nvPr/>
            </p:nvSpPr>
            <p:spPr bwMode="auto">
              <a:xfrm>
                <a:off x="521" y="381"/>
                <a:ext cx="24" cy="58"/>
              </a:xfrm>
              <a:custGeom>
                <a:avLst/>
                <a:gdLst>
                  <a:gd name="T0" fmla="*/ 0 w 128"/>
                  <a:gd name="T1" fmla="*/ 386 h 386"/>
                  <a:gd name="T2" fmla="*/ 128 w 128"/>
                  <a:gd name="T3" fmla="*/ 386 h 386"/>
                  <a:gd name="T4" fmla="*/ 64 w 128"/>
                  <a:gd name="T5" fmla="*/ 0 h 386"/>
                  <a:gd name="T6" fmla="*/ 0 w 128"/>
                  <a:gd name="T7" fmla="*/ 386 h 386"/>
                </a:gdLst>
                <a:ahLst/>
                <a:cxnLst>
                  <a:cxn ang="0">
                    <a:pos x="T0" y="T1"/>
                  </a:cxn>
                  <a:cxn ang="0">
                    <a:pos x="T2" y="T3"/>
                  </a:cxn>
                  <a:cxn ang="0">
                    <a:pos x="T4" y="T5"/>
                  </a:cxn>
                  <a:cxn ang="0">
                    <a:pos x="T6" y="T7"/>
                  </a:cxn>
                </a:cxnLst>
                <a:rect l="0" t="0" r="r" b="b"/>
                <a:pathLst>
                  <a:path w="128" h="386">
                    <a:moveTo>
                      <a:pt x="0" y="386"/>
                    </a:moveTo>
                    <a:lnTo>
                      <a:pt x="128" y="386"/>
                    </a:lnTo>
                    <a:lnTo>
                      <a:pt x="64" y="0"/>
                    </a:lnTo>
                    <a:lnTo>
                      <a:pt x="0" y="386"/>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6" name="未知"/>
              <p:cNvSpPr>
                <a:spLocks noChangeAspect="1"/>
              </p:cNvSpPr>
              <p:nvPr/>
            </p:nvSpPr>
            <p:spPr bwMode="auto">
              <a:xfrm>
                <a:off x="521" y="381"/>
                <a:ext cx="24" cy="58"/>
              </a:xfrm>
              <a:custGeom>
                <a:avLst/>
                <a:gdLst>
                  <a:gd name="T0" fmla="*/ 0 w 128"/>
                  <a:gd name="T1" fmla="*/ 386 h 386"/>
                  <a:gd name="T2" fmla="*/ 128 w 128"/>
                  <a:gd name="T3" fmla="*/ 386 h 386"/>
                  <a:gd name="T4" fmla="*/ 64 w 128"/>
                  <a:gd name="T5" fmla="*/ 0 h 386"/>
                  <a:gd name="T6" fmla="*/ 0 w 128"/>
                  <a:gd name="T7" fmla="*/ 386 h 386"/>
                </a:gdLst>
                <a:ahLst/>
                <a:cxnLst>
                  <a:cxn ang="0">
                    <a:pos x="T0" y="T1"/>
                  </a:cxn>
                  <a:cxn ang="0">
                    <a:pos x="T2" y="T3"/>
                  </a:cxn>
                  <a:cxn ang="0">
                    <a:pos x="T4" y="T5"/>
                  </a:cxn>
                  <a:cxn ang="0">
                    <a:pos x="T6" y="T7"/>
                  </a:cxn>
                </a:cxnLst>
                <a:rect l="0" t="0" r="r" b="b"/>
                <a:pathLst>
                  <a:path w="128" h="386">
                    <a:moveTo>
                      <a:pt x="0" y="386"/>
                    </a:moveTo>
                    <a:lnTo>
                      <a:pt x="128" y="386"/>
                    </a:lnTo>
                    <a:lnTo>
                      <a:pt x="64" y="0"/>
                    </a:lnTo>
                    <a:lnTo>
                      <a:pt x="0" y="386"/>
                    </a:lnTo>
                  </a:path>
                </a:pathLst>
              </a:custGeom>
              <a:noFill/>
              <a:ln w="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7" name="Line 68"/>
              <p:cNvSpPr>
                <a:spLocks noChangeAspect="1" noChangeShapeType="1"/>
              </p:cNvSpPr>
              <p:nvPr/>
            </p:nvSpPr>
            <p:spPr bwMode="auto">
              <a:xfrm flipV="1">
                <a:off x="622" y="438"/>
                <a:ext cx="0" cy="95"/>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8" name="未知"/>
              <p:cNvSpPr>
                <a:spLocks noChangeAspect="1"/>
              </p:cNvSpPr>
              <p:nvPr/>
            </p:nvSpPr>
            <p:spPr bwMode="auto">
              <a:xfrm>
                <a:off x="611" y="381"/>
                <a:ext cx="23" cy="58"/>
              </a:xfrm>
              <a:custGeom>
                <a:avLst/>
                <a:gdLst>
                  <a:gd name="T0" fmla="*/ 0 w 128"/>
                  <a:gd name="T1" fmla="*/ 386 h 386"/>
                  <a:gd name="T2" fmla="*/ 128 w 128"/>
                  <a:gd name="T3" fmla="*/ 386 h 386"/>
                  <a:gd name="T4" fmla="*/ 65 w 128"/>
                  <a:gd name="T5" fmla="*/ 0 h 386"/>
                  <a:gd name="T6" fmla="*/ 0 w 128"/>
                  <a:gd name="T7" fmla="*/ 386 h 386"/>
                </a:gdLst>
                <a:ahLst/>
                <a:cxnLst>
                  <a:cxn ang="0">
                    <a:pos x="T0" y="T1"/>
                  </a:cxn>
                  <a:cxn ang="0">
                    <a:pos x="T2" y="T3"/>
                  </a:cxn>
                  <a:cxn ang="0">
                    <a:pos x="T4" y="T5"/>
                  </a:cxn>
                  <a:cxn ang="0">
                    <a:pos x="T6" y="T7"/>
                  </a:cxn>
                </a:cxnLst>
                <a:rect l="0" t="0" r="r" b="b"/>
                <a:pathLst>
                  <a:path w="128" h="386">
                    <a:moveTo>
                      <a:pt x="0" y="386"/>
                    </a:moveTo>
                    <a:lnTo>
                      <a:pt x="128" y="386"/>
                    </a:lnTo>
                    <a:lnTo>
                      <a:pt x="65" y="0"/>
                    </a:lnTo>
                    <a:lnTo>
                      <a:pt x="0" y="386"/>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9" name="未知"/>
              <p:cNvSpPr>
                <a:spLocks noChangeAspect="1"/>
              </p:cNvSpPr>
              <p:nvPr/>
            </p:nvSpPr>
            <p:spPr bwMode="auto">
              <a:xfrm>
                <a:off x="611" y="381"/>
                <a:ext cx="23" cy="58"/>
              </a:xfrm>
              <a:custGeom>
                <a:avLst/>
                <a:gdLst>
                  <a:gd name="T0" fmla="*/ 0 w 128"/>
                  <a:gd name="T1" fmla="*/ 386 h 386"/>
                  <a:gd name="T2" fmla="*/ 128 w 128"/>
                  <a:gd name="T3" fmla="*/ 386 h 386"/>
                  <a:gd name="T4" fmla="*/ 65 w 128"/>
                  <a:gd name="T5" fmla="*/ 0 h 386"/>
                  <a:gd name="T6" fmla="*/ 0 w 128"/>
                  <a:gd name="T7" fmla="*/ 386 h 386"/>
                </a:gdLst>
                <a:ahLst/>
                <a:cxnLst>
                  <a:cxn ang="0">
                    <a:pos x="T0" y="T1"/>
                  </a:cxn>
                  <a:cxn ang="0">
                    <a:pos x="T2" y="T3"/>
                  </a:cxn>
                  <a:cxn ang="0">
                    <a:pos x="T4" y="T5"/>
                  </a:cxn>
                  <a:cxn ang="0">
                    <a:pos x="T6" y="T7"/>
                  </a:cxn>
                </a:cxnLst>
                <a:rect l="0" t="0" r="r" b="b"/>
                <a:pathLst>
                  <a:path w="128" h="386">
                    <a:moveTo>
                      <a:pt x="0" y="386"/>
                    </a:moveTo>
                    <a:lnTo>
                      <a:pt x="128" y="386"/>
                    </a:lnTo>
                    <a:lnTo>
                      <a:pt x="65" y="0"/>
                    </a:lnTo>
                    <a:lnTo>
                      <a:pt x="0" y="386"/>
                    </a:lnTo>
                  </a:path>
                </a:pathLst>
              </a:custGeom>
              <a:noFill/>
              <a:ln w="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80" name="Line 71"/>
              <p:cNvSpPr>
                <a:spLocks noChangeAspect="1" noChangeShapeType="1"/>
              </p:cNvSpPr>
              <p:nvPr/>
            </p:nvSpPr>
            <p:spPr bwMode="auto">
              <a:xfrm>
                <a:off x="696" y="594"/>
                <a:ext cx="1" cy="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1" name="Line 72"/>
              <p:cNvSpPr>
                <a:spLocks noChangeAspect="1" noChangeShapeType="1"/>
              </p:cNvSpPr>
              <p:nvPr/>
            </p:nvSpPr>
            <p:spPr bwMode="auto">
              <a:xfrm>
                <a:off x="771" y="655"/>
                <a:ext cx="1" cy="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2" name="Line 73"/>
              <p:cNvSpPr>
                <a:spLocks noChangeAspect="1" noChangeShapeType="1"/>
              </p:cNvSpPr>
              <p:nvPr/>
            </p:nvSpPr>
            <p:spPr bwMode="auto">
              <a:xfrm>
                <a:off x="845" y="716"/>
                <a:ext cx="1" cy="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3" name="Line 74"/>
              <p:cNvSpPr>
                <a:spLocks noChangeAspect="1" noChangeShapeType="1"/>
              </p:cNvSpPr>
              <p:nvPr/>
            </p:nvSpPr>
            <p:spPr bwMode="auto">
              <a:xfrm>
                <a:off x="919" y="777"/>
                <a:ext cx="1" cy="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4" name="Line 75"/>
              <p:cNvSpPr>
                <a:spLocks noChangeAspect="1" noChangeShapeType="1"/>
              </p:cNvSpPr>
              <p:nvPr/>
            </p:nvSpPr>
            <p:spPr bwMode="auto">
              <a:xfrm>
                <a:off x="994" y="838"/>
                <a:ext cx="1" cy="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5" name="Line 76"/>
              <p:cNvSpPr>
                <a:spLocks noChangeAspect="1" noChangeShapeType="1"/>
              </p:cNvSpPr>
              <p:nvPr/>
            </p:nvSpPr>
            <p:spPr bwMode="auto">
              <a:xfrm flipV="1">
                <a:off x="696" y="499"/>
                <a:ext cx="1" cy="95"/>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6" name="未知"/>
              <p:cNvSpPr>
                <a:spLocks noChangeAspect="1"/>
              </p:cNvSpPr>
              <p:nvPr/>
            </p:nvSpPr>
            <p:spPr bwMode="auto">
              <a:xfrm>
                <a:off x="685" y="442"/>
                <a:ext cx="23" cy="58"/>
              </a:xfrm>
              <a:custGeom>
                <a:avLst/>
                <a:gdLst>
                  <a:gd name="T0" fmla="*/ 0 w 127"/>
                  <a:gd name="T1" fmla="*/ 384 h 384"/>
                  <a:gd name="T2" fmla="*/ 127 w 127"/>
                  <a:gd name="T3" fmla="*/ 384 h 384"/>
                  <a:gd name="T4" fmla="*/ 64 w 127"/>
                  <a:gd name="T5" fmla="*/ 0 h 384"/>
                  <a:gd name="T6" fmla="*/ 0 w 127"/>
                  <a:gd name="T7" fmla="*/ 384 h 384"/>
                </a:gdLst>
                <a:ahLst/>
                <a:cxnLst>
                  <a:cxn ang="0">
                    <a:pos x="T0" y="T1"/>
                  </a:cxn>
                  <a:cxn ang="0">
                    <a:pos x="T2" y="T3"/>
                  </a:cxn>
                  <a:cxn ang="0">
                    <a:pos x="T4" y="T5"/>
                  </a:cxn>
                  <a:cxn ang="0">
                    <a:pos x="T6" y="T7"/>
                  </a:cxn>
                </a:cxnLst>
                <a:rect l="0" t="0" r="r" b="b"/>
                <a:pathLst>
                  <a:path w="127" h="384">
                    <a:moveTo>
                      <a:pt x="0" y="384"/>
                    </a:moveTo>
                    <a:lnTo>
                      <a:pt x="127" y="384"/>
                    </a:lnTo>
                    <a:lnTo>
                      <a:pt x="64" y="0"/>
                    </a:lnTo>
                    <a:lnTo>
                      <a:pt x="0" y="384"/>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7" name="未知"/>
              <p:cNvSpPr>
                <a:spLocks noChangeAspect="1"/>
              </p:cNvSpPr>
              <p:nvPr/>
            </p:nvSpPr>
            <p:spPr bwMode="auto">
              <a:xfrm>
                <a:off x="685" y="442"/>
                <a:ext cx="23" cy="58"/>
              </a:xfrm>
              <a:custGeom>
                <a:avLst/>
                <a:gdLst>
                  <a:gd name="T0" fmla="*/ 0 w 127"/>
                  <a:gd name="T1" fmla="*/ 384 h 384"/>
                  <a:gd name="T2" fmla="*/ 127 w 127"/>
                  <a:gd name="T3" fmla="*/ 384 h 384"/>
                  <a:gd name="T4" fmla="*/ 64 w 127"/>
                  <a:gd name="T5" fmla="*/ 0 h 384"/>
                  <a:gd name="T6" fmla="*/ 0 w 127"/>
                  <a:gd name="T7" fmla="*/ 384 h 384"/>
                </a:gdLst>
                <a:ahLst/>
                <a:cxnLst>
                  <a:cxn ang="0">
                    <a:pos x="T0" y="T1"/>
                  </a:cxn>
                  <a:cxn ang="0">
                    <a:pos x="T2" y="T3"/>
                  </a:cxn>
                  <a:cxn ang="0">
                    <a:pos x="T4" y="T5"/>
                  </a:cxn>
                  <a:cxn ang="0">
                    <a:pos x="T6" y="T7"/>
                  </a:cxn>
                </a:cxnLst>
                <a:rect l="0" t="0" r="r" b="b"/>
                <a:pathLst>
                  <a:path w="127" h="384">
                    <a:moveTo>
                      <a:pt x="0" y="384"/>
                    </a:moveTo>
                    <a:lnTo>
                      <a:pt x="127" y="384"/>
                    </a:lnTo>
                    <a:lnTo>
                      <a:pt x="64" y="0"/>
                    </a:lnTo>
                    <a:lnTo>
                      <a:pt x="0" y="384"/>
                    </a:lnTo>
                  </a:path>
                </a:pathLst>
              </a:custGeom>
              <a:noFill/>
              <a:ln w="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88" name="Line 79"/>
              <p:cNvSpPr>
                <a:spLocks noChangeAspect="1" noChangeShapeType="1"/>
              </p:cNvSpPr>
              <p:nvPr/>
            </p:nvSpPr>
            <p:spPr bwMode="auto">
              <a:xfrm flipV="1">
                <a:off x="771" y="560"/>
                <a:ext cx="1" cy="95"/>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 name="未知"/>
              <p:cNvSpPr>
                <a:spLocks noChangeAspect="1"/>
              </p:cNvSpPr>
              <p:nvPr/>
            </p:nvSpPr>
            <p:spPr bwMode="auto">
              <a:xfrm>
                <a:off x="760" y="503"/>
                <a:ext cx="23" cy="58"/>
              </a:xfrm>
              <a:custGeom>
                <a:avLst/>
                <a:gdLst>
                  <a:gd name="T0" fmla="*/ 0 w 128"/>
                  <a:gd name="T1" fmla="*/ 384 h 384"/>
                  <a:gd name="T2" fmla="*/ 128 w 128"/>
                  <a:gd name="T3" fmla="*/ 384 h 384"/>
                  <a:gd name="T4" fmla="*/ 64 w 128"/>
                  <a:gd name="T5" fmla="*/ 0 h 384"/>
                  <a:gd name="T6" fmla="*/ 0 w 128"/>
                  <a:gd name="T7" fmla="*/ 384 h 384"/>
                </a:gdLst>
                <a:ahLst/>
                <a:cxnLst>
                  <a:cxn ang="0">
                    <a:pos x="T0" y="T1"/>
                  </a:cxn>
                  <a:cxn ang="0">
                    <a:pos x="T2" y="T3"/>
                  </a:cxn>
                  <a:cxn ang="0">
                    <a:pos x="T4" y="T5"/>
                  </a:cxn>
                  <a:cxn ang="0">
                    <a:pos x="T6" y="T7"/>
                  </a:cxn>
                </a:cxnLst>
                <a:rect l="0" t="0" r="r" b="b"/>
                <a:pathLst>
                  <a:path w="128" h="384">
                    <a:moveTo>
                      <a:pt x="0" y="384"/>
                    </a:moveTo>
                    <a:lnTo>
                      <a:pt x="128" y="384"/>
                    </a:lnTo>
                    <a:lnTo>
                      <a:pt x="64" y="0"/>
                    </a:lnTo>
                    <a:lnTo>
                      <a:pt x="0" y="384"/>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0" name="未知"/>
              <p:cNvSpPr>
                <a:spLocks noChangeAspect="1"/>
              </p:cNvSpPr>
              <p:nvPr/>
            </p:nvSpPr>
            <p:spPr bwMode="auto">
              <a:xfrm>
                <a:off x="760" y="503"/>
                <a:ext cx="23" cy="58"/>
              </a:xfrm>
              <a:custGeom>
                <a:avLst/>
                <a:gdLst>
                  <a:gd name="T0" fmla="*/ 0 w 128"/>
                  <a:gd name="T1" fmla="*/ 384 h 384"/>
                  <a:gd name="T2" fmla="*/ 128 w 128"/>
                  <a:gd name="T3" fmla="*/ 384 h 384"/>
                  <a:gd name="T4" fmla="*/ 64 w 128"/>
                  <a:gd name="T5" fmla="*/ 0 h 384"/>
                  <a:gd name="T6" fmla="*/ 0 w 128"/>
                  <a:gd name="T7" fmla="*/ 384 h 384"/>
                </a:gdLst>
                <a:ahLst/>
                <a:cxnLst>
                  <a:cxn ang="0">
                    <a:pos x="T0" y="T1"/>
                  </a:cxn>
                  <a:cxn ang="0">
                    <a:pos x="T2" y="T3"/>
                  </a:cxn>
                  <a:cxn ang="0">
                    <a:pos x="T4" y="T5"/>
                  </a:cxn>
                  <a:cxn ang="0">
                    <a:pos x="T6" y="T7"/>
                  </a:cxn>
                </a:cxnLst>
                <a:rect l="0" t="0" r="r" b="b"/>
                <a:pathLst>
                  <a:path w="128" h="384">
                    <a:moveTo>
                      <a:pt x="0" y="384"/>
                    </a:moveTo>
                    <a:lnTo>
                      <a:pt x="128" y="384"/>
                    </a:lnTo>
                    <a:lnTo>
                      <a:pt x="64" y="0"/>
                    </a:lnTo>
                    <a:lnTo>
                      <a:pt x="0" y="384"/>
                    </a:lnTo>
                  </a:path>
                </a:pathLst>
              </a:custGeom>
              <a:noFill/>
              <a:ln w="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91" name="Line 82"/>
              <p:cNvSpPr>
                <a:spLocks noChangeAspect="1" noChangeShapeType="1"/>
              </p:cNvSpPr>
              <p:nvPr/>
            </p:nvSpPr>
            <p:spPr bwMode="auto">
              <a:xfrm flipV="1">
                <a:off x="845" y="620"/>
                <a:ext cx="1" cy="96"/>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2" name="未知"/>
              <p:cNvSpPr>
                <a:spLocks noChangeAspect="1"/>
              </p:cNvSpPr>
              <p:nvPr/>
            </p:nvSpPr>
            <p:spPr bwMode="auto">
              <a:xfrm>
                <a:off x="834" y="564"/>
                <a:ext cx="23" cy="58"/>
              </a:xfrm>
              <a:custGeom>
                <a:avLst/>
                <a:gdLst>
                  <a:gd name="T0" fmla="*/ 0 w 127"/>
                  <a:gd name="T1" fmla="*/ 386 h 386"/>
                  <a:gd name="T2" fmla="*/ 127 w 127"/>
                  <a:gd name="T3" fmla="*/ 386 h 386"/>
                  <a:gd name="T4" fmla="*/ 63 w 127"/>
                  <a:gd name="T5" fmla="*/ 0 h 386"/>
                  <a:gd name="T6" fmla="*/ 0 w 127"/>
                  <a:gd name="T7" fmla="*/ 386 h 386"/>
                </a:gdLst>
                <a:ahLst/>
                <a:cxnLst>
                  <a:cxn ang="0">
                    <a:pos x="T0" y="T1"/>
                  </a:cxn>
                  <a:cxn ang="0">
                    <a:pos x="T2" y="T3"/>
                  </a:cxn>
                  <a:cxn ang="0">
                    <a:pos x="T4" y="T5"/>
                  </a:cxn>
                  <a:cxn ang="0">
                    <a:pos x="T6" y="T7"/>
                  </a:cxn>
                </a:cxnLst>
                <a:rect l="0" t="0" r="r" b="b"/>
                <a:pathLst>
                  <a:path w="127" h="386">
                    <a:moveTo>
                      <a:pt x="0" y="386"/>
                    </a:moveTo>
                    <a:lnTo>
                      <a:pt x="127" y="386"/>
                    </a:lnTo>
                    <a:lnTo>
                      <a:pt x="63" y="0"/>
                    </a:lnTo>
                    <a:lnTo>
                      <a:pt x="0" y="386"/>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3" name="未知"/>
              <p:cNvSpPr>
                <a:spLocks noChangeAspect="1"/>
              </p:cNvSpPr>
              <p:nvPr/>
            </p:nvSpPr>
            <p:spPr bwMode="auto">
              <a:xfrm>
                <a:off x="834" y="564"/>
                <a:ext cx="23" cy="58"/>
              </a:xfrm>
              <a:custGeom>
                <a:avLst/>
                <a:gdLst>
                  <a:gd name="T0" fmla="*/ 0 w 127"/>
                  <a:gd name="T1" fmla="*/ 386 h 386"/>
                  <a:gd name="T2" fmla="*/ 127 w 127"/>
                  <a:gd name="T3" fmla="*/ 386 h 386"/>
                  <a:gd name="T4" fmla="*/ 63 w 127"/>
                  <a:gd name="T5" fmla="*/ 0 h 386"/>
                  <a:gd name="T6" fmla="*/ 0 w 127"/>
                  <a:gd name="T7" fmla="*/ 386 h 386"/>
                </a:gdLst>
                <a:ahLst/>
                <a:cxnLst>
                  <a:cxn ang="0">
                    <a:pos x="T0" y="T1"/>
                  </a:cxn>
                  <a:cxn ang="0">
                    <a:pos x="T2" y="T3"/>
                  </a:cxn>
                  <a:cxn ang="0">
                    <a:pos x="T4" y="T5"/>
                  </a:cxn>
                  <a:cxn ang="0">
                    <a:pos x="T6" y="T7"/>
                  </a:cxn>
                </a:cxnLst>
                <a:rect l="0" t="0" r="r" b="b"/>
                <a:pathLst>
                  <a:path w="127" h="386">
                    <a:moveTo>
                      <a:pt x="0" y="386"/>
                    </a:moveTo>
                    <a:lnTo>
                      <a:pt x="127" y="386"/>
                    </a:lnTo>
                    <a:lnTo>
                      <a:pt x="63" y="0"/>
                    </a:lnTo>
                    <a:lnTo>
                      <a:pt x="0" y="386"/>
                    </a:lnTo>
                  </a:path>
                </a:pathLst>
              </a:custGeom>
              <a:noFill/>
              <a:ln w="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94" name="Line 85"/>
              <p:cNvSpPr>
                <a:spLocks noChangeAspect="1" noChangeShapeType="1"/>
              </p:cNvSpPr>
              <p:nvPr/>
            </p:nvSpPr>
            <p:spPr bwMode="auto">
              <a:xfrm flipV="1">
                <a:off x="919" y="681"/>
                <a:ext cx="1" cy="96"/>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5" name="未知"/>
              <p:cNvSpPr>
                <a:spLocks noChangeAspect="1"/>
              </p:cNvSpPr>
              <p:nvPr/>
            </p:nvSpPr>
            <p:spPr bwMode="auto">
              <a:xfrm>
                <a:off x="909" y="624"/>
                <a:ext cx="23" cy="59"/>
              </a:xfrm>
              <a:custGeom>
                <a:avLst/>
                <a:gdLst>
                  <a:gd name="T0" fmla="*/ 0 w 127"/>
                  <a:gd name="T1" fmla="*/ 385 h 385"/>
                  <a:gd name="T2" fmla="*/ 127 w 127"/>
                  <a:gd name="T3" fmla="*/ 385 h 385"/>
                  <a:gd name="T4" fmla="*/ 63 w 127"/>
                  <a:gd name="T5" fmla="*/ 0 h 385"/>
                  <a:gd name="T6" fmla="*/ 0 w 127"/>
                  <a:gd name="T7" fmla="*/ 385 h 385"/>
                </a:gdLst>
                <a:ahLst/>
                <a:cxnLst>
                  <a:cxn ang="0">
                    <a:pos x="T0" y="T1"/>
                  </a:cxn>
                  <a:cxn ang="0">
                    <a:pos x="T2" y="T3"/>
                  </a:cxn>
                  <a:cxn ang="0">
                    <a:pos x="T4" y="T5"/>
                  </a:cxn>
                  <a:cxn ang="0">
                    <a:pos x="T6" y="T7"/>
                  </a:cxn>
                </a:cxnLst>
                <a:rect l="0" t="0" r="r" b="b"/>
                <a:pathLst>
                  <a:path w="127" h="385">
                    <a:moveTo>
                      <a:pt x="0" y="385"/>
                    </a:moveTo>
                    <a:lnTo>
                      <a:pt x="127" y="385"/>
                    </a:lnTo>
                    <a:lnTo>
                      <a:pt x="63" y="0"/>
                    </a:lnTo>
                    <a:lnTo>
                      <a:pt x="0" y="385"/>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6" name="未知"/>
              <p:cNvSpPr>
                <a:spLocks noChangeAspect="1"/>
              </p:cNvSpPr>
              <p:nvPr/>
            </p:nvSpPr>
            <p:spPr bwMode="auto">
              <a:xfrm>
                <a:off x="909" y="624"/>
                <a:ext cx="23" cy="59"/>
              </a:xfrm>
              <a:custGeom>
                <a:avLst/>
                <a:gdLst>
                  <a:gd name="T0" fmla="*/ 0 w 127"/>
                  <a:gd name="T1" fmla="*/ 385 h 385"/>
                  <a:gd name="T2" fmla="*/ 127 w 127"/>
                  <a:gd name="T3" fmla="*/ 385 h 385"/>
                  <a:gd name="T4" fmla="*/ 63 w 127"/>
                  <a:gd name="T5" fmla="*/ 0 h 385"/>
                  <a:gd name="T6" fmla="*/ 0 w 127"/>
                  <a:gd name="T7" fmla="*/ 385 h 385"/>
                </a:gdLst>
                <a:ahLst/>
                <a:cxnLst>
                  <a:cxn ang="0">
                    <a:pos x="T0" y="T1"/>
                  </a:cxn>
                  <a:cxn ang="0">
                    <a:pos x="T2" y="T3"/>
                  </a:cxn>
                  <a:cxn ang="0">
                    <a:pos x="T4" y="T5"/>
                  </a:cxn>
                  <a:cxn ang="0">
                    <a:pos x="T6" y="T7"/>
                  </a:cxn>
                </a:cxnLst>
                <a:rect l="0" t="0" r="r" b="b"/>
                <a:pathLst>
                  <a:path w="127" h="385">
                    <a:moveTo>
                      <a:pt x="0" y="385"/>
                    </a:moveTo>
                    <a:lnTo>
                      <a:pt x="127" y="385"/>
                    </a:lnTo>
                    <a:lnTo>
                      <a:pt x="63" y="0"/>
                    </a:lnTo>
                    <a:lnTo>
                      <a:pt x="0" y="385"/>
                    </a:lnTo>
                  </a:path>
                </a:pathLst>
              </a:custGeom>
              <a:noFill/>
              <a:ln w="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97" name="未知"/>
              <p:cNvSpPr>
                <a:spLocks noChangeAspect="1"/>
              </p:cNvSpPr>
              <p:nvPr/>
            </p:nvSpPr>
            <p:spPr bwMode="auto">
              <a:xfrm>
                <a:off x="984" y="685"/>
                <a:ext cx="22" cy="58"/>
              </a:xfrm>
              <a:custGeom>
                <a:avLst/>
                <a:gdLst>
                  <a:gd name="T0" fmla="*/ 0 w 128"/>
                  <a:gd name="T1" fmla="*/ 384 h 384"/>
                  <a:gd name="T2" fmla="*/ 128 w 128"/>
                  <a:gd name="T3" fmla="*/ 384 h 384"/>
                  <a:gd name="T4" fmla="*/ 63 w 128"/>
                  <a:gd name="T5" fmla="*/ 0 h 384"/>
                  <a:gd name="T6" fmla="*/ 0 w 128"/>
                  <a:gd name="T7" fmla="*/ 384 h 384"/>
                </a:gdLst>
                <a:ahLst/>
                <a:cxnLst>
                  <a:cxn ang="0">
                    <a:pos x="T0" y="T1"/>
                  </a:cxn>
                  <a:cxn ang="0">
                    <a:pos x="T2" y="T3"/>
                  </a:cxn>
                  <a:cxn ang="0">
                    <a:pos x="T4" y="T5"/>
                  </a:cxn>
                  <a:cxn ang="0">
                    <a:pos x="T6" y="T7"/>
                  </a:cxn>
                </a:cxnLst>
                <a:rect l="0" t="0" r="r" b="b"/>
                <a:pathLst>
                  <a:path w="128" h="384">
                    <a:moveTo>
                      <a:pt x="0" y="384"/>
                    </a:moveTo>
                    <a:lnTo>
                      <a:pt x="128" y="384"/>
                    </a:lnTo>
                    <a:lnTo>
                      <a:pt x="63" y="0"/>
                    </a:lnTo>
                    <a:lnTo>
                      <a:pt x="0" y="384"/>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8" name="未知"/>
              <p:cNvSpPr>
                <a:spLocks noChangeAspect="1"/>
              </p:cNvSpPr>
              <p:nvPr/>
            </p:nvSpPr>
            <p:spPr bwMode="auto">
              <a:xfrm>
                <a:off x="984" y="685"/>
                <a:ext cx="22" cy="58"/>
              </a:xfrm>
              <a:custGeom>
                <a:avLst/>
                <a:gdLst>
                  <a:gd name="T0" fmla="*/ 0 w 128"/>
                  <a:gd name="T1" fmla="*/ 384 h 384"/>
                  <a:gd name="T2" fmla="*/ 128 w 128"/>
                  <a:gd name="T3" fmla="*/ 384 h 384"/>
                  <a:gd name="T4" fmla="*/ 63 w 128"/>
                  <a:gd name="T5" fmla="*/ 0 h 384"/>
                  <a:gd name="T6" fmla="*/ 0 w 128"/>
                  <a:gd name="T7" fmla="*/ 384 h 384"/>
                </a:gdLst>
                <a:ahLst/>
                <a:cxnLst>
                  <a:cxn ang="0">
                    <a:pos x="T0" y="T1"/>
                  </a:cxn>
                  <a:cxn ang="0">
                    <a:pos x="T2" y="T3"/>
                  </a:cxn>
                  <a:cxn ang="0">
                    <a:pos x="T4" y="T5"/>
                  </a:cxn>
                  <a:cxn ang="0">
                    <a:pos x="T6" y="T7"/>
                  </a:cxn>
                </a:cxnLst>
                <a:rect l="0" t="0" r="r" b="b"/>
                <a:pathLst>
                  <a:path w="128" h="384">
                    <a:moveTo>
                      <a:pt x="0" y="384"/>
                    </a:moveTo>
                    <a:lnTo>
                      <a:pt x="128" y="384"/>
                    </a:lnTo>
                    <a:lnTo>
                      <a:pt x="63" y="0"/>
                    </a:lnTo>
                    <a:lnTo>
                      <a:pt x="0" y="384"/>
                    </a:lnTo>
                  </a:path>
                </a:pathLst>
              </a:custGeom>
              <a:noFill/>
              <a:ln w="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99" name="Line 90"/>
              <p:cNvSpPr>
                <a:spLocks noChangeAspect="1" noChangeShapeType="1"/>
              </p:cNvSpPr>
              <p:nvPr/>
            </p:nvSpPr>
            <p:spPr bwMode="auto">
              <a:xfrm flipV="1">
                <a:off x="994" y="742"/>
                <a:ext cx="1" cy="96"/>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0" name="未知"/>
              <p:cNvSpPr>
                <a:spLocks noChangeAspect="1"/>
              </p:cNvSpPr>
              <p:nvPr/>
            </p:nvSpPr>
            <p:spPr bwMode="auto">
              <a:xfrm>
                <a:off x="1058" y="746"/>
                <a:ext cx="23" cy="58"/>
              </a:xfrm>
              <a:custGeom>
                <a:avLst/>
                <a:gdLst>
                  <a:gd name="T0" fmla="*/ 0 w 127"/>
                  <a:gd name="T1" fmla="*/ 385 h 385"/>
                  <a:gd name="T2" fmla="*/ 127 w 127"/>
                  <a:gd name="T3" fmla="*/ 385 h 385"/>
                  <a:gd name="T4" fmla="*/ 63 w 127"/>
                  <a:gd name="T5" fmla="*/ 0 h 385"/>
                  <a:gd name="T6" fmla="*/ 0 w 127"/>
                  <a:gd name="T7" fmla="*/ 385 h 385"/>
                </a:gdLst>
                <a:ahLst/>
                <a:cxnLst>
                  <a:cxn ang="0">
                    <a:pos x="T0" y="T1"/>
                  </a:cxn>
                  <a:cxn ang="0">
                    <a:pos x="T2" y="T3"/>
                  </a:cxn>
                  <a:cxn ang="0">
                    <a:pos x="T4" y="T5"/>
                  </a:cxn>
                  <a:cxn ang="0">
                    <a:pos x="T6" y="T7"/>
                  </a:cxn>
                </a:cxnLst>
                <a:rect l="0" t="0" r="r" b="b"/>
                <a:pathLst>
                  <a:path w="127" h="385">
                    <a:moveTo>
                      <a:pt x="0" y="385"/>
                    </a:moveTo>
                    <a:lnTo>
                      <a:pt x="127" y="385"/>
                    </a:lnTo>
                    <a:lnTo>
                      <a:pt x="63" y="0"/>
                    </a:lnTo>
                    <a:lnTo>
                      <a:pt x="0" y="385"/>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 name="未知"/>
              <p:cNvSpPr>
                <a:spLocks noChangeAspect="1"/>
              </p:cNvSpPr>
              <p:nvPr/>
            </p:nvSpPr>
            <p:spPr bwMode="auto">
              <a:xfrm>
                <a:off x="1058" y="746"/>
                <a:ext cx="23" cy="58"/>
              </a:xfrm>
              <a:custGeom>
                <a:avLst/>
                <a:gdLst>
                  <a:gd name="T0" fmla="*/ 0 w 127"/>
                  <a:gd name="T1" fmla="*/ 385 h 385"/>
                  <a:gd name="T2" fmla="*/ 127 w 127"/>
                  <a:gd name="T3" fmla="*/ 385 h 385"/>
                  <a:gd name="T4" fmla="*/ 63 w 127"/>
                  <a:gd name="T5" fmla="*/ 0 h 385"/>
                  <a:gd name="T6" fmla="*/ 0 w 127"/>
                  <a:gd name="T7" fmla="*/ 385 h 385"/>
                </a:gdLst>
                <a:ahLst/>
                <a:cxnLst>
                  <a:cxn ang="0">
                    <a:pos x="T0" y="T1"/>
                  </a:cxn>
                  <a:cxn ang="0">
                    <a:pos x="T2" y="T3"/>
                  </a:cxn>
                  <a:cxn ang="0">
                    <a:pos x="T4" y="T5"/>
                  </a:cxn>
                  <a:cxn ang="0">
                    <a:pos x="T6" y="T7"/>
                  </a:cxn>
                </a:cxnLst>
                <a:rect l="0" t="0" r="r" b="b"/>
                <a:pathLst>
                  <a:path w="127" h="385">
                    <a:moveTo>
                      <a:pt x="0" y="385"/>
                    </a:moveTo>
                    <a:lnTo>
                      <a:pt x="127" y="385"/>
                    </a:lnTo>
                    <a:lnTo>
                      <a:pt x="63" y="0"/>
                    </a:lnTo>
                    <a:lnTo>
                      <a:pt x="0" y="385"/>
                    </a:lnTo>
                  </a:path>
                </a:pathLst>
              </a:custGeom>
              <a:noFill/>
              <a:ln w="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2" name="Line 93"/>
              <p:cNvSpPr>
                <a:spLocks noChangeAspect="1" noChangeShapeType="1"/>
              </p:cNvSpPr>
              <p:nvPr/>
            </p:nvSpPr>
            <p:spPr bwMode="auto">
              <a:xfrm flipV="1">
                <a:off x="1068" y="802"/>
                <a:ext cx="1" cy="97"/>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3" name="Line 94"/>
              <p:cNvSpPr>
                <a:spLocks noChangeAspect="1" noChangeShapeType="1"/>
              </p:cNvSpPr>
              <p:nvPr/>
            </p:nvSpPr>
            <p:spPr bwMode="auto">
              <a:xfrm flipV="1">
                <a:off x="1158" y="802"/>
                <a:ext cx="1" cy="97"/>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4" name="Line 95"/>
              <p:cNvSpPr>
                <a:spLocks noChangeAspect="1" noChangeShapeType="1"/>
              </p:cNvSpPr>
              <p:nvPr/>
            </p:nvSpPr>
            <p:spPr bwMode="auto">
              <a:xfrm flipV="1">
                <a:off x="1247" y="802"/>
                <a:ext cx="1" cy="97"/>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5" name="未知"/>
              <p:cNvSpPr>
                <a:spLocks noChangeAspect="1"/>
              </p:cNvSpPr>
              <p:nvPr/>
            </p:nvSpPr>
            <p:spPr bwMode="auto">
              <a:xfrm>
                <a:off x="1236" y="746"/>
                <a:ext cx="23" cy="58"/>
              </a:xfrm>
              <a:custGeom>
                <a:avLst/>
                <a:gdLst>
                  <a:gd name="T0" fmla="*/ 0 w 128"/>
                  <a:gd name="T1" fmla="*/ 385 h 385"/>
                  <a:gd name="T2" fmla="*/ 128 w 128"/>
                  <a:gd name="T3" fmla="*/ 385 h 385"/>
                  <a:gd name="T4" fmla="*/ 64 w 128"/>
                  <a:gd name="T5" fmla="*/ 0 h 385"/>
                  <a:gd name="T6" fmla="*/ 0 w 128"/>
                  <a:gd name="T7" fmla="*/ 385 h 385"/>
                </a:gdLst>
                <a:ahLst/>
                <a:cxnLst>
                  <a:cxn ang="0">
                    <a:pos x="T0" y="T1"/>
                  </a:cxn>
                  <a:cxn ang="0">
                    <a:pos x="T2" y="T3"/>
                  </a:cxn>
                  <a:cxn ang="0">
                    <a:pos x="T4" y="T5"/>
                  </a:cxn>
                  <a:cxn ang="0">
                    <a:pos x="T6" y="T7"/>
                  </a:cxn>
                </a:cxnLst>
                <a:rect l="0" t="0" r="r" b="b"/>
                <a:pathLst>
                  <a:path w="128" h="385">
                    <a:moveTo>
                      <a:pt x="0" y="385"/>
                    </a:moveTo>
                    <a:lnTo>
                      <a:pt x="128" y="385"/>
                    </a:lnTo>
                    <a:lnTo>
                      <a:pt x="64" y="0"/>
                    </a:lnTo>
                    <a:lnTo>
                      <a:pt x="0" y="385"/>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6" name="未知"/>
              <p:cNvSpPr>
                <a:spLocks noChangeAspect="1"/>
              </p:cNvSpPr>
              <p:nvPr/>
            </p:nvSpPr>
            <p:spPr bwMode="auto">
              <a:xfrm>
                <a:off x="1236" y="746"/>
                <a:ext cx="23" cy="58"/>
              </a:xfrm>
              <a:custGeom>
                <a:avLst/>
                <a:gdLst>
                  <a:gd name="T0" fmla="*/ 0 w 128"/>
                  <a:gd name="T1" fmla="*/ 385 h 385"/>
                  <a:gd name="T2" fmla="*/ 128 w 128"/>
                  <a:gd name="T3" fmla="*/ 385 h 385"/>
                  <a:gd name="T4" fmla="*/ 64 w 128"/>
                  <a:gd name="T5" fmla="*/ 0 h 385"/>
                  <a:gd name="T6" fmla="*/ 0 w 128"/>
                  <a:gd name="T7" fmla="*/ 385 h 385"/>
                </a:gdLst>
                <a:ahLst/>
                <a:cxnLst>
                  <a:cxn ang="0">
                    <a:pos x="T0" y="T1"/>
                  </a:cxn>
                  <a:cxn ang="0">
                    <a:pos x="T2" y="T3"/>
                  </a:cxn>
                  <a:cxn ang="0">
                    <a:pos x="T4" y="T5"/>
                  </a:cxn>
                  <a:cxn ang="0">
                    <a:pos x="T6" y="T7"/>
                  </a:cxn>
                </a:cxnLst>
                <a:rect l="0" t="0" r="r" b="b"/>
                <a:pathLst>
                  <a:path w="128" h="385">
                    <a:moveTo>
                      <a:pt x="0" y="385"/>
                    </a:moveTo>
                    <a:lnTo>
                      <a:pt x="128" y="385"/>
                    </a:lnTo>
                    <a:lnTo>
                      <a:pt x="64" y="0"/>
                    </a:lnTo>
                    <a:lnTo>
                      <a:pt x="0" y="385"/>
                    </a:lnTo>
                  </a:path>
                </a:pathLst>
              </a:custGeom>
              <a:noFill/>
              <a:ln w="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7" name="未知"/>
              <p:cNvSpPr>
                <a:spLocks noChangeAspect="1"/>
              </p:cNvSpPr>
              <p:nvPr/>
            </p:nvSpPr>
            <p:spPr bwMode="auto">
              <a:xfrm>
                <a:off x="1148" y="746"/>
                <a:ext cx="22" cy="58"/>
              </a:xfrm>
              <a:custGeom>
                <a:avLst/>
                <a:gdLst>
                  <a:gd name="T0" fmla="*/ 0 w 129"/>
                  <a:gd name="T1" fmla="*/ 385 h 385"/>
                  <a:gd name="T2" fmla="*/ 129 w 129"/>
                  <a:gd name="T3" fmla="*/ 385 h 385"/>
                  <a:gd name="T4" fmla="*/ 65 w 129"/>
                  <a:gd name="T5" fmla="*/ 0 h 385"/>
                  <a:gd name="T6" fmla="*/ 0 w 129"/>
                  <a:gd name="T7" fmla="*/ 385 h 385"/>
                </a:gdLst>
                <a:ahLst/>
                <a:cxnLst>
                  <a:cxn ang="0">
                    <a:pos x="T0" y="T1"/>
                  </a:cxn>
                  <a:cxn ang="0">
                    <a:pos x="T2" y="T3"/>
                  </a:cxn>
                  <a:cxn ang="0">
                    <a:pos x="T4" y="T5"/>
                  </a:cxn>
                  <a:cxn ang="0">
                    <a:pos x="T6" y="T7"/>
                  </a:cxn>
                </a:cxnLst>
                <a:rect l="0" t="0" r="r" b="b"/>
                <a:pathLst>
                  <a:path w="129" h="385">
                    <a:moveTo>
                      <a:pt x="0" y="385"/>
                    </a:moveTo>
                    <a:lnTo>
                      <a:pt x="129" y="385"/>
                    </a:lnTo>
                    <a:lnTo>
                      <a:pt x="65" y="0"/>
                    </a:lnTo>
                    <a:lnTo>
                      <a:pt x="0" y="385"/>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8" name="未知"/>
              <p:cNvSpPr>
                <a:spLocks noChangeAspect="1"/>
              </p:cNvSpPr>
              <p:nvPr/>
            </p:nvSpPr>
            <p:spPr bwMode="auto">
              <a:xfrm>
                <a:off x="1148" y="746"/>
                <a:ext cx="22" cy="58"/>
              </a:xfrm>
              <a:custGeom>
                <a:avLst/>
                <a:gdLst>
                  <a:gd name="T0" fmla="*/ 0 w 129"/>
                  <a:gd name="T1" fmla="*/ 385 h 385"/>
                  <a:gd name="T2" fmla="*/ 129 w 129"/>
                  <a:gd name="T3" fmla="*/ 385 h 385"/>
                  <a:gd name="T4" fmla="*/ 65 w 129"/>
                  <a:gd name="T5" fmla="*/ 0 h 385"/>
                  <a:gd name="T6" fmla="*/ 0 w 129"/>
                  <a:gd name="T7" fmla="*/ 385 h 385"/>
                </a:gdLst>
                <a:ahLst/>
                <a:cxnLst>
                  <a:cxn ang="0">
                    <a:pos x="T0" y="T1"/>
                  </a:cxn>
                  <a:cxn ang="0">
                    <a:pos x="T2" y="T3"/>
                  </a:cxn>
                  <a:cxn ang="0">
                    <a:pos x="T4" y="T5"/>
                  </a:cxn>
                  <a:cxn ang="0">
                    <a:pos x="T6" y="T7"/>
                  </a:cxn>
                </a:cxnLst>
                <a:rect l="0" t="0" r="r" b="b"/>
                <a:pathLst>
                  <a:path w="129" h="385">
                    <a:moveTo>
                      <a:pt x="0" y="385"/>
                    </a:moveTo>
                    <a:lnTo>
                      <a:pt x="129" y="385"/>
                    </a:lnTo>
                    <a:lnTo>
                      <a:pt x="65" y="0"/>
                    </a:lnTo>
                    <a:lnTo>
                      <a:pt x="0" y="385"/>
                    </a:lnTo>
                  </a:path>
                </a:pathLst>
              </a:custGeom>
              <a:noFill/>
              <a:ln w="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9" name="Line 100"/>
              <p:cNvSpPr>
                <a:spLocks noChangeAspect="1" noChangeShapeType="1"/>
              </p:cNvSpPr>
              <p:nvPr/>
            </p:nvSpPr>
            <p:spPr bwMode="auto">
              <a:xfrm flipH="1">
                <a:off x="445" y="381"/>
                <a:ext cx="177" cy="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 name="Line 101"/>
              <p:cNvSpPr>
                <a:spLocks noChangeAspect="1" noChangeShapeType="1"/>
              </p:cNvSpPr>
              <p:nvPr/>
            </p:nvSpPr>
            <p:spPr bwMode="auto">
              <a:xfrm>
                <a:off x="622" y="381"/>
                <a:ext cx="447" cy="365"/>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1" name="Line 102"/>
              <p:cNvSpPr>
                <a:spLocks noChangeAspect="1" noChangeShapeType="1"/>
              </p:cNvSpPr>
              <p:nvPr/>
            </p:nvSpPr>
            <p:spPr bwMode="auto">
              <a:xfrm>
                <a:off x="1069" y="746"/>
                <a:ext cx="178" cy="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2" name="Line 103"/>
              <p:cNvSpPr>
                <a:spLocks noChangeAspect="1" noChangeShapeType="1"/>
              </p:cNvSpPr>
              <p:nvPr/>
            </p:nvSpPr>
            <p:spPr bwMode="auto">
              <a:xfrm>
                <a:off x="622" y="1512"/>
                <a:ext cx="0" cy="97"/>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3" name="Line 104"/>
              <p:cNvSpPr>
                <a:spLocks noChangeAspect="1" noChangeShapeType="1"/>
              </p:cNvSpPr>
              <p:nvPr/>
            </p:nvSpPr>
            <p:spPr bwMode="auto">
              <a:xfrm>
                <a:off x="444" y="1512"/>
                <a:ext cx="1" cy="97"/>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4" name="未知"/>
              <p:cNvSpPr>
                <a:spLocks noChangeAspect="1"/>
              </p:cNvSpPr>
              <p:nvPr/>
            </p:nvSpPr>
            <p:spPr bwMode="auto">
              <a:xfrm>
                <a:off x="622" y="1504"/>
                <a:ext cx="9" cy="15"/>
              </a:xfrm>
              <a:custGeom>
                <a:avLst/>
                <a:gdLst>
                  <a:gd name="T0" fmla="*/ 0 w 51"/>
                  <a:gd name="T1" fmla="*/ 52 h 102"/>
                  <a:gd name="T2" fmla="*/ 0 w 51"/>
                  <a:gd name="T3" fmla="*/ 0 h 102"/>
                  <a:gd name="T4" fmla="*/ 11 w 51"/>
                  <a:gd name="T5" fmla="*/ 2 h 102"/>
                  <a:gd name="T6" fmla="*/ 22 w 51"/>
                  <a:gd name="T7" fmla="*/ 6 h 102"/>
                  <a:gd name="T8" fmla="*/ 31 w 51"/>
                  <a:gd name="T9" fmla="*/ 12 h 102"/>
                  <a:gd name="T10" fmla="*/ 39 w 51"/>
                  <a:gd name="T11" fmla="*/ 20 h 102"/>
                  <a:gd name="T12" fmla="*/ 45 w 51"/>
                  <a:gd name="T13" fmla="*/ 29 h 102"/>
                  <a:gd name="T14" fmla="*/ 49 w 51"/>
                  <a:gd name="T15" fmla="*/ 41 h 102"/>
                  <a:gd name="T16" fmla="*/ 51 w 51"/>
                  <a:gd name="T17" fmla="*/ 52 h 102"/>
                  <a:gd name="T18" fmla="*/ 49 w 51"/>
                  <a:gd name="T19" fmla="*/ 63 h 102"/>
                  <a:gd name="T20" fmla="*/ 45 w 51"/>
                  <a:gd name="T21" fmla="*/ 74 h 102"/>
                  <a:gd name="T22" fmla="*/ 39 w 51"/>
                  <a:gd name="T23" fmla="*/ 83 h 102"/>
                  <a:gd name="T24" fmla="*/ 31 w 51"/>
                  <a:gd name="T25" fmla="*/ 91 h 102"/>
                  <a:gd name="T26" fmla="*/ 22 w 51"/>
                  <a:gd name="T27" fmla="*/ 97 h 102"/>
                  <a:gd name="T28" fmla="*/ 11 w 51"/>
                  <a:gd name="T29" fmla="*/ 101 h 102"/>
                  <a:gd name="T30" fmla="*/ 0 w 51"/>
                  <a:gd name="T31" fmla="*/ 102 h 102"/>
                  <a:gd name="T32" fmla="*/ 0 w 51"/>
                  <a:gd name="T33" fmla="*/ 5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1" h="102">
                    <a:moveTo>
                      <a:pt x="0" y="52"/>
                    </a:moveTo>
                    <a:lnTo>
                      <a:pt x="0" y="0"/>
                    </a:lnTo>
                    <a:lnTo>
                      <a:pt x="11" y="2"/>
                    </a:lnTo>
                    <a:lnTo>
                      <a:pt x="22" y="6"/>
                    </a:lnTo>
                    <a:lnTo>
                      <a:pt x="31" y="12"/>
                    </a:lnTo>
                    <a:lnTo>
                      <a:pt x="39" y="20"/>
                    </a:lnTo>
                    <a:lnTo>
                      <a:pt x="45" y="29"/>
                    </a:lnTo>
                    <a:lnTo>
                      <a:pt x="49" y="41"/>
                    </a:lnTo>
                    <a:lnTo>
                      <a:pt x="51" y="52"/>
                    </a:lnTo>
                    <a:lnTo>
                      <a:pt x="49" y="63"/>
                    </a:lnTo>
                    <a:lnTo>
                      <a:pt x="45" y="74"/>
                    </a:lnTo>
                    <a:lnTo>
                      <a:pt x="39" y="83"/>
                    </a:lnTo>
                    <a:lnTo>
                      <a:pt x="31" y="91"/>
                    </a:lnTo>
                    <a:lnTo>
                      <a:pt x="22" y="97"/>
                    </a:lnTo>
                    <a:lnTo>
                      <a:pt x="11" y="101"/>
                    </a:lnTo>
                    <a:lnTo>
                      <a:pt x="0" y="102"/>
                    </a:lnTo>
                    <a:lnTo>
                      <a:pt x="0"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5" name="未知"/>
              <p:cNvSpPr>
                <a:spLocks noChangeAspect="1"/>
              </p:cNvSpPr>
              <p:nvPr/>
            </p:nvSpPr>
            <p:spPr bwMode="auto">
              <a:xfrm>
                <a:off x="622" y="1504"/>
                <a:ext cx="9" cy="15"/>
              </a:xfrm>
              <a:custGeom>
                <a:avLst/>
                <a:gdLst>
                  <a:gd name="T0" fmla="*/ 0 w 51"/>
                  <a:gd name="T1" fmla="*/ 0 h 102"/>
                  <a:gd name="T2" fmla="*/ 11 w 51"/>
                  <a:gd name="T3" fmla="*/ 2 h 102"/>
                  <a:gd name="T4" fmla="*/ 22 w 51"/>
                  <a:gd name="T5" fmla="*/ 6 h 102"/>
                  <a:gd name="T6" fmla="*/ 31 w 51"/>
                  <a:gd name="T7" fmla="*/ 12 h 102"/>
                  <a:gd name="T8" fmla="*/ 39 w 51"/>
                  <a:gd name="T9" fmla="*/ 20 h 102"/>
                  <a:gd name="T10" fmla="*/ 45 w 51"/>
                  <a:gd name="T11" fmla="*/ 29 h 102"/>
                  <a:gd name="T12" fmla="*/ 49 w 51"/>
                  <a:gd name="T13" fmla="*/ 41 h 102"/>
                  <a:gd name="T14" fmla="*/ 51 w 51"/>
                  <a:gd name="T15" fmla="*/ 52 h 102"/>
                  <a:gd name="T16" fmla="*/ 49 w 51"/>
                  <a:gd name="T17" fmla="*/ 63 h 102"/>
                  <a:gd name="T18" fmla="*/ 45 w 51"/>
                  <a:gd name="T19" fmla="*/ 74 h 102"/>
                  <a:gd name="T20" fmla="*/ 39 w 51"/>
                  <a:gd name="T21" fmla="*/ 83 h 102"/>
                  <a:gd name="T22" fmla="*/ 31 w 51"/>
                  <a:gd name="T23" fmla="*/ 91 h 102"/>
                  <a:gd name="T24" fmla="*/ 22 w 51"/>
                  <a:gd name="T25" fmla="*/ 97 h 102"/>
                  <a:gd name="T26" fmla="*/ 11 w 51"/>
                  <a:gd name="T27" fmla="*/ 101 h 102"/>
                  <a:gd name="T28" fmla="*/ 0 w 51"/>
                  <a:gd name="T2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1" h="102">
                    <a:moveTo>
                      <a:pt x="0" y="0"/>
                    </a:moveTo>
                    <a:lnTo>
                      <a:pt x="11" y="2"/>
                    </a:lnTo>
                    <a:lnTo>
                      <a:pt x="22" y="6"/>
                    </a:lnTo>
                    <a:lnTo>
                      <a:pt x="31" y="12"/>
                    </a:lnTo>
                    <a:lnTo>
                      <a:pt x="39" y="20"/>
                    </a:lnTo>
                    <a:lnTo>
                      <a:pt x="45" y="29"/>
                    </a:lnTo>
                    <a:lnTo>
                      <a:pt x="49" y="41"/>
                    </a:lnTo>
                    <a:lnTo>
                      <a:pt x="51" y="52"/>
                    </a:lnTo>
                    <a:lnTo>
                      <a:pt x="49" y="63"/>
                    </a:lnTo>
                    <a:lnTo>
                      <a:pt x="45" y="74"/>
                    </a:lnTo>
                    <a:lnTo>
                      <a:pt x="39" y="83"/>
                    </a:lnTo>
                    <a:lnTo>
                      <a:pt x="31" y="91"/>
                    </a:lnTo>
                    <a:lnTo>
                      <a:pt x="22" y="97"/>
                    </a:lnTo>
                    <a:lnTo>
                      <a:pt x="11" y="101"/>
                    </a:lnTo>
                    <a:lnTo>
                      <a:pt x="0" y="102"/>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16" name="未知"/>
              <p:cNvSpPr>
                <a:spLocks noChangeAspect="1"/>
              </p:cNvSpPr>
              <p:nvPr/>
            </p:nvSpPr>
            <p:spPr bwMode="auto">
              <a:xfrm>
                <a:off x="444" y="1504"/>
                <a:ext cx="178" cy="15"/>
              </a:xfrm>
              <a:custGeom>
                <a:avLst/>
                <a:gdLst>
                  <a:gd name="T0" fmla="*/ 976 w 976"/>
                  <a:gd name="T1" fmla="*/ 102 h 102"/>
                  <a:gd name="T2" fmla="*/ 976 w 976"/>
                  <a:gd name="T3" fmla="*/ 52 h 102"/>
                  <a:gd name="T4" fmla="*/ 976 w 976"/>
                  <a:gd name="T5" fmla="*/ 0 h 102"/>
                  <a:gd name="T6" fmla="*/ 0 w 976"/>
                  <a:gd name="T7" fmla="*/ 0 h 102"/>
                  <a:gd name="T8" fmla="*/ 0 w 976"/>
                  <a:gd name="T9" fmla="*/ 52 h 102"/>
                  <a:gd name="T10" fmla="*/ 0 w 976"/>
                  <a:gd name="T11" fmla="*/ 102 h 102"/>
                  <a:gd name="T12" fmla="*/ 976 w 976"/>
                  <a:gd name="T13" fmla="*/ 102 h 102"/>
                </a:gdLst>
                <a:ahLst/>
                <a:cxnLst>
                  <a:cxn ang="0">
                    <a:pos x="T0" y="T1"/>
                  </a:cxn>
                  <a:cxn ang="0">
                    <a:pos x="T2" y="T3"/>
                  </a:cxn>
                  <a:cxn ang="0">
                    <a:pos x="T4" y="T5"/>
                  </a:cxn>
                  <a:cxn ang="0">
                    <a:pos x="T6" y="T7"/>
                  </a:cxn>
                  <a:cxn ang="0">
                    <a:pos x="T8" y="T9"/>
                  </a:cxn>
                  <a:cxn ang="0">
                    <a:pos x="T10" y="T11"/>
                  </a:cxn>
                  <a:cxn ang="0">
                    <a:pos x="T12" y="T13"/>
                  </a:cxn>
                </a:cxnLst>
                <a:rect l="0" t="0" r="r" b="b"/>
                <a:pathLst>
                  <a:path w="976" h="102">
                    <a:moveTo>
                      <a:pt x="976" y="102"/>
                    </a:moveTo>
                    <a:lnTo>
                      <a:pt x="976" y="52"/>
                    </a:lnTo>
                    <a:lnTo>
                      <a:pt x="976" y="0"/>
                    </a:lnTo>
                    <a:lnTo>
                      <a:pt x="0" y="0"/>
                    </a:lnTo>
                    <a:lnTo>
                      <a:pt x="0" y="52"/>
                    </a:lnTo>
                    <a:lnTo>
                      <a:pt x="0" y="102"/>
                    </a:lnTo>
                    <a:lnTo>
                      <a:pt x="976" y="1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7" name="未知"/>
              <p:cNvSpPr>
                <a:spLocks noChangeAspect="1"/>
              </p:cNvSpPr>
              <p:nvPr/>
            </p:nvSpPr>
            <p:spPr bwMode="auto">
              <a:xfrm>
                <a:off x="444" y="1504"/>
                <a:ext cx="178" cy="15"/>
              </a:xfrm>
              <a:custGeom>
                <a:avLst/>
                <a:gdLst>
                  <a:gd name="T0" fmla="*/ 976 w 976"/>
                  <a:gd name="T1" fmla="*/ 102 h 102"/>
                  <a:gd name="T2" fmla="*/ 976 w 976"/>
                  <a:gd name="T3" fmla="*/ 52 h 102"/>
                  <a:gd name="T4" fmla="*/ 976 w 976"/>
                  <a:gd name="T5" fmla="*/ 0 h 102"/>
                  <a:gd name="T6" fmla="*/ 0 w 976"/>
                  <a:gd name="T7" fmla="*/ 0 h 102"/>
                  <a:gd name="T8" fmla="*/ 0 w 976"/>
                  <a:gd name="T9" fmla="*/ 52 h 102"/>
                  <a:gd name="T10" fmla="*/ 0 w 976"/>
                  <a:gd name="T11" fmla="*/ 102 h 102"/>
                  <a:gd name="T12" fmla="*/ 976 w 976"/>
                  <a:gd name="T13" fmla="*/ 102 h 102"/>
                </a:gdLst>
                <a:ahLst/>
                <a:cxnLst>
                  <a:cxn ang="0">
                    <a:pos x="T0" y="T1"/>
                  </a:cxn>
                  <a:cxn ang="0">
                    <a:pos x="T2" y="T3"/>
                  </a:cxn>
                  <a:cxn ang="0">
                    <a:pos x="T4" y="T5"/>
                  </a:cxn>
                  <a:cxn ang="0">
                    <a:pos x="T6" y="T7"/>
                  </a:cxn>
                  <a:cxn ang="0">
                    <a:pos x="T8" y="T9"/>
                  </a:cxn>
                  <a:cxn ang="0">
                    <a:pos x="T10" y="T11"/>
                  </a:cxn>
                  <a:cxn ang="0">
                    <a:pos x="T12" y="T13"/>
                  </a:cxn>
                </a:cxnLst>
                <a:rect l="0" t="0" r="r" b="b"/>
                <a:pathLst>
                  <a:path w="976" h="102">
                    <a:moveTo>
                      <a:pt x="976" y="102"/>
                    </a:moveTo>
                    <a:lnTo>
                      <a:pt x="976" y="52"/>
                    </a:lnTo>
                    <a:lnTo>
                      <a:pt x="976" y="0"/>
                    </a:lnTo>
                    <a:lnTo>
                      <a:pt x="0" y="0"/>
                    </a:lnTo>
                    <a:lnTo>
                      <a:pt x="0" y="52"/>
                    </a:lnTo>
                    <a:lnTo>
                      <a:pt x="0" y="102"/>
                    </a:lnTo>
                    <a:lnTo>
                      <a:pt x="976" y="102"/>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18" name="未知"/>
              <p:cNvSpPr>
                <a:spLocks noChangeAspect="1"/>
              </p:cNvSpPr>
              <p:nvPr/>
            </p:nvSpPr>
            <p:spPr bwMode="auto">
              <a:xfrm>
                <a:off x="435" y="1504"/>
                <a:ext cx="9" cy="15"/>
              </a:xfrm>
              <a:custGeom>
                <a:avLst/>
                <a:gdLst>
                  <a:gd name="T0" fmla="*/ 51 w 51"/>
                  <a:gd name="T1" fmla="*/ 52 h 102"/>
                  <a:gd name="T2" fmla="*/ 51 w 51"/>
                  <a:gd name="T3" fmla="*/ 102 h 102"/>
                  <a:gd name="T4" fmla="*/ 40 w 51"/>
                  <a:gd name="T5" fmla="*/ 101 h 102"/>
                  <a:gd name="T6" fmla="*/ 28 w 51"/>
                  <a:gd name="T7" fmla="*/ 97 h 102"/>
                  <a:gd name="T8" fmla="*/ 19 w 51"/>
                  <a:gd name="T9" fmla="*/ 91 h 102"/>
                  <a:gd name="T10" fmla="*/ 11 w 51"/>
                  <a:gd name="T11" fmla="*/ 83 h 102"/>
                  <a:gd name="T12" fmla="*/ 5 w 51"/>
                  <a:gd name="T13" fmla="*/ 74 h 102"/>
                  <a:gd name="T14" fmla="*/ 1 w 51"/>
                  <a:gd name="T15" fmla="*/ 63 h 102"/>
                  <a:gd name="T16" fmla="*/ 0 w 51"/>
                  <a:gd name="T17" fmla="*/ 52 h 102"/>
                  <a:gd name="T18" fmla="*/ 1 w 51"/>
                  <a:gd name="T19" fmla="*/ 41 h 102"/>
                  <a:gd name="T20" fmla="*/ 5 w 51"/>
                  <a:gd name="T21" fmla="*/ 29 h 102"/>
                  <a:gd name="T22" fmla="*/ 11 w 51"/>
                  <a:gd name="T23" fmla="*/ 20 h 102"/>
                  <a:gd name="T24" fmla="*/ 19 w 51"/>
                  <a:gd name="T25" fmla="*/ 12 h 102"/>
                  <a:gd name="T26" fmla="*/ 28 w 51"/>
                  <a:gd name="T27" fmla="*/ 6 h 102"/>
                  <a:gd name="T28" fmla="*/ 40 w 51"/>
                  <a:gd name="T29" fmla="*/ 2 h 102"/>
                  <a:gd name="T30" fmla="*/ 51 w 51"/>
                  <a:gd name="T31" fmla="*/ 0 h 102"/>
                  <a:gd name="T32" fmla="*/ 51 w 51"/>
                  <a:gd name="T33" fmla="*/ 5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1" h="102">
                    <a:moveTo>
                      <a:pt x="51" y="52"/>
                    </a:moveTo>
                    <a:lnTo>
                      <a:pt x="51" y="102"/>
                    </a:lnTo>
                    <a:lnTo>
                      <a:pt x="40" y="101"/>
                    </a:lnTo>
                    <a:lnTo>
                      <a:pt x="28" y="97"/>
                    </a:lnTo>
                    <a:lnTo>
                      <a:pt x="19" y="91"/>
                    </a:lnTo>
                    <a:lnTo>
                      <a:pt x="11" y="83"/>
                    </a:lnTo>
                    <a:lnTo>
                      <a:pt x="5" y="74"/>
                    </a:lnTo>
                    <a:lnTo>
                      <a:pt x="1" y="63"/>
                    </a:lnTo>
                    <a:lnTo>
                      <a:pt x="0" y="52"/>
                    </a:lnTo>
                    <a:lnTo>
                      <a:pt x="1" y="41"/>
                    </a:lnTo>
                    <a:lnTo>
                      <a:pt x="5" y="29"/>
                    </a:lnTo>
                    <a:lnTo>
                      <a:pt x="11" y="20"/>
                    </a:lnTo>
                    <a:lnTo>
                      <a:pt x="19" y="12"/>
                    </a:lnTo>
                    <a:lnTo>
                      <a:pt x="28" y="6"/>
                    </a:lnTo>
                    <a:lnTo>
                      <a:pt x="40" y="2"/>
                    </a:lnTo>
                    <a:lnTo>
                      <a:pt x="51" y="0"/>
                    </a:lnTo>
                    <a:lnTo>
                      <a:pt x="51"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9" name="未知"/>
              <p:cNvSpPr>
                <a:spLocks noChangeAspect="1"/>
              </p:cNvSpPr>
              <p:nvPr/>
            </p:nvSpPr>
            <p:spPr bwMode="auto">
              <a:xfrm>
                <a:off x="435" y="1504"/>
                <a:ext cx="9" cy="15"/>
              </a:xfrm>
              <a:custGeom>
                <a:avLst/>
                <a:gdLst>
                  <a:gd name="T0" fmla="*/ 51 w 51"/>
                  <a:gd name="T1" fmla="*/ 102 h 102"/>
                  <a:gd name="T2" fmla="*/ 40 w 51"/>
                  <a:gd name="T3" fmla="*/ 101 h 102"/>
                  <a:gd name="T4" fmla="*/ 28 w 51"/>
                  <a:gd name="T5" fmla="*/ 97 h 102"/>
                  <a:gd name="T6" fmla="*/ 19 w 51"/>
                  <a:gd name="T7" fmla="*/ 91 h 102"/>
                  <a:gd name="T8" fmla="*/ 11 w 51"/>
                  <a:gd name="T9" fmla="*/ 83 h 102"/>
                  <a:gd name="T10" fmla="*/ 5 w 51"/>
                  <a:gd name="T11" fmla="*/ 74 h 102"/>
                  <a:gd name="T12" fmla="*/ 1 w 51"/>
                  <a:gd name="T13" fmla="*/ 63 h 102"/>
                  <a:gd name="T14" fmla="*/ 0 w 51"/>
                  <a:gd name="T15" fmla="*/ 52 h 102"/>
                  <a:gd name="T16" fmla="*/ 1 w 51"/>
                  <a:gd name="T17" fmla="*/ 41 h 102"/>
                  <a:gd name="T18" fmla="*/ 5 w 51"/>
                  <a:gd name="T19" fmla="*/ 29 h 102"/>
                  <a:gd name="T20" fmla="*/ 11 w 51"/>
                  <a:gd name="T21" fmla="*/ 20 h 102"/>
                  <a:gd name="T22" fmla="*/ 19 w 51"/>
                  <a:gd name="T23" fmla="*/ 12 h 102"/>
                  <a:gd name="T24" fmla="*/ 28 w 51"/>
                  <a:gd name="T25" fmla="*/ 6 h 102"/>
                  <a:gd name="T26" fmla="*/ 40 w 51"/>
                  <a:gd name="T27" fmla="*/ 2 h 102"/>
                  <a:gd name="T28" fmla="*/ 51 w 51"/>
                  <a:gd name="T29"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1" h="102">
                    <a:moveTo>
                      <a:pt x="51" y="102"/>
                    </a:moveTo>
                    <a:lnTo>
                      <a:pt x="40" y="101"/>
                    </a:lnTo>
                    <a:lnTo>
                      <a:pt x="28" y="97"/>
                    </a:lnTo>
                    <a:lnTo>
                      <a:pt x="19" y="91"/>
                    </a:lnTo>
                    <a:lnTo>
                      <a:pt x="11" y="83"/>
                    </a:lnTo>
                    <a:lnTo>
                      <a:pt x="5" y="74"/>
                    </a:lnTo>
                    <a:lnTo>
                      <a:pt x="1" y="63"/>
                    </a:lnTo>
                    <a:lnTo>
                      <a:pt x="0" y="52"/>
                    </a:lnTo>
                    <a:lnTo>
                      <a:pt x="1" y="41"/>
                    </a:lnTo>
                    <a:lnTo>
                      <a:pt x="5" y="29"/>
                    </a:lnTo>
                    <a:lnTo>
                      <a:pt x="11" y="20"/>
                    </a:lnTo>
                    <a:lnTo>
                      <a:pt x="19" y="12"/>
                    </a:lnTo>
                    <a:lnTo>
                      <a:pt x="28" y="6"/>
                    </a:lnTo>
                    <a:lnTo>
                      <a:pt x="40" y="2"/>
                    </a:lnTo>
                    <a:lnTo>
                      <a:pt x="51"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0" name="Line 111"/>
              <p:cNvSpPr>
                <a:spLocks noChangeAspect="1" noChangeShapeType="1"/>
              </p:cNvSpPr>
              <p:nvPr/>
            </p:nvSpPr>
            <p:spPr bwMode="auto">
              <a:xfrm flipH="1">
                <a:off x="445" y="1664"/>
                <a:ext cx="177" cy="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1" name="未知"/>
              <p:cNvSpPr>
                <a:spLocks noChangeAspect="1"/>
              </p:cNvSpPr>
              <p:nvPr/>
            </p:nvSpPr>
            <p:spPr bwMode="auto">
              <a:xfrm>
                <a:off x="521" y="1606"/>
                <a:ext cx="24" cy="58"/>
              </a:xfrm>
              <a:custGeom>
                <a:avLst/>
                <a:gdLst>
                  <a:gd name="T0" fmla="*/ 0 w 128"/>
                  <a:gd name="T1" fmla="*/ 0 h 385"/>
                  <a:gd name="T2" fmla="*/ 128 w 128"/>
                  <a:gd name="T3" fmla="*/ 0 h 385"/>
                  <a:gd name="T4" fmla="*/ 64 w 128"/>
                  <a:gd name="T5" fmla="*/ 385 h 385"/>
                  <a:gd name="T6" fmla="*/ 0 w 128"/>
                  <a:gd name="T7" fmla="*/ 0 h 385"/>
                </a:gdLst>
                <a:ahLst/>
                <a:cxnLst>
                  <a:cxn ang="0">
                    <a:pos x="T0" y="T1"/>
                  </a:cxn>
                  <a:cxn ang="0">
                    <a:pos x="T2" y="T3"/>
                  </a:cxn>
                  <a:cxn ang="0">
                    <a:pos x="T4" y="T5"/>
                  </a:cxn>
                  <a:cxn ang="0">
                    <a:pos x="T6" y="T7"/>
                  </a:cxn>
                </a:cxnLst>
                <a:rect l="0" t="0" r="r" b="b"/>
                <a:pathLst>
                  <a:path w="128" h="385">
                    <a:moveTo>
                      <a:pt x="0" y="0"/>
                    </a:moveTo>
                    <a:lnTo>
                      <a:pt x="128" y="0"/>
                    </a:lnTo>
                    <a:lnTo>
                      <a:pt x="64" y="385"/>
                    </a:lnTo>
                    <a:lnTo>
                      <a:pt x="0"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2" name="未知"/>
              <p:cNvSpPr>
                <a:spLocks noChangeAspect="1"/>
              </p:cNvSpPr>
              <p:nvPr/>
            </p:nvSpPr>
            <p:spPr bwMode="auto">
              <a:xfrm>
                <a:off x="521" y="1606"/>
                <a:ext cx="24" cy="58"/>
              </a:xfrm>
              <a:custGeom>
                <a:avLst/>
                <a:gdLst>
                  <a:gd name="T0" fmla="*/ 0 w 128"/>
                  <a:gd name="T1" fmla="*/ 0 h 385"/>
                  <a:gd name="T2" fmla="*/ 128 w 128"/>
                  <a:gd name="T3" fmla="*/ 0 h 385"/>
                  <a:gd name="T4" fmla="*/ 64 w 128"/>
                  <a:gd name="T5" fmla="*/ 385 h 385"/>
                  <a:gd name="T6" fmla="*/ 0 w 128"/>
                  <a:gd name="T7" fmla="*/ 0 h 385"/>
                </a:gdLst>
                <a:ahLst/>
                <a:cxnLst>
                  <a:cxn ang="0">
                    <a:pos x="T0" y="T1"/>
                  </a:cxn>
                  <a:cxn ang="0">
                    <a:pos x="T2" y="T3"/>
                  </a:cxn>
                  <a:cxn ang="0">
                    <a:pos x="T4" y="T5"/>
                  </a:cxn>
                  <a:cxn ang="0">
                    <a:pos x="T6" y="T7"/>
                  </a:cxn>
                </a:cxnLst>
                <a:rect l="0" t="0" r="r" b="b"/>
                <a:pathLst>
                  <a:path w="128" h="385">
                    <a:moveTo>
                      <a:pt x="0" y="0"/>
                    </a:moveTo>
                    <a:lnTo>
                      <a:pt x="128" y="0"/>
                    </a:lnTo>
                    <a:lnTo>
                      <a:pt x="64" y="385"/>
                    </a:lnTo>
                    <a:lnTo>
                      <a:pt x="0" y="0"/>
                    </a:lnTo>
                  </a:path>
                </a:pathLst>
              </a:custGeom>
              <a:noFill/>
              <a:ln w="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3" name="未知"/>
              <p:cNvSpPr>
                <a:spLocks noChangeAspect="1"/>
              </p:cNvSpPr>
              <p:nvPr/>
            </p:nvSpPr>
            <p:spPr bwMode="auto">
              <a:xfrm>
                <a:off x="433" y="1606"/>
                <a:ext cx="23" cy="58"/>
              </a:xfrm>
              <a:custGeom>
                <a:avLst/>
                <a:gdLst>
                  <a:gd name="T0" fmla="*/ 0 w 128"/>
                  <a:gd name="T1" fmla="*/ 0 h 385"/>
                  <a:gd name="T2" fmla="*/ 128 w 128"/>
                  <a:gd name="T3" fmla="*/ 0 h 385"/>
                  <a:gd name="T4" fmla="*/ 64 w 128"/>
                  <a:gd name="T5" fmla="*/ 385 h 385"/>
                  <a:gd name="T6" fmla="*/ 0 w 128"/>
                  <a:gd name="T7" fmla="*/ 0 h 385"/>
                </a:gdLst>
                <a:ahLst/>
                <a:cxnLst>
                  <a:cxn ang="0">
                    <a:pos x="T0" y="T1"/>
                  </a:cxn>
                  <a:cxn ang="0">
                    <a:pos x="T2" y="T3"/>
                  </a:cxn>
                  <a:cxn ang="0">
                    <a:pos x="T4" y="T5"/>
                  </a:cxn>
                  <a:cxn ang="0">
                    <a:pos x="T6" y="T7"/>
                  </a:cxn>
                </a:cxnLst>
                <a:rect l="0" t="0" r="r" b="b"/>
                <a:pathLst>
                  <a:path w="128" h="385">
                    <a:moveTo>
                      <a:pt x="0" y="0"/>
                    </a:moveTo>
                    <a:lnTo>
                      <a:pt x="128" y="0"/>
                    </a:lnTo>
                    <a:lnTo>
                      <a:pt x="64" y="385"/>
                    </a:lnTo>
                    <a:lnTo>
                      <a:pt x="0"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4" name="未知"/>
              <p:cNvSpPr>
                <a:spLocks noChangeAspect="1"/>
              </p:cNvSpPr>
              <p:nvPr/>
            </p:nvSpPr>
            <p:spPr bwMode="auto">
              <a:xfrm>
                <a:off x="433" y="1606"/>
                <a:ext cx="23" cy="58"/>
              </a:xfrm>
              <a:custGeom>
                <a:avLst/>
                <a:gdLst>
                  <a:gd name="T0" fmla="*/ 0 w 128"/>
                  <a:gd name="T1" fmla="*/ 0 h 385"/>
                  <a:gd name="T2" fmla="*/ 128 w 128"/>
                  <a:gd name="T3" fmla="*/ 0 h 385"/>
                  <a:gd name="T4" fmla="*/ 64 w 128"/>
                  <a:gd name="T5" fmla="*/ 385 h 385"/>
                  <a:gd name="T6" fmla="*/ 0 w 128"/>
                  <a:gd name="T7" fmla="*/ 0 h 385"/>
                </a:gdLst>
                <a:ahLst/>
                <a:cxnLst>
                  <a:cxn ang="0">
                    <a:pos x="T0" y="T1"/>
                  </a:cxn>
                  <a:cxn ang="0">
                    <a:pos x="T2" y="T3"/>
                  </a:cxn>
                  <a:cxn ang="0">
                    <a:pos x="T4" y="T5"/>
                  </a:cxn>
                  <a:cxn ang="0">
                    <a:pos x="T6" y="T7"/>
                  </a:cxn>
                </a:cxnLst>
                <a:rect l="0" t="0" r="r" b="b"/>
                <a:pathLst>
                  <a:path w="128" h="385">
                    <a:moveTo>
                      <a:pt x="0" y="0"/>
                    </a:moveTo>
                    <a:lnTo>
                      <a:pt x="128" y="0"/>
                    </a:lnTo>
                    <a:lnTo>
                      <a:pt x="64" y="385"/>
                    </a:lnTo>
                    <a:lnTo>
                      <a:pt x="0" y="0"/>
                    </a:lnTo>
                  </a:path>
                </a:pathLst>
              </a:custGeom>
              <a:noFill/>
              <a:ln w="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5" name="未知"/>
              <p:cNvSpPr>
                <a:spLocks noChangeAspect="1"/>
              </p:cNvSpPr>
              <p:nvPr/>
            </p:nvSpPr>
            <p:spPr bwMode="auto">
              <a:xfrm>
                <a:off x="611" y="1606"/>
                <a:ext cx="23" cy="58"/>
              </a:xfrm>
              <a:custGeom>
                <a:avLst/>
                <a:gdLst>
                  <a:gd name="T0" fmla="*/ 0 w 128"/>
                  <a:gd name="T1" fmla="*/ 0 h 385"/>
                  <a:gd name="T2" fmla="*/ 128 w 128"/>
                  <a:gd name="T3" fmla="*/ 0 h 385"/>
                  <a:gd name="T4" fmla="*/ 65 w 128"/>
                  <a:gd name="T5" fmla="*/ 385 h 385"/>
                  <a:gd name="T6" fmla="*/ 0 w 128"/>
                  <a:gd name="T7" fmla="*/ 0 h 385"/>
                </a:gdLst>
                <a:ahLst/>
                <a:cxnLst>
                  <a:cxn ang="0">
                    <a:pos x="T0" y="T1"/>
                  </a:cxn>
                  <a:cxn ang="0">
                    <a:pos x="T2" y="T3"/>
                  </a:cxn>
                  <a:cxn ang="0">
                    <a:pos x="T4" y="T5"/>
                  </a:cxn>
                  <a:cxn ang="0">
                    <a:pos x="T6" y="T7"/>
                  </a:cxn>
                </a:cxnLst>
                <a:rect l="0" t="0" r="r" b="b"/>
                <a:pathLst>
                  <a:path w="128" h="385">
                    <a:moveTo>
                      <a:pt x="0" y="0"/>
                    </a:moveTo>
                    <a:lnTo>
                      <a:pt x="128" y="0"/>
                    </a:lnTo>
                    <a:lnTo>
                      <a:pt x="65" y="385"/>
                    </a:lnTo>
                    <a:lnTo>
                      <a:pt x="0"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6" name="未知"/>
              <p:cNvSpPr>
                <a:spLocks noChangeAspect="1"/>
              </p:cNvSpPr>
              <p:nvPr/>
            </p:nvSpPr>
            <p:spPr bwMode="auto">
              <a:xfrm>
                <a:off x="611" y="1606"/>
                <a:ext cx="23" cy="58"/>
              </a:xfrm>
              <a:custGeom>
                <a:avLst/>
                <a:gdLst>
                  <a:gd name="T0" fmla="*/ 0 w 128"/>
                  <a:gd name="T1" fmla="*/ 0 h 385"/>
                  <a:gd name="T2" fmla="*/ 128 w 128"/>
                  <a:gd name="T3" fmla="*/ 0 h 385"/>
                  <a:gd name="T4" fmla="*/ 65 w 128"/>
                  <a:gd name="T5" fmla="*/ 385 h 385"/>
                  <a:gd name="T6" fmla="*/ 0 w 128"/>
                  <a:gd name="T7" fmla="*/ 0 h 385"/>
                </a:gdLst>
                <a:ahLst/>
                <a:cxnLst>
                  <a:cxn ang="0">
                    <a:pos x="T0" y="T1"/>
                  </a:cxn>
                  <a:cxn ang="0">
                    <a:pos x="T2" y="T3"/>
                  </a:cxn>
                  <a:cxn ang="0">
                    <a:pos x="T4" y="T5"/>
                  </a:cxn>
                  <a:cxn ang="0">
                    <a:pos x="T6" y="T7"/>
                  </a:cxn>
                </a:cxnLst>
                <a:rect l="0" t="0" r="r" b="b"/>
                <a:pathLst>
                  <a:path w="128" h="385">
                    <a:moveTo>
                      <a:pt x="0" y="0"/>
                    </a:moveTo>
                    <a:lnTo>
                      <a:pt x="128" y="0"/>
                    </a:lnTo>
                    <a:lnTo>
                      <a:pt x="65" y="385"/>
                    </a:lnTo>
                    <a:lnTo>
                      <a:pt x="0" y="0"/>
                    </a:lnTo>
                  </a:path>
                </a:pathLst>
              </a:custGeom>
              <a:noFill/>
              <a:ln w="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7" name="未知"/>
              <p:cNvSpPr>
                <a:spLocks noChangeAspect="1"/>
              </p:cNvSpPr>
              <p:nvPr/>
            </p:nvSpPr>
            <p:spPr bwMode="auto">
              <a:xfrm>
                <a:off x="907" y="1850"/>
                <a:ext cx="23" cy="58"/>
              </a:xfrm>
              <a:custGeom>
                <a:avLst/>
                <a:gdLst>
                  <a:gd name="T0" fmla="*/ 127 w 127"/>
                  <a:gd name="T1" fmla="*/ 0 h 385"/>
                  <a:gd name="T2" fmla="*/ 0 w 127"/>
                  <a:gd name="T3" fmla="*/ 0 h 385"/>
                  <a:gd name="T4" fmla="*/ 63 w 127"/>
                  <a:gd name="T5" fmla="*/ 385 h 385"/>
                  <a:gd name="T6" fmla="*/ 127 w 127"/>
                  <a:gd name="T7" fmla="*/ 0 h 385"/>
                </a:gdLst>
                <a:ahLst/>
                <a:cxnLst>
                  <a:cxn ang="0">
                    <a:pos x="T0" y="T1"/>
                  </a:cxn>
                  <a:cxn ang="0">
                    <a:pos x="T2" y="T3"/>
                  </a:cxn>
                  <a:cxn ang="0">
                    <a:pos x="T4" y="T5"/>
                  </a:cxn>
                  <a:cxn ang="0">
                    <a:pos x="T6" y="T7"/>
                  </a:cxn>
                </a:cxnLst>
                <a:rect l="0" t="0" r="r" b="b"/>
                <a:pathLst>
                  <a:path w="127" h="385">
                    <a:moveTo>
                      <a:pt x="127" y="0"/>
                    </a:moveTo>
                    <a:lnTo>
                      <a:pt x="0" y="0"/>
                    </a:lnTo>
                    <a:lnTo>
                      <a:pt x="63" y="385"/>
                    </a:lnTo>
                    <a:lnTo>
                      <a:pt x="127"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8" name="未知"/>
              <p:cNvSpPr>
                <a:spLocks noChangeAspect="1"/>
              </p:cNvSpPr>
              <p:nvPr/>
            </p:nvSpPr>
            <p:spPr bwMode="auto">
              <a:xfrm>
                <a:off x="907" y="1850"/>
                <a:ext cx="23" cy="58"/>
              </a:xfrm>
              <a:custGeom>
                <a:avLst/>
                <a:gdLst>
                  <a:gd name="T0" fmla="*/ 127 w 127"/>
                  <a:gd name="T1" fmla="*/ 0 h 385"/>
                  <a:gd name="T2" fmla="*/ 0 w 127"/>
                  <a:gd name="T3" fmla="*/ 0 h 385"/>
                  <a:gd name="T4" fmla="*/ 63 w 127"/>
                  <a:gd name="T5" fmla="*/ 385 h 385"/>
                  <a:gd name="T6" fmla="*/ 127 w 127"/>
                  <a:gd name="T7" fmla="*/ 0 h 385"/>
                </a:gdLst>
                <a:ahLst/>
                <a:cxnLst>
                  <a:cxn ang="0">
                    <a:pos x="T0" y="T1"/>
                  </a:cxn>
                  <a:cxn ang="0">
                    <a:pos x="T2" y="T3"/>
                  </a:cxn>
                  <a:cxn ang="0">
                    <a:pos x="T4" y="T5"/>
                  </a:cxn>
                  <a:cxn ang="0">
                    <a:pos x="T6" y="T7"/>
                  </a:cxn>
                </a:cxnLst>
                <a:rect l="0" t="0" r="r" b="b"/>
                <a:pathLst>
                  <a:path w="127" h="385">
                    <a:moveTo>
                      <a:pt x="127" y="0"/>
                    </a:moveTo>
                    <a:lnTo>
                      <a:pt x="0" y="0"/>
                    </a:lnTo>
                    <a:lnTo>
                      <a:pt x="63" y="385"/>
                    </a:lnTo>
                    <a:lnTo>
                      <a:pt x="127" y="0"/>
                    </a:lnTo>
                  </a:path>
                </a:pathLst>
              </a:custGeom>
              <a:noFill/>
              <a:ln w="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9" name="Line 120"/>
              <p:cNvSpPr>
                <a:spLocks noChangeAspect="1" noChangeShapeType="1"/>
              </p:cNvSpPr>
              <p:nvPr/>
            </p:nvSpPr>
            <p:spPr bwMode="auto">
              <a:xfrm>
                <a:off x="845" y="1694"/>
                <a:ext cx="1" cy="97"/>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 name="Line 121"/>
              <p:cNvSpPr>
                <a:spLocks noChangeAspect="1" noChangeShapeType="1"/>
              </p:cNvSpPr>
              <p:nvPr/>
            </p:nvSpPr>
            <p:spPr bwMode="auto">
              <a:xfrm>
                <a:off x="919" y="1755"/>
                <a:ext cx="1" cy="97"/>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1" name="Line 122"/>
              <p:cNvSpPr>
                <a:spLocks noChangeAspect="1" noChangeShapeType="1"/>
              </p:cNvSpPr>
              <p:nvPr/>
            </p:nvSpPr>
            <p:spPr bwMode="auto">
              <a:xfrm>
                <a:off x="919" y="1755"/>
                <a:ext cx="1" cy="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 name="Line 123"/>
              <p:cNvSpPr>
                <a:spLocks noChangeAspect="1" noChangeShapeType="1"/>
              </p:cNvSpPr>
              <p:nvPr/>
            </p:nvSpPr>
            <p:spPr bwMode="auto">
              <a:xfrm>
                <a:off x="845" y="1694"/>
                <a:ext cx="1" cy="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3" name="Line 124"/>
              <p:cNvSpPr>
                <a:spLocks noChangeAspect="1" noChangeShapeType="1"/>
              </p:cNvSpPr>
              <p:nvPr/>
            </p:nvSpPr>
            <p:spPr bwMode="auto">
              <a:xfrm>
                <a:off x="994" y="1816"/>
                <a:ext cx="1" cy="96"/>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4" name="Line 125"/>
              <p:cNvSpPr>
                <a:spLocks noChangeAspect="1" noChangeShapeType="1"/>
              </p:cNvSpPr>
              <p:nvPr/>
            </p:nvSpPr>
            <p:spPr bwMode="auto">
              <a:xfrm>
                <a:off x="994" y="1816"/>
                <a:ext cx="1" cy="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5" name="未知"/>
              <p:cNvSpPr>
                <a:spLocks noChangeAspect="1"/>
              </p:cNvSpPr>
              <p:nvPr/>
            </p:nvSpPr>
            <p:spPr bwMode="auto">
              <a:xfrm>
                <a:off x="982" y="1910"/>
                <a:ext cx="23" cy="59"/>
              </a:xfrm>
              <a:custGeom>
                <a:avLst/>
                <a:gdLst>
                  <a:gd name="T0" fmla="*/ 129 w 129"/>
                  <a:gd name="T1" fmla="*/ 0 h 385"/>
                  <a:gd name="T2" fmla="*/ 0 w 129"/>
                  <a:gd name="T3" fmla="*/ 0 h 385"/>
                  <a:gd name="T4" fmla="*/ 65 w 129"/>
                  <a:gd name="T5" fmla="*/ 385 h 385"/>
                  <a:gd name="T6" fmla="*/ 129 w 129"/>
                  <a:gd name="T7" fmla="*/ 0 h 385"/>
                </a:gdLst>
                <a:ahLst/>
                <a:cxnLst>
                  <a:cxn ang="0">
                    <a:pos x="T0" y="T1"/>
                  </a:cxn>
                  <a:cxn ang="0">
                    <a:pos x="T2" y="T3"/>
                  </a:cxn>
                  <a:cxn ang="0">
                    <a:pos x="T4" y="T5"/>
                  </a:cxn>
                  <a:cxn ang="0">
                    <a:pos x="T6" y="T7"/>
                  </a:cxn>
                </a:cxnLst>
                <a:rect l="0" t="0" r="r" b="b"/>
                <a:pathLst>
                  <a:path w="129" h="385">
                    <a:moveTo>
                      <a:pt x="129" y="0"/>
                    </a:moveTo>
                    <a:lnTo>
                      <a:pt x="0" y="0"/>
                    </a:lnTo>
                    <a:lnTo>
                      <a:pt x="65" y="385"/>
                    </a:lnTo>
                    <a:lnTo>
                      <a:pt x="129"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6" name="未知"/>
              <p:cNvSpPr>
                <a:spLocks noChangeAspect="1"/>
              </p:cNvSpPr>
              <p:nvPr/>
            </p:nvSpPr>
            <p:spPr bwMode="auto">
              <a:xfrm>
                <a:off x="982" y="1910"/>
                <a:ext cx="23" cy="59"/>
              </a:xfrm>
              <a:custGeom>
                <a:avLst/>
                <a:gdLst>
                  <a:gd name="T0" fmla="*/ 129 w 129"/>
                  <a:gd name="T1" fmla="*/ 0 h 385"/>
                  <a:gd name="T2" fmla="*/ 0 w 129"/>
                  <a:gd name="T3" fmla="*/ 0 h 385"/>
                  <a:gd name="T4" fmla="*/ 65 w 129"/>
                  <a:gd name="T5" fmla="*/ 385 h 385"/>
                  <a:gd name="T6" fmla="*/ 129 w 129"/>
                  <a:gd name="T7" fmla="*/ 0 h 385"/>
                </a:gdLst>
                <a:ahLst/>
                <a:cxnLst>
                  <a:cxn ang="0">
                    <a:pos x="T0" y="T1"/>
                  </a:cxn>
                  <a:cxn ang="0">
                    <a:pos x="T2" y="T3"/>
                  </a:cxn>
                  <a:cxn ang="0">
                    <a:pos x="T4" y="T5"/>
                  </a:cxn>
                  <a:cxn ang="0">
                    <a:pos x="T6" y="T7"/>
                  </a:cxn>
                </a:cxnLst>
                <a:rect l="0" t="0" r="r" b="b"/>
                <a:pathLst>
                  <a:path w="129" h="385">
                    <a:moveTo>
                      <a:pt x="129" y="0"/>
                    </a:moveTo>
                    <a:lnTo>
                      <a:pt x="0" y="0"/>
                    </a:lnTo>
                    <a:lnTo>
                      <a:pt x="65" y="385"/>
                    </a:lnTo>
                    <a:lnTo>
                      <a:pt x="129" y="0"/>
                    </a:lnTo>
                  </a:path>
                </a:pathLst>
              </a:custGeom>
              <a:noFill/>
              <a:ln w="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37" name="未知"/>
              <p:cNvSpPr>
                <a:spLocks noChangeAspect="1"/>
              </p:cNvSpPr>
              <p:nvPr/>
            </p:nvSpPr>
            <p:spPr bwMode="auto">
              <a:xfrm>
                <a:off x="683" y="1667"/>
                <a:ext cx="24" cy="58"/>
              </a:xfrm>
              <a:custGeom>
                <a:avLst/>
                <a:gdLst>
                  <a:gd name="T0" fmla="*/ 127 w 127"/>
                  <a:gd name="T1" fmla="*/ 0 h 385"/>
                  <a:gd name="T2" fmla="*/ 0 w 127"/>
                  <a:gd name="T3" fmla="*/ 0 h 385"/>
                  <a:gd name="T4" fmla="*/ 63 w 127"/>
                  <a:gd name="T5" fmla="*/ 385 h 385"/>
                  <a:gd name="T6" fmla="*/ 127 w 127"/>
                  <a:gd name="T7" fmla="*/ 0 h 385"/>
                </a:gdLst>
                <a:ahLst/>
                <a:cxnLst>
                  <a:cxn ang="0">
                    <a:pos x="T0" y="T1"/>
                  </a:cxn>
                  <a:cxn ang="0">
                    <a:pos x="T2" y="T3"/>
                  </a:cxn>
                  <a:cxn ang="0">
                    <a:pos x="T4" y="T5"/>
                  </a:cxn>
                  <a:cxn ang="0">
                    <a:pos x="T6" y="T7"/>
                  </a:cxn>
                </a:cxnLst>
                <a:rect l="0" t="0" r="r" b="b"/>
                <a:pathLst>
                  <a:path w="127" h="385">
                    <a:moveTo>
                      <a:pt x="127" y="0"/>
                    </a:moveTo>
                    <a:lnTo>
                      <a:pt x="0" y="0"/>
                    </a:lnTo>
                    <a:lnTo>
                      <a:pt x="63" y="385"/>
                    </a:lnTo>
                    <a:lnTo>
                      <a:pt x="127"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8" name="未知"/>
              <p:cNvSpPr>
                <a:spLocks noChangeAspect="1"/>
              </p:cNvSpPr>
              <p:nvPr/>
            </p:nvSpPr>
            <p:spPr bwMode="auto">
              <a:xfrm>
                <a:off x="683" y="1667"/>
                <a:ext cx="24" cy="58"/>
              </a:xfrm>
              <a:custGeom>
                <a:avLst/>
                <a:gdLst>
                  <a:gd name="T0" fmla="*/ 127 w 127"/>
                  <a:gd name="T1" fmla="*/ 0 h 385"/>
                  <a:gd name="T2" fmla="*/ 0 w 127"/>
                  <a:gd name="T3" fmla="*/ 0 h 385"/>
                  <a:gd name="T4" fmla="*/ 63 w 127"/>
                  <a:gd name="T5" fmla="*/ 385 h 385"/>
                  <a:gd name="T6" fmla="*/ 127 w 127"/>
                  <a:gd name="T7" fmla="*/ 0 h 385"/>
                </a:gdLst>
                <a:ahLst/>
                <a:cxnLst>
                  <a:cxn ang="0">
                    <a:pos x="T0" y="T1"/>
                  </a:cxn>
                  <a:cxn ang="0">
                    <a:pos x="T2" y="T3"/>
                  </a:cxn>
                  <a:cxn ang="0">
                    <a:pos x="T4" y="T5"/>
                  </a:cxn>
                  <a:cxn ang="0">
                    <a:pos x="T6" y="T7"/>
                  </a:cxn>
                </a:cxnLst>
                <a:rect l="0" t="0" r="r" b="b"/>
                <a:pathLst>
                  <a:path w="127" h="385">
                    <a:moveTo>
                      <a:pt x="127" y="0"/>
                    </a:moveTo>
                    <a:lnTo>
                      <a:pt x="0" y="0"/>
                    </a:lnTo>
                    <a:lnTo>
                      <a:pt x="63" y="385"/>
                    </a:lnTo>
                    <a:lnTo>
                      <a:pt x="127" y="0"/>
                    </a:lnTo>
                  </a:path>
                </a:pathLst>
              </a:custGeom>
              <a:noFill/>
              <a:ln w="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39" name="Line 130"/>
              <p:cNvSpPr>
                <a:spLocks noChangeAspect="1" noChangeShapeType="1"/>
              </p:cNvSpPr>
              <p:nvPr/>
            </p:nvSpPr>
            <p:spPr bwMode="auto">
              <a:xfrm>
                <a:off x="696" y="1573"/>
                <a:ext cx="1" cy="96"/>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 name="Line 131"/>
              <p:cNvSpPr>
                <a:spLocks noChangeAspect="1" noChangeShapeType="1"/>
              </p:cNvSpPr>
              <p:nvPr/>
            </p:nvSpPr>
            <p:spPr bwMode="auto">
              <a:xfrm>
                <a:off x="696" y="1573"/>
                <a:ext cx="1" cy="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1" name="未知"/>
              <p:cNvSpPr>
                <a:spLocks noChangeAspect="1"/>
              </p:cNvSpPr>
              <p:nvPr/>
            </p:nvSpPr>
            <p:spPr bwMode="auto">
              <a:xfrm>
                <a:off x="833" y="1789"/>
                <a:ext cx="23" cy="58"/>
              </a:xfrm>
              <a:custGeom>
                <a:avLst/>
                <a:gdLst>
                  <a:gd name="T0" fmla="*/ 128 w 128"/>
                  <a:gd name="T1" fmla="*/ 0 h 384"/>
                  <a:gd name="T2" fmla="*/ 0 w 128"/>
                  <a:gd name="T3" fmla="*/ 0 h 384"/>
                  <a:gd name="T4" fmla="*/ 63 w 128"/>
                  <a:gd name="T5" fmla="*/ 384 h 384"/>
                  <a:gd name="T6" fmla="*/ 128 w 128"/>
                  <a:gd name="T7" fmla="*/ 0 h 384"/>
                </a:gdLst>
                <a:ahLst/>
                <a:cxnLst>
                  <a:cxn ang="0">
                    <a:pos x="T0" y="T1"/>
                  </a:cxn>
                  <a:cxn ang="0">
                    <a:pos x="T2" y="T3"/>
                  </a:cxn>
                  <a:cxn ang="0">
                    <a:pos x="T4" y="T5"/>
                  </a:cxn>
                  <a:cxn ang="0">
                    <a:pos x="T6" y="T7"/>
                  </a:cxn>
                </a:cxnLst>
                <a:rect l="0" t="0" r="r" b="b"/>
                <a:pathLst>
                  <a:path w="128" h="384">
                    <a:moveTo>
                      <a:pt x="128" y="0"/>
                    </a:moveTo>
                    <a:lnTo>
                      <a:pt x="0" y="0"/>
                    </a:lnTo>
                    <a:lnTo>
                      <a:pt x="63" y="384"/>
                    </a:lnTo>
                    <a:lnTo>
                      <a:pt x="128"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2" name="未知"/>
              <p:cNvSpPr>
                <a:spLocks noChangeAspect="1"/>
              </p:cNvSpPr>
              <p:nvPr/>
            </p:nvSpPr>
            <p:spPr bwMode="auto">
              <a:xfrm>
                <a:off x="833" y="1789"/>
                <a:ext cx="23" cy="58"/>
              </a:xfrm>
              <a:custGeom>
                <a:avLst/>
                <a:gdLst>
                  <a:gd name="T0" fmla="*/ 128 w 128"/>
                  <a:gd name="T1" fmla="*/ 0 h 384"/>
                  <a:gd name="T2" fmla="*/ 0 w 128"/>
                  <a:gd name="T3" fmla="*/ 0 h 384"/>
                  <a:gd name="T4" fmla="*/ 63 w 128"/>
                  <a:gd name="T5" fmla="*/ 384 h 384"/>
                  <a:gd name="T6" fmla="*/ 128 w 128"/>
                  <a:gd name="T7" fmla="*/ 0 h 384"/>
                </a:gdLst>
                <a:ahLst/>
                <a:cxnLst>
                  <a:cxn ang="0">
                    <a:pos x="T0" y="T1"/>
                  </a:cxn>
                  <a:cxn ang="0">
                    <a:pos x="T2" y="T3"/>
                  </a:cxn>
                  <a:cxn ang="0">
                    <a:pos x="T4" y="T5"/>
                  </a:cxn>
                  <a:cxn ang="0">
                    <a:pos x="T6" y="T7"/>
                  </a:cxn>
                </a:cxnLst>
                <a:rect l="0" t="0" r="r" b="b"/>
                <a:pathLst>
                  <a:path w="128" h="384">
                    <a:moveTo>
                      <a:pt x="128" y="0"/>
                    </a:moveTo>
                    <a:lnTo>
                      <a:pt x="0" y="0"/>
                    </a:lnTo>
                    <a:lnTo>
                      <a:pt x="63" y="384"/>
                    </a:lnTo>
                    <a:lnTo>
                      <a:pt x="128" y="0"/>
                    </a:lnTo>
                  </a:path>
                </a:pathLst>
              </a:custGeom>
              <a:noFill/>
              <a:ln w="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43" name="Line 134"/>
              <p:cNvSpPr>
                <a:spLocks noChangeAspect="1" noChangeShapeType="1"/>
              </p:cNvSpPr>
              <p:nvPr/>
            </p:nvSpPr>
            <p:spPr bwMode="auto">
              <a:xfrm>
                <a:off x="771" y="1634"/>
                <a:ext cx="1" cy="96"/>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4" name="Line 135"/>
              <p:cNvSpPr>
                <a:spLocks noChangeAspect="1" noChangeShapeType="1"/>
              </p:cNvSpPr>
              <p:nvPr/>
            </p:nvSpPr>
            <p:spPr bwMode="auto">
              <a:xfrm>
                <a:off x="771" y="1634"/>
                <a:ext cx="1" cy="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5" name="未知"/>
              <p:cNvSpPr>
                <a:spLocks noChangeAspect="1"/>
              </p:cNvSpPr>
              <p:nvPr/>
            </p:nvSpPr>
            <p:spPr bwMode="auto">
              <a:xfrm>
                <a:off x="758" y="1728"/>
                <a:ext cx="24" cy="58"/>
              </a:xfrm>
              <a:custGeom>
                <a:avLst/>
                <a:gdLst>
                  <a:gd name="T0" fmla="*/ 127 w 127"/>
                  <a:gd name="T1" fmla="*/ 0 h 384"/>
                  <a:gd name="T2" fmla="*/ 0 w 127"/>
                  <a:gd name="T3" fmla="*/ 0 h 384"/>
                  <a:gd name="T4" fmla="*/ 63 w 127"/>
                  <a:gd name="T5" fmla="*/ 384 h 384"/>
                  <a:gd name="T6" fmla="*/ 127 w 127"/>
                  <a:gd name="T7" fmla="*/ 0 h 384"/>
                </a:gdLst>
                <a:ahLst/>
                <a:cxnLst>
                  <a:cxn ang="0">
                    <a:pos x="T0" y="T1"/>
                  </a:cxn>
                  <a:cxn ang="0">
                    <a:pos x="T2" y="T3"/>
                  </a:cxn>
                  <a:cxn ang="0">
                    <a:pos x="T4" y="T5"/>
                  </a:cxn>
                  <a:cxn ang="0">
                    <a:pos x="T6" y="T7"/>
                  </a:cxn>
                </a:cxnLst>
                <a:rect l="0" t="0" r="r" b="b"/>
                <a:pathLst>
                  <a:path w="127" h="384">
                    <a:moveTo>
                      <a:pt x="127" y="0"/>
                    </a:moveTo>
                    <a:lnTo>
                      <a:pt x="0" y="0"/>
                    </a:lnTo>
                    <a:lnTo>
                      <a:pt x="63" y="384"/>
                    </a:lnTo>
                    <a:lnTo>
                      <a:pt x="127"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6" name="未知"/>
              <p:cNvSpPr>
                <a:spLocks noChangeAspect="1"/>
              </p:cNvSpPr>
              <p:nvPr/>
            </p:nvSpPr>
            <p:spPr bwMode="auto">
              <a:xfrm>
                <a:off x="758" y="1728"/>
                <a:ext cx="24" cy="58"/>
              </a:xfrm>
              <a:custGeom>
                <a:avLst/>
                <a:gdLst>
                  <a:gd name="T0" fmla="*/ 127 w 127"/>
                  <a:gd name="T1" fmla="*/ 0 h 384"/>
                  <a:gd name="T2" fmla="*/ 0 w 127"/>
                  <a:gd name="T3" fmla="*/ 0 h 384"/>
                  <a:gd name="T4" fmla="*/ 63 w 127"/>
                  <a:gd name="T5" fmla="*/ 384 h 384"/>
                  <a:gd name="T6" fmla="*/ 127 w 127"/>
                  <a:gd name="T7" fmla="*/ 0 h 384"/>
                </a:gdLst>
                <a:ahLst/>
                <a:cxnLst>
                  <a:cxn ang="0">
                    <a:pos x="T0" y="T1"/>
                  </a:cxn>
                  <a:cxn ang="0">
                    <a:pos x="T2" y="T3"/>
                  </a:cxn>
                  <a:cxn ang="0">
                    <a:pos x="T4" y="T5"/>
                  </a:cxn>
                  <a:cxn ang="0">
                    <a:pos x="T6" y="T7"/>
                  </a:cxn>
                </a:cxnLst>
                <a:rect l="0" t="0" r="r" b="b"/>
                <a:pathLst>
                  <a:path w="127" h="384">
                    <a:moveTo>
                      <a:pt x="127" y="0"/>
                    </a:moveTo>
                    <a:lnTo>
                      <a:pt x="0" y="0"/>
                    </a:lnTo>
                    <a:lnTo>
                      <a:pt x="63" y="384"/>
                    </a:lnTo>
                    <a:lnTo>
                      <a:pt x="127" y="0"/>
                    </a:lnTo>
                  </a:path>
                </a:pathLst>
              </a:custGeom>
              <a:noFill/>
              <a:ln w="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47" name="Line 138"/>
              <p:cNvSpPr>
                <a:spLocks noChangeAspect="1" noChangeShapeType="1"/>
              </p:cNvSpPr>
              <p:nvPr/>
            </p:nvSpPr>
            <p:spPr bwMode="auto">
              <a:xfrm>
                <a:off x="1069" y="2029"/>
                <a:ext cx="178" cy="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8" name="未知"/>
              <p:cNvSpPr>
                <a:spLocks noChangeAspect="1"/>
              </p:cNvSpPr>
              <p:nvPr/>
            </p:nvSpPr>
            <p:spPr bwMode="auto">
              <a:xfrm>
                <a:off x="1059" y="1869"/>
                <a:ext cx="9" cy="15"/>
              </a:xfrm>
              <a:custGeom>
                <a:avLst/>
                <a:gdLst>
                  <a:gd name="T0" fmla="*/ 50 w 50"/>
                  <a:gd name="T1" fmla="*/ 52 h 102"/>
                  <a:gd name="T2" fmla="*/ 50 w 50"/>
                  <a:gd name="T3" fmla="*/ 102 h 102"/>
                  <a:gd name="T4" fmla="*/ 39 w 50"/>
                  <a:gd name="T5" fmla="*/ 101 h 102"/>
                  <a:gd name="T6" fmla="*/ 28 w 50"/>
                  <a:gd name="T7" fmla="*/ 97 h 102"/>
                  <a:gd name="T8" fmla="*/ 19 w 50"/>
                  <a:gd name="T9" fmla="*/ 91 h 102"/>
                  <a:gd name="T10" fmla="*/ 11 w 50"/>
                  <a:gd name="T11" fmla="*/ 83 h 102"/>
                  <a:gd name="T12" fmla="*/ 5 w 50"/>
                  <a:gd name="T13" fmla="*/ 74 h 102"/>
                  <a:gd name="T14" fmla="*/ 1 w 50"/>
                  <a:gd name="T15" fmla="*/ 63 h 102"/>
                  <a:gd name="T16" fmla="*/ 0 w 50"/>
                  <a:gd name="T17" fmla="*/ 52 h 102"/>
                  <a:gd name="T18" fmla="*/ 1 w 50"/>
                  <a:gd name="T19" fmla="*/ 41 h 102"/>
                  <a:gd name="T20" fmla="*/ 5 w 50"/>
                  <a:gd name="T21" fmla="*/ 29 h 102"/>
                  <a:gd name="T22" fmla="*/ 11 w 50"/>
                  <a:gd name="T23" fmla="*/ 20 h 102"/>
                  <a:gd name="T24" fmla="*/ 19 w 50"/>
                  <a:gd name="T25" fmla="*/ 12 h 102"/>
                  <a:gd name="T26" fmla="*/ 28 w 50"/>
                  <a:gd name="T27" fmla="*/ 6 h 102"/>
                  <a:gd name="T28" fmla="*/ 39 w 50"/>
                  <a:gd name="T29" fmla="*/ 2 h 102"/>
                  <a:gd name="T30" fmla="*/ 50 w 50"/>
                  <a:gd name="T31" fmla="*/ 0 h 102"/>
                  <a:gd name="T32" fmla="*/ 50 w 50"/>
                  <a:gd name="T33" fmla="*/ 5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0" h="102">
                    <a:moveTo>
                      <a:pt x="50" y="52"/>
                    </a:moveTo>
                    <a:lnTo>
                      <a:pt x="50" y="102"/>
                    </a:lnTo>
                    <a:lnTo>
                      <a:pt x="39" y="101"/>
                    </a:lnTo>
                    <a:lnTo>
                      <a:pt x="28" y="97"/>
                    </a:lnTo>
                    <a:lnTo>
                      <a:pt x="19" y="91"/>
                    </a:lnTo>
                    <a:lnTo>
                      <a:pt x="11" y="83"/>
                    </a:lnTo>
                    <a:lnTo>
                      <a:pt x="5" y="74"/>
                    </a:lnTo>
                    <a:lnTo>
                      <a:pt x="1" y="63"/>
                    </a:lnTo>
                    <a:lnTo>
                      <a:pt x="0" y="52"/>
                    </a:lnTo>
                    <a:lnTo>
                      <a:pt x="1" y="41"/>
                    </a:lnTo>
                    <a:lnTo>
                      <a:pt x="5" y="29"/>
                    </a:lnTo>
                    <a:lnTo>
                      <a:pt x="11" y="20"/>
                    </a:lnTo>
                    <a:lnTo>
                      <a:pt x="19" y="12"/>
                    </a:lnTo>
                    <a:lnTo>
                      <a:pt x="28" y="6"/>
                    </a:lnTo>
                    <a:lnTo>
                      <a:pt x="39" y="2"/>
                    </a:lnTo>
                    <a:lnTo>
                      <a:pt x="50" y="0"/>
                    </a:lnTo>
                    <a:lnTo>
                      <a:pt x="50"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9" name="未知"/>
              <p:cNvSpPr>
                <a:spLocks noChangeAspect="1"/>
              </p:cNvSpPr>
              <p:nvPr/>
            </p:nvSpPr>
            <p:spPr bwMode="auto">
              <a:xfrm>
                <a:off x="1059" y="1869"/>
                <a:ext cx="9" cy="15"/>
              </a:xfrm>
              <a:custGeom>
                <a:avLst/>
                <a:gdLst>
                  <a:gd name="T0" fmla="*/ 50 w 50"/>
                  <a:gd name="T1" fmla="*/ 102 h 102"/>
                  <a:gd name="T2" fmla="*/ 39 w 50"/>
                  <a:gd name="T3" fmla="*/ 101 h 102"/>
                  <a:gd name="T4" fmla="*/ 28 w 50"/>
                  <a:gd name="T5" fmla="*/ 97 h 102"/>
                  <a:gd name="T6" fmla="*/ 19 w 50"/>
                  <a:gd name="T7" fmla="*/ 91 h 102"/>
                  <a:gd name="T8" fmla="*/ 11 w 50"/>
                  <a:gd name="T9" fmla="*/ 83 h 102"/>
                  <a:gd name="T10" fmla="*/ 5 w 50"/>
                  <a:gd name="T11" fmla="*/ 74 h 102"/>
                  <a:gd name="T12" fmla="*/ 1 w 50"/>
                  <a:gd name="T13" fmla="*/ 63 h 102"/>
                  <a:gd name="T14" fmla="*/ 0 w 50"/>
                  <a:gd name="T15" fmla="*/ 52 h 102"/>
                  <a:gd name="T16" fmla="*/ 1 w 50"/>
                  <a:gd name="T17" fmla="*/ 41 h 102"/>
                  <a:gd name="T18" fmla="*/ 5 w 50"/>
                  <a:gd name="T19" fmla="*/ 29 h 102"/>
                  <a:gd name="T20" fmla="*/ 11 w 50"/>
                  <a:gd name="T21" fmla="*/ 20 h 102"/>
                  <a:gd name="T22" fmla="*/ 19 w 50"/>
                  <a:gd name="T23" fmla="*/ 12 h 102"/>
                  <a:gd name="T24" fmla="*/ 28 w 50"/>
                  <a:gd name="T25" fmla="*/ 6 h 102"/>
                  <a:gd name="T26" fmla="*/ 39 w 50"/>
                  <a:gd name="T27" fmla="*/ 2 h 102"/>
                  <a:gd name="T28" fmla="*/ 50 w 50"/>
                  <a:gd name="T29"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0" h="102">
                    <a:moveTo>
                      <a:pt x="50" y="102"/>
                    </a:moveTo>
                    <a:lnTo>
                      <a:pt x="39" y="101"/>
                    </a:lnTo>
                    <a:lnTo>
                      <a:pt x="28" y="97"/>
                    </a:lnTo>
                    <a:lnTo>
                      <a:pt x="19" y="91"/>
                    </a:lnTo>
                    <a:lnTo>
                      <a:pt x="11" y="83"/>
                    </a:lnTo>
                    <a:lnTo>
                      <a:pt x="5" y="74"/>
                    </a:lnTo>
                    <a:lnTo>
                      <a:pt x="1" y="63"/>
                    </a:lnTo>
                    <a:lnTo>
                      <a:pt x="0" y="52"/>
                    </a:lnTo>
                    <a:lnTo>
                      <a:pt x="1" y="41"/>
                    </a:lnTo>
                    <a:lnTo>
                      <a:pt x="5" y="29"/>
                    </a:lnTo>
                    <a:lnTo>
                      <a:pt x="11" y="20"/>
                    </a:lnTo>
                    <a:lnTo>
                      <a:pt x="19" y="12"/>
                    </a:lnTo>
                    <a:lnTo>
                      <a:pt x="28" y="6"/>
                    </a:lnTo>
                    <a:lnTo>
                      <a:pt x="39" y="2"/>
                    </a:lnTo>
                    <a:lnTo>
                      <a:pt x="50"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50" name="未知"/>
              <p:cNvSpPr>
                <a:spLocks noChangeAspect="1"/>
              </p:cNvSpPr>
              <p:nvPr/>
            </p:nvSpPr>
            <p:spPr bwMode="auto">
              <a:xfrm>
                <a:off x="1068" y="1869"/>
                <a:ext cx="178" cy="15"/>
              </a:xfrm>
              <a:custGeom>
                <a:avLst/>
                <a:gdLst>
                  <a:gd name="T0" fmla="*/ 0 w 976"/>
                  <a:gd name="T1" fmla="*/ 0 h 102"/>
                  <a:gd name="T2" fmla="*/ 0 w 976"/>
                  <a:gd name="T3" fmla="*/ 52 h 102"/>
                  <a:gd name="T4" fmla="*/ 0 w 976"/>
                  <a:gd name="T5" fmla="*/ 102 h 102"/>
                  <a:gd name="T6" fmla="*/ 976 w 976"/>
                  <a:gd name="T7" fmla="*/ 102 h 102"/>
                  <a:gd name="T8" fmla="*/ 976 w 976"/>
                  <a:gd name="T9" fmla="*/ 52 h 102"/>
                  <a:gd name="T10" fmla="*/ 976 w 976"/>
                  <a:gd name="T11" fmla="*/ 0 h 102"/>
                  <a:gd name="T12" fmla="*/ 0 w 976"/>
                  <a:gd name="T13" fmla="*/ 0 h 102"/>
                </a:gdLst>
                <a:ahLst/>
                <a:cxnLst>
                  <a:cxn ang="0">
                    <a:pos x="T0" y="T1"/>
                  </a:cxn>
                  <a:cxn ang="0">
                    <a:pos x="T2" y="T3"/>
                  </a:cxn>
                  <a:cxn ang="0">
                    <a:pos x="T4" y="T5"/>
                  </a:cxn>
                  <a:cxn ang="0">
                    <a:pos x="T6" y="T7"/>
                  </a:cxn>
                  <a:cxn ang="0">
                    <a:pos x="T8" y="T9"/>
                  </a:cxn>
                  <a:cxn ang="0">
                    <a:pos x="T10" y="T11"/>
                  </a:cxn>
                  <a:cxn ang="0">
                    <a:pos x="T12" y="T13"/>
                  </a:cxn>
                </a:cxnLst>
                <a:rect l="0" t="0" r="r" b="b"/>
                <a:pathLst>
                  <a:path w="976" h="102">
                    <a:moveTo>
                      <a:pt x="0" y="0"/>
                    </a:moveTo>
                    <a:lnTo>
                      <a:pt x="0" y="52"/>
                    </a:lnTo>
                    <a:lnTo>
                      <a:pt x="0" y="102"/>
                    </a:lnTo>
                    <a:lnTo>
                      <a:pt x="976" y="102"/>
                    </a:lnTo>
                    <a:lnTo>
                      <a:pt x="976" y="52"/>
                    </a:lnTo>
                    <a:lnTo>
                      <a:pt x="976"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1" name="未知"/>
              <p:cNvSpPr>
                <a:spLocks noChangeAspect="1"/>
              </p:cNvSpPr>
              <p:nvPr/>
            </p:nvSpPr>
            <p:spPr bwMode="auto">
              <a:xfrm>
                <a:off x="1068" y="1869"/>
                <a:ext cx="178" cy="15"/>
              </a:xfrm>
              <a:custGeom>
                <a:avLst/>
                <a:gdLst>
                  <a:gd name="T0" fmla="*/ 0 w 976"/>
                  <a:gd name="T1" fmla="*/ 0 h 102"/>
                  <a:gd name="T2" fmla="*/ 0 w 976"/>
                  <a:gd name="T3" fmla="*/ 52 h 102"/>
                  <a:gd name="T4" fmla="*/ 0 w 976"/>
                  <a:gd name="T5" fmla="*/ 102 h 102"/>
                  <a:gd name="T6" fmla="*/ 976 w 976"/>
                  <a:gd name="T7" fmla="*/ 102 h 102"/>
                  <a:gd name="T8" fmla="*/ 976 w 976"/>
                  <a:gd name="T9" fmla="*/ 52 h 102"/>
                  <a:gd name="T10" fmla="*/ 976 w 976"/>
                  <a:gd name="T11" fmla="*/ 0 h 102"/>
                  <a:gd name="T12" fmla="*/ 0 w 976"/>
                  <a:gd name="T13" fmla="*/ 0 h 102"/>
                </a:gdLst>
                <a:ahLst/>
                <a:cxnLst>
                  <a:cxn ang="0">
                    <a:pos x="T0" y="T1"/>
                  </a:cxn>
                  <a:cxn ang="0">
                    <a:pos x="T2" y="T3"/>
                  </a:cxn>
                  <a:cxn ang="0">
                    <a:pos x="T4" y="T5"/>
                  </a:cxn>
                  <a:cxn ang="0">
                    <a:pos x="T6" y="T7"/>
                  </a:cxn>
                  <a:cxn ang="0">
                    <a:pos x="T8" y="T9"/>
                  </a:cxn>
                  <a:cxn ang="0">
                    <a:pos x="T10" y="T11"/>
                  </a:cxn>
                  <a:cxn ang="0">
                    <a:pos x="T12" y="T13"/>
                  </a:cxn>
                </a:cxnLst>
                <a:rect l="0" t="0" r="r" b="b"/>
                <a:pathLst>
                  <a:path w="976" h="102">
                    <a:moveTo>
                      <a:pt x="0" y="0"/>
                    </a:moveTo>
                    <a:lnTo>
                      <a:pt x="0" y="52"/>
                    </a:lnTo>
                    <a:lnTo>
                      <a:pt x="0" y="102"/>
                    </a:lnTo>
                    <a:lnTo>
                      <a:pt x="976" y="102"/>
                    </a:lnTo>
                    <a:lnTo>
                      <a:pt x="976" y="52"/>
                    </a:lnTo>
                    <a:lnTo>
                      <a:pt x="976" y="0"/>
                    </a:lnTo>
                    <a:lnTo>
                      <a:pt x="0"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52" name="未知"/>
              <p:cNvSpPr>
                <a:spLocks noChangeAspect="1"/>
              </p:cNvSpPr>
              <p:nvPr/>
            </p:nvSpPr>
            <p:spPr bwMode="auto">
              <a:xfrm>
                <a:off x="1246" y="1869"/>
                <a:ext cx="9" cy="15"/>
              </a:xfrm>
              <a:custGeom>
                <a:avLst/>
                <a:gdLst>
                  <a:gd name="T0" fmla="*/ 0 w 52"/>
                  <a:gd name="T1" fmla="*/ 52 h 102"/>
                  <a:gd name="T2" fmla="*/ 0 w 52"/>
                  <a:gd name="T3" fmla="*/ 0 h 102"/>
                  <a:gd name="T4" fmla="*/ 11 w 52"/>
                  <a:gd name="T5" fmla="*/ 2 h 102"/>
                  <a:gd name="T6" fmla="*/ 22 w 52"/>
                  <a:gd name="T7" fmla="*/ 6 h 102"/>
                  <a:gd name="T8" fmla="*/ 31 w 52"/>
                  <a:gd name="T9" fmla="*/ 12 h 102"/>
                  <a:gd name="T10" fmla="*/ 39 w 52"/>
                  <a:gd name="T11" fmla="*/ 20 h 102"/>
                  <a:gd name="T12" fmla="*/ 46 w 52"/>
                  <a:gd name="T13" fmla="*/ 29 h 102"/>
                  <a:gd name="T14" fmla="*/ 50 w 52"/>
                  <a:gd name="T15" fmla="*/ 41 h 102"/>
                  <a:gd name="T16" fmla="*/ 52 w 52"/>
                  <a:gd name="T17" fmla="*/ 52 h 102"/>
                  <a:gd name="T18" fmla="*/ 50 w 52"/>
                  <a:gd name="T19" fmla="*/ 63 h 102"/>
                  <a:gd name="T20" fmla="*/ 46 w 52"/>
                  <a:gd name="T21" fmla="*/ 74 h 102"/>
                  <a:gd name="T22" fmla="*/ 39 w 52"/>
                  <a:gd name="T23" fmla="*/ 83 h 102"/>
                  <a:gd name="T24" fmla="*/ 31 w 52"/>
                  <a:gd name="T25" fmla="*/ 91 h 102"/>
                  <a:gd name="T26" fmla="*/ 22 w 52"/>
                  <a:gd name="T27" fmla="*/ 97 h 102"/>
                  <a:gd name="T28" fmla="*/ 11 w 52"/>
                  <a:gd name="T29" fmla="*/ 101 h 102"/>
                  <a:gd name="T30" fmla="*/ 0 w 52"/>
                  <a:gd name="T31" fmla="*/ 102 h 102"/>
                  <a:gd name="T32" fmla="*/ 0 w 52"/>
                  <a:gd name="T33" fmla="*/ 5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102">
                    <a:moveTo>
                      <a:pt x="0" y="52"/>
                    </a:moveTo>
                    <a:lnTo>
                      <a:pt x="0" y="0"/>
                    </a:lnTo>
                    <a:lnTo>
                      <a:pt x="11" y="2"/>
                    </a:lnTo>
                    <a:lnTo>
                      <a:pt x="22" y="6"/>
                    </a:lnTo>
                    <a:lnTo>
                      <a:pt x="31" y="12"/>
                    </a:lnTo>
                    <a:lnTo>
                      <a:pt x="39" y="20"/>
                    </a:lnTo>
                    <a:lnTo>
                      <a:pt x="46" y="29"/>
                    </a:lnTo>
                    <a:lnTo>
                      <a:pt x="50" y="41"/>
                    </a:lnTo>
                    <a:lnTo>
                      <a:pt x="52" y="52"/>
                    </a:lnTo>
                    <a:lnTo>
                      <a:pt x="50" y="63"/>
                    </a:lnTo>
                    <a:lnTo>
                      <a:pt x="46" y="74"/>
                    </a:lnTo>
                    <a:lnTo>
                      <a:pt x="39" y="83"/>
                    </a:lnTo>
                    <a:lnTo>
                      <a:pt x="31" y="91"/>
                    </a:lnTo>
                    <a:lnTo>
                      <a:pt x="22" y="97"/>
                    </a:lnTo>
                    <a:lnTo>
                      <a:pt x="11" y="101"/>
                    </a:lnTo>
                    <a:lnTo>
                      <a:pt x="0" y="102"/>
                    </a:lnTo>
                    <a:lnTo>
                      <a:pt x="0"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3" name="未知"/>
              <p:cNvSpPr>
                <a:spLocks noChangeAspect="1"/>
              </p:cNvSpPr>
              <p:nvPr/>
            </p:nvSpPr>
            <p:spPr bwMode="auto">
              <a:xfrm>
                <a:off x="1246" y="1869"/>
                <a:ext cx="9" cy="15"/>
              </a:xfrm>
              <a:custGeom>
                <a:avLst/>
                <a:gdLst>
                  <a:gd name="T0" fmla="*/ 0 w 52"/>
                  <a:gd name="T1" fmla="*/ 0 h 102"/>
                  <a:gd name="T2" fmla="*/ 11 w 52"/>
                  <a:gd name="T3" fmla="*/ 2 h 102"/>
                  <a:gd name="T4" fmla="*/ 22 w 52"/>
                  <a:gd name="T5" fmla="*/ 6 h 102"/>
                  <a:gd name="T6" fmla="*/ 31 w 52"/>
                  <a:gd name="T7" fmla="*/ 12 h 102"/>
                  <a:gd name="T8" fmla="*/ 39 w 52"/>
                  <a:gd name="T9" fmla="*/ 20 h 102"/>
                  <a:gd name="T10" fmla="*/ 46 w 52"/>
                  <a:gd name="T11" fmla="*/ 29 h 102"/>
                  <a:gd name="T12" fmla="*/ 50 w 52"/>
                  <a:gd name="T13" fmla="*/ 41 h 102"/>
                  <a:gd name="T14" fmla="*/ 52 w 52"/>
                  <a:gd name="T15" fmla="*/ 52 h 102"/>
                  <a:gd name="T16" fmla="*/ 50 w 52"/>
                  <a:gd name="T17" fmla="*/ 63 h 102"/>
                  <a:gd name="T18" fmla="*/ 46 w 52"/>
                  <a:gd name="T19" fmla="*/ 74 h 102"/>
                  <a:gd name="T20" fmla="*/ 39 w 52"/>
                  <a:gd name="T21" fmla="*/ 83 h 102"/>
                  <a:gd name="T22" fmla="*/ 31 w 52"/>
                  <a:gd name="T23" fmla="*/ 91 h 102"/>
                  <a:gd name="T24" fmla="*/ 22 w 52"/>
                  <a:gd name="T25" fmla="*/ 97 h 102"/>
                  <a:gd name="T26" fmla="*/ 11 w 52"/>
                  <a:gd name="T27" fmla="*/ 101 h 102"/>
                  <a:gd name="T28" fmla="*/ 0 w 52"/>
                  <a:gd name="T2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2" h="102">
                    <a:moveTo>
                      <a:pt x="0" y="0"/>
                    </a:moveTo>
                    <a:lnTo>
                      <a:pt x="11" y="2"/>
                    </a:lnTo>
                    <a:lnTo>
                      <a:pt x="22" y="6"/>
                    </a:lnTo>
                    <a:lnTo>
                      <a:pt x="31" y="12"/>
                    </a:lnTo>
                    <a:lnTo>
                      <a:pt x="39" y="20"/>
                    </a:lnTo>
                    <a:lnTo>
                      <a:pt x="46" y="29"/>
                    </a:lnTo>
                    <a:lnTo>
                      <a:pt x="50" y="41"/>
                    </a:lnTo>
                    <a:lnTo>
                      <a:pt x="52" y="52"/>
                    </a:lnTo>
                    <a:lnTo>
                      <a:pt x="50" y="63"/>
                    </a:lnTo>
                    <a:lnTo>
                      <a:pt x="46" y="74"/>
                    </a:lnTo>
                    <a:lnTo>
                      <a:pt x="39" y="83"/>
                    </a:lnTo>
                    <a:lnTo>
                      <a:pt x="31" y="91"/>
                    </a:lnTo>
                    <a:lnTo>
                      <a:pt x="22" y="97"/>
                    </a:lnTo>
                    <a:lnTo>
                      <a:pt x="11" y="101"/>
                    </a:lnTo>
                    <a:lnTo>
                      <a:pt x="0" y="102"/>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54" name="Line 145"/>
              <p:cNvSpPr>
                <a:spLocks noChangeAspect="1" noChangeShapeType="1"/>
              </p:cNvSpPr>
              <p:nvPr/>
            </p:nvSpPr>
            <p:spPr bwMode="auto">
              <a:xfrm>
                <a:off x="1068" y="1877"/>
                <a:ext cx="1" cy="96"/>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5" name="未知"/>
              <p:cNvSpPr>
                <a:spLocks noChangeAspect="1"/>
              </p:cNvSpPr>
              <p:nvPr/>
            </p:nvSpPr>
            <p:spPr bwMode="auto">
              <a:xfrm>
                <a:off x="1057" y="1971"/>
                <a:ext cx="23" cy="58"/>
              </a:xfrm>
              <a:custGeom>
                <a:avLst/>
                <a:gdLst>
                  <a:gd name="T0" fmla="*/ 0 w 129"/>
                  <a:gd name="T1" fmla="*/ 0 h 384"/>
                  <a:gd name="T2" fmla="*/ 129 w 129"/>
                  <a:gd name="T3" fmla="*/ 0 h 384"/>
                  <a:gd name="T4" fmla="*/ 65 w 129"/>
                  <a:gd name="T5" fmla="*/ 384 h 384"/>
                  <a:gd name="T6" fmla="*/ 0 w 129"/>
                  <a:gd name="T7" fmla="*/ 0 h 384"/>
                </a:gdLst>
                <a:ahLst/>
                <a:cxnLst>
                  <a:cxn ang="0">
                    <a:pos x="T0" y="T1"/>
                  </a:cxn>
                  <a:cxn ang="0">
                    <a:pos x="T2" y="T3"/>
                  </a:cxn>
                  <a:cxn ang="0">
                    <a:pos x="T4" y="T5"/>
                  </a:cxn>
                  <a:cxn ang="0">
                    <a:pos x="T6" y="T7"/>
                  </a:cxn>
                </a:cxnLst>
                <a:rect l="0" t="0" r="r" b="b"/>
                <a:pathLst>
                  <a:path w="129" h="384">
                    <a:moveTo>
                      <a:pt x="0" y="0"/>
                    </a:moveTo>
                    <a:lnTo>
                      <a:pt x="129" y="0"/>
                    </a:lnTo>
                    <a:lnTo>
                      <a:pt x="65" y="384"/>
                    </a:lnTo>
                    <a:lnTo>
                      <a:pt x="0"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6" name="未知"/>
              <p:cNvSpPr>
                <a:spLocks noChangeAspect="1"/>
              </p:cNvSpPr>
              <p:nvPr/>
            </p:nvSpPr>
            <p:spPr bwMode="auto">
              <a:xfrm>
                <a:off x="1057" y="1971"/>
                <a:ext cx="23" cy="58"/>
              </a:xfrm>
              <a:custGeom>
                <a:avLst/>
                <a:gdLst>
                  <a:gd name="T0" fmla="*/ 0 w 129"/>
                  <a:gd name="T1" fmla="*/ 0 h 384"/>
                  <a:gd name="T2" fmla="*/ 129 w 129"/>
                  <a:gd name="T3" fmla="*/ 0 h 384"/>
                  <a:gd name="T4" fmla="*/ 65 w 129"/>
                  <a:gd name="T5" fmla="*/ 384 h 384"/>
                  <a:gd name="T6" fmla="*/ 0 w 129"/>
                  <a:gd name="T7" fmla="*/ 0 h 384"/>
                </a:gdLst>
                <a:ahLst/>
                <a:cxnLst>
                  <a:cxn ang="0">
                    <a:pos x="T0" y="T1"/>
                  </a:cxn>
                  <a:cxn ang="0">
                    <a:pos x="T2" y="T3"/>
                  </a:cxn>
                  <a:cxn ang="0">
                    <a:pos x="T4" y="T5"/>
                  </a:cxn>
                  <a:cxn ang="0">
                    <a:pos x="T6" y="T7"/>
                  </a:cxn>
                </a:cxnLst>
                <a:rect l="0" t="0" r="r" b="b"/>
                <a:pathLst>
                  <a:path w="129" h="384">
                    <a:moveTo>
                      <a:pt x="0" y="0"/>
                    </a:moveTo>
                    <a:lnTo>
                      <a:pt x="129" y="0"/>
                    </a:lnTo>
                    <a:lnTo>
                      <a:pt x="65" y="384"/>
                    </a:lnTo>
                    <a:lnTo>
                      <a:pt x="0" y="0"/>
                    </a:lnTo>
                  </a:path>
                </a:pathLst>
              </a:custGeom>
              <a:noFill/>
              <a:ln w="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57" name="Line 148"/>
              <p:cNvSpPr>
                <a:spLocks noChangeAspect="1" noChangeShapeType="1"/>
              </p:cNvSpPr>
              <p:nvPr/>
            </p:nvSpPr>
            <p:spPr bwMode="auto">
              <a:xfrm>
                <a:off x="1247" y="1877"/>
                <a:ext cx="1" cy="96"/>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8" name="Line 149"/>
              <p:cNvSpPr>
                <a:spLocks noChangeAspect="1" noChangeShapeType="1"/>
              </p:cNvSpPr>
              <p:nvPr/>
            </p:nvSpPr>
            <p:spPr bwMode="auto">
              <a:xfrm>
                <a:off x="1158" y="1877"/>
                <a:ext cx="0" cy="96"/>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9" name="未知"/>
              <p:cNvSpPr>
                <a:spLocks noChangeAspect="1"/>
              </p:cNvSpPr>
              <p:nvPr/>
            </p:nvSpPr>
            <p:spPr bwMode="auto">
              <a:xfrm>
                <a:off x="1147" y="1971"/>
                <a:ext cx="23" cy="58"/>
              </a:xfrm>
              <a:custGeom>
                <a:avLst/>
                <a:gdLst>
                  <a:gd name="T0" fmla="*/ 0 w 128"/>
                  <a:gd name="T1" fmla="*/ 0 h 384"/>
                  <a:gd name="T2" fmla="*/ 128 w 128"/>
                  <a:gd name="T3" fmla="*/ 0 h 384"/>
                  <a:gd name="T4" fmla="*/ 64 w 128"/>
                  <a:gd name="T5" fmla="*/ 384 h 384"/>
                  <a:gd name="T6" fmla="*/ 0 w 128"/>
                  <a:gd name="T7" fmla="*/ 0 h 384"/>
                </a:gdLst>
                <a:ahLst/>
                <a:cxnLst>
                  <a:cxn ang="0">
                    <a:pos x="T0" y="T1"/>
                  </a:cxn>
                  <a:cxn ang="0">
                    <a:pos x="T2" y="T3"/>
                  </a:cxn>
                  <a:cxn ang="0">
                    <a:pos x="T4" y="T5"/>
                  </a:cxn>
                  <a:cxn ang="0">
                    <a:pos x="T6" y="T7"/>
                  </a:cxn>
                </a:cxnLst>
                <a:rect l="0" t="0" r="r" b="b"/>
                <a:pathLst>
                  <a:path w="128" h="384">
                    <a:moveTo>
                      <a:pt x="0" y="0"/>
                    </a:moveTo>
                    <a:lnTo>
                      <a:pt x="128" y="0"/>
                    </a:lnTo>
                    <a:lnTo>
                      <a:pt x="64" y="384"/>
                    </a:lnTo>
                    <a:lnTo>
                      <a:pt x="0"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0" name="未知"/>
              <p:cNvSpPr>
                <a:spLocks noChangeAspect="1"/>
              </p:cNvSpPr>
              <p:nvPr/>
            </p:nvSpPr>
            <p:spPr bwMode="auto">
              <a:xfrm>
                <a:off x="1147" y="1971"/>
                <a:ext cx="23" cy="58"/>
              </a:xfrm>
              <a:custGeom>
                <a:avLst/>
                <a:gdLst>
                  <a:gd name="T0" fmla="*/ 0 w 128"/>
                  <a:gd name="T1" fmla="*/ 0 h 384"/>
                  <a:gd name="T2" fmla="*/ 128 w 128"/>
                  <a:gd name="T3" fmla="*/ 0 h 384"/>
                  <a:gd name="T4" fmla="*/ 64 w 128"/>
                  <a:gd name="T5" fmla="*/ 384 h 384"/>
                  <a:gd name="T6" fmla="*/ 0 w 128"/>
                  <a:gd name="T7" fmla="*/ 0 h 384"/>
                </a:gdLst>
                <a:ahLst/>
                <a:cxnLst>
                  <a:cxn ang="0">
                    <a:pos x="T0" y="T1"/>
                  </a:cxn>
                  <a:cxn ang="0">
                    <a:pos x="T2" y="T3"/>
                  </a:cxn>
                  <a:cxn ang="0">
                    <a:pos x="T4" y="T5"/>
                  </a:cxn>
                  <a:cxn ang="0">
                    <a:pos x="T6" y="T7"/>
                  </a:cxn>
                </a:cxnLst>
                <a:rect l="0" t="0" r="r" b="b"/>
                <a:pathLst>
                  <a:path w="128" h="384">
                    <a:moveTo>
                      <a:pt x="0" y="0"/>
                    </a:moveTo>
                    <a:lnTo>
                      <a:pt x="128" y="0"/>
                    </a:lnTo>
                    <a:lnTo>
                      <a:pt x="64" y="384"/>
                    </a:lnTo>
                    <a:lnTo>
                      <a:pt x="0" y="0"/>
                    </a:lnTo>
                  </a:path>
                </a:pathLst>
              </a:custGeom>
              <a:noFill/>
              <a:ln w="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61" name="未知"/>
              <p:cNvSpPr>
                <a:spLocks noChangeAspect="1"/>
              </p:cNvSpPr>
              <p:nvPr/>
            </p:nvSpPr>
            <p:spPr bwMode="auto">
              <a:xfrm>
                <a:off x="1236" y="1971"/>
                <a:ext cx="23" cy="58"/>
              </a:xfrm>
              <a:custGeom>
                <a:avLst/>
                <a:gdLst>
                  <a:gd name="T0" fmla="*/ 0 w 129"/>
                  <a:gd name="T1" fmla="*/ 0 h 384"/>
                  <a:gd name="T2" fmla="*/ 129 w 129"/>
                  <a:gd name="T3" fmla="*/ 0 h 384"/>
                  <a:gd name="T4" fmla="*/ 64 w 129"/>
                  <a:gd name="T5" fmla="*/ 384 h 384"/>
                  <a:gd name="T6" fmla="*/ 0 w 129"/>
                  <a:gd name="T7" fmla="*/ 0 h 384"/>
                </a:gdLst>
                <a:ahLst/>
                <a:cxnLst>
                  <a:cxn ang="0">
                    <a:pos x="T0" y="T1"/>
                  </a:cxn>
                  <a:cxn ang="0">
                    <a:pos x="T2" y="T3"/>
                  </a:cxn>
                  <a:cxn ang="0">
                    <a:pos x="T4" y="T5"/>
                  </a:cxn>
                  <a:cxn ang="0">
                    <a:pos x="T6" y="T7"/>
                  </a:cxn>
                </a:cxnLst>
                <a:rect l="0" t="0" r="r" b="b"/>
                <a:pathLst>
                  <a:path w="129" h="384">
                    <a:moveTo>
                      <a:pt x="0" y="0"/>
                    </a:moveTo>
                    <a:lnTo>
                      <a:pt x="129" y="0"/>
                    </a:lnTo>
                    <a:lnTo>
                      <a:pt x="64" y="384"/>
                    </a:lnTo>
                    <a:lnTo>
                      <a:pt x="0"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 name="未知"/>
              <p:cNvSpPr>
                <a:spLocks noChangeAspect="1"/>
              </p:cNvSpPr>
              <p:nvPr/>
            </p:nvSpPr>
            <p:spPr bwMode="auto">
              <a:xfrm>
                <a:off x="1236" y="1971"/>
                <a:ext cx="23" cy="58"/>
              </a:xfrm>
              <a:custGeom>
                <a:avLst/>
                <a:gdLst>
                  <a:gd name="T0" fmla="*/ 0 w 129"/>
                  <a:gd name="T1" fmla="*/ 0 h 384"/>
                  <a:gd name="T2" fmla="*/ 129 w 129"/>
                  <a:gd name="T3" fmla="*/ 0 h 384"/>
                  <a:gd name="T4" fmla="*/ 64 w 129"/>
                  <a:gd name="T5" fmla="*/ 384 h 384"/>
                  <a:gd name="T6" fmla="*/ 0 w 129"/>
                  <a:gd name="T7" fmla="*/ 0 h 384"/>
                </a:gdLst>
                <a:ahLst/>
                <a:cxnLst>
                  <a:cxn ang="0">
                    <a:pos x="T0" y="T1"/>
                  </a:cxn>
                  <a:cxn ang="0">
                    <a:pos x="T2" y="T3"/>
                  </a:cxn>
                  <a:cxn ang="0">
                    <a:pos x="T4" y="T5"/>
                  </a:cxn>
                  <a:cxn ang="0">
                    <a:pos x="T6" y="T7"/>
                  </a:cxn>
                </a:cxnLst>
                <a:rect l="0" t="0" r="r" b="b"/>
                <a:pathLst>
                  <a:path w="129" h="384">
                    <a:moveTo>
                      <a:pt x="0" y="0"/>
                    </a:moveTo>
                    <a:lnTo>
                      <a:pt x="129" y="0"/>
                    </a:lnTo>
                    <a:lnTo>
                      <a:pt x="64" y="384"/>
                    </a:lnTo>
                    <a:lnTo>
                      <a:pt x="0" y="0"/>
                    </a:lnTo>
                  </a:path>
                </a:pathLst>
              </a:custGeom>
              <a:noFill/>
              <a:ln w="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63" name="Line 154"/>
              <p:cNvSpPr>
                <a:spLocks noChangeAspect="1" noChangeShapeType="1"/>
              </p:cNvSpPr>
              <p:nvPr/>
            </p:nvSpPr>
            <p:spPr bwMode="auto">
              <a:xfrm>
                <a:off x="622" y="1662"/>
                <a:ext cx="446" cy="365"/>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4" name="未知"/>
              <p:cNvSpPr>
                <a:spLocks noChangeAspect="1"/>
              </p:cNvSpPr>
              <p:nvPr/>
            </p:nvSpPr>
            <p:spPr bwMode="auto">
              <a:xfrm>
                <a:off x="1661" y="526"/>
                <a:ext cx="18" cy="7"/>
              </a:xfrm>
              <a:custGeom>
                <a:avLst/>
                <a:gdLst>
                  <a:gd name="T0" fmla="*/ 50 w 102"/>
                  <a:gd name="T1" fmla="*/ 52 h 52"/>
                  <a:gd name="T2" fmla="*/ 0 w 102"/>
                  <a:gd name="T3" fmla="*/ 52 h 52"/>
                  <a:gd name="T4" fmla="*/ 1 w 102"/>
                  <a:gd name="T5" fmla="*/ 41 h 52"/>
                  <a:gd name="T6" fmla="*/ 5 w 102"/>
                  <a:gd name="T7" fmla="*/ 29 h 52"/>
                  <a:gd name="T8" fmla="*/ 11 w 102"/>
                  <a:gd name="T9" fmla="*/ 20 h 52"/>
                  <a:gd name="T10" fmla="*/ 19 w 102"/>
                  <a:gd name="T11" fmla="*/ 12 h 52"/>
                  <a:gd name="T12" fmla="*/ 28 w 102"/>
                  <a:gd name="T13" fmla="*/ 6 h 52"/>
                  <a:gd name="T14" fmla="*/ 39 w 102"/>
                  <a:gd name="T15" fmla="*/ 2 h 52"/>
                  <a:gd name="T16" fmla="*/ 50 w 102"/>
                  <a:gd name="T17" fmla="*/ 0 h 52"/>
                  <a:gd name="T18" fmla="*/ 61 w 102"/>
                  <a:gd name="T19" fmla="*/ 2 h 52"/>
                  <a:gd name="T20" fmla="*/ 72 w 102"/>
                  <a:gd name="T21" fmla="*/ 6 h 52"/>
                  <a:gd name="T22" fmla="*/ 82 w 102"/>
                  <a:gd name="T23" fmla="*/ 12 h 52"/>
                  <a:gd name="T24" fmla="*/ 90 w 102"/>
                  <a:gd name="T25" fmla="*/ 20 h 52"/>
                  <a:gd name="T26" fmla="*/ 96 w 102"/>
                  <a:gd name="T27" fmla="*/ 29 h 52"/>
                  <a:gd name="T28" fmla="*/ 100 w 102"/>
                  <a:gd name="T29" fmla="*/ 41 h 52"/>
                  <a:gd name="T30" fmla="*/ 102 w 102"/>
                  <a:gd name="T31" fmla="*/ 52 h 52"/>
                  <a:gd name="T32" fmla="*/ 50 w 102"/>
                  <a:gd name="T33"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2" h="52">
                    <a:moveTo>
                      <a:pt x="50" y="52"/>
                    </a:moveTo>
                    <a:lnTo>
                      <a:pt x="0" y="52"/>
                    </a:lnTo>
                    <a:lnTo>
                      <a:pt x="1" y="41"/>
                    </a:lnTo>
                    <a:lnTo>
                      <a:pt x="5" y="29"/>
                    </a:lnTo>
                    <a:lnTo>
                      <a:pt x="11" y="20"/>
                    </a:lnTo>
                    <a:lnTo>
                      <a:pt x="19" y="12"/>
                    </a:lnTo>
                    <a:lnTo>
                      <a:pt x="28" y="6"/>
                    </a:lnTo>
                    <a:lnTo>
                      <a:pt x="39" y="2"/>
                    </a:lnTo>
                    <a:lnTo>
                      <a:pt x="50" y="0"/>
                    </a:lnTo>
                    <a:lnTo>
                      <a:pt x="61" y="2"/>
                    </a:lnTo>
                    <a:lnTo>
                      <a:pt x="72" y="6"/>
                    </a:lnTo>
                    <a:lnTo>
                      <a:pt x="82" y="12"/>
                    </a:lnTo>
                    <a:lnTo>
                      <a:pt x="90" y="20"/>
                    </a:lnTo>
                    <a:lnTo>
                      <a:pt x="96" y="29"/>
                    </a:lnTo>
                    <a:lnTo>
                      <a:pt x="100" y="41"/>
                    </a:lnTo>
                    <a:lnTo>
                      <a:pt x="102" y="52"/>
                    </a:lnTo>
                    <a:lnTo>
                      <a:pt x="50"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 name="未知"/>
              <p:cNvSpPr>
                <a:spLocks noChangeAspect="1"/>
              </p:cNvSpPr>
              <p:nvPr/>
            </p:nvSpPr>
            <p:spPr bwMode="auto">
              <a:xfrm>
                <a:off x="1661" y="526"/>
                <a:ext cx="18" cy="7"/>
              </a:xfrm>
              <a:custGeom>
                <a:avLst/>
                <a:gdLst>
                  <a:gd name="T0" fmla="*/ 0 w 102"/>
                  <a:gd name="T1" fmla="*/ 52 h 52"/>
                  <a:gd name="T2" fmla="*/ 1 w 102"/>
                  <a:gd name="T3" fmla="*/ 41 h 52"/>
                  <a:gd name="T4" fmla="*/ 5 w 102"/>
                  <a:gd name="T5" fmla="*/ 29 h 52"/>
                  <a:gd name="T6" fmla="*/ 11 w 102"/>
                  <a:gd name="T7" fmla="*/ 20 h 52"/>
                  <a:gd name="T8" fmla="*/ 19 w 102"/>
                  <a:gd name="T9" fmla="*/ 12 h 52"/>
                  <a:gd name="T10" fmla="*/ 28 w 102"/>
                  <a:gd name="T11" fmla="*/ 6 h 52"/>
                  <a:gd name="T12" fmla="*/ 39 w 102"/>
                  <a:gd name="T13" fmla="*/ 2 h 52"/>
                  <a:gd name="T14" fmla="*/ 50 w 102"/>
                  <a:gd name="T15" fmla="*/ 0 h 52"/>
                  <a:gd name="T16" fmla="*/ 61 w 102"/>
                  <a:gd name="T17" fmla="*/ 2 h 52"/>
                  <a:gd name="T18" fmla="*/ 72 w 102"/>
                  <a:gd name="T19" fmla="*/ 6 h 52"/>
                  <a:gd name="T20" fmla="*/ 82 w 102"/>
                  <a:gd name="T21" fmla="*/ 12 h 52"/>
                  <a:gd name="T22" fmla="*/ 90 w 102"/>
                  <a:gd name="T23" fmla="*/ 20 h 52"/>
                  <a:gd name="T24" fmla="*/ 96 w 102"/>
                  <a:gd name="T25" fmla="*/ 29 h 52"/>
                  <a:gd name="T26" fmla="*/ 100 w 102"/>
                  <a:gd name="T27" fmla="*/ 41 h 52"/>
                  <a:gd name="T28" fmla="*/ 102 w 102"/>
                  <a:gd name="T29"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2" h="52">
                    <a:moveTo>
                      <a:pt x="0" y="52"/>
                    </a:moveTo>
                    <a:lnTo>
                      <a:pt x="1" y="41"/>
                    </a:lnTo>
                    <a:lnTo>
                      <a:pt x="5" y="29"/>
                    </a:lnTo>
                    <a:lnTo>
                      <a:pt x="11" y="20"/>
                    </a:lnTo>
                    <a:lnTo>
                      <a:pt x="19" y="12"/>
                    </a:lnTo>
                    <a:lnTo>
                      <a:pt x="28" y="6"/>
                    </a:lnTo>
                    <a:lnTo>
                      <a:pt x="39" y="2"/>
                    </a:lnTo>
                    <a:lnTo>
                      <a:pt x="50" y="0"/>
                    </a:lnTo>
                    <a:lnTo>
                      <a:pt x="61" y="2"/>
                    </a:lnTo>
                    <a:lnTo>
                      <a:pt x="72" y="6"/>
                    </a:lnTo>
                    <a:lnTo>
                      <a:pt x="82" y="12"/>
                    </a:lnTo>
                    <a:lnTo>
                      <a:pt x="90" y="20"/>
                    </a:lnTo>
                    <a:lnTo>
                      <a:pt x="96" y="29"/>
                    </a:lnTo>
                    <a:lnTo>
                      <a:pt x="100" y="41"/>
                    </a:lnTo>
                    <a:lnTo>
                      <a:pt x="102" y="52"/>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66" name="未知"/>
              <p:cNvSpPr>
                <a:spLocks noChangeAspect="1"/>
              </p:cNvSpPr>
              <p:nvPr/>
            </p:nvSpPr>
            <p:spPr bwMode="auto">
              <a:xfrm>
                <a:off x="1661" y="533"/>
                <a:ext cx="18" cy="979"/>
              </a:xfrm>
              <a:custGeom>
                <a:avLst/>
                <a:gdLst>
                  <a:gd name="T0" fmla="*/ 102 w 102"/>
                  <a:gd name="T1" fmla="*/ 0 h 6453"/>
                  <a:gd name="T2" fmla="*/ 50 w 102"/>
                  <a:gd name="T3" fmla="*/ 0 h 6453"/>
                  <a:gd name="T4" fmla="*/ 0 w 102"/>
                  <a:gd name="T5" fmla="*/ 0 h 6453"/>
                  <a:gd name="T6" fmla="*/ 0 w 102"/>
                  <a:gd name="T7" fmla="*/ 6453 h 6453"/>
                  <a:gd name="T8" fmla="*/ 50 w 102"/>
                  <a:gd name="T9" fmla="*/ 6453 h 6453"/>
                  <a:gd name="T10" fmla="*/ 102 w 102"/>
                  <a:gd name="T11" fmla="*/ 6453 h 6453"/>
                  <a:gd name="T12" fmla="*/ 102 w 102"/>
                  <a:gd name="T13" fmla="*/ 0 h 6453"/>
                </a:gdLst>
                <a:ahLst/>
                <a:cxnLst>
                  <a:cxn ang="0">
                    <a:pos x="T0" y="T1"/>
                  </a:cxn>
                  <a:cxn ang="0">
                    <a:pos x="T2" y="T3"/>
                  </a:cxn>
                  <a:cxn ang="0">
                    <a:pos x="T4" y="T5"/>
                  </a:cxn>
                  <a:cxn ang="0">
                    <a:pos x="T6" y="T7"/>
                  </a:cxn>
                  <a:cxn ang="0">
                    <a:pos x="T8" y="T9"/>
                  </a:cxn>
                  <a:cxn ang="0">
                    <a:pos x="T10" y="T11"/>
                  </a:cxn>
                  <a:cxn ang="0">
                    <a:pos x="T12" y="T13"/>
                  </a:cxn>
                </a:cxnLst>
                <a:rect l="0" t="0" r="r" b="b"/>
                <a:pathLst>
                  <a:path w="102" h="6453">
                    <a:moveTo>
                      <a:pt x="102" y="0"/>
                    </a:moveTo>
                    <a:lnTo>
                      <a:pt x="50" y="0"/>
                    </a:lnTo>
                    <a:lnTo>
                      <a:pt x="0" y="0"/>
                    </a:lnTo>
                    <a:lnTo>
                      <a:pt x="0" y="6453"/>
                    </a:lnTo>
                    <a:lnTo>
                      <a:pt x="50" y="6453"/>
                    </a:lnTo>
                    <a:lnTo>
                      <a:pt x="102" y="6453"/>
                    </a:lnTo>
                    <a:lnTo>
                      <a:pt x="10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 name="未知"/>
              <p:cNvSpPr>
                <a:spLocks noChangeAspect="1"/>
              </p:cNvSpPr>
              <p:nvPr/>
            </p:nvSpPr>
            <p:spPr bwMode="auto">
              <a:xfrm>
                <a:off x="1661" y="533"/>
                <a:ext cx="18" cy="979"/>
              </a:xfrm>
              <a:custGeom>
                <a:avLst/>
                <a:gdLst>
                  <a:gd name="T0" fmla="*/ 102 w 102"/>
                  <a:gd name="T1" fmla="*/ 0 h 6453"/>
                  <a:gd name="T2" fmla="*/ 50 w 102"/>
                  <a:gd name="T3" fmla="*/ 0 h 6453"/>
                  <a:gd name="T4" fmla="*/ 0 w 102"/>
                  <a:gd name="T5" fmla="*/ 0 h 6453"/>
                  <a:gd name="T6" fmla="*/ 0 w 102"/>
                  <a:gd name="T7" fmla="*/ 6453 h 6453"/>
                  <a:gd name="T8" fmla="*/ 50 w 102"/>
                  <a:gd name="T9" fmla="*/ 6453 h 6453"/>
                  <a:gd name="T10" fmla="*/ 102 w 102"/>
                  <a:gd name="T11" fmla="*/ 6453 h 6453"/>
                  <a:gd name="T12" fmla="*/ 102 w 102"/>
                  <a:gd name="T13" fmla="*/ 0 h 6453"/>
                </a:gdLst>
                <a:ahLst/>
                <a:cxnLst>
                  <a:cxn ang="0">
                    <a:pos x="T0" y="T1"/>
                  </a:cxn>
                  <a:cxn ang="0">
                    <a:pos x="T2" y="T3"/>
                  </a:cxn>
                  <a:cxn ang="0">
                    <a:pos x="T4" y="T5"/>
                  </a:cxn>
                  <a:cxn ang="0">
                    <a:pos x="T6" y="T7"/>
                  </a:cxn>
                  <a:cxn ang="0">
                    <a:pos x="T8" y="T9"/>
                  </a:cxn>
                  <a:cxn ang="0">
                    <a:pos x="T10" y="T11"/>
                  </a:cxn>
                  <a:cxn ang="0">
                    <a:pos x="T12" y="T13"/>
                  </a:cxn>
                </a:cxnLst>
                <a:rect l="0" t="0" r="r" b="b"/>
                <a:pathLst>
                  <a:path w="102" h="6453">
                    <a:moveTo>
                      <a:pt x="102" y="0"/>
                    </a:moveTo>
                    <a:lnTo>
                      <a:pt x="50" y="0"/>
                    </a:lnTo>
                    <a:lnTo>
                      <a:pt x="0" y="0"/>
                    </a:lnTo>
                    <a:lnTo>
                      <a:pt x="0" y="6453"/>
                    </a:lnTo>
                    <a:lnTo>
                      <a:pt x="50" y="6453"/>
                    </a:lnTo>
                    <a:lnTo>
                      <a:pt x="102" y="6453"/>
                    </a:lnTo>
                    <a:lnTo>
                      <a:pt x="102"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68" name="未知"/>
              <p:cNvSpPr>
                <a:spLocks noChangeAspect="1"/>
              </p:cNvSpPr>
              <p:nvPr/>
            </p:nvSpPr>
            <p:spPr bwMode="auto">
              <a:xfrm>
                <a:off x="1661" y="1512"/>
                <a:ext cx="18" cy="7"/>
              </a:xfrm>
              <a:custGeom>
                <a:avLst/>
                <a:gdLst>
                  <a:gd name="T0" fmla="*/ 50 w 102"/>
                  <a:gd name="T1" fmla="*/ 0 h 50"/>
                  <a:gd name="T2" fmla="*/ 102 w 102"/>
                  <a:gd name="T3" fmla="*/ 0 h 50"/>
                  <a:gd name="T4" fmla="*/ 100 w 102"/>
                  <a:gd name="T5" fmla="*/ 11 h 50"/>
                  <a:gd name="T6" fmla="*/ 96 w 102"/>
                  <a:gd name="T7" fmla="*/ 22 h 50"/>
                  <a:gd name="T8" fmla="*/ 90 w 102"/>
                  <a:gd name="T9" fmla="*/ 31 h 50"/>
                  <a:gd name="T10" fmla="*/ 82 w 102"/>
                  <a:gd name="T11" fmla="*/ 39 h 50"/>
                  <a:gd name="T12" fmla="*/ 72 w 102"/>
                  <a:gd name="T13" fmla="*/ 45 h 50"/>
                  <a:gd name="T14" fmla="*/ 61 w 102"/>
                  <a:gd name="T15" fmla="*/ 49 h 50"/>
                  <a:gd name="T16" fmla="*/ 50 w 102"/>
                  <a:gd name="T17" fmla="*/ 50 h 50"/>
                  <a:gd name="T18" fmla="*/ 39 w 102"/>
                  <a:gd name="T19" fmla="*/ 49 h 50"/>
                  <a:gd name="T20" fmla="*/ 28 w 102"/>
                  <a:gd name="T21" fmla="*/ 45 h 50"/>
                  <a:gd name="T22" fmla="*/ 19 w 102"/>
                  <a:gd name="T23" fmla="*/ 39 h 50"/>
                  <a:gd name="T24" fmla="*/ 11 w 102"/>
                  <a:gd name="T25" fmla="*/ 31 h 50"/>
                  <a:gd name="T26" fmla="*/ 5 w 102"/>
                  <a:gd name="T27" fmla="*/ 22 h 50"/>
                  <a:gd name="T28" fmla="*/ 1 w 102"/>
                  <a:gd name="T29" fmla="*/ 11 h 50"/>
                  <a:gd name="T30" fmla="*/ 0 w 102"/>
                  <a:gd name="T31" fmla="*/ 0 h 50"/>
                  <a:gd name="T32" fmla="*/ 50 w 102"/>
                  <a:gd name="T33"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2" h="50">
                    <a:moveTo>
                      <a:pt x="50" y="0"/>
                    </a:moveTo>
                    <a:lnTo>
                      <a:pt x="102" y="0"/>
                    </a:lnTo>
                    <a:lnTo>
                      <a:pt x="100" y="11"/>
                    </a:lnTo>
                    <a:lnTo>
                      <a:pt x="96" y="22"/>
                    </a:lnTo>
                    <a:lnTo>
                      <a:pt x="90" y="31"/>
                    </a:lnTo>
                    <a:lnTo>
                      <a:pt x="82" y="39"/>
                    </a:lnTo>
                    <a:lnTo>
                      <a:pt x="72" y="45"/>
                    </a:lnTo>
                    <a:lnTo>
                      <a:pt x="61" y="49"/>
                    </a:lnTo>
                    <a:lnTo>
                      <a:pt x="50" y="50"/>
                    </a:lnTo>
                    <a:lnTo>
                      <a:pt x="39" y="49"/>
                    </a:lnTo>
                    <a:lnTo>
                      <a:pt x="28" y="45"/>
                    </a:lnTo>
                    <a:lnTo>
                      <a:pt x="19" y="39"/>
                    </a:lnTo>
                    <a:lnTo>
                      <a:pt x="11" y="31"/>
                    </a:lnTo>
                    <a:lnTo>
                      <a:pt x="5" y="22"/>
                    </a:lnTo>
                    <a:lnTo>
                      <a:pt x="1" y="11"/>
                    </a:lnTo>
                    <a:lnTo>
                      <a:pt x="0" y="0"/>
                    </a:lnTo>
                    <a:lnTo>
                      <a:pt x="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9" name="未知"/>
              <p:cNvSpPr>
                <a:spLocks noChangeAspect="1"/>
              </p:cNvSpPr>
              <p:nvPr/>
            </p:nvSpPr>
            <p:spPr bwMode="auto">
              <a:xfrm>
                <a:off x="1661" y="1512"/>
                <a:ext cx="18" cy="7"/>
              </a:xfrm>
              <a:custGeom>
                <a:avLst/>
                <a:gdLst>
                  <a:gd name="T0" fmla="*/ 102 w 102"/>
                  <a:gd name="T1" fmla="*/ 0 h 50"/>
                  <a:gd name="T2" fmla="*/ 100 w 102"/>
                  <a:gd name="T3" fmla="*/ 11 h 50"/>
                  <a:gd name="T4" fmla="*/ 96 w 102"/>
                  <a:gd name="T5" fmla="*/ 22 h 50"/>
                  <a:gd name="T6" fmla="*/ 90 w 102"/>
                  <a:gd name="T7" fmla="*/ 31 h 50"/>
                  <a:gd name="T8" fmla="*/ 82 w 102"/>
                  <a:gd name="T9" fmla="*/ 39 h 50"/>
                  <a:gd name="T10" fmla="*/ 72 w 102"/>
                  <a:gd name="T11" fmla="*/ 45 h 50"/>
                  <a:gd name="T12" fmla="*/ 61 w 102"/>
                  <a:gd name="T13" fmla="*/ 49 h 50"/>
                  <a:gd name="T14" fmla="*/ 50 w 102"/>
                  <a:gd name="T15" fmla="*/ 50 h 50"/>
                  <a:gd name="T16" fmla="*/ 39 w 102"/>
                  <a:gd name="T17" fmla="*/ 49 h 50"/>
                  <a:gd name="T18" fmla="*/ 28 w 102"/>
                  <a:gd name="T19" fmla="*/ 45 h 50"/>
                  <a:gd name="T20" fmla="*/ 19 w 102"/>
                  <a:gd name="T21" fmla="*/ 39 h 50"/>
                  <a:gd name="T22" fmla="*/ 11 w 102"/>
                  <a:gd name="T23" fmla="*/ 31 h 50"/>
                  <a:gd name="T24" fmla="*/ 5 w 102"/>
                  <a:gd name="T25" fmla="*/ 22 h 50"/>
                  <a:gd name="T26" fmla="*/ 1 w 102"/>
                  <a:gd name="T27" fmla="*/ 11 h 50"/>
                  <a:gd name="T28" fmla="*/ 0 w 102"/>
                  <a:gd name="T29"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2" h="50">
                    <a:moveTo>
                      <a:pt x="102" y="0"/>
                    </a:moveTo>
                    <a:lnTo>
                      <a:pt x="100" y="11"/>
                    </a:lnTo>
                    <a:lnTo>
                      <a:pt x="96" y="22"/>
                    </a:lnTo>
                    <a:lnTo>
                      <a:pt x="90" y="31"/>
                    </a:lnTo>
                    <a:lnTo>
                      <a:pt x="82" y="39"/>
                    </a:lnTo>
                    <a:lnTo>
                      <a:pt x="72" y="45"/>
                    </a:lnTo>
                    <a:lnTo>
                      <a:pt x="61" y="49"/>
                    </a:lnTo>
                    <a:lnTo>
                      <a:pt x="50" y="50"/>
                    </a:lnTo>
                    <a:lnTo>
                      <a:pt x="39" y="49"/>
                    </a:lnTo>
                    <a:lnTo>
                      <a:pt x="28" y="45"/>
                    </a:lnTo>
                    <a:lnTo>
                      <a:pt x="19" y="39"/>
                    </a:lnTo>
                    <a:lnTo>
                      <a:pt x="11" y="31"/>
                    </a:lnTo>
                    <a:lnTo>
                      <a:pt x="5" y="22"/>
                    </a:lnTo>
                    <a:lnTo>
                      <a:pt x="1" y="11"/>
                    </a:lnTo>
                    <a:lnTo>
                      <a:pt x="0"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70" name="未知"/>
              <p:cNvSpPr>
                <a:spLocks noChangeAspect="1"/>
              </p:cNvSpPr>
              <p:nvPr/>
            </p:nvSpPr>
            <p:spPr bwMode="auto">
              <a:xfrm>
                <a:off x="2463" y="891"/>
                <a:ext cx="19" cy="8"/>
              </a:xfrm>
              <a:custGeom>
                <a:avLst/>
                <a:gdLst>
                  <a:gd name="T0" fmla="*/ 50 w 102"/>
                  <a:gd name="T1" fmla="*/ 52 h 52"/>
                  <a:gd name="T2" fmla="*/ 0 w 102"/>
                  <a:gd name="T3" fmla="*/ 52 h 52"/>
                  <a:gd name="T4" fmla="*/ 1 w 102"/>
                  <a:gd name="T5" fmla="*/ 41 h 52"/>
                  <a:gd name="T6" fmla="*/ 5 w 102"/>
                  <a:gd name="T7" fmla="*/ 30 h 52"/>
                  <a:gd name="T8" fmla="*/ 11 w 102"/>
                  <a:gd name="T9" fmla="*/ 20 h 52"/>
                  <a:gd name="T10" fmla="*/ 19 w 102"/>
                  <a:gd name="T11" fmla="*/ 12 h 52"/>
                  <a:gd name="T12" fmla="*/ 28 w 102"/>
                  <a:gd name="T13" fmla="*/ 6 h 52"/>
                  <a:gd name="T14" fmla="*/ 39 w 102"/>
                  <a:gd name="T15" fmla="*/ 2 h 52"/>
                  <a:gd name="T16" fmla="*/ 50 w 102"/>
                  <a:gd name="T17" fmla="*/ 0 h 52"/>
                  <a:gd name="T18" fmla="*/ 62 w 102"/>
                  <a:gd name="T19" fmla="*/ 2 h 52"/>
                  <a:gd name="T20" fmla="*/ 73 w 102"/>
                  <a:gd name="T21" fmla="*/ 6 h 52"/>
                  <a:gd name="T22" fmla="*/ 82 w 102"/>
                  <a:gd name="T23" fmla="*/ 12 h 52"/>
                  <a:gd name="T24" fmla="*/ 90 w 102"/>
                  <a:gd name="T25" fmla="*/ 20 h 52"/>
                  <a:gd name="T26" fmla="*/ 96 w 102"/>
                  <a:gd name="T27" fmla="*/ 30 h 52"/>
                  <a:gd name="T28" fmla="*/ 100 w 102"/>
                  <a:gd name="T29" fmla="*/ 41 h 52"/>
                  <a:gd name="T30" fmla="*/ 102 w 102"/>
                  <a:gd name="T31" fmla="*/ 52 h 52"/>
                  <a:gd name="T32" fmla="*/ 50 w 102"/>
                  <a:gd name="T33"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2" h="52">
                    <a:moveTo>
                      <a:pt x="50" y="52"/>
                    </a:moveTo>
                    <a:lnTo>
                      <a:pt x="0" y="52"/>
                    </a:lnTo>
                    <a:lnTo>
                      <a:pt x="1" y="41"/>
                    </a:lnTo>
                    <a:lnTo>
                      <a:pt x="5" y="30"/>
                    </a:lnTo>
                    <a:lnTo>
                      <a:pt x="11" y="20"/>
                    </a:lnTo>
                    <a:lnTo>
                      <a:pt x="19" y="12"/>
                    </a:lnTo>
                    <a:lnTo>
                      <a:pt x="28" y="6"/>
                    </a:lnTo>
                    <a:lnTo>
                      <a:pt x="39" y="2"/>
                    </a:lnTo>
                    <a:lnTo>
                      <a:pt x="50" y="0"/>
                    </a:lnTo>
                    <a:lnTo>
                      <a:pt x="62" y="2"/>
                    </a:lnTo>
                    <a:lnTo>
                      <a:pt x="73" y="6"/>
                    </a:lnTo>
                    <a:lnTo>
                      <a:pt x="82" y="12"/>
                    </a:lnTo>
                    <a:lnTo>
                      <a:pt x="90" y="20"/>
                    </a:lnTo>
                    <a:lnTo>
                      <a:pt x="96" y="30"/>
                    </a:lnTo>
                    <a:lnTo>
                      <a:pt x="100" y="41"/>
                    </a:lnTo>
                    <a:lnTo>
                      <a:pt x="102" y="52"/>
                    </a:lnTo>
                    <a:lnTo>
                      <a:pt x="50"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1" name="未知"/>
              <p:cNvSpPr>
                <a:spLocks noChangeAspect="1"/>
              </p:cNvSpPr>
              <p:nvPr/>
            </p:nvSpPr>
            <p:spPr bwMode="auto">
              <a:xfrm>
                <a:off x="2463" y="891"/>
                <a:ext cx="19" cy="8"/>
              </a:xfrm>
              <a:custGeom>
                <a:avLst/>
                <a:gdLst>
                  <a:gd name="T0" fmla="*/ 0 w 102"/>
                  <a:gd name="T1" fmla="*/ 52 h 52"/>
                  <a:gd name="T2" fmla="*/ 1 w 102"/>
                  <a:gd name="T3" fmla="*/ 41 h 52"/>
                  <a:gd name="T4" fmla="*/ 5 w 102"/>
                  <a:gd name="T5" fmla="*/ 30 h 52"/>
                  <a:gd name="T6" fmla="*/ 11 w 102"/>
                  <a:gd name="T7" fmla="*/ 20 h 52"/>
                  <a:gd name="T8" fmla="*/ 19 w 102"/>
                  <a:gd name="T9" fmla="*/ 12 h 52"/>
                  <a:gd name="T10" fmla="*/ 28 w 102"/>
                  <a:gd name="T11" fmla="*/ 6 h 52"/>
                  <a:gd name="T12" fmla="*/ 39 w 102"/>
                  <a:gd name="T13" fmla="*/ 2 h 52"/>
                  <a:gd name="T14" fmla="*/ 50 w 102"/>
                  <a:gd name="T15" fmla="*/ 0 h 52"/>
                  <a:gd name="T16" fmla="*/ 62 w 102"/>
                  <a:gd name="T17" fmla="*/ 2 h 52"/>
                  <a:gd name="T18" fmla="*/ 73 w 102"/>
                  <a:gd name="T19" fmla="*/ 6 h 52"/>
                  <a:gd name="T20" fmla="*/ 82 w 102"/>
                  <a:gd name="T21" fmla="*/ 12 h 52"/>
                  <a:gd name="T22" fmla="*/ 90 w 102"/>
                  <a:gd name="T23" fmla="*/ 20 h 52"/>
                  <a:gd name="T24" fmla="*/ 96 w 102"/>
                  <a:gd name="T25" fmla="*/ 30 h 52"/>
                  <a:gd name="T26" fmla="*/ 100 w 102"/>
                  <a:gd name="T27" fmla="*/ 41 h 52"/>
                  <a:gd name="T28" fmla="*/ 102 w 102"/>
                  <a:gd name="T29"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2" h="52">
                    <a:moveTo>
                      <a:pt x="0" y="52"/>
                    </a:moveTo>
                    <a:lnTo>
                      <a:pt x="1" y="41"/>
                    </a:lnTo>
                    <a:lnTo>
                      <a:pt x="5" y="30"/>
                    </a:lnTo>
                    <a:lnTo>
                      <a:pt x="11" y="20"/>
                    </a:lnTo>
                    <a:lnTo>
                      <a:pt x="19" y="12"/>
                    </a:lnTo>
                    <a:lnTo>
                      <a:pt x="28" y="6"/>
                    </a:lnTo>
                    <a:lnTo>
                      <a:pt x="39" y="2"/>
                    </a:lnTo>
                    <a:lnTo>
                      <a:pt x="50" y="0"/>
                    </a:lnTo>
                    <a:lnTo>
                      <a:pt x="62" y="2"/>
                    </a:lnTo>
                    <a:lnTo>
                      <a:pt x="73" y="6"/>
                    </a:lnTo>
                    <a:lnTo>
                      <a:pt x="82" y="12"/>
                    </a:lnTo>
                    <a:lnTo>
                      <a:pt x="90" y="20"/>
                    </a:lnTo>
                    <a:lnTo>
                      <a:pt x="96" y="30"/>
                    </a:lnTo>
                    <a:lnTo>
                      <a:pt x="100" y="41"/>
                    </a:lnTo>
                    <a:lnTo>
                      <a:pt x="102" y="52"/>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72" name="未知"/>
              <p:cNvSpPr>
                <a:spLocks noChangeAspect="1"/>
              </p:cNvSpPr>
              <p:nvPr/>
            </p:nvSpPr>
            <p:spPr bwMode="auto">
              <a:xfrm>
                <a:off x="2463" y="899"/>
                <a:ext cx="19" cy="978"/>
              </a:xfrm>
              <a:custGeom>
                <a:avLst/>
                <a:gdLst>
                  <a:gd name="T0" fmla="*/ 102 w 102"/>
                  <a:gd name="T1" fmla="*/ 0 h 6452"/>
                  <a:gd name="T2" fmla="*/ 50 w 102"/>
                  <a:gd name="T3" fmla="*/ 0 h 6452"/>
                  <a:gd name="T4" fmla="*/ 0 w 102"/>
                  <a:gd name="T5" fmla="*/ 0 h 6452"/>
                  <a:gd name="T6" fmla="*/ 0 w 102"/>
                  <a:gd name="T7" fmla="*/ 6452 h 6452"/>
                  <a:gd name="T8" fmla="*/ 50 w 102"/>
                  <a:gd name="T9" fmla="*/ 6452 h 6452"/>
                  <a:gd name="T10" fmla="*/ 102 w 102"/>
                  <a:gd name="T11" fmla="*/ 6452 h 6452"/>
                  <a:gd name="T12" fmla="*/ 102 w 102"/>
                  <a:gd name="T13" fmla="*/ 0 h 6452"/>
                </a:gdLst>
                <a:ahLst/>
                <a:cxnLst>
                  <a:cxn ang="0">
                    <a:pos x="T0" y="T1"/>
                  </a:cxn>
                  <a:cxn ang="0">
                    <a:pos x="T2" y="T3"/>
                  </a:cxn>
                  <a:cxn ang="0">
                    <a:pos x="T4" y="T5"/>
                  </a:cxn>
                  <a:cxn ang="0">
                    <a:pos x="T6" y="T7"/>
                  </a:cxn>
                  <a:cxn ang="0">
                    <a:pos x="T8" y="T9"/>
                  </a:cxn>
                  <a:cxn ang="0">
                    <a:pos x="T10" y="T11"/>
                  </a:cxn>
                  <a:cxn ang="0">
                    <a:pos x="T12" y="T13"/>
                  </a:cxn>
                </a:cxnLst>
                <a:rect l="0" t="0" r="r" b="b"/>
                <a:pathLst>
                  <a:path w="102" h="6452">
                    <a:moveTo>
                      <a:pt x="102" y="0"/>
                    </a:moveTo>
                    <a:lnTo>
                      <a:pt x="50" y="0"/>
                    </a:lnTo>
                    <a:lnTo>
                      <a:pt x="0" y="0"/>
                    </a:lnTo>
                    <a:lnTo>
                      <a:pt x="0" y="6452"/>
                    </a:lnTo>
                    <a:lnTo>
                      <a:pt x="50" y="6452"/>
                    </a:lnTo>
                    <a:lnTo>
                      <a:pt x="102" y="6452"/>
                    </a:lnTo>
                    <a:lnTo>
                      <a:pt x="10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3" name="未知"/>
              <p:cNvSpPr>
                <a:spLocks noChangeAspect="1"/>
              </p:cNvSpPr>
              <p:nvPr/>
            </p:nvSpPr>
            <p:spPr bwMode="auto">
              <a:xfrm>
                <a:off x="2463" y="899"/>
                <a:ext cx="19" cy="978"/>
              </a:xfrm>
              <a:custGeom>
                <a:avLst/>
                <a:gdLst>
                  <a:gd name="T0" fmla="*/ 102 w 102"/>
                  <a:gd name="T1" fmla="*/ 0 h 6452"/>
                  <a:gd name="T2" fmla="*/ 50 w 102"/>
                  <a:gd name="T3" fmla="*/ 0 h 6452"/>
                  <a:gd name="T4" fmla="*/ 0 w 102"/>
                  <a:gd name="T5" fmla="*/ 0 h 6452"/>
                  <a:gd name="T6" fmla="*/ 0 w 102"/>
                  <a:gd name="T7" fmla="*/ 6452 h 6452"/>
                  <a:gd name="T8" fmla="*/ 50 w 102"/>
                  <a:gd name="T9" fmla="*/ 6452 h 6452"/>
                  <a:gd name="T10" fmla="*/ 102 w 102"/>
                  <a:gd name="T11" fmla="*/ 6452 h 6452"/>
                  <a:gd name="T12" fmla="*/ 102 w 102"/>
                  <a:gd name="T13" fmla="*/ 0 h 6452"/>
                </a:gdLst>
                <a:ahLst/>
                <a:cxnLst>
                  <a:cxn ang="0">
                    <a:pos x="T0" y="T1"/>
                  </a:cxn>
                  <a:cxn ang="0">
                    <a:pos x="T2" y="T3"/>
                  </a:cxn>
                  <a:cxn ang="0">
                    <a:pos x="T4" y="T5"/>
                  </a:cxn>
                  <a:cxn ang="0">
                    <a:pos x="T6" y="T7"/>
                  </a:cxn>
                  <a:cxn ang="0">
                    <a:pos x="T8" y="T9"/>
                  </a:cxn>
                  <a:cxn ang="0">
                    <a:pos x="T10" y="T11"/>
                  </a:cxn>
                  <a:cxn ang="0">
                    <a:pos x="T12" y="T13"/>
                  </a:cxn>
                </a:cxnLst>
                <a:rect l="0" t="0" r="r" b="b"/>
                <a:pathLst>
                  <a:path w="102" h="6452">
                    <a:moveTo>
                      <a:pt x="102" y="0"/>
                    </a:moveTo>
                    <a:lnTo>
                      <a:pt x="50" y="0"/>
                    </a:lnTo>
                    <a:lnTo>
                      <a:pt x="0" y="0"/>
                    </a:lnTo>
                    <a:lnTo>
                      <a:pt x="0" y="6452"/>
                    </a:lnTo>
                    <a:lnTo>
                      <a:pt x="50" y="6452"/>
                    </a:lnTo>
                    <a:lnTo>
                      <a:pt x="102" y="6452"/>
                    </a:lnTo>
                    <a:lnTo>
                      <a:pt x="102"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74" name="未知"/>
              <p:cNvSpPr>
                <a:spLocks noChangeAspect="1"/>
              </p:cNvSpPr>
              <p:nvPr/>
            </p:nvSpPr>
            <p:spPr bwMode="auto">
              <a:xfrm>
                <a:off x="2463" y="1877"/>
                <a:ext cx="19" cy="7"/>
              </a:xfrm>
              <a:custGeom>
                <a:avLst/>
                <a:gdLst>
                  <a:gd name="T0" fmla="*/ 50 w 102"/>
                  <a:gd name="T1" fmla="*/ 0 h 50"/>
                  <a:gd name="T2" fmla="*/ 102 w 102"/>
                  <a:gd name="T3" fmla="*/ 0 h 50"/>
                  <a:gd name="T4" fmla="*/ 100 w 102"/>
                  <a:gd name="T5" fmla="*/ 11 h 50"/>
                  <a:gd name="T6" fmla="*/ 96 w 102"/>
                  <a:gd name="T7" fmla="*/ 22 h 50"/>
                  <a:gd name="T8" fmla="*/ 90 w 102"/>
                  <a:gd name="T9" fmla="*/ 31 h 50"/>
                  <a:gd name="T10" fmla="*/ 82 w 102"/>
                  <a:gd name="T11" fmla="*/ 39 h 50"/>
                  <a:gd name="T12" fmla="*/ 73 w 102"/>
                  <a:gd name="T13" fmla="*/ 45 h 50"/>
                  <a:gd name="T14" fmla="*/ 62 w 102"/>
                  <a:gd name="T15" fmla="*/ 49 h 50"/>
                  <a:gd name="T16" fmla="*/ 50 w 102"/>
                  <a:gd name="T17" fmla="*/ 50 h 50"/>
                  <a:gd name="T18" fmla="*/ 39 w 102"/>
                  <a:gd name="T19" fmla="*/ 49 h 50"/>
                  <a:gd name="T20" fmla="*/ 28 w 102"/>
                  <a:gd name="T21" fmla="*/ 45 h 50"/>
                  <a:gd name="T22" fmla="*/ 19 w 102"/>
                  <a:gd name="T23" fmla="*/ 39 h 50"/>
                  <a:gd name="T24" fmla="*/ 11 w 102"/>
                  <a:gd name="T25" fmla="*/ 31 h 50"/>
                  <a:gd name="T26" fmla="*/ 5 w 102"/>
                  <a:gd name="T27" fmla="*/ 22 h 50"/>
                  <a:gd name="T28" fmla="*/ 1 w 102"/>
                  <a:gd name="T29" fmla="*/ 11 h 50"/>
                  <a:gd name="T30" fmla="*/ 0 w 102"/>
                  <a:gd name="T31" fmla="*/ 0 h 50"/>
                  <a:gd name="T32" fmla="*/ 50 w 102"/>
                  <a:gd name="T33"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2" h="50">
                    <a:moveTo>
                      <a:pt x="50" y="0"/>
                    </a:moveTo>
                    <a:lnTo>
                      <a:pt x="102" y="0"/>
                    </a:lnTo>
                    <a:lnTo>
                      <a:pt x="100" y="11"/>
                    </a:lnTo>
                    <a:lnTo>
                      <a:pt x="96" y="22"/>
                    </a:lnTo>
                    <a:lnTo>
                      <a:pt x="90" y="31"/>
                    </a:lnTo>
                    <a:lnTo>
                      <a:pt x="82" y="39"/>
                    </a:lnTo>
                    <a:lnTo>
                      <a:pt x="73" y="45"/>
                    </a:lnTo>
                    <a:lnTo>
                      <a:pt x="62" y="49"/>
                    </a:lnTo>
                    <a:lnTo>
                      <a:pt x="50" y="50"/>
                    </a:lnTo>
                    <a:lnTo>
                      <a:pt x="39" y="49"/>
                    </a:lnTo>
                    <a:lnTo>
                      <a:pt x="28" y="45"/>
                    </a:lnTo>
                    <a:lnTo>
                      <a:pt x="19" y="39"/>
                    </a:lnTo>
                    <a:lnTo>
                      <a:pt x="11" y="31"/>
                    </a:lnTo>
                    <a:lnTo>
                      <a:pt x="5" y="22"/>
                    </a:lnTo>
                    <a:lnTo>
                      <a:pt x="1" y="11"/>
                    </a:lnTo>
                    <a:lnTo>
                      <a:pt x="0" y="0"/>
                    </a:lnTo>
                    <a:lnTo>
                      <a:pt x="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5" name="未知"/>
              <p:cNvSpPr>
                <a:spLocks noChangeAspect="1"/>
              </p:cNvSpPr>
              <p:nvPr/>
            </p:nvSpPr>
            <p:spPr bwMode="auto">
              <a:xfrm>
                <a:off x="2463" y="1877"/>
                <a:ext cx="19" cy="7"/>
              </a:xfrm>
              <a:custGeom>
                <a:avLst/>
                <a:gdLst>
                  <a:gd name="T0" fmla="*/ 102 w 102"/>
                  <a:gd name="T1" fmla="*/ 0 h 50"/>
                  <a:gd name="T2" fmla="*/ 100 w 102"/>
                  <a:gd name="T3" fmla="*/ 11 h 50"/>
                  <a:gd name="T4" fmla="*/ 96 w 102"/>
                  <a:gd name="T5" fmla="*/ 22 h 50"/>
                  <a:gd name="T6" fmla="*/ 90 w 102"/>
                  <a:gd name="T7" fmla="*/ 31 h 50"/>
                  <a:gd name="T8" fmla="*/ 82 w 102"/>
                  <a:gd name="T9" fmla="*/ 39 h 50"/>
                  <a:gd name="T10" fmla="*/ 73 w 102"/>
                  <a:gd name="T11" fmla="*/ 45 h 50"/>
                  <a:gd name="T12" fmla="*/ 62 w 102"/>
                  <a:gd name="T13" fmla="*/ 49 h 50"/>
                  <a:gd name="T14" fmla="*/ 50 w 102"/>
                  <a:gd name="T15" fmla="*/ 50 h 50"/>
                  <a:gd name="T16" fmla="*/ 39 w 102"/>
                  <a:gd name="T17" fmla="*/ 49 h 50"/>
                  <a:gd name="T18" fmla="*/ 28 w 102"/>
                  <a:gd name="T19" fmla="*/ 45 h 50"/>
                  <a:gd name="T20" fmla="*/ 19 w 102"/>
                  <a:gd name="T21" fmla="*/ 39 h 50"/>
                  <a:gd name="T22" fmla="*/ 11 w 102"/>
                  <a:gd name="T23" fmla="*/ 31 h 50"/>
                  <a:gd name="T24" fmla="*/ 5 w 102"/>
                  <a:gd name="T25" fmla="*/ 22 h 50"/>
                  <a:gd name="T26" fmla="*/ 1 w 102"/>
                  <a:gd name="T27" fmla="*/ 11 h 50"/>
                  <a:gd name="T28" fmla="*/ 0 w 102"/>
                  <a:gd name="T29"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2" h="50">
                    <a:moveTo>
                      <a:pt x="102" y="0"/>
                    </a:moveTo>
                    <a:lnTo>
                      <a:pt x="100" y="11"/>
                    </a:lnTo>
                    <a:lnTo>
                      <a:pt x="96" y="22"/>
                    </a:lnTo>
                    <a:lnTo>
                      <a:pt x="90" y="31"/>
                    </a:lnTo>
                    <a:lnTo>
                      <a:pt x="82" y="39"/>
                    </a:lnTo>
                    <a:lnTo>
                      <a:pt x="73" y="45"/>
                    </a:lnTo>
                    <a:lnTo>
                      <a:pt x="62" y="49"/>
                    </a:lnTo>
                    <a:lnTo>
                      <a:pt x="50" y="50"/>
                    </a:lnTo>
                    <a:lnTo>
                      <a:pt x="39" y="49"/>
                    </a:lnTo>
                    <a:lnTo>
                      <a:pt x="28" y="45"/>
                    </a:lnTo>
                    <a:lnTo>
                      <a:pt x="19" y="39"/>
                    </a:lnTo>
                    <a:lnTo>
                      <a:pt x="11" y="31"/>
                    </a:lnTo>
                    <a:lnTo>
                      <a:pt x="5" y="22"/>
                    </a:lnTo>
                    <a:lnTo>
                      <a:pt x="1" y="11"/>
                    </a:lnTo>
                    <a:lnTo>
                      <a:pt x="0"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76" name="未知"/>
              <p:cNvSpPr>
                <a:spLocks noChangeAspect="1"/>
              </p:cNvSpPr>
              <p:nvPr/>
            </p:nvSpPr>
            <p:spPr bwMode="auto">
              <a:xfrm>
                <a:off x="2286" y="891"/>
                <a:ext cx="18" cy="8"/>
              </a:xfrm>
              <a:custGeom>
                <a:avLst/>
                <a:gdLst>
                  <a:gd name="T0" fmla="*/ 51 w 102"/>
                  <a:gd name="T1" fmla="*/ 52 h 52"/>
                  <a:gd name="T2" fmla="*/ 0 w 102"/>
                  <a:gd name="T3" fmla="*/ 52 h 52"/>
                  <a:gd name="T4" fmla="*/ 1 w 102"/>
                  <a:gd name="T5" fmla="*/ 41 h 52"/>
                  <a:gd name="T6" fmla="*/ 5 w 102"/>
                  <a:gd name="T7" fmla="*/ 30 h 52"/>
                  <a:gd name="T8" fmla="*/ 11 w 102"/>
                  <a:gd name="T9" fmla="*/ 20 h 52"/>
                  <a:gd name="T10" fmla="*/ 19 w 102"/>
                  <a:gd name="T11" fmla="*/ 12 h 52"/>
                  <a:gd name="T12" fmla="*/ 28 w 102"/>
                  <a:gd name="T13" fmla="*/ 6 h 52"/>
                  <a:gd name="T14" fmla="*/ 39 w 102"/>
                  <a:gd name="T15" fmla="*/ 2 h 52"/>
                  <a:gd name="T16" fmla="*/ 51 w 102"/>
                  <a:gd name="T17" fmla="*/ 0 h 52"/>
                  <a:gd name="T18" fmla="*/ 62 w 102"/>
                  <a:gd name="T19" fmla="*/ 2 h 52"/>
                  <a:gd name="T20" fmla="*/ 73 w 102"/>
                  <a:gd name="T21" fmla="*/ 6 h 52"/>
                  <a:gd name="T22" fmla="*/ 82 w 102"/>
                  <a:gd name="T23" fmla="*/ 12 h 52"/>
                  <a:gd name="T24" fmla="*/ 90 w 102"/>
                  <a:gd name="T25" fmla="*/ 20 h 52"/>
                  <a:gd name="T26" fmla="*/ 96 w 102"/>
                  <a:gd name="T27" fmla="*/ 30 h 52"/>
                  <a:gd name="T28" fmla="*/ 100 w 102"/>
                  <a:gd name="T29" fmla="*/ 41 h 52"/>
                  <a:gd name="T30" fmla="*/ 102 w 102"/>
                  <a:gd name="T31" fmla="*/ 52 h 52"/>
                  <a:gd name="T32" fmla="*/ 51 w 102"/>
                  <a:gd name="T33"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2" h="52">
                    <a:moveTo>
                      <a:pt x="51" y="52"/>
                    </a:moveTo>
                    <a:lnTo>
                      <a:pt x="0" y="52"/>
                    </a:lnTo>
                    <a:lnTo>
                      <a:pt x="1" y="41"/>
                    </a:lnTo>
                    <a:lnTo>
                      <a:pt x="5" y="30"/>
                    </a:lnTo>
                    <a:lnTo>
                      <a:pt x="11" y="20"/>
                    </a:lnTo>
                    <a:lnTo>
                      <a:pt x="19" y="12"/>
                    </a:lnTo>
                    <a:lnTo>
                      <a:pt x="28" y="6"/>
                    </a:lnTo>
                    <a:lnTo>
                      <a:pt x="39" y="2"/>
                    </a:lnTo>
                    <a:lnTo>
                      <a:pt x="51" y="0"/>
                    </a:lnTo>
                    <a:lnTo>
                      <a:pt x="62" y="2"/>
                    </a:lnTo>
                    <a:lnTo>
                      <a:pt x="73" y="6"/>
                    </a:lnTo>
                    <a:lnTo>
                      <a:pt x="82" y="12"/>
                    </a:lnTo>
                    <a:lnTo>
                      <a:pt x="90" y="20"/>
                    </a:lnTo>
                    <a:lnTo>
                      <a:pt x="96" y="30"/>
                    </a:lnTo>
                    <a:lnTo>
                      <a:pt x="100" y="41"/>
                    </a:lnTo>
                    <a:lnTo>
                      <a:pt x="102" y="52"/>
                    </a:lnTo>
                    <a:lnTo>
                      <a:pt x="51"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7" name="未知"/>
              <p:cNvSpPr>
                <a:spLocks noChangeAspect="1"/>
              </p:cNvSpPr>
              <p:nvPr/>
            </p:nvSpPr>
            <p:spPr bwMode="auto">
              <a:xfrm>
                <a:off x="2286" y="891"/>
                <a:ext cx="18" cy="8"/>
              </a:xfrm>
              <a:custGeom>
                <a:avLst/>
                <a:gdLst>
                  <a:gd name="T0" fmla="*/ 0 w 102"/>
                  <a:gd name="T1" fmla="*/ 52 h 52"/>
                  <a:gd name="T2" fmla="*/ 1 w 102"/>
                  <a:gd name="T3" fmla="*/ 41 h 52"/>
                  <a:gd name="T4" fmla="*/ 5 w 102"/>
                  <a:gd name="T5" fmla="*/ 30 h 52"/>
                  <a:gd name="T6" fmla="*/ 11 w 102"/>
                  <a:gd name="T7" fmla="*/ 20 h 52"/>
                  <a:gd name="T8" fmla="*/ 19 w 102"/>
                  <a:gd name="T9" fmla="*/ 12 h 52"/>
                  <a:gd name="T10" fmla="*/ 28 w 102"/>
                  <a:gd name="T11" fmla="*/ 6 h 52"/>
                  <a:gd name="T12" fmla="*/ 39 w 102"/>
                  <a:gd name="T13" fmla="*/ 2 h 52"/>
                  <a:gd name="T14" fmla="*/ 51 w 102"/>
                  <a:gd name="T15" fmla="*/ 0 h 52"/>
                  <a:gd name="T16" fmla="*/ 62 w 102"/>
                  <a:gd name="T17" fmla="*/ 2 h 52"/>
                  <a:gd name="T18" fmla="*/ 73 w 102"/>
                  <a:gd name="T19" fmla="*/ 6 h 52"/>
                  <a:gd name="T20" fmla="*/ 82 w 102"/>
                  <a:gd name="T21" fmla="*/ 12 h 52"/>
                  <a:gd name="T22" fmla="*/ 90 w 102"/>
                  <a:gd name="T23" fmla="*/ 20 h 52"/>
                  <a:gd name="T24" fmla="*/ 96 w 102"/>
                  <a:gd name="T25" fmla="*/ 30 h 52"/>
                  <a:gd name="T26" fmla="*/ 100 w 102"/>
                  <a:gd name="T27" fmla="*/ 41 h 52"/>
                  <a:gd name="T28" fmla="*/ 102 w 102"/>
                  <a:gd name="T29"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2" h="52">
                    <a:moveTo>
                      <a:pt x="0" y="52"/>
                    </a:moveTo>
                    <a:lnTo>
                      <a:pt x="1" y="41"/>
                    </a:lnTo>
                    <a:lnTo>
                      <a:pt x="5" y="30"/>
                    </a:lnTo>
                    <a:lnTo>
                      <a:pt x="11" y="20"/>
                    </a:lnTo>
                    <a:lnTo>
                      <a:pt x="19" y="12"/>
                    </a:lnTo>
                    <a:lnTo>
                      <a:pt x="28" y="6"/>
                    </a:lnTo>
                    <a:lnTo>
                      <a:pt x="39" y="2"/>
                    </a:lnTo>
                    <a:lnTo>
                      <a:pt x="51" y="0"/>
                    </a:lnTo>
                    <a:lnTo>
                      <a:pt x="62" y="2"/>
                    </a:lnTo>
                    <a:lnTo>
                      <a:pt x="73" y="6"/>
                    </a:lnTo>
                    <a:lnTo>
                      <a:pt x="82" y="12"/>
                    </a:lnTo>
                    <a:lnTo>
                      <a:pt x="90" y="20"/>
                    </a:lnTo>
                    <a:lnTo>
                      <a:pt x="96" y="30"/>
                    </a:lnTo>
                    <a:lnTo>
                      <a:pt x="100" y="41"/>
                    </a:lnTo>
                    <a:lnTo>
                      <a:pt x="102" y="52"/>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78" name="未知"/>
              <p:cNvSpPr>
                <a:spLocks noChangeAspect="1"/>
              </p:cNvSpPr>
              <p:nvPr/>
            </p:nvSpPr>
            <p:spPr bwMode="auto">
              <a:xfrm>
                <a:off x="2286" y="899"/>
                <a:ext cx="18" cy="978"/>
              </a:xfrm>
              <a:custGeom>
                <a:avLst/>
                <a:gdLst>
                  <a:gd name="T0" fmla="*/ 102 w 102"/>
                  <a:gd name="T1" fmla="*/ 0 h 6452"/>
                  <a:gd name="T2" fmla="*/ 51 w 102"/>
                  <a:gd name="T3" fmla="*/ 0 h 6452"/>
                  <a:gd name="T4" fmla="*/ 0 w 102"/>
                  <a:gd name="T5" fmla="*/ 0 h 6452"/>
                  <a:gd name="T6" fmla="*/ 0 w 102"/>
                  <a:gd name="T7" fmla="*/ 6452 h 6452"/>
                  <a:gd name="T8" fmla="*/ 51 w 102"/>
                  <a:gd name="T9" fmla="*/ 6452 h 6452"/>
                  <a:gd name="T10" fmla="*/ 102 w 102"/>
                  <a:gd name="T11" fmla="*/ 6452 h 6452"/>
                  <a:gd name="T12" fmla="*/ 102 w 102"/>
                  <a:gd name="T13" fmla="*/ 0 h 6452"/>
                </a:gdLst>
                <a:ahLst/>
                <a:cxnLst>
                  <a:cxn ang="0">
                    <a:pos x="T0" y="T1"/>
                  </a:cxn>
                  <a:cxn ang="0">
                    <a:pos x="T2" y="T3"/>
                  </a:cxn>
                  <a:cxn ang="0">
                    <a:pos x="T4" y="T5"/>
                  </a:cxn>
                  <a:cxn ang="0">
                    <a:pos x="T6" y="T7"/>
                  </a:cxn>
                  <a:cxn ang="0">
                    <a:pos x="T8" y="T9"/>
                  </a:cxn>
                  <a:cxn ang="0">
                    <a:pos x="T10" y="T11"/>
                  </a:cxn>
                  <a:cxn ang="0">
                    <a:pos x="T12" y="T13"/>
                  </a:cxn>
                </a:cxnLst>
                <a:rect l="0" t="0" r="r" b="b"/>
                <a:pathLst>
                  <a:path w="102" h="6452">
                    <a:moveTo>
                      <a:pt x="102" y="0"/>
                    </a:moveTo>
                    <a:lnTo>
                      <a:pt x="51" y="0"/>
                    </a:lnTo>
                    <a:lnTo>
                      <a:pt x="0" y="0"/>
                    </a:lnTo>
                    <a:lnTo>
                      <a:pt x="0" y="6452"/>
                    </a:lnTo>
                    <a:lnTo>
                      <a:pt x="51" y="6452"/>
                    </a:lnTo>
                    <a:lnTo>
                      <a:pt x="102" y="6452"/>
                    </a:lnTo>
                    <a:lnTo>
                      <a:pt x="10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9" name="未知"/>
              <p:cNvSpPr>
                <a:spLocks noChangeAspect="1"/>
              </p:cNvSpPr>
              <p:nvPr/>
            </p:nvSpPr>
            <p:spPr bwMode="auto">
              <a:xfrm>
                <a:off x="2286" y="899"/>
                <a:ext cx="18" cy="978"/>
              </a:xfrm>
              <a:custGeom>
                <a:avLst/>
                <a:gdLst>
                  <a:gd name="T0" fmla="*/ 102 w 102"/>
                  <a:gd name="T1" fmla="*/ 0 h 6452"/>
                  <a:gd name="T2" fmla="*/ 51 w 102"/>
                  <a:gd name="T3" fmla="*/ 0 h 6452"/>
                  <a:gd name="T4" fmla="*/ 0 w 102"/>
                  <a:gd name="T5" fmla="*/ 0 h 6452"/>
                  <a:gd name="T6" fmla="*/ 0 w 102"/>
                  <a:gd name="T7" fmla="*/ 6452 h 6452"/>
                  <a:gd name="T8" fmla="*/ 51 w 102"/>
                  <a:gd name="T9" fmla="*/ 6452 h 6452"/>
                  <a:gd name="T10" fmla="*/ 102 w 102"/>
                  <a:gd name="T11" fmla="*/ 6452 h 6452"/>
                  <a:gd name="T12" fmla="*/ 102 w 102"/>
                  <a:gd name="T13" fmla="*/ 0 h 6452"/>
                </a:gdLst>
                <a:ahLst/>
                <a:cxnLst>
                  <a:cxn ang="0">
                    <a:pos x="T0" y="T1"/>
                  </a:cxn>
                  <a:cxn ang="0">
                    <a:pos x="T2" y="T3"/>
                  </a:cxn>
                  <a:cxn ang="0">
                    <a:pos x="T4" y="T5"/>
                  </a:cxn>
                  <a:cxn ang="0">
                    <a:pos x="T6" y="T7"/>
                  </a:cxn>
                  <a:cxn ang="0">
                    <a:pos x="T8" y="T9"/>
                  </a:cxn>
                  <a:cxn ang="0">
                    <a:pos x="T10" y="T11"/>
                  </a:cxn>
                  <a:cxn ang="0">
                    <a:pos x="T12" y="T13"/>
                  </a:cxn>
                </a:cxnLst>
                <a:rect l="0" t="0" r="r" b="b"/>
                <a:pathLst>
                  <a:path w="102" h="6452">
                    <a:moveTo>
                      <a:pt x="102" y="0"/>
                    </a:moveTo>
                    <a:lnTo>
                      <a:pt x="51" y="0"/>
                    </a:lnTo>
                    <a:lnTo>
                      <a:pt x="0" y="0"/>
                    </a:lnTo>
                    <a:lnTo>
                      <a:pt x="0" y="6452"/>
                    </a:lnTo>
                    <a:lnTo>
                      <a:pt x="51" y="6452"/>
                    </a:lnTo>
                    <a:lnTo>
                      <a:pt x="102" y="6452"/>
                    </a:lnTo>
                    <a:lnTo>
                      <a:pt x="102"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0" name="未知"/>
              <p:cNvSpPr>
                <a:spLocks noChangeAspect="1"/>
              </p:cNvSpPr>
              <p:nvPr/>
            </p:nvSpPr>
            <p:spPr bwMode="auto">
              <a:xfrm>
                <a:off x="2286" y="1877"/>
                <a:ext cx="18" cy="7"/>
              </a:xfrm>
              <a:custGeom>
                <a:avLst/>
                <a:gdLst>
                  <a:gd name="T0" fmla="*/ 51 w 102"/>
                  <a:gd name="T1" fmla="*/ 0 h 50"/>
                  <a:gd name="T2" fmla="*/ 102 w 102"/>
                  <a:gd name="T3" fmla="*/ 0 h 50"/>
                  <a:gd name="T4" fmla="*/ 100 w 102"/>
                  <a:gd name="T5" fmla="*/ 11 h 50"/>
                  <a:gd name="T6" fmla="*/ 96 w 102"/>
                  <a:gd name="T7" fmla="*/ 22 h 50"/>
                  <a:gd name="T8" fmla="*/ 90 w 102"/>
                  <a:gd name="T9" fmla="*/ 31 h 50"/>
                  <a:gd name="T10" fmla="*/ 82 w 102"/>
                  <a:gd name="T11" fmla="*/ 39 h 50"/>
                  <a:gd name="T12" fmla="*/ 73 w 102"/>
                  <a:gd name="T13" fmla="*/ 45 h 50"/>
                  <a:gd name="T14" fmla="*/ 62 w 102"/>
                  <a:gd name="T15" fmla="*/ 49 h 50"/>
                  <a:gd name="T16" fmla="*/ 51 w 102"/>
                  <a:gd name="T17" fmla="*/ 50 h 50"/>
                  <a:gd name="T18" fmla="*/ 39 w 102"/>
                  <a:gd name="T19" fmla="*/ 49 h 50"/>
                  <a:gd name="T20" fmla="*/ 28 w 102"/>
                  <a:gd name="T21" fmla="*/ 45 h 50"/>
                  <a:gd name="T22" fmla="*/ 19 w 102"/>
                  <a:gd name="T23" fmla="*/ 39 h 50"/>
                  <a:gd name="T24" fmla="*/ 11 w 102"/>
                  <a:gd name="T25" fmla="*/ 31 h 50"/>
                  <a:gd name="T26" fmla="*/ 5 w 102"/>
                  <a:gd name="T27" fmla="*/ 22 h 50"/>
                  <a:gd name="T28" fmla="*/ 1 w 102"/>
                  <a:gd name="T29" fmla="*/ 11 h 50"/>
                  <a:gd name="T30" fmla="*/ 0 w 102"/>
                  <a:gd name="T31" fmla="*/ 0 h 50"/>
                  <a:gd name="T32" fmla="*/ 51 w 102"/>
                  <a:gd name="T33"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2" h="50">
                    <a:moveTo>
                      <a:pt x="51" y="0"/>
                    </a:moveTo>
                    <a:lnTo>
                      <a:pt x="102" y="0"/>
                    </a:lnTo>
                    <a:lnTo>
                      <a:pt x="100" y="11"/>
                    </a:lnTo>
                    <a:lnTo>
                      <a:pt x="96" y="22"/>
                    </a:lnTo>
                    <a:lnTo>
                      <a:pt x="90" y="31"/>
                    </a:lnTo>
                    <a:lnTo>
                      <a:pt x="82" y="39"/>
                    </a:lnTo>
                    <a:lnTo>
                      <a:pt x="73" y="45"/>
                    </a:lnTo>
                    <a:lnTo>
                      <a:pt x="62" y="49"/>
                    </a:lnTo>
                    <a:lnTo>
                      <a:pt x="51" y="50"/>
                    </a:lnTo>
                    <a:lnTo>
                      <a:pt x="39" y="49"/>
                    </a:lnTo>
                    <a:lnTo>
                      <a:pt x="28" y="45"/>
                    </a:lnTo>
                    <a:lnTo>
                      <a:pt x="19" y="39"/>
                    </a:lnTo>
                    <a:lnTo>
                      <a:pt x="11" y="31"/>
                    </a:lnTo>
                    <a:lnTo>
                      <a:pt x="5" y="22"/>
                    </a:lnTo>
                    <a:lnTo>
                      <a:pt x="1" y="11"/>
                    </a:lnTo>
                    <a:lnTo>
                      <a:pt x="0" y="0"/>
                    </a:lnTo>
                    <a:lnTo>
                      <a:pt x="5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1" name="未知"/>
              <p:cNvSpPr>
                <a:spLocks noChangeAspect="1"/>
              </p:cNvSpPr>
              <p:nvPr/>
            </p:nvSpPr>
            <p:spPr bwMode="auto">
              <a:xfrm>
                <a:off x="2286" y="1877"/>
                <a:ext cx="18" cy="7"/>
              </a:xfrm>
              <a:custGeom>
                <a:avLst/>
                <a:gdLst>
                  <a:gd name="T0" fmla="*/ 102 w 102"/>
                  <a:gd name="T1" fmla="*/ 0 h 50"/>
                  <a:gd name="T2" fmla="*/ 100 w 102"/>
                  <a:gd name="T3" fmla="*/ 11 h 50"/>
                  <a:gd name="T4" fmla="*/ 96 w 102"/>
                  <a:gd name="T5" fmla="*/ 22 h 50"/>
                  <a:gd name="T6" fmla="*/ 90 w 102"/>
                  <a:gd name="T7" fmla="*/ 31 h 50"/>
                  <a:gd name="T8" fmla="*/ 82 w 102"/>
                  <a:gd name="T9" fmla="*/ 39 h 50"/>
                  <a:gd name="T10" fmla="*/ 73 w 102"/>
                  <a:gd name="T11" fmla="*/ 45 h 50"/>
                  <a:gd name="T12" fmla="*/ 62 w 102"/>
                  <a:gd name="T13" fmla="*/ 49 h 50"/>
                  <a:gd name="T14" fmla="*/ 51 w 102"/>
                  <a:gd name="T15" fmla="*/ 50 h 50"/>
                  <a:gd name="T16" fmla="*/ 39 w 102"/>
                  <a:gd name="T17" fmla="*/ 49 h 50"/>
                  <a:gd name="T18" fmla="*/ 28 w 102"/>
                  <a:gd name="T19" fmla="*/ 45 h 50"/>
                  <a:gd name="T20" fmla="*/ 19 w 102"/>
                  <a:gd name="T21" fmla="*/ 39 h 50"/>
                  <a:gd name="T22" fmla="*/ 11 w 102"/>
                  <a:gd name="T23" fmla="*/ 31 h 50"/>
                  <a:gd name="T24" fmla="*/ 5 w 102"/>
                  <a:gd name="T25" fmla="*/ 22 h 50"/>
                  <a:gd name="T26" fmla="*/ 1 w 102"/>
                  <a:gd name="T27" fmla="*/ 11 h 50"/>
                  <a:gd name="T28" fmla="*/ 0 w 102"/>
                  <a:gd name="T29"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2" h="50">
                    <a:moveTo>
                      <a:pt x="102" y="0"/>
                    </a:moveTo>
                    <a:lnTo>
                      <a:pt x="100" y="11"/>
                    </a:lnTo>
                    <a:lnTo>
                      <a:pt x="96" y="22"/>
                    </a:lnTo>
                    <a:lnTo>
                      <a:pt x="90" y="31"/>
                    </a:lnTo>
                    <a:lnTo>
                      <a:pt x="82" y="39"/>
                    </a:lnTo>
                    <a:lnTo>
                      <a:pt x="73" y="45"/>
                    </a:lnTo>
                    <a:lnTo>
                      <a:pt x="62" y="49"/>
                    </a:lnTo>
                    <a:lnTo>
                      <a:pt x="51" y="50"/>
                    </a:lnTo>
                    <a:lnTo>
                      <a:pt x="39" y="49"/>
                    </a:lnTo>
                    <a:lnTo>
                      <a:pt x="28" y="45"/>
                    </a:lnTo>
                    <a:lnTo>
                      <a:pt x="19" y="39"/>
                    </a:lnTo>
                    <a:lnTo>
                      <a:pt x="11" y="31"/>
                    </a:lnTo>
                    <a:lnTo>
                      <a:pt x="5" y="22"/>
                    </a:lnTo>
                    <a:lnTo>
                      <a:pt x="1" y="11"/>
                    </a:lnTo>
                    <a:lnTo>
                      <a:pt x="0"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2" name="未知"/>
              <p:cNvSpPr>
                <a:spLocks noChangeAspect="1"/>
              </p:cNvSpPr>
              <p:nvPr/>
            </p:nvSpPr>
            <p:spPr bwMode="auto">
              <a:xfrm>
                <a:off x="1838" y="526"/>
                <a:ext cx="19" cy="7"/>
              </a:xfrm>
              <a:custGeom>
                <a:avLst/>
                <a:gdLst>
                  <a:gd name="T0" fmla="*/ 51 w 103"/>
                  <a:gd name="T1" fmla="*/ 52 h 52"/>
                  <a:gd name="T2" fmla="*/ 0 w 103"/>
                  <a:gd name="T3" fmla="*/ 52 h 52"/>
                  <a:gd name="T4" fmla="*/ 1 w 103"/>
                  <a:gd name="T5" fmla="*/ 41 h 52"/>
                  <a:gd name="T6" fmla="*/ 5 w 103"/>
                  <a:gd name="T7" fmla="*/ 29 h 52"/>
                  <a:gd name="T8" fmla="*/ 11 w 103"/>
                  <a:gd name="T9" fmla="*/ 20 h 52"/>
                  <a:gd name="T10" fmla="*/ 20 w 103"/>
                  <a:gd name="T11" fmla="*/ 12 h 52"/>
                  <a:gd name="T12" fmla="*/ 29 w 103"/>
                  <a:gd name="T13" fmla="*/ 6 h 52"/>
                  <a:gd name="T14" fmla="*/ 40 w 103"/>
                  <a:gd name="T15" fmla="*/ 2 h 52"/>
                  <a:gd name="T16" fmla="*/ 51 w 103"/>
                  <a:gd name="T17" fmla="*/ 0 h 52"/>
                  <a:gd name="T18" fmla="*/ 62 w 103"/>
                  <a:gd name="T19" fmla="*/ 2 h 52"/>
                  <a:gd name="T20" fmla="*/ 73 w 103"/>
                  <a:gd name="T21" fmla="*/ 6 h 52"/>
                  <a:gd name="T22" fmla="*/ 82 w 103"/>
                  <a:gd name="T23" fmla="*/ 12 h 52"/>
                  <a:gd name="T24" fmla="*/ 90 w 103"/>
                  <a:gd name="T25" fmla="*/ 20 h 52"/>
                  <a:gd name="T26" fmla="*/ 96 w 103"/>
                  <a:gd name="T27" fmla="*/ 29 h 52"/>
                  <a:gd name="T28" fmla="*/ 101 w 103"/>
                  <a:gd name="T29" fmla="*/ 41 h 52"/>
                  <a:gd name="T30" fmla="*/ 103 w 103"/>
                  <a:gd name="T31" fmla="*/ 52 h 52"/>
                  <a:gd name="T32" fmla="*/ 51 w 103"/>
                  <a:gd name="T33"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52">
                    <a:moveTo>
                      <a:pt x="51" y="52"/>
                    </a:moveTo>
                    <a:lnTo>
                      <a:pt x="0" y="52"/>
                    </a:lnTo>
                    <a:lnTo>
                      <a:pt x="1" y="41"/>
                    </a:lnTo>
                    <a:lnTo>
                      <a:pt x="5" y="29"/>
                    </a:lnTo>
                    <a:lnTo>
                      <a:pt x="11" y="20"/>
                    </a:lnTo>
                    <a:lnTo>
                      <a:pt x="20" y="12"/>
                    </a:lnTo>
                    <a:lnTo>
                      <a:pt x="29" y="6"/>
                    </a:lnTo>
                    <a:lnTo>
                      <a:pt x="40" y="2"/>
                    </a:lnTo>
                    <a:lnTo>
                      <a:pt x="51" y="0"/>
                    </a:lnTo>
                    <a:lnTo>
                      <a:pt x="62" y="2"/>
                    </a:lnTo>
                    <a:lnTo>
                      <a:pt x="73" y="6"/>
                    </a:lnTo>
                    <a:lnTo>
                      <a:pt x="82" y="12"/>
                    </a:lnTo>
                    <a:lnTo>
                      <a:pt x="90" y="20"/>
                    </a:lnTo>
                    <a:lnTo>
                      <a:pt x="96" y="29"/>
                    </a:lnTo>
                    <a:lnTo>
                      <a:pt x="101" y="41"/>
                    </a:lnTo>
                    <a:lnTo>
                      <a:pt x="103" y="52"/>
                    </a:lnTo>
                    <a:lnTo>
                      <a:pt x="51"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3" name="未知"/>
              <p:cNvSpPr>
                <a:spLocks noChangeAspect="1"/>
              </p:cNvSpPr>
              <p:nvPr/>
            </p:nvSpPr>
            <p:spPr bwMode="auto">
              <a:xfrm>
                <a:off x="1838" y="526"/>
                <a:ext cx="19" cy="7"/>
              </a:xfrm>
              <a:custGeom>
                <a:avLst/>
                <a:gdLst>
                  <a:gd name="T0" fmla="*/ 0 w 103"/>
                  <a:gd name="T1" fmla="*/ 52 h 52"/>
                  <a:gd name="T2" fmla="*/ 1 w 103"/>
                  <a:gd name="T3" fmla="*/ 41 h 52"/>
                  <a:gd name="T4" fmla="*/ 5 w 103"/>
                  <a:gd name="T5" fmla="*/ 29 h 52"/>
                  <a:gd name="T6" fmla="*/ 11 w 103"/>
                  <a:gd name="T7" fmla="*/ 20 h 52"/>
                  <a:gd name="T8" fmla="*/ 20 w 103"/>
                  <a:gd name="T9" fmla="*/ 12 h 52"/>
                  <a:gd name="T10" fmla="*/ 29 w 103"/>
                  <a:gd name="T11" fmla="*/ 6 h 52"/>
                  <a:gd name="T12" fmla="*/ 40 w 103"/>
                  <a:gd name="T13" fmla="*/ 2 h 52"/>
                  <a:gd name="T14" fmla="*/ 51 w 103"/>
                  <a:gd name="T15" fmla="*/ 0 h 52"/>
                  <a:gd name="T16" fmla="*/ 62 w 103"/>
                  <a:gd name="T17" fmla="*/ 2 h 52"/>
                  <a:gd name="T18" fmla="*/ 73 w 103"/>
                  <a:gd name="T19" fmla="*/ 6 h 52"/>
                  <a:gd name="T20" fmla="*/ 82 w 103"/>
                  <a:gd name="T21" fmla="*/ 12 h 52"/>
                  <a:gd name="T22" fmla="*/ 90 w 103"/>
                  <a:gd name="T23" fmla="*/ 20 h 52"/>
                  <a:gd name="T24" fmla="*/ 96 w 103"/>
                  <a:gd name="T25" fmla="*/ 29 h 52"/>
                  <a:gd name="T26" fmla="*/ 101 w 103"/>
                  <a:gd name="T27" fmla="*/ 41 h 52"/>
                  <a:gd name="T28" fmla="*/ 103 w 103"/>
                  <a:gd name="T29"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3" h="52">
                    <a:moveTo>
                      <a:pt x="0" y="52"/>
                    </a:moveTo>
                    <a:lnTo>
                      <a:pt x="1" y="41"/>
                    </a:lnTo>
                    <a:lnTo>
                      <a:pt x="5" y="29"/>
                    </a:lnTo>
                    <a:lnTo>
                      <a:pt x="11" y="20"/>
                    </a:lnTo>
                    <a:lnTo>
                      <a:pt x="20" y="12"/>
                    </a:lnTo>
                    <a:lnTo>
                      <a:pt x="29" y="6"/>
                    </a:lnTo>
                    <a:lnTo>
                      <a:pt x="40" y="2"/>
                    </a:lnTo>
                    <a:lnTo>
                      <a:pt x="51" y="0"/>
                    </a:lnTo>
                    <a:lnTo>
                      <a:pt x="62" y="2"/>
                    </a:lnTo>
                    <a:lnTo>
                      <a:pt x="73" y="6"/>
                    </a:lnTo>
                    <a:lnTo>
                      <a:pt x="82" y="12"/>
                    </a:lnTo>
                    <a:lnTo>
                      <a:pt x="90" y="20"/>
                    </a:lnTo>
                    <a:lnTo>
                      <a:pt x="96" y="29"/>
                    </a:lnTo>
                    <a:lnTo>
                      <a:pt x="101" y="41"/>
                    </a:lnTo>
                    <a:lnTo>
                      <a:pt x="103" y="52"/>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4" name="未知"/>
              <p:cNvSpPr>
                <a:spLocks noChangeAspect="1"/>
              </p:cNvSpPr>
              <p:nvPr/>
            </p:nvSpPr>
            <p:spPr bwMode="auto">
              <a:xfrm>
                <a:off x="1838" y="533"/>
                <a:ext cx="19" cy="979"/>
              </a:xfrm>
              <a:custGeom>
                <a:avLst/>
                <a:gdLst>
                  <a:gd name="T0" fmla="*/ 103 w 103"/>
                  <a:gd name="T1" fmla="*/ 0 h 6453"/>
                  <a:gd name="T2" fmla="*/ 51 w 103"/>
                  <a:gd name="T3" fmla="*/ 0 h 6453"/>
                  <a:gd name="T4" fmla="*/ 0 w 103"/>
                  <a:gd name="T5" fmla="*/ 0 h 6453"/>
                  <a:gd name="T6" fmla="*/ 0 w 103"/>
                  <a:gd name="T7" fmla="*/ 6453 h 6453"/>
                  <a:gd name="T8" fmla="*/ 51 w 103"/>
                  <a:gd name="T9" fmla="*/ 6453 h 6453"/>
                  <a:gd name="T10" fmla="*/ 103 w 103"/>
                  <a:gd name="T11" fmla="*/ 6453 h 6453"/>
                  <a:gd name="T12" fmla="*/ 103 w 103"/>
                  <a:gd name="T13" fmla="*/ 0 h 6453"/>
                </a:gdLst>
                <a:ahLst/>
                <a:cxnLst>
                  <a:cxn ang="0">
                    <a:pos x="T0" y="T1"/>
                  </a:cxn>
                  <a:cxn ang="0">
                    <a:pos x="T2" y="T3"/>
                  </a:cxn>
                  <a:cxn ang="0">
                    <a:pos x="T4" y="T5"/>
                  </a:cxn>
                  <a:cxn ang="0">
                    <a:pos x="T6" y="T7"/>
                  </a:cxn>
                  <a:cxn ang="0">
                    <a:pos x="T8" y="T9"/>
                  </a:cxn>
                  <a:cxn ang="0">
                    <a:pos x="T10" y="T11"/>
                  </a:cxn>
                  <a:cxn ang="0">
                    <a:pos x="T12" y="T13"/>
                  </a:cxn>
                </a:cxnLst>
                <a:rect l="0" t="0" r="r" b="b"/>
                <a:pathLst>
                  <a:path w="103" h="6453">
                    <a:moveTo>
                      <a:pt x="103" y="0"/>
                    </a:moveTo>
                    <a:lnTo>
                      <a:pt x="51" y="0"/>
                    </a:lnTo>
                    <a:lnTo>
                      <a:pt x="0" y="0"/>
                    </a:lnTo>
                    <a:lnTo>
                      <a:pt x="0" y="6453"/>
                    </a:lnTo>
                    <a:lnTo>
                      <a:pt x="51" y="6453"/>
                    </a:lnTo>
                    <a:lnTo>
                      <a:pt x="103" y="6453"/>
                    </a:lnTo>
                    <a:lnTo>
                      <a:pt x="10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5" name="未知"/>
              <p:cNvSpPr>
                <a:spLocks noChangeAspect="1"/>
              </p:cNvSpPr>
              <p:nvPr/>
            </p:nvSpPr>
            <p:spPr bwMode="auto">
              <a:xfrm>
                <a:off x="1838" y="533"/>
                <a:ext cx="19" cy="979"/>
              </a:xfrm>
              <a:custGeom>
                <a:avLst/>
                <a:gdLst>
                  <a:gd name="T0" fmla="*/ 103 w 103"/>
                  <a:gd name="T1" fmla="*/ 0 h 6453"/>
                  <a:gd name="T2" fmla="*/ 51 w 103"/>
                  <a:gd name="T3" fmla="*/ 0 h 6453"/>
                  <a:gd name="T4" fmla="*/ 0 w 103"/>
                  <a:gd name="T5" fmla="*/ 0 h 6453"/>
                  <a:gd name="T6" fmla="*/ 0 w 103"/>
                  <a:gd name="T7" fmla="*/ 6453 h 6453"/>
                  <a:gd name="T8" fmla="*/ 51 w 103"/>
                  <a:gd name="T9" fmla="*/ 6453 h 6453"/>
                  <a:gd name="T10" fmla="*/ 103 w 103"/>
                  <a:gd name="T11" fmla="*/ 6453 h 6453"/>
                  <a:gd name="T12" fmla="*/ 103 w 103"/>
                  <a:gd name="T13" fmla="*/ 0 h 6453"/>
                </a:gdLst>
                <a:ahLst/>
                <a:cxnLst>
                  <a:cxn ang="0">
                    <a:pos x="T0" y="T1"/>
                  </a:cxn>
                  <a:cxn ang="0">
                    <a:pos x="T2" y="T3"/>
                  </a:cxn>
                  <a:cxn ang="0">
                    <a:pos x="T4" y="T5"/>
                  </a:cxn>
                  <a:cxn ang="0">
                    <a:pos x="T6" y="T7"/>
                  </a:cxn>
                  <a:cxn ang="0">
                    <a:pos x="T8" y="T9"/>
                  </a:cxn>
                  <a:cxn ang="0">
                    <a:pos x="T10" y="T11"/>
                  </a:cxn>
                  <a:cxn ang="0">
                    <a:pos x="T12" y="T13"/>
                  </a:cxn>
                </a:cxnLst>
                <a:rect l="0" t="0" r="r" b="b"/>
                <a:pathLst>
                  <a:path w="103" h="6453">
                    <a:moveTo>
                      <a:pt x="103" y="0"/>
                    </a:moveTo>
                    <a:lnTo>
                      <a:pt x="51" y="0"/>
                    </a:lnTo>
                    <a:lnTo>
                      <a:pt x="0" y="0"/>
                    </a:lnTo>
                    <a:lnTo>
                      <a:pt x="0" y="6453"/>
                    </a:lnTo>
                    <a:lnTo>
                      <a:pt x="51" y="6453"/>
                    </a:lnTo>
                    <a:lnTo>
                      <a:pt x="103" y="6453"/>
                    </a:lnTo>
                    <a:lnTo>
                      <a:pt x="103"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6" name="未知"/>
              <p:cNvSpPr>
                <a:spLocks noChangeAspect="1"/>
              </p:cNvSpPr>
              <p:nvPr/>
            </p:nvSpPr>
            <p:spPr bwMode="auto">
              <a:xfrm>
                <a:off x="1838" y="1512"/>
                <a:ext cx="19" cy="7"/>
              </a:xfrm>
              <a:custGeom>
                <a:avLst/>
                <a:gdLst>
                  <a:gd name="T0" fmla="*/ 51 w 103"/>
                  <a:gd name="T1" fmla="*/ 0 h 50"/>
                  <a:gd name="T2" fmla="*/ 103 w 103"/>
                  <a:gd name="T3" fmla="*/ 0 h 50"/>
                  <a:gd name="T4" fmla="*/ 101 w 103"/>
                  <a:gd name="T5" fmla="*/ 11 h 50"/>
                  <a:gd name="T6" fmla="*/ 96 w 103"/>
                  <a:gd name="T7" fmla="*/ 22 h 50"/>
                  <a:gd name="T8" fmla="*/ 90 w 103"/>
                  <a:gd name="T9" fmla="*/ 31 h 50"/>
                  <a:gd name="T10" fmla="*/ 82 w 103"/>
                  <a:gd name="T11" fmla="*/ 39 h 50"/>
                  <a:gd name="T12" fmla="*/ 73 w 103"/>
                  <a:gd name="T13" fmla="*/ 45 h 50"/>
                  <a:gd name="T14" fmla="*/ 62 w 103"/>
                  <a:gd name="T15" fmla="*/ 49 h 50"/>
                  <a:gd name="T16" fmla="*/ 51 w 103"/>
                  <a:gd name="T17" fmla="*/ 50 h 50"/>
                  <a:gd name="T18" fmla="*/ 40 w 103"/>
                  <a:gd name="T19" fmla="*/ 49 h 50"/>
                  <a:gd name="T20" fmla="*/ 29 w 103"/>
                  <a:gd name="T21" fmla="*/ 45 h 50"/>
                  <a:gd name="T22" fmla="*/ 20 w 103"/>
                  <a:gd name="T23" fmla="*/ 39 h 50"/>
                  <a:gd name="T24" fmla="*/ 11 w 103"/>
                  <a:gd name="T25" fmla="*/ 31 h 50"/>
                  <a:gd name="T26" fmla="*/ 5 w 103"/>
                  <a:gd name="T27" fmla="*/ 22 h 50"/>
                  <a:gd name="T28" fmla="*/ 1 w 103"/>
                  <a:gd name="T29" fmla="*/ 11 h 50"/>
                  <a:gd name="T30" fmla="*/ 0 w 103"/>
                  <a:gd name="T31" fmla="*/ 0 h 50"/>
                  <a:gd name="T32" fmla="*/ 51 w 103"/>
                  <a:gd name="T33"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50">
                    <a:moveTo>
                      <a:pt x="51" y="0"/>
                    </a:moveTo>
                    <a:lnTo>
                      <a:pt x="103" y="0"/>
                    </a:lnTo>
                    <a:lnTo>
                      <a:pt x="101" y="11"/>
                    </a:lnTo>
                    <a:lnTo>
                      <a:pt x="96" y="22"/>
                    </a:lnTo>
                    <a:lnTo>
                      <a:pt x="90" y="31"/>
                    </a:lnTo>
                    <a:lnTo>
                      <a:pt x="82" y="39"/>
                    </a:lnTo>
                    <a:lnTo>
                      <a:pt x="73" y="45"/>
                    </a:lnTo>
                    <a:lnTo>
                      <a:pt x="62" y="49"/>
                    </a:lnTo>
                    <a:lnTo>
                      <a:pt x="51" y="50"/>
                    </a:lnTo>
                    <a:lnTo>
                      <a:pt x="40" y="49"/>
                    </a:lnTo>
                    <a:lnTo>
                      <a:pt x="29" y="45"/>
                    </a:lnTo>
                    <a:lnTo>
                      <a:pt x="20" y="39"/>
                    </a:lnTo>
                    <a:lnTo>
                      <a:pt x="11" y="31"/>
                    </a:lnTo>
                    <a:lnTo>
                      <a:pt x="5" y="22"/>
                    </a:lnTo>
                    <a:lnTo>
                      <a:pt x="1" y="11"/>
                    </a:lnTo>
                    <a:lnTo>
                      <a:pt x="0" y="0"/>
                    </a:lnTo>
                    <a:lnTo>
                      <a:pt x="5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7" name="未知"/>
              <p:cNvSpPr>
                <a:spLocks noChangeAspect="1"/>
              </p:cNvSpPr>
              <p:nvPr/>
            </p:nvSpPr>
            <p:spPr bwMode="auto">
              <a:xfrm>
                <a:off x="1838" y="1512"/>
                <a:ext cx="19" cy="7"/>
              </a:xfrm>
              <a:custGeom>
                <a:avLst/>
                <a:gdLst>
                  <a:gd name="T0" fmla="*/ 103 w 103"/>
                  <a:gd name="T1" fmla="*/ 0 h 50"/>
                  <a:gd name="T2" fmla="*/ 101 w 103"/>
                  <a:gd name="T3" fmla="*/ 11 h 50"/>
                  <a:gd name="T4" fmla="*/ 96 w 103"/>
                  <a:gd name="T5" fmla="*/ 22 h 50"/>
                  <a:gd name="T6" fmla="*/ 90 w 103"/>
                  <a:gd name="T7" fmla="*/ 31 h 50"/>
                  <a:gd name="T8" fmla="*/ 82 w 103"/>
                  <a:gd name="T9" fmla="*/ 39 h 50"/>
                  <a:gd name="T10" fmla="*/ 73 w 103"/>
                  <a:gd name="T11" fmla="*/ 45 h 50"/>
                  <a:gd name="T12" fmla="*/ 62 w 103"/>
                  <a:gd name="T13" fmla="*/ 49 h 50"/>
                  <a:gd name="T14" fmla="*/ 51 w 103"/>
                  <a:gd name="T15" fmla="*/ 50 h 50"/>
                  <a:gd name="T16" fmla="*/ 40 w 103"/>
                  <a:gd name="T17" fmla="*/ 49 h 50"/>
                  <a:gd name="T18" fmla="*/ 29 w 103"/>
                  <a:gd name="T19" fmla="*/ 45 h 50"/>
                  <a:gd name="T20" fmla="*/ 20 w 103"/>
                  <a:gd name="T21" fmla="*/ 39 h 50"/>
                  <a:gd name="T22" fmla="*/ 11 w 103"/>
                  <a:gd name="T23" fmla="*/ 31 h 50"/>
                  <a:gd name="T24" fmla="*/ 5 w 103"/>
                  <a:gd name="T25" fmla="*/ 22 h 50"/>
                  <a:gd name="T26" fmla="*/ 1 w 103"/>
                  <a:gd name="T27" fmla="*/ 11 h 50"/>
                  <a:gd name="T28" fmla="*/ 0 w 103"/>
                  <a:gd name="T29"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3" h="50">
                    <a:moveTo>
                      <a:pt x="103" y="0"/>
                    </a:moveTo>
                    <a:lnTo>
                      <a:pt x="101" y="11"/>
                    </a:lnTo>
                    <a:lnTo>
                      <a:pt x="96" y="22"/>
                    </a:lnTo>
                    <a:lnTo>
                      <a:pt x="90" y="31"/>
                    </a:lnTo>
                    <a:lnTo>
                      <a:pt x="82" y="39"/>
                    </a:lnTo>
                    <a:lnTo>
                      <a:pt x="73" y="45"/>
                    </a:lnTo>
                    <a:lnTo>
                      <a:pt x="62" y="49"/>
                    </a:lnTo>
                    <a:lnTo>
                      <a:pt x="51" y="50"/>
                    </a:lnTo>
                    <a:lnTo>
                      <a:pt x="40" y="49"/>
                    </a:lnTo>
                    <a:lnTo>
                      <a:pt x="29" y="45"/>
                    </a:lnTo>
                    <a:lnTo>
                      <a:pt x="20" y="39"/>
                    </a:lnTo>
                    <a:lnTo>
                      <a:pt x="11" y="31"/>
                    </a:lnTo>
                    <a:lnTo>
                      <a:pt x="5" y="22"/>
                    </a:lnTo>
                    <a:lnTo>
                      <a:pt x="1" y="11"/>
                    </a:lnTo>
                    <a:lnTo>
                      <a:pt x="0"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8" name="未知"/>
              <p:cNvSpPr>
                <a:spLocks noChangeAspect="1"/>
              </p:cNvSpPr>
              <p:nvPr/>
            </p:nvSpPr>
            <p:spPr bwMode="auto">
              <a:xfrm>
                <a:off x="1838" y="1505"/>
                <a:ext cx="16" cy="13"/>
              </a:xfrm>
              <a:custGeom>
                <a:avLst/>
                <a:gdLst>
                  <a:gd name="T0" fmla="*/ 51 w 86"/>
                  <a:gd name="T1" fmla="*/ 51 h 87"/>
                  <a:gd name="T2" fmla="*/ 16 w 86"/>
                  <a:gd name="T3" fmla="*/ 87 h 87"/>
                  <a:gd name="T4" fmla="*/ 8 w 86"/>
                  <a:gd name="T5" fmla="*/ 78 h 87"/>
                  <a:gd name="T6" fmla="*/ 3 w 86"/>
                  <a:gd name="T7" fmla="*/ 68 h 87"/>
                  <a:gd name="T8" fmla="*/ 0 w 86"/>
                  <a:gd name="T9" fmla="*/ 57 h 87"/>
                  <a:gd name="T10" fmla="*/ 0 w 86"/>
                  <a:gd name="T11" fmla="*/ 46 h 87"/>
                  <a:gd name="T12" fmla="*/ 2 w 86"/>
                  <a:gd name="T13" fmla="*/ 34 h 87"/>
                  <a:gd name="T14" fmla="*/ 7 w 86"/>
                  <a:gd name="T15" fmla="*/ 24 h 87"/>
                  <a:gd name="T16" fmla="*/ 15 w 86"/>
                  <a:gd name="T17" fmla="*/ 15 h 87"/>
                  <a:gd name="T18" fmla="*/ 24 w 86"/>
                  <a:gd name="T19" fmla="*/ 8 h 87"/>
                  <a:gd name="T20" fmla="*/ 34 w 86"/>
                  <a:gd name="T21" fmla="*/ 3 h 87"/>
                  <a:gd name="T22" fmla="*/ 45 w 86"/>
                  <a:gd name="T23" fmla="*/ 0 h 87"/>
                  <a:gd name="T24" fmla="*/ 56 w 86"/>
                  <a:gd name="T25" fmla="*/ 0 h 87"/>
                  <a:gd name="T26" fmla="*/ 67 w 86"/>
                  <a:gd name="T27" fmla="*/ 2 h 87"/>
                  <a:gd name="T28" fmla="*/ 77 w 86"/>
                  <a:gd name="T29" fmla="*/ 7 h 87"/>
                  <a:gd name="T30" fmla="*/ 86 w 86"/>
                  <a:gd name="T31" fmla="*/ 14 h 87"/>
                  <a:gd name="T32" fmla="*/ 51 w 86"/>
                  <a:gd name="T33" fmla="*/ 5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6" h="87">
                    <a:moveTo>
                      <a:pt x="51" y="51"/>
                    </a:moveTo>
                    <a:lnTo>
                      <a:pt x="16" y="87"/>
                    </a:lnTo>
                    <a:lnTo>
                      <a:pt x="8" y="78"/>
                    </a:lnTo>
                    <a:lnTo>
                      <a:pt x="3" y="68"/>
                    </a:lnTo>
                    <a:lnTo>
                      <a:pt x="0" y="57"/>
                    </a:lnTo>
                    <a:lnTo>
                      <a:pt x="0" y="46"/>
                    </a:lnTo>
                    <a:lnTo>
                      <a:pt x="2" y="34"/>
                    </a:lnTo>
                    <a:lnTo>
                      <a:pt x="7" y="24"/>
                    </a:lnTo>
                    <a:lnTo>
                      <a:pt x="15" y="15"/>
                    </a:lnTo>
                    <a:lnTo>
                      <a:pt x="24" y="8"/>
                    </a:lnTo>
                    <a:lnTo>
                      <a:pt x="34" y="3"/>
                    </a:lnTo>
                    <a:lnTo>
                      <a:pt x="45" y="0"/>
                    </a:lnTo>
                    <a:lnTo>
                      <a:pt x="56" y="0"/>
                    </a:lnTo>
                    <a:lnTo>
                      <a:pt x="67" y="2"/>
                    </a:lnTo>
                    <a:lnTo>
                      <a:pt x="77" y="7"/>
                    </a:lnTo>
                    <a:lnTo>
                      <a:pt x="86" y="14"/>
                    </a:lnTo>
                    <a:lnTo>
                      <a:pt x="51" y="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9" name="未知"/>
              <p:cNvSpPr>
                <a:spLocks noChangeAspect="1"/>
              </p:cNvSpPr>
              <p:nvPr/>
            </p:nvSpPr>
            <p:spPr bwMode="auto">
              <a:xfrm>
                <a:off x="1838" y="1505"/>
                <a:ext cx="16" cy="13"/>
              </a:xfrm>
              <a:custGeom>
                <a:avLst/>
                <a:gdLst>
                  <a:gd name="T0" fmla="*/ 16 w 86"/>
                  <a:gd name="T1" fmla="*/ 87 h 87"/>
                  <a:gd name="T2" fmla="*/ 8 w 86"/>
                  <a:gd name="T3" fmla="*/ 78 h 87"/>
                  <a:gd name="T4" fmla="*/ 3 w 86"/>
                  <a:gd name="T5" fmla="*/ 68 h 87"/>
                  <a:gd name="T6" fmla="*/ 0 w 86"/>
                  <a:gd name="T7" fmla="*/ 57 h 87"/>
                  <a:gd name="T8" fmla="*/ 0 w 86"/>
                  <a:gd name="T9" fmla="*/ 46 h 87"/>
                  <a:gd name="T10" fmla="*/ 2 w 86"/>
                  <a:gd name="T11" fmla="*/ 34 h 87"/>
                  <a:gd name="T12" fmla="*/ 7 w 86"/>
                  <a:gd name="T13" fmla="*/ 24 h 87"/>
                  <a:gd name="T14" fmla="*/ 15 w 86"/>
                  <a:gd name="T15" fmla="*/ 15 h 87"/>
                  <a:gd name="T16" fmla="*/ 24 w 86"/>
                  <a:gd name="T17" fmla="*/ 8 h 87"/>
                  <a:gd name="T18" fmla="*/ 34 w 86"/>
                  <a:gd name="T19" fmla="*/ 3 h 87"/>
                  <a:gd name="T20" fmla="*/ 45 w 86"/>
                  <a:gd name="T21" fmla="*/ 0 h 87"/>
                  <a:gd name="T22" fmla="*/ 56 w 86"/>
                  <a:gd name="T23" fmla="*/ 0 h 87"/>
                  <a:gd name="T24" fmla="*/ 67 w 86"/>
                  <a:gd name="T25" fmla="*/ 2 h 87"/>
                  <a:gd name="T26" fmla="*/ 77 w 86"/>
                  <a:gd name="T27" fmla="*/ 7 h 87"/>
                  <a:gd name="T28" fmla="*/ 86 w 86"/>
                  <a:gd name="T29" fmla="*/ 14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6" h="87">
                    <a:moveTo>
                      <a:pt x="16" y="87"/>
                    </a:moveTo>
                    <a:lnTo>
                      <a:pt x="8" y="78"/>
                    </a:lnTo>
                    <a:lnTo>
                      <a:pt x="3" y="68"/>
                    </a:lnTo>
                    <a:lnTo>
                      <a:pt x="0" y="57"/>
                    </a:lnTo>
                    <a:lnTo>
                      <a:pt x="0" y="46"/>
                    </a:lnTo>
                    <a:lnTo>
                      <a:pt x="2" y="34"/>
                    </a:lnTo>
                    <a:lnTo>
                      <a:pt x="7" y="24"/>
                    </a:lnTo>
                    <a:lnTo>
                      <a:pt x="15" y="15"/>
                    </a:lnTo>
                    <a:lnTo>
                      <a:pt x="24" y="8"/>
                    </a:lnTo>
                    <a:lnTo>
                      <a:pt x="34" y="3"/>
                    </a:lnTo>
                    <a:lnTo>
                      <a:pt x="45" y="0"/>
                    </a:lnTo>
                    <a:lnTo>
                      <a:pt x="56" y="0"/>
                    </a:lnTo>
                    <a:lnTo>
                      <a:pt x="67" y="2"/>
                    </a:lnTo>
                    <a:lnTo>
                      <a:pt x="77" y="7"/>
                    </a:lnTo>
                    <a:lnTo>
                      <a:pt x="86" y="14"/>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90" name="未知"/>
              <p:cNvSpPr>
                <a:spLocks noChangeAspect="1"/>
              </p:cNvSpPr>
              <p:nvPr/>
            </p:nvSpPr>
            <p:spPr bwMode="auto">
              <a:xfrm>
                <a:off x="1841" y="1507"/>
                <a:ext cx="460" cy="375"/>
              </a:xfrm>
              <a:custGeom>
                <a:avLst/>
                <a:gdLst>
                  <a:gd name="T0" fmla="*/ 70 w 2527"/>
                  <a:gd name="T1" fmla="*/ 0 h 2479"/>
                  <a:gd name="T2" fmla="*/ 35 w 2527"/>
                  <a:gd name="T3" fmla="*/ 37 h 2479"/>
                  <a:gd name="T4" fmla="*/ 0 w 2527"/>
                  <a:gd name="T5" fmla="*/ 73 h 2479"/>
                  <a:gd name="T6" fmla="*/ 2456 w 2527"/>
                  <a:gd name="T7" fmla="*/ 2479 h 2479"/>
                  <a:gd name="T8" fmla="*/ 2492 w 2527"/>
                  <a:gd name="T9" fmla="*/ 2443 h 2479"/>
                  <a:gd name="T10" fmla="*/ 2527 w 2527"/>
                  <a:gd name="T11" fmla="*/ 2406 h 2479"/>
                  <a:gd name="T12" fmla="*/ 70 w 2527"/>
                  <a:gd name="T13" fmla="*/ 0 h 2479"/>
                </a:gdLst>
                <a:ahLst/>
                <a:cxnLst>
                  <a:cxn ang="0">
                    <a:pos x="T0" y="T1"/>
                  </a:cxn>
                  <a:cxn ang="0">
                    <a:pos x="T2" y="T3"/>
                  </a:cxn>
                  <a:cxn ang="0">
                    <a:pos x="T4" y="T5"/>
                  </a:cxn>
                  <a:cxn ang="0">
                    <a:pos x="T6" y="T7"/>
                  </a:cxn>
                  <a:cxn ang="0">
                    <a:pos x="T8" y="T9"/>
                  </a:cxn>
                  <a:cxn ang="0">
                    <a:pos x="T10" y="T11"/>
                  </a:cxn>
                  <a:cxn ang="0">
                    <a:pos x="T12" y="T13"/>
                  </a:cxn>
                </a:cxnLst>
                <a:rect l="0" t="0" r="r" b="b"/>
                <a:pathLst>
                  <a:path w="2527" h="2479">
                    <a:moveTo>
                      <a:pt x="70" y="0"/>
                    </a:moveTo>
                    <a:lnTo>
                      <a:pt x="35" y="37"/>
                    </a:lnTo>
                    <a:lnTo>
                      <a:pt x="0" y="73"/>
                    </a:lnTo>
                    <a:lnTo>
                      <a:pt x="2456" y="2479"/>
                    </a:lnTo>
                    <a:lnTo>
                      <a:pt x="2492" y="2443"/>
                    </a:lnTo>
                    <a:lnTo>
                      <a:pt x="2527" y="2406"/>
                    </a:lnTo>
                    <a:lnTo>
                      <a:pt x="7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1" name="未知"/>
              <p:cNvSpPr>
                <a:spLocks noChangeAspect="1"/>
              </p:cNvSpPr>
              <p:nvPr/>
            </p:nvSpPr>
            <p:spPr bwMode="auto">
              <a:xfrm>
                <a:off x="1841" y="1507"/>
                <a:ext cx="460" cy="375"/>
              </a:xfrm>
              <a:custGeom>
                <a:avLst/>
                <a:gdLst>
                  <a:gd name="T0" fmla="*/ 70 w 2527"/>
                  <a:gd name="T1" fmla="*/ 0 h 2479"/>
                  <a:gd name="T2" fmla="*/ 35 w 2527"/>
                  <a:gd name="T3" fmla="*/ 37 h 2479"/>
                  <a:gd name="T4" fmla="*/ 0 w 2527"/>
                  <a:gd name="T5" fmla="*/ 73 h 2479"/>
                  <a:gd name="T6" fmla="*/ 2456 w 2527"/>
                  <a:gd name="T7" fmla="*/ 2479 h 2479"/>
                  <a:gd name="T8" fmla="*/ 2492 w 2527"/>
                  <a:gd name="T9" fmla="*/ 2443 h 2479"/>
                  <a:gd name="T10" fmla="*/ 2527 w 2527"/>
                  <a:gd name="T11" fmla="*/ 2406 h 2479"/>
                  <a:gd name="T12" fmla="*/ 70 w 2527"/>
                  <a:gd name="T13" fmla="*/ 0 h 2479"/>
                </a:gdLst>
                <a:ahLst/>
                <a:cxnLst>
                  <a:cxn ang="0">
                    <a:pos x="T0" y="T1"/>
                  </a:cxn>
                  <a:cxn ang="0">
                    <a:pos x="T2" y="T3"/>
                  </a:cxn>
                  <a:cxn ang="0">
                    <a:pos x="T4" y="T5"/>
                  </a:cxn>
                  <a:cxn ang="0">
                    <a:pos x="T6" y="T7"/>
                  </a:cxn>
                  <a:cxn ang="0">
                    <a:pos x="T8" y="T9"/>
                  </a:cxn>
                  <a:cxn ang="0">
                    <a:pos x="T10" y="T11"/>
                  </a:cxn>
                  <a:cxn ang="0">
                    <a:pos x="T12" y="T13"/>
                  </a:cxn>
                </a:cxnLst>
                <a:rect l="0" t="0" r="r" b="b"/>
                <a:pathLst>
                  <a:path w="2527" h="2479">
                    <a:moveTo>
                      <a:pt x="70" y="0"/>
                    </a:moveTo>
                    <a:lnTo>
                      <a:pt x="35" y="37"/>
                    </a:lnTo>
                    <a:lnTo>
                      <a:pt x="0" y="73"/>
                    </a:lnTo>
                    <a:lnTo>
                      <a:pt x="2456" y="2479"/>
                    </a:lnTo>
                    <a:lnTo>
                      <a:pt x="2492" y="2443"/>
                    </a:lnTo>
                    <a:lnTo>
                      <a:pt x="2527" y="2406"/>
                    </a:lnTo>
                    <a:lnTo>
                      <a:pt x="70"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92" name="未知"/>
              <p:cNvSpPr>
                <a:spLocks noChangeAspect="1"/>
              </p:cNvSpPr>
              <p:nvPr/>
            </p:nvSpPr>
            <p:spPr bwMode="auto">
              <a:xfrm>
                <a:off x="2289" y="1872"/>
                <a:ext cx="15" cy="12"/>
              </a:xfrm>
              <a:custGeom>
                <a:avLst/>
                <a:gdLst>
                  <a:gd name="T0" fmla="*/ 36 w 86"/>
                  <a:gd name="T1" fmla="*/ 37 h 87"/>
                  <a:gd name="T2" fmla="*/ 71 w 86"/>
                  <a:gd name="T3" fmla="*/ 0 h 87"/>
                  <a:gd name="T4" fmla="*/ 78 w 86"/>
                  <a:gd name="T5" fmla="*/ 9 h 87"/>
                  <a:gd name="T6" fmla="*/ 83 w 86"/>
                  <a:gd name="T7" fmla="*/ 19 h 87"/>
                  <a:gd name="T8" fmla="*/ 86 w 86"/>
                  <a:gd name="T9" fmla="*/ 31 h 87"/>
                  <a:gd name="T10" fmla="*/ 86 w 86"/>
                  <a:gd name="T11" fmla="*/ 42 h 87"/>
                  <a:gd name="T12" fmla="*/ 84 w 86"/>
                  <a:gd name="T13" fmla="*/ 53 h 87"/>
                  <a:gd name="T14" fmla="*/ 79 w 86"/>
                  <a:gd name="T15" fmla="*/ 63 h 87"/>
                  <a:gd name="T16" fmla="*/ 72 w 86"/>
                  <a:gd name="T17" fmla="*/ 72 h 87"/>
                  <a:gd name="T18" fmla="*/ 63 w 86"/>
                  <a:gd name="T19" fmla="*/ 79 h 87"/>
                  <a:gd name="T20" fmla="*/ 53 w 86"/>
                  <a:gd name="T21" fmla="*/ 84 h 87"/>
                  <a:gd name="T22" fmla="*/ 42 w 86"/>
                  <a:gd name="T23" fmla="*/ 87 h 87"/>
                  <a:gd name="T24" fmla="*/ 31 w 86"/>
                  <a:gd name="T25" fmla="*/ 87 h 87"/>
                  <a:gd name="T26" fmla="*/ 19 w 86"/>
                  <a:gd name="T27" fmla="*/ 85 h 87"/>
                  <a:gd name="T28" fmla="*/ 9 w 86"/>
                  <a:gd name="T29" fmla="*/ 80 h 87"/>
                  <a:gd name="T30" fmla="*/ 0 w 86"/>
                  <a:gd name="T31" fmla="*/ 73 h 87"/>
                  <a:gd name="T32" fmla="*/ 36 w 86"/>
                  <a:gd name="T33"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6" h="87">
                    <a:moveTo>
                      <a:pt x="36" y="37"/>
                    </a:moveTo>
                    <a:lnTo>
                      <a:pt x="71" y="0"/>
                    </a:lnTo>
                    <a:lnTo>
                      <a:pt x="78" y="9"/>
                    </a:lnTo>
                    <a:lnTo>
                      <a:pt x="83" y="19"/>
                    </a:lnTo>
                    <a:lnTo>
                      <a:pt x="86" y="31"/>
                    </a:lnTo>
                    <a:lnTo>
                      <a:pt x="86" y="42"/>
                    </a:lnTo>
                    <a:lnTo>
                      <a:pt x="84" y="53"/>
                    </a:lnTo>
                    <a:lnTo>
                      <a:pt x="79" y="63"/>
                    </a:lnTo>
                    <a:lnTo>
                      <a:pt x="72" y="72"/>
                    </a:lnTo>
                    <a:lnTo>
                      <a:pt x="63" y="79"/>
                    </a:lnTo>
                    <a:lnTo>
                      <a:pt x="53" y="84"/>
                    </a:lnTo>
                    <a:lnTo>
                      <a:pt x="42" y="87"/>
                    </a:lnTo>
                    <a:lnTo>
                      <a:pt x="31" y="87"/>
                    </a:lnTo>
                    <a:lnTo>
                      <a:pt x="19" y="85"/>
                    </a:lnTo>
                    <a:lnTo>
                      <a:pt x="9" y="80"/>
                    </a:lnTo>
                    <a:lnTo>
                      <a:pt x="0" y="73"/>
                    </a:lnTo>
                    <a:lnTo>
                      <a:pt x="36"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3" name="未知"/>
              <p:cNvSpPr>
                <a:spLocks noChangeAspect="1"/>
              </p:cNvSpPr>
              <p:nvPr/>
            </p:nvSpPr>
            <p:spPr bwMode="auto">
              <a:xfrm>
                <a:off x="2289" y="1872"/>
                <a:ext cx="15" cy="12"/>
              </a:xfrm>
              <a:custGeom>
                <a:avLst/>
                <a:gdLst>
                  <a:gd name="T0" fmla="*/ 71 w 86"/>
                  <a:gd name="T1" fmla="*/ 0 h 87"/>
                  <a:gd name="T2" fmla="*/ 78 w 86"/>
                  <a:gd name="T3" fmla="*/ 9 h 87"/>
                  <a:gd name="T4" fmla="*/ 83 w 86"/>
                  <a:gd name="T5" fmla="*/ 19 h 87"/>
                  <a:gd name="T6" fmla="*/ 86 w 86"/>
                  <a:gd name="T7" fmla="*/ 31 h 87"/>
                  <a:gd name="T8" fmla="*/ 86 w 86"/>
                  <a:gd name="T9" fmla="*/ 42 h 87"/>
                  <a:gd name="T10" fmla="*/ 84 w 86"/>
                  <a:gd name="T11" fmla="*/ 53 h 87"/>
                  <a:gd name="T12" fmla="*/ 79 w 86"/>
                  <a:gd name="T13" fmla="*/ 63 h 87"/>
                  <a:gd name="T14" fmla="*/ 72 w 86"/>
                  <a:gd name="T15" fmla="*/ 72 h 87"/>
                  <a:gd name="T16" fmla="*/ 63 w 86"/>
                  <a:gd name="T17" fmla="*/ 79 h 87"/>
                  <a:gd name="T18" fmla="*/ 53 w 86"/>
                  <a:gd name="T19" fmla="*/ 84 h 87"/>
                  <a:gd name="T20" fmla="*/ 42 w 86"/>
                  <a:gd name="T21" fmla="*/ 87 h 87"/>
                  <a:gd name="T22" fmla="*/ 31 w 86"/>
                  <a:gd name="T23" fmla="*/ 87 h 87"/>
                  <a:gd name="T24" fmla="*/ 19 w 86"/>
                  <a:gd name="T25" fmla="*/ 85 h 87"/>
                  <a:gd name="T26" fmla="*/ 9 w 86"/>
                  <a:gd name="T27" fmla="*/ 80 h 87"/>
                  <a:gd name="T28" fmla="*/ 0 w 86"/>
                  <a:gd name="T29" fmla="*/ 73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6" h="87">
                    <a:moveTo>
                      <a:pt x="71" y="0"/>
                    </a:moveTo>
                    <a:lnTo>
                      <a:pt x="78" y="9"/>
                    </a:lnTo>
                    <a:lnTo>
                      <a:pt x="83" y="19"/>
                    </a:lnTo>
                    <a:lnTo>
                      <a:pt x="86" y="31"/>
                    </a:lnTo>
                    <a:lnTo>
                      <a:pt x="86" y="42"/>
                    </a:lnTo>
                    <a:lnTo>
                      <a:pt x="84" y="53"/>
                    </a:lnTo>
                    <a:lnTo>
                      <a:pt x="79" y="63"/>
                    </a:lnTo>
                    <a:lnTo>
                      <a:pt x="72" y="72"/>
                    </a:lnTo>
                    <a:lnTo>
                      <a:pt x="63" y="79"/>
                    </a:lnTo>
                    <a:lnTo>
                      <a:pt x="53" y="84"/>
                    </a:lnTo>
                    <a:lnTo>
                      <a:pt x="42" y="87"/>
                    </a:lnTo>
                    <a:lnTo>
                      <a:pt x="31" y="87"/>
                    </a:lnTo>
                    <a:lnTo>
                      <a:pt x="19" y="85"/>
                    </a:lnTo>
                    <a:lnTo>
                      <a:pt x="9" y="80"/>
                    </a:lnTo>
                    <a:lnTo>
                      <a:pt x="0" y="73"/>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94" name="未知"/>
              <p:cNvSpPr>
                <a:spLocks noChangeAspect="1"/>
              </p:cNvSpPr>
              <p:nvPr/>
            </p:nvSpPr>
            <p:spPr bwMode="auto">
              <a:xfrm>
                <a:off x="2286" y="891"/>
                <a:ext cx="9" cy="15"/>
              </a:xfrm>
              <a:custGeom>
                <a:avLst/>
                <a:gdLst>
                  <a:gd name="T0" fmla="*/ 51 w 51"/>
                  <a:gd name="T1" fmla="*/ 52 h 102"/>
                  <a:gd name="T2" fmla="*/ 51 w 51"/>
                  <a:gd name="T3" fmla="*/ 102 h 102"/>
                  <a:gd name="T4" fmla="*/ 39 w 51"/>
                  <a:gd name="T5" fmla="*/ 101 h 102"/>
                  <a:gd name="T6" fmla="*/ 28 w 51"/>
                  <a:gd name="T7" fmla="*/ 97 h 102"/>
                  <a:gd name="T8" fmla="*/ 19 w 51"/>
                  <a:gd name="T9" fmla="*/ 91 h 102"/>
                  <a:gd name="T10" fmla="*/ 11 w 51"/>
                  <a:gd name="T11" fmla="*/ 83 h 102"/>
                  <a:gd name="T12" fmla="*/ 5 w 51"/>
                  <a:gd name="T13" fmla="*/ 74 h 102"/>
                  <a:gd name="T14" fmla="*/ 1 w 51"/>
                  <a:gd name="T15" fmla="*/ 63 h 102"/>
                  <a:gd name="T16" fmla="*/ 0 w 51"/>
                  <a:gd name="T17" fmla="*/ 52 h 102"/>
                  <a:gd name="T18" fmla="*/ 1 w 51"/>
                  <a:gd name="T19" fmla="*/ 41 h 102"/>
                  <a:gd name="T20" fmla="*/ 5 w 51"/>
                  <a:gd name="T21" fmla="*/ 30 h 102"/>
                  <a:gd name="T22" fmla="*/ 11 w 51"/>
                  <a:gd name="T23" fmla="*/ 20 h 102"/>
                  <a:gd name="T24" fmla="*/ 19 w 51"/>
                  <a:gd name="T25" fmla="*/ 12 h 102"/>
                  <a:gd name="T26" fmla="*/ 28 w 51"/>
                  <a:gd name="T27" fmla="*/ 6 h 102"/>
                  <a:gd name="T28" fmla="*/ 39 w 51"/>
                  <a:gd name="T29" fmla="*/ 2 h 102"/>
                  <a:gd name="T30" fmla="*/ 51 w 51"/>
                  <a:gd name="T31" fmla="*/ 0 h 102"/>
                  <a:gd name="T32" fmla="*/ 51 w 51"/>
                  <a:gd name="T33" fmla="*/ 5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1" h="102">
                    <a:moveTo>
                      <a:pt x="51" y="52"/>
                    </a:moveTo>
                    <a:lnTo>
                      <a:pt x="51" y="102"/>
                    </a:lnTo>
                    <a:lnTo>
                      <a:pt x="39" y="101"/>
                    </a:lnTo>
                    <a:lnTo>
                      <a:pt x="28" y="97"/>
                    </a:lnTo>
                    <a:lnTo>
                      <a:pt x="19" y="91"/>
                    </a:lnTo>
                    <a:lnTo>
                      <a:pt x="11" y="83"/>
                    </a:lnTo>
                    <a:lnTo>
                      <a:pt x="5" y="74"/>
                    </a:lnTo>
                    <a:lnTo>
                      <a:pt x="1" y="63"/>
                    </a:lnTo>
                    <a:lnTo>
                      <a:pt x="0" y="52"/>
                    </a:lnTo>
                    <a:lnTo>
                      <a:pt x="1" y="41"/>
                    </a:lnTo>
                    <a:lnTo>
                      <a:pt x="5" y="30"/>
                    </a:lnTo>
                    <a:lnTo>
                      <a:pt x="11" y="20"/>
                    </a:lnTo>
                    <a:lnTo>
                      <a:pt x="19" y="12"/>
                    </a:lnTo>
                    <a:lnTo>
                      <a:pt x="28" y="6"/>
                    </a:lnTo>
                    <a:lnTo>
                      <a:pt x="39" y="2"/>
                    </a:lnTo>
                    <a:lnTo>
                      <a:pt x="51" y="0"/>
                    </a:lnTo>
                    <a:lnTo>
                      <a:pt x="51"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5" name="未知"/>
              <p:cNvSpPr>
                <a:spLocks noChangeAspect="1"/>
              </p:cNvSpPr>
              <p:nvPr/>
            </p:nvSpPr>
            <p:spPr bwMode="auto">
              <a:xfrm>
                <a:off x="2286" y="891"/>
                <a:ext cx="9" cy="15"/>
              </a:xfrm>
              <a:custGeom>
                <a:avLst/>
                <a:gdLst>
                  <a:gd name="T0" fmla="*/ 51 w 51"/>
                  <a:gd name="T1" fmla="*/ 102 h 102"/>
                  <a:gd name="T2" fmla="*/ 39 w 51"/>
                  <a:gd name="T3" fmla="*/ 101 h 102"/>
                  <a:gd name="T4" fmla="*/ 28 w 51"/>
                  <a:gd name="T5" fmla="*/ 97 h 102"/>
                  <a:gd name="T6" fmla="*/ 19 w 51"/>
                  <a:gd name="T7" fmla="*/ 91 h 102"/>
                  <a:gd name="T8" fmla="*/ 11 w 51"/>
                  <a:gd name="T9" fmla="*/ 83 h 102"/>
                  <a:gd name="T10" fmla="*/ 5 w 51"/>
                  <a:gd name="T11" fmla="*/ 74 h 102"/>
                  <a:gd name="T12" fmla="*/ 1 w 51"/>
                  <a:gd name="T13" fmla="*/ 63 h 102"/>
                  <a:gd name="T14" fmla="*/ 0 w 51"/>
                  <a:gd name="T15" fmla="*/ 52 h 102"/>
                  <a:gd name="T16" fmla="*/ 1 w 51"/>
                  <a:gd name="T17" fmla="*/ 41 h 102"/>
                  <a:gd name="T18" fmla="*/ 5 w 51"/>
                  <a:gd name="T19" fmla="*/ 30 h 102"/>
                  <a:gd name="T20" fmla="*/ 11 w 51"/>
                  <a:gd name="T21" fmla="*/ 20 h 102"/>
                  <a:gd name="T22" fmla="*/ 19 w 51"/>
                  <a:gd name="T23" fmla="*/ 12 h 102"/>
                  <a:gd name="T24" fmla="*/ 28 w 51"/>
                  <a:gd name="T25" fmla="*/ 6 h 102"/>
                  <a:gd name="T26" fmla="*/ 39 w 51"/>
                  <a:gd name="T27" fmla="*/ 2 h 102"/>
                  <a:gd name="T28" fmla="*/ 51 w 51"/>
                  <a:gd name="T29"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1" h="102">
                    <a:moveTo>
                      <a:pt x="51" y="102"/>
                    </a:moveTo>
                    <a:lnTo>
                      <a:pt x="39" y="101"/>
                    </a:lnTo>
                    <a:lnTo>
                      <a:pt x="28" y="97"/>
                    </a:lnTo>
                    <a:lnTo>
                      <a:pt x="19" y="91"/>
                    </a:lnTo>
                    <a:lnTo>
                      <a:pt x="11" y="83"/>
                    </a:lnTo>
                    <a:lnTo>
                      <a:pt x="5" y="74"/>
                    </a:lnTo>
                    <a:lnTo>
                      <a:pt x="1" y="63"/>
                    </a:lnTo>
                    <a:lnTo>
                      <a:pt x="0" y="52"/>
                    </a:lnTo>
                    <a:lnTo>
                      <a:pt x="1" y="41"/>
                    </a:lnTo>
                    <a:lnTo>
                      <a:pt x="5" y="30"/>
                    </a:lnTo>
                    <a:lnTo>
                      <a:pt x="11" y="20"/>
                    </a:lnTo>
                    <a:lnTo>
                      <a:pt x="19" y="12"/>
                    </a:lnTo>
                    <a:lnTo>
                      <a:pt x="28" y="6"/>
                    </a:lnTo>
                    <a:lnTo>
                      <a:pt x="39" y="2"/>
                    </a:lnTo>
                    <a:lnTo>
                      <a:pt x="51"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96" name="未知"/>
              <p:cNvSpPr>
                <a:spLocks noChangeAspect="1"/>
              </p:cNvSpPr>
              <p:nvPr/>
            </p:nvSpPr>
            <p:spPr bwMode="auto">
              <a:xfrm>
                <a:off x="2295" y="891"/>
                <a:ext cx="178" cy="15"/>
              </a:xfrm>
              <a:custGeom>
                <a:avLst/>
                <a:gdLst>
                  <a:gd name="T0" fmla="*/ 0 w 976"/>
                  <a:gd name="T1" fmla="*/ 0 h 102"/>
                  <a:gd name="T2" fmla="*/ 0 w 976"/>
                  <a:gd name="T3" fmla="*/ 52 h 102"/>
                  <a:gd name="T4" fmla="*/ 0 w 976"/>
                  <a:gd name="T5" fmla="*/ 102 h 102"/>
                  <a:gd name="T6" fmla="*/ 976 w 976"/>
                  <a:gd name="T7" fmla="*/ 102 h 102"/>
                  <a:gd name="T8" fmla="*/ 976 w 976"/>
                  <a:gd name="T9" fmla="*/ 52 h 102"/>
                  <a:gd name="T10" fmla="*/ 976 w 976"/>
                  <a:gd name="T11" fmla="*/ 0 h 102"/>
                  <a:gd name="T12" fmla="*/ 0 w 976"/>
                  <a:gd name="T13" fmla="*/ 0 h 102"/>
                </a:gdLst>
                <a:ahLst/>
                <a:cxnLst>
                  <a:cxn ang="0">
                    <a:pos x="T0" y="T1"/>
                  </a:cxn>
                  <a:cxn ang="0">
                    <a:pos x="T2" y="T3"/>
                  </a:cxn>
                  <a:cxn ang="0">
                    <a:pos x="T4" y="T5"/>
                  </a:cxn>
                  <a:cxn ang="0">
                    <a:pos x="T6" y="T7"/>
                  </a:cxn>
                  <a:cxn ang="0">
                    <a:pos x="T8" y="T9"/>
                  </a:cxn>
                  <a:cxn ang="0">
                    <a:pos x="T10" y="T11"/>
                  </a:cxn>
                  <a:cxn ang="0">
                    <a:pos x="T12" y="T13"/>
                  </a:cxn>
                </a:cxnLst>
                <a:rect l="0" t="0" r="r" b="b"/>
                <a:pathLst>
                  <a:path w="976" h="102">
                    <a:moveTo>
                      <a:pt x="0" y="0"/>
                    </a:moveTo>
                    <a:lnTo>
                      <a:pt x="0" y="52"/>
                    </a:lnTo>
                    <a:lnTo>
                      <a:pt x="0" y="102"/>
                    </a:lnTo>
                    <a:lnTo>
                      <a:pt x="976" y="102"/>
                    </a:lnTo>
                    <a:lnTo>
                      <a:pt x="976" y="52"/>
                    </a:lnTo>
                    <a:lnTo>
                      <a:pt x="976"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7" name="未知"/>
              <p:cNvSpPr>
                <a:spLocks noChangeAspect="1"/>
              </p:cNvSpPr>
              <p:nvPr/>
            </p:nvSpPr>
            <p:spPr bwMode="auto">
              <a:xfrm>
                <a:off x="2295" y="891"/>
                <a:ext cx="178" cy="15"/>
              </a:xfrm>
              <a:custGeom>
                <a:avLst/>
                <a:gdLst>
                  <a:gd name="T0" fmla="*/ 0 w 976"/>
                  <a:gd name="T1" fmla="*/ 0 h 102"/>
                  <a:gd name="T2" fmla="*/ 0 w 976"/>
                  <a:gd name="T3" fmla="*/ 52 h 102"/>
                  <a:gd name="T4" fmla="*/ 0 w 976"/>
                  <a:gd name="T5" fmla="*/ 102 h 102"/>
                  <a:gd name="T6" fmla="*/ 976 w 976"/>
                  <a:gd name="T7" fmla="*/ 102 h 102"/>
                  <a:gd name="T8" fmla="*/ 976 w 976"/>
                  <a:gd name="T9" fmla="*/ 52 h 102"/>
                  <a:gd name="T10" fmla="*/ 976 w 976"/>
                  <a:gd name="T11" fmla="*/ 0 h 102"/>
                  <a:gd name="T12" fmla="*/ 0 w 976"/>
                  <a:gd name="T13" fmla="*/ 0 h 102"/>
                </a:gdLst>
                <a:ahLst/>
                <a:cxnLst>
                  <a:cxn ang="0">
                    <a:pos x="T0" y="T1"/>
                  </a:cxn>
                  <a:cxn ang="0">
                    <a:pos x="T2" y="T3"/>
                  </a:cxn>
                  <a:cxn ang="0">
                    <a:pos x="T4" y="T5"/>
                  </a:cxn>
                  <a:cxn ang="0">
                    <a:pos x="T6" y="T7"/>
                  </a:cxn>
                  <a:cxn ang="0">
                    <a:pos x="T8" y="T9"/>
                  </a:cxn>
                  <a:cxn ang="0">
                    <a:pos x="T10" y="T11"/>
                  </a:cxn>
                  <a:cxn ang="0">
                    <a:pos x="T12" y="T13"/>
                  </a:cxn>
                </a:cxnLst>
                <a:rect l="0" t="0" r="r" b="b"/>
                <a:pathLst>
                  <a:path w="976" h="102">
                    <a:moveTo>
                      <a:pt x="0" y="0"/>
                    </a:moveTo>
                    <a:lnTo>
                      <a:pt x="0" y="52"/>
                    </a:lnTo>
                    <a:lnTo>
                      <a:pt x="0" y="102"/>
                    </a:lnTo>
                    <a:lnTo>
                      <a:pt x="976" y="102"/>
                    </a:lnTo>
                    <a:lnTo>
                      <a:pt x="976" y="52"/>
                    </a:lnTo>
                    <a:lnTo>
                      <a:pt x="976" y="0"/>
                    </a:lnTo>
                    <a:lnTo>
                      <a:pt x="0"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98" name="未知"/>
              <p:cNvSpPr>
                <a:spLocks noChangeAspect="1"/>
              </p:cNvSpPr>
              <p:nvPr/>
            </p:nvSpPr>
            <p:spPr bwMode="auto">
              <a:xfrm>
                <a:off x="2473" y="891"/>
                <a:ext cx="9" cy="15"/>
              </a:xfrm>
              <a:custGeom>
                <a:avLst/>
                <a:gdLst>
                  <a:gd name="T0" fmla="*/ 0 w 52"/>
                  <a:gd name="T1" fmla="*/ 52 h 102"/>
                  <a:gd name="T2" fmla="*/ 0 w 52"/>
                  <a:gd name="T3" fmla="*/ 0 h 102"/>
                  <a:gd name="T4" fmla="*/ 12 w 52"/>
                  <a:gd name="T5" fmla="*/ 2 h 102"/>
                  <a:gd name="T6" fmla="*/ 23 w 52"/>
                  <a:gd name="T7" fmla="*/ 6 h 102"/>
                  <a:gd name="T8" fmla="*/ 32 w 52"/>
                  <a:gd name="T9" fmla="*/ 12 h 102"/>
                  <a:gd name="T10" fmla="*/ 40 w 52"/>
                  <a:gd name="T11" fmla="*/ 20 h 102"/>
                  <a:gd name="T12" fmla="*/ 46 w 52"/>
                  <a:gd name="T13" fmla="*/ 30 h 102"/>
                  <a:gd name="T14" fmla="*/ 50 w 52"/>
                  <a:gd name="T15" fmla="*/ 41 h 102"/>
                  <a:gd name="T16" fmla="*/ 52 w 52"/>
                  <a:gd name="T17" fmla="*/ 52 h 102"/>
                  <a:gd name="T18" fmla="*/ 50 w 52"/>
                  <a:gd name="T19" fmla="*/ 63 h 102"/>
                  <a:gd name="T20" fmla="*/ 46 w 52"/>
                  <a:gd name="T21" fmla="*/ 74 h 102"/>
                  <a:gd name="T22" fmla="*/ 40 w 52"/>
                  <a:gd name="T23" fmla="*/ 83 h 102"/>
                  <a:gd name="T24" fmla="*/ 32 w 52"/>
                  <a:gd name="T25" fmla="*/ 91 h 102"/>
                  <a:gd name="T26" fmla="*/ 23 w 52"/>
                  <a:gd name="T27" fmla="*/ 97 h 102"/>
                  <a:gd name="T28" fmla="*/ 12 w 52"/>
                  <a:gd name="T29" fmla="*/ 101 h 102"/>
                  <a:gd name="T30" fmla="*/ 0 w 52"/>
                  <a:gd name="T31" fmla="*/ 102 h 102"/>
                  <a:gd name="T32" fmla="*/ 0 w 52"/>
                  <a:gd name="T33" fmla="*/ 5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102">
                    <a:moveTo>
                      <a:pt x="0" y="52"/>
                    </a:moveTo>
                    <a:lnTo>
                      <a:pt x="0" y="0"/>
                    </a:lnTo>
                    <a:lnTo>
                      <a:pt x="12" y="2"/>
                    </a:lnTo>
                    <a:lnTo>
                      <a:pt x="23" y="6"/>
                    </a:lnTo>
                    <a:lnTo>
                      <a:pt x="32" y="12"/>
                    </a:lnTo>
                    <a:lnTo>
                      <a:pt x="40" y="20"/>
                    </a:lnTo>
                    <a:lnTo>
                      <a:pt x="46" y="30"/>
                    </a:lnTo>
                    <a:lnTo>
                      <a:pt x="50" y="41"/>
                    </a:lnTo>
                    <a:lnTo>
                      <a:pt x="52" y="52"/>
                    </a:lnTo>
                    <a:lnTo>
                      <a:pt x="50" y="63"/>
                    </a:lnTo>
                    <a:lnTo>
                      <a:pt x="46" y="74"/>
                    </a:lnTo>
                    <a:lnTo>
                      <a:pt x="40" y="83"/>
                    </a:lnTo>
                    <a:lnTo>
                      <a:pt x="32" y="91"/>
                    </a:lnTo>
                    <a:lnTo>
                      <a:pt x="23" y="97"/>
                    </a:lnTo>
                    <a:lnTo>
                      <a:pt x="12" y="101"/>
                    </a:lnTo>
                    <a:lnTo>
                      <a:pt x="0" y="102"/>
                    </a:lnTo>
                    <a:lnTo>
                      <a:pt x="0"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9" name="未知"/>
              <p:cNvSpPr>
                <a:spLocks noChangeAspect="1"/>
              </p:cNvSpPr>
              <p:nvPr/>
            </p:nvSpPr>
            <p:spPr bwMode="auto">
              <a:xfrm>
                <a:off x="2473" y="891"/>
                <a:ext cx="9" cy="15"/>
              </a:xfrm>
              <a:custGeom>
                <a:avLst/>
                <a:gdLst>
                  <a:gd name="T0" fmla="*/ 0 w 52"/>
                  <a:gd name="T1" fmla="*/ 0 h 102"/>
                  <a:gd name="T2" fmla="*/ 12 w 52"/>
                  <a:gd name="T3" fmla="*/ 2 h 102"/>
                  <a:gd name="T4" fmla="*/ 23 w 52"/>
                  <a:gd name="T5" fmla="*/ 6 h 102"/>
                  <a:gd name="T6" fmla="*/ 32 w 52"/>
                  <a:gd name="T7" fmla="*/ 12 h 102"/>
                  <a:gd name="T8" fmla="*/ 40 w 52"/>
                  <a:gd name="T9" fmla="*/ 20 h 102"/>
                  <a:gd name="T10" fmla="*/ 46 w 52"/>
                  <a:gd name="T11" fmla="*/ 30 h 102"/>
                  <a:gd name="T12" fmla="*/ 50 w 52"/>
                  <a:gd name="T13" fmla="*/ 41 h 102"/>
                  <a:gd name="T14" fmla="*/ 52 w 52"/>
                  <a:gd name="T15" fmla="*/ 52 h 102"/>
                  <a:gd name="T16" fmla="*/ 50 w 52"/>
                  <a:gd name="T17" fmla="*/ 63 h 102"/>
                  <a:gd name="T18" fmla="*/ 46 w 52"/>
                  <a:gd name="T19" fmla="*/ 74 h 102"/>
                  <a:gd name="T20" fmla="*/ 40 w 52"/>
                  <a:gd name="T21" fmla="*/ 83 h 102"/>
                  <a:gd name="T22" fmla="*/ 32 w 52"/>
                  <a:gd name="T23" fmla="*/ 91 h 102"/>
                  <a:gd name="T24" fmla="*/ 23 w 52"/>
                  <a:gd name="T25" fmla="*/ 97 h 102"/>
                  <a:gd name="T26" fmla="*/ 12 w 52"/>
                  <a:gd name="T27" fmla="*/ 101 h 102"/>
                  <a:gd name="T28" fmla="*/ 0 w 52"/>
                  <a:gd name="T2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2" h="102">
                    <a:moveTo>
                      <a:pt x="0" y="0"/>
                    </a:moveTo>
                    <a:lnTo>
                      <a:pt x="12" y="2"/>
                    </a:lnTo>
                    <a:lnTo>
                      <a:pt x="23" y="6"/>
                    </a:lnTo>
                    <a:lnTo>
                      <a:pt x="32" y="12"/>
                    </a:lnTo>
                    <a:lnTo>
                      <a:pt x="40" y="20"/>
                    </a:lnTo>
                    <a:lnTo>
                      <a:pt x="46" y="30"/>
                    </a:lnTo>
                    <a:lnTo>
                      <a:pt x="50" y="41"/>
                    </a:lnTo>
                    <a:lnTo>
                      <a:pt x="52" y="52"/>
                    </a:lnTo>
                    <a:lnTo>
                      <a:pt x="50" y="63"/>
                    </a:lnTo>
                    <a:lnTo>
                      <a:pt x="46" y="74"/>
                    </a:lnTo>
                    <a:lnTo>
                      <a:pt x="40" y="83"/>
                    </a:lnTo>
                    <a:lnTo>
                      <a:pt x="32" y="91"/>
                    </a:lnTo>
                    <a:lnTo>
                      <a:pt x="23" y="97"/>
                    </a:lnTo>
                    <a:lnTo>
                      <a:pt x="12" y="101"/>
                    </a:lnTo>
                    <a:lnTo>
                      <a:pt x="0" y="102"/>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00" name="Line 191"/>
              <p:cNvSpPr>
                <a:spLocks noChangeAspect="1" noChangeShapeType="1"/>
              </p:cNvSpPr>
              <p:nvPr/>
            </p:nvSpPr>
            <p:spPr bwMode="auto">
              <a:xfrm>
                <a:off x="2220" y="838"/>
                <a:ext cx="1" cy="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 name="未知"/>
              <p:cNvSpPr>
                <a:spLocks noChangeAspect="1"/>
              </p:cNvSpPr>
              <p:nvPr/>
            </p:nvSpPr>
            <p:spPr bwMode="auto">
              <a:xfrm>
                <a:off x="1847" y="526"/>
                <a:ext cx="10" cy="15"/>
              </a:xfrm>
              <a:custGeom>
                <a:avLst/>
                <a:gdLst>
                  <a:gd name="T0" fmla="*/ 0 w 52"/>
                  <a:gd name="T1" fmla="*/ 52 h 102"/>
                  <a:gd name="T2" fmla="*/ 0 w 52"/>
                  <a:gd name="T3" fmla="*/ 0 h 102"/>
                  <a:gd name="T4" fmla="*/ 11 w 52"/>
                  <a:gd name="T5" fmla="*/ 2 h 102"/>
                  <a:gd name="T6" fmla="*/ 22 w 52"/>
                  <a:gd name="T7" fmla="*/ 6 h 102"/>
                  <a:gd name="T8" fmla="*/ 31 w 52"/>
                  <a:gd name="T9" fmla="*/ 12 h 102"/>
                  <a:gd name="T10" fmla="*/ 39 w 52"/>
                  <a:gd name="T11" fmla="*/ 20 h 102"/>
                  <a:gd name="T12" fmla="*/ 45 w 52"/>
                  <a:gd name="T13" fmla="*/ 29 h 102"/>
                  <a:gd name="T14" fmla="*/ 50 w 52"/>
                  <a:gd name="T15" fmla="*/ 41 h 102"/>
                  <a:gd name="T16" fmla="*/ 52 w 52"/>
                  <a:gd name="T17" fmla="*/ 52 h 102"/>
                  <a:gd name="T18" fmla="*/ 50 w 52"/>
                  <a:gd name="T19" fmla="*/ 63 h 102"/>
                  <a:gd name="T20" fmla="*/ 45 w 52"/>
                  <a:gd name="T21" fmla="*/ 74 h 102"/>
                  <a:gd name="T22" fmla="*/ 39 w 52"/>
                  <a:gd name="T23" fmla="*/ 83 h 102"/>
                  <a:gd name="T24" fmla="*/ 31 w 52"/>
                  <a:gd name="T25" fmla="*/ 91 h 102"/>
                  <a:gd name="T26" fmla="*/ 22 w 52"/>
                  <a:gd name="T27" fmla="*/ 97 h 102"/>
                  <a:gd name="T28" fmla="*/ 11 w 52"/>
                  <a:gd name="T29" fmla="*/ 101 h 102"/>
                  <a:gd name="T30" fmla="*/ 0 w 52"/>
                  <a:gd name="T31" fmla="*/ 102 h 102"/>
                  <a:gd name="T32" fmla="*/ 0 w 52"/>
                  <a:gd name="T33" fmla="*/ 5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102">
                    <a:moveTo>
                      <a:pt x="0" y="52"/>
                    </a:moveTo>
                    <a:lnTo>
                      <a:pt x="0" y="0"/>
                    </a:lnTo>
                    <a:lnTo>
                      <a:pt x="11" y="2"/>
                    </a:lnTo>
                    <a:lnTo>
                      <a:pt x="22" y="6"/>
                    </a:lnTo>
                    <a:lnTo>
                      <a:pt x="31" y="12"/>
                    </a:lnTo>
                    <a:lnTo>
                      <a:pt x="39" y="20"/>
                    </a:lnTo>
                    <a:lnTo>
                      <a:pt x="45" y="29"/>
                    </a:lnTo>
                    <a:lnTo>
                      <a:pt x="50" y="41"/>
                    </a:lnTo>
                    <a:lnTo>
                      <a:pt x="52" y="52"/>
                    </a:lnTo>
                    <a:lnTo>
                      <a:pt x="50" y="63"/>
                    </a:lnTo>
                    <a:lnTo>
                      <a:pt x="45" y="74"/>
                    </a:lnTo>
                    <a:lnTo>
                      <a:pt x="39" y="83"/>
                    </a:lnTo>
                    <a:lnTo>
                      <a:pt x="31" y="91"/>
                    </a:lnTo>
                    <a:lnTo>
                      <a:pt x="22" y="97"/>
                    </a:lnTo>
                    <a:lnTo>
                      <a:pt x="11" y="101"/>
                    </a:lnTo>
                    <a:lnTo>
                      <a:pt x="0" y="102"/>
                    </a:lnTo>
                    <a:lnTo>
                      <a:pt x="0"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2" name="未知"/>
              <p:cNvSpPr>
                <a:spLocks noChangeAspect="1"/>
              </p:cNvSpPr>
              <p:nvPr/>
            </p:nvSpPr>
            <p:spPr bwMode="auto">
              <a:xfrm>
                <a:off x="1847" y="526"/>
                <a:ext cx="10" cy="15"/>
              </a:xfrm>
              <a:custGeom>
                <a:avLst/>
                <a:gdLst>
                  <a:gd name="T0" fmla="*/ 0 w 52"/>
                  <a:gd name="T1" fmla="*/ 0 h 102"/>
                  <a:gd name="T2" fmla="*/ 11 w 52"/>
                  <a:gd name="T3" fmla="*/ 2 h 102"/>
                  <a:gd name="T4" fmla="*/ 22 w 52"/>
                  <a:gd name="T5" fmla="*/ 6 h 102"/>
                  <a:gd name="T6" fmla="*/ 31 w 52"/>
                  <a:gd name="T7" fmla="*/ 12 h 102"/>
                  <a:gd name="T8" fmla="*/ 39 w 52"/>
                  <a:gd name="T9" fmla="*/ 20 h 102"/>
                  <a:gd name="T10" fmla="*/ 45 w 52"/>
                  <a:gd name="T11" fmla="*/ 29 h 102"/>
                  <a:gd name="T12" fmla="*/ 50 w 52"/>
                  <a:gd name="T13" fmla="*/ 41 h 102"/>
                  <a:gd name="T14" fmla="*/ 52 w 52"/>
                  <a:gd name="T15" fmla="*/ 52 h 102"/>
                  <a:gd name="T16" fmla="*/ 50 w 52"/>
                  <a:gd name="T17" fmla="*/ 63 h 102"/>
                  <a:gd name="T18" fmla="*/ 45 w 52"/>
                  <a:gd name="T19" fmla="*/ 74 h 102"/>
                  <a:gd name="T20" fmla="*/ 39 w 52"/>
                  <a:gd name="T21" fmla="*/ 83 h 102"/>
                  <a:gd name="T22" fmla="*/ 31 w 52"/>
                  <a:gd name="T23" fmla="*/ 91 h 102"/>
                  <a:gd name="T24" fmla="*/ 22 w 52"/>
                  <a:gd name="T25" fmla="*/ 97 h 102"/>
                  <a:gd name="T26" fmla="*/ 11 w 52"/>
                  <a:gd name="T27" fmla="*/ 101 h 102"/>
                  <a:gd name="T28" fmla="*/ 0 w 52"/>
                  <a:gd name="T2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2" h="102">
                    <a:moveTo>
                      <a:pt x="0" y="0"/>
                    </a:moveTo>
                    <a:lnTo>
                      <a:pt x="11" y="2"/>
                    </a:lnTo>
                    <a:lnTo>
                      <a:pt x="22" y="6"/>
                    </a:lnTo>
                    <a:lnTo>
                      <a:pt x="31" y="12"/>
                    </a:lnTo>
                    <a:lnTo>
                      <a:pt x="39" y="20"/>
                    </a:lnTo>
                    <a:lnTo>
                      <a:pt x="45" y="29"/>
                    </a:lnTo>
                    <a:lnTo>
                      <a:pt x="50" y="41"/>
                    </a:lnTo>
                    <a:lnTo>
                      <a:pt x="52" y="52"/>
                    </a:lnTo>
                    <a:lnTo>
                      <a:pt x="50" y="63"/>
                    </a:lnTo>
                    <a:lnTo>
                      <a:pt x="45" y="74"/>
                    </a:lnTo>
                    <a:lnTo>
                      <a:pt x="39" y="83"/>
                    </a:lnTo>
                    <a:lnTo>
                      <a:pt x="31" y="91"/>
                    </a:lnTo>
                    <a:lnTo>
                      <a:pt x="22" y="97"/>
                    </a:lnTo>
                    <a:lnTo>
                      <a:pt x="11" y="101"/>
                    </a:lnTo>
                    <a:lnTo>
                      <a:pt x="0" y="102"/>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03" name="未知"/>
              <p:cNvSpPr>
                <a:spLocks noChangeAspect="1"/>
              </p:cNvSpPr>
              <p:nvPr/>
            </p:nvSpPr>
            <p:spPr bwMode="auto">
              <a:xfrm>
                <a:off x="1670" y="526"/>
                <a:ext cx="177" cy="15"/>
              </a:xfrm>
              <a:custGeom>
                <a:avLst/>
                <a:gdLst>
                  <a:gd name="T0" fmla="*/ 977 w 977"/>
                  <a:gd name="T1" fmla="*/ 102 h 102"/>
                  <a:gd name="T2" fmla="*/ 977 w 977"/>
                  <a:gd name="T3" fmla="*/ 52 h 102"/>
                  <a:gd name="T4" fmla="*/ 977 w 977"/>
                  <a:gd name="T5" fmla="*/ 0 h 102"/>
                  <a:gd name="T6" fmla="*/ 0 w 977"/>
                  <a:gd name="T7" fmla="*/ 0 h 102"/>
                  <a:gd name="T8" fmla="*/ 0 w 977"/>
                  <a:gd name="T9" fmla="*/ 52 h 102"/>
                  <a:gd name="T10" fmla="*/ 0 w 977"/>
                  <a:gd name="T11" fmla="*/ 102 h 102"/>
                  <a:gd name="T12" fmla="*/ 977 w 977"/>
                  <a:gd name="T13" fmla="*/ 102 h 102"/>
                </a:gdLst>
                <a:ahLst/>
                <a:cxnLst>
                  <a:cxn ang="0">
                    <a:pos x="T0" y="T1"/>
                  </a:cxn>
                  <a:cxn ang="0">
                    <a:pos x="T2" y="T3"/>
                  </a:cxn>
                  <a:cxn ang="0">
                    <a:pos x="T4" y="T5"/>
                  </a:cxn>
                  <a:cxn ang="0">
                    <a:pos x="T6" y="T7"/>
                  </a:cxn>
                  <a:cxn ang="0">
                    <a:pos x="T8" y="T9"/>
                  </a:cxn>
                  <a:cxn ang="0">
                    <a:pos x="T10" y="T11"/>
                  </a:cxn>
                  <a:cxn ang="0">
                    <a:pos x="T12" y="T13"/>
                  </a:cxn>
                </a:cxnLst>
                <a:rect l="0" t="0" r="r" b="b"/>
                <a:pathLst>
                  <a:path w="977" h="102">
                    <a:moveTo>
                      <a:pt x="977" y="102"/>
                    </a:moveTo>
                    <a:lnTo>
                      <a:pt x="977" y="52"/>
                    </a:lnTo>
                    <a:lnTo>
                      <a:pt x="977" y="0"/>
                    </a:lnTo>
                    <a:lnTo>
                      <a:pt x="0" y="0"/>
                    </a:lnTo>
                    <a:lnTo>
                      <a:pt x="0" y="52"/>
                    </a:lnTo>
                    <a:lnTo>
                      <a:pt x="0" y="102"/>
                    </a:lnTo>
                    <a:lnTo>
                      <a:pt x="977" y="1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4" name="未知"/>
              <p:cNvSpPr>
                <a:spLocks noChangeAspect="1"/>
              </p:cNvSpPr>
              <p:nvPr/>
            </p:nvSpPr>
            <p:spPr bwMode="auto">
              <a:xfrm>
                <a:off x="1670" y="526"/>
                <a:ext cx="177" cy="15"/>
              </a:xfrm>
              <a:custGeom>
                <a:avLst/>
                <a:gdLst>
                  <a:gd name="T0" fmla="*/ 977 w 977"/>
                  <a:gd name="T1" fmla="*/ 102 h 102"/>
                  <a:gd name="T2" fmla="*/ 977 w 977"/>
                  <a:gd name="T3" fmla="*/ 52 h 102"/>
                  <a:gd name="T4" fmla="*/ 977 w 977"/>
                  <a:gd name="T5" fmla="*/ 0 h 102"/>
                  <a:gd name="T6" fmla="*/ 0 w 977"/>
                  <a:gd name="T7" fmla="*/ 0 h 102"/>
                  <a:gd name="T8" fmla="*/ 0 w 977"/>
                  <a:gd name="T9" fmla="*/ 52 h 102"/>
                  <a:gd name="T10" fmla="*/ 0 w 977"/>
                  <a:gd name="T11" fmla="*/ 102 h 102"/>
                  <a:gd name="T12" fmla="*/ 977 w 977"/>
                  <a:gd name="T13" fmla="*/ 102 h 102"/>
                </a:gdLst>
                <a:ahLst/>
                <a:cxnLst>
                  <a:cxn ang="0">
                    <a:pos x="T0" y="T1"/>
                  </a:cxn>
                  <a:cxn ang="0">
                    <a:pos x="T2" y="T3"/>
                  </a:cxn>
                  <a:cxn ang="0">
                    <a:pos x="T4" y="T5"/>
                  </a:cxn>
                  <a:cxn ang="0">
                    <a:pos x="T6" y="T7"/>
                  </a:cxn>
                  <a:cxn ang="0">
                    <a:pos x="T8" y="T9"/>
                  </a:cxn>
                  <a:cxn ang="0">
                    <a:pos x="T10" y="T11"/>
                  </a:cxn>
                  <a:cxn ang="0">
                    <a:pos x="T12" y="T13"/>
                  </a:cxn>
                </a:cxnLst>
                <a:rect l="0" t="0" r="r" b="b"/>
                <a:pathLst>
                  <a:path w="977" h="102">
                    <a:moveTo>
                      <a:pt x="977" y="102"/>
                    </a:moveTo>
                    <a:lnTo>
                      <a:pt x="977" y="52"/>
                    </a:lnTo>
                    <a:lnTo>
                      <a:pt x="977" y="0"/>
                    </a:lnTo>
                    <a:lnTo>
                      <a:pt x="0" y="0"/>
                    </a:lnTo>
                    <a:lnTo>
                      <a:pt x="0" y="52"/>
                    </a:lnTo>
                    <a:lnTo>
                      <a:pt x="0" y="102"/>
                    </a:lnTo>
                    <a:lnTo>
                      <a:pt x="977" y="102"/>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05" name="未知"/>
              <p:cNvSpPr>
                <a:spLocks noChangeAspect="1"/>
              </p:cNvSpPr>
              <p:nvPr/>
            </p:nvSpPr>
            <p:spPr bwMode="auto">
              <a:xfrm>
                <a:off x="1661" y="526"/>
                <a:ext cx="9" cy="15"/>
              </a:xfrm>
              <a:custGeom>
                <a:avLst/>
                <a:gdLst>
                  <a:gd name="T0" fmla="*/ 50 w 50"/>
                  <a:gd name="T1" fmla="*/ 52 h 102"/>
                  <a:gd name="T2" fmla="*/ 50 w 50"/>
                  <a:gd name="T3" fmla="*/ 102 h 102"/>
                  <a:gd name="T4" fmla="*/ 39 w 50"/>
                  <a:gd name="T5" fmla="*/ 101 h 102"/>
                  <a:gd name="T6" fmla="*/ 28 w 50"/>
                  <a:gd name="T7" fmla="*/ 97 h 102"/>
                  <a:gd name="T8" fmla="*/ 19 w 50"/>
                  <a:gd name="T9" fmla="*/ 91 h 102"/>
                  <a:gd name="T10" fmla="*/ 11 w 50"/>
                  <a:gd name="T11" fmla="*/ 83 h 102"/>
                  <a:gd name="T12" fmla="*/ 5 w 50"/>
                  <a:gd name="T13" fmla="*/ 74 h 102"/>
                  <a:gd name="T14" fmla="*/ 1 w 50"/>
                  <a:gd name="T15" fmla="*/ 63 h 102"/>
                  <a:gd name="T16" fmla="*/ 0 w 50"/>
                  <a:gd name="T17" fmla="*/ 52 h 102"/>
                  <a:gd name="T18" fmla="*/ 1 w 50"/>
                  <a:gd name="T19" fmla="*/ 41 h 102"/>
                  <a:gd name="T20" fmla="*/ 5 w 50"/>
                  <a:gd name="T21" fmla="*/ 29 h 102"/>
                  <a:gd name="T22" fmla="*/ 11 w 50"/>
                  <a:gd name="T23" fmla="*/ 20 h 102"/>
                  <a:gd name="T24" fmla="*/ 19 w 50"/>
                  <a:gd name="T25" fmla="*/ 12 h 102"/>
                  <a:gd name="T26" fmla="*/ 28 w 50"/>
                  <a:gd name="T27" fmla="*/ 6 h 102"/>
                  <a:gd name="T28" fmla="*/ 39 w 50"/>
                  <a:gd name="T29" fmla="*/ 2 h 102"/>
                  <a:gd name="T30" fmla="*/ 50 w 50"/>
                  <a:gd name="T31" fmla="*/ 0 h 102"/>
                  <a:gd name="T32" fmla="*/ 50 w 50"/>
                  <a:gd name="T33" fmla="*/ 5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0" h="102">
                    <a:moveTo>
                      <a:pt x="50" y="52"/>
                    </a:moveTo>
                    <a:lnTo>
                      <a:pt x="50" y="102"/>
                    </a:lnTo>
                    <a:lnTo>
                      <a:pt x="39" y="101"/>
                    </a:lnTo>
                    <a:lnTo>
                      <a:pt x="28" y="97"/>
                    </a:lnTo>
                    <a:lnTo>
                      <a:pt x="19" y="91"/>
                    </a:lnTo>
                    <a:lnTo>
                      <a:pt x="11" y="83"/>
                    </a:lnTo>
                    <a:lnTo>
                      <a:pt x="5" y="74"/>
                    </a:lnTo>
                    <a:lnTo>
                      <a:pt x="1" y="63"/>
                    </a:lnTo>
                    <a:lnTo>
                      <a:pt x="0" y="52"/>
                    </a:lnTo>
                    <a:lnTo>
                      <a:pt x="1" y="41"/>
                    </a:lnTo>
                    <a:lnTo>
                      <a:pt x="5" y="29"/>
                    </a:lnTo>
                    <a:lnTo>
                      <a:pt x="11" y="20"/>
                    </a:lnTo>
                    <a:lnTo>
                      <a:pt x="19" y="12"/>
                    </a:lnTo>
                    <a:lnTo>
                      <a:pt x="28" y="6"/>
                    </a:lnTo>
                    <a:lnTo>
                      <a:pt x="39" y="2"/>
                    </a:lnTo>
                    <a:lnTo>
                      <a:pt x="50" y="0"/>
                    </a:lnTo>
                    <a:lnTo>
                      <a:pt x="50"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6" name="未知"/>
              <p:cNvSpPr>
                <a:spLocks noChangeAspect="1"/>
              </p:cNvSpPr>
              <p:nvPr/>
            </p:nvSpPr>
            <p:spPr bwMode="auto">
              <a:xfrm>
                <a:off x="1661" y="526"/>
                <a:ext cx="9" cy="15"/>
              </a:xfrm>
              <a:custGeom>
                <a:avLst/>
                <a:gdLst>
                  <a:gd name="T0" fmla="*/ 50 w 50"/>
                  <a:gd name="T1" fmla="*/ 102 h 102"/>
                  <a:gd name="T2" fmla="*/ 39 w 50"/>
                  <a:gd name="T3" fmla="*/ 101 h 102"/>
                  <a:gd name="T4" fmla="*/ 28 w 50"/>
                  <a:gd name="T5" fmla="*/ 97 h 102"/>
                  <a:gd name="T6" fmla="*/ 19 w 50"/>
                  <a:gd name="T7" fmla="*/ 91 h 102"/>
                  <a:gd name="T8" fmla="*/ 11 w 50"/>
                  <a:gd name="T9" fmla="*/ 83 h 102"/>
                  <a:gd name="T10" fmla="*/ 5 w 50"/>
                  <a:gd name="T11" fmla="*/ 74 h 102"/>
                  <a:gd name="T12" fmla="*/ 1 w 50"/>
                  <a:gd name="T13" fmla="*/ 63 h 102"/>
                  <a:gd name="T14" fmla="*/ 0 w 50"/>
                  <a:gd name="T15" fmla="*/ 52 h 102"/>
                  <a:gd name="T16" fmla="*/ 1 w 50"/>
                  <a:gd name="T17" fmla="*/ 41 h 102"/>
                  <a:gd name="T18" fmla="*/ 5 w 50"/>
                  <a:gd name="T19" fmla="*/ 29 h 102"/>
                  <a:gd name="T20" fmla="*/ 11 w 50"/>
                  <a:gd name="T21" fmla="*/ 20 h 102"/>
                  <a:gd name="T22" fmla="*/ 19 w 50"/>
                  <a:gd name="T23" fmla="*/ 12 h 102"/>
                  <a:gd name="T24" fmla="*/ 28 w 50"/>
                  <a:gd name="T25" fmla="*/ 6 h 102"/>
                  <a:gd name="T26" fmla="*/ 39 w 50"/>
                  <a:gd name="T27" fmla="*/ 2 h 102"/>
                  <a:gd name="T28" fmla="*/ 50 w 50"/>
                  <a:gd name="T29"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0" h="102">
                    <a:moveTo>
                      <a:pt x="50" y="102"/>
                    </a:moveTo>
                    <a:lnTo>
                      <a:pt x="39" y="101"/>
                    </a:lnTo>
                    <a:lnTo>
                      <a:pt x="28" y="97"/>
                    </a:lnTo>
                    <a:lnTo>
                      <a:pt x="19" y="91"/>
                    </a:lnTo>
                    <a:lnTo>
                      <a:pt x="11" y="83"/>
                    </a:lnTo>
                    <a:lnTo>
                      <a:pt x="5" y="74"/>
                    </a:lnTo>
                    <a:lnTo>
                      <a:pt x="1" y="63"/>
                    </a:lnTo>
                    <a:lnTo>
                      <a:pt x="0" y="52"/>
                    </a:lnTo>
                    <a:lnTo>
                      <a:pt x="1" y="41"/>
                    </a:lnTo>
                    <a:lnTo>
                      <a:pt x="5" y="29"/>
                    </a:lnTo>
                    <a:lnTo>
                      <a:pt x="11" y="20"/>
                    </a:lnTo>
                    <a:lnTo>
                      <a:pt x="19" y="12"/>
                    </a:lnTo>
                    <a:lnTo>
                      <a:pt x="28" y="6"/>
                    </a:lnTo>
                    <a:lnTo>
                      <a:pt x="39" y="2"/>
                    </a:lnTo>
                    <a:lnTo>
                      <a:pt x="50"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07" name="Line 198"/>
              <p:cNvSpPr>
                <a:spLocks noChangeAspect="1" noChangeShapeType="1"/>
              </p:cNvSpPr>
              <p:nvPr/>
            </p:nvSpPr>
            <p:spPr bwMode="auto">
              <a:xfrm>
                <a:off x="1997" y="655"/>
                <a:ext cx="1" cy="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8" name="未知"/>
              <p:cNvSpPr>
                <a:spLocks noChangeAspect="1"/>
              </p:cNvSpPr>
              <p:nvPr/>
            </p:nvSpPr>
            <p:spPr bwMode="auto">
              <a:xfrm>
                <a:off x="1838" y="526"/>
                <a:ext cx="16" cy="14"/>
              </a:xfrm>
              <a:custGeom>
                <a:avLst/>
                <a:gdLst>
                  <a:gd name="T0" fmla="*/ 51 w 86"/>
                  <a:gd name="T1" fmla="*/ 51 h 87"/>
                  <a:gd name="T2" fmla="*/ 16 w 86"/>
                  <a:gd name="T3" fmla="*/ 87 h 87"/>
                  <a:gd name="T4" fmla="*/ 8 w 86"/>
                  <a:gd name="T5" fmla="*/ 78 h 87"/>
                  <a:gd name="T6" fmla="*/ 3 w 86"/>
                  <a:gd name="T7" fmla="*/ 68 h 87"/>
                  <a:gd name="T8" fmla="*/ 0 w 86"/>
                  <a:gd name="T9" fmla="*/ 57 h 87"/>
                  <a:gd name="T10" fmla="*/ 0 w 86"/>
                  <a:gd name="T11" fmla="*/ 46 h 87"/>
                  <a:gd name="T12" fmla="*/ 2 w 86"/>
                  <a:gd name="T13" fmla="*/ 35 h 87"/>
                  <a:gd name="T14" fmla="*/ 7 w 86"/>
                  <a:gd name="T15" fmla="*/ 24 h 87"/>
                  <a:gd name="T16" fmla="*/ 15 w 86"/>
                  <a:gd name="T17" fmla="*/ 15 h 87"/>
                  <a:gd name="T18" fmla="*/ 24 w 86"/>
                  <a:gd name="T19" fmla="*/ 8 h 87"/>
                  <a:gd name="T20" fmla="*/ 34 w 86"/>
                  <a:gd name="T21" fmla="*/ 3 h 87"/>
                  <a:gd name="T22" fmla="*/ 45 w 86"/>
                  <a:gd name="T23" fmla="*/ 0 h 87"/>
                  <a:gd name="T24" fmla="*/ 56 w 86"/>
                  <a:gd name="T25" fmla="*/ 0 h 87"/>
                  <a:gd name="T26" fmla="*/ 67 w 86"/>
                  <a:gd name="T27" fmla="*/ 2 h 87"/>
                  <a:gd name="T28" fmla="*/ 77 w 86"/>
                  <a:gd name="T29" fmla="*/ 7 h 87"/>
                  <a:gd name="T30" fmla="*/ 86 w 86"/>
                  <a:gd name="T31" fmla="*/ 14 h 87"/>
                  <a:gd name="T32" fmla="*/ 51 w 86"/>
                  <a:gd name="T33" fmla="*/ 5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6" h="87">
                    <a:moveTo>
                      <a:pt x="51" y="51"/>
                    </a:moveTo>
                    <a:lnTo>
                      <a:pt x="16" y="87"/>
                    </a:lnTo>
                    <a:lnTo>
                      <a:pt x="8" y="78"/>
                    </a:lnTo>
                    <a:lnTo>
                      <a:pt x="3" y="68"/>
                    </a:lnTo>
                    <a:lnTo>
                      <a:pt x="0" y="57"/>
                    </a:lnTo>
                    <a:lnTo>
                      <a:pt x="0" y="46"/>
                    </a:lnTo>
                    <a:lnTo>
                      <a:pt x="2" y="35"/>
                    </a:lnTo>
                    <a:lnTo>
                      <a:pt x="7" y="24"/>
                    </a:lnTo>
                    <a:lnTo>
                      <a:pt x="15" y="15"/>
                    </a:lnTo>
                    <a:lnTo>
                      <a:pt x="24" y="8"/>
                    </a:lnTo>
                    <a:lnTo>
                      <a:pt x="34" y="3"/>
                    </a:lnTo>
                    <a:lnTo>
                      <a:pt x="45" y="0"/>
                    </a:lnTo>
                    <a:lnTo>
                      <a:pt x="56" y="0"/>
                    </a:lnTo>
                    <a:lnTo>
                      <a:pt x="67" y="2"/>
                    </a:lnTo>
                    <a:lnTo>
                      <a:pt x="77" y="7"/>
                    </a:lnTo>
                    <a:lnTo>
                      <a:pt x="86" y="14"/>
                    </a:lnTo>
                    <a:lnTo>
                      <a:pt x="51" y="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9" name="未知"/>
              <p:cNvSpPr>
                <a:spLocks noChangeAspect="1"/>
              </p:cNvSpPr>
              <p:nvPr/>
            </p:nvSpPr>
            <p:spPr bwMode="auto">
              <a:xfrm>
                <a:off x="1838" y="526"/>
                <a:ext cx="16" cy="14"/>
              </a:xfrm>
              <a:custGeom>
                <a:avLst/>
                <a:gdLst>
                  <a:gd name="T0" fmla="*/ 16 w 86"/>
                  <a:gd name="T1" fmla="*/ 87 h 87"/>
                  <a:gd name="T2" fmla="*/ 8 w 86"/>
                  <a:gd name="T3" fmla="*/ 78 h 87"/>
                  <a:gd name="T4" fmla="*/ 3 w 86"/>
                  <a:gd name="T5" fmla="*/ 68 h 87"/>
                  <a:gd name="T6" fmla="*/ 0 w 86"/>
                  <a:gd name="T7" fmla="*/ 57 h 87"/>
                  <a:gd name="T8" fmla="*/ 0 w 86"/>
                  <a:gd name="T9" fmla="*/ 46 h 87"/>
                  <a:gd name="T10" fmla="*/ 2 w 86"/>
                  <a:gd name="T11" fmla="*/ 35 h 87"/>
                  <a:gd name="T12" fmla="*/ 7 w 86"/>
                  <a:gd name="T13" fmla="*/ 24 h 87"/>
                  <a:gd name="T14" fmla="*/ 15 w 86"/>
                  <a:gd name="T15" fmla="*/ 15 h 87"/>
                  <a:gd name="T16" fmla="*/ 24 w 86"/>
                  <a:gd name="T17" fmla="*/ 8 h 87"/>
                  <a:gd name="T18" fmla="*/ 34 w 86"/>
                  <a:gd name="T19" fmla="*/ 3 h 87"/>
                  <a:gd name="T20" fmla="*/ 45 w 86"/>
                  <a:gd name="T21" fmla="*/ 0 h 87"/>
                  <a:gd name="T22" fmla="*/ 56 w 86"/>
                  <a:gd name="T23" fmla="*/ 0 h 87"/>
                  <a:gd name="T24" fmla="*/ 67 w 86"/>
                  <a:gd name="T25" fmla="*/ 2 h 87"/>
                  <a:gd name="T26" fmla="*/ 77 w 86"/>
                  <a:gd name="T27" fmla="*/ 7 h 87"/>
                  <a:gd name="T28" fmla="*/ 86 w 86"/>
                  <a:gd name="T29" fmla="*/ 14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6" h="87">
                    <a:moveTo>
                      <a:pt x="16" y="87"/>
                    </a:moveTo>
                    <a:lnTo>
                      <a:pt x="8" y="78"/>
                    </a:lnTo>
                    <a:lnTo>
                      <a:pt x="3" y="68"/>
                    </a:lnTo>
                    <a:lnTo>
                      <a:pt x="0" y="57"/>
                    </a:lnTo>
                    <a:lnTo>
                      <a:pt x="0" y="46"/>
                    </a:lnTo>
                    <a:lnTo>
                      <a:pt x="2" y="35"/>
                    </a:lnTo>
                    <a:lnTo>
                      <a:pt x="7" y="24"/>
                    </a:lnTo>
                    <a:lnTo>
                      <a:pt x="15" y="15"/>
                    </a:lnTo>
                    <a:lnTo>
                      <a:pt x="24" y="8"/>
                    </a:lnTo>
                    <a:lnTo>
                      <a:pt x="34" y="3"/>
                    </a:lnTo>
                    <a:lnTo>
                      <a:pt x="45" y="0"/>
                    </a:lnTo>
                    <a:lnTo>
                      <a:pt x="56" y="0"/>
                    </a:lnTo>
                    <a:lnTo>
                      <a:pt x="67" y="2"/>
                    </a:lnTo>
                    <a:lnTo>
                      <a:pt x="77" y="7"/>
                    </a:lnTo>
                    <a:lnTo>
                      <a:pt x="86" y="14"/>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0" name="未知"/>
              <p:cNvSpPr>
                <a:spLocks noChangeAspect="1"/>
              </p:cNvSpPr>
              <p:nvPr/>
            </p:nvSpPr>
            <p:spPr bwMode="auto">
              <a:xfrm>
                <a:off x="1841" y="528"/>
                <a:ext cx="460" cy="376"/>
              </a:xfrm>
              <a:custGeom>
                <a:avLst/>
                <a:gdLst>
                  <a:gd name="T0" fmla="*/ 70 w 2527"/>
                  <a:gd name="T1" fmla="*/ 0 h 2480"/>
                  <a:gd name="T2" fmla="*/ 35 w 2527"/>
                  <a:gd name="T3" fmla="*/ 37 h 2480"/>
                  <a:gd name="T4" fmla="*/ 0 w 2527"/>
                  <a:gd name="T5" fmla="*/ 73 h 2480"/>
                  <a:gd name="T6" fmla="*/ 2456 w 2527"/>
                  <a:gd name="T7" fmla="*/ 2480 h 2480"/>
                  <a:gd name="T8" fmla="*/ 2492 w 2527"/>
                  <a:gd name="T9" fmla="*/ 2444 h 2480"/>
                  <a:gd name="T10" fmla="*/ 2527 w 2527"/>
                  <a:gd name="T11" fmla="*/ 2407 h 2480"/>
                  <a:gd name="T12" fmla="*/ 70 w 2527"/>
                  <a:gd name="T13" fmla="*/ 0 h 2480"/>
                </a:gdLst>
                <a:ahLst/>
                <a:cxnLst>
                  <a:cxn ang="0">
                    <a:pos x="T0" y="T1"/>
                  </a:cxn>
                  <a:cxn ang="0">
                    <a:pos x="T2" y="T3"/>
                  </a:cxn>
                  <a:cxn ang="0">
                    <a:pos x="T4" y="T5"/>
                  </a:cxn>
                  <a:cxn ang="0">
                    <a:pos x="T6" y="T7"/>
                  </a:cxn>
                  <a:cxn ang="0">
                    <a:pos x="T8" y="T9"/>
                  </a:cxn>
                  <a:cxn ang="0">
                    <a:pos x="T10" y="T11"/>
                  </a:cxn>
                  <a:cxn ang="0">
                    <a:pos x="T12" y="T13"/>
                  </a:cxn>
                </a:cxnLst>
                <a:rect l="0" t="0" r="r" b="b"/>
                <a:pathLst>
                  <a:path w="2527" h="2480">
                    <a:moveTo>
                      <a:pt x="70" y="0"/>
                    </a:moveTo>
                    <a:lnTo>
                      <a:pt x="35" y="37"/>
                    </a:lnTo>
                    <a:lnTo>
                      <a:pt x="0" y="73"/>
                    </a:lnTo>
                    <a:lnTo>
                      <a:pt x="2456" y="2480"/>
                    </a:lnTo>
                    <a:lnTo>
                      <a:pt x="2492" y="2444"/>
                    </a:lnTo>
                    <a:lnTo>
                      <a:pt x="2527" y="2407"/>
                    </a:lnTo>
                    <a:lnTo>
                      <a:pt x="7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7" name="未知"/>
            <p:cNvSpPr>
              <a:spLocks noChangeAspect="1"/>
            </p:cNvSpPr>
            <p:nvPr/>
          </p:nvSpPr>
          <p:spPr bwMode="auto">
            <a:xfrm>
              <a:off x="1841" y="528"/>
              <a:ext cx="460" cy="376"/>
            </a:xfrm>
            <a:custGeom>
              <a:avLst/>
              <a:gdLst>
                <a:gd name="T0" fmla="*/ 70 w 2527"/>
                <a:gd name="T1" fmla="*/ 0 h 2480"/>
                <a:gd name="T2" fmla="*/ 35 w 2527"/>
                <a:gd name="T3" fmla="*/ 37 h 2480"/>
                <a:gd name="T4" fmla="*/ 0 w 2527"/>
                <a:gd name="T5" fmla="*/ 73 h 2480"/>
                <a:gd name="T6" fmla="*/ 2456 w 2527"/>
                <a:gd name="T7" fmla="*/ 2480 h 2480"/>
                <a:gd name="T8" fmla="*/ 2492 w 2527"/>
                <a:gd name="T9" fmla="*/ 2444 h 2480"/>
                <a:gd name="T10" fmla="*/ 2527 w 2527"/>
                <a:gd name="T11" fmla="*/ 2407 h 2480"/>
                <a:gd name="T12" fmla="*/ 70 w 2527"/>
                <a:gd name="T13" fmla="*/ 0 h 2480"/>
              </a:gdLst>
              <a:ahLst/>
              <a:cxnLst>
                <a:cxn ang="0">
                  <a:pos x="T0" y="T1"/>
                </a:cxn>
                <a:cxn ang="0">
                  <a:pos x="T2" y="T3"/>
                </a:cxn>
                <a:cxn ang="0">
                  <a:pos x="T4" y="T5"/>
                </a:cxn>
                <a:cxn ang="0">
                  <a:pos x="T6" y="T7"/>
                </a:cxn>
                <a:cxn ang="0">
                  <a:pos x="T8" y="T9"/>
                </a:cxn>
                <a:cxn ang="0">
                  <a:pos x="T10" y="T11"/>
                </a:cxn>
                <a:cxn ang="0">
                  <a:pos x="T12" y="T13"/>
                </a:cxn>
              </a:cxnLst>
              <a:rect l="0" t="0" r="r" b="b"/>
              <a:pathLst>
                <a:path w="2527" h="2480">
                  <a:moveTo>
                    <a:pt x="70" y="0"/>
                  </a:moveTo>
                  <a:lnTo>
                    <a:pt x="35" y="37"/>
                  </a:lnTo>
                  <a:lnTo>
                    <a:pt x="0" y="73"/>
                  </a:lnTo>
                  <a:lnTo>
                    <a:pt x="2456" y="2480"/>
                  </a:lnTo>
                  <a:lnTo>
                    <a:pt x="2492" y="2444"/>
                  </a:lnTo>
                  <a:lnTo>
                    <a:pt x="2527" y="2407"/>
                  </a:lnTo>
                  <a:lnTo>
                    <a:pt x="70"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 name="未知"/>
            <p:cNvSpPr>
              <a:spLocks noChangeAspect="1"/>
            </p:cNvSpPr>
            <p:nvPr/>
          </p:nvSpPr>
          <p:spPr bwMode="auto">
            <a:xfrm>
              <a:off x="2289" y="893"/>
              <a:ext cx="15" cy="13"/>
            </a:xfrm>
            <a:custGeom>
              <a:avLst/>
              <a:gdLst>
                <a:gd name="T0" fmla="*/ 36 w 86"/>
                <a:gd name="T1" fmla="*/ 37 h 87"/>
                <a:gd name="T2" fmla="*/ 71 w 86"/>
                <a:gd name="T3" fmla="*/ 0 h 87"/>
                <a:gd name="T4" fmla="*/ 78 w 86"/>
                <a:gd name="T5" fmla="*/ 9 h 87"/>
                <a:gd name="T6" fmla="*/ 83 w 86"/>
                <a:gd name="T7" fmla="*/ 20 h 87"/>
                <a:gd name="T8" fmla="*/ 86 w 86"/>
                <a:gd name="T9" fmla="*/ 31 h 87"/>
                <a:gd name="T10" fmla="*/ 86 w 86"/>
                <a:gd name="T11" fmla="*/ 42 h 87"/>
                <a:gd name="T12" fmla="*/ 84 w 86"/>
                <a:gd name="T13" fmla="*/ 53 h 87"/>
                <a:gd name="T14" fmla="*/ 79 w 86"/>
                <a:gd name="T15" fmla="*/ 63 h 87"/>
                <a:gd name="T16" fmla="*/ 72 w 86"/>
                <a:gd name="T17" fmla="*/ 72 h 87"/>
                <a:gd name="T18" fmla="*/ 63 w 86"/>
                <a:gd name="T19" fmla="*/ 79 h 87"/>
                <a:gd name="T20" fmla="*/ 53 w 86"/>
                <a:gd name="T21" fmla="*/ 84 h 87"/>
                <a:gd name="T22" fmla="*/ 42 w 86"/>
                <a:gd name="T23" fmla="*/ 87 h 87"/>
                <a:gd name="T24" fmla="*/ 31 w 86"/>
                <a:gd name="T25" fmla="*/ 87 h 87"/>
                <a:gd name="T26" fmla="*/ 19 w 86"/>
                <a:gd name="T27" fmla="*/ 85 h 87"/>
                <a:gd name="T28" fmla="*/ 9 w 86"/>
                <a:gd name="T29" fmla="*/ 80 h 87"/>
                <a:gd name="T30" fmla="*/ 0 w 86"/>
                <a:gd name="T31" fmla="*/ 73 h 87"/>
                <a:gd name="T32" fmla="*/ 36 w 86"/>
                <a:gd name="T33"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6" h="87">
                  <a:moveTo>
                    <a:pt x="36" y="37"/>
                  </a:moveTo>
                  <a:lnTo>
                    <a:pt x="71" y="0"/>
                  </a:lnTo>
                  <a:lnTo>
                    <a:pt x="78" y="9"/>
                  </a:lnTo>
                  <a:lnTo>
                    <a:pt x="83" y="20"/>
                  </a:lnTo>
                  <a:lnTo>
                    <a:pt x="86" y="31"/>
                  </a:lnTo>
                  <a:lnTo>
                    <a:pt x="86" y="42"/>
                  </a:lnTo>
                  <a:lnTo>
                    <a:pt x="84" y="53"/>
                  </a:lnTo>
                  <a:lnTo>
                    <a:pt x="79" y="63"/>
                  </a:lnTo>
                  <a:lnTo>
                    <a:pt x="72" y="72"/>
                  </a:lnTo>
                  <a:lnTo>
                    <a:pt x="63" y="79"/>
                  </a:lnTo>
                  <a:lnTo>
                    <a:pt x="53" y="84"/>
                  </a:lnTo>
                  <a:lnTo>
                    <a:pt x="42" y="87"/>
                  </a:lnTo>
                  <a:lnTo>
                    <a:pt x="31" y="87"/>
                  </a:lnTo>
                  <a:lnTo>
                    <a:pt x="19" y="85"/>
                  </a:lnTo>
                  <a:lnTo>
                    <a:pt x="9" y="80"/>
                  </a:lnTo>
                  <a:lnTo>
                    <a:pt x="0" y="73"/>
                  </a:lnTo>
                  <a:lnTo>
                    <a:pt x="36"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未知"/>
            <p:cNvSpPr>
              <a:spLocks noChangeAspect="1"/>
            </p:cNvSpPr>
            <p:nvPr/>
          </p:nvSpPr>
          <p:spPr bwMode="auto">
            <a:xfrm>
              <a:off x="2289" y="893"/>
              <a:ext cx="15" cy="13"/>
            </a:xfrm>
            <a:custGeom>
              <a:avLst/>
              <a:gdLst>
                <a:gd name="T0" fmla="*/ 71 w 86"/>
                <a:gd name="T1" fmla="*/ 0 h 87"/>
                <a:gd name="T2" fmla="*/ 78 w 86"/>
                <a:gd name="T3" fmla="*/ 9 h 87"/>
                <a:gd name="T4" fmla="*/ 83 w 86"/>
                <a:gd name="T5" fmla="*/ 20 h 87"/>
                <a:gd name="T6" fmla="*/ 86 w 86"/>
                <a:gd name="T7" fmla="*/ 31 h 87"/>
                <a:gd name="T8" fmla="*/ 86 w 86"/>
                <a:gd name="T9" fmla="*/ 42 h 87"/>
                <a:gd name="T10" fmla="*/ 84 w 86"/>
                <a:gd name="T11" fmla="*/ 53 h 87"/>
                <a:gd name="T12" fmla="*/ 79 w 86"/>
                <a:gd name="T13" fmla="*/ 63 h 87"/>
                <a:gd name="T14" fmla="*/ 72 w 86"/>
                <a:gd name="T15" fmla="*/ 72 h 87"/>
                <a:gd name="T16" fmla="*/ 63 w 86"/>
                <a:gd name="T17" fmla="*/ 79 h 87"/>
                <a:gd name="T18" fmla="*/ 53 w 86"/>
                <a:gd name="T19" fmla="*/ 84 h 87"/>
                <a:gd name="T20" fmla="*/ 42 w 86"/>
                <a:gd name="T21" fmla="*/ 87 h 87"/>
                <a:gd name="T22" fmla="*/ 31 w 86"/>
                <a:gd name="T23" fmla="*/ 87 h 87"/>
                <a:gd name="T24" fmla="*/ 19 w 86"/>
                <a:gd name="T25" fmla="*/ 85 h 87"/>
                <a:gd name="T26" fmla="*/ 9 w 86"/>
                <a:gd name="T27" fmla="*/ 80 h 87"/>
                <a:gd name="T28" fmla="*/ 0 w 86"/>
                <a:gd name="T29" fmla="*/ 73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6" h="87">
                  <a:moveTo>
                    <a:pt x="71" y="0"/>
                  </a:moveTo>
                  <a:lnTo>
                    <a:pt x="78" y="9"/>
                  </a:lnTo>
                  <a:lnTo>
                    <a:pt x="83" y="20"/>
                  </a:lnTo>
                  <a:lnTo>
                    <a:pt x="86" y="31"/>
                  </a:lnTo>
                  <a:lnTo>
                    <a:pt x="86" y="42"/>
                  </a:lnTo>
                  <a:lnTo>
                    <a:pt x="84" y="53"/>
                  </a:lnTo>
                  <a:lnTo>
                    <a:pt x="79" y="63"/>
                  </a:lnTo>
                  <a:lnTo>
                    <a:pt x="72" y="72"/>
                  </a:lnTo>
                  <a:lnTo>
                    <a:pt x="63" y="79"/>
                  </a:lnTo>
                  <a:lnTo>
                    <a:pt x="53" y="84"/>
                  </a:lnTo>
                  <a:lnTo>
                    <a:pt x="42" y="87"/>
                  </a:lnTo>
                  <a:lnTo>
                    <a:pt x="31" y="87"/>
                  </a:lnTo>
                  <a:lnTo>
                    <a:pt x="19" y="85"/>
                  </a:lnTo>
                  <a:lnTo>
                    <a:pt x="9" y="80"/>
                  </a:lnTo>
                  <a:lnTo>
                    <a:pt x="0" y="73"/>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 name="未知"/>
            <p:cNvSpPr>
              <a:spLocks noChangeAspect="1"/>
            </p:cNvSpPr>
            <p:nvPr/>
          </p:nvSpPr>
          <p:spPr bwMode="auto">
            <a:xfrm>
              <a:off x="2286" y="1869"/>
              <a:ext cx="9" cy="15"/>
            </a:xfrm>
            <a:custGeom>
              <a:avLst/>
              <a:gdLst>
                <a:gd name="T0" fmla="*/ 51 w 51"/>
                <a:gd name="T1" fmla="*/ 52 h 102"/>
                <a:gd name="T2" fmla="*/ 51 w 51"/>
                <a:gd name="T3" fmla="*/ 102 h 102"/>
                <a:gd name="T4" fmla="*/ 39 w 51"/>
                <a:gd name="T5" fmla="*/ 101 h 102"/>
                <a:gd name="T6" fmla="*/ 28 w 51"/>
                <a:gd name="T7" fmla="*/ 97 h 102"/>
                <a:gd name="T8" fmla="*/ 19 w 51"/>
                <a:gd name="T9" fmla="*/ 91 h 102"/>
                <a:gd name="T10" fmla="*/ 11 w 51"/>
                <a:gd name="T11" fmla="*/ 83 h 102"/>
                <a:gd name="T12" fmla="*/ 5 w 51"/>
                <a:gd name="T13" fmla="*/ 74 h 102"/>
                <a:gd name="T14" fmla="*/ 1 w 51"/>
                <a:gd name="T15" fmla="*/ 63 h 102"/>
                <a:gd name="T16" fmla="*/ 0 w 51"/>
                <a:gd name="T17" fmla="*/ 52 h 102"/>
                <a:gd name="T18" fmla="*/ 1 w 51"/>
                <a:gd name="T19" fmla="*/ 41 h 102"/>
                <a:gd name="T20" fmla="*/ 5 w 51"/>
                <a:gd name="T21" fmla="*/ 29 h 102"/>
                <a:gd name="T22" fmla="*/ 11 w 51"/>
                <a:gd name="T23" fmla="*/ 20 h 102"/>
                <a:gd name="T24" fmla="*/ 19 w 51"/>
                <a:gd name="T25" fmla="*/ 12 h 102"/>
                <a:gd name="T26" fmla="*/ 28 w 51"/>
                <a:gd name="T27" fmla="*/ 6 h 102"/>
                <a:gd name="T28" fmla="*/ 39 w 51"/>
                <a:gd name="T29" fmla="*/ 2 h 102"/>
                <a:gd name="T30" fmla="*/ 51 w 51"/>
                <a:gd name="T31" fmla="*/ 0 h 102"/>
                <a:gd name="T32" fmla="*/ 51 w 51"/>
                <a:gd name="T33" fmla="*/ 5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1" h="102">
                  <a:moveTo>
                    <a:pt x="51" y="52"/>
                  </a:moveTo>
                  <a:lnTo>
                    <a:pt x="51" y="102"/>
                  </a:lnTo>
                  <a:lnTo>
                    <a:pt x="39" y="101"/>
                  </a:lnTo>
                  <a:lnTo>
                    <a:pt x="28" y="97"/>
                  </a:lnTo>
                  <a:lnTo>
                    <a:pt x="19" y="91"/>
                  </a:lnTo>
                  <a:lnTo>
                    <a:pt x="11" y="83"/>
                  </a:lnTo>
                  <a:lnTo>
                    <a:pt x="5" y="74"/>
                  </a:lnTo>
                  <a:lnTo>
                    <a:pt x="1" y="63"/>
                  </a:lnTo>
                  <a:lnTo>
                    <a:pt x="0" y="52"/>
                  </a:lnTo>
                  <a:lnTo>
                    <a:pt x="1" y="41"/>
                  </a:lnTo>
                  <a:lnTo>
                    <a:pt x="5" y="29"/>
                  </a:lnTo>
                  <a:lnTo>
                    <a:pt x="11" y="20"/>
                  </a:lnTo>
                  <a:lnTo>
                    <a:pt x="19" y="12"/>
                  </a:lnTo>
                  <a:lnTo>
                    <a:pt x="28" y="6"/>
                  </a:lnTo>
                  <a:lnTo>
                    <a:pt x="39" y="2"/>
                  </a:lnTo>
                  <a:lnTo>
                    <a:pt x="51" y="0"/>
                  </a:lnTo>
                  <a:lnTo>
                    <a:pt x="51"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未知"/>
            <p:cNvSpPr>
              <a:spLocks noChangeAspect="1"/>
            </p:cNvSpPr>
            <p:nvPr/>
          </p:nvSpPr>
          <p:spPr bwMode="auto">
            <a:xfrm>
              <a:off x="2286" y="1869"/>
              <a:ext cx="9" cy="15"/>
            </a:xfrm>
            <a:custGeom>
              <a:avLst/>
              <a:gdLst>
                <a:gd name="T0" fmla="*/ 51 w 51"/>
                <a:gd name="T1" fmla="*/ 102 h 102"/>
                <a:gd name="T2" fmla="*/ 39 w 51"/>
                <a:gd name="T3" fmla="*/ 101 h 102"/>
                <a:gd name="T4" fmla="*/ 28 w 51"/>
                <a:gd name="T5" fmla="*/ 97 h 102"/>
                <a:gd name="T6" fmla="*/ 19 w 51"/>
                <a:gd name="T7" fmla="*/ 91 h 102"/>
                <a:gd name="T8" fmla="*/ 11 w 51"/>
                <a:gd name="T9" fmla="*/ 83 h 102"/>
                <a:gd name="T10" fmla="*/ 5 w 51"/>
                <a:gd name="T11" fmla="*/ 74 h 102"/>
                <a:gd name="T12" fmla="*/ 1 w 51"/>
                <a:gd name="T13" fmla="*/ 63 h 102"/>
                <a:gd name="T14" fmla="*/ 0 w 51"/>
                <a:gd name="T15" fmla="*/ 52 h 102"/>
                <a:gd name="T16" fmla="*/ 1 w 51"/>
                <a:gd name="T17" fmla="*/ 41 h 102"/>
                <a:gd name="T18" fmla="*/ 5 w 51"/>
                <a:gd name="T19" fmla="*/ 29 h 102"/>
                <a:gd name="T20" fmla="*/ 11 w 51"/>
                <a:gd name="T21" fmla="*/ 20 h 102"/>
                <a:gd name="T22" fmla="*/ 19 w 51"/>
                <a:gd name="T23" fmla="*/ 12 h 102"/>
                <a:gd name="T24" fmla="*/ 28 w 51"/>
                <a:gd name="T25" fmla="*/ 6 h 102"/>
                <a:gd name="T26" fmla="*/ 39 w 51"/>
                <a:gd name="T27" fmla="*/ 2 h 102"/>
                <a:gd name="T28" fmla="*/ 51 w 51"/>
                <a:gd name="T29"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1" h="102">
                  <a:moveTo>
                    <a:pt x="51" y="102"/>
                  </a:moveTo>
                  <a:lnTo>
                    <a:pt x="39" y="101"/>
                  </a:lnTo>
                  <a:lnTo>
                    <a:pt x="28" y="97"/>
                  </a:lnTo>
                  <a:lnTo>
                    <a:pt x="19" y="91"/>
                  </a:lnTo>
                  <a:lnTo>
                    <a:pt x="11" y="83"/>
                  </a:lnTo>
                  <a:lnTo>
                    <a:pt x="5" y="74"/>
                  </a:lnTo>
                  <a:lnTo>
                    <a:pt x="1" y="63"/>
                  </a:lnTo>
                  <a:lnTo>
                    <a:pt x="0" y="52"/>
                  </a:lnTo>
                  <a:lnTo>
                    <a:pt x="1" y="41"/>
                  </a:lnTo>
                  <a:lnTo>
                    <a:pt x="5" y="29"/>
                  </a:lnTo>
                  <a:lnTo>
                    <a:pt x="11" y="20"/>
                  </a:lnTo>
                  <a:lnTo>
                    <a:pt x="19" y="12"/>
                  </a:lnTo>
                  <a:lnTo>
                    <a:pt x="28" y="6"/>
                  </a:lnTo>
                  <a:lnTo>
                    <a:pt x="39" y="2"/>
                  </a:lnTo>
                  <a:lnTo>
                    <a:pt x="51"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 name="未知"/>
            <p:cNvSpPr>
              <a:spLocks noChangeAspect="1"/>
            </p:cNvSpPr>
            <p:nvPr/>
          </p:nvSpPr>
          <p:spPr bwMode="auto">
            <a:xfrm>
              <a:off x="2295" y="1869"/>
              <a:ext cx="178" cy="15"/>
            </a:xfrm>
            <a:custGeom>
              <a:avLst/>
              <a:gdLst>
                <a:gd name="T0" fmla="*/ 0 w 976"/>
                <a:gd name="T1" fmla="*/ 0 h 102"/>
                <a:gd name="T2" fmla="*/ 0 w 976"/>
                <a:gd name="T3" fmla="*/ 52 h 102"/>
                <a:gd name="T4" fmla="*/ 0 w 976"/>
                <a:gd name="T5" fmla="*/ 102 h 102"/>
                <a:gd name="T6" fmla="*/ 976 w 976"/>
                <a:gd name="T7" fmla="*/ 102 h 102"/>
                <a:gd name="T8" fmla="*/ 976 w 976"/>
                <a:gd name="T9" fmla="*/ 52 h 102"/>
                <a:gd name="T10" fmla="*/ 976 w 976"/>
                <a:gd name="T11" fmla="*/ 0 h 102"/>
                <a:gd name="T12" fmla="*/ 0 w 976"/>
                <a:gd name="T13" fmla="*/ 0 h 102"/>
              </a:gdLst>
              <a:ahLst/>
              <a:cxnLst>
                <a:cxn ang="0">
                  <a:pos x="T0" y="T1"/>
                </a:cxn>
                <a:cxn ang="0">
                  <a:pos x="T2" y="T3"/>
                </a:cxn>
                <a:cxn ang="0">
                  <a:pos x="T4" y="T5"/>
                </a:cxn>
                <a:cxn ang="0">
                  <a:pos x="T6" y="T7"/>
                </a:cxn>
                <a:cxn ang="0">
                  <a:pos x="T8" y="T9"/>
                </a:cxn>
                <a:cxn ang="0">
                  <a:pos x="T10" y="T11"/>
                </a:cxn>
                <a:cxn ang="0">
                  <a:pos x="T12" y="T13"/>
                </a:cxn>
              </a:cxnLst>
              <a:rect l="0" t="0" r="r" b="b"/>
              <a:pathLst>
                <a:path w="976" h="102">
                  <a:moveTo>
                    <a:pt x="0" y="0"/>
                  </a:moveTo>
                  <a:lnTo>
                    <a:pt x="0" y="52"/>
                  </a:lnTo>
                  <a:lnTo>
                    <a:pt x="0" y="102"/>
                  </a:lnTo>
                  <a:lnTo>
                    <a:pt x="976" y="102"/>
                  </a:lnTo>
                  <a:lnTo>
                    <a:pt x="976" y="52"/>
                  </a:lnTo>
                  <a:lnTo>
                    <a:pt x="976"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未知"/>
            <p:cNvSpPr>
              <a:spLocks noChangeAspect="1"/>
            </p:cNvSpPr>
            <p:nvPr/>
          </p:nvSpPr>
          <p:spPr bwMode="auto">
            <a:xfrm>
              <a:off x="2295" y="1869"/>
              <a:ext cx="178" cy="15"/>
            </a:xfrm>
            <a:custGeom>
              <a:avLst/>
              <a:gdLst>
                <a:gd name="T0" fmla="*/ 0 w 976"/>
                <a:gd name="T1" fmla="*/ 0 h 102"/>
                <a:gd name="T2" fmla="*/ 0 w 976"/>
                <a:gd name="T3" fmla="*/ 52 h 102"/>
                <a:gd name="T4" fmla="*/ 0 w 976"/>
                <a:gd name="T5" fmla="*/ 102 h 102"/>
                <a:gd name="T6" fmla="*/ 976 w 976"/>
                <a:gd name="T7" fmla="*/ 102 h 102"/>
                <a:gd name="T8" fmla="*/ 976 w 976"/>
                <a:gd name="T9" fmla="*/ 52 h 102"/>
                <a:gd name="T10" fmla="*/ 976 w 976"/>
                <a:gd name="T11" fmla="*/ 0 h 102"/>
                <a:gd name="T12" fmla="*/ 0 w 976"/>
                <a:gd name="T13" fmla="*/ 0 h 102"/>
              </a:gdLst>
              <a:ahLst/>
              <a:cxnLst>
                <a:cxn ang="0">
                  <a:pos x="T0" y="T1"/>
                </a:cxn>
                <a:cxn ang="0">
                  <a:pos x="T2" y="T3"/>
                </a:cxn>
                <a:cxn ang="0">
                  <a:pos x="T4" y="T5"/>
                </a:cxn>
                <a:cxn ang="0">
                  <a:pos x="T6" y="T7"/>
                </a:cxn>
                <a:cxn ang="0">
                  <a:pos x="T8" y="T9"/>
                </a:cxn>
                <a:cxn ang="0">
                  <a:pos x="T10" y="T11"/>
                </a:cxn>
                <a:cxn ang="0">
                  <a:pos x="T12" y="T13"/>
                </a:cxn>
              </a:cxnLst>
              <a:rect l="0" t="0" r="r" b="b"/>
              <a:pathLst>
                <a:path w="976" h="102">
                  <a:moveTo>
                    <a:pt x="0" y="0"/>
                  </a:moveTo>
                  <a:lnTo>
                    <a:pt x="0" y="52"/>
                  </a:lnTo>
                  <a:lnTo>
                    <a:pt x="0" y="102"/>
                  </a:lnTo>
                  <a:lnTo>
                    <a:pt x="976" y="102"/>
                  </a:lnTo>
                  <a:lnTo>
                    <a:pt x="976" y="52"/>
                  </a:lnTo>
                  <a:lnTo>
                    <a:pt x="976" y="0"/>
                  </a:lnTo>
                  <a:lnTo>
                    <a:pt x="0"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 name="未知"/>
            <p:cNvSpPr>
              <a:spLocks noChangeAspect="1"/>
            </p:cNvSpPr>
            <p:nvPr/>
          </p:nvSpPr>
          <p:spPr bwMode="auto">
            <a:xfrm>
              <a:off x="2473" y="1869"/>
              <a:ext cx="9" cy="15"/>
            </a:xfrm>
            <a:custGeom>
              <a:avLst/>
              <a:gdLst>
                <a:gd name="T0" fmla="*/ 0 w 52"/>
                <a:gd name="T1" fmla="*/ 52 h 102"/>
                <a:gd name="T2" fmla="*/ 0 w 52"/>
                <a:gd name="T3" fmla="*/ 0 h 102"/>
                <a:gd name="T4" fmla="*/ 12 w 52"/>
                <a:gd name="T5" fmla="*/ 2 h 102"/>
                <a:gd name="T6" fmla="*/ 23 w 52"/>
                <a:gd name="T7" fmla="*/ 6 h 102"/>
                <a:gd name="T8" fmla="*/ 32 w 52"/>
                <a:gd name="T9" fmla="*/ 12 h 102"/>
                <a:gd name="T10" fmla="*/ 40 w 52"/>
                <a:gd name="T11" fmla="*/ 20 h 102"/>
                <a:gd name="T12" fmla="*/ 46 w 52"/>
                <a:gd name="T13" fmla="*/ 29 h 102"/>
                <a:gd name="T14" fmla="*/ 50 w 52"/>
                <a:gd name="T15" fmla="*/ 41 h 102"/>
                <a:gd name="T16" fmla="*/ 52 w 52"/>
                <a:gd name="T17" fmla="*/ 52 h 102"/>
                <a:gd name="T18" fmla="*/ 50 w 52"/>
                <a:gd name="T19" fmla="*/ 63 h 102"/>
                <a:gd name="T20" fmla="*/ 46 w 52"/>
                <a:gd name="T21" fmla="*/ 74 h 102"/>
                <a:gd name="T22" fmla="*/ 40 w 52"/>
                <a:gd name="T23" fmla="*/ 83 h 102"/>
                <a:gd name="T24" fmla="*/ 32 w 52"/>
                <a:gd name="T25" fmla="*/ 91 h 102"/>
                <a:gd name="T26" fmla="*/ 23 w 52"/>
                <a:gd name="T27" fmla="*/ 97 h 102"/>
                <a:gd name="T28" fmla="*/ 12 w 52"/>
                <a:gd name="T29" fmla="*/ 101 h 102"/>
                <a:gd name="T30" fmla="*/ 0 w 52"/>
                <a:gd name="T31" fmla="*/ 102 h 102"/>
                <a:gd name="T32" fmla="*/ 0 w 52"/>
                <a:gd name="T33" fmla="*/ 5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102">
                  <a:moveTo>
                    <a:pt x="0" y="52"/>
                  </a:moveTo>
                  <a:lnTo>
                    <a:pt x="0" y="0"/>
                  </a:lnTo>
                  <a:lnTo>
                    <a:pt x="12" y="2"/>
                  </a:lnTo>
                  <a:lnTo>
                    <a:pt x="23" y="6"/>
                  </a:lnTo>
                  <a:lnTo>
                    <a:pt x="32" y="12"/>
                  </a:lnTo>
                  <a:lnTo>
                    <a:pt x="40" y="20"/>
                  </a:lnTo>
                  <a:lnTo>
                    <a:pt x="46" y="29"/>
                  </a:lnTo>
                  <a:lnTo>
                    <a:pt x="50" y="41"/>
                  </a:lnTo>
                  <a:lnTo>
                    <a:pt x="52" y="52"/>
                  </a:lnTo>
                  <a:lnTo>
                    <a:pt x="50" y="63"/>
                  </a:lnTo>
                  <a:lnTo>
                    <a:pt x="46" y="74"/>
                  </a:lnTo>
                  <a:lnTo>
                    <a:pt x="40" y="83"/>
                  </a:lnTo>
                  <a:lnTo>
                    <a:pt x="32" y="91"/>
                  </a:lnTo>
                  <a:lnTo>
                    <a:pt x="23" y="97"/>
                  </a:lnTo>
                  <a:lnTo>
                    <a:pt x="12" y="101"/>
                  </a:lnTo>
                  <a:lnTo>
                    <a:pt x="0" y="102"/>
                  </a:lnTo>
                  <a:lnTo>
                    <a:pt x="0"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未知"/>
            <p:cNvSpPr>
              <a:spLocks noChangeAspect="1"/>
            </p:cNvSpPr>
            <p:nvPr/>
          </p:nvSpPr>
          <p:spPr bwMode="auto">
            <a:xfrm>
              <a:off x="2473" y="1869"/>
              <a:ext cx="9" cy="15"/>
            </a:xfrm>
            <a:custGeom>
              <a:avLst/>
              <a:gdLst>
                <a:gd name="T0" fmla="*/ 0 w 52"/>
                <a:gd name="T1" fmla="*/ 0 h 102"/>
                <a:gd name="T2" fmla="*/ 12 w 52"/>
                <a:gd name="T3" fmla="*/ 2 h 102"/>
                <a:gd name="T4" fmla="*/ 23 w 52"/>
                <a:gd name="T5" fmla="*/ 6 h 102"/>
                <a:gd name="T6" fmla="*/ 32 w 52"/>
                <a:gd name="T7" fmla="*/ 12 h 102"/>
                <a:gd name="T8" fmla="*/ 40 w 52"/>
                <a:gd name="T9" fmla="*/ 20 h 102"/>
                <a:gd name="T10" fmla="*/ 46 w 52"/>
                <a:gd name="T11" fmla="*/ 29 h 102"/>
                <a:gd name="T12" fmla="*/ 50 w 52"/>
                <a:gd name="T13" fmla="*/ 41 h 102"/>
                <a:gd name="T14" fmla="*/ 52 w 52"/>
                <a:gd name="T15" fmla="*/ 52 h 102"/>
                <a:gd name="T16" fmla="*/ 50 w 52"/>
                <a:gd name="T17" fmla="*/ 63 h 102"/>
                <a:gd name="T18" fmla="*/ 46 w 52"/>
                <a:gd name="T19" fmla="*/ 74 h 102"/>
                <a:gd name="T20" fmla="*/ 40 w 52"/>
                <a:gd name="T21" fmla="*/ 83 h 102"/>
                <a:gd name="T22" fmla="*/ 32 w 52"/>
                <a:gd name="T23" fmla="*/ 91 h 102"/>
                <a:gd name="T24" fmla="*/ 23 w 52"/>
                <a:gd name="T25" fmla="*/ 97 h 102"/>
                <a:gd name="T26" fmla="*/ 12 w 52"/>
                <a:gd name="T27" fmla="*/ 101 h 102"/>
                <a:gd name="T28" fmla="*/ 0 w 52"/>
                <a:gd name="T2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2" h="102">
                  <a:moveTo>
                    <a:pt x="0" y="0"/>
                  </a:moveTo>
                  <a:lnTo>
                    <a:pt x="12" y="2"/>
                  </a:lnTo>
                  <a:lnTo>
                    <a:pt x="23" y="6"/>
                  </a:lnTo>
                  <a:lnTo>
                    <a:pt x="32" y="12"/>
                  </a:lnTo>
                  <a:lnTo>
                    <a:pt x="40" y="20"/>
                  </a:lnTo>
                  <a:lnTo>
                    <a:pt x="46" y="29"/>
                  </a:lnTo>
                  <a:lnTo>
                    <a:pt x="50" y="41"/>
                  </a:lnTo>
                  <a:lnTo>
                    <a:pt x="52" y="52"/>
                  </a:lnTo>
                  <a:lnTo>
                    <a:pt x="50" y="63"/>
                  </a:lnTo>
                  <a:lnTo>
                    <a:pt x="46" y="74"/>
                  </a:lnTo>
                  <a:lnTo>
                    <a:pt x="40" y="83"/>
                  </a:lnTo>
                  <a:lnTo>
                    <a:pt x="32" y="91"/>
                  </a:lnTo>
                  <a:lnTo>
                    <a:pt x="23" y="97"/>
                  </a:lnTo>
                  <a:lnTo>
                    <a:pt x="12" y="101"/>
                  </a:lnTo>
                  <a:lnTo>
                    <a:pt x="0" y="102"/>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 name="未知"/>
            <p:cNvSpPr>
              <a:spLocks noChangeAspect="1"/>
            </p:cNvSpPr>
            <p:nvPr/>
          </p:nvSpPr>
          <p:spPr bwMode="auto">
            <a:xfrm>
              <a:off x="1847" y="1504"/>
              <a:ext cx="10" cy="15"/>
            </a:xfrm>
            <a:custGeom>
              <a:avLst/>
              <a:gdLst>
                <a:gd name="T0" fmla="*/ 0 w 52"/>
                <a:gd name="T1" fmla="*/ 52 h 102"/>
                <a:gd name="T2" fmla="*/ 0 w 52"/>
                <a:gd name="T3" fmla="*/ 0 h 102"/>
                <a:gd name="T4" fmla="*/ 11 w 52"/>
                <a:gd name="T5" fmla="*/ 2 h 102"/>
                <a:gd name="T6" fmla="*/ 22 w 52"/>
                <a:gd name="T7" fmla="*/ 6 h 102"/>
                <a:gd name="T8" fmla="*/ 31 w 52"/>
                <a:gd name="T9" fmla="*/ 12 h 102"/>
                <a:gd name="T10" fmla="*/ 39 w 52"/>
                <a:gd name="T11" fmla="*/ 20 h 102"/>
                <a:gd name="T12" fmla="*/ 45 w 52"/>
                <a:gd name="T13" fmla="*/ 29 h 102"/>
                <a:gd name="T14" fmla="*/ 50 w 52"/>
                <a:gd name="T15" fmla="*/ 41 h 102"/>
                <a:gd name="T16" fmla="*/ 52 w 52"/>
                <a:gd name="T17" fmla="*/ 52 h 102"/>
                <a:gd name="T18" fmla="*/ 50 w 52"/>
                <a:gd name="T19" fmla="*/ 63 h 102"/>
                <a:gd name="T20" fmla="*/ 45 w 52"/>
                <a:gd name="T21" fmla="*/ 74 h 102"/>
                <a:gd name="T22" fmla="*/ 39 w 52"/>
                <a:gd name="T23" fmla="*/ 83 h 102"/>
                <a:gd name="T24" fmla="*/ 31 w 52"/>
                <a:gd name="T25" fmla="*/ 91 h 102"/>
                <a:gd name="T26" fmla="*/ 22 w 52"/>
                <a:gd name="T27" fmla="*/ 97 h 102"/>
                <a:gd name="T28" fmla="*/ 11 w 52"/>
                <a:gd name="T29" fmla="*/ 101 h 102"/>
                <a:gd name="T30" fmla="*/ 0 w 52"/>
                <a:gd name="T31" fmla="*/ 102 h 102"/>
                <a:gd name="T32" fmla="*/ 0 w 52"/>
                <a:gd name="T33" fmla="*/ 5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102">
                  <a:moveTo>
                    <a:pt x="0" y="52"/>
                  </a:moveTo>
                  <a:lnTo>
                    <a:pt x="0" y="0"/>
                  </a:lnTo>
                  <a:lnTo>
                    <a:pt x="11" y="2"/>
                  </a:lnTo>
                  <a:lnTo>
                    <a:pt x="22" y="6"/>
                  </a:lnTo>
                  <a:lnTo>
                    <a:pt x="31" y="12"/>
                  </a:lnTo>
                  <a:lnTo>
                    <a:pt x="39" y="20"/>
                  </a:lnTo>
                  <a:lnTo>
                    <a:pt x="45" y="29"/>
                  </a:lnTo>
                  <a:lnTo>
                    <a:pt x="50" y="41"/>
                  </a:lnTo>
                  <a:lnTo>
                    <a:pt x="52" y="52"/>
                  </a:lnTo>
                  <a:lnTo>
                    <a:pt x="50" y="63"/>
                  </a:lnTo>
                  <a:lnTo>
                    <a:pt x="45" y="74"/>
                  </a:lnTo>
                  <a:lnTo>
                    <a:pt x="39" y="83"/>
                  </a:lnTo>
                  <a:lnTo>
                    <a:pt x="31" y="91"/>
                  </a:lnTo>
                  <a:lnTo>
                    <a:pt x="22" y="97"/>
                  </a:lnTo>
                  <a:lnTo>
                    <a:pt x="11" y="101"/>
                  </a:lnTo>
                  <a:lnTo>
                    <a:pt x="0" y="102"/>
                  </a:lnTo>
                  <a:lnTo>
                    <a:pt x="0"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未知"/>
            <p:cNvSpPr>
              <a:spLocks noChangeAspect="1"/>
            </p:cNvSpPr>
            <p:nvPr/>
          </p:nvSpPr>
          <p:spPr bwMode="auto">
            <a:xfrm>
              <a:off x="1847" y="1504"/>
              <a:ext cx="10" cy="15"/>
            </a:xfrm>
            <a:custGeom>
              <a:avLst/>
              <a:gdLst>
                <a:gd name="T0" fmla="*/ 0 w 52"/>
                <a:gd name="T1" fmla="*/ 0 h 102"/>
                <a:gd name="T2" fmla="*/ 11 w 52"/>
                <a:gd name="T3" fmla="*/ 2 h 102"/>
                <a:gd name="T4" fmla="*/ 22 w 52"/>
                <a:gd name="T5" fmla="*/ 6 h 102"/>
                <a:gd name="T6" fmla="*/ 31 w 52"/>
                <a:gd name="T7" fmla="*/ 12 h 102"/>
                <a:gd name="T8" fmla="*/ 39 w 52"/>
                <a:gd name="T9" fmla="*/ 20 h 102"/>
                <a:gd name="T10" fmla="*/ 45 w 52"/>
                <a:gd name="T11" fmla="*/ 29 h 102"/>
                <a:gd name="T12" fmla="*/ 50 w 52"/>
                <a:gd name="T13" fmla="*/ 41 h 102"/>
                <a:gd name="T14" fmla="*/ 52 w 52"/>
                <a:gd name="T15" fmla="*/ 52 h 102"/>
                <a:gd name="T16" fmla="*/ 50 w 52"/>
                <a:gd name="T17" fmla="*/ 63 h 102"/>
                <a:gd name="T18" fmla="*/ 45 w 52"/>
                <a:gd name="T19" fmla="*/ 74 h 102"/>
                <a:gd name="T20" fmla="*/ 39 w 52"/>
                <a:gd name="T21" fmla="*/ 83 h 102"/>
                <a:gd name="T22" fmla="*/ 31 w 52"/>
                <a:gd name="T23" fmla="*/ 91 h 102"/>
                <a:gd name="T24" fmla="*/ 22 w 52"/>
                <a:gd name="T25" fmla="*/ 97 h 102"/>
                <a:gd name="T26" fmla="*/ 11 w 52"/>
                <a:gd name="T27" fmla="*/ 101 h 102"/>
                <a:gd name="T28" fmla="*/ 0 w 52"/>
                <a:gd name="T2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2" h="102">
                  <a:moveTo>
                    <a:pt x="0" y="0"/>
                  </a:moveTo>
                  <a:lnTo>
                    <a:pt x="11" y="2"/>
                  </a:lnTo>
                  <a:lnTo>
                    <a:pt x="22" y="6"/>
                  </a:lnTo>
                  <a:lnTo>
                    <a:pt x="31" y="12"/>
                  </a:lnTo>
                  <a:lnTo>
                    <a:pt x="39" y="20"/>
                  </a:lnTo>
                  <a:lnTo>
                    <a:pt x="45" y="29"/>
                  </a:lnTo>
                  <a:lnTo>
                    <a:pt x="50" y="41"/>
                  </a:lnTo>
                  <a:lnTo>
                    <a:pt x="52" y="52"/>
                  </a:lnTo>
                  <a:lnTo>
                    <a:pt x="50" y="63"/>
                  </a:lnTo>
                  <a:lnTo>
                    <a:pt x="45" y="74"/>
                  </a:lnTo>
                  <a:lnTo>
                    <a:pt x="39" y="83"/>
                  </a:lnTo>
                  <a:lnTo>
                    <a:pt x="31" y="91"/>
                  </a:lnTo>
                  <a:lnTo>
                    <a:pt x="22" y="97"/>
                  </a:lnTo>
                  <a:lnTo>
                    <a:pt x="11" y="101"/>
                  </a:lnTo>
                  <a:lnTo>
                    <a:pt x="0" y="102"/>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8" name="未知"/>
            <p:cNvSpPr>
              <a:spLocks noChangeAspect="1"/>
            </p:cNvSpPr>
            <p:nvPr/>
          </p:nvSpPr>
          <p:spPr bwMode="auto">
            <a:xfrm>
              <a:off x="1670" y="1504"/>
              <a:ext cx="177" cy="15"/>
            </a:xfrm>
            <a:custGeom>
              <a:avLst/>
              <a:gdLst>
                <a:gd name="T0" fmla="*/ 977 w 977"/>
                <a:gd name="T1" fmla="*/ 102 h 102"/>
                <a:gd name="T2" fmla="*/ 977 w 977"/>
                <a:gd name="T3" fmla="*/ 52 h 102"/>
                <a:gd name="T4" fmla="*/ 977 w 977"/>
                <a:gd name="T5" fmla="*/ 0 h 102"/>
                <a:gd name="T6" fmla="*/ 0 w 977"/>
                <a:gd name="T7" fmla="*/ 0 h 102"/>
                <a:gd name="T8" fmla="*/ 0 w 977"/>
                <a:gd name="T9" fmla="*/ 52 h 102"/>
                <a:gd name="T10" fmla="*/ 0 w 977"/>
                <a:gd name="T11" fmla="*/ 102 h 102"/>
                <a:gd name="T12" fmla="*/ 977 w 977"/>
                <a:gd name="T13" fmla="*/ 102 h 102"/>
              </a:gdLst>
              <a:ahLst/>
              <a:cxnLst>
                <a:cxn ang="0">
                  <a:pos x="T0" y="T1"/>
                </a:cxn>
                <a:cxn ang="0">
                  <a:pos x="T2" y="T3"/>
                </a:cxn>
                <a:cxn ang="0">
                  <a:pos x="T4" y="T5"/>
                </a:cxn>
                <a:cxn ang="0">
                  <a:pos x="T6" y="T7"/>
                </a:cxn>
                <a:cxn ang="0">
                  <a:pos x="T8" y="T9"/>
                </a:cxn>
                <a:cxn ang="0">
                  <a:pos x="T10" y="T11"/>
                </a:cxn>
                <a:cxn ang="0">
                  <a:pos x="T12" y="T13"/>
                </a:cxn>
              </a:cxnLst>
              <a:rect l="0" t="0" r="r" b="b"/>
              <a:pathLst>
                <a:path w="977" h="102">
                  <a:moveTo>
                    <a:pt x="977" y="102"/>
                  </a:moveTo>
                  <a:lnTo>
                    <a:pt x="977" y="52"/>
                  </a:lnTo>
                  <a:lnTo>
                    <a:pt x="977" y="0"/>
                  </a:lnTo>
                  <a:lnTo>
                    <a:pt x="0" y="0"/>
                  </a:lnTo>
                  <a:lnTo>
                    <a:pt x="0" y="52"/>
                  </a:lnTo>
                  <a:lnTo>
                    <a:pt x="0" y="102"/>
                  </a:lnTo>
                  <a:lnTo>
                    <a:pt x="977" y="1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未知"/>
            <p:cNvSpPr>
              <a:spLocks noChangeAspect="1"/>
            </p:cNvSpPr>
            <p:nvPr/>
          </p:nvSpPr>
          <p:spPr bwMode="auto">
            <a:xfrm>
              <a:off x="1670" y="1504"/>
              <a:ext cx="177" cy="15"/>
            </a:xfrm>
            <a:custGeom>
              <a:avLst/>
              <a:gdLst>
                <a:gd name="T0" fmla="*/ 977 w 977"/>
                <a:gd name="T1" fmla="*/ 102 h 102"/>
                <a:gd name="T2" fmla="*/ 977 w 977"/>
                <a:gd name="T3" fmla="*/ 52 h 102"/>
                <a:gd name="T4" fmla="*/ 977 w 977"/>
                <a:gd name="T5" fmla="*/ 0 h 102"/>
                <a:gd name="T6" fmla="*/ 0 w 977"/>
                <a:gd name="T7" fmla="*/ 0 h 102"/>
                <a:gd name="T8" fmla="*/ 0 w 977"/>
                <a:gd name="T9" fmla="*/ 52 h 102"/>
                <a:gd name="T10" fmla="*/ 0 w 977"/>
                <a:gd name="T11" fmla="*/ 102 h 102"/>
                <a:gd name="T12" fmla="*/ 977 w 977"/>
                <a:gd name="T13" fmla="*/ 102 h 102"/>
              </a:gdLst>
              <a:ahLst/>
              <a:cxnLst>
                <a:cxn ang="0">
                  <a:pos x="T0" y="T1"/>
                </a:cxn>
                <a:cxn ang="0">
                  <a:pos x="T2" y="T3"/>
                </a:cxn>
                <a:cxn ang="0">
                  <a:pos x="T4" y="T5"/>
                </a:cxn>
                <a:cxn ang="0">
                  <a:pos x="T6" y="T7"/>
                </a:cxn>
                <a:cxn ang="0">
                  <a:pos x="T8" y="T9"/>
                </a:cxn>
                <a:cxn ang="0">
                  <a:pos x="T10" y="T11"/>
                </a:cxn>
                <a:cxn ang="0">
                  <a:pos x="T12" y="T13"/>
                </a:cxn>
              </a:cxnLst>
              <a:rect l="0" t="0" r="r" b="b"/>
              <a:pathLst>
                <a:path w="977" h="102">
                  <a:moveTo>
                    <a:pt x="977" y="102"/>
                  </a:moveTo>
                  <a:lnTo>
                    <a:pt x="977" y="52"/>
                  </a:lnTo>
                  <a:lnTo>
                    <a:pt x="977" y="0"/>
                  </a:lnTo>
                  <a:lnTo>
                    <a:pt x="0" y="0"/>
                  </a:lnTo>
                  <a:lnTo>
                    <a:pt x="0" y="52"/>
                  </a:lnTo>
                  <a:lnTo>
                    <a:pt x="0" y="102"/>
                  </a:lnTo>
                  <a:lnTo>
                    <a:pt x="977" y="102"/>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 name="未知"/>
            <p:cNvSpPr>
              <a:spLocks noChangeAspect="1"/>
            </p:cNvSpPr>
            <p:nvPr/>
          </p:nvSpPr>
          <p:spPr bwMode="auto">
            <a:xfrm>
              <a:off x="1661" y="1504"/>
              <a:ext cx="9" cy="15"/>
            </a:xfrm>
            <a:custGeom>
              <a:avLst/>
              <a:gdLst>
                <a:gd name="T0" fmla="*/ 50 w 50"/>
                <a:gd name="T1" fmla="*/ 52 h 102"/>
                <a:gd name="T2" fmla="*/ 50 w 50"/>
                <a:gd name="T3" fmla="*/ 102 h 102"/>
                <a:gd name="T4" fmla="*/ 39 w 50"/>
                <a:gd name="T5" fmla="*/ 101 h 102"/>
                <a:gd name="T6" fmla="*/ 28 w 50"/>
                <a:gd name="T7" fmla="*/ 97 h 102"/>
                <a:gd name="T8" fmla="*/ 19 w 50"/>
                <a:gd name="T9" fmla="*/ 91 h 102"/>
                <a:gd name="T10" fmla="*/ 11 w 50"/>
                <a:gd name="T11" fmla="*/ 83 h 102"/>
                <a:gd name="T12" fmla="*/ 5 w 50"/>
                <a:gd name="T13" fmla="*/ 74 h 102"/>
                <a:gd name="T14" fmla="*/ 1 w 50"/>
                <a:gd name="T15" fmla="*/ 63 h 102"/>
                <a:gd name="T16" fmla="*/ 0 w 50"/>
                <a:gd name="T17" fmla="*/ 52 h 102"/>
                <a:gd name="T18" fmla="*/ 1 w 50"/>
                <a:gd name="T19" fmla="*/ 41 h 102"/>
                <a:gd name="T20" fmla="*/ 5 w 50"/>
                <a:gd name="T21" fmla="*/ 29 h 102"/>
                <a:gd name="T22" fmla="*/ 11 w 50"/>
                <a:gd name="T23" fmla="*/ 20 h 102"/>
                <a:gd name="T24" fmla="*/ 19 w 50"/>
                <a:gd name="T25" fmla="*/ 12 h 102"/>
                <a:gd name="T26" fmla="*/ 28 w 50"/>
                <a:gd name="T27" fmla="*/ 6 h 102"/>
                <a:gd name="T28" fmla="*/ 39 w 50"/>
                <a:gd name="T29" fmla="*/ 2 h 102"/>
                <a:gd name="T30" fmla="*/ 50 w 50"/>
                <a:gd name="T31" fmla="*/ 0 h 102"/>
                <a:gd name="T32" fmla="*/ 50 w 50"/>
                <a:gd name="T33" fmla="*/ 5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0" h="102">
                  <a:moveTo>
                    <a:pt x="50" y="52"/>
                  </a:moveTo>
                  <a:lnTo>
                    <a:pt x="50" y="102"/>
                  </a:lnTo>
                  <a:lnTo>
                    <a:pt x="39" y="101"/>
                  </a:lnTo>
                  <a:lnTo>
                    <a:pt x="28" y="97"/>
                  </a:lnTo>
                  <a:lnTo>
                    <a:pt x="19" y="91"/>
                  </a:lnTo>
                  <a:lnTo>
                    <a:pt x="11" y="83"/>
                  </a:lnTo>
                  <a:lnTo>
                    <a:pt x="5" y="74"/>
                  </a:lnTo>
                  <a:lnTo>
                    <a:pt x="1" y="63"/>
                  </a:lnTo>
                  <a:lnTo>
                    <a:pt x="0" y="52"/>
                  </a:lnTo>
                  <a:lnTo>
                    <a:pt x="1" y="41"/>
                  </a:lnTo>
                  <a:lnTo>
                    <a:pt x="5" y="29"/>
                  </a:lnTo>
                  <a:lnTo>
                    <a:pt x="11" y="20"/>
                  </a:lnTo>
                  <a:lnTo>
                    <a:pt x="19" y="12"/>
                  </a:lnTo>
                  <a:lnTo>
                    <a:pt x="28" y="6"/>
                  </a:lnTo>
                  <a:lnTo>
                    <a:pt x="39" y="2"/>
                  </a:lnTo>
                  <a:lnTo>
                    <a:pt x="50" y="0"/>
                  </a:lnTo>
                  <a:lnTo>
                    <a:pt x="50"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未知"/>
            <p:cNvSpPr>
              <a:spLocks noChangeAspect="1"/>
            </p:cNvSpPr>
            <p:nvPr/>
          </p:nvSpPr>
          <p:spPr bwMode="auto">
            <a:xfrm>
              <a:off x="1661" y="1504"/>
              <a:ext cx="9" cy="15"/>
            </a:xfrm>
            <a:custGeom>
              <a:avLst/>
              <a:gdLst>
                <a:gd name="T0" fmla="*/ 50 w 50"/>
                <a:gd name="T1" fmla="*/ 102 h 102"/>
                <a:gd name="T2" fmla="*/ 39 w 50"/>
                <a:gd name="T3" fmla="*/ 101 h 102"/>
                <a:gd name="T4" fmla="*/ 28 w 50"/>
                <a:gd name="T5" fmla="*/ 97 h 102"/>
                <a:gd name="T6" fmla="*/ 19 w 50"/>
                <a:gd name="T7" fmla="*/ 91 h 102"/>
                <a:gd name="T8" fmla="*/ 11 w 50"/>
                <a:gd name="T9" fmla="*/ 83 h 102"/>
                <a:gd name="T10" fmla="*/ 5 w 50"/>
                <a:gd name="T11" fmla="*/ 74 h 102"/>
                <a:gd name="T12" fmla="*/ 1 w 50"/>
                <a:gd name="T13" fmla="*/ 63 h 102"/>
                <a:gd name="T14" fmla="*/ 0 w 50"/>
                <a:gd name="T15" fmla="*/ 52 h 102"/>
                <a:gd name="T16" fmla="*/ 1 w 50"/>
                <a:gd name="T17" fmla="*/ 41 h 102"/>
                <a:gd name="T18" fmla="*/ 5 w 50"/>
                <a:gd name="T19" fmla="*/ 29 h 102"/>
                <a:gd name="T20" fmla="*/ 11 w 50"/>
                <a:gd name="T21" fmla="*/ 20 h 102"/>
                <a:gd name="T22" fmla="*/ 19 w 50"/>
                <a:gd name="T23" fmla="*/ 12 h 102"/>
                <a:gd name="T24" fmla="*/ 28 w 50"/>
                <a:gd name="T25" fmla="*/ 6 h 102"/>
                <a:gd name="T26" fmla="*/ 39 w 50"/>
                <a:gd name="T27" fmla="*/ 2 h 102"/>
                <a:gd name="T28" fmla="*/ 50 w 50"/>
                <a:gd name="T29"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0" h="102">
                  <a:moveTo>
                    <a:pt x="50" y="102"/>
                  </a:moveTo>
                  <a:lnTo>
                    <a:pt x="39" y="101"/>
                  </a:lnTo>
                  <a:lnTo>
                    <a:pt x="28" y="97"/>
                  </a:lnTo>
                  <a:lnTo>
                    <a:pt x="19" y="91"/>
                  </a:lnTo>
                  <a:lnTo>
                    <a:pt x="11" y="83"/>
                  </a:lnTo>
                  <a:lnTo>
                    <a:pt x="5" y="74"/>
                  </a:lnTo>
                  <a:lnTo>
                    <a:pt x="1" y="63"/>
                  </a:lnTo>
                  <a:lnTo>
                    <a:pt x="0" y="52"/>
                  </a:lnTo>
                  <a:lnTo>
                    <a:pt x="1" y="41"/>
                  </a:lnTo>
                  <a:lnTo>
                    <a:pt x="5" y="29"/>
                  </a:lnTo>
                  <a:lnTo>
                    <a:pt x="11" y="20"/>
                  </a:lnTo>
                  <a:lnTo>
                    <a:pt x="19" y="12"/>
                  </a:lnTo>
                  <a:lnTo>
                    <a:pt x="28" y="6"/>
                  </a:lnTo>
                  <a:lnTo>
                    <a:pt x="39" y="2"/>
                  </a:lnTo>
                  <a:lnTo>
                    <a:pt x="50"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 name="Line 217"/>
            <p:cNvSpPr>
              <a:spLocks noChangeAspect="1" noChangeShapeType="1"/>
            </p:cNvSpPr>
            <p:nvPr/>
          </p:nvSpPr>
          <p:spPr bwMode="auto">
            <a:xfrm>
              <a:off x="1847" y="514"/>
              <a:ext cx="38" cy="3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218"/>
            <p:cNvSpPr>
              <a:spLocks noChangeAspect="1" noChangeShapeType="1"/>
            </p:cNvSpPr>
            <p:nvPr/>
          </p:nvSpPr>
          <p:spPr bwMode="auto">
            <a:xfrm>
              <a:off x="1897" y="554"/>
              <a:ext cx="48" cy="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219"/>
            <p:cNvSpPr>
              <a:spLocks noChangeAspect="1" noChangeShapeType="1"/>
            </p:cNvSpPr>
            <p:nvPr/>
          </p:nvSpPr>
          <p:spPr bwMode="auto">
            <a:xfrm>
              <a:off x="1957" y="603"/>
              <a:ext cx="48" cy="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220"/>
            <p:cNvSpPr>
              <a:spLocks noChangeAspect="1" noChangeShapeType="1"/>
            </p:cNvSpPr>
            <p:nvPr/>
          </p:nvSpPr>
          <p:spPr bwMode="auto">
            <a:xfrm>
              <a:off x="2018" y="651"/>
              <a:ext cx="47" cy="4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221"/>
            <p:cNvSpPr>
              <a:spLocks noChangeAspect="1" noChangeShapeType="1"/>
            </p:cNvSpPr>
            <p:nvPr/>
          </p:nvSpPr>
          <p:spPr bwMode="auto">
            <a:xfrm>
              <a:off x="2078" y="701"/>
              <a:ext cx="47" cy="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Line 222"/>
            <p:cNvSpPr>
              <a:spLocks noChangeAspect="1" noChangeShapeType="1"/>
            </p:cNvSpPr>
            <p:nvPr/>
          </p:nvSpPr>
          <p:spPr bwMode="auto">
            <a:xfrm>
              <a:off x="2138" y="749"/>
              <a:ext cx="48" cy="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223"/>
            <p:cNvSpPr>
              <a:spLocks noChangeAspect="1" noChangeShapeType="1"/>
            </p:cNvSpPr>
            <p:nvPr/>
          </p:nvSpPr>
          <p:spPr bwMode="auto">
            <a:xfrm>
              <a:off x="2198" y="798"/>
              <a:ext cx="48" cy="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Line 224"/>
            <p:cNvSpPr>
              <a:spLocks noChangeAspect="1" noChangeShapeType="1"/>
            </p:cNvSpPr>
            <p:nvPr/>
          </p:nvSpPr>
          <p:spPr bwMode="auto">
            <a:xfrm>
              <a:off x="2258" y="847"/>
              <a:ext cx="37" cy="3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225"/>
            <p:cNvSpPr>
              <a:spLocks noChangeAspect="1" noChangeShapeType="1"/>
            </p:cNvSpPr>
            <p:nvPr/>
          </p:nvSpPr>
          <p:spPr bwMode="auto">
            <a:xfrm>
              <a:off x="1847" y="1533"/>
              <a:ext cx="36" cy="2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Line 226"/>
            <p:cNvSpPr>
              <a:spLocks noChangeAspect="1" noChangeShapeType="1"/>
            </p:cNvSpPr>
            <p:nvPr/>
          </p:nvSpPr>
          <p:spPr bwMode="auto">
            <a:xfrm>
              <a:off x="1895" y="1570"/>
              <a:ext cx="48" cy="4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 name="Line 227"/>
            <p:cNvSpPr>
              <a:spLocks noChangeAspect="1" noChangeShapeType="1"/>
            </p:cNvSpPr>
            <p:nvPr/>
          </p:nvSpPr>
          <p:spPr bwMode="auto">
            <a:xfrm>
              <a:off x="1956" y="1619"/>
              <a:ext cx="48" cy="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 name="Line 228"/>
            <p:cNvSpPr>
              <a:spLocks noChangeAspect="1" noChangeShapeType="1"/>
            </p:cNvSpPr>
            <p:nvPr/>
          </p:nvSpPr>
          <p:spPr bwMode="auto">
            <a:xfrm>
              <a:off x="2017" y="1667"/>
              <a:ext cx="48" cy="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Line 229"/>
            <p:cNvSpPr>
              <a:spLocks noChangeAspect="1" noChangeShapeType="1"/>
            </p:cNvSpPr>
            <p:nvPr/>
          </p:nvSpPr>
          <p:spPr bwMode="auto">
            <a:xfrm>
              <a:off x="2078" y="1715"/>
              <a:ext cx="48" cy="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230"/>
            <p:cNvSpPr>
              <a:spLocks noChangeAspect="1" noChangeShapeType="1"/>
            </p:cNvSpPr>
            <p:nvPr/>
          </p:nvSpPr>
          <p:spPr bwMode="auto">
            <a:xfrm>
              <a:off x="2139" y="1763"/>
              <a:ext cx="48" cy="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 name="Line 231"/>
            <p:cNvSpPr>
              <a:spLocks noChangeAspect="1" noChangeShapeType="1"/>
            </p:cNvSpPr>
            <p:nvPr/>
          </p:nvSpPr>
          <p:spPr bwMode="auto">
            <a:xfrm>
              <a:off x="2199" y="1811"/>
              <a:ext cx="49" cy="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Line 232"/>
            <p:cNvSpPr>
              <a:spLocks noChangeAspect="1" noChangeShapeType="1"/>
            </p:cNvSpPr>
            <p:nvPr/>
          </p:nvSpPr>
          <p:spPr bwMode="auto">
            <a:xfrm>
              <a:off x="2260" y="1860"/>
              <a:ext cx="35" cy="2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233"/>
            <p:cNvSpPr>
              <a:spLocks noChangeAspect="1" noChangeShapeType="1"/>
            </p:cNvSpPr>
            <p:nvPr/>
          </p:nvSpPr>
          <p:spPr bwMode="auto">
            <a:xfrm flipV="1">
              <a:off x="2295" y="869"/>
              <a:ext cx="37"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Line 234"/>
            <p:cNvSpPr>
              <a:spLocks noChangeAspect="1" noChangeShapeType="1"/>
            </p:cNvSpPr>
            <p:nvPr/>
          </p:nvSpPr>
          <p:spPr bwMode="auto">
            <a:xfrm flipV="1">
              <a:off x="2349" y="852"/>
              <a:ext cx="64" cy="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Line 235"/>
            <p:cNvSpPr>
              <a:spLocks noChangeAspect="1" noChangeShapeType="1"/>
            </p:cNvSpPr>
            <p:nvPr/>
          </p:nvSpPr>
          <p:spPr bwMode="auto">
            <a:xfrm flipV="1">
              <a:off x="2430" y="840"/>
              <a:ext cx="37"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Line 236"/>
            <p:cNvSpPr>
              <a:spLocks noChangeAspect="1" noChangeShapeType="1"/>
            </p:cNvSpPr>
            <p:nvPr/>
          </p:nvSpPr>
          <p:spPr bwMode="auto">
            <a:xfrm>
              <a:off x="2295" y="1887"/>
              <a:ext cx="37"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Line 237"/>
            <p:cNvSpPr>
              <a:spLocks noChangeAspect="1" noChangeShapeType="1"/>
            </p:cNvSpPr>
            <p:nvPr/>
          </p:nvSpPr>
          <p:spPr bwMode="auto">
            <a:xfrm>
              <a:off x="2349" y="1896"/>
              <a:ext cx="66"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 name="Line 238"/>
            <p:cNvSpPr>
              <a:spLocks noChangeAspect="1" noChangeShapeType="1"/>
            </p:cNvSpPr>
            <p:nvPr/>
          </p:nvSpPr>
          <p:spPr bwMode="auto">
            <a:xfrm>
              <a:off x="2432" y="1910"/>
              <a:ext cx="37" cy="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 name="Line 239"/>
            <p:cNvSpPr>
              <a:spLocks noChangeAspect="1" noChangeShapeType="1"/>
            </p:cNvSpPr>
            <p:nvPr/>
          </p:nvSpPr>
          <p:spPr bwMode="auto">
            <a:xfrm flipV="1">
              <a:off x="2469" y="1872"/>
              <a:ext cx="10" cy="4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Line 240"/>
            <p:cNvSpPr>
              <a:spLocks noChangeAspect="1" noChangeShapeType="1"/>
            </p:cNvSpPr>
            <p:nvPr/>
          </p:nvSpPr>
          <p:spPr bwMode="auto">
            <a:xfrm flipV="1">
              <a:off x="2482" y="1802"/>
              <a:ext cx="12" cy="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 name="Line 241"/>
            <p:cNvSpPr>
              <a:spLocks noChangeAspect="1" noChangeShapeType="1"/>
            </p:cNvSpPr>
            <p:nvPr/>
          </p:nvSpPr>
          <p:spPr bwMode="auto">
            <a:xfrm flipV="1">
              <a:off x="2497" y="1734"/>
              <a:ext cx="13" cy="5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 name="未知"/>
            <p:cNvSpPr>
              <a:spLocks noChangeAspect="1"/>
            </p:cNvSpPr>
            <p:nvPr/>
          </p:nvSpPr>
          <p:spPr bwMode="auto">
            <a:xfrm>
              <a:off x="2513" y="1664"/>
              <a:ext cx="8" cy="56"/>
            </a:xfrm>
            <a:custGeom>
              <a:avLst/>
              <a:gdLst>
                <a:gd name="T0" fmla="*/ 0 w 44"/>
                <a:gd name="T1" fmla="*/ 366 h 366"/>
                <a:gd name="T2" fmla="*/ 20 w 44"/>
                <a:gd name="T3" fmla="*/ 254 h 366"/>
                <a:gd name="T4" fmla="*/ 44 w 44"/>
                <a:gd name="T5" fmla="*/ 0 h 366"/>
              </a:gdLst>
              <a:ahLst/>
              <a:cxnLst>
                <a:cxn ang="0">
                  <a:pos x="T0" y="T1"/>
                </a:cxn>
                <a:cxn ang="0">
                  <a:pos x="T2" y="T3"/>
                </a:cxn>
                <a:cxn ang="0">
                  <a:pos x="T4" y="T5"/>
                </a:cxn>
              </a:cxnLst>
              <a:rect l="0" t="0" r="r" b="b"/>
              <a:pathLst>
                <a:path w="44" h="366">
                  <a:moveTo>
                    <a:pt x="0" y="366"/>
                  </a:moveTo>
                  <a:lnTo>
                    <a:pt x="20" y="254"/>
                  </a:lnTo>
                  <a:lnTo>
                    <a:pt x="44"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 name="Line 243"/>
            <p:cNvSpPr>
              <a:spLocks noChangeAspect="1" noChangeShapeType="1"/>
            </p:cNvSpPr>
            <p:nvPr/>
          </p:nvSpPr>
          <p:spPr bwMode="auto">
            <a:xfrm flipV="1">
              <a:off x="2522" y="1595"/>
              <a:ext cx="6" cy="5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 name="Line 244"/>
            <p:cNvSpPr>
              <a:spLocks noChangeAspect="1" noChangeShapeType="1"/>
            </p:cNvSpPr>
            <p:nvPr/>
          </p:nvSpPr>
          <p:spPr bwMode="auto">
            <a:xfrm flipV="1">
              <a:off x="2530" y="1525"/>
              <a:ext cx="5" cy="5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 name="未知"/>
            <p:cNvSpPr>
              <a:spLocks noChangeAspect="1"/>
            </p:cNvSpPr>
            <p:nvPr/>
          </p:nvSpPr>
          <p:spPr bwMode="auto">
            <a:xfrm>
              <a:off x="2537" y="1455"/>
              <a:ext cx="3" cy="56"/>
            </a:xfrm>
            <a:custGeom>
              <a:avLst/>
              <a:gdLst>
                <a:gd name="T0" fmla="*/ 0 w 15"/>
                <a:gd name="T1" fmla="*/ 369 h 369"/>
                <a:gd name="T2" fmla="*/ 15 w 15"/>
                <a:gd name="T3" fmla="*/ 208 h 369"/>
                <a:gd name="T4" fmla="*/ 14 w 15"/>
                <a:gd name="T5" fmla="*/ 0 h 369"/>
              </a:gdLst>
              <a:ahLst/>
              <a:cxnLst>
                <a:cxn ang="0">
                  <a:pos x="T0" y="T1"/>
                </a:cxn>
                <a:cxn ang="0">
                  <a:pos x="T2" y="T3"/>
                </a:cxn>
                <a:cxn ang="0">
                  <a:pos x="T4" y="T5"/>
                </a:cxn>
              </a:cxnLst>
              <a:rect l="0" t="0" r="r" b="b"/>
              <a:pathLst>
                <a:path w="15" h="369">
                  <a:moveTo>
                    <a:pt x="0" y="369"/>
                  </a:moveTo>
                  <a:lnTo>
                    <a:pt x="15" y="208"/>
                  </a:lnTo>
                  <a:lnTo>
                    <a:pt x="14"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 name="Line 246"/>
            <p:cNvSpPr>
              <a:spLocks noChangeAspect="1" noChangeShapeType="1"/>
            </p:cNvSpPr>
            <p:nvPr/>
          </p:nvSpPr>
          <p:spPr bwMode="auto">
            <a:xfrm flipV="1">
              <a:off x="2540" y="1385"/>
              <a:ext cx="1" cy="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 name="Line 247"/>
            <p:cNvSpPr>
              <a:spLocks noChangeAspect="1" noChangeShapeType="1"/>
            </p:cNvSpPr>
            <p:nvPr/>
          </p:nvSpPr>
          <p:spPr bwMode="auto">
            <a:xfrm flipH="1" flipV="1">
              <a:off x="2540" y="1315"/>
              <a:ext cx="1" cy="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 name="未知"/>
            <p:cNvSpPr>
              <a:spLocks noChangeAspect="1"/>
            </p:cNvSpPr>
            <p:nvPr/>
          </p:nvSpPr>
          <p:spPr bwMode="auto">
            <a:xfrm>
              <a:off x="2537" y="1246"/>
              <a:ext cx="3" cy="55"/>
            </a:xfrm>
            <a:custGeom>
              <a:avLst/>
              <a:gdLst>
                <a:gd name="T0" fmla="*/ 15 w 15"/>
                <a:gd name="T1" fmla="*/ 369 h 369"/>
                <a:gd name="T2" fmla="*/ 14 w 15"/>
                <a:gd name="T3" fmla="*/ 160 h 369"/>
                <a:gd name="T4" fmla="*/ 0 w 15"/>
                <a:gd name="T5" fmla="*/ 0 h 369"/>
              </a:gdLst>
              <a:ahLst/>
              <a:cxnLst>
                <a:cxn ang="0">
                  <a:pos x="T0" y="T1"/>
                </a:cxn>
                <a:cxn ang="0">
                  <a:pos x="T2" y="T3"/>
                </a:cxn>
                <a:cxn ang="0">
                  <a:pos x="T4" y="T5"/>
                </a:cxn>
              </a:cxnLst>
              <a:rect l="0" t="0" r="r" b="b"/>
              <a:pathLst>
                <a:path w="15" h="369">
                  <a:moveTo>
                    <a:pt x="15" y="369"/>
                  </a:moveTo>
                  <a:lnTo>
                    <a:pt x="14" y="160"/>
                  </a:lnTo>
                  <a:lnTo>
                    <a:pt x="0"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 name="Line 249"/>
            <p:cNvSpPr>
              <a:spLocks noChangeAspect="1" noChangeShapeType="1"/>
            </p:cNvSpPr>
            <p:nvPr/>
          </p:nvSpPr>
          <p:spPr bwMode="auto">
            <a:xfrm flipH="1" flipV="1">
              <a:off x="2529" y="1176"/>
              <a:ext cx="6" cy="5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 name="Line 250"/>
            <p:cNvSpPr>
              <a:spLocks noChangeAspect="1" noChangeShapeType="1"/>
            </p:cNvSpPr>
            <p:nvPr/>
          </p:nvSpPr>
          <p:spPr bwMode="auto">
            <a:xfrm flipH="1" flipV="1">
              <a:off x="2521" y="1105"/>
              <a:ext cx="6" cy="5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 name="未知"/>
            <p:cNvSpPr>
              <a:spLocks noChangeAspect="1"/>
            </p:cNvSpPr>
            <p:nvPr/>
          </p:nvSpPr>
          <p:spPr bwMode="auto">
            <a:xfrm>
              <a:off x="2511" y="1036"/>
              <a:ext cx="9" cy="56"/>
            </a:xfrm>
            <a:custGeom>
              <a:avLst/>
              <a:gdLst>
                <a:gd name="T0" fmla="*/ 46 w 46"/>
                <a:gd name="T1" fmla="*/ 366 h 366"/>
                <a:gd name="T2" fmla="*/ 21 w 46"/>
                <a:gd name="T3" fmla="*/ 111 h 366"/>
                <a:gd name="T4" fmla="*/ 0 w 46"/>
                <a:gd name="T5" fmla="*/ 0 h 366"/>
              </a:gdLst>
              <a:ahLst/>
              <a:cxnLst>
                <a:cxn ang="0">
                  <a:pos x="T0" y="T1"/>
                </a:cxn>
                <a:cxn ang="0">
                  <a:pos x="T2" y="T3"/>
                </a:cxn>
                <a:cxn ang="0">
                  <a:pos x="T4" y="T5"/>
                </a:cxn>
              </a:cxnLst>
              <a:rect l="0" t="0" r="r" b="b"/>
              <a:pathLst>
                <a:path w="46" h="366">
                  <a:moveTo>
                    <a:pt x="46" y="366"/>
                  </a:moveTo>
                  <a:lnTo>
                    <a:pt x="21" y="111"/>
                  </a:lnTo>
                  <a:lnTo>
                    <a:pt x="0"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7" name="Line 252"/>
            <p:cNvSpPr>
              <a:spLocks noChangeAspect="1" noChangeShapeType="1"/>
            </p:cNvSpPr>
            <p:nvPr/>
          </p:nvSpPr>
          <p:spPr bwMode="auto">
            <a:xfrm flipH="1" flipV="1">
              <a:off x="2495" y="967"/>
              <a:ext cx="13" cy="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 name="Line 253"/>
            <p:cNvSpPr>
              <a:spLocks noChangeAspect="1" noChangeShapeType="1"/>
            </p:cNvSpPr>
            <p:nvPr/>
          </p:nvSpPr>
          <p:spPr bwMode="auto">
            <a:xfrm flipH="1" flipV="1">
              <a:off x="2480" y="899"/>
              <a:ext cx="13" cy="5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 name="Line 254"/>
            <p:cNvSpPr>
              <a:spLocks noChangeAspect="1" noChangeShapeType="1"/>
            </p:cNvSpPr>
            <p:nvPr/>
          </p:nvSpPr>
          <p:spPr bwMode="auto">
            <a:xfrm flipH="1" flipV="1">
              <a:off x="2467" y="840"/>
              <a:ext cx="10" cy="4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 name="Line 255"/>
            <p:cNvSpPr>
              <a:spLocks noChangeAspect="1" noChangeShapeType="1"/>
            </p:cNvSpPr>
            <p:nvPr/>
          </p:nvSpPr>
          <p:spPr bwMode="auto">
            <a:xfrm flipH="1">
              <a:off x="1836" y="514"/>
              <a:ext cx="11" cy="5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 name="Line 256"/>
            <p:cNvSpPr>
              <a:spLocks noChangeAspect="1" noChangeShapeType="1"/>
            </p:cNvSpPr>
            <p:nvPr/>
          </p:nvSpPr>
          <p:spPr bwMode="auto">
            <a:xfrm flipH="1">
              <a:off x="1821" y="579"/>
              <a:ext cx="13" cy="5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 name="Line 257"/>
            <p:cNvSpPr>
              <a:spLocks noChangeAspect="1" noChangeShapeType="1"/>
            </p:cNvSpPr>
            <p:nvPr/>
          </p:nvSpPr>
          <p:spPr bwMode="auto">
            <a:xfrm flipH="1">
              <a:off x="1806" y="648"/>
              <a:ext cx="12" cy="5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 name="Line 258"/>
            <p:cNvSpPr>
              <a:spLocks noChangeAspect="1" noChangeShapeType="1"/>
            </p:cNvSpPr>
            <p:nvPr/>
          </p:nvSpPr>
          <p:spPr bwMode="auto">
            <a:xfrm flipH="1">
              <a:off x="1797" y="717"/>
              <a:ext cx="6" cy="5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 name="Line 259"/>
            <p:cNvSpPr>
              <a:spLocks noChangeAspect="1" noChangeShapeType="1"/>
            </p:cNvSpPr>
            <p:nvPr/>
          </p:nvSpPr>
          <p:spPr bwMode="auto">
            <a:xfrm flipH="1">
              <a:off x="1789" y="786"/>
              <a:ext cx="6" cy="5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 name="Line 260"/>
            <p:cNvSpPr>
              <a:spLocks noChangeAspect="1" noChangeShapeType="1"/>
            </p:cNvSpPr>
            <p:nvPr/>
          </p:nvSpPr>
          <p:spPr bwMode="auto">
            <a:xfrm flipH="1">
              <a:off x="1782" y="856"/>
              <a:ext cx="6" cy="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 name="Line 261"/>
            <p:cNvSpPr>
              <a:spLocks noChangeAspect="1" noChangeShapeType="1"/>
            </p:cNvSpPr>
            <p:nvPr/>
          </p:nvSpPr>
          <p:spPr bwMode="auto">
            <a:xfrm>
              <a:off x="1781" y="926"/>
              <a:ext cx="1" cy="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 name="Line 262"/>
            <p:cNvSpPr>
              <a:spLocks noChangeAspect="1" noChangeShapeType="1"/>
            </p:cNvSpPr>
            <p:nvPr/>
          </p:nvSpPr>
          <p:spPr bwMode="auto">
            <a:xfrm>
              <a:off x="1781" y="996"/>
              <a:ext cx="1" cy="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 name="Line 263"/>
            <p:cNvSpPr>
              <a:spLocks noChangeAspect="1" noChangeShapeType="1"/>
            </p:cNvSpPr>
            <p:nvPr/>
          </p:nvSpPr>
          <p:spPr bwMode="auto">
            <a:xfrm>
              <a:off x="1781" y="1065"/>
              <a:ext cx="1" cy="5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 name="Line 264"/>
            <p:cNvSpPr>
              <a:spLocks noChangeAspect="1" noChangeShapeType="1"/>
            </p:cNvSpPr>
            <p:nvPr/>
          </p:nvSpPr>
          <p:spPr bwMode="auto">
            <a:xfrm>
              <a:off x="1782" y="1135"/>
              <a:ext cx="6" cy="5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 name="Line 265"/>
            <p:cNvSpPr>
              <a:spLocks noChangeAspect="1" noChangeShapeType="1"/>
            </p:cNvSpPr>
            <p:nvPr/>
          </p:nvSpPr>
          <p:spPr bwMode="auto">
            <a:xfrm>
              <a:off x="1789" y="1206"/>
              <a:ext cx="6" cy="5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 name="Line 266"/>
            <p:cNvSpPr>
              <a:spLocks noChangeAspect="1" noChangeShapeType="1"/>
            </p:cNvSpPr>
            <p:nvPr/>
          </p:nvSpPr>
          <p:spPr bwMode="auto">
            <a:xfrm>
              <a:off x="1797" y="1276"/>
              <a:ext cx="6" cy="5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 name="Line 267"/>
            <p:cNvSpPr>
              <a:spLocks noChangeAspect="1" noChangeShapeType="1"/>
            </p:cNvSpPr>
            <p:nvPr/>
          </p:nvSpPr>
          <p:spPr bwMode="auto">
            <a:xfrm>
              <a:off x="1806" y="1345"/>
              <a:ext cx="12" cy="5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 name="Line 268"/>
            <p:cNvSpPr>
              <a:spLocks noChangeAspect="1" noChangeShapeType="1"/>
            </p:cNvSpPr>
            <p:nvPr/>
          </p:nvSpPr>
          <p:spPr bwMode="auto">
            <a:xfrm>
              <a:off x="1821" y="1414"/>
              <a:ext cx="13" cy="5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 name="Line 269"/>
            <p:cNvSpPr>
              <a:spLocks noChangeAspect="1" noChangeShapeType="1"/>
            </p:cNvSpPr>
            <p:nvPr/>
          </p:nvSpPr>
          <p:spPr bwMode="auto">
            <a:xfrm>
              <a:off x="1836" y="1482"/>
              <a:ext cx="11" cy="5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 name="Line 270"/>
            <p:cNvSpPr>
              <a:spLocks noChangeAspect="1" noChangeShapeType="1"/>
            </p:cNvSpPr>
            <p:nvPr/>
          </p:nvSpPr>
          <p:spPr bwMode="auto">
            <a:xfrm flipV="1">
              <a:off x="2295" y="1841"/>
              <a:ext cx="10" cy="4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 name="Line 271"/>
            <p:cNvSpPr>
              <a:spLocks noChangeAspect="1" noChangeShapeType="1"/>
            </p:cNvSpPr>
            <p:nvPr/>
          </p:nvSpPr>
          <p:spPr bwMode="auto">
            <a:xfrm flipV="1">
              <a:off x="2309" y="1771"/>
              <a:ext cx="12" cy="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 name="Line 272"/>
            <p:cNvSpPr>
              <a:spLocks noChangeAspect="1" noChangeShapeType="1"/>
            </p:cNvSpPr>
            <p:nvPr/>
          </p:nvSpPr>
          <p:spPr bwMode="auto">
            <a:xfrm flipV="1">
              <a:off x="2323" y="1703"/>
              <a:ext cx="12" cy="5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 name="未知"/>
            <p:cNvSpPr>
              <a:spLocks noChangeAspect="1"/>
            </p:cNvSpPr>
            <p:nvPr/>
          </p:nvSpPr>
          <p:spPr bwMode="auto">
            <a:xfrm>
              <a:off x="2339" y="1633"/>
              <a:ext cx="6" cy="56"/>
            </a:xfrm>
            <a:custGeom>
              <a:avLst/>
              <a:gdLst>
                <a:gd name="T0" fmla="*/ 0 w 35"/>
                <a:gd name="T1" fmla="*/ 367 h 367"/>
                <a:gd name="T2" fmla="*/ 3 w 35"/>
                <a:gd name="T3" fmla="*/ 352 h 367"/>
                <a:gd name="T4" fmla="*/ 35 w 35"/>
                <a:gd name="T5" fmla="*/ 0 h 367"/>
              </a:gdLst>
              <a:ahLst/>
              <a:cxnLst>
                <a:cxn ang="0">
                  <a:pos x="T0" y="T1"/>
                </a:cxn>
                <a:cxn ang="0">
                  <a:pos x="T2" y="T3"/>
                </a:cxn>
                <a:cxn ang="0">
                  <a:pos x="T4" y="T5"/>
                </a:cxn>
              </a:cxnLst>
              <a:rect l="0" t="0" r="r" b="b"/>
              <a:pathLst>
                <a:path w="35" h="367">
                  <a:moveTo>
                    <a:pt x="0" y="367"/>
                  </a:moveTo>
                  <a:lnTo>
                    <a:pt x="3" y="352"/>
                  </a:lnTo>
                  <a:lnTo>
                    <a:pt x="35"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9" name="Line 274"/>
            <p:cNvSpPr>
              <a:spLocks noChangeAspect="1" noChangeShapeType="1"/>
            </p:cNvSpPr>
            <p:nvPr/>
          </p:nvSpPr>
          <p:spPr bwMode="auto">
            <a:xfrm flipV="1">
              <a:off x="2347" y="1564"/>
              <a:ext cx="5" cy="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 name="Line 275"/>
            <p:cNvSpPr>
              <a:spLocks noChangeAspect="1" noChangeShapeType="1"/>
            </p:cNvSpPr>
            <p:nvPr/>
          </p:nvSpPr>
          <p:spPr bwMode="auto">
            <a:xfrm flipV="1">
              <a:off x="2354" y="1494"/>
              <a:ext cx="7" cy="5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 name="Line 276"/>
            <p:cNvSpPr>
              <a:spLocks noChangeAspect="1" noChangeShapeType="1"/>
            </p:cNvSpPr>
            <p:nvPr/>
          </p:nvSpPr>
          <p:spPr bwMode="auto">
            <a:xfrm flipV="1">
              <a:off x="2362" y="1424"/>
              <a:ext cx="0" cy="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 name="Line 277"/>
            <p:cNvSpPr>
              <a:spLocks noChangeAspect="1" noChangeShapeType="1"/>
            </p:cNvSpPr>
            <p:nvPr/>
          </p:nvSpPr>
          <p:spPr bwMode="auto">
            <a:xfrm flipV="1">
              <a:off x="2362" y="1354"/>
              <a:ext cx="0" cy="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 name="Line 278"/>
            <p:cNvSpPr>
              <a:spLocks noChangeAspect="1" noChangeShapeType="1"/>
            </p:cNvSpPr>
            <p:nvPr/>
          </p:nvSpPr>
          <p:spPr bwMode="auto">
            <a:xfrm flipV="1">
              <a:off x="2362" y="1284"/>
              <a:ext cx="0" cy="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 name="Line 279"/>
            <p:cNvSpPr>
              <a:spLocks noChangeAspect="1" noChangeShapeType="1"/>
            </p:cNvSpPr>
            <p:nvPr/>
          </p:nvSpPr>
          <p:spPr bwMode="auto">
            <a:xfrm flipH="1" flipV="1">
              <a:off x="2354" y="1215"/>
              <a:ext cx="7" cy="5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 name="Line 280"/>
            <p:cNvSpPr>
              <a:spLocks noChangeAspect="1" noChangeShapeType="1"/>
            </p:cNvSpPr>
            <p:nvPr/>
          </p:nvSpPr>
          <p:spPr bwMode="auto">
            <a:xfrm flipH="1" flipV="1">
              <a:off x="2347" y="1145"/>
              <a:ext cx="5" cy="5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 name="未知"/>
            <p:cNvSpPr>
              <a:spLocks noChangeAspect="1"/>
            </p:cNvSpPr>
            <p:nvPr/>
          </p:nvSpPr>
          <p:spPr bwMode="auto">
            <a:xfrm>
              <a:off x="2339" y="1075"/>
              <a:ext cx="6" cy="56"/>
            </a:xfrm>
            <a:custGeom>
              <a:avLst/>
              <a:gdLst>
                <a:gd name="T0" fmla="*/ 35 w 35"/>
                <a:gd name="T1" fmla="*/ 367 h 367"/>
                <a:gd name="T2" fmla="*/ 3 w 35"/>
                <a:gd name="T3" fmla="*/ 16 h 367"/>
                <a:gd name="T4" fmla="*/ 0 w 35"/>
                <a:gd name="T5" fmla="*/ 0 h 367"/>
              </a:gdLst>
              <a:ahLst/>
              <a:cxnLst>
                <a:cxn ang="0">
                  <a:pos x="T0" y="T1"/>
                </a:cxn>
                <a:cxn ang="0">
                  <a:pos x="T2" y="T3"/>
                </a:cxn>
                <a:cxn ang="0">
                  <a:pos x="T4" y="T5"/>
                </a:cxn>
              </a:cxnLst>
              <a:rect l="0" t="0" r="r" b="b"/>
              <a:pathLst>
                <a:path w="35" h="367">
                  <a:moveTo>
                    <a:pt x="35" y="367"/>
                  </a:moveTo>
                  <a:lnTo>
                    <a:pt x="3" y="16"/>
                  </a:lnTo>
                  <a:lnTo>
                    <a:pt x="0"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7" name="Line 282"/>
            <p:cNvSpPr>
              <a:spLocks noChangeAspect="1" noChangeShapeType="1"/>
            </p:cNvSpPr>
            <p:nvPr/>
          </p:nvSpPr>
          <p:spPr bwMode="auto">
            <a:xfrm flipH="1" flipV="1">
              <a:off x="2323" y="1006"/>
              <a:ext cx="12" cy="5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 name="Line 283"/>
            <p:cNvSpPr>
              <a:spLocks noChangeAspect="1" noChangeShapeType="1"/>
            </p:cNvSpPr>
            <p:nvPr/>
          </p:nvSpPr>
          <p:spPr bwMode="auto">
            <a:xfrm flipH="1" flipV="1">
              <a:off x="2309" y="937"/>
              <a:ext cx="12" cy="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 name="Line 284"/>
            <p:cNvSpPr>
              <a:spLocks noChangeAspect="1" noChangeShapeType="1"/>
            </p:cNvSpPr>
            <p:nvPr/>
          </p:nvSpPr>
          <p:spPr bwMode="auto">
            <a:xfrm flipH="1" flipV="1">
              <a:off x="2295" y="877"/>
              <a:ext cx="10" cy="4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 name="Line 285"/>
            <p:cNvSpPr>
              <a:spLocks noChangeAspect="1" noChangeShapeType="1"/>
            </p:cNvSpPr>
            <p:nvPr/>
          </p:nvSpPr>
          <p:spPr bwMode="auto">
            <a:xfrm flipH="1" flipV="1">
              <a:off x="1810" y="508"/>
              <a:ext cx="37"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 name="Line 286"/>
            <p:cNvSpPr>
              <a:spLocks noChangeAspect="1" noChangeShapeType="1"/>
            </p:cNvSpPr>
            <p:nvPr/>
          </p:nvSpPr>
          <p:spPr bwMode="auto">
            <a:xfrm flipH="1" flipV="1">
              <a:off x="1728" y="493"/>
              <a:ext cx="66"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 name="Line 287"/>
            <p:cNvSpPr>
              <a:spLocks noChangeAspect="1" noChangeShapeType="1"/>
            </p:cNvSpPr>
            <p:nvPr/>
          </p:nvSpPr>
          <p:spPr bwMode="auto">
            <a:xfrm flipH="1" flipV="1">
              <a:off x="1674" y="483"/>
              <a:ext cx="38"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 name="Line 288"/>
            <p:cNvSpPr>
              <a:spLocks noChangeAspect="1" noChangeShapeType="1"/>
            </p:cNvSpPr>
            <p:nvPr/>
          </p:nvSpPr>
          <p:spPr bwMode="auto">
            <a:xfrm flipH="1">
              <a:off x="1810" y="1533"/>
              <a:ext cx="37" cy="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 name="Line 289"/>
            <p:cNvSpPr>
              <a:spLocks noChangeAspect="1" noChangeShapeType="1"/>
            </p:cNvSpPr>
            <p:nvPr/>
          </p:nvSpPr>
          <p:spPr bwMode="auto">
            <a:xfrm flipH="1">
              <a:off x="1728" y="1544"/>
              <a:ext cx="66"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 name="Line 290"/>
            <p:cNvSpPr>
              <a:spLocks noChangeAspect="1" noChangeShapeType="1"/>
            </p:cNvSpPr>
            <p:nvPr/>
          </p:nvSpPr>
          <p:spPr bwMode="auto">
            <a:xfrm flipH="1">
              <a:off x="1674" y="1559"/>
              <a:ext cx="38"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 name="Line 291"/>
            <p:cNvSpPr>
              <a:spLocks noChangeAspect="1" noChangeShapeType="1"/>
            </p:cNvSpPr>
            <p:nvPr/>
          </p:nvSpPr>
          <p:spPr bwMode="auto">
            <a:xfrm flipH="1">
              <a:off x="1664" y="483"/>
              <a:ext cx="10" cy="4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 name="Line 292"/>
            <p:cNvSpPr>
              <a:spLocks noChangeAspect="1" noChangeShapeType="1"/>
            </p:cNvSpPr>
            <p:nvPr/>
          </p:nvSpPr>
          <p:spPr bwMode="auto">
            <a:xfrm flipH="1">
              <a:off x="1648" y="545"/>
              <a:ext cx="13" cy="5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 name="Line 293"/>
            <p:cNvSpPr>
              <a:spLocks noChangeAspect="1" noChangeShapeType="1"/>
            </p:cNvSpPr>
            <p:nvPr/>
          </p:nvSpPr>
          <p:spPr bwMode="auto">
            <a:xfrm flipH="1">
              <a:off x="1634" y="614"/>
              <a:ext cx="11" cy="5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 name="未知"/>
            <p:cNvSpPr>
              <a:spLocks noChangeAspect="1"/>
            </p:cNvSpPr>
            <p:nvPr/>
          </p:nvSpPr>
          <p:spPr bwMode="auto">
            <a:xfrm>
              <a:off x="1623" y="683"/>
              <a:ext cx="8" cy="56"/>
            </a:xfrm>
            <a:custGeom>
              <a:avLst/>
              <a:gdLst>
                <a:gd name="T0" fmla="*/ 43 w 43"/>
                <a:gd name="T1" fmla="*/ 0 h 367"/>
                <a:gd name="T2" fmla="*/ 24 w 43"/>
                <a:gd name="T3" fmla="*/ 99 h 367"/>
                <a:gd name="T4" fmla="*/ 0 w 43"/>
                <a:gd name="T5" fmla="*/ 367 h 367"/>
              </a:gdLst>
              <a:ahLst/>
              <a:cxnLst>
                <a:cxn ang="0">
                  <a:pos x="T0" y="T1"/>
                </a:cxn>
                <a:cxn ang="0">
                  <a:pos x="T2" y="T3"/>
                </a:cxn>
                <a:cxn ang="0">
                  <a:pos x="T4" y="T5"/>
                </a:cxn>
              </a:cxnLst>
              <a:rect l="0" t="0" r="r" b="b"/>
              <a:pathLst>
                <a:path w="43" h="367">
                  <a:moveTo>
                    <a:pt x="43" y="0"/>
                  </a:moveTo>
                  <a:lnTo>
                    <a:pt x="24" y="99"/>
                  </a:lnTo>
                  <a:lnTo>
                    <a:pt x="0" y="367"/>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0" name="Line 295"/>
            <p:cNvSpPr>
              <a:spLocks noChangeAspect="1" noChangeShapeType="1"/>
            </p:cNvSpPr>
            <p:nvPr/>
          </p:nvSpPr>
          <p:spPr bwMode="auto">
            <a:xfrm flipH="1">
              <a:off x="1615" y="752"/>
              <a:ext cx="6" cy="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 name="Line 296"/>
            <p:cNvSpPr>
              <a:spLocks noChangeAspect="1" noChangeShapeType="1"/>
            </p:cNvSpPr>
            <p:nvPr/>
          </p:nvSpPr>
          <p:spPr bwMode="auto">
            <a:xfrm flipH="1">
              <a:off x="1607" y="822"/>
              <a:ext cx="6" cy="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 name="未知"/>
            <p:cNvSpPr>
              <a:spLocks noChangeAspect="1"/>
            </p:cNvSpPr>
            <p:nvPr/>
          </p:nvSpPr>
          <p:spPr bwMode="auto">
            <a:xfrm>
              <a:off x="1603" y="892"/>
              <a:ext cx="3" cy="56"/>
            </a:xfrm>
            <a:custGeom>
              <a:avLst/>
              <a:gdLst>
                <a:gd name="T0" fmla="*/ 14 w 14"/>
                <a:gd name="T1" fmla="*/ 0 h 368"/>
                <a:gd name="T2" fmla="*/ 0 w 14"/>
                <a:gd name="T3" fmla="*/ 156 h 368"/>
                <a:gd name="T4" fmla="*/ 0 w 14"/>
                <a:gd name="T5" fmla="*/ 368 h 368"/>
              </a:gdLst>
              <a:ahLst/>
              <a:cxnLst>
                <a:cxn ang="0">
                  <a:pos x="T0" y="T1"/>
                </a:cxn>
                <a:cxn ang="0">
                  <a:pos x="T2" y="T3"/>
                </a:cxn>
                <a:cxn ang="0">
                  <a:pos x="T4" y="T5"/>
                </a:cxn>
              </a:cxnLst>
              <a:rect l="0" t="0" r="r" b="b"/>
              <a:pathLst>
                <a:path w="14" h="368">
                  <a:moveTo>
                    <a:pt x="14" y="0"/>
                  </a:moveTo>
                  <a:lnTo>
                    <a:pt x="0" y="156"/>
                  </a:lnTo>
                  <a:lnTo>
                    <a:pt x="0" y="368"/>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 name="Line 298"/>
            <p:cNvSpPr>
              <a:spLocks noChangeAspect="1" noChangeShapeType="1"/>
            </p:cNvSpPr>
            <p:nvPr/>
          </p:nvSpPr>
          <p:spPr bwMode="auto">
            <a:xfrm>
              <a:off x="1603" y="962"/>
              <a:ext cx="1" cy="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 name="Line 299"/>
            <p:cNvSpPr>
              <a:spLocks noChangeAspect="1" noChangeShapeType="1"/>
            </p:cNvSpPr>
            <p:nvPr/>
          </p:nvSpPr>
          <p:spPr bwMode="auto">
            <a:xfrm>
              <a:off x="1603" y="1032"/>
              <a:ext cx="1" cy="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 name="未知"/>
            <p:cNvSpPr>
              <a:spLocks noChangeAspect="1"/>
            </p:cNvSpPr>
            <p:nvPr/>
          </p:nvSpPr>
          <p:spPr bwMode="auto">
            <a:xfrm>
              <a:off x="1603" y="1102"/>
              <a:ext cx="3" cy="55"/>
            </a:xfrm>
            <a:custGeom>
              <a:avLst/>
              <a:gdLst>
                <a:gd name="T0" fmla="*/ 0 w 15"/>
                <a:gd name="T1" fmla="*/ 0 h 369"/>
                <a:gd name="T2" fmla="*/ 0 w 15"/>
                <a:gd name="T3" fmla="*/ 212 h 369"/>
                <a:gd name="T4" fmla="*/ 15 w 15"/>
                <a:gd name="T5" fmla="*/ 369 h 369"/>
              </a:gdLst>
              <a:ahLst/>
              <a:cxnLst>
                <a:cxn ang="0">
                  <a:pos x="T0" y="T1"/>
                </a:cxn>
                <a:cxn ang="0">
                  <a:pos x="T2" y="T3"/>
                </a:cxn>
                <a:cxn ang="0">
                  <a:pos x="T4" y="T5"/>
                </a:cxn>
              </a:cxnLst>
              <a:rect l="0" t="0" r="r" b="b"/>
              <a:pathLst>
                <a:path w="15" h="369">
                  <a:moveTo>
                    <a:pt x="0" y="0"/>
                  </a:moveTo>
                  <a:lnTo>
                    <a:pt x="0" y="212"/>
                  </a:lnTo>
                  <a:lnTo>
                    <a:pt x="15" y="369"/>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6" name="Line 301"/>
            <p:cNvSpPr>
              <a:spLocks noChangeAspect="1" noChangeShapeType="1"/>
            </p:cNvSpPr>
            <p:nvPr/>
          </p:nvSpPr>
          <p:spPr bwMode="auto">
            <a:xfrm>
              <a:off x="1608" y="1172"/>
              <a:ext cx="5" cy="5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 name="Line 302"/>
            <p:cNvSpPr>
              <a:spLocks noChangeAspect="1" noChangeShapeType="1"/>
            </p:cNvSpPr>
            <p:nvPr/>
          </p:nvSpPr>
          <p:spPr bwMode="auto">
            <a:xfrm>
              <a:off x="1615" y="1241"/>
              <a:ext cx="7" cy="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 name="未知"/>
            <p:cNvSpPr>
              <a:spLocks noChangeAspect="1"/>
            </p:cNvSpPr>
            <p:nvPr/>
          </p:nvSpPr>
          <p:spPr bwMode="auto">
            <a:xfrm>
              <a:off x="1623" y="1311"/>
              <a:ext cx="8" cy="56"/>
            </a:xfrm>
            <a:custGeom>
              <a:avLst/>
              <a:gdLst>
                <a:gd name="T0" fmla="*/ 0 w 43"/>
                <a:gd name="T1" fmla="*/ 0 h 367"/>
                <a:gd name="T2" fmla="*/ 24 w 43"/>
                <a:gd name="T3" fmla="*/ 267 h 367"/>
                <a:gd name="T4" fmla="*/ 43 w 43"/>
                <a:gd name="T5" fmla="*/ 367 h 367"/>
              </a:gdLst>
              <a:ahLst/>
              <a:cxnLst>
                <a:cxn ang="0">
                  <a:pos x="T0" y="T1"/>
                </a:cxn>
                <a:cxn ang="0">
                  <a:pos x="T2" y="T3"/>
                </a:cxn>
                <a:cxn ang="0">
                  <a:pos x="T4" y="T5"/>
                </a:cxn>
              </a:cxnLst>
              <a:rect l="0" t="0" r="r" b="b"/>
              <a:pathLst>
                <a:path w="43" h="367">
                  <a:moveTo>
                    <a:pt x="0" y="0"/>
                  </a:moveTo>
                  <a:lnTo>
                    <a:pt x="24" y="267"/>
                  </a:lnTo>
                  <a:lnTo>
                    <a:pt x="43" y="367"/>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9" name="Line 304"/>
            <p:cNvSpPr>
              <a:spLocks noChangeAspect="1" noChangeShapeType="1"/>
            </p:cNvSpPr>
            <p:nvPr/>
          </p:nvSpPr>
          <p:spPr bwMode="auto">
            <a:xfrm>
              <a:off x="1634" y="1380"/>
              <a:ext cx="11" cy="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 name="Line 305"/>
            <p:cNvSpPr>
              <a:spLocks noChangeAspect="1" noChangeShapeType="1"/>
            </p:cNvSpPr>
            <p:nvPr/>
          </p:nvSpPr>
          <p:spPr bwMode="auto">
            <a:xfrm>
              <a:off x="1649" y="1449"/>
              <a:ext cx="12" cy="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 name="Line 306"/>
            <p:cNvSpPr>
              <a:spLocks noChangeAspect="1" noChangeShapeType="1"/>
            </p:cNvSpPr>
            <p:nvPr/>
          </p:nvSpPr>
          <p:spPr bwMode="auto">
            <a:xfrm>
              <a:off x="1664" y="1519"/>
              <a:ext cx="10" cy="4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 name="Line 307"/>
            <p:cNvSpPr>
              <a:spLocks noChangeAspect="1" noChangeShapeType="1"/>
            </p:cNvSpPr>
            <p:nvPr/>
          </p:nvSpPr>
          <p:spPr bwMode="auto">
            <a:xfrm flipV="1">
              <a:off x="1670" y="407"/>
              <a:ext cx="1" cy="95"/>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 name="未知"/>
            <p:cNvSpPr>
              <a:spLocks noChangeAspect="1"/>
            </p:cNvSpPr>
            <p:nvPr/>
          </p:nvSpPr>
          <p:spPr bwMode="auto">
            <a:xfrm>
              <a:off x="1659" y="350"/>
              <a:ext cx="24" cy="59"/>
            </a:xfrm>
            <a:custGeom>
              <a:avLst/>
              <a:gdLst>
                <a:gd name="T0" fmla="*/ 0 w 128"/>
                <a:gd name="T1" fmla="*/ 384 h 384"/>
                <a:gd name="T2" fmla="*/ 128 w 128"/>
                <a:gd name="T3" fmla="*/ 384 h 384"/>
                <a:gd name="T4" fmla="*/ 64 w 128"/>
                <a:gd name="T5" fmla="*/ 0 h 384"/>
                <a:gd name="T6" fmla="*/ 0 w 128"/>
                <a:gd name="T7" fmla="*/ 384 h 384"/>
              </a:gdLst>
              <a:ahLst/>
              <a:cxnLst>
                <a:cxn ang="0">
                  <a:pos x="T0" y="T1"/>
                </a:cxn>
                <a:cxn ang="0">
                  <a:pos x="T2" y="T3"/>
                </a:cxn>
                <a:cxn ang="0">
                  <a:pos x="T4" y="T5"/>
                </a:cxn>
                <a:cxn ang="0">
                  <a:pos x="T6" y="T7"/>
                </a:cxn>
              </a:cxnLst>
              <a:rect l="0" t="0" r="r" b="b"/>
              <a:pathLst>
                <a:path w="128" h="384">
                  <a:moveTo>
                    <a:pt x="0" y="384"/>
                  </a:moveTo>
                  <a:lnTo>
                    <a:pt x="128" y="384"/>
                  </a:lnTo>
                  <a:lnTo>
                    <a:pt x="64" y="0"/>
                  </a:lnTo>
                  <a:lnTo>
                    <a:pt x="0" y="384"/>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未知"/>
            <p:cNvSpPr>
              <a:spLocks noChangeAspect="1"/>
            </p:cNvSpPr>
            <p:nvPr/>
          </p:nvSpPr>
          <p:spPr bwMode="auto">
            <a:xfrm>
              <a:off x="1659" y="350"/>
              <a:ext cx="24" cy="59"/>
            </a:xfrm>
            <a:custGeom>
              <a:avLst/>
              <a:gdLst>
                <a:gd name="T0" fmla="*/ 0 w 128"/>
                <a:gd name="T1" fmla="*/ 384 h 384"/>
                <a:gd name="T2" fmla="*/ 128 w 128"/>
                <a:gd name="T3" fmla="*/ 384 h 384"/>
                <a:gd name="T4" fmla="*/ 64 w 128"/>
                <a:gd name="T5" fmla="*/ 0 h 384"/>
                <a:gd name="T6" fmla="*/ 0 w 128"/>
                <a:gd name="T7" fmla="*/ 384 h 384"/>
              </a:gdLst>
              <a:ahLst/>
              <a:cxnLst>
                <a:cxn ang="0">
                  <a:pos x="T0" y="T1"/>
                </a:cxn>
                <a:cxn ang="0">
                  <a:pos x="T2" y="T3"/>
                </a:cxn>
                <a:cxn ang="0">
                  <a:pos x="T4" y="T5"/>
                </a:cxn>
                <a:cxn ang="0">
                  <a:pos x="T6" y="T7"/>
                </a:cxn>
              </a:cxnLst>
              <a:rect l="0" t="0" r="r" b="b"/>
              <a:pathLst>
                <a:path w="128" h="384">
                  <a:moveTo>
                    <a:pt x="0" y="384"/>
                  </a:moveTo>
                  <a:lnTo>
                    <a:pt x="128" y="384"/>
                  </a:lnTo>
                  <a:lnTo>
                    <a:pt x="64" y="0"/>
                  </a:lnTo>
                  <a:lnTo>
                    <a:pt x="0" y="384"/>
                  </a:lnTo>
                </a:path>
              </a:pathLst>
            </a:custGeom>
            <a:noFill/>
            <a:ln w="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5" name="未知"/>
            <p:cNvSpPr>
              <a:spLocks noChangeAspect="1"/>
            </p:cNvSpPr>
            <p:nvPr/>
          </p:nvSpPr>
          <p:spPr bwMode="auto">
            <a:xfrm>
              <a:off x="1658" y="1638"/>
              <a:ext cx="24" cy="58"/>
            </a:xfrm>
            <a:custGeom>
              <a:avLst/>
              <a:gdLst>
                <a:gd name="T0" fmla="*/ 0 w 128"/>
                <a:gd name="T1" fmla="*/ 0 h 385"/>
                <a:gd name="T2" fmla="*/ 128 w 128"/>
                <a:gd name="T3" fmla="*/ 0 h 385"/>
                <a:gd name="T4" fmla="*/ 64 w 128"/>
                <a:gd name="T5" fmla="*/ 385 h 385"/>
                <a:gd name="T6" fmla="*/ 0 w 128"/>
                <a:gd name="T7" fmla="*/ 0 h 385"/>
              </a:gdLst>
              <a:ahLst/>
              <a:cxnLst>
                <a:cxn ang="0">
                  <a:pos x="T0" y="T1"/>
                </a:cxn>
                <a:cxn ang="0">
                  <a:pos x="T2" y="T3"/>
                </a:cxn>
                <a:cxn ang="0">
                  <a:pos x="T4" y="T5"/>
                </a:cxn>
                <a:cxn ang="0">
                  <a:pos x="T6" y="T7"/>
                </a:cxn>
              </a:cxnLst>
              <a:rect l="0" t="0" r="r" b="b"/>
              <a:pathLst>
                <a:path w="128" h="385">
                  <a:moveTo>
                    <a:pt x="0" y="0"/>
                  </a:moveTo>
                  <a:lnTo>
                    <a:pt x="128" y="0"/>
                  </a:lnTo>
                  <a:lnTo>
                    <a:pt x="64" y="385"/>
                  </a:lnTo>
                  <a:lnTo>
                    <a:pt x="0"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未知"/>
            <p:cNvSpPr>
              <a:spLocks noChangeAspect="1"/>
            </p:cNvSpPr>
            <p:nvPr/>
          </p:nvSpPr>
          <p:spPr bwMode="auto">
            <a:xfrm>
              <a:off x="1658" y="1638"/>
              <a:ext cx="24" cy="58"/>
            </a:xfrm>
            <a:custGeom>
              <a:avLst/>
              <a:gdLst>
                <a:gd name="T0" fmla="*/ 0 w 128"/>
                <a:gd name="T1" fmla="*/ 0 h 385"/>
                <a:gd name="T2" fmla="*/ 128 w 128"/>
                <a:gd name="T3" fmla="*/ 0 h 385"/>
                <a:gd name="T4" fmla="*/ 64 w 128"/>
                <a:gd name="T5" fmla="*/ 385 h 385"/>
                <a:gd name="T6" fmla="*/ 0 w 128"/>
                <a:gd name="T7" fmla="*/ 0 h 385"/>
              </a:gdLst>
              <a:ahLst/>
              <a:cxnLst>
                <a:cxn ang="0">
                  <a:pos x="T0" y="T1"/>
                </a:cxn>
                <a:cxn ang="0">
                  <a:pos x="T2" y="T3"/>
                </a:cxn>
                <a:cxn ang="0">
                  <a:pos x="T4" y="T5"/>
                </a:cxn>
                <a:cxn ang="0">
                  <a:pos x="T6" y="T7"/>
                </a:cxn>
              </a:cxnLst>
              <a:rect l="0" t="0" r="r" b="b"/>
              <a:pathLst>
                <a:path w="128" h="385">
                  <a:moveTo>
                    <a:pt x="0" y="0"/>
                  </a:moveTo>
                  <a:lnTo>
                    <a:pt x="128" y="0"/>
                  </a:lnTo>
                  <a:lnTo>
                    <a:pt x="64" y="385"/>
                  </a:lnTo>
                  <a:lnTo>
                    <a:pt x="0" y="0"/>
                  </a:lnTo>
                </a:path>
              </a:pathLst>
            </a:custGeom>
            <a:noFill/>
            <a:ln w="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7" name="Line 312"/>
            <p:cNvSpPr>
              <a:spLocks noChangeAspect="1" noChangeShapeType="1"/>
            </p:cNvSpPr>
            <p:nvPr/>
          </p:nvSpPr>
          <p:spPr bwMode="auto">
            <a:xfrm>
              <a:off x="1670" y="1543"/>
              <a:ext cx="1" cy="97"/>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8" name="Line 313"/>
            <p:cNvSpPr>
              <a:spLocks noChangeAspect="1" noChangeShapeType="1"/>
            </p:cNvSpPr>
            <p:nvPr/>
          </p:nvSpPr>
          <p:spPr bwMode="auto">
            <a:xfrm flipV="1">
              <a:off x="2473" y="772"/>
              <a:ext cx="0" cy="95"/>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 name="未知"/>
            <p:cNvSpPr>
              <a:spLocks noChangeAspect="1"/>
            </p:cNvSpPr>
            <p:nvPr/>
          </p:nvSpPr>
          <p:spPr bwMode="auto">
            <a:xfrm>
              <a:off x="2462" y="715"/>
              <a:ext cx="23" cy="58"/>
            </a:xfrm>
            <a:custGeom>
              <a:avLst/>
              <a:gdLst>
                <a:gd name="T0" fmla="*/ 0 w 127"/>
                <a:gd name="T1" fmla="*/ 385 h 385"/>
                <a:gd name="T2" fmla="*/ 127 w 127"/>
                <a:gd name="T3" fmla="*/ 385 h 385"/>
                <a:gd name="T4" fmla="*/ 63 w 127"/>
                <a:gd name="T5" fmla="*/ 0 h 385"/>
                <a:gd name="T6" fmla="*/ 0 w 127"/>
                <a:gd name="T7" fmla="*/ 385 h 385"/>
              </a:gdLst>
              <a:ahLst/>
              <a:cxnLst>
                <a:cxn ang="0">
                  <a:pos x="T0" y="T1"/>
                </a:cxn>
                <a:cxn ang="0">
                  <a:pos x="T2" y="T3"/>
                </a:cxn>
                <a:cxn ang="0">
                  <a:pos x="T4" y="T5"/>
                </a:cxn>
                <a:cxn ang="0">
                  <a:pos x="T6" y="T7"/>
                </a:cxn>
              </a:cxnLst>
              <a:rect l="0" t="0" r="r" b="b"/>
              <a:pathLst>
                <a:path w="127" h="385">
                  <a:moveTo>
                    <a:pt x="0" y="385"/>
                  </a:moveTo>
                  <a:lnTo>
                    <a:pt x="127" y="385"/>
                  </a:lnTo>
                  <a:lnTo>
                    <a:pt x="63" y="0"/>
                  </a:lnTo>
                  <a:lnTo>
                    <a:pt x="0" y="385"/>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未知"/>
            <p:cNvSpPr>
              <a:spLocks noChangeAspect="1"/>
            </p:cNvSpPr>
            <p:nvPr/>
          </p:nvSpPr>
          <p:spPr bwMode="auto">
            <a:xfrm>
              <a:off x="2462" y="715"/>
              <a:ext cx="23" cy="58"/>
            </a:xfrm>
            <a:custGeom>
              <a:avLst/>
              <a:gdLst>
                <a:gd name="T0" fmla="*/ 0 w 127"/>
                <a:gd name="T1" fmla="*/ 385 h 385"/>
                <a:gd name="T2" fmla="*/ 127 w 127"/>
                <a:gd name="T3" fmla="*/ 385 h 385"/>
                <a:gd name="T4" fmla="*/ 63 w 127"/>
                <a:gd name="T5" fmla="*/ 0 h 385"/>
                <a:gd name="T6" fmla="*/ 0 w 127"/>
                <a:gd name="T7" fmla="*/ 385 h 385"/>
              </a:gdLst>
              <a:ahLst/>
              <a:cxnLst>
                <a:cxn ang="0">
                  <a:pos x="T0" y="T1"/>
                </a:cxn>
                <a:cxn ang="0">
                  <a:pos x="T2" y="T3"/>
                </a:cxn>
                <a:cxn ang="0">
                  <a:pos x="T4" y="T5"/>
                </a:cxn>
                <a:cxn ang="0">
                  <a:pos x="T6" y="T7"/>
                </a:cxn>
              </a:cxnLst>
              <a:rect l="0" t="0" r="r" b="b"/>
              <a:pathLst>
                <a:path w="127" h="385">
                  <a:moveTo>
                    <a:pt x="0" y="385"/>
                  </a:moveTo>
                  <a:lnTo>
                    <a:pt x="127" y="385"/>
                  </a:lnTo>
                  <a:lnTo>
                    <a:pt x="63" y="0"/>
                  </a:lnTo>
                  <a:lnTo>
                    <a:pt x="0" y="385"/>
                  </a:lnTo>
                </a:path>
              </a:pathLst>
            </a:custGeom>
            <a:noFill/>
            <a:ln w="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1" name="未知"/>
            <p:cNvSpPr>
              <a:spLocks noChangeAspect="1"/>
            </p:cNvSpPr>
            <p:nvPr/>
          </p:nvSpPr>
          <p:spPr bwMode="auto">
            <a:xfrm>
              <a:off x="2461" y="2003"/>
              <a:ext cx="23" cy="58"/>
            </a:xfrm>
            <a:custGeom>
              <a:avLst/>
              <a:gdLst>
                <a:gd name="T0" fmla="*/ 0 w 127"/>
                <a:gd name="T1" fmla="*/ 0 h 385"/>
                <a:gd name="T2" fmla="*/ 127 w 127"/>
                <a:gd name="T3" fmla="*/ 0 h 385"/>
                <a:gd name="T4" fmla="*/ 63 w 127"/>
                <a:gd name="T5" fmla="*/ 385 h 385"/>
                <a:gd name="T6" fmla="*/ 0 w 127"/>
                <a:gd name="T7" fmla="*/ 0 h 385"/>
              </a:gdLst>
              <a:ahLst/>
              <a:cxnLst>
                <a:cxn ang="0">
                  <a:pos x="T0" y="T1"/>
                </a:cxn>
                <a:cxn ang="0">
                  <a:pos x="T2" y="T3"/>
                </a:cxn>
                <a:cxn ang="0">
                  <a:pos x="T4" y="T5"/>
                </a:cxn>
                <a:cxn ang="0">
                  <a:pos x="T6" y="T7"/>
                </a:cxn>
              </a:cxnLst>
              <a:rect l="0" t="0" r="r" b="b"/>
              <a:pathLst>
                <a:path w="127" h="385">
                  <a:moveTo>
                    <a:pt x="0" y="0"/>
                  </a:moveTo>
                  <a:lnTo>
                    <a:pt x="127" y="0"/>
                  </a:lnTo>
                  <a:lnTo>
                    <a:pt x="63" y="385"/>
                  </a:lnTo>
                  <a:lnTo>
                    <a:pt x="0"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未知"/>
            <p:cNvSpPr>
              <a:spLocks noChangeAspect="1"/>
            </p:cNvSpPr>
            <p:nvPr/>
          </p:nvSpPr>
          <p:spPr bwMode="auto">
            <a:xfrm>
              <a:off x="2461" y="2003"/>
              <a:ext cx="23" cy="58"/>
            </a:xfrm>
            <a:custGeom>
              <a:avLst/>
              <a:gdLst>
                <a:gd name="T0" fmla="*/ 0 w 127"/>
                <a:gd name="T1" fmla="*/ 0 h 385"/>
                <a:gd name="T2" fmla="*/ 127 w 127"/>
                <a:gd name="T3" fmla="*/ 0 h 385"/>
                <a:gd name="T4" fmla="*/ 63 w 127"/>
                <a:gd name="T5" fmla="*/ 385 h 385"/>
                <a:gd name="T6" fmla="*/ 0 w 127"/>
                <a:gd name="T7" fmla="*/ 0 h 385"/>
              </a:gdLst>
              <a:ahLst/>
              <a:cxnLst>
                <a:cxn ang="0">
                  <a:pos x="T0" y="T1"/>
                </a:cxn>
                <a:cxn ang="0">
                  <a:pos x="T2" y="T3"/>
                </a:cxn>
                <a:cxn ang="0">
                  <a:pos x="T4" y="T5"/>
                </a:cxn>
                <a:cxn ang="0">
                  <a:pos x="T6" y="T7"/>
                </a:cxn>
              </a:cxnLst>
              <a:rect l="0" t="0" r="r" b="b"/>
              <a:pathLst>
                <a:path w="127" h="385">
                  <a:moveTo>
                    <a:pt x="0" y="0"/>
                  </a:moveTo>
                  <a:lnTo>
                    <a:pt x="127" y="0"/>
                  </a:lnTo>
                  <a:lnTo>
                    <a:pt x="63" y="385"/>
                  </a:lnTo>
                  <a:lnTo>
                    <a:pt x="0" y="0"/>
                  </a:lnTo>
                </a:path>
              </a:pathLst>
            </a:custGeom>
            <a:noFill/>
            <a:ln w="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3" name="Line 318"/>
            <p:cNvSpPr>
              <a:spLocks noChangeAspect="1" noChangeShapeType="1"/>
            </p:cNvSpPr>
            <p:nvPr/>
          </p:nvSpPr>
          <p:spPr bwMode="auto">
            <a:xfrm>
              <a:off x="2473" y="1908"/>
              <a:ext cx="0" cy="96"/>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4" name="Line 319"/>
            <p:cNvSpPr>
              <a:spLocks noChangeAspect="1" noChangeShapeType="1"/>
            </p:cNvSpPr>
            <p:nvPr/>
          </p:nvSpPr>
          <p:spPr bwMode="auto">
            <a:xfrm flipV="1">
              <a:off x="3440" y="902"/>
              <a:ext cx="55" cy="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5" name="Line 320"/>
            <p:cNvSpPr>
              <a:spLocks noChangeAspect="1" noChangeShapeType="1"/>
            </p:cNvSpPr>
            <p:nvPr/>
          </p:nvSpPr>
          <p:spPr bwMode="auto">
            <a:xfrm flipV="1">
              <a:off x="3510" y="880"/>
              <a:ext cx="64" cy="1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 name="Line 321"/>
            <p:cNvSpPr>
              <a:spLocks noChangeAspect="1" noChangeShapeType="1"/>
            </p:cNvSpPr>
            <p:nvPr/>
          </p:nvSpPr>
          <p:spPr bwMode="auto">
            <a:xfrm flipV="1">
              <a:off x="3590" y="860"/>
              <a:ext cx="54" cy="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 name="Line 322"/>
            <p:cNvSpPr>
              <a:spLocks noChangeAspect="1" noChangeShapeType="1"/>
            </p:cNvSpPr>
            <p:nvPr/>
          </p:nvSpPr>
          <p:spPr bwMode="auto">
            <a:xfrm>
              <a:off x="3440" y="1840"/>
              <a:ext cx="55" cy="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 name="Line 323"/>
            <p:cNvSpPr>
              <a:spLocks noChangeAspect="1" noChangeShapeType="1"/>
            </p:cNvSpPr>
            <p:nvPr/>
          </p:nvSpPr>
          <p:spPr bwMode="auto">
            <a:xfrm>
              <a:off x="3510" y="1859"/>
              <a:ext cx="65" cy="1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 name="Line 324"/>
            <p:cNvSpPr>
              <a:spLocks noChangeAspect="1" noChangeShapeType="1"/>
            </p:cNvSpPr>
            <p:nvPr/>
          </p:nvSpPr>
          <p:spPr bwMode="auto">
            <a:xfrm>
              <a:off x="3590" y="1880"/>
              <a:ext cx="55" cy="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 name="Line 325"/>
            <p:cNvSpPr>
              <a:spLocks noChangeAspect="1" noChangeShapeType="1"/>
            </p:cNvSpPr>
            <p:nvPr/>
          </p:nvSpPr>
          <p:spPr bwMode="auto">
            <a:xfrm>
              <a:off x="2295" y="1877"/>
              <a:ext cx="1" cy="1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 name="Line 326"/>
            <p:cNvSpPr>
              <a:spLocks noChangeAspect="1" noChangeShapeType="1"/>
            </p:cNvSpPr>
            <p:nvPr/>
          </p:nvSpPr>
          <p:spPr bwMode="auto">
            <a:xfrm>
              <a:off x="1847" y="1512"/>
              <a:ext cx="1" cy="2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 name="Line 327"/>
            <p:cNvSpPr>
              <a:spLocks noChangeAspect="1" noChangeShapeType="1"/>
            </p:cNvSpPr>
            <p:nvPr/>
          </p:nvSpPr>
          <p:spPr bwMode="auto">
            <a:xfrm>
              <a:off x="1847" y="514"/>
              <a:ext cx="1" cy="1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 name="Line 328"/>
            <p:cNvSpPr>
              <a:spLocks noChangeAspect="1" noChangeShapeType="1"/>
            </p:cNvSpPr>
            <p:nvPr/>
          </p:nvSpPr>
          <p:spPr bwMode="auto">
            <a:xfrm>
              <a:off x="2295" y="877"/>
              <a:ext cx="1" cy="2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4" name="未知"/>
            <p:cNvSpPr>
              <a:spLocks noChangeAspect="1"/>
            </p:cNvSpPr>
            <p:nvPr/>
          </p:nvSpPr>
          <p:spPr bwMode="auto">
            <a:xfrm>
              <a:off x="3239" y="526"/>
              <a:ext cx="10" cy="15"/>
            </a:xfrm>
            <a:custGeom>
              <a:avLst/>
              <a:gdLst>
                <a:gd name="T0" fmla="*/ 0 w 52"/>
                <a:gd name="T1" fmla="*/ 52 h 102"/>
                <a:gd name="T2" fmla="*/ 0 w 52"/>
                <a:gd name="T3" fmla="*/ 0 h 102"/>
                <a:gd name="T4" fmla="*/ 11 w 52"/>
                <a:gd name="T5" fmla="*/ 2 h 102"/>
                <a:gd name="T6" fmla="*/ 23 w 52"/>
                <a:gd name="T7" fmla="*/ 6 h 102"/>
                <a:gd name="T8" fmla="*/ 32 w 52"/>
                <a:gd name="T9" fmla="*/ 12 h 102"/>
                <a:gd name="T10" fmla="*/ 40 w 52"/>
                <a:gd name="T11" fmla="*/ 20 h 102"/>
                <a:gd name="T12" fmla="*/ 46 w 52"/>
                <a:gd name="T13" fmla="*/ 29 h 102"/>
                <a:gd name="T14" fmla="*/ 50 w 52"/>
                <a:gd name="T15" fmla="*/ 41 h 102"/>
                <a:gd name="T16" fmla="*/ 52 w 52"/>
                <a:gd name="T17" fmla="*/ 52 h 102"/>
                <a:gd name="T18" fmla="*/ 50 w 52"/>
                <a:gd name="T19" fmla="*/ 63 h 102"/>
                <a:gd name="T20" fmla="*/ 46 w 52"/>
                <a:gd name="T21" fmla="*/ 74 h 102"/>
                <a:gd name="T22" fmla="*/ 40 w 52"/>
                <a:gd name="T23" fmla="*/ 83 h 102"/>
                <a:gd name="T24" fmla="*/ 32 w 52"/>
                <a:gd name="T25" fmla="*/ 91 h 102"/>
                <a:gd name="T26" fmla="*/ 23 w 52"/>
                <a:gd name="T27" fmla="*/ 97 h 102"/>
                <a:gd name="T28" fmla="*/ 11 w 52"/>
                <a:gd name="T29" fmla="*/ 101 h 102"/>
                <a:gd name="T30" fmla="*/ 0 w 52"/>
                <a:gd name="T31" fmla="*/ 102 h 102"/>
                <a:gd name="T32" fmla="*/ 0 w 52"/>
                <a:gd name="T33" fmla="*/ 5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102">
                  <a:moveTo>
                    <a:pt x="0" y="52"/>
                  </a:moveTo>
                  <a:lnTo>
                    <a:pt x="0" y="0"/>
                  </a:lnTo>
                  <a:lnTo>
                    <a:pt x="11" y="2"/>
                  </a:lnTo>
                  <a:lnTo>
                    <a:pt x="23" y="6"/>
                  </a:lnTo>
                  <a:lnTo>
                    <a:pt x="32" y="12"/>
                  </a:lnTo>
                  <a:lnTo>
                    <a:pt x="40" y="20"/>
                  </a:lnTo>
                  <a:lnTo>
                    <a:pt x="46" y="29"/>
                  </a:lnTo>
                  <a:lnTo>
                    <a:pt x="50" y="41"/>
                  </a:lnTo>
                  <a:lnTo>
                    <a:pt x="52" y="52"/>
                  </a:lnTo>
                  <a:lnTo>
                    <a:pt x="50" y="63"/>
                  </a:lnTo>
                  <a:lnTo>
                    <a:pt x="46" y="74"/>
                  </a:lnTo>
                  <a:lnTo>
                    <a:pt x="40" y="83"/>
                  </a:lnTo>
                  <a:lnTo>
                    <a:pt x="32" y="91"/>
                  </a:lnTo>
                  <a:lnTo>
                    <a:pt x="23" y="97"/>
                  </a:lnTo>
                  <a:lnTo>
                    <a:pt x="11" y="101"/>
                  </a:lnTo>
                  <a:lnTo>
                    <a:pt x="0" y="102"/>
                  </a:lnTo>
                  <a:lnTo>
                    <a:pt x="0"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 name="未知"/>
            <p:cNvSpPr>
              <a:spLocks noChangeAspect="1"/>
            </p:cNvSpPr>
            <p:nvPr/>
          </p:nvSpPr>
          <p:spPr bwMode="auto">
            <a:xfrm>
              <a:off x="3239" y="526"/>
              <a:ext cx="10" cy="15"/>
            </a:xfrm>
            <a:custGeom>
              <a:avLst/>
              <a:gdLst>
                <a:gd name="T0" fmla="*/ 0 w 52"/>
                <a:gd name="T1" fmla="*/ 0 h 102"/>
                <a:gd name="T2" fmla="*/ 11 w 52"/>
                <a:gd name="T3" fmla="*/ 2 h 102"/>
                <a:gd name="T4" fmla="*/ 23 w 52"/>
                <a:gd name="T5" fmla="*/ 6 h 102"/>
                <a:gd name="T6" fmla="*/ 32 w 52"/>
                <a:gd name="T7" fmla="*/ 12 h 102"/>
                <a:gd name="T8" fmla="*/ 40 w 52"/>
                <a:gd name="T9" fmla="*/ 20 h 102"/>
                <a:gd name="T10" fmla="*/ 46 w 52"/>
                <a:gd name="T11" fmla="*/ 29 h 102"/>
                <a:gd name="T12" fmla="*/ 50 w 52"/>
                <a:gd name="T13" fmla="*/ 41 h 102"/>
                <a:gd name="T14" fmla="*/ 52 w 52"/>
                <a:gd name="T15" fmla="*/ 52 h 102"/>
                <a:gd name="T16" fmla="*/ 50 w 52"/>
                <a:gd name="T17" fmla="*/ 63 h 102"/>
                <a:gd name="T18" fmla="*/ 46 w 52"/>
                <a:gd name="T19" fmla="*/ 74 h 102"/>
                <a:gd name="T20" fmla="*/ 40 w 52"/>
                <a:gd name="T21" fmla="*/ 83 h 102"/>
                <a:gd name="T22" fmla="*/ 32 w 52"/>
                <a:gd name="T23" fmla="*/ 91 h 102"/>
                <a:gd name="T24" fmla="*/ 23 w 52"/>
                <a:gd name="T25" fmla="*/ 97 h 102"/>
                <a:gd name="T26" fmla="*/ 11 w 52"/>
                <a:gd name="T27" fmla="*/ 101 h 102"/>
                <a:gd name="T28" fmla="*/ 0 w 52"/>
                <a:gd name="T2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2" h="102">
                  <a:moveTo>
                    <a:pt x="0" y="0"/>
                  </a:moveTo>
                  <a:lnTo>
                    <a:pt x="11" y="2"/>
                  </a:lnTo>
                  <a:lnTo>
                    <a:pt x="23" y="6"/>
                  </a:lnTo>
                  <a:lnTo>
                    <a:pt x="32" y="12"/>
                  </a:lnTo>
                  <a:lnTo>
                    <a:pt x="40" y="20"/>
                  </a:lnTo>
                  <a:lnTo>
                    <a:pt x="46" y="29"/>
                  </a:lnTo>
                  <a:lnTo>
                    <a:pt x="50" y="41"/>
                  </a:lnTo>
                  <a:lnTo>
                    <a:pt x="52" y="52"/>
                  </a:lnTo>
                  <a:lnTo>
                    <a:pt x="50" y="63"/>
                  </a:lnTo>
                  <a:lnTo>
                    <a:pt x="46" y="74"/>
                  </a:lnTo>
                  <a:lnTo>
                    <a:pt x="40" y="83"/>
                  </a:lnTo>
                  <a:lnTo>
                    <a:pt x="32" y="91"/>
                  </a:lnTo>
                  <a:lnTo>
                    <a:pt x="23" y="97"/>
                  </a:lnTo>
                  <a:lnTo>
                    <a:pt x="11" y="101"/>
                  </a:lnTo>
                  <a:lnTo>
                    <a:pt x="0" y="102"/>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6" name="未知"/>
            <p:cNvSpPr>
              <a:spLocks noChangeAspect="1"/>
            </p:cNvSpPr>
            <p:nvPr/>
          </p:nvSpPr>
          <p:spPr bwMode="auto">
            <a:xfrm>
              <a:off x="3024" y="526"/>
              <a:ext cx="215" cy="15"/>
            </a:xfrm>
            <a:custGeom>
              <a:avLst/>
              <a:gdLst>
                <a:gd name="T0" fmla="*/ 1180 w 1180"/>
                <a:gd name="T1" fmla="*/ 102 h 102"/>
                <a:gd name="T2" fmla="*/ 1180 w 1180"/>
                <a:gd name="T3" fmla="*/ 52 h 102"/>
                <a:gd name="T4" fmla="*/ 1180 w 1180"/>
                <a:gd name="T5" fmla="*/ 0 h 102"/>
                <a:gd name="T6" fmla="*/ 0 w 1180"/>
                <a:gd name="T7" fmla="*/ 0 h 102"/>
                <a:gd name="T8" fmla="*/ 0 w 1180"/>
                <a:gd name="T9" fmla="*/ 52 h 102"/>
                <a:gd name="T10" fmla="*/ 0 w 1180"/>
                <a:gd name="T11" fmla="*/ 102 h 102"/>
                <a:gd name="T12" fmla="*/ 1180 w 1180"/>
                <a:gd name="T13" fmla="*/ 102 h 102"/>
              </a:gdLst>
              <a:ahLst/>
              <a:cxnLst>
                <a:cxn ang="0">
                  <a:pos x="T0" y="T1"/>
                </a:cxn>
                <a:cxn ang="0">
                  <a:pos x="T2" y="T3"/>
                </a:cxn>
                <a:cxn ang="0">
                  <a:pos x="T4" y="T5"/>
                </a:cxn>
                <a:cxn ang="0">
                  <a:pos x="T6" y="T7"/>
                </a:cxn>
                <a:cxn ang="0">
                  <a:pos x="T8" y="T9"/>
                </a:cxn>
                <a:cxn ang="0">
                  <a:pos x="T10" y="T11"/>
                </a:cxn>
                <a:cxn ang="0">
                  <a:pos x="T12" y="T13"/>
                </a:cxn>
              </a:cxnLst>
              <a:rect l="0" t="0" r="r" b="b"/>
              <a:pathLst>
                <a:path w="1180" h="102">
                  <a:moveTo>
                    <a:pt x="1180" y="102"/>
                  </a:moveTo>
                  <a:lnTo>
                    <a:pt x="1180" y="52"/>
                  </a:lnTo>
                  <a:lnTo>
                    <a:pt x="1180" y="0"/>
                  </a:lnTo>
                  <a:lnTo>
                    <a:pt x="0" y="0"/>
                  </a:lnTo>
                  <a:lnTo>
                    <a:pt x="0" y="52"/>
                  </a:lnTo>
                  <a:lnTo>
                    <a:pt x="0" y="102"/>
                  </a:lnTo>
                  <a:lnTo>
                    <a:pt x="1180" y="1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 name="未知"/>
            <p:cNvSpPr>
              <a:spLocks noChangeAspect="1"/>
            </p:cNvSpPr>
            <p:nvPr/>
          </p:nvSpPr>
          <p:spPr bwMode="auto">
            <a:xfrm>
              <a:off x="3024" y="526"/>
              <a:ext cx="215" cy="15"/>
            </a:xfrm>
            <a:custGeom>
              <a:avLst/>
              <a:gdLst>
                <a:gd name="T0" fmla="*/ 1180 w 1180"/>
                <a:gd name="T1" fmla="*/ 102 h 102"/>
                <a:gd name="T2" fmla="*/ 1180 w 1180"/>
                <a:gd name="T3" fmla="*/ 52 h 102"/>
                <a:gd name="T4" fmla="*/ 1180 w 1180"/>
                <a:gd name="T5" fmla="*/ 0 h 102"/>
                <a:gd name="T6" fmla="*/ 0 w 1180"/>
                <a:gd name="T7" fmla="*/ 0 h 102"/>
                <a:gd name="T8" fmla="*/ 0 w 1180"/>
                <a:gd name="T9" fmla="*/ 52 h 102"/>
                <a:gd name="T10" fmla="*/ 0 w 1180"/>
                <a:gd name="T11" fmla="*/ 102 h 102"/>
                <a:gd name="T12" fmla="*/ 1180 w 1180"/>
                <a:gd name="T13" fmla="*/ 102 h 102"/>
              </a:gdLst>
              <a:ahLst/>
              <a:cxnLst>
                <a:cxn ang="0">
                  <a:pos x="T0" y="T1"/>
                </a:cxn>
                <a:cxn ang="0">
                  <a:pos x="T2" y="T3"/>
                </a:cxn>
                <a:cxn ang="0">
                  <a:pos x="T4" y="T5"/>
                </a:cxn>
                <a:cxn ang="0">
                  <a:pos x="T6" y="T7"/>
                </a:cxn>
                <a:cxn ang="0">
                  <a:pos x="T8" y="T9"/>
                </a:cxn>
                <a:cxn ang="0">
                  <a:pos x="T10" y="T11"/>
                </a:cxn>
                <a:cxn ang="0">
                  <a:pos x="T12" y="T13"/>
                </a:cxn>
              </a:cxnLst>
              <a:rect l="0" t="0" r="r" b="b"/>
              <a:pathLst>
                <a:path w="1180" h="102">
                  <a:moveTo>
                    <a:pt x="1180" y="102"/>
                  </a:moveTo>
                  <a:lnTo>
                    <a:pt x="1180" y="52"/>
                  </a:lnTo>
                  <a:lnTo>
                    <a:pt x="1180" y="0"/>
                  </a:lnTo>
                  <a:lnTo>
                    <a:pt x="0" y="0"/>
                  </a:lnTo>
                  <a:lnTo>
                    <a:pt x="0" y="52"/>
                  </a:lnTo>
                  <a:lnTo>
                    <a:pt x="0" y="102"/>
                  </a:lnTo>
                  <a:lnTo>
                    <a:pt x="1180" y="102"/>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8" name="未知"/>
            <p:cNvSpPr>
              <a:spLocks noChangeAspect="1"/>
            </p:cNvSpPr>
            <p:nvPr/>
          </p:nvSpPr>
          <p:spPr bwMode="auto">
            <a:xfrm>
              <a:off x="3015" y="526"/>
              <a:ext cx="9" cy="15"/>
            </a:xfrm>
            <a:custGeom>
              <a:avLst/>
              <a:gdLst>
                <a:gd name="T0" fmla="*/ 51 w 51"/>
                <a:gd name="T1" fmla="*/ 52 h 102"/>
                <a:gd name="T2" fmla="*/ 51 w 51"/>
                <a:gd name="T3" fmla="*/ 102 h 102"/>
                <a:gd name="T4" fmla="*/ 40 w 51"/>
                <a:gd name="T5" fmla="*/ 101 h 102"/>
                <a:gd name="T6" fmla="*/ 29 w 51"/>
                <a:gd name="T7" fmla="*/ 97 h 102"/>
                <a:gd name="T8" fmla="*/ 20 w 51"/>
                <a:gd name="T9" fmla="*/ 91 h 102"/>
                <a:gd name="T10" fmla="*/ 12 w 51"/>
                <a:gd name="T11" fmla="*/ 83 h 102"/>
                <a:gd name="T12" fmla="*/ 5 w 51"/>
                <a:gd name="T13" fmla="*/ 74 h 102"/>
                <a:gd name="T14" fmla="*/ 1 w 51"/>
                <a:gd name="T15" fmla="*/ 63 h 102"/>
                <a:gd name="T16" fmla="*/ 0 w 51"/>
                <a:gd name="T17" fmla="*/ 52 h 102"/>
                <a:gd name="T18" fmla="*/ 1 w 51"/>
                <a:gd name="T19" fmla="*/ 41 h 102"/>
                <a:gd name="T20" fmla="*/ 5 w 51"/>
                <a:gd name="T21" fmla="*/ 29 h 102"/>
                <a:gd name="T22" fmla="*/ 12 w 51"/>
                <a:gd name="T23" fmla="*/ 20 h 102"/>
                <a:gd name="T24" fmla="*/ 20 w 51"/>
                <a:gd name="T25" fmla="*/ 12 h 102"/>
                <a:gd name="T26" fmla="*/ 29 w 51"/>
                <a:gd name="T27" fmla="*/ 6 h 102"/>
                <a:gd name="T28" fmla="*/ 40 w 51"/>
                <a:gd name="T29" fmla="*/ 2 h 102"/>
                <a:gd name="T30" fmla="*/ 51 w 51"/>
                <a:gd name="T31" fmla="*/ 0 h 102"/>
                <a:gd name="T32" fmla="*/ 51 w 51"/>
                <a:gd name="T33" fmla="*/ 5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1" h="102">
                  <a:moveTo>
                    <a:pt x="51" y="52"/>
                  </a:moveTo>
                  <a:lnTo>
                    <a:pt x="51" y="102"/>
                  </a:lnTo>
                  <a:lnTo>
                    <a:pt x="40" y="101"/>
                  </a:lnTo>
                  <a:lnTo>
                    <a:pt x="29" y="97"/>
                  </a:lnTo>
                  <a:lnTo>
                    <a:pt x="20" y="91"/>
                  </a:lnTo>
                  <a:lnTo>
                    <a:pt x="12" y="83"/>
                  </a:lnTo>
                  <a:lnTo>
                    <a:pt x="5" y="74"/>
                  </a:lnTo>
                  <a:lnTo>
                    <a:pt x="1" y="63"/>
                  </a:lnTo>
                  <a:lnTo>
                    <a:pt x="0" y="52"/>
                  </a:lnTo>
                  <a:lnTo>
                    <a:pt x="1" y="41"/>
                  </a:lnTo>
                  <a:lnTo>
                    <a:pt x="5" y="29"/>
                  </a:lnTo>
                  <a:lnTo>
                    <a:pt x="12" y="20"/>
                  </a:lnTo>
                  <a:lnTo>
                    <a:pt x="20" y="12"/>
                  </a:lnTo>
                  <a:lnTo>
                    <a:pt x="29" y="6"/>
                  </a:lnTo>
                  <a:lnTo>
                    <a:pt x="40" y="2"/>
                  </a:lnTo>
                  <a:lnTo>
                    <a:pt x="51" y="0"/>
                  </a:lnTo>
                  <a:lnTo>
                    <a:pt x="51"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 name="未知"/>
            <p:cNvSpPr>
              <a:spLocks noChangeAspect="1"/>
            </p:cNvSpPr>
            <p:nvPr/>
          </p:nvSpPr>
          <p:spPr bwMode="auto">
            <a:xfrm>
              <a:off x="3015" y="526"/>
              <a:ext cx="9" cy="15"/>
            </a:xfrm>
            <a:custGeom>
              <a:avLst/>
              <a:gdLst>
                <a:gd name="T0" fmla="*/ 51 w 51"/>
                <a:gd name="T1" fmla="*/ 102 h 102"/>
                <a:gd name="T2" fmla="*/ 40 w 51"/>
                <a:gd name="T3" fmla="*/ 101 h 102"/>
                <a:gd name="T4" fmla="*/ 29 w 51"/>
                <a:gd name="T5" fmla="*/ 97 h 102"/>
                <a:gd name="T6" fmla="*/ 20 w 51"/>
                <a:gd name="T7" fmla="*/ 91 h 102"/>
                <a:gd name="T8" fmla="*/ 12 w 51"/>
                <a:gd name="T9" fmla="*/ 83 h 102"/>
                <a:gd name="T10" fmla="*/ 5 w 51"/>
                <a:gd name="T11" fmla="*/ 74 h 102"/>
                <a:gd name="T12" fmla="*/ 1 w 51"/>
                <a:gd name="T13" fmla="*/ 63 h 102"/>
                <a:gd name="T14" fmla="*/ 0 w 51"/>
                <a:gd name="T15" fmla="*/ 52 h 102"/>
                <a:gd name="T16" fmla="*/ 1 w 51"/>
                <a:gd name="T17" fmla="*/ 41 h 102"/>
                <a:gd name="T18" fmla="*/ 5 w 51"/>
                <a:gd name="T19" fmla="*/ 29 h 102"/>
                <a:gd name="T20" fmla="*/ 12 w 51"/>
                <a:gd name="T21" fmla="*/ 20 h 102"/>
                <a:gd name="T22" fmla="*/ 20 w 51"/>
                <a:gd name="T23" fmla="*/ 12 h 102"/>
                <a:gd name="T24" fmla="*/ 29 w 51"/>
                <a:gd name="T25" fmla="*/ 6 h 102"/>
                <a:gd name="T26" fmla="*/ 40 w 51"/>
                <a:gd name="T27" fmla="*/ 2 h 102"/>
                <a:gd name="T28" fmla="*/ 51 w 51"/>
                <a:gd name="T29"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1" h="102">
                  <a:moveTo>
                    <a:pt x="51" y="102"/>
                  </a:moveTo>
                  <a:lnTo>
                    <a:pt x="40" y="101"/>
                  </a:lnTo>
                  <a:lnTo>
                    <a:pt x="29" y="97"/>
                  </a:lnTo>
                  <a:lnTo>
                    <a:pt x="20" y="91"/>
                  </a:lnTo>
                  <a:lnTo>
                    <a:pt x="12" y="83"/>
                  </a:lnTo>
                  <a:lnTo>
                    <a:pt x="5" y="74"/>
                  </a:lnTo>
                  <a:lnTo>
                    <a:pt x="1" y="63"/>
                  </a:lnTo>
                  <a:lnTo>
                    <a:pt x="0" y="52"/>
                  </a:lnTo>
                  <a:lnTo>
                    <a:pt x="1" y="41"/>
                  </a:lnTo>
                  <a:lnTo>
                    <a:pt x="5" y="29"/>
                  </a:lnTo>
                  <a:lnTo>
                    <a:pt x="12" y="20"/>
                  </a:lnTo>
                  <a:lnTo>
                    <a:pt x="20" y="12"/>
                  </a:lnTo>
                  <a:lnTo>
                    <a:pt x="29" y="6"/>
                  </a:lnTo>
                  <a:lnTo>
                    <a:pt x="40" y="2"/>
                  </a:lnTo>
                  <a:lnTo>
                    <a:pt x="51"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0" name="未知"/>
            <p:cNvSpPr>
              <a:spLocks noChangeAspect="1"/>
            </p:cNvSpPr>
            <p:nvPr/>
          </p:nvSpPr>
          <p:spPr bwMode="auto">
            <a:xfrm>
              <a:off x="3131" y="1504"/>
              <a:ext cx="10" cy="15"/>
            </a:xfrm>
            <a:custGeom>
              <a:avLst/>
              <a:gdLst>
                <a:gd name="T0" fmla="*/ 0 w 52"/>
                <a:gd name="T1" fmla="*/ 52 h 102"/>
                <a:gd name="T2" fmla="*/ 0 w 52"/>
                <a:gd name="T3" fmla="*/ 0 h 102"/>
                <a:gd name="T4" fmla="*/ 11 w 52"/>
                <a:gd name="T5" fmla="*/ 2 h 102"/>
                <a:gd name="T6" fmla="*/ 22 w 52"/>
                <a:gd name="T7" fmla="*/ 6 h 102"/>
                <a:gd name="T8" fmla="*/ 32 w 52"/>
                <a:gd name="T9" fmla="*/ 12 h 102"/>
                <a:gd name="T10" fmla="*/ 40 w 52"/>
                <a:gd name="T11" fmla="*/ 20 h 102"/>
                <a:gd name="T12" fmla="*/ 46 w 52"/>
                <a:gd name="T13" fmla="*/ 29 h 102"/>
                <a:gd name="T14" fmla="*/ 50 w 52"/>
                <a:gd name="T15" fmla="*/ 41 h 102"/>
                <a:gd name="T16" fmla="*/ 52 w 52"/>
                <a:gd name="T17" fmla="*/ 52 h 102"/>
                <a:gd name="T18" fmla="*/ 50 w 52"/>
                <a:gd name="T19" fmla="*/ 63 h 102"/>
                <a:gd name="T20" fmla="*/ 46 w 52"/>
                <a:gd name="T21" fmla="*/ 74 h 102"/>
                <a:gd name="T22" fmla="*/ 40 w 52"/>
                <a:gd name="T23" fmla="*/ 83 h 102"/>
                <a:gd name="T24" fmla="*/ 32 w 52"/>
                <a:gd name="T25" fmla="*/ 91 h 102"/>
                <a:gd name="T26" fmla="*/ 22 w 52"/>
                <a:gd name="T27" fmla="*/ 97 h 102"/>
                <a:gd name="T28" fmla="*/ 11 w 52"/>
                <a:gd name="T29" fmla="*/ 101 h 102"/>
                <a:gd name="T30" fmla="*/ 0 w 52"/>
                <a:gd name="T31" fmla="*/ 102 h 102"/>
                <a:gd name="T32" fmla="*/ 0 w 52"/>
                <a:gd name="T33" fmla="*/ 5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102">
                  <a:moveTo>
                    <a:pt x="0" y="52"/>
                  </a:moveTo>
                  <a:lnTo>
                    <a:pt x="0" y="0"/>
                  </a:lnTo>
                  <a:lnTo>
                    <a:pt x="11" y="2"/>
                  </a:lnTo>
                  <a:lnTo>
                    <a:pt x="22" y="6"/>
                  </a:lnTo>
                  <a:lnTo>
                    <a:pt x="32" y="12"/>
                  </a:lnTo>
                  <a:lnTo>
                    <a:pt x="40" y="20"/>
                  </a:lnTo>
                  <a:lnTo>
                    <a:pt x="46" y="29"/>
                  </a:lnTo>
                  <a:lnTo>
                    <a:pt x="50" y="41"/>
                  </a:lnTo>
                  <a:lnTo>
                    <a:pt x="52" y="52"/>
                  </a:lnTo>
                  <a:lnTo>
                    <a:pt x="50" y="63"/>
                  </a:lnTo>
                  <a:lnTo>
                    <a:pt x="46" y="74"/>
                  </a:lnTo>
                  <a:lnTo>
                    <a:pt x="40" y="83"/>
                  </a:lnTo>
                  <a:lnTo>
                    <a:pt x="32" y="91"/>
                  </a:lnTo>
                  <a:lnTo>
                    <a:pt x="22" y="97"/>
                  </a:lnTo>
                  <a:lnTo>
                    <a:pt x="11" y="101"/>
                  </a:lnTo>
                  <a:lnTo>
                    <a:pt x="0" y="102"/>
                  </a:lnTo>
                  <a:lnTo>
                    <a:pt x="0"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1" name="未知"/>
            <p:cNvSpPr>
              <a:spLocks noChangeAspect="1"/>
            </p:cNvSpPr>
            <p:nvPr/>
          </p:nvSpPr>
          <p:spPr bwMode="auto">
            <a:xfrm>
              <a:off x="3131" y="1504"/>
              <a:ext cx="10" cy="15"/>
            </a:xfrm>
            <a:custGeom>
              <a:avLst/>
              <a:gdLst>
                <a:gd name="T0" fmla="*/ 0 w 52"/>
                <a:gd name="T1" fmla="*/ 0 h 102"/>
                <a:gd name="T2" fmla="*/ 11 w 52"/>
                <a:gd name="T3" fmla="*/ 2 h 102"/>
                <a:gd name="T4" fmla="*/ 22 w 52"/>
                <a:gd name="T5" fmla="*/ 6 h 102"/>
                <a:gd name="T6" fmla="*/ 32 w 52"/>
                <a:gd name="T7" fmla="*/ 12 h 102"/>
                <a:gd name="T8" fmla="*/ 40 w 52"/>
                <a:gd name="T9" fmla="*/ 20 h 102"/>
                <a:gd name="T10" fmla="*/ 46 w 52"/>
                <a:gd name="T11" fmla="*/ 29 h 102"/>
                <a:gd name="T12" fmla="*/ 50 w 52"/>
                <a:gd name="T13" fmla="*/ 41 h 102"/>
                <a:gd name="T14" fmla="*/ 52 w 52"/>
                <a:gd name="T15" fmla="*/ 52 h 102"/>
                <a:gd name="T16" fmla="*/ 50 w 52"/>
                <a:gd name="T17" fmla="*/ 63 h 102"/>
                <a:gd name="T18" fmla="*/ 46 w 52"/>
                <a:gd name="T19" fmla="*/ 74 h 102"/>
                <a:gd name="T20" fmla="*/ 40 w 52"/>
                <a:gd name="T21" fmla="*/ 83 h 102"/>
                <a:gd name="T22" fmla="*/ 32 w 52"/>
                <a:gd name="T23" fmla="*/ 91 h 102"/>
                <a:gd name="T24" fmla="*/ 22 w 52"/>
                <a:gd name="T25" fmla="*/ 97 h 102"/>
                <a:gd name="T26" fmla="*/ 11 w 52"/>
                <a:gd name="T27" fmla="*/ 101 h 102"/>
                <a:gd name="T28" fmla="*/ 0 w 52"/>
                <a:gd name="T2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2" h="102">
                  <a:moveTo>
                    <a:pt x="0" y="0"/>
                  </a:moveTo>
                  <a:lnTo>
                    <a:pt x="11" y="2"/>
                  </a:lnTo>
                  <a:lnTo>
                    <a:pt x="22" y="6"/>
                  </a:lnTo>
                  <a:lnTo>
                    <a:pt x="32" y="12"/>
                  </a:lnTo>
                  <a:lnTo>
                    <a:pt x="40" y="20"/>
                  </a:lnTo>
                  <a:lnTo>
                    <a:pt x="46" y="29"/>
                  </a:lnTo>
                  <a:lnTo>
                    <a:pt x="50" y="41"/>
                  </a:lnTo>
                  <a:lnTo>
                    <a:pt x="52" y="52"/>
                  </a:lnTo>
                  <a:lnTo>
                    <a:pt x="50" y="63"/>
                  </a:lnTo>
                  <a:lnTo>
                    <a:pt x="46" y="74"/>
                  </a:lnTo>
                  <a:lnTo>
                    <a:pt x="40" y="83"/>
                  </a:lnTo>
                  <a:lnTo>
                    <a:pt x="32" y="91"/>
                  </a:lnTo>
                  <a:lnTo>
                    <a:pt x="22" y="97"/>
                  </a:lnTo>
                  <a:lnTo>
                    <a:pt x="11" y="101"/>
                  </a:lnTo>
                  <a:lnTo>
                    <a:pt x="0" y="102"/>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2" name="未知"/>
            <p:cNvSpPr>
              <a:spLocks noChangeAspect="1"/>
            </p:cNvSpPr>
            <p:nvPr/>
          </p:nvSpPr>
          <p:spPr bwMode="auto">
            <a:xfrm>
              <a:off x="3024" y="1504"/>
              <a:ext cx="107" cy="15"/>
            </a:xfrm>
            <a:custGeom>
              <a:avLst/>
              <a:gdLst>
                <a:gd name="T0" fmla="*/ 590 w 590"/>
                <a:gd name="T1" fmla="*/ 102 h 102"/>
                <a:gd name="T2" fmla="*/ 590 w 590"/>
                <a:gd name="T3" fmla="*/ 52 h 102"/>
                <a:gd name="T4" fmla="*/ 590 w 590"/>
                <a:gd name="T5" fmla="*/ 0 h 102"/>
                <a:gd name="T6" fmla="*/ 0 w 590"/>
                <a:gd name="T7" fmla="*/ 0 h 102"/>
                <a:gd name="T8" fmla="*/ 0 w 590"/>
                <a:gd name="T9" fmla="*/ 52 h 102"/>
                <a:gd name="T10" fmla="*/ 0 w 590"/>
                <a:gd name="T11" fmla="*/ 102 h 102"/>
                <a:gd name="T12" fmla="*/ 590 w 590"/>
                <a:gd name="T13" fmla="*/ 102 h 102"/>
              </a:gdLst>
              <a:ahLst/>
              <a:cxnLst>
                <a:cxn ang="0">
                  <a:pos x="T0" y="T1"/>
                </a:cxn>
                <a:cxn ang="0">
                  <a:pos x="T2" y="T3"/>
                </a:cxn>
                <a:cxn ang="0">
                  <a:pos x="T4" y="T5"/>
                </a:cxn>
                <a:cxn ang="0">
                  <a:pos x="T6" y="T7"/>
                </a:cxn>
                <a:cxn ang="0">
                  <a:pos x="T8" y="T9"/>
                </a:cxn>
                <a:cxn ang="0">
                  <a:pos x="T10" y="T11"/>
                </a:cxn>
                <a:cxn ang="0">
                  <a:pos x="T12" y="T13"/>
                </a:cxn>
              </a:cxnLst>
              <a:rect l="0" t="0" r="r" b="b"/>
              <a:pathLst>
                <a:path w="590" h="102">
                  <a:moveTo>
                    <a:pt x="590" y="102"/>
                  </a:moveTo>
                  <a:lnTo>
                    <a:pt x="590" y="52"/>
                  </a:lnTo>
                  <a:lnTo>
                    <a:pt x="590" y="0"/>
                  </a:lnTo>
                  <a:lnTo>
                    <a:pt x="0" y="0"/>
                  </a:lnTo>
                  <a:lnTo>
                    <a:pt x="0" y="52"/>
                  </a:lnTo>
                  <a:lnTo>
                    <a:pt x="0" y="102"/>
                  </a:lnTo>
                  <a:lnTo>
                    <a:pt x="590" y="1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3" name="未知"/>
            <p:cNvSpPr>
              <a:spLocks noChangeAspect="1"/>
            </p:cNvSpPr>
            <p:nvPr/>
          </p:nvSpPr>
          <p:spPr bwMode="auto">
            <a:xfrm>
              <a:off x="3024" y="1504"/>
              <a:ext cx="107" cy="15"/>
            </a:xfrm>
            <a:custGeom>
              <a:avLst/>
              <a:gdLst>
                <a:gd name="T0" fmla="*/ 590 w 590"/>
                <a:gd name="T1" fmla="*/ 102 h 102"/>
                <a:gd name="T2" fmla="*/ 590 w 590"/>
                <a:gd name="T3" fmla="*/ 52 h 102"/>
                <a:gd name="T4" fmla="*/ 590 w 590"/>
                <a:gd name="T5" fmla="*/ 0 h 102"/>
                <a:gd name="T6" fmla="*/ 0 w 590"/>
                <a:gd name="T7" fmla="*/ 0 h 102"/>
                <a:gd name="T8" fmla="*/ 0 w 590"/>
                <a:gd name="T9" fmla="*/ 52 h 102"/>
                <a:gd name="T10" fmla="*/ 0 w 590"/>
                <a:gd name="T11" fmla="*/ 102 h 102"/>
                <a:gd name="T12" fmla="*/ 590 w 590"/>
                <a:gd name="T13" fmla="*/ 102 h 102"/>
              </a:gdLst>
              <a:ahLst/>
              <a:cxnLst>
                <a:cxn ang="0">
                  <a:pos x="T0" y="T1"/>
                </a:cxn>
                <a:cxn ang="0">
                  <a:pos x="T2" y="T3"/>
                </a:cxn>
                <a:cxn ang="0">
                  <a:pos x="T4" y="T5"/>
                </a:cxn>
                <a:cxn ang="0">
                  <a:pos x="T6" y="T7"/>
                </a:cxn>
                <a:cxn ang="0">
                  <a:pos x="T8" y="T9"/>
                </a:cxn>
                <a:cxn ang="0">
                  <a:pos x="T10" y="T11"/>
                </a:cxn>
                <a:cxn ang="0">
                  <a:pos x="T12" y="T13"/>
                </a:cxn>
              </a:cxnLst>
              <a:rect l="0" t="0" r="r" b="b"/>
              <a:pathLst>
                <a:path w="590" h="102">
                  <a:moveTo>
                    <a:pt x="590" y="102"/>
                  </a:moveTo>
                  <a:lnTo>
                    <a:pt x="590" y="52"/>
                  </a:lnTo>
                  <a:lnTo>
                    <a:pt x="590" y="0"/>
                  </a:lnTo>
                  <a:lnTo>
                    <a:pt x="0" y="0"/>
                  </a:lnTo>
                  <a:lnTo>
                    <a:pt x="0" y="52"/>
                  </a:lnTo>
                  <a:lnTo>
                    <a:pt x="0" y="102"/>
                  </a:lnTo>
                  <a:lnTo>
                    <a:pt x="590" y="102"/>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4" name="未知"/>
            <p:cNvSpPr>
              <a:spLocks noChangeAspect="1"/>
            </p:cNvSpPr>
            <p:nvPr/>
          </p:nvSpPr>
          <p:spPr bwMode="auto">
            <a:xfrm>
              <a:off x="3015" y="1504"/>
              <a:ext cx="9" cy="15"/>
            </a:xfrm>
            <a:custGeom>
              <a:avLst/>
              <a:gdLst>
                <a:gd name="T0" fmla="*/ 51 w 51"/>
                <a:gd name="T1" fmla="*/ 52 h 102"/>
                <a:gd name="T2" fmla="*/ 51 w 51"/>
                <a:gd name="T3" fmla="*/ 102 h 102"/>
                <a:gd name="T4" fmla="*/ 40 w 51"/>
                <a:gd name="T5" fmla="*/ 101 h 102"/>
                <a:gd name="T6" fmla="*/ 29 w 51"/>
                <a:gd name="T7" fmla="*/ 97 h 102"/>
                <a:gd name="T8" fmla="*/ 20 w 51"/>
                <a:gd name="T9" fmla="*/ 91 h 102"/>
                <a:gd name="T10" fmla="*/ 12 w 51"/>
                <a:gd name="T11" fmla="*/ 83 h 102"/>
                <a:gd name="T12" fmla="*/ 5 w 51"/>
                <a:gd name="T13" fmla="*/ 74 h 102"/>
                <a:gd name="T14" fmla="*/ 1 w 51"/>
                <a:gd name="T15" fmla="*/ 63 h 102"/>
                <a:gd name="T16" fmla="*/ 0 w 51"/>
                <a:gd name="T17" fmla="*/ 52 h 102"/>
                <a:gd name="T18" fmla="*/ 1 w 51"/>
                <a:gd name="T19" fmla="*/ 41 h 102"/>
                <a:gd name="T20" fmla="*/ 5 w 51"/>
                <a:gd name="T21" fmla="*/ 29 h 102"/>
                <a:gd name="T22" fmla="*/ 12 w 51"/>
                <a:gd name="T23" fmla="*/ 20 h 102"/>
                <a:gd name="T24" fmla="*/ 20 w 51"/>
                <a:gd name="T25" fmla="*/ 12 h 102"/>
                <a:gd name="T26" fmla="*/ 29 w 51"/>
                <a:gd name="T27" fmla="*/ 6 h 102"/>
                <a:gd name="T28" fmla="*/ 40 w 51"/>
                <a:gd name="T29" fmla="*/ 2 h 102"/>
                <a:gd name="T30" fmla="*/ 51 w 51"/>
                <a:gd name="T31" fmla="*/ 0 h 102"/>
                <a:gd name="T32" fmla="*/ 51 w 51"/>
                <a:gd name="T33" fmla="*/ 5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1" h="102">
                  <a:moveTo>
                    <a:pt x="51" y="52"/>
                  </a:moveTo>
                  <a:lnTo>
                    <a:pt x="51" y="102"/>
                  </a:lnTo>
                  <a:lnTo>
                    <a:pt x="40" y="101"/>
                  </a:lnTo>
                  <a:lnTo>
                    <a:pt x="29" y="97"/>
                  </a:lnTo>
                  <a:lnTo>
                    <a:pt x="20" y="91"/>
                  </a:lnTo>
                  <a:lnTo>
                    <a:pt x="12" y="83"/>
                  </a:lnTo>
                  <a:lnTo>
                    <a:pt x="5" y="74"/>
                  </a:lnTo>
                  <a:lnTo>
                    <a:pt x="1" y="63"/>
                  </a:lnTo>
                  <a:lnTo>
                    <a:pt x="0" y="52"/>
                  </a:lnTo>
                  <a:lnTo>
                    <a:pt x="1" y="41"/>
                  </a:lnTo>
                  <a:lnTo>
                    <a:pt x="5" y="29"/>
                  </a:lnTo>
                  <a:lnTo>
                    <a:pt x="12" y="20"/>
                  </a:lnTo>
                  <a:lnTo>
                    <a:pt x="20" y="12"/>
                  </a:lnTo>
                  <a:lnTo>
                    <a:pt x="29" y="6"/>
                  </a:lnTo>
                  <a:lnTo>
                    <a:pt x="40" y="2"/>
                  </a:lnTo>
                  <a:lnTo>
                    <a:pt x="51" y="0"/>
                  </a:lnTo>
                  <a:lnTo>
                    <a:pt x="51"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5" name="未知"/>
            <p:cNvSpPr>
              <a:spLocks noChangeAspect="1"/>
            </p:cNvSpPr>
            <p:nvPr/>
          </p:nvSpPr>
          <p:spPr bwMode="auto">
            <a:xfrm>
              <a:off x="3015" y="1504"/>
              <a:ext cx="9" cy="15"/>
            </a:xfrm>
            <a:custGeom>
              <a:avLst/>
              <a:gdLst>
                <a:gd name="T0" fmla="*/ 51 w 51"/>
                <a:gd name="T1" fmla="*/ 102 h 102"/>
                <a:gd name="T2" fmla="*/ 40 w 51"/>
                <a:gd name="T3" fmla="*/ 101 h 102"/>
                <a:gd name="T4" fmla="*/ 29 w 51"/>
                <a:gd name="T5" fmla="*/ 97 h 102"/>
                <a:gd name="T6" fmla="*/ 20 w 51"/>
                <a:gd name="T7" fmla="*/ 91 h 102"/>
                <a:gd name="T8" fmla="*/ 12 w 51"/>
                <a:gd name="T9" fmla="*/ 83 h 102"/>
                <a:gd name="T10" fmla="*/ 5 w 51"/>
                <a:gd name="T11" fmla="*/ 74 h 102"/>
                <a:gd name="T12" fmla="*/ 1 w 51"/>
                <a:gd name="T13" fmla="*/ 63 h 102"/>
                <a:gd name="T14" fmla="*/ 0 w 51"/>
                <a:gd name="T15" fmla="*/ 52 h 102"/>
                <a:gd name="T16" fmla="*/ 1 w 51"/>
                <a:gd name="T17" fmla="*/ 41 h 102"/>
                <a:gd name="T18" fmla="*/ 5 w 51"/>
                <a:gd name="T19" fmla="*/ 29 h 102"/>
                <a:gd name="T20" fmla="*/ 12 w 51"/>
                <a:gd name="T21" fmla="*/ 20 h 102"/>
                <a:gd name="T22" fmla="*/ 20 w 51"/>
                <a:gd name="T23" fmla="*/ 12 h 102"/>
                <a:gd name="T24" fmla="*/ 29 w 51"/>
                <a:gd name="T25" fmla="*/ 6 h 102"/>
                <a:gd name="T26" fmla="*/ 40 w 51"/>
                <a:gd name="T27" fmla="*/ 2 h 102"/>
                <a:gd name="T28" fmla="*/ 51 w 51"/>
                <a:gd name="T29"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1" h="102">
                  <a:moveTo>
                    <a:pt x="51" y="102"/>
                  </a:moveTo>
                  <a:lnTo>
                    <a:pt x="40" y="101"/>
                  </a:lnTo>
                  <a:lnTo>
                    <a:pt x="29" y="97"/>
                  </a:lnTo>
                  <a:lnTo>
                    <a:pt x="20" y="91"/>
                  </a:lnTo>
                  <a:lnTo>
                    <a:pt x="12" y="83"/>
                  </a:lnTo>
                  <a:lnTo>
                    <a:pt x="5" y="74"/>
                  </a:lnTo>
                  <a:lnTo>
                    <a:pt x="1" y="63"/>
                  </a:lnTo>
                  <a:lnTo>
                    <a:pt x="0" y="52"/>
                  </a:lnTo>
                  <a:lnTo>
                    <a:pt x="1" y="41"/>
                  </a:lnTo>
                  <a:lnTo>
                    <a:pt x="5" y="29"/>
                  </a:lnTo>
                  <a:lnTo>
                    <a:pt x="12" y="20"/>
                  </a:lnTo>
                  <a:lnTo>
                    <a:pt x="20" y="12"/>
                  </a:lnTo>
                  <a:lnTo>
                    <a:pt x="29" y="6"/>
                  </a:lnTo>
                  <a:lnTo>
                    <a:pt x="40" y="2"/>
                  </a:lnTo>
                  <a:lnTo>
                    <a:pt x="51"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6" name="未知"/>
            <p:cNvSpPr>
              <a:spLocks noChangeAspect="1"/>
            </p:cNvSpPr>
            <p:nvPr/>
          </p:nvSpPr>
          <p:spPr bwMode="auto">
            <a:xfrm>
              <a:off x="3122" y="526"/>
              <a:ext cx="17" cy="13"/>
            </a:xfrm>
            <a:custGeom>
              <a:avLst/>
              <a:gdLst>
                <a:gd name="T0" fmla="*/ 50 w 87"/>
                <a:gd name="T1" fmla="*/ 51 h 86"/>
                <a:gd name="T2" fmla="*/ 14 w 87"/>
                <a:gd name="T3" fmla="*/ 86 h 86"/>
                <a:gd name="T4" fmla="*/ 7 w 87"/>
                <a:gd name="T5" fmla="*/ 77 h 86"/>
                <a:gd name="T6" fmla="*/ 2 w 87"/>
                <a:gd name="T7" fmla="*/ 67 h 86"/>
                <a:gd name="T8" fmla="*/ 0 w 87"/>
                <a:gd name="T9" fmla="*/ 56 h 86"/>
                <a:gd name="T10" fmla="*/ 0 w 87"/>
                <a:gd name="T11" fmla="*/ 44 h 86"/>
                <a:gd name="T12" fmla="*/ 3 w 87"/>
                <a:gd name="T13" fmla="*/ 33 h 86"/>
                <a:gd name="T14" fmla="*/ 8 w 87"/>
                <a:gd name="T15" fmla="*/ 22 h 86"/>
                <a:gd name="T16" fmla="*/ 15 w 87"/>
                <a:gd name="T17" fmla="*/ 14 h 86"/>
                <a:gd name="T18" fmla="*/ 24 w 87"/>
                <a:gd name="T19" fmla="*/ 7 h 86"/>
                <a:gd name="T20" fmla="*/ 34 w 87"/>
                <a:gd name="T21" fmla="*/ 2 h 86"/>
                <a:gd name="T22" fmla="*/ 45 w 87"/>
                <a:gd name="T23" fmla="*/ 0 h 86"/>
                <a:gd name="T24" fmla="*/ 57 w 87"/>
                <a:gd name="T25" fmla="*/ 0 h 86"/>
                <a:gd name="T26" fmla="*/ 68 w 87"/>
                <a:gd name="T27" fmla="*/ 3 h 86"/>
                <a:gd name="T28" fmla="*/ 79 w 87"/>
                <a:gd name="T29" fmla="*/ 8 h 86"/>
                <a:gd name="T30" fmla="*/ 87 w 87"/>
                <a:gd name="T31" fmla="*/ 15 h 86"/>
                <a:gd name="T32" fmla="*/ 50 w 87"/>
                <a:gd name="T33" fmla="*/ 5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7" h="86">
                  <a:moveTo>
                    <a:pt x="50" y="51"/>
                  </a:moveTo>
                  <a:lnTo>
                    <a:pt x="14" y="86"/>
                  </a:lnTo>
                  <a:lnTo>
                    <a:pt x="7" y="77"/>
                  </a:lnTo>
                  <a:lnTo>
                    <a:pt x="2" y="67"/>
                  </a:lnTo>
                  <a:lnTo>
                    <a:pt x="0" y="56"/>
                  </a:lnTo>
                  <a:lnTo>
                    <a:pt x="0" y="44"/>
                  </a:lnTo>
                  <a:lnTo>
                    <a:pt x="3" y="33"/>
                  </a:lnTo>
                  <a:lnTo>
                    <a:pt x="8" y="22"/>
                  </a:lnTo>
                  <a:lnTo>
                    <a:pt x="15" y="14"/>
                  </a:lnTo>
                  <a:lnTo>
                    <a:pt x="24" y="7"/>
                  </a:lnTo>
                  <a:lnTo>
                    <a:pt x="34" y="2"/>
                  </a:lnTo>
                  <a:lnTo>
                    <a:pt x="45" y="0"/>
                  </a:lnTo>
                  <a:lnTo>
                    <a:pt x="57" y="0"/>
                  </a:lnTo>
                  <a:lnTo>
                    <a:pt x="68" y="3"/>
                  </a:lnTo>
                  <a:lnTo>
                    <a:pt x="79" y="8"/>
                  </a:lnTo>
                  <a:lnTo>
                    <a:pt x="87" y="15"/>
                  </a:lnTo>
                  <a:lnTo>
                    <a:pt x="50" y="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7" name="未知"/>
            <p:cNvSpPr>
              <a:spLocks noChangeAspect="1"/>
            </p:cNvSpPr>
            <p:nvPr/>
          </p:nvSpPr>
          <p:spPr bwMode="auto">
            <a:xfrm>
              <a:off x="3122" y="526"/>
              <a:ext cx="17" cy="13"/>
            </a:xfrm>
            <a:custGeom>
              <a:avLst/>
              <a:gdLst>
                <a:gd name="T0" fmla="*/ 14 w 87"/>
                <a:gd name="T1" fmla="*/ 86 h 86"/>
                <a:gd name="T2" fmla="*/ 7 w 87"/>
                <a:gd name="T3" fmla="*/ 77 h 86"/>
                <a:gd name="T4" fmla="*/ 2 w 87"/>
                <a:gd name="T5" fmla="*/ 67 h 86"/>
                <a:gd name="T6" fmla="*/ 0 w 87"/>
                <a:gd name="T7" fmla="*/ 56 h 86"/>
                <a:gd name="T8" fmla="*/ 0 w 87"/>
                <a:gd name="T9" fmla="*/ 44 h 86"/>
                <a:gd name="T10" fmla="*/ 3 w 87"/>
                <a:gd name="T11" fmla="*/ 33 h 86"/>
                <a:gd name="T12" fmla="*/ 8 w 87"/>
                <a:gd name="T13" fmla="*/ 22 h 86"/>
                <a:gd name="T14" fmla="*/ 15 w 87"/>
                <a:gd name="T15" fmla="*/ 14 h 86"/>
                <a:gd name="T16" fmla="*/ 24 w 87"/>
                <a:gd name="T17" fmla="*/ 7 h 86"/>
                <a:gd name="T18" fmla="*/ 34 w 87"/>
                <a:gd name="T19" fmla="*/ 2 h 86"/>
                <a:gd name="T20" fmla="*/ 45 w 87"/>
                <a:gd name="T21" fmla="*/ 0 h 86"/>
                <a:gd name="T22" fmla="*/ 57 w 87"/>
                <a:gd name="T23" fmla="*/ 0 h 86"/>
                <a:gd name="T24" fmla="*/ 68 w 87"/>
                <a:gd name="T25" fmla="*/ 3 h 86"/>
                <a:gd name="T26" fmla="*/ 79 w 87"/>
                <a:gd name="T27" fmla="*/ 8 h 86"/>
                <a:gd name="T28" fmla="*/ 87 w 87"/>
                <a:gd name="T29" fmla="*/ 15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7" h="86">
                  <a:moveTo>
                    <a:pt x="14" y="86"/>
                  </a:moveTo>
                  <a:lnTo>
                    <a:pt x="7" y="77"/>
                  </a:lnTo>
                  <a:lnTo>
                    <a:pt x="2" y="67"/>
                  </a:lnTo>
                  <a:lnTo>
                    <a:pt x="0" y="56"/>
                  </a:lnTo>
                  <a:lnTo>
                    <a:pt x="0" y="44"/>
                  </a:lnTo>
                  <a:lnTo>
                    <a:pt x="3" y="33"/>
                  </a:lnTo>
                  <a:lnTo>
                    <a:pt x="8" y="22"/>
                  </a:lnTo>
                  <a:lnTo>
                    <a:pt x="15" y="14"/>
                  </a:lnTo>
                  <a:lnTo>
                    <a:pt x="24" y="7"/>
                  </a:lnTo>
                  <a:lnTo>
                    <a:pt x="34" y="2"/>
                  </a:lnTo>
                  <a:lnTo>
                    <a:pt x="45" y="0"/>
                  </a:lnTo>
                  <a:lnTo>
                    <a:pt x="57" y="0"/>
                  </a:lnTo>
                  <a:lnTo>
                    <a:pt x="68" y="3"/>
                  </a:lnTo>
                  <a:lnTo>
                    <a:pt x="79" y="8"/>
                  </a:lnTo>
                  <a:lnTo>
                    <a:pt x="87" y="15"/>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 name="未知"/>
            <p:cNvSpPr>
              <a:spLocks noChangeAspect="1"/>
            </p:cNvSpPr>
            <p:nvPr/>
          </p:nvSpPr>
          <p:spPr bwMode="auto">
            <a:xfrm>
              <a:off x="3125" y="529"/>
              <a:ext cx="424" cy="364"/>
            </a:xfrm>
            <a:custGeom>
              <a:avLst/>
              <a:gdLst>
                <a:gd name="T0" fmla="*/ 73 w 2328"/>
                <a:gd name="T1" fmla="*/ 0 h 2411"/>
                <a:gd name="T2" fmla="*/ 36 w 2328"/>
                <a:gd name="T3" fmla="*/ 36 h 2411"/>
                <a:gd name="T4" fmla="*/ 0 w 2328"/>
                <a:gd name="T5" fmla="*/ 71 h 2411"/>
                <a:gd name="T6" fmla="*/ 2255 w 2328"/>
                <a:gd name="T7" fmla="*/ 2411 h 2411"/>
                <a:gd name="T8" fmla="*/ 2291 w 2328"/>
                <a:gd name="T9" fmla="*/ 2376 h 2411"/>
                <a:gd name="T10" fmla="*/ 2328 w 2328"/>
                <a:gd name="T11" fmla="*/ 2340 h 2411"/>
                <a:gd name="T12" fmla="*/ 73 w 2328"/>
                <a:gd name="T13" fmla="*/ 0 h 2411"/>
              </a:gdLst>
              <a:ahLst/>
              <a:cxnLst>
                <a:cxn ang="0">
                  <a:pos x="T0" y="T1"/>
                </a:cxn>
                <a:cxn ang="0">
                  <a:pos x="T2" y="T3"/>
                </a:cxn>
                <a:cxn ang="0">
                  <a:pos x="T4" y="T5"/>
                </a:cxn>
                <a:cxn ang="0">
                  <a:pos x="T6" y="T7"/>
                </a:cxn>
                <a:cxn ang="0">
                  <a:pos x="T8" y="T9"/>
                </a:cxn>
                <a:cxn ang="0">
                  <a:pos x="T10" y="T11"/>
                </a:cxn>
                <a:cxn ang="0">
                  <a:pos x="T12" y="T13"/>
                </a:cxn>
              </a:cxnLst>
              <a:rect l="0" t="0" r="r" b="b"/>
              <a:pathLst>
                <a:path w="2328" h="2411">
                  <a:moveTo>
                    <a:pt x="73" y="0"/>
                  </a:moveTo>
                  <a:lnTo>
                    <a:pt x="36" y="36"/>
                  </a:lnTo>
                  <a:lnTo>
                    <a:pt x="0" y="71"/>
                  </a:lnTo>
                  <a:lnTo>
                    <a:pt x="2255" y="2411"/>
                  </a:lnTo>
                  <a:lnTo>
                    <a:pt x="2291" y="2376"/>
                  </a:lnTo>
                  <a:lnTo>
                    <a:pt x="2328" y="2340"/>
                  </a:lnTo>
                  <a:lnTo>
                    <a:pt x="7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 name="未知"/>
            <p:cNvSpPr>
              <a:spLocks noChangeAspect="1"/>
            </p:cNvSpPr>
            <p:nvPr/>
          </p:nvSpPr>
          <p:spPr bwMode="auto">
            <a:xfrm>
              <a:off x="3125" y="529"/>
              <a:ext cx="424" cy="364"/>
            </a:xfrm>
            <a:custGeom>
              <a:avLst/>
              <a:gdLst>
                <a:gd name="T0" fmla="*/ 73 w 2328"/>
                <a:gd name="T1" fmla="*/ 0 h 2411"/>
                <a:gd name="T2" fmla="*/ 36 w 2328"/>
                <a:gd name="T3" fmla="*/ 36 h 2411"/>
                <a:gd name="T4" fmla="*/ 0 w 2328"/>
                <a:gd name="T5" fmla="*/ 71 h 2411"/>
                <a:gd name="T6" fmla="*/ 2255 w 2328"/>
                <a:gd name="T7" fmla="*/ 2411 h 2411"/>
                <a:gd name="T8" fmla="*/ 2291 w 2328"/>
                <a:gd name="T9" fmla="*/ 2376 h 2411"/>
                <a:gd name="T10" fmla="*/ 2328 w 2328"/>
                <a:gd name="T11" fmla="*/ 2340 h 2411"/>
                <a:gd name="T12" fmla="*/ 73 w 2328"/>
                <a:gd name="T13" fmla="*/ 0 h 2411"/>
              </a:gdLst>
              <a:ahLst/>
              <a:cxnLst>
                <a:cxn ang="0">
                  <a:pos x="T0" y="T1"/>
                </a:cxn>
                <a:cxn ang="0">
                  <a:pos x="T2" y="T3"/>
                </a:cxn>
                <a:cxn ang="0">
                  <a:pos x="T4" y="T5"/>
                </a:cxn>
                <a:cxn ang="0">
                  <a:pos x="T6" y="T7"/>
                </a:cxn>
                <a:cxn ang="0">
                  <a:pos x="T8" y="T9"/>
                </a:cxn>
                <a:cxn ang="0">
                  <a:pos x="T10" y="T11"/>
                </a:cxn>
                <a:cxn ang="0">
                  <a:pos x="T12" y="T13"/>
                </a:cxn>
              </a:cxnLst>
              <a:rect l="0" t="0" r="r" b="b"/>
              <a:pathLst>
                <a:path w="2328" h="2411">
                  <a:moveTo>
                    <a:pt x="73" y="0"/>
                  </a:moveTo>
                  <a:lnTo>
                    <a:pt x="36" y="36"/>
                  </a:lnTo>
                  <a:lnTo>
                    <a:pt x="0" y="71"/>
                  </a:lnTo>
                  <a:lnTo>
                    <a:pt x="2255" y="2411"/>
                  </a:lnTo>
                  <a:lnTo>
                    <a:pt x="2291" y="2376"/>
                  </a:lnTo>
                  <a:lnTo>
                    <a:pt x="2328" y="2340"/>
                  </a:lnTo>
                  <a:lnTo>
                    <a:pt x="73"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0" name="未知"/>
            <p:cNvSpPr>
              <a:spLocks noChangeAspect="1"/>
            </p:cNvSpPr>
            <p:nvPr/>
          </p:nvSpPr>
          <p:spPr bwMode="auto">
            <a:xfrm>
              <a:off x="3535" y="883"/>
              <a:ext cx="16" cy="13"/>
            </a:xfrm>
            <a:custGeom>
              <a:avLst/>
              <a:gdLst>
                <a:gd name="T0" fmla="*/ 36 w 87"/>
                <a:gd name="T1" fmla="*/ 36 h 87"/>
                <a:gd name="T2" fmla="*/ 73 w 87"/>
                <a:gd name="T3" fmla="*/ 0 h 87"/>
                <a:gd name="T4" fmla="*/ 80 w 87"/>
                <a:gd name="T5" fmla="*/ 10 h 87"/>
                <a:gd name="T6" fmla="*/ 85 w 87"/>
                <a:gd name="T7" fmla="*/ 20 h 87"/>
                <a:gd name="T8" fmla="*/ 87 w 87"/>
                <a:gd name="T9" fmla="*/ 31 h 87"/>
                <a:gd name="T10" fmla="*/ 87 w 87"/>
                <a:gd name="T11" fmla="*/ 43 h 87"/>
                <a:gd name="T12" fmla="*/ 84 w 87"/>
                <a:gd name="T13" fmla="*/ 54 h 87"/>
                <a:gd name="T14" fmla="*/ 79 w 87"/>
                <a:gd name="T15" fmla="*/ 64 h 87"/>
                <a:gd name="T16" fmla="*/ 72 w 87"/>
                <a:gd name="T17" fmla="*/ 72 h 87"/>
                <a:gd name="T18" fmla="*/ 63 w 87"/>
                <a:gd name="T19" fmla="*/ 80 h 87"/>
                <a:gd name="T20" fmla="*/ 53 w 87"/>
                <a:gd name="T21" fmla="*/ 85 h 87"/>
                <a:gd name="T22" fmla="*/ 41 w 87"/>
                <a:gd name="T23" fmla="*/ 87 h 87"/>
                <a:gd name="T24" fmla="*/ 29 w 87"/>
                <a:gd name="T25" fmla="*/ 87 h 87"/>
                <a:gd name="T26" fmla="*/ 18 w 87"/>
                <a:gd name="T27" fmla="*/ 84 h 87"/>
                <a:gd name="T28" fmla="*/ 8 w 87"/>
                <a:gd name="T29" fmla="*/ 79 h 87"/>
                <a:gd name="T30" fmla="*/ 0 w 87"/>
                <a:gd name="T31" fmla="*/ 71 h 87"/>
                <a:gd name="T32" fmla="*/ 36 w 87"/>
                <a:gd name="T33" fmla="*/ 36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7" h="87">
                  <a:moveTo>
                    <a:pt x="36" y="36"/>
                  </a:moveTo>
                  <a:lnTo>
                    <a:pt x="73" y="0"/>
                  </a:lnTo>
                  <a:lnTo>
                    <a:pt x="80" y="10"/>
                  </a:lnTo>
                  <a:lnTo>
                    <a:pt x="85" y="20"/>
                  </a:lnTo>
                  <a:lnTo>
                    <a:pt x="87" y="31"/>
                  </a:lnTo>
                  <a:lnTo>
                    <a:pt x="87" y="43"/>
                  </a:lnTo>
                  <a:lnTo>
                    <a:pt x="84" y="54"/>
                  </a:lnTo>
                  <a:lnTo>
                    <a:pt x="79" y="64"/>
                  </a:lnTo>
                  <a:lnTo>
                    <a:pt x="72" y="72"/>
                  </a:lnTo>
                  <a:lnTo>
                    <a:pt x="63" y="80"/>
                  </a:lnTo>
                  <a:lnTo>
                    <a:pt x="53" y="85"/>
                  </a:lnTo>
                  <a:lnTo>
                    <a:pt x="41" y="87"/>
                  </a:lnTo>
                  <a:lnTo>
                    <a:pt x="29" y="87"/>
                  </a:lnTo>
                  <a:lnTo>
                    <a:pt x="18" y="84"/>
                  </a:lnTo>
                  <a:lnTo>
                    <a:pt x="8" y="79"/>
                  </a:lnTo>
                  <a:lnTo>
                    <a:pt x="0" y="71"/>
                  </a:lnTo>
                  <a:lnTo>
                    <a:pt x="36"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1" name="未知"/>
            <p:cNvSpPr>
              <a:spLocks noChangeAspect="1"/>
            </p:cNvSpPr>
            <p:nvPr/>
          </p:nvSpPr>
          <p:spPr bwMode="auto">
            <a:xfrm>
              <a:off x="3535" y="883"/>
              <a:ext cx="16" cy="13"/>
            </a:xfrm>
            <a:custGeom>
              <a:avLst/>
              <a:gdLst>
                <a:gd name="T0" fmla="*/ 73 w 87"/>
                <a:gd name="T1" fmla="*/ 0 h 87"/>
                <a:gd name="T2" fmla="*/ 80 w 87"/>
                <a:gd name="T3" fmla="*/ 10 h 87"/>
                <a:gd name="T4" fmla="*/ 85 w 87"/>
                <a:gd name="T5" fmla="*/ 20 h 87"/>
                <a:gd name="T6" fmla="*/ 87 w 87"/>
                <a:gd name="T7" fmla="*/ 31 h 87"/>
                <a:gd name="T8" fmla="*/ 87 w 87"/>
                <a:gd name="T9" fmla="*/ 43 h 87"/>
                <a:gd name="T10" fmla="*/ 84 w 87"/>
                <a:gd name="T11" fmla="*/ 54 h 87"/>
                <a:gd name="T12" fmla="*/ 79 w 87"/>
                <a:gd name="T13" fmla="*/ 64 h 87"/>
                <a:gd name="T14" fmla="*/ 72 w 87"/>
                <a:gd name="T15" fmla="*/ 72 h 87"/>
                <a:gd name="T16" fmla="*/ 63 w 87"/>
                <a:gd name="T17" fmla="*/ 80 h 87"/>
                <a:gd name="T18" fmla="*/ 53 w 87"/>
                <a:gd name="T19" fmla="*/ 85 h 87"/>
                <a:gd name="T20" fmla="*/ 41 w 87"/>
                <a:gd name="T21" fmla="*/ 87 h 87"/>
                <a:gd name="T22" fmla="*/ 29 w 87"/>
                <a:gd name="T23" fmla="*/ 87 h 87"/>
                <a:gd name="T24" fmla="*/ 18 w 87"/>
                <a:gd name="T25" fmla="*/ 84 h 87"/>
                <a:gd name="T26" fmla="*/ 8 w 87"/>
                <a:gd name="T27" fmla="*/ 79 h 87"/>
                <a:gd name="T28" fmla="*/ 0 w 87"/>
                <a:gd name="T29" fmla="*/ 7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7" h="87">
                  <a:moveTo>
                    <a:pt x="73" y="0"/>
                  </a:moveTo>
                  <a:lnTo>
                    <a:pt x="80" y="10"/>
                  </a:lnTo>
                  <a:lnTo>
                    <a:pt x="85" y="20"/>
                  </a:lnTo>
                  <a:lnTo>
                    <a:pt x="87" y="31"/>
                  </a:lnTo>
                  <a:lnTo>
                    <a:pt x="87" y="43"/>
                  </a:lnTo>
                  <a:lnTo>
                    <a:pt x="84" y="54"/>
                  </a:lnTo>
                  <a:lnTo>
                    <a:pt x="79" y="64"/>
                  </a:lnTo>
                  <a:lnTo>
                    <a:pt x="72" y="72"/>
                  </a:lnTo>
                  <a:lnTo>
                    <a:pt x="63" y="80"/>
                  </a:lnTo>
                  <a:lnTo>
                    <a:pt x="53" y="85"/>
                  </a:lnTo>
                  <a:lnTo>
                    <a:pt x="41" y="87"/>
                  </a:lnTo>
                  <a:lnTo>
                    <a:pt x="29" y="87"/>
                  </a:lnTo>
                  <a:lnTo>
                    <a:pt x="18" y="84"/>
                  </a:lnTo>
                  <a:lnTo>
                    <a:pt x="8" y="79"/>
                  </a:lnTo>
                  <a:lnTo>
                    <a:pt x="0" y="71"/>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2" name="未知"/>
            <p:cNvSpPr>
              <a:spLocks noChangeAspect="1"/>
            </p:cNvSpPr>
            <p:nvPr/>
          </p:nvSpPr>
          <p:spPr bwMode="auto">
            <a:xfrm>
              <a:off x="3122" y="1505"/>
              <a:ext cx="17" cy="13"/>
            </a:xfrm>
            <a:custGeom>
              <a:avLst/>
              <a:gdLst>
                <a:gd name="T0" fmla="*/ 50 w 87"/>
                <a:gd name="T1" fmla="*/ 51 h 86"/>
                <a:gd name="T2" fmla="*/ 14 w 87"/>
                <a:gd name="T3" fmla="*/ 86 h 86"/>
                <a:gd name="T4" fmla="*/ 7 w 87"/>
                <a:gd name="T5" fmla="*/ 77 h 86"/>
                <a:gd name="T6" fmla="*/ 2 w 87"/>
                <a:gd name="T7" fmla="*/ 67 h 86"/>
                <a:gd name="T8" fmla="*/ 0 w 87"/>
                <a:gd name="T9" fmla="*/ 56 h 86"/>
                <a:gd name="T10" fmla="*/ 0 w 87"/>
                <a:gd name="T11" fmla="*/ 44 h 86"/>
                <a:gd name="T12" fmla="*/ 3 w 87"/>
                <a:gd name="T13" fmla="*/ 32 h 86"/>
                <a:gd name="T14" fmla="*/ 8 w 87"/>
                <a:gd name="T15" fmla="*/ 22 h 86"/>
                <a:gd name="T16" fmla="*/ 15 w 87"/>
                <a:gd name="T17" fmla="*/ 14 h 86"/>
                <a:gd name="T18" fmla="*/ 24 w 87"/>
                <a:gd name="T19" fmla="*/ 7 h 86"/>
                <a:gd name="T20" fmla="*/ 34 w 87"/>
                <a:gd name="T21" fmla="*/ 2 h 86"/>
                <a:gd name="T22" fmla="*/ 45 w 87"/>
                <a:gd name="T23" fmla="*/ 0 h 86"/>
                <a:gd name="T24" fmla="*/ 57 w 87"/>
                <a:gd name="T25" fmla="*/ 0 h 86"/>
                <a:gd name="T26" fmla="*/ 68 w 87"/>
                <a:gd name="T27" fmla="*/ 3 h 86"/>
                <a:gd name="T28" fmla="*/ 79 w 87"/>
                <a:gd name="T29" fmla="*/ 8 h 86"/>
                <a:gd name="T30" fmla="*/ 87 w 87"/>
                <a:gd name="T31" fmla="*/ 15 h 86"/>
                <a:gd name="T32" fmla="*/ 50 w 87"/>
                <a:gd name="T33" fmla="*/ 5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7" h="86">
                  <a:moveTo>
                    <a:pt x="50" y="51"/>
                  </a:moveTo>
                  <a:lnTo>
                    <a:pt x="14" y="86"/>
                  </a:lnTo>
                  <a:lnTo>
                    <a:pt x="7" y="77"/>
                  </a:lnTo>
                  <a:lnTo>
                    <a:pt x="2" y="67"/>
                  </a:lnTo>
                  <a:lnTo>
                    <a:pt x="0" y="56"/>
                  </a:lnTo>
                  <a:lnTo>
                    <a:pt x="0" y="44"/>
                  </a:lnTo>
                  <a:lnTo>
                    <a:pt x="3" y="32"/>
                  </a:lnTo>
                  <a:lnTo>
                    <a:pt x="8" y="22"/>
                  </a:lnTo>
                  <a:lnTo>
                    <a:pt x="15" y="14"/>
                  </a:lnTo>
                  <a:lnTo>
                    <a:pt x="24" y="7"/>
                  </a:lnTo>
                  <a:lnTo>
                    <a:pt x="34" y="2"/>
                  </a:lnTo>
                  <a:lnTo>
                    <a:pt x="45" y="0"/>
                  </a:lnTo>
                  <a:lnTo>
                    <a:pt x="57" y="0"/>
                  </a:lnTo>
                  <a:lnTo>
                    <a:pt x="68" y="3"/>
                  </a:lnTo>
                  <a:lnTo>
                    <a:pt x="79" y="8"/>
                  </a:lnTo>
                  <a:lnTo>
                    <a:pt x="87" y="15"/>
                  </a:lnTo>
                  <a:lnTo>
                    <a:pt x="50" y="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3" name="未知"/>
            <p:cNvSpPr>
              <a:spLocks noChangeAspect="1"/>
            </p:cNvSpPr>
            <p:nvPr/>
          </p:nvSpPr>
          <p:spPr bwMode="auto">
            <a:xfrm>
              <a:off x="3122" y="1505"/>
              <a:ext cx="17" cy="13"/>
            </a:xfrm>
            <a:custGeom>
              <a:avLst/>
              <a:gdLst>
                <a:gd name="T0" fmla="*/ 14 w 87"/>
                <a:gd name="T1" fmla="*/ 86 h 86"/>
                <a:gd name="T2" fmla="*/ 7 w 87"/>
                <a:gd name="T3" fmla="*/ 77 h 86"/>
                <a:gd name="T4" fmla="*/ 2 w 87"/>
                <a:gd name="T5" fmla="*/ 67 h 86"/>
                <a:gd name="T6" fmla="*/ 0 w 87"/>
                <a:gd name="T7" fmla="*/ 56 h 86"/>
                <a:gd name="T8" fmla="*/ 0 w 87"/>
                <a:gd name="T9" fmla="*/ 44 h 86"/>
                <a:gd name="T10" fmla="*/ 3 w 87"/>
                <a:gd name="T11" fmla="*/ 32 h 86"/>
                <a:gd name="T12" fmla="*/ 8 w 87"/>
                <a:gd name="T13" fmla="*/ 22 h 86"/>
                <a:gd name="T14" fmla="*/ 15 w 87"/>
                <a:gd name="T15" fmla="*/ 14 h 86"/>
                <a:gd name="T16" fmla="*/ 24 w 87"/>
                <a:gd name="T17" fmla="*/ 7 h 86"/>
                <a:gd name="T18" fmla="*/ 34 w 87"/>
                <a:gd name="T19" fmla="*/ 2 h 86"/>
                <a:gd name="T20" fmla="*/ 45 w 87"/>
                <a:gd name="T21" fmla="*/ 0 h 86"/>
                <a:gd name="T22" fmla="*/ 57 w 87"/>
                <a:gd name="T23" fmla="*/ 0 h 86"/>
                <a:gd name="T24" fmla="*/ 68 w 87"/>
                <a:gd name="T25" fmla="*/ 3 h 86"/>
                <a:gd name="T26" fmla="*/ 79 w 87"/>
                <a:gd name="T27" fmla="*/ 8 h 86"/>
                <a:gd name="T28" fmla="*/ 87 w 87"/>
                <a:gd name="T29" fmla="*/ 15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7" h="86">
                  <a:moveTo>
                    <a:pt x="14" y="86"/>
                  </a:moveTo>
                  <a:lnTo>
                    <a:pt x="7" y="77"/>
                  </a:lnTo>
                  <a:lnTo>
                    <a:pt x="2" y="67"/>
                  </a:lnTo>
                  <a:lnTo>
                    <a:pt x="0" y="56"/>
                  </a:lnTo>
                  <a:lnTo>
                    <a:pt x="0" y="44"/>
                  </a:lnTo>
                  <a:lnTo>
                    <a:pt x="3" y="32"/>
                  </a:lnTo>
                  <a:lnTo>
                    <a:pt x="8" y="22"/>
                  </a:lnTo>
                  <a:lnTo>
                    <a:pt x="15" y="14"/>
                  </a:lnTo>
                  <a:lnTo>
                    <a:pt x="24" y="7"/>
                  </a:lnTo>
                  <a:lnTo>
                    <a:pt x="34" y="2"/>
                  </a:lnTo>
                  <a:lnTo>
                    <a:pt x="45" y="0"/>
                  </a:lnTo>
                  <a:lnTo>
                    <a:pt x="57" y="0"/>
                  </a:lnTo>
                  <a:lnTo>
                    <a:pt x="68" y="3"/>
                  </a:lnTo>
                  <a:lnTo>
                    <a:pt x="79" y="8"/>
                  </a:lnTo>
                  <a:lnTo>
                    <a:pt x="87" y="15"/>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4" name="未知"/>
            <p:cNvSpPr>
              <a:spLocks noChangeAspect="1"/>
            </p:cNvSpPr>
            <p:nvPr/>
          </p:nvSpPr>
          <p:spPr bwMode="auto">
            <a:xfrm>
              <a:off x="3125" y="1507"/>
              <a:ext cx="317" cy="273"/>
            </a:xfrm>
            <a:custGeom>
              <a:avLst/>
              <a:gdLst>
                <a:gd name="T0" fmla="*/ 73 w 1738"/>
                <a:gd name="T1" fmla="*/ 0 h 1798"/>
                <a:gd name="T2" fmla="*/ 36 w 1738"/>
                <a:gd name="T3" fmla="*/ 36 h 1798"/>
                <a:gd name="T4" fmla="*/ 0 w 1738"/>
                <a:gd name="T5" fmla="*/ 71 h 1798"/>
                <a:gd name="T6" fmla="*/ 1665 w 1738"/>
                <a:gd name="T7" fmla="*/ 1798 h 1798"/>
                <a:gd name="T8" fmla="*/ 1701 w 1738"/>
                <a:gd name="T9" fmla="*/ 1763 h 1798"/>
                <a:gd name="T10" fmla="*/ 1738 w 1738"/>
                <a:gd name="T11" fmla="*/ 1727 h 1798"/>
                <a:gd name="T12" fmla="*/ 73 w 1738"/>
                <a:gd name="T13" fmla="*/ 0 h 1798"/>
              </a:gdLst>
              <a:ahLst/>
              <a:cxnLst>
                <a:cxn ang="0">
                  <a:pos x="T0" y="T1"/>
                </a:cxn>
                <a:cxn ang="0">
                  <a:pos x="T2" y="T3"/>
                </a:cxn>
                <a:cxn ang="0">
                  <a:pos x="T4" y="T5"/>
                </a:cxn>
                <a:cxn ang="0">
                  <a:pos x="T6" y="T7"/>
                </a:cxn>
                <a:cxn ang="0">
                  <a:pos x="T8" y="T9"/>
                </a:cxn>
                <a:cxn ang="0">
                  <a:pos x="T10" y="T11"/>
                </a:cxn>
                <a:cxn ang="0">
                  <a:pos x="T12" y="T13"/>
                </a:cxn>
              </a:cxnLst>
              <a:rect l="0" t="0" r="r" b="b"/>
              <a:pathLst>
                <a:path w="1738" h="1798">
                  <a:moveTo>
                    <a:pt x="73" y="0"/>
                  </a:moveTo>
                  <a:lnTo>
                    <a:pt x="36" y="36"/>
                  </a:lnTo>
                  <a:lnTo>
                    <a:pt x="0" y="71"/>
                  </a:lnTo>
                  <a:lnTo>
                    <a:pt x="1665" y="1798"/>
                  </a:lnTo>
                  <a:lnTo>
                    <a:pt x="1701" y="1763"/>
                  </a:lnTo>
                  <a:lnTo>
                    <a:pt x="1738" y="1727"/>
                  </a:lnTo>
                  <a:lnTo>
                    <a:pt x="7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5" name="未知"/>
            <p:cNvSpPr>
              <a:spLocks noChangeAspect="1"/>
            </p:cNvSpPr>
            <p:nvPr/>
          </p:nvSpPr>
          <p:spPr bwMode="auto">
            <a:xfrm>
              <a:off x="3125" y="1507"/>
              <a:ext cx="317" cy="273"/>
            </a:xfrm>
            <a:custGeom>
              <a:avLst/>
              <a:gdLst>
                <a:gd name="T0" fmla="*/ 73 w 1738"/>
                <a:gd name="T1" fmla="*/ 0 h 1798"/>
                <a:gd name="T2" fmla="*/ 36 w 1738"/>
                <a:gd name="T3" fmla="*/ 36 h 1798"/>
                <a:gd name="T4" fmla="*/ 0 w 1738"/>
                <a:gd name="T5" fmla="*/ 71 h 1798"/>
                <a:gd name="T6" fmla="*/ 1665 w 1738"/>
                <a:gd name="T7" fmla="*/ 1798 h 1798"/>
                <a:gd name="T8" fmla="*/ 1701 w 1738"/>
                <a:gd name="T9" fmla="*/ 1763 h 1798"/>
                <a:gd name="T10" fmla="*/ 1738 w 1738"/>
                <a:gd name="T11" fmla="*/ 1727 h 1798"/>
                <a:gd name="T12" fmla="*/ 73 w 1738"/>
                <a:gd name="T13" fmla="*/ 0 h 1798"/>
              </a:gdLst>
              <a:ahLst/>
              <a:cxnLst>
                <a:cxn ang="0">
                  <a:pos x="T0" y="T1"/>
                </a:cxn>
                <a:cxn ang="0">
                  <a:pos x="T2" y="T3"/>
                </a:cxn>
                <a:cxn ang="0">
                  <a:pos x="T4" y="T5"/>
                </a:cxn>
                <a:cxn ang="0">
                  <a:pos x="T6" y="T7"/>
                </a:cxn>
                <a:cxn ang="0">
                  <a:pos x="T8" y="T9"/>
                </a:cxn>
                <a:cxn ang="0">
                  <a:pos x="T10" y="T11"/>
                </a:cxn>
                <a:cxn ang="0">
                  <a:pos x="T12" y="T13"/>
                </a:cxn>
              </a:cxnLst>
              <a:rect l="0" t="0" r="r" b="b"/>
              <a:pathLst>
                <a:path w="1738" h="1798">
                  <a:moveTo>
                    <a:pt x="73" y="0"/>
                  </a:moveTo>
                  <a:lnTo>
                    <a:pt x="36" y="36"/>
                  </a:lnTo>
                  <a:lnTo>
                    <a:pt x="0" y="71"/>
                  </a:lnTo>
                  <a:lnTo>
                    <a:pt x="1665" y="1798"/>
                  </a:lnTo>
                  <a:lnTo>
                    <a:pt x="1701" y="1763"/>
                  </a:lnTo>
                  <a:lnTo>
                    <a:pt x="1738" y="1727"/>
                  </a:lnTo>
                  <a:lnTo>
                    <a:pt x="73"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6" name="未知"/>
            <p:cNvSpPr>
              <a:spLocks noChangeAspect="1"/>
            </p:cNvSpPr>
            <p:nvPr/>
          </p:nvSpPr>
          <p:spPr bwMode="auto">
            <a:xfrm>
              <a:off x="3428" y="1769"/>
              <a:ext cx="16" cy="12"/>
            </a:xfrm>
            <a:custGeom>
              <a:avLst/>
              <a:gdLst>
                <a:gd name="T0" fmla="*/ 36 w 87"/>
                <a:gd name="T1" fmla="*/ 36 h 86"/>
                <a:gd name="T2" fmla="*/ 73 w 87"/>
                <a:gd name="T3" fmla="*/ 0 h 86"/>
                <a:gd name="T4" fmla="*/ 80 w 87"/>
                <a:gd name="T5" fmla="*/ 9 h 86"/>
                <a:gd name="T6" fmla="*/ 85 w 87"/>
                <a:gd name="T7" fmla="*/ 19 h 86"/>
                <a:gd name="T8" fmla="*/ 87 w 87"/>
                <a:gd name="T9" fmla="*/ 31 h 86"/>
                <a:gd name="T10" fmla="*/ 87 w 87"/>
                <a:gd name="T11" fmla="*/ 43 h 86"/>
                <a:gd name="T12" fmla="*/ 84 w 87"/>
                <a:gd name="T13" fmla="*/ 54 h 86"/>
                <a:gd name="T14" fmla="*/ 79 w 87"/>
                <a:gd name="T15" fmla="*/ 64 h 86"/>
                <a:gd name="T16" fmla="*/ 72 w 87"/>
                <a:gd name="T17" fmla="*/ 72 h 86"/>
                <a:gd name="T18" fmla="*/ 63 w 87"/>
                <a:gd name="T19" fmla="*/ 79 h 86"/>
                <a:gd name="T20" fmla="*/ 52 w 87"/>
                <a:gd name="T21" fmla="*/ 84 h 86"/>
                <a:gd name="T22" fmla="*/ 41 w 87"/>
                <a:gd name="T23" fmla="*/ 86 h 86"/>
                <a:gd name="T24" fmla="*/ 29 w 87"/>
                <a:gd name="T25" fmla="*/ 86 h 86"/>
                <a:gd name="T26" fmla="*/ 18 w 87"/>
                <a:gd name="T27" fmla="*/ 83 h 86"/>
                <a:gd name="T28" fmla="*/ 8 w 87"/>
                <a:gd name="T29" fmla="*/ 78 h 86"/>
                <a:gd name="T30" fmla="*/ 0 w 87"/>
                <a:gd name="T31" fmla="*/ 71 h 86"/>
                <a:gd name="T32" fmla="*/ 36 w 87"/>
                <a:gd name="T33" fmla="*/ 3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7" h="86">
                  <a:moveTo>
                    <a:pt x="36" y="36"/>
                  </a:moveTo>
                  <a:lnTo>
                    <a:pt x="73" y="0"/>
                  </a:lnTo>
                  <a:lnTo>
                    <a:pt x="80" y="9"/>
                  </a:lnTo>
                  <a:lnTo>
                    <a:pt x="85" y="19"/>
                  </a:lnTo>
                  <a:lnTo>
                    <a:pt x="87" y="31"/>
                  </a:lnTo>
                  <a:lnTo>
                    <a:pt x="87" y="43"/>
                  </a:lnTo>
                  <a:lnTo>
                    <a:pt x="84" y="54"/>
                  </a:lnTo>
                  <a:lnTo>
                    <a:pt x="79" y="64"/>
                  </a:lnTo>
                  <a:lnTo>
                    <a:pt x="72" y="72"/>
                  </a:lnTo>
                  <a:lnTo>
                    <a:pt x="63" y="79"/>
                  </a:lnTo>
                  <a:lnTo>
                    <a:pt x="52" y="84"/>
                  </a:lnTo>
                  <a:lnTo>
                    <a:pt x="41" y="86"/>
                  </a:lnTo>
                  <a:lnTo>
                    <a:pt x="29" y="86"/>
                  </a:lnTo>
                  <a:lnTo>
                    <a:pt x="18" y="83"/>
                  </a:lnTo>
                  <a:lnTo>
                    <a:pt x="8" y="78"/>
                  </a:lnTo>
                  <a:lnTo>
                    <a:pt x="0" y="71"/>
                  </a:lnTo>
                  <a:lnTo>
                    <a:pt x="36"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7" name="未知"/>
            <p:cNvSpPr>
              <a:spLocks noChangeAspect="1"/>
            </p:cNvSpPr>
            <p:nvPr/>
          </p:nvSpPr>
          <p:spPr bwMode="auto">
            <a:xfrm>
              <a:off x="3428" y="1769"/>
              <a:ext cx="16" cy="12"/>
            </a:xfrm>
            <a:custGeom>
              <a:avLst/>
              <a:gdLst>
                <a:gd name="T0" fmla="*/ 73 w 87"/>
                <a:gd name="T1" fmla="*/ 0 h 86"/>
                <a:gd name="T2" fmla="*/ 80 w 87"/>
                <a:gd name="T3" fmla="*/ 9 h 86"/>
                <a:gd name="T4" fmla="*/ 85 w 87"/>
                <a:gd name="T5" fmla="*/ 19 h 86"/>
                <a:gd name="T6" fmla="*/ 87 w 87"/>
                <a:gd name="T7" fmla="*/ 31 h 86"/>
                <a:gd name="T8" fmla="*/ 87 w 87"/>
                <a:gd name="T9" fmla="*/ 43 h 86"/>
                <a:gd name="T10" fmla="*/ 84 w 87"/>
                <a:gd name="T11" fmla="*/ 54 h 86"/>
                <a:gd name="T12" fmla="*/ 79 w 87"/>
                <a:gd name="T13" fmla="*/ 64 h 86"/>
                <a:gd name="T14" fmla="*/ 72 w 87"/>
                <a:gd name="T15" fmla="*/ 72 h 86"/>
                <a:gd name="T16" fmla="*/ 63 w 87"/>
                <a:gd name="T17" fmla="*/ 79 h 86"/>
                <a:gd name="T18" fmla="*/ 52 w 87"/>
                <a:gd name="T19" fmla="*/ 84 h 86"/>
                <a:gd name="T20" fmla="*/ 41 w 87"/>
                <a:gd name="T21" fmla="*/ 86 h 86"/>
                <a:gd name="T22" fmla="*/ 29 w 87"/>
                <a:gd name="T23" fmla="*/ 86 h 86"/>
                <a:gd name="T24" fmla="*/ 18 w 87"/>
                <a:gd name="T25" fmla="*/ 83 h 86"/>
                <a:gd name="T26" fmla="*/ 8 w 87"/>
                <a:gd name="T27" fmla="*/ 78 h 86"/>
                <a:gd name="T28" fmla="*/ 0 w 87"/>
                <a:gd name="T29" fmla="*/ 7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7" h="86">
                  <a:moveTo>
                    <a:pt x="73" y="0"/>
                  </a:moveTo>
                  <a:lnTo>
                    <a:pt x="80" y="9"/>
                  </a:lnTo>
                  <a:lnTo>
                    <a:pt x="85" y="19"/>
                  </a:lnTo>
                  <a:lnTo>
                    <a:pt x="87" y="31"/>
                  </a:lnTo>
                  <a:lnTo>
                    <a:pt x="87" y="43"/>
                  </a:lnTo>
                  <a:lnTo>
                    <a:pt x="84" y="54"/>
                  </a:lnTo>
                  <a:lnTo>
                    <a:pt x="79" y="64"/>
                  </a:lnTo>
                  <a:lnTo>
                    <a:pt x="72" y="72"/>
                  </a:lnTo>
                  <a:lnTo>
                    <a:pt x="63" y="79"/>
                  </a:lnTo>
                  <a:lnTo>
                    <a:pt x="52" y="84"/>
                  </a:lnTo>
                  <a:lnTo>
                    <a:pt x="41" y="86"/>
                  </a:lnTo>
                  <a:lnTo>
                    <a:pt x="29" y="86"/>
                  </a:lnTo>
                  <a:lnTo>
                    <a:pt x="18" y="83"/>
                  </a:lnTo>
                  <a:lnTo>
                    <a:pt x="8" y="78"/>
                  </a:lnTo>
                  <a:lnTo>
                    <a:pt x="0" y="71"/>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8" name="未知"/>
            <p:cNvSpPr>
              <a:spLocks noChangeAspect="1"/>
            </p:cNvSpPr>
            <p:nvPr/>
          </p:nvSpPr>
          <p:spPr bwMode="auto">
            <a:xfrm>
              <a:off x="3122" y="526"/>
              <a:ext cx="19" cy="7"/>
            </a:xfrm>
            <a:custGeom>
              <a:avLst/>
              <a:gdLst>
                <a:gd name="T0" fmla="*/ 50 w 102"/>
                <a:gd name="T1" fmla="*/ 52 h 52"/>
                <a:gd name="T2" fmla="*/ 0 w 102"/>
                <a:gd name="T3" fmla="*/ 52 h 52"/>
                <a:gd name="T4" fmla="*/ 1 w 102"/>
                <a:gd name="T5" fmla="*/ 41 h 52"/>
                <a:gd name="T6" fmla="*/ 5 w 102"/>
                <a:gd name="T7" fmla="*/ 29 h 52"/>
                <a:gd name="T8" fmla="*/ 11 w 102"/>
                <a:gd name="T9" fmla="*/ 20 h 52"/>
                <a:gd name="T10" fmla="*/ 19 w 102"/>
                <a:gd name="T11" fmla="*/ 12 h 52"/>
                <a:gd name="T12" fmla="*/ 28 w 102"/>
                <a:gd name="T13" fmla="*/ 6 h 52"/>
                <a:gd name="T14" fmla="*/ 39 w 102"/>
                <a:gd name="T15" fmla="*/ 2 h 52"/>
                <a:gd name="T16" fmla="*/ 50 w 102"/>
                <a:gd name="T17" fmla="*/ 0 h 52"/>
                <a:gd name="T18" fmla="*/ 61 w 102"/>
                <a:gd name="T19" fmla="*/ 2 h 52"/>
                <a:gd name="T20" fmla="*/ 72 w 102"/>
                <a:gd name="T21" fmla="*/ 6 h 52"/>
                <a:gd name="T22" fmla="*/ 82 w 102"/>
                <a:gd name="T23" fmla="*/ 12 h 52"/>
                <a:gd name="T24" fmla="*/ 90 w 102"/>
                <a:gd name="T25" fmla="*/ 20 h 52"/>
                <a:gd name="T26" fmla="*/ 96 w 102"/>
                <a:gd name="T27" fmla="*/ 29 h 52"/>
                <a:gd name="T28" fmla="*/ 100 w 102"/>
                <a:gd name="T29" fmla="*/ 41 h 52"/>
                <a:gd name="T30" fmla="*/ 102 w 102"/>
                <a:gd name="T31" fmla="*/ 52 h 52"/>
                <a:gd name="T32" fmla="*/ 50 w 102"/>
                <a:gd name="T33"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2" h="52">
                  <a:moveTo>
                    <a:pt x="50" y="52"/>
                  </a:moveTo>
                  <a:lnTo>
                    <a:pt x="0" y="52"/>
                  </a:lnTo>
                  <a:lnTo>
                    <a:pt x="1" y="41"/>
                  </a:lnTo>
                  <a:lnTo>
                    <a:pt x="5" y="29"/>
                  </a:lnTo>
                  <a:lnTo>
                    <a:pt x="11" y="20"/>
                  </a:lnTo>
                  <a:lnTo>
                    <a:pt x="19" y="12"/>
                  </a:lnTo>
                  <a:lnTo>
                    <a:pt x="28" y="6"/>
                  </a:lnTo>
                  <a:lnTo>
                    <a:pt x="39" y="2"/>
                  </a:lnTo>
                  <a:lnTo>
                    <a:pt x="50" y="0"/>
                  </a:lnTo>
                  <a:lnTo>
                    <a:pt x="61" y="2"/>
                  </a:lnTo>
                  <a:lnTo>
                    <a:pt x="72" y="6"/>
                  </a:lnTo>
                  <a:lnTo>
                    <a:pt x="82" y="12"/>
                  </a:lnTo>
                  <a:lnTo>
                    <a:pt x="90" y="20"/>
                  </a:lnTo>
                  <a:lnTo>
                    <a:pt x="96" y="29"/>
                  </a:lnTo>
                  <a:lnTo>
                    <a:pt x="100" y="41"/>
                  </a:lnTo>
                  <a:lnTo>
                    <a:pt x="102" y="52"/>
                  </a:lnTo>
                  <a:lnTo>
                    <a:pt x="50"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9" name="未知"/>
            <p:cNvSpPr>
              <a:spLocks noChangeAspect="1"/>
            </p:cNvSpPr>
            <p:nvPr/>
          </p:nvSpPr>
          <p:spPr bwMode="auto">
            <a:xfrm>
              <a:off x="3122" y="526"/>
              <a:ext cx="19" cy="7"/>
            </a:xfrm>
            <a:custGeom>
              <a:avLst/>
              <a:gdLst>
                <a:gd name="T0" fmla="*/ 0 w 102"/>
                <a:gd name="T1" fmla="*/ 52 h 52"/>
                <a:gd name="T2" fmla="*/ 1 w 102"/>
                <a:gd name="T3" fmla="*/ 41 h 52"/>
                <a:gd name="T4" fmla="*/ 5 w 102"/>
                <a:gd name="T5" fmla="*/ 29 h 52"/>
                <a:gd name="T6" fmla="*/ 11 w 102"/>
                <a:gd name="T7" fmla="*/ 20 h 52"/>
                <a:gd name="T8" fmla="*/ 19 w 102"/>
                <a:gd name="T9" fmla="*/ 12 h 52"/>
                <a:gd name="T10" fmla="*/ 28 w 102"/>
                <a:gd name="T11" fmla="*/ 6 h 52"/>
                <a:gd name="T12" fmla="*/ 39 w 102"/>
                <a:gd name="T13" fmla="*/ 2 h 52"/>
                <a:gd name="T14" fmla="*/ 50 w 102"/>
                <a:gd name="T15" fmla="*/ 0 h 52"/>
                <a:gd name="T16" fmla="*/ 61 w 102"/>
                <a:gd name="T17" fmla="*/ 2 h 52"/>
                <a:gd name="T18" fmla="*/ 72 w 102"/>
                <a:gd name="T19" fmla="*/ 6 h 52"/>
                <a:gd name="T20" fmla="*/ 82 w 102"/>
                <a:gd name="T21" fmla="*/ 12 h 52"/>
                <a:gd name="T22" fmla="*/ 90 w 102"/>
                <a:gd name="T23" fmla="*/ 20 h 52"/>
                <a:gd name="T24" fmla="*/ 96 w 102"/>
                <a:gd name="T25" fmla="*/ 29 h 52"/>
                <a:gd name="T26" fmla="*/ 100 w 102"/>
                <a:gd name="T27" fmla="*/ 41 h 52"/>
                <a:gd name="T28" fmla="*/ 102 w 102"/>
                <a:gd name="T29"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2" h="52">
                  <a:moveTo>
                    <a:pt x="0" y="52"/>
                  </a:moveTo>
                  <a:lnTo>
                    <a:pt x="1" y="41"/>
                  </a:lnTo>
                  <a:lnTo>
                    <a:pt x="5" y="29"/>
                  </a:lnTo>
                  <a:lnTo>
                    <a:pt x="11" y="20"/>
                  </a:lnTo>
                  <a:lnTo>
                    <a:pt x="19" y="12"/>
                  </a:lnTo>
                  <a:lnTo>
                    <a:pt x="28" y="6"/>
                  </a:lnTo>
                  <a:lnTo>
                    <a:pt x="39" y="2"/>
                  </a:lnTo>
                  <a:lnTo>
                    <a:pt x="50" y="0"/>
                  </a:lnTo>
                  <a:lnTo>
                    <a:pt x="61" y="2"/>
                  </a:lnTo>
                  <a:lnTo>
                    <a:pt x="72" y="6"/>
                  </a:lnTo>
                  <a:lnTo>
                    <a:pt x="82" y="12"/>
                  </a:lnTo>
                  <a:lnTo>
                    <a:pt x="90" y="20"/>
                  </a:lnTo>
                  <a:lnTo>
                    <a:pt x="96" y="29"/>
                  </a:lnTo>
                  <a:lnTo>
                    <a:pt x="100" y="41"/>
                  </a:lnTo>
                  <a:lnTo>
                    <a:pt x="102" y="52"/>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0" name="未知"/>
            <p:cNvSpPr>
              <a:spLocks noChangeAspect="1"/>
            </p:cNvSpPr>
            <p:nvPr/>
          </p:nvSpPr>
          <p:spPr bwMode="auto">
            <a:xfrm>
              <a:off x="3122" y="533"/>
              <a:ext cx="19" cy="979"/>
            </a:xfrm>
            <a:custGeom>
              <a:avLst/>
              <a:gdLst>
                <a:gd name="T0" fmla="*/ 102 w 102"/>
                <a:gd name="T1" fmla="*/ 0 h 6453"/>
                <a:gd name="T2" fmla="*/ 50 w 102"/>
                <a:gd name="T3" fmla="*/ 0 h 6453"/>
                <a:gd name="T4" fmla="*/ 0 w 102"/>
                <a:gd name="T5" fmla="*/ 0 h 6453"/>
                <a:gd name="T6" fmla="*/ 0 w 102"/>
                <a:gd name="T7" fmla="*/ 6453 h 6453"/>
                <a:gd name="T8" fmla="*/ 50 w 102"/>
                <a:gd name="T9" fmla="*/ 6453 h 6453"/>
                <a:gd name="T10" fmla="*/ 102 w 102"/>
                <a:gd name="T11" fmla="*/ 6453 h 6453"/>
                <a:gd name="T12" fmla="*/ 102 w 102"/>
                <a:gd name="T13" fmla="*/ 0 h 6453"/>
              </a:gdLst>
              <a:ahLst/>
              <a:cxnLst>
                <a:cxn ang="0">
                  <a:pos x="T0" y="T1"/>
                </a:cxn>
                <a:cxn ang="0">
                  <a:pos x="T2" y="T3"/>
                </a:cxn>
                <a:cxn ang="0">
                  <a:pos x="T4" y="T5"/>
                </a:cxn>
                <a:cxn ang="0">
                  <a:pos x="T6" y="T7"/>
                </a:cxn>
                <a:cxn ang="0">
                  <a:pos x="T8" y="T9"/>
                </a:cxn>
                <a:cxn ang="0">
                  <a:pos x="T10" y="T11"/>
                </a:cxn>
                <a:cxn ang="0">
                  <a:pos x="T12" y="T13"/>
                </a:cxn>
              </a:cxnLst>
              <a:rect l="0" t="0" r="r" b="b"/>
              <a:pathLst>
                <a:path w="102" h="6453">
                  <a:moveTo>
                    <a:pt x="102" y="0"/>
                  </a:moveTo>
                  <a:lnTo>
                    <a:pt x="50" y="0"/>
                  </a:lnTo>
                  <a:lnTo>
                    <a:pt x="0" y="0"/>
                  </a:lnTo>
                  <a:lnTo>
                    <a:pt x="0" y="6453"/>
                  </a:lnTo>
                  <a:lnTo>
                    <a:pt x="50" y="6453"/>
                  </a:lnTo>
                  <a:lnTo>
                    <a:pt x="102" y="6453"/>
                  </a:lnTo>
                  <a:lnTo>
                    <a:pt x="10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1" name="未知"/>
            <p:cNvSpPr>
              <a:spLocks noChangeAspect="1"/>
            </p:cNvSpPr>
            <p:nvPr/>
          </p:nvSpPr>
          <p:spPr bwMode="auto">
            <a:xfrm>
              <a:off x="3122" y="533"/>
              <a:ext cx="19" cy="979"/>
            </a:xfrm>
            <a:custGeom>
              <a:avLst/>
              <a:gdLst>
                <a:gd name="T0" fmla="*/ 102 w 102"/>
                <a:gd name="T1" fmla="*/ 0 h 6453"/>
                <a:gd name="T2" fmla="*/ 50 w 102"/>
                <a:gd name="T3" fmla="*/ 0 h 6453"/>
                <a:gd name="T4" fmla="*/ 0 w 102"/>
                <a:gd name="T5" fmla="*/ 0 h 6453"/>
                <a:gd name="T6" fmla="*/ 0 w 102"/>
                <a:gd name="T7" fmla="*/ 6453 h 6453"/>
                <a:gd name="T8" fmla="*/ 50 w 102"/>
                <a:gd name="T9" fmla="*/ 6453 h 6453"/>
                <a:gd name="T10" fmla="*/ 102 w 102"/>
                <a:gd name="T11" fmla="*/ 6453 h 6453"/>
                <a:gd name="T12" fmla="*/ 102 w 102"/>
                <a:gd name="T13" fmla="*/ 0 h 6453"/>
              </a:gdLst>
              <a:ahLst/>
              <a:cxnLst>
                <a:cxn ang="0">
                  <a:pos x="T0" y="T1"/>
                </a:cxn>
                <a:cxn ang="0">
                  <a:pos x="T2" y="T3"/>
                </a:cxn>
                <a:cxn ang="0">
                  <a:pos x="T4" y="T5"/>
                </a:cxn>
                <a:cxn ang="0">
                  <a:pos x="T6" y="T7"/>
                </a:cxn>
                <a:cxn ang="0">
                  <a:pos x="T8" y="T9"/>
                </a:cxn>
                <a:cxn ang="0">
                  <a:pos x="T10" y="T11"/>
                </a:cxn>
                <a:cxn ang="0">
                  <a:pos x="T12" y="T13"/>
                </a:cxn>
              </a:cxnLst>
              <a:rect l="0" t="0" r="r" b="b"/>
              <a:pathLst>
                <a:path w="102" h="6453">
                  <a:moveTo>
                    <a:pt x="102" y="0"/>
                  </a:moveTo>
                  <a:lnTo>
                    <a:pt x="50" y="0"/>
                  </a:lnTo>
                  <a:lnTo>
                    <a:pt x="0" y="0"/>
                  </a:lnTo>
                  <a:lnTo>
                    <a:pt x="0" y="6453"/>
                  </a:lnTo>
                  <a:lnTo>
                    <a:pt x="50" y="6453"/>
                  </a:lnTo>
                  <a:lnTo>
                    <a:pt x="102" y="6453"/>
                  </a:lnTo>
                  <a:lnTo>
                    <a:pt x="102"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2" name="未知"/>
            <p:cNvSpPr>
              <a:spLocks noChangeAspect="1"/>
            </p:cNvSpPr>
            <p:nvPr/>
          </p:nvSpPr>
          <p:spPr bwMode="auto">
            <a:xfrm>
              <a:off x="3122" y="1512"/>
              <a:ext cx="19" cy="7"/>
            </a:xfrm>
            <a:custGeom>
              <a:avLst/>
              <a:gdLst>
                <a:gd name="T0" fmla="*/ 50 w 102"/>
                <a:gd name="T1" fmla="*/ 0 h 50"/>
                <a:gd name="T2" fmla="*/ 102 w 102"/>
                <a:gd name="T3" fmla="*/ 0 h 50"/>
                <a:gd name="T4" fmla="*/ 100 w 102"/>
                <a:gd name="T5" fmla="*/ 11 h 50"/>
                <a:gd name="T6" fmla="*/ 96 w 102"/>
                <a:gd name="T7" fmla="*/ 22 h 50"/>
                <a:gd name="T8" fmla="*/ 90 w 102"/>
                <a:gd name="T9" fmla="*/ 31 h 50"/>
                <a:gd name="T10" fmla="*/ 82 w 102"/>
                <a:gd name="T11" fmla="*/ 39 h 50"/>
                <a:gd name="T12" fmla="*/ 72 w 102"/>
                <a:gd name="T13" fmla="*/ 45 h 50"/>
                <a:gd name="T14" fmla="*/ 61 w 102"/>
                <a:gd name="T15" fmla="*/ 49 h 50"/>
                <a:gd name="T16" fmla="*/ 50 w 102"/>
                <a:gd name="T17" fmla="*/ 50 h 50"/>
                <a:gd name="T18" fmla="*/ 39 w 102"/>
                <a:gd name="T19" fmla="*/ 49 h 50"/>
                <a:gd name="T20" fmla="*/ 28 w 102"/>
                <a:gd name="T21" fmla="*/ 45 h 50"/>
                <a:gd name="T22" fmla="*/ 19 w 102"/>
                <a:gd name="T23" fmla="*/ 39 h 50"/>
                <a:gd name="T24" fmla="*/ 11 w 102"/>
                <a:gd name="T25" fmla="*/ 31 h 50"/>
                <a:gd name="T26" fmla="*/ 5 w 102"/>
                <a:gd name="T27" fmla="*/ 22 h 50"/>
                <a:gd name="T28" fmla="*/ 1 w 102"/>
                <a:gd name="T29" fmla="*/ 11 h 50"/>
                <a:gd name="T30" fmla="*/ 0 w 102"/>
                <a:gd name="T31" fmla="*/ 0 h 50"/>
                <a:gd name="T32" fmla="*/ 50 w 102"/>
                <a:gd name="T33"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2" h="50">
                  <a:moveTo>
                    <a:pt x="50" y="0"/>
                  </a:moveTo>
                  <a:lnTo>
                    <a:pt x="102" y="0"/>
                  </a:lnTo>
                  <a:lnTo>
                    <a:pt x="100" y="11"/>
                  </a:lnTo>
                  <a:lnTo>
                    <a:pt x="96" y="22"/>
                  </a:lnTo>
                  <a:lnTo>
                    <a:pt x="90" y="31"/>
                  </a:lnTo>
                  <a:lnTo>
                    <a:pt x="82" y="39"/>
                  </a:lnTo>
                  <a:lnTo>
                    <a:pt x="72" y="45"/>
                  </a:lnTo>
                  <a:lnTo>
                    <a:pt x="61" y="49"/>
                  </a:lnTo>
                  <a:lnTo>
                    <a:pt x="50" y="50"/>
                  </a:lnTo>
                  <a:lnTo>
                    <a:pt x="39" y="49"/>
                  </a:lnTo>
                  <a:lnTo>
                    <a:pt x="28" y="45"/>
                  </a:lnTo>
                  <a:lnTo>
                    <a:pt x="19" y="39"/>
                  </a:lnTo>
                  <a:lnTo>
                    <a:pt x="11" y="31"/>
                  </a:lnTo>
                  <a:lnTo>
                    <a:pt x="5" y="22"/>
                  </a:lnTo>
                  <a:lnTo>
                    <a:pt x="1" y="11"/>
                  </a:lnTo>
                  <a:lnTo>
                    <a:pt x="0" y="0"/>
                  </a:lnTo>
                  <a:lnTo>
                    <a:pt x="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3" name="未知"/>
            <p:cNvSpPr>
              <a:spLocks noChangeAspect="1"/>
            </p:cNvSpPr>
            <p:nvPr/>
          </p:nvSpPr>
          <p:spPr bwMode="auto">
            <a:xfrm>
              <a:off x="3122" y="1512"/>
              <a:ext cx="19" cy="7"/>
            </a:xfrm>
            <a:custGeom>
              <a:avLst/>
              <a:gdLst>
                <a:gd name="T0" fmla="*/ 102 w 102"/>
                <a:gd name="T1" fmla="*/ 0 h 50"/>
                <a:gd name="T2" fmla="*/ 100 w 102"/>
                <a:gd name="T3" fmla="*/ 11 h 50"/>
                <a:gd name="T4" fmla="*/ 96 w 102"/>
                <a:gd name="T5" fmla="*/ 22 h 50"/>
                <a:gd name="T6" fmla="*/ 90 w 102"/>
                <a:gd name="T7" fmla="*/ 31 h 50"/>
                <a:gd name="T8" fmla="*/ 82 w 102"/>
                <a:gd name="T9" fmla="*/ 39 h 50"/>
                <a:gd name="T10" fmla="*/ 72 w 102"/>
                <a:gd name="T11" fmla="*/ 45 h 50"/>
                <a:gd name="T12" fmla="*/ 61 w 102"/>
                <a:gd name="T13" fmla="*/ 49 h 50"/>
                <a:gd name="T14" fmla="*/ 50 w 102"/>
                <a:gd name="T15" fmla="*/ 50 h 50"/>
                <a:gd name="T16" fmla="*/ 39 w 102"/>
                <a:gd name="T17" fmla="*/ 49 h 50"/>
                <a:gd name="T18" fmla="*/ 28 w 102"/>
                <a:gd name="T19" fmla="*/ 45 h 50"/>
                <a:gd name="T20" fmla="*/ 19 w 102"/>
                <a:gd name="T21" fmla="*/ 39 h 50"/>
                <a:gd name="T22" fmla="*/ 11 w 102"/>
                <a:gd name="T23" fmla="*/ 31 h 50"/>
                <a:gd name="T24" fmla="*/ 5 w 102"/>
                <a:gd name="T25" fmla="*/ 22 h 50"/>
                <a:gd name="T26" fmla="*/ 1 w 102"/>
                <a:gd name="T27" fmla="*/ 11 h 50"/>
                <a:gd name="T28" fmla="*/ 0 w 102"/>
                <a:gd name="T29"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2" h="50">
                  <a:moveTo>
                    <a:pt x="102" y="0"/>
                  </a:moveTo>
                  <a:lnTo>
                    <a:pt x="100" y="11"/>
                  </a:lnTo>
                  <a:lnTo>
                    <a:pt x="96" y="22"/>
                  </a:lnTo>
                  <a:lnTo>
                    <a:pt x="90" y="31"/>
                  </a:lnTo>
                  <a:lnTo>
                    <a:pt x="82" y="39"/>
                  </a:lnTo>
                  <a:lnTo>
                    <a:pt x="72" y="45"/>
                  </a:lnTo>
                  <a:lnTo>
                    <a:pt x="61" y="49"/>
                  </a:lnTo>
                  <a:lnTo>
                    <a:pt x="50" y="50"/>
                  </a:lnTo>
                  <a:lnTo>
                    <a:pt x="39" y="49"/>
                  </a:lnTo>
                  <a:lnTo>
                    <a:pt x="28" y="45"/>
                  </a:lnTo>
                  <a:lnTo>
                    <a:pt x="19" y="39"/>
                  </a:lnTo>
                  <a:lnTo>
                    <a:pt x="11" y="31"/>
                  </a:lnTo>
                  <a:lnTo>
                    <a:pt x="5" y="22"/>
                  </a:lnTo>
                  <a:lnTo>
                    <a:pt x="1" y="11"/>
                  </a:lnTo>
                  <a:lnTo>
                    <a:pt x="0"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4" name="未知"/>
            <p:cNvSpPr>
              <a:spLocks noChangeAspect="1"/>
            </p:cNvSpPr>
            <p:nvPr/>
          </p:nvSpPr>
          <p:spPr bwMode="auto">
            <a:xfrm>
              <a:off x="3015" y="526"/>
              <a:ext cx="19" cy="7"/>
            </a:xfrm>
            <a:custGeom>
              <a:avLst/>
              <a:gdLst>
                <a:gd name="T0" fmla="*/ 51 w 103"/>
                <a:gd name="T1" fmla="*/ 52 h 52"/>
                <a:gd name="T2" fmla="*/ 0 w 103"/>
                <a:gd name="T3" fmla="*/ 52 h 52"/>
                <a:gd name="T4" fmla="*/ 1 w 103"/>
                <a:gd name="T5" fmla="*/ 41 h 52"/>
                <a:gd name="T6" fmla="*/ 5 w 103"/>
                <a:gd name="T7" fmla="*/ 29 h 52"/>
                <a:gd name="T8" fmla="*/ 12 w 103"/>
                <a:gd name="T9" fmla="*/ 20 h 52"/>
                <a:gd name="T10" fmla="*/ 20 w 103"/>
                <a:gd name="T11" fmla="*/ 12 h 52"/>
                <a:gd name="T12" fmla="*/ 29 w 103"/>
                <a:gd name="T13" fmla="*/ 6 h 52"/>
                <a:gd name="T14" fmla="*/ 40 w 103"/>
                <a:gd name="T15" fmla="*/ 2 h 52"/>
                <a:gd name="T16" fmla="*/ 51 w 103"/>
                <a:gd name="T17" fmla="*/ 0 h 52"/>
                <a:gd name="T18" fmla="*/ 62 w 103"/>
                <a:gd name="T19" fmla="*/ 2 h 52"/>
                <a:gd name="T20" fmla="*/ 73 w 103"/>
                <a:gd name="T21" fmla="*/ 6 h 52"/>
                <a:gd name="T22" fmla="*/ 82 w 103"/>
                <a:gd name="T23" fmla="*/ 12 h 52"/>
                <a:gd name="T24" fmla="*/ 91 w 103"/>
                <a:gd name="T25" fmla="*/ 20 h 52"/>
                <a:gd name="T26" fmla="*/ 97 w 103"/>
                <a:gd name="T27" fmla="*/ 29 h 52"/>
                <a:gd name="T28" fmla="*/ 101 w 103"/>
                <a:gd name="T29" fmla="*/ 41 h 52"/>
                <a:gd name="T30" fmla="*/ 103 w 103"/>
                <a:gd name="T31" fmla="*/ 52 h 52"/>
                <a:gd name="T32" fmla="*/ 51 w 103"/>
                <a:gd name="T33"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52">
                  <a:moveTo>
                    <a:pt x="51" y="52"/>
                  </a:moveTo>
                  <a:lnTo>
                    <a:pt x="0" y="52"/>
                  </a:lnTo>
                  <a:lnTo>
                    <a:pt x="1" y="41"/>
                  </a:lnTo>
                  <a:lnTo>
                    <a:pt x="5" y="29"/>
                  </a:lnTo>
                  <a:lnTo>
                    <a:pt x="12" y="20"/>
                  </a:lnTo>
                  <a:lnTo>
                    <a:pt x="20" y="12"/>
                  </a:lnTo>
                  <a:lnTo>
                    <a:pt x="29" y="6"/>
                  </a:lnTo>
                  <a:lnTo>
                    <a:pt x="40" y="2"/>
                  </a:lnTo>
                  <a:lnTo>
                    <a:pt x="51" y="0"/>
                  </a:lnTo>
                  <a:lnTo>
                    <a:pt x="62" y="2"/>
                  </a:lnTo>
                  <a:lnTo>
                    <a:pt x="73" y="6"/>
                  </a:lnTo>
                  <a:lnTo>
                    <a:pt x="82" y="12"/>
                  </a:lnTo>
                  <a:lnTo>
                    <a:pt x="91" y="20"/>
                  </a:lnTo>
                  <a:lnTo>
                    <a:pt x="97" y="29"/>
                  </a:lnTo>
                  <a:lnTo>
                    <a:pt x="101" y="41"/>
                  </a:lnTo>
                  <a:lnTo>
                    <a:pt x="103" y="52"/>
                  </a:lnTo>
                  <a:lnTo>
                    <a:pt x="51"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5" name="未知"/>
            <p:cNvSpPr>
              <a:spLocks noChangeAspect="1"/>
            </p:cNvSpPr>
            <p:nvPr/>
          </p:nvSpPr>
          <p:spPr bwMode="auto">
            <a:xfrm>
              <a:off x="3015" y="526"/>
              <a:ext cx="19" cy="7"/>
            </a:xfrm>
            <a:custGeom>
              <a:avLst/>
              <a:gdLst>
                <a:gd name="T0" fmla="*/ 0 w 103"/>
                <a:gd name="T1" fmla="*/ 52 h 52"/>
                <a:gd name="T2" fmla="*/ 1 w 103"/>
                <a:gd name="T3" fmla="*/ 41 h 52"/>
                <a:gd name="T4" fmla="*/ 5 w 103"/>
                <a:gd name="T5" fmla="*/ 29 h 52"/>
                <a:gd name="T6" fmla="*/ 12 w 103"/>
                <a:gd name="T7" fmla="*/ 20 h 52"/>
                <a:gd name="T8" fmla="*/ 20 w 103"/>
                <a:gd name="T9" fmla="*/ 12 h 52"/>
                <a:gd name="T10" fmla="*/ 29 w 103"/>
                <a:gd name="T11" fmla="*/ 6 h 52"/>
                <a:gd name="T12" fmla="*/ 40 w 103"/>
                <a:gd name="T13" fmla="*/ 2 h 52"/>
                <a:gd name="T14" fmla="*/ 51 w 103"/>
                <a:gd name="T15" fmla="*/ 0 h 52"/>
                <a:gd name="T16" fmla="*/ 62 w 103"/>
                <a:gd name="T17" fmla="*/ 2 h 52"/>
                <a:gd name="T18" fmla="*/ 73 w 103"/>
                <a:gd name="T19" fmla="*/ 6 h 52"/>
                <a:gd name="T20" fmla="*/ 82 w 103"/>
                <a:gd name="T21" fmla="*/ 12 h 52"/>
                <a:gd name="T22" fmla="*/ 91 w 103"/>
                <a:gd name="T23" fmla="*/ 20 h 52"/>
                <a:gd name="T24" fmla="*/ 97 w 103"/>
                <a:gd name="T25" fmla="*/ 29 h 52"/>
                <a:gd name="T26" fmla="*/ 101 w 103"/>
                <a:gd name="T27" fmla="*/ 41 h 52"/>
                <a:gd name="T28" fmla="*/ 103 w 103"/>
                <a:gd name="T29"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3" h="52">
                  <a:moveTo>
                    <a:pt x="0" y="52"/>
                  </a:moveTo>
                  <a:lnTo>
                    <a:pt x="1" y="41"/>
                  </a:lnTo>
                  <a:lnTo>
                    <a:pt x="5" y="29"/>
                  </a:lnTo>
                  <a:lnTo>
                    <a:pt x="12" y="20"/>
                  </a:lnTo>
                  <a:lnTo>
                    <a:pt x="20" y="12"/>
                  </a:lnTo>
                  <a:lnTo>
                    <a:pt x="29" y="6"/>
                  </a:lnTo>
                  <a:lnTo>
                    <a:pt x="40" y="2"/>
                  </a:lnTo>
                  <a:lnTo>
                    <a:pt x="51" y="0"/>
                  </a:lnTo>
                  <a:lnTo>
                    <a:pt x="62" y="2"/>
                  </a:lnTo>
                  <a:lnTo>
                    <a:pt x="73" y="6"/>
                  </a:lnTo>
                  <a:lnTo>
                    <a:pt x="82" y="12"/>
                  </a:lnTo>
                  <a:lnTo>
                    <a:pt x="91" y="20"/>
                  </a:lnTo>
                  <a:lnTo>
                    <a:pt x="97" y="29"/>
                  </a:lnTo>
                  <a:lnTo>
                    <a:pt x="101" y="41"/>
                  </a:lnTo>
                  <a:lnTo>
                    <a:pt x="103" y="52"/>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6" name="未知"/>
            <p:cNvSpPr>
              <a:spLocks noChangeAspect="1"/>
            </p:cNvSpPr>
            <p:nvPr/>
          </p:nvSpPr>
          <p:spPr bwMode="auto">
            <a:xfrm>
              <a:off x="3015" y="533"/>
              <a:ext cx="19" cy="979"/>
            </a:xfrm>
            <a:custGeom>
              <a:avLst/>
              <a:gdLst>
                <a:gd name="T0" fmla="*/ 103 w 103"/>
                <a:gd name="T1" fmla="*/ 0 h 6453"/>
                <a:gd name="T2" fmla="*/ 51 w 103"/>
                <a:gd name="T3" fmla="*/ 0 h 6453"/>
                <a:gd name="T4" fmla="*/ 0 w 103"/>
                <a:gd name="T5" fmla="*/ 0 h 6453"/>
                <a:gd name="T6" fmla="*/ 0 w 103"/>
                <a:gd name="T7" fmla="*/ 6453 h 6453"/>
                <a:gd name="T8" fmla="*/ 51 w 103"/>
                <a:gd name="T9" fmla="*/ 6453 h 6453"/>
                <a:gd name="T10" fmla="*/ 103 w 103"/>
                <a:gd name="T11" fmla="*/ 6453 h 6453"/>
                <a:gd name="T12" fmla="*/ 103 w 103"/>
                <a:gd name="T13" fmla="*/ 0 h 6453"/>
              </a:gdLst>
              <a:ahLst/>
              <a:cxnLst>
                <a:cxn ang="0">
                  <a:pos x="T0" y="T1"/>
                </a:cxn>
                <a:cxn ang="0">
                  <a:pos x="T2" y="T3"/>
                </a:cxn>
                <a:cxn ang="0">
                  <a:pos x="T4" y="T5"/>
                </a:cxn>
                <a:cxn ang="0">
                  <a:pos x="T6" y="T7"/>
                </a:cxn>
                <a:cxn ang="0">
                  <a:pos x="T8" y="T9"/>
                </a:cxn>
                <a:cxn ang="0">
                  <a:pos x="T10" y="T11"/>
                </a:cxn>
                <a:cxn ang="0">
                  <a:pos x="T12" y="T13"/>
                </a:cxn>
              </a:cxnLst>
              <a:rect l="0" t="0" r="r" b="b"/>
              <a:pathLst>
                <a:path w="103" h="6453">
                  <a:moveTo>
                    <a:pt x="103" y="0"/>
                  </a:moveTo>
                  <a:lnTo>
                    <a:pt x="51" y="0"/>
                  </a:lnTo>
                  <a:lnTo>
                    <a:pt x="0" y="0"/>
                  </a:lnTo>
                  <a:lnTo>
                    <a:pt x="0" y="6453"/>
                  </a:lnTo>
                  <a:lnTo>
                    <a:pt x="51" y="6453"/>
                  </a:lnTo>
                  <a:lnTo>
                    <a:pt x="103" y="6453"/>
                  </a:lnTo>
                  <a:lnTo>
                    <a:pt x="10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7" name="未知"/>
            <p:cNvSpPr>
              <a:spLocks noChangeAspect="1"/>
            </p:cNvSpPr>
            <p:nvPr/>
          </p:nvSpPr>
          <p:spPr bwMode="auto">
            <a:xfrm>
              <a:off x="3015" y="533"/>
              <a:ext cx="19" cy="979"/>
            </a:xfrm>
            <a:custGeom>
              <a:avLst/>
              <a:gdLst>
                <a:gd name="T0" fmla="*/ 103 w 103"/>
                <a:gd name="T1" fmla="*/ 0 h 6453"/>
                <a:gd name="T2" fmla="*/ 51 w 103"/>
                <a:gd name="T3" fmla="*/ 0 h 6453"/>
                <a:gd name="T4" fmla="*/ 0 w 103"/>
                <a:gd name="T5" fmla="*/ 0 h 6453"/>
                <a:gd name="T6" fmla="*/ 0 w 103"/>
                <a:gd name="T7" fmla="*/ 6453 h 6453"/>
                <a:gd name="T8" fmla="*/ 51 w 103"/>
                <a:gd name="T9" fmla="*/ 6453 h 6453"/>
                <a:gd name="T10" fmla="*/ 103 w 103"/>
                <a:gd name="T11" fmla="*/ 6453 h 6453"/>
                <a:gd name="T12" fmla="*/ 103 w 103"/>
                <a:gd name="T13" fmla="*/ 0 h 6453"/>
              </a:gdLst>
              <a:ahLst/>
              <a:cxnLst>
                <a:cxn ang="0">
                  <a:pos x="T0" y="T1"/>
                </a:cxn>
                <a:cxn ang="0">
                  <a:pos x="T2" y="T3"/>
                </a:cxn>
                <a:cxn ang="0">
                  <a:pos x="T4" y="T5"/>
                </a:cxn>
                <a:cxn ang="0">
                  <a:pos x="T6" y="T7"/>
                </a:cxn>
                <a:cxn ang="0">
                  <a:pos x="T8" y="T9"/>
                </a:cxn>
                <a:cxn ang="0">
                  <a:pos x="T10" y="T11"/>
                </a:cxn>
                <a:cxn ang="0">
                  <a:pos x="T12" y="T13"/>
                </a:cxn>
              </a:cxnLst>
              <a:rect l="0" t="0" r="r" b="b"/>
              <a:pathLst>
                <a:path w="103" h="6453">
                  <a:moveTo>
                    <a:pt x="103" y="0"/>
                  </a:moveTo>
                  <a:lnTo>
                    <a:pt x="51" y="0"/>
                  </a:lnTo>
                  <a:lnTo>
                    <a:pt x="0" y="0"/>
                  </a:lnTo>
                  <a:lnTo>
                    <a:pt x="0" y="6453"/>
                  </a:lnTo>
                  <a:lnTo>
                    <a:pt x="51" y="6453"/>
                  </a:lnTo>
                  <a:lnTo>
                    <a:pt x="103" y="6453"/>
                  </a:lnTo>
                  <a:lnTo>
                    <a:pt x="103"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8" name="未知"/>
            <p:cNvSpPr>
              <a:spLocks noChangeAspect="1"/>
            </p:cNvSpPr>
            <p:nvPr/>
          </p:nvSpPr>
          <p:spPr bwMode="auto">
            <a:xfrm>
              <a:off x="3015" y="1512"/>
              <a:ext cx="19" cy="7"/>
            </a:xfrm>
            <a:custGeom>
              <a:avLst/>
              <a:gdLst>
                <a:gd name="T0" fmla="*/ 51 w 103"/>
                <a:gd name="T1" fmla="*/ 0 h 50"/>
                <a:gd name="T2" fmla="*/ 103 w 103"/>
                <a:gd name="T3" fmla="*/ 0 h 50"/>
                <a:gd name="T4" fmla="*/ 101 w 103"/>
                <a:gd name="T5" fmla="*/ 11 h 50"/>
                <a:gd name="T6" fmla="*/ 97 w 103"/>
                <a:gd name="T7" fmla="*/ 22 h 50"/>
                <a:gd name="T8" fmla="*/ 91 w 103"/>
                <a:gd name="T9" fmla="*/ 31 h 50"/>
                <a:gd name="T10" fmla="*/ 82 w 103"/>
                <a:gd name="T11" fmla="*/ 39 h 50"/>
                <a:gd name="T12" fmla="*/ 73 w 103"/>
                <a:gd name="T13" fmla="*/ 45 h 50"/>
                <a:gd name="T14" fmla="*/ 62 w 103"/>
                <a:gd name="T15" fmla="*/ 49 h 50"/>
                <a:gd name="T16" fmla="*/ 51 w 103"/>
                <a:gd name="T17" fmla="*/ 50 h 50"/>
                <a:gd name="T18" fmla="*/ 40 w 103"/>
                <a:gd name="T19" fmla="*/ 49 h 50"/>
                <a:gd name="T20" fmla="*/ 29 w 103"/>
                <a:gd name="T21" fmla="*/ 45 h 50"/>
                <a:gd name="T22" fmla="*/ 20 w 103"/>
                <a:gd name="T23" fmla="*/ 39 h 50"/>
                <a:gd name="T24" fmla="*/ 12 w 103"/>
                <a:gd name="T25" fmla="*/ 31 h 50"/>
                <a:gd name="T26" fmla="*/ 5 w 103"/>
                <a:gd name="T27" fmla="*/ 22 h 50"/>
                <a:gd name="T28" fmla="*/ 1 w 103"/>
                <a:gd name="T29" fmla="*/ 11 h 50"/>
                <a:gd name="T30" fmla="*/ 0 w 103"/>
                <a:gd name="T31" fmla="*/ 0 h 50"/>
                <a:gd name="T32" fmla="*/ 51 w 103"/>
                <a:gd name="T33"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50">
                  <a:moveTo>
                    <a:pt x="51" y="0"/>
                  </a:moveTo>
                  <a:lnTo>
                    <a:pt x="103" y="0"/>
                  </a:lnTo>
                  <a:lnTo>
                    <a:pt x="101" y="11"/>
                  </a:lnTo>
                  <a:lnTo>
                    <a:pt x="97" y="22"/>
                  </a:lnTo>
                  <a:lnTo>
                    <a:pt x="91" y="31"/>
                  </a:lnTo>
                  <a:lnTo>
                    <a:pt x="82" y="39"/>
                  </a:lnTo>
                  <a:lnTo>
                    <a:pt x="73" y="45"/>
                  </a:lnTo>
                  <a:lnTo>
                    <a:pt x="62" y="49"/>
                  </a:lnTo>
                  <a:lnTo>
                    <a:pt x="51" y="50"/>
                  </a:lnTo>
                  <a:lnTo>
                    <a:pt x="40" y="49"/>
                  </a:lnTo>
                  <a:lnTo>
                    <a:pt x="29" y="45"/>
                  </a:lnTo>
                  <a:lnTo>
                    <a:pt x="20" y="39"/>
                  </a:lnTo>
                  <a:lnTo>
                    <a:pt x="12" y="31"/>
                  </a:lnTo>
                  <a:lnTo>
                    <a:pt x="5" y="22"/>
                  </a:lnTo>
                  <a:lnTo>
                    <a:pt x="1" y="11"/>
                  </a:lnTo>
                  <a:lnTo>
                    <a:pt x="0" y="0"/>
                  </a:lnTo>
                  <a:lnTo>
                    <a:pt x="5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9" name="未知"/>
            <p:cNvSpPr>
              <a:spLocks noChangeAspect="1"/>
            </p:cNvSpPr>
            <p:nvPr/>
          </p:nvSpPr>
          <p:spPr bwMode="auto">
            <a:xfrm>
              <a:off x="3015" y="1512"/>
              <a:ext cx="19" cy="7"/>
            </a:xfrm>
            <a:custGeom>
              <a:avLst/>
              <a:gdLst>
                <a:gd name="T0" fmla="*/ 103 w 103"/>
                <a:gd name="T1" fmla="*/ 0 h 50"/>
                <a:gd name="T2" fmla="*/ 101 w 103"/>
                <a:gd name="T3" fmla="*/ 11 h 50"/>
                <a:gd name="T4" fmla="*/ 97 w 103"/>
                <a:gd name="T5" fmla="*/ 22 h 50"/>
                <a:gd name="T6" fmla="*/ 91 w 103"/>
                <a:gd name="T7" fmla="*/ 31 h 50"/>
                <a:gd name="T8" fmla="*/ 82 w 103"/>
                <a:gd name="T9" fmla="*/ 39 h 50"/>
                <a:gd name="T10" fmla="*/ 73 w 103"/>
                <a:gd name="T11" fmla="*/ 45 h 50"/>
                <a:gd name="T12" fmla="*/ 62 w 103"/>
                <a:gd name="T13" fmla="*/ 49 h 50"/>
                <a:gd name="T14" fmla="*/ 51 w 103"/>
                <a:gd name="T15" fmla="*/ 50 h 50"/>
                <a:gd name="T16" fmla="*/ 40 w 103"/>
                <a:gd name="T17" fmla="*/ 49 h 50"/>
                <a:gd name="T18" fmla="*/ 29 w 103"/>
                <a:gd name="T19" fmla="*/ 45 h 50"/>
                <a:gd name="T20" fmla="*/ 20 w 103"/>
                <a:gd name="T21" fmla="*/ 39 h 50"/>
                <a:gd name="T22" fmla="*/ 12 w 103"/>
                <a:gd name="T23" fmla="*/ 31 h 50"/>
                <a:gd name="T24" fmla="*/ 5 w 103"/>
                <a:gd name="T25" fmla="*/ 22 h 50"/>
                <a:gd name="T26" fmla="*/ 1 w 103"/>
                <a:gd name="T27" fmla="*/ 11 h 50"/>
                <a:gd name="T28" fmla="*/ 0 w 103"/>
                <a:gd name="T29"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3" h="50">
                  <a:moveTo>
                    <a:pt x="103" y="0"/>
                  </a:moveTo>
                  <a:lnTo>
                    <a:pt x="101" y="11"/>
                  </a:lnTo>
                  <a:lnTo>
                    <a:pt x="97" y="22"/>
                  </a:lnTo>
                  <a:lnTo>
                    <a:pt x="91" y="31"/>
                  </a:lnTo>
                  <a:lnTo>
                    <a:pt x="82" y="39"/>
                  </a:lnTo>
                  <a:lnTo>
                    <a:pt x="73" y="45"/>
                  </a:lnTo>
                  <a:lnTo>
                    <a:pt x="62" y="49"/>
                  </a:lnTo>
                  <a:lnTo>
                    <a:pt x="51" y="50"/>
                  </a:lnTo>
                  <a:lnTo>
                    <a:pt x="40" y="49"/>
                  </a:lnTo>
                  <a:lnTo>
                    <a:pt x="29" y="45"/>
                  </a:lnTo>
                  <a:lnTo>
                    <a:pt x="20" y="39"/>
                  </a:lnTo>
                  <a:lnTo>
                    <a:pt x="12" y="31"/>
                  </a:lnTo>
                  <a:lnTo>
                    <a:pt x="5" y="22"/>
                  </a:lnTo>
                  <a:lnTo>
                    <a:pt x="1" y="11"/>
                  </a:lnTo>
                  <a:lnTo>
                    <a:pt x="0"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0" name="未知"/>
            <p:cNvSpPr>
              <a:spLocks noChangeAspect="1"/>
            </p:cNvSpPr>
            <p:nvPr/>
          </p:nvSpPr>
          <p:spPr bwMode="auto">
            <a:xfrm>
              <a:off x="3230" y="526"/>
              <a:ext cx="19" cy="7"/>
            </a:xfrm>
            <a:custGeom>
              <a:avLst/>
              <a:gdLst>
                <a:gd name="T0" fmla="*/ 50 w 102"/>
                <a:gd name="T1" fmla="*/ 52 h 52"/>
                <a:gd name="T2" fmla="*/ 0 w 102"/>
                <a:gd name="T3" fmla="*/ 52 h 52"/>
                <a:gd name="T4" fmla="*/ 1 w 102"/>
                <a:gd name="T5" fmla="*/ 41 h 52"/>
                <a:gd name="T6" fmla="*/ 5 w 102"/>
                <a:gd name="T7" fmla="*/ 29 h 52"/>
                <a:gd name="T8" fmla="*/ 11 w 102"/>
                <a:gd name="T9" fmla="*/ 20 h 52"/>
                <a:gd name="T10" fmla="*/ 19 w 102"/>
                <a:gd name="T11" fmla="*/ 12 h 52"/>
                <a:gd name="T12" fmla="*/ 28 w 102"/>
                <a:gd name="T13" fmla="*/ 6 h 52"/>
                <a:gd name="T14" fmla="*/ 39 w 102"/>
                <a:gd name="T15" fmla="*/ 2 h 52"/>
                <a:gd name="T16" fmla="*/ 50 w 102"/>
                <a:gd name="T17" fmla="*/ 0 h 52"/>
                <a:gd name="T18" fmla="*/ 61 w 102"/>
                <a:gd name="T19" fmla="*/ 2 h 52"/>
                <a:gd name="T20" fmla="*/ 73 w 102"/>
                <a:gd name="T21" fmla="*/ 6 h 52"/>
                <a:gd name="T22" fmla="*/ 82 w 102"/>
                <a:gd name="T23" fmla="*/ 12 h 52"/>
                <a:gd name="T24" fmla="*/ 90 w 102"/>
                <a:gd name="T25" fmla="*/ 20 h 52"/>
                <a:gd name="T26" fmla="*/ 96 w 102"/>
                <a:gd name="T27" fmla="*/ 29 h 52"/>
                <a:gd name="T28" fmla="*/ 100 w 102"/>
                <a:gd name="T29" fmla="*/ 41 h 52"/>
                <a:gd name="T30" fmla="*/ 102 w 102"/>
                <a:gd name="T31" fmla="*/ 52 h 52"/>
                <a:gd name="T32" fmla="*/ 50 w 102"/>
                <a:gd name="T33"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2" h="52">
                  <a:moveTo>
                    <a:pt x="50" y="52"/>
                  </a:moveTo>
                  <a:lnTo>
                    <a:pt x="0" y="52"/>
                  </a:lnTo>
                  <a:lnTo>
                    <a:pt x="1" y="41"/>
                  </a:lnTo>
                  <a:lnTo>
                    <a:pt x="5" y="29"/>
                  </a:lnTo>
                  <a:lnTo>
                    <a:pt x="11" y="20"/>
                  </a:lnTo>
                  <a:lnTo>
                    <a:pt x="19" y="12"/>
                  </a:lnTo>
                  <a:lnTo>
                    <a:pt x="28" y="6"/>
                  </a:lnTo>
                  <a:lnTo>
                    <a:pt x="39" y="2"/>
                  </a:lnTo>
                  <a:lnTo>
                    <a:pt x="50" y="0"/>
                  </a:lnTo>
                  <a:lnTo>
                    <a:pt x="61" y="2"/>
                  </a:lnTo>
                  <a:lnTo>
                    <a:pt x="73" y="6"/>
                  </a:lnTo>
                  <a:lnTo>
                    <a:pt x="82" y="12"/>
                  </a:lnTo>
                  <a:lnTo>
                    <a:pt x="90" y="20"/>
                  </a:lnTo>
                  <a:lnTo>
                    <a:pt x="96" y="29"/>
                  </a:lnTo>
                  <a:lnTo>
                    <a:pt x="100" y="41"/>
                  </a:lnTo>
                  <a:lnTo>
                    <a:pt x="102" y="52"/>
                  </a:lnTo>
                  <a:lnTo>
                    <a:pt x="50"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1" name="未知"/>
            <p:cNvSpPr>
              <a:spLocks noChangeAspect="1"/>
            </p:cNvSpPr>
            <p:nvPr/>
          </p:nvSpPr>
          <p:spPr bwMode="auto">
            <a:xfrm>
              <a:off x="3230" y="526"/>
              <a:ext cx="19" cy="7"/>
            </a:xfrm>
            <a:custGeom>
              <a:avLst/>
              <a:gdLst>
                <a:gd name="T0" fmla="*/ 0 w 102"/>
                <a:gd name="T1" fmla="*/ 52 h 52"/>
                <a:gd name="T2" fmla="*/ 1 w 102"/>
                <a:gd name="T3" fmla="*/ 41 h 52"/>
                <a:gd name="T4" fmla="*/ 5 w 102"/>
                <a:gd name="T5" fmla="*/ 29 h 52"/>
                <a:gd name="T6" fmla="*/ 11 w 102"/>
                <a:gd name="T7" fmla="*/ 20 h 52"/>
                <a:gd name="T8" fmla="*/ 19 w 102"/>
                <a:gd name="T9" fmla="*/ 12 h 52"/>
                <a:gd name="T10" fmla="*/ 28 w 102"/>
                <a:gd name="T11" fmla="*/ 6 h 52"/>
                <a:gd name="T12" fmla="*/ 39 w 102"/>
                <a:gd name="T13" fmla="*/ 2 h 52"/>
                <a:gd name="T14" fmla="*/ 50 w 102"/>
                <a:gd name="T15" fmla="*/ 0 h 52"/>
                <a:gd name="T16" fmla="*/ 61 w 102"/>
                <a:gd name="T17" fmla="*/ 2 h 52"/>
                <a:gd name="T18" fmla="*/ 73 w 102"/>
                <a:gd name="T19" fmla="*/ 6 h 52"/>
                <a:gd name="T20" fmla="*/ 82 w 102"/>
                <a:gd name="T21" fmla="*/ 12 h 52"/>
                <a:gd name="T22" fmla="*/ 90 w 102"/>
                <a:gd name="T23" fmla="*/ 20 h 52"/>
                <a:gd name="T24" fmla="*/ 96 w 102"/>
                <a:gd name="T25" fmla="*/ 29 h 52"/>
                <a:gd name="T26" fmla="*/ 100 w 102"/>
                <a:gd name="T27" fmla="*/ 41 h 52"/>
                <a:gd name="T28" fmla="*/ 102 w 102"/>
                <a:gd name="T29"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2" h="52">
                  <a:moveTo>
                    <a:pt x="0" y="52"/>
                  </a:moveTo>
                  <a:lnTo>
                    <a:pt x="1" y="41"/>
                  </a:lnTo>
                  <a:lnTo>
                    <a:pt x="5" y="29"/>
                  </a:lnTo>
                  <a:lnTo>
                    <a:pt x="11" y="20"/>
                  </a:lnTo>
                  <a:lnTo>
                    <a:pt x="19" y="12"/>
                  </a:lnTo>
                  <a:lnTo>
                    <a:pt x="28" y="6"/>
                  </a:lnTo>
                  <a:lnTo>
                    <a:pt x="39" y="2"/>
                  </a:lnTo>
                  <a:lnTo>
                    <a:pt x="50" y="0"/>
                  </a:lnTo>
                  <a:lnTo>
                    <a:pt x="61" y="2"/>
                  </a:lnTo>
                  <a:lnTo>
                    <a:pt x="73" y="6"/>
                  </a:lnTo>
                  <a:lnTo>
                    <a:pt x="82" y="12"/>
                  </a:lnTo>
                  <a:lnTo>
                    <a:pt x="90" y="20"/>
                  </a:lnTo>
                  <a:lnTo>
                    <a:pt x="96" y="29"/>
                  </a:lnTo>
                  <a:lnTo>
                    <a:pt x="100" y="41"/>
                  </a:lnTo>
                  <a:lnTo>
                    <a:pt x="102" y="52"/>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 name="未知"/>
            <p:cNvSpPr>
              <a:spLocks noChangeAspect="1"/>
            </p:cNvSpPr>
            <p:nvPr/>
          </p:nvSpPr>
          <p:spPr bwMode="auto">
            <a:xfrm>
              <a:off x="3230" y="533"/>
              <a:ext cx="19" cy="94"/>
            </a:xfrm>
            <a:custGeom>
              <a:avLst/>
              <a:gdLst>
                <a:gd name="T0" fmla="*/ 102 w 102"/>
                <a:gd name="T1" fmla="*/ 0 h 613"/>
                <a:gd name="T2" fmla="*/ 50 w 102"/>
                <a:gd name="T3" fmla="*/ 0 h 613"/>
                <a:gd name="T4" fmla="*/ 0 w 102"/>
                <a:gd name="T5" fmla="*/ 0 h 613"/>
                <a:gd name="T6" fmla="*/ 0 w 102"/>
                <a:gd name="T7" fmla="*/ 613 h 613"/>
                <a:gd name="T8" fmla="*/ 50 w 102"/>
                <a:gd name="T9" fmla="*/ 613 h 613"/>
                <a:gd name="T10" fmla="*/ 102 w 102"/>
                <a:gd name="T11" fmla="*/ 613 h 613"/>
                <a:gd name="T12" fmla="*/ 102 w 102"/>
                <a:gd name="T13" fmla="*/ 0 h 613"/>
              </a:gdLst>
              <a:ahLst/>
              <a:cxnLst>
                <a:cxn ang="0">
                  <a:pos x="T0" y="T1"/>
                </a:cxn>
                <a:cxn ang="0">
                  <a:pos x="T2" y="T3"/>
                </a:cxn>
                <a:cxn ang="0">
                  <a:pos x="T4" y="T5"/>
                </a:cxn>
                <a:cxn ang="0">
                  <a:pos x="T6" y="T7"/>
                </a:cxn>
                <a:cxn ang="0">
                  <a:pos x="T8" y="T9"/>
                </a:cxn>
                <a:cxn ang="0">
                  <a:pos x="T10" y="T11"/>
                </a:cxn>
                <a:cxn ang="0">
                  <a:pos x="T12" y="T13"/>
                </a:cxn>
              </a:cxnLst>
              <a:rect l="0" t="0" r="r" b="b"/>
              <a:pathLst>
                <a:path w="102" h="613">
                  <a:moveTo>
                    <a:pt x="102" y="0"/>
                  </a:moveTo>
                  <a:lnTo>
                    <a:pt x="50" y="0"/>
                  </a:lnTo>
                  <a:lnTo>
                    <a:pt x="0" y="0"/>
                  </a:lnTo>
                  <a:lnTo>
                    <a:pt x="0" y="613"/>
                  </a:lnTo>
                  <a:lnTo>
                    <a:pt x="50" y="613"/>
                  </a:lnTo>
                  <a:lnTo>
                    <a:pt x="102" y="613"/>
                  </a:lnTo>
                  <a:lnTo>
                    <a:pt x="10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3" name="未知"/>
            <p:cNvSpPr>
              <a:spLocks noChangeAspect="1"/>
            </p:cNvSpPr>
            <p:nvPr/>
          </p:nvSpPr>
          <p:spPr bwMode="auto">
            <a:xfrm>
              <a:off x="3230" y="533"/>
              <a:ext cx="19" cy="94"/>
            </a:xfrm>
            <a:custGeom>
              <a:avLst/>
              <a:gdLst>
                <a:gd name="T0" fmla="*/ 102 w 102"/>
                <a:gd name="T1" fmla="*/ 0 h 613"/>
                <a:gd name="T2" fmla="*/ 50 w 102"/>
                <a:gd name="T3" fmla="*/ 0 h 613"/>
                <a:gd name="T4" fmla="*/ 0 w 102"/>
                <a:gd name="T5" fmla="*/ 0 h 613"/>
                <a:gd name="T6" fmla="*/ 0 w 102"/>
                <a:gd name="T7" fmla="*/ 613 h 613"/>
                <a:gd name="T8" fmla="*/ 50 w 102"/>
                <a:gd name="T9" fmla="*/ 613 h 613"/>
                <a:gd name="T10" fmla="*/ 102 w 102"/>
                <a:gd name="T11" fmla="*/ 613 h 613"/>
                <a:gd name="T12" fmla="*/ 102 w 102"/>
                <a:gd name="T13" fmla="*/ 0 h 613"/>
              </a:gdLst>
              <a:ahLst/>
              <a:cxnLst>
                <a:cxn ang="0">
                  <a:pos x="T0" y="T1"/>
                </a:cxn>
                <a:cxn ang="0">
                  <a:pos x="T2" y="T3"/>
                </a:cxn>
                <a:cxn ang="0">
                  <a:pos x="T4" y="T5"/>
                </a:cxn>
                <a:cxn ang="0">
                  <a:pos x="T6" y="T7"/>
                </a:cxn>
                <a:cxn ang="0">
                  <a:pos x="T8" y="T9"/>
                </a:cxn>
                <a:cxn ang="0">
                  <a:pos x="T10" y="T11"/>
                </a:cxn>
                <a:cxn ang="0">
                  <a:pos x="T12" y="T13"/>
                </a:cxn>
              </a:cxnLst>
              <a:rect l="0" t="0" r="r" b="b"/>
              <a:pathLst>
                <a:path w="102" h="613">
                  <a:moveTo>
                    <a:pt x="102" y="0"/>
                  </a:moveTo>
                  <a:lnTo>
                    <a:pt x="50" y="0"/>
                  </a:lnTo>
                  <a:lnTo>
                    <a:pt x="0" y="0"/>
                  </a:lnTo>
                  <a:lnTo>
                    <a:pt x="0" y="613"/>
                  </a:lnTo>
                  <a:lnTo>
                    <a:pt x="50" y="613"/>
                  </a:lnTo>
                  <a:lnTo>
                    <a:pt x="102" y="613"/>
                  </a:lnTo>
                  <a:lnTo>
                    <a:pt x="102"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4" name="未知"/>
            <p:cNvSpPr>
              <a:spLocks noChangeAspect="1"/>
            </p:cNvSpPr>
            <p:nvPr/>
          </p:nvSpPr>
          <p:spPr bwMode="auto">
            <a:xfrm>
              <a:off x="3230" y="627"/>
              <a:ext cx="19" cy="7"/>
            </a:xfrm>
            <a:custGeom>
              <a:avLst/>
              <a:gdLst>
                <a:gd name="T0" fmla="*/ 50 w 102"/>
                <a:gd name="T1" fmla="*/ 0 h 51"/>
                <a:gd name="T2" fmla="*/ 102 w 102"/>
                <a:gd name="T3" fmla="*/ 0 h 51"/>
                <a:gd name="T4" fmla="*/ 100 w 102"/>
                <a:gd name="T5" fmla="*/ 11 h 51"/>
                <a:gd name="T6" fmla="*/ 96 w 102"/>
                <a:gd name="T7" fmla="*/ 22 h 51"/>
                <a:gd name="T8" fmla="*/ 90 w 102"/>
                <a:gd name="T9" fmla="*/ 31 h 51"/>
                <a:gd name="T10" fmla="*/ 82 w 102"/>
                <a:gd name="T11" fmla="*/ 39 h 51"/>
                <a:gd name="T12" fmla="*/ 73 w 102"/>
                <a:gd name="T13" fmla="*/ 46 h 51"/>
                <a:gd name="T14" fmla="*/ 61 w 102"/>
                <a:gd name="T15" fmla="*/ 50 h 51"/>
                <a:gd name="T16" fmla="*/ 50 w 102"/>
                <a:gd name="T17" fmla="*/ 51 h 51"/>
                <a:gd name="T18" fmla="*/ 39 w 102"/>
                <a:gd name="T19" fmla="*/ 50 h 51"/>
                <a:gd name="T20" fmla="*/ 28 w 102"/>
                <a:gd name="T21" fmla="*/ 46 h 51"/>
                <a:gd name="T22" fmla="*/ 19 w 102"/>
                <a:gd name="T23" fmla="*/ 39 h 51"/>
                <a:gd name="T24" fmla="*/ 11 w 102"/>
                <a:gd name="T25" fmla="*/ 31 h 51"/>
                <a:gd name="T26" fmla="*/ 5 w 102"/>
                <a:gd name="T27" fmla="*/ 22 h 51"/>
                <a:gd name="T28" fmla="*/ 1 w 102"/>
                <a:gd name="T29" fmla="*/ 11 h 51"/>
                <a:gd name="T30" fmla="*/ 0 w 102"/>
                <a:gd name="T31" fmla="*/ 0 h 51"/>
                <a:gd name="T32" fmla="*/ 50 w 102"/>
                <a:gd name="T33"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2" h="51">
                  <a:moveTo>
                    <a:pt x="50" y="0"/>
                  </a:moveTo>
                  <a:lnTo>
                    <a:pt x="102" y="0"/>
                  </a:lnTo>
                  <a:lnTo>
                    <a:pt x="100" y="11"/>
                  </a:lnTo>
                  <a:lnTo>
                    <a:pt x="96" y="22"/>
                  </a:lnTo>
                  <a:lnTo>
                    <a:pt x="90" y="31"/>
                  </a:lnTo>
                  <a:lnTo>
                    <a:pt x="82" y="39"/>
                  </a:lnTo>
                  <a:lnTo>
                    <a:pt x="73" y="46"/>
                  </a:lnTo>
                  <a:lnTo>
                    <a:pt x="61" y="50"/>
                  </a:lnTo>
                  <a:lnTo>
                    <a:pt x="50" y="51"/>
                  </a:lnTo>
                  <a:lnTo>
                    <a:pt x="39" y="50"/>
                  </a:lnTo>
                  <a:lnTo>
                    <a:pt x="28" y="46"/>
                  </a:lnTo>
                  <a:lnTo>
                    <a:pt x="19" y="39"/>
                  </a:lnTo>
                  <a:lnTo>
                    <a:pt x="11" y="31"/>
                  </a:lnTo>
                  <a:lnTo>
                    <a:pt x="5" y="22"/>
                  </a:lnTo>
                  <a:lnTo>
                    <a:pt x="1" y="11"/>
                  </a:lnTo>
                  <a:lnTo>
                    <a:pt x="0" y="0"/>
                  </a:lnTo>
                  <a:lnTo>
                    <a:pt x="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5" name="未知"/>
            <p:cNvSpPr>
              <a:spLocks noChangeAspect="1"/>
            </p:cNvSpPr>
            <p:nvPr/>
          </p:nvSpPr>
          <p:spPr bwMode="auto">
            <a:xfrm>
              <a:off x="3230" y="627"/>
              <a:ext cx="19" cy="7"/>
            </a:xfrm>
            <a:custGeom>
              <a:avLst/>
              <a:gdLst>
                <a:gd name="T0" fmla="*/ 102 w 102"/>
                <a:gd name="T1" fmla="*/ 0 h 51"/>
                <a:gd name="T2" fmla="*/ 100 w 102"/>
                <a:gd name="T3" fmla="*/ 11 h 51"/>
                <a:gd name="T4" fmla="*/ 96 w 102"/>
                <a:gd name="T5" fmla="*/ 22 h 51"/>
                <a:gd name="T6" fmla="*/ 90 w 102"/>
                <a:gd name="T7" fmla="*/ 31 h 51"/>
                <a:gd name="T8" fmla="*/ 82 w 102"/>
                <a:gd name="T9" fmla="*/ 39 h 51"/>
                <a:gd name="T10" fmla="*/ 73 w 102"/>
                <a:gd name="T11" fmla="*/ 46 h 51"/>
                <a:gd name="T12" fmla="*/ 61 w 102"/>
                <a:gd name="T13" fmla="*/ 50 h 51"/>
                <a:gd name="T14" fmla="*/ 50 w 102"/>
                <a:gd name="T15" fmla="*/ 51 h 51"/>
                <a:gd name="T16" fmla="*/ 39 w 102"/>
                <a:gd name="T17" fmla="*/ 50 h 51"/>
                <a:gd name="T18" fmla="*/ 28 w 102"/>
                <a:gd name="T19" fmla="*/ 46 h 51"/>
                <a:gd name="T20" fmla="*/ 19 w 102"/>
                <a:gd name="T21" fmla="*/ 39 h 51"/>
                <a:gd name="T22" fmla="*/ 11 w 102"/>
                <a:gd name="T23" fmla="*/ 31 h 51"/>
                <a:gd name="T24" fmla="*/ 5 w 102"/>
                <a:gd name="T25" fmla="*/ 22 h 51"/>
                <a:gd name="T26" fmla="*/ 1 w 102"/>
                <a:gd name="T27" fmla="*/ 11 h 51"/>
                <a:gd name="T28" fmla="*/ 0 w 102"/>
                <a:gd name="T29"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2" h="51">
                  <a:moveTo>
                    <a:pt x="102" y="0"/>
                  </a:moveTo>
                  <a:lnTo>
                    <a:pt x="100" y="11"/>
                  </a:lnTo>
                  <a:lnTo>
                    <a:pt x="96" y="22"/>
                  </a:lnTo>
                  <a:lnTo>
                    <a:pt x="90" y="31"/>
                  </a:lnTo>
                  <a:lnTo>
                    <a:pt x="82" y="39"/>
                  </a:lnTo>
                  <a:lnTo>
                    <a:pt x="73" y="46"/>
                  </a:lnTo>
                  <a:lnTo>
                    <a:pt x="61" y="50"/>
                  </a:lnTo>
                  <a:lnTo>
                    <a:pt x="50" y="51"/>
                  </a:lnTo>
                  <a:lnTo>
                    <a:pt x="39" y="50"/>
                  </a:lnTo>
                  <a:lnTo>
                    <a:pt x="28" y="46"/>
                  </a:lnTo>
                  <a:lnTo>
                    <a:pt x="19" y="39"/>
                  </a:lnTo>
                  <a:lnTo>
                    <a:pt x="11" y="31"/>
                  </a:lnTo>
                  <a:lnTo>
                    <a:pt x="5" y="22"/>
                  </a:lnTo>
                  <a:lnTo>
                    <a:pt x="1" y="11"/>
                  </a:lnTo>
                  <a:lnTo>
                    <a:pt x="0"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6" name="未知"/>
            <p:cNvSpPr>
              <a:spLocks noChangeAspect="1"/>
            </p:cNvSpPr>
            <p:nvPr/>
          </p:nvSpPr>
          <p:spPr bwMode="auto">
            <a:xfrm>
              <a:off x="3425" y="881"/>
              <a:ext cx="19" cy="7"/>
            </a:xfrm>
            <a:custGeom>
              <a:avLst/>
              <a:gdLst>
                <a:gd name="T0" fmla="*/ 50 w 102"/>
                <a:gd name="T1" fmla="*/ 52 h 52"/>
                <a:gd name="T2" fmla="*/ 0 w 102"/>
                <a:gd name="T3" fmla="*/ 52 h 52"/>
                <a:gd name="T4" fmla="*/ 1 w 102"/>
                <a:gd name="T5" fmla="*/ 41 h 52"/>
                <a:gd name="T6" fmla="*/ 5 w 102"/>
                <a:gd name="T7" fmla="*/ 30 h 52"/>
                <a:gd name="T8" fmla="*/ 11 w 102"/>
                <a:gd name="T9" fmla="*/ 21 h 52"/>
                <a:gd name="T10" fmla="*/ 19 w 102"/>
                <a:gd name="T11" fmla="*/ 12 h 52"/>
                <a:gd name="T12" fmla="*/ 28 w 102"/>
                <a:gd name="T13" fmla="*/ 6 h 52"/>
                <a:gd name="T14" fmla="*/ 39 w 102"/>
                <a:gd name="T15" fmla="*/ 2 h 52"/>
                <a:gd name="T16" fmla="*/ 50 w 102"/>
                <a:gd name="T17" fmla="*/ 0 h 52"/>
                <a:gd name="T18" fmla="*/ 61 w 102"/>
                <a:gd name="T19" fmla="*/ 2 h 52"/>
                <a:gd name="T20" fmla="*/ 73 w 102"/>
                <a:gd name="T21" fmla="*/ 6 h 52"/>
                <a:gd name="T22" fmla="*/ 82 w 102"/>
                <a:gd name="T23" fmla="*/ 12 h 52"/>
                <a:gd name="T24" fmla="*/ 90 w 102"/>
                <a:gd name="T25" fmla="*/ 21 h 52"/>
                <a:gd name="T26" fmla="*/ 96 w 102"/>
                <a:gd name="T27" fmla="*/ 30 h 52"/>
                <a:gd name="T28" fmla="*/ 100 w 102"/>
                <a:gd name="T29" fmla="*/ 41 h 52"/>
                <a:gd name="T30" fmla="*/ 102 w 102"/>
                <a:gd name="T31" fmla="*/ 52 h 52"/>
                <a:gd name="T32" fmla="*/ 50 w 102"/>
                <a:gd name="T33"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2" h="52">
                  <a:moveTo>
                    <a:pt x="50" y="52"/>
                  </a:moveTo>
                  <a:lnTo>
                    <a:pt x="0" y="52"/>
                  </a:lnTo>
                  <a:lnTo>
                    <a:pt x="1" y="41"/>
                  </a:lnTo>
                  <a:lnTo>
                    <a:pt x="5" y="30"/>
                  </a:lnTo>
                  <a:lnTo>
                    <a:pt x="11" y="21"/>
                  </a:lnTo>
                  <a:lnTo>
                    <a:pt x="19" y="12"/>
                  </a:lnTo>
                  <a:lnTo>
                    <a:pt x="28" y="6"/>
                  </a:lnTo>
                  <a:lnTo>
                    <a:pt x="39" y="2"/>
                  </a:lnTo>
                  <a:lnTo>
                    <a:pt x="50" y="0"/>
                  </a:lnTo>
                  <a:lnTo>
                    <a:pt x="61" y="2"/>
                  </a:lnTo>
                  <a:lnTo>
                    <a:pt x="73" y="6"/>
                  </a:lnTo>
                  <a:lnTo>
                    <a:pt x="82" y="12"/>
                  </a:lnTo>
                  <a:lnTo>
                    <a:pt x="90" y="21"/>
                  </a:lnTo>
                  <a:lnTo>
                    <a:pt x="96" y="30"/>
                  </a:lnTo>
                  <a:lnTo>
                    <a:pt x="100" y="41"/>
                  </a:lnTo>
                  <a:lnTo>
                    <a:pt x="102" y="52"/>
                  </a:lnTo>
                  <a:lnTo>
                    <a:pt x="50"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7" name="未知"/>
            <p:cNvSpPr>
              <a:spLocks noChangeAspect="1"/>
            </p:cNvSpPr>
            <p:nvPr/>
          </p:nvSpPr>
          <p:spPr bwMode="auto">
            <a:xfrm>
              <a:off x="3425" y="881"/>
              <a:ext cx="19" cy="7"/>
            </a:xfrm>
            <a:custGeom>
              <a:avLst/>
              <a:gdLst>
                <a:gd name="T0" fmla="*/ 0 w 102"/>
                <a:gd name="T1" fmla="*/ 52 h 52"/>
                <a:gd name="T2" fmla="*/ 1 w 102"/>
                <a:gd name="T3" fmla="*/ 41 h 52"/>
                <a:gd name="T4" fmla="*/ 5 w 102"/>
                <a:gd name="T5" fmla="*/ 30 h 52"/>
                <a:gd name="T6" fmla="*/ 11 w 102"/>
                <a:gd name="T7" fmla="*/ 21 h 52"/>
                <a:gd name="T8" fmla="*/ 19 w 102"/>
                <a:gd name="T9" fmla="*/ 12 h 52"/>
                <a:gd name="T10" fmla="*/ 28 w 102"/>
                <a:gd name="T11" fmla="*/ 6 h 52"/>
                <a:gd name="T12" fmla="*/ 39 w 102"/>
                <a:gd name="T13" fmla="*/ 2 h 52"/>
                <a:gd name="T14" fmla="*/ 50 w 102"/>
                <a:gd name="T15" fmla="*/ 0 h 52"/>
                <a:gd name="T16" fmla="*/ 61 w 102"/>
                <a:gd name="T17" fmla="*/ 2 h 52"/>
                <a:gd name="T18" fmla="*/ 73 w 102"/>
                <a:gd name="T19" fmla="*/ 6 h 52"/>
                <a:gd name="T20" fmla="*/ 82 w 102"/>
                <a:gd name="T21" fmla="*/ 12 h 52"/>
                <a:gd name="T22" fmla="*/ 90 w 102"/>
                <a:gd name="T23" fmla="*/ 21 h 52"/>
                <a:gd name="T24" fmla="*/ 96 w 102"/>
                <a:gd name="T25" fmla="*/ 30 h 52"/>
                <a:gd name="T26" fmla="*/ 100 w 102"/>
                <a:gd name="T27" fmla="*/ 41 h 52"/>
                <a:gd name="T28" fmla="*/ 102 w 102"/>
                <a:gd name="T29"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2" h="52">
                  <a:moveTo>
                    <a:pt x="0" y="52"/>
                  </a:moveTo>
                  <a:lnTo>
                    <a:pt x="1" y="41"/>
                  </a:lnTo>
                  <a:lnTo>
                    <a:pt x="5" y="30"/>
                  </a:lnTo>
                  <a:lnTo>
                    <a:pt x="11" y="21"/>
                  </a:lnTo>
                  <a:lnTo>
                    <a:pt x="19" y="12"/>
                  </a:lnTo>
                  <a:lnTo>
                    <a:pt x="28" y="6"/>
                  </a:lnTo>
                  <a:lnTo>
                    <a:pt x="39" y="2"/>
                  </a:lnTo>
                  <a:lnTo>
                    <a:pt x="50" y="0"/>
                  </a:lnTo>
                  <a:lnTo>
                    <a:pt x="61" y="2"/>
                  </a:lnTo>
                  <a:lnTo>
                    <a:pt x="73" y="6"/>
                  </a:lnTo>
                  <a:lnTo>
                    <a:pt x="82" y="12"/>
                  </a:lnTo>
                  <a:lnTo>
                    <a:pt x="90" y="21"/>
                  </a:lnTo>
                  <a:lnTo>
                    <a:pt x="96" y="30"/>
                  </a:lnTo>
                  <a:lnTo>
                    <a:pt x="100" y="41"/>
                  </a:lnTo>
                  <a:lnTo>
                    <a:pt x="102" y="52"/>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8" name="未知"/>
            <p:cNvSpPr>
              <a:spLocks noChangeAspect="1"/>
            </p:cNvSpPr>
            <p:nvPr/>
          </p:nvSpPr>
          <p:spPr bwMode="auto">
            <a:xfrm>
              <a:off x="3425" y="888"/>
              <a:ext cx="19" cy="979"/>
            </a:xfrm>
            <a:custGeom>
              <a:avLst/>
              <a:gdLst>
                <a:gd name="T0" fmla="*/ 102 w 102"/>
                <a:gd name="T1" fmla="*/ 0 h 6453"/>
                <a:gd name="T2" fmla="*/ 50 w 102"/>
                <a:gd name="T3" fmla="*/ 0 h 6453"/>
                <a:gd name="T4" fmla="*/ 0 w 102"/>
                <a:gd name="T5" fmla="*/ 0 h 6453"/>
                <a:gd name="T6" fmla="*/ 0 w 102"/>
                <a:gd name="T7" fmla="*/ 6453 h 6453"/>
                <a:gd name="T8" fmla="*/ 50 w 102"/>
                <a:gd name="T9" fmla="*/ 6453 h 6453"/>
                <a:gd name="T10" fmla="*/ 102 w 102"/>
                <a:gd name="T11" fmla="*/ 6453 h 6453"/>
                <a:gd name="T12" fmla="*/ 102 w 102"/>
                <a:gd name="T13" fmla="*/ 0 h 6453"/>
              </a:gdLst>
              <a:ahLst/>
              <a:cxnLst>
                <a:cxn ang="0">
                  <a:pos x="T0" y="T1"/>
                </a:cxn>
                <a:cxn ang="0">
                  <a:pos x="T2" y="T3"/>
                </a:cxn>
                <a:cxn ang="0">
                  <a:pos x="T4" y="T5"/>
                </a:cxn>
                <a:cxn ang="0">
                  <a:pos x="T6" y="T7"/>
                </a:cxn>
                <a:cxn ang="0">
                  <a:pos x="T8" y="T9"/>
                </a:cxn>
                <a:cxn ang="0">
                  <a:pos x="T10" y="T11"/>
                </a:cxn>
                <a:cxn ang="0">
                  <a:pos x="T12" y="T13"/>
                </a:cxn>
              </a:cxnLst>
              <a:rect l="0" t="0" r="r" b="b"/>
              <a:pathLst>
                <a:path w="102" h="6453">
                  <a:moveTo>
                    <a:pt x="102" y="0"/>
                  </a:moveTo>
                  <a:lnTo>
                    <a:pt x="50" y="0"/>
                  </a:lnTo>
                  <a:lnTo>
                    <a:pt x="0" y="0"/>
                  </a:lnTo>
                  <a:lnTo>
                    <a:pt x="0" y="6453"/>
                  </a:lnTo>
                  <a:lnTo>
                    <a:pt x="50" y="6453"/>
                  </a:lnTo>
                  <a:lnTo>
                    <a:pt x="102" y="6453"/>
                  </a:lnTo>
                  <a:lnTo>
                    <a:pt x="10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9" name="未知"/>
            <p:cNvSpPr>
              <a:spLocks noChangeAspect="1"/>
            </p:cNvSpPr>
            <p:nvPr/>
          </p:nvSpPr>
          <p:spPr bwMode="auto">
            <a:xfrm>
              <a:off x="3425" y="888"/>
              <a:ext cx="19" cy="979"/>
            </a:xfrm>
            <a:custGeom>
              <a:avLst/>
              <a:gdLst>
                <a:gd name="T0" fmla="*/ 102 w 102"/>
                <a:gd name="T1" fmla="*/ 0 h 6453"/>
                <a:gd name="T2" fmla="*/ 50 w 102"/>
                <a:gd name="T3" fmla="*/ 0 h 6453"/>
                <a:gd name="T4" fmla="*/ 0 w 102"/>
                <a:gd name="T5" fmla="*/ 0 h 6453"/>
                <a:gd name="T6" fmla="*/ 0 w 102"/>
                <a:gd name="T7" fmla="*/ 6453 h 6453"/>
                <a:gd name="T8" fmla="*/ 50 w 102"/>
                <a:gd name="T9" fmla="*/ 6453 h 6453"/>
                <a:gd name="T10" fmla="*/ 102 w 102"/>
                <a:gd name="T11" fmla="*/ 6453 h 6453"/>
                <a:gd name="T12" fmla="*/ 102 w 102"/>
                <a:gd name="T13" fmla="*/ 0 h 6453"/>
              </a:gdLst>
              <a:ahLst/>
              <a:cxnLst>
                <a:cxn ang="0">
                  <a:pos x="T0" y="T1"/>
                </a:cxn>
                <a:cxn ang="0">
                  <a:pos x="T2" y="T3"/>
                </a:cxn>
                <a:cxn ang="0">
                  <a:pos x="T4" y="T5"/>
                </a:cxn>
                <a:cxn ang="0">
                  <a:pos x="T6" y="T7"/>
                </a:cxn>
                <a:cxn ang="0">
                  <a:pos x="T8" y="T9"/>
                </a:cxn>
                <a:cxn ang="0">
                  <a:pos x="T10" y="T11"/>
                </a:cxn>
                <a:cxn ang="0">
                  <a:pos x="T12" y="T13"/>
                </a:cxn>
              </a:cxnLst>
              <a:rect l="0" t="0" r="r" b="b"/>
              <a:pathLst>
                <a:path w="102" h="6453">
                  <a:moveTo>
                    <a:pt x="102" y="0"/>
                  </a:moveTo>
                  <a:lnTo>
                    <a:pt x="50" y="0"/>
                  </a:lnTo>
                  <a:lnTo>
                    <a:pt x="0" y="0"/>
                  </a:lnTo>
                  <a:lnTo>
                    <a:pt x="0" y="6453"/>
                  </a:lnTo>
                  <a:lnTo>
                    <a:pt x="50" y="6453"/>
                  </a:lnTo>
                  <a:lnTo>
                    <a:pt x="102" y="6453"/>
                  </a:lnTo>
                  <a:lnTo>
                    <a:pt x="102"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80" name="未知"/>
            <p:cNvSpPr>
              <a:spLocks noChangeAspect="1"/>
            </p:cNvSpPr>
            <p:nvPr/>
          </p:nvSpPr>
          <p:spPr bwMode="auto">
            <a:xfrm>
              <a:off x="3425" y="1867"/>
              <a:ext cx="19" cy="7"/>
            </a:xfrm>
            <a:custGeom>
              <a:avLst/>
              <a:gdLst>
                <a:gd name="T0" fmla="*/ 50 w 102"/>
                <a:gd name="T1" fmla="*/ 0 h 51"/>
                <a:gd name="T2" fmla="*/ 102 w 102"/>
                <a:gd name="T3" fmla="*/ 0 h 51"/>
                <a:gd name="T4" fmla="*/ 100 w 102"/>
                <a:gd name="T5" fmla="*/ 11 h 51"/>
                <a:gd name="T6" fmla="*/ 96 w 102"/>
                <a:gd name="T7" fmla="*/ 22 h 51"/>
                <a:gd name="T8" fmla="*/ 90 w 102"/>
                <a:gd name="T9" fmla="*/ 31 h 51"/>
                <a:gd name="T10" fmla="*/ 82 w 102"/>
                <a:gd name="T11" fmla="*/ 39 h 51"/>
                <a:gd name="T12" fmla="*/ 73 w 102"/>
                <a:gd name="T13" fmla="*/ 45 h 51"/>
                <a:gd name="T14" fmla="*/ 61 w 102"/>
                <a:gd name="T15" fmla="*/ 49 h 51"/>
                <a:gd name="T16" fmla="*/ 50 w 102"/>
                <a:gd name="T17" fmla="*/ 51 h 51"/>
                <a:gd name="T18" fmla="*/ 39 w 102"/>
                <a:gd name="T19" fmla="*/ 49 h 51"/>
                <a:gd name="T20" fmla="*/ 28 w 102"/>
                <a:gd name="T21" fmla="*/ 45 h 51"/>
                <a:gd name="T22" fmla="*/ 19 w 102"/>
                <a:gd name="T23" fmla="*/ 39 h 51"/>
                <a:gd name="T24" fmla="*/ 11 w 102"/>
                <a:gd name="T25" fmla="*/ 31 h 51"/>
                <a:gd name="T26" fmla="*/ 5 w 102"/>
                <a:gd name="T27" fmla="*/ 22 h 51"/>
                <a:gd name="T28" fmla="*/ 1 w 102"/>
                <a:gd name="T29" fmla="*/ 11 h 51"/>
                <a:gd name="T30" fmla="*/ 0 w 102"/>
                <a:gd name="T31" fmla="*/ 0 h 51"/>
                <a:gd name="T32" fmla="*/ 50 w 102"/>
                <a:gd name="T33"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2" h="51">
                  <a:moveTo>
                    <a:pt x="50" y="0"/>
                  </a:moveTo>
                  <a:lnTo>
                    <a:pt x="102" y="0"/>
                  </a:lnTo>
                  <a:lnTo>
                    <a:pt x="100" y="11"/>
                  </a:lnTo>
                  <a:lnTo>
                    <a:pt x="96" y="22"/>
                  </a:lnTo>
                  <a:lnTo>
                    <a:pt x="90" y="31"/>
                  </a:lnTo>
                  <a:lnTo>
                    <a:pt x="82" y="39"/>
                  </a:lnTo>
                  <a:lnTo>
                    <a:pt x="73" y="45"/>
                  </a:lnTo>
                  <a:lnTo>
                    <a:pt x="61" y="49"/>
                  </a:lnTo>
                  <a:lnTo>
                    <a:pt x="50" y="51"/>
                  </a:lnTo>
                  <a:lnTo>
                    <a:pt x="39" y="49"/>
                  </a:lnTo>
                  <a:lnTo>
                    <a:pt x="28" y="45"/>
                  </a:lnTo>
                  <a:lnTo>
                    <a:pt x="19" y="39"/>
                  </a:lnTo>
                  <a:lnTo>
                    <a:pt x="11" y="31"/>
                  </a:lnTo>
                  <a:lnTo>
                    <a:pt x="5" y="22"/>
                  </a:lnTo>
                  <a:lnTo>
                    <a:pt x="1" y="11"/>
                  </a:lnTo>
                  <a:lnTo>
                    <a:pt x="0" y="0"/>
                  </a:lnTo>
                  <a:lnTo>
                    <a:pt x="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1" name="未知"/>
            <p:cNvSpPr>
              <a:spLocks noChangeAspect="1"/>
            </p:cNvSpPr>
            <p:nvPr/>
          </p:nvSpPr>
          <p:spPr bwMode="auto">
            <a:xfrm>
              <a:off x="3425" y="1867"/>
              <a:ext cx="19" cy="7"/>
            </a:xfrm>
            <a:custGeom>
              <a:avLst/>
              <a:gdLst>
                <a:gd name="T0" fmla="*/ 102 w 102"/>
                <a:gd name="T1" fmla="*/ 0 h 51"/>
                <a:gd name="T2" fmla="*/ 100 w 102"/>
                <a:gd name="T3" fmla="*/ 11 h 51"/>
                <a:gd name="T4" fmla="*/ 96 w 102"/>
                <a:gd name="T5" fmla="*/ 22 h 51"/>
                <a:gd name="T6" fmla="*/ 90 w 102"/>
                <a:gd name="T7" fmla="*/ 31 h 51"/>
                <a:gd name="T8" fmla="*/ 82 w 102"/>
                <a:gd name="T9" fmla="*/ 39 h 51"/>
                <a:gd name="T10" fmla="*/ 73 w 102"/>
                <a:gd name="T11" fmla="*/ 45 h 51"/>
                <a:gd name="T12" fmla="*/ 61 w 102"/>
                <a:gd name="T13" fmla="*/ 49 h 51"/>
                <a:gd name="T14" fmla="*/ 50 w 102"/>
                <a:gd name="T15" fmla="*/ 51 h 51"/>
                <a:gd name="T16" fmla="*/ 39 w 102"/>
                <a:gd name="T17" fmla="*/ 49 h 51"/>
                <a:gd name="T18" fmla="*/ 28 w 102"/>
                <a:gd name="T19" fmla="*/ 45 h 51"/>
                <a:gd name="T20" fmla="*/ 19 w 102"/>
                <a:gd name="T21" fmla="*/ 39 h 51"/>
                <a:gd name="T22" fmla="*/ 11 w 102"/>
                <a:gd name="T23" fmla="*/ 31 h 51"/>
                <a:gd name="T24" fmla="*/ 5 w 102"/>
                <a:gd name="T25" fmla="*/ 22 h 51"/>
                <a:gd name="T26" fmla="*/ 1 w 102"/>
                <a:gd name="T27" fmla="*/ 11 h 51"/>
                <a:gd name="T28" fmla="*/ 0 w 102"/>
                <a:gd name="T29"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2" h="51">
                  <a:moveTo>
                    <a:pt x="102" y="0"/>
                  </a:moveTo>
                  <a:lnTo>
                    <a:pt x="100" y="11"/>
                  </a:lnTo>
                  <a:lnTo>
                    <a:pt x="96" y="22"/>
                  </a:lnTo>
                  <a:lnTo>
                    <a:pt x="90" y="31"/>
                  </a:lnTo>
                  <a:lnTo>
                    <a:pt x="82" y="39"/>
                  </a:lnTo>
                  <a:lnTo>
                    <a:pt x="73" y="45"/>
                  </a:lnTo>
                  <a:lnTo>
                    <a:pt x="61" y="49"/>
                  </a:lnTo>
                  <a:lnTo>
                    <a:pt x="50" y="51"/>
                  </a:lnTo>
                  <a:lnTo>
                    <a:pt x="39" y="49"/>
                  </a:lnTo>
                  <a:lnTo>
                    <a:pt x="28" y="45"/>
                  </a:lnTo>
                  <a:lnTo>
                    <a:pt x="19" y="39"/>
                  </a:lnTo>
                  <a:lnTo>
                    <a:pt x="11" y="31"/>
                  </a:lnTo>
                  <a:lnTo>
                    <a:pt x="5" y="22"/>
                  </a:lnTo>
                  <a:lnTo>
                    <a:pt x="1" y="11"/>
                  </a:lnTo>
                  <a:lnTo>
                    <a:pt x="0"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82" name="未知"/>
            <p:cNvSpPr>
              <a:spLocks noChangeAspect="1"/>
            </p:cNvSpPr>
            <p:nvPr/>
          </p:nvSpPr>
          <p:spPr bwMode="auto">
            <a:xfrm>
              <a:off x="3640" y="881"/>
              <a:ext cx="19" cy="7"/>
            </a:xfrm>
            <a:custGeom>
              <a:avLst/>
              <a:gdLst>
                <a:gd name="T0" fmla="*/ 51 w 102"/>
                <a:gd name="T1" fmla="*/ 52 h 52"/>
                <a:gd name="T2" fmla="*/ 0 w 102"/>
                <a:gd name="T3" fmla="*/ 52 h 52"/>
                <a:gd name="T4" fmla="*/ 1 w 102"/>
                <a:gd name="T5" fmla="*/ 41 h 52"/>
                <a:gd name="T6" fmla="*/ 5 w 102"/>
                <a:gd name="T7" fmla="*/ 30 h 52"/>
                <a:gd name="T8" fmla="*/ 11 w 102"/>
                <a:gd name="T9" fmla="*/ 21 h 52"/>
                <a:gd name="T10" fmla="*/ 19 w 102"/>
                <a:gd name="T11" fmla="*/ 12 h 52"/>
                <a:gd name="T12" fmla="*/ 28 w 102"/>
                <a:gd name="T13" fmla="*/ 6 h 52"/>
                <a:gd name="T14" fmla="*/ 39 w 102"/>
                <a:gd name="T15" fmla="*/ 2 h 52"/>
                <a:gd name="T16" fmla="*/ 51 w 102"/>
                <a:gd name="T17" fmla="*/ 0 h 52"/>
                <a:gd name="T18" fmla="*/ 62 w 102"/>
                <a:gd name="T19" fmla="*/ 2 h 52"/>
                <a:gd name="T20" fmla="*/ 73 w 102"/>
                <a:gd name="T21" fmla="*/ 6 h 52"/>
                <a:gd name="T22" fmla="*/ 82 w 102"/>
                <a:gd name="T23" fmla="*/ 12 h 52"/>
                <a:gd name="T24" fmla="*/ 90 w 102"/>
                <a:gd name="T25" fmla="*/ 21 h 52"/>
                <a:gd name="T26" fmla="*/ 96 w 102"/>
                <a:gd name="T27" fmla="*/ 30 h 52"/>
                <a:gd name="T28" fmla="*/ 100 w 102"/>
                <a:gd name="T29" fmla="*/ 41 h 52"/>
                <a:gd name="T30" fmla="*/ 102 w 102"/>
                <a:gd name="T31" fmla="*/ 52 h 52"/>
                <a:gd name="T32" fmla="*/ 51 w 102"/>
                <a:gd name="T33"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2" h="52">
                  <a:moveTo>
                    <a:pt x="51" y="52"/>
                  </a:moveTo>
                  <a:lnTo>
                    <a:pt x="0" y="52"/>
                  </a:lnTo>
                  <a:lnTo>
                    <a:pt x="1" y="41"/>
                  </a:lnTo>
                  <a:lnTo>
                    <a:pt x="5" y="30"/>
                  </a:lnTo>
                  <a:lnTo>
                    <a:pt x="11" y="21"/>
                  </a:lnTo>
                  <a:lnTo>
                    <a:pt x="19" y="12"/>
                  </a:lnTo>
                  <a:lnTo>
                    <a:pt x="28" y="6"/>
                  </a:lnTo>
                  <a:lnTo>
                    <a:pt x="39" y="2"/>
                  </a:lnTo>
                  <a:lnTo>
                    <a:pt x="51" y="0"/>
                  </a:lnTo>
                  <a:lnTo>
                    <a:pt x="62" y="2"/>
                  </a:lnTo>
                  <a:lnTo>
                    <a:pt x="73" y="6"/>
                  </a:lnTo>
                  <a:lnTo>
                    <a:pt x="82" y="12"/>
                  </a:lnTo>
                  <a:lnTo>
                    <a:pt x="90" y="21"/>
                  </a:lnTo>
                  <a:lnTo>
                    <a:pt x="96" y="30"/>
                  </a:lnTo>
                  <a:lnTo>
                    <a:pt x="100" y="41"/>
                  </a:lnTo>
                  <a:lnTo>
                    <a:pt x="102" y="52"/>
                  </a:lnTo>
                  <a:lnTo>
                    <a:pt x="51"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3" name="未知"/>
            <p:cNvSpPr>
              <a:spLocks noChangeAspect="1"/>
            </p:cNvSpPr>
            <p:nvPr/>
          </p:nvSpPr>
          <p:spPr bwMode="auto">
            <a:xfrm>
              <a:off x="3640" y="881"/>
              <a:ext cx="19" cy="7"/>
            </a:xfrm>
            <a:custGeom>
              <a:avLst/>
              <a:gdLst>
                <a:gd name="T0" fmla="*/ 0 w 102"/>
                <a:gd name="T1" fmla="*/ 52 h 52"/>
                <a:gd name="T2" fmla="*/ 1 w 102"/>
                <a:gd name="T3" fmla="*/ 41 h 52"/>
                <a:gd name="T4" fmla="*/ 5 w 102"/>
                <a:gd name="T5" fmla="*/ 30 h 52"/>
                <a:gd name="T6" fmla="*/ 11 w 102"/>
                <a:gd name="T7" fmla="*/ 21 h 52"/>
                <a:gd name="T8" fmla="*/ 19 w 102"/>
                <a:gd name="T9" fmla="*/ 12 h 52"/>
                <a:gd name="T10" fmla="*/ 28 w 102"/>
                <a:gd name="T11" fmla="*/ 6 h 52"/>
                <a:gd name="T12" fmla="*/ 39 w 102"/>
                <a:gd name="T13" fmla="*/ 2 h 52"/>
                <a:gd name="T14" fmla="*/ 51 w 102"/>
                <a:gd name="T15" fmla="*/ 0 h 52"/>
                <a:gd name="T16" fmla="*/ 62 w 102"/>
                <a:gd name="T17" fmla="*/ 2 h 52"/>
                <a:gd name="T18" fmla="*/ 73 w 102"/>
                <a:gd name="T19" fmla="*/ 6 h 52"/>
                <a:gd name="T20" fmla="*/ 82 w 102"/>
                <a:gd name="T21" fmla="*/ 12 h 52"/>
                <a:gd name="T22" fmla="*/ 90 w 102"/>
                <a:gd name="T23" fmla="*/ 21 h 52"/>
                <a:gd name="T24" fmla="*/ 96 w 102"/>
                <a:gd name="T25" fmla="*/ 30 h 52"/>
                <a:gd name="T26" fmla="*/ 100 w 102"/>
                <a:gd name="T27" fmla="*/ 41 h 52"/>
                <a:gd name="T28" fmla="*/ 102 w 102"/>
                <a:gd name="T29"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2" h="52">
                  <a:moveTo>
                    <a:pt x="0" y="52"/>
                  </a:moveTo>
                  <a:lnTo>
                    <a:pt x="1" y="41"/>
                  </a:lnTo>
                  <a:lnTo>
                    <a:pt x="5" y="30"/>
                  </a:lnTo>
                  <a:lnTo>
                    <a:pt x="11" y="21"/>
                  </a:lnTo>
                  <a:lnTo>
                    <a:pt x="19" y="12"/>
                  </a:lnTo>
                  <a:lnTo>
                    <a:pt x="28" y="6"/>
                  </a:lnTo>
                  <a:lnTo>
                    <a:pt x="39" y="2"/>
                  </a:lnTo>
                  <a:lnTo>
                    <a:pt x="51" y="0"/>
                  </a:lnTo>
                  <a:lnTo>
                    <a:pt x="62" y="2"/>
                  </a:lnTo>
                  <a:lnTo>
                    <a:pt x="73" y="6"/>
                  </a:lnTo>
                  <a:lnTo>
                    <a:pt x="82" y="12"/>
                  </a:lnTo>
                  <a:lnTo>
                    <a:pt x="90" y="21"/>
                  </a:lnTo>
                  <a:lnTo>
                    <a:pt x="96" y="30"/>
                  </a:lnTo>
                  <a:lnTo>
                    <a:pt x="100" y="41"/>
                  </a:lnTo>
                  <a:lnTo>
                    <a:pt x="102" y="52"/>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84" name="未知"/>
            <p:cNvSpPr>
              <a:spLocks noChangeAspect="1"/>
            </p:cNvSpPr>
            <p:nvPr/>
          </p:nvSpPr>
          <p:spPr bwMode="auto">
            <a:xfrm>
              <a:off x="3640" y="888"/>
              <a:ext cx="19" cy="979"/>
            </a:xfrm>
            <a:custGeom>
              <a:avLst/>
              <a:gdLst>
                <a:gd name="T0" fmla="*/ 102 w 102"/>
                <a:gd name="T1" fmla="*/ 0 h 6453"/>
                <a:gd name="T2" fmla="*/ 51 w 102"/>
                <a:gd name="T3" fmla="*/ 0 h 6453"/>
                <a:gd name="T4" fmla="*/ 0 w 102"/>
                <a:gd name="T5" fmla="*/ 0 h 6453"/>
                <a:gd name="T6" fmla="*/ 0 w 102"/>
                <a:gd name="T7" fmla="*/ 6453 h 6453"/>
                <a:gd name="T8" fmla="*/ 51 w 102"/>
                <a:gd name="T9" fmla="*/ 6453 h 6453"/>
                <a:gd name="T10" fmla="*/ 102 w 102"/>
                <a:gd name="T11" fmla="*/ 6453 h 6453"/>
                <a:gd name="T12" fmla="*/ 102 w 102"/>
                <a:gd name="T13" fmla="*/ 0 h 6453"/>
              </a:gdLst>
              <a:ahLst/>
              <a:cxnLst>
                <a:cxn ang="0">
                  <a:pos x="T0" y="T1"/>
                </a:cxn>
                <a:cxn ang="0">
                  <a:pos x="T2" y="T3"/>
                </a:cxn>
                <a:cxn ang="0">
                  <a:pos x="T4" y="T5"/>
                </a:cxn>
                <a:cxn ang="0">
                  <a:pos x="T6" y="T7"/>
                </a:cxn>
                <a:cxn ang="0">
                  <a:pos x="T8" y="T9"/>
                </a:cxn>
                <a:cxn ang="0">
                  <a:pos x="T10" y="T11"/>
                </a:cxn>
                <a:cxn ang="0">
                  <a:pos x="T12" y="T13"/>
                </a:cxn>
              </a:cxnLst>
              <a:rect l="0" t="0" r="r" b="b"/>
              <a:pathLst>
                <a:path w="102" h="6453">
                  <a:moveTo>
                    <a:pt x="102" y="0"/>
                  </a:moveTo>
                  <a:lnTo>
                    <a:pt x="51" y="0"/>
                  </a:lnTo>
                  <a:lnTo>
                    <a:pt x="0" y="0"/>
                  </a:lnTo>
                  <a:lnTo>
                    <a:pt x="0" y="6453"/>
                  </a:lnTo>
                  <a:lnTo>
                    <a:pt x="51" y="6453"/>
                  </a:lnTo>
                  <a:lnTo>
                    <a:pt x="102" y="6453"/>
                  </a:lnTo>
                  <a:lnTo>
                    <a:pt x="10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5" name="未知"/>
            <p:cNvSpPr>
              <a:spLocks noChangeAspect="1"/>
            </p:cNvSpPr>
            <p:nvPr/>
          </p:nvSpPr>
          <p:spPr bwMode="auto">
            <a:xfrm>
              <a:off x="3640" y="888"/>
              <a:ext cx="19" cy="979"/>
            </a:xfrm>
            <a:custGeom>
              <a:avLst/>
              <a:gdLst>
                <a:gd name="T0" fmla="*/ 102 w 102"/>
                <a:gd name="T1" fmla="*/ 0 h 6453"/>
                <a:gd name="T2" fmla="*/ 51 w 102"/>
                <a:gd name="T3" fmla="*/ 0 h 6453"/>
                <a:gd name="T4" fmla="*/ 0 w 102"/>
                <a:gd name="T5" fmla="*/ 0 h 6453"/>
                <a:gd name="T6" fmla="*/ 0 w 102"/>
                <a:gd name="T7" fmla="*/ 6453 h 6453"/>
                <a:gd name="T8" fmla="*/ 51 w 102"/>
                <a:gd name="T9" fmla="*/ 6453 h 6453"/>
                <a:gd name="T10" fmla="*/ 102 w 102"/>
                <a:gd name="T11" fmla="*/ 6453 h 6453"/>
                <a:gd name="T12" fmla="*/ 102 w 102"/>
                <a:gd name="T13" fmla="*/ 0 h 6453"/>
              </a:gdLst>
              <a:ahLst/>
              <a:cxnLst>
                <a:cxn ang="0">
                  <a:pos x="T0" y="T1"/>
                </a:cxn>
                <a:cxn ang="0">
                  <a:pos x="T2" y="T3"/>
                </a:cxn>
                <a:cxn ang="0">
                  <a:pos x="T4" y="T5"/>
                </a:cxn>
                <a:cxn ang="0">
                  <a:pos x="T6" y="T7"/>
                </a:cxn>
                <a:cxn ang="0">
                  <a:pos x="T8" y="T9"/>
                </a:cxn>
                <a:cxn ang="0">
                  <a:pos x="T10" y="T11"/>
                </a:cxn>
                <a:cxn ang="0">
                  <a:pos x="T12" y="T13"/>
                </a:cxn>
              </a:cxnLst>
              <a:rect l="0" t="0" r="r" b="b"/>
              <a:pathLst>
                <a:path w="102" h="6453">
                  <a:moveTo>
                    <a:pt x="102" y="0"/>
                  </a:moveTo>
                  <a:lnTo>
                    <a:pt x="51" y="0"/>
                  </a:lnTo>
                  <a:lnTo>
                    <a:pt x="0" y="0"/>
                  </a:lnTo>
                  <a:lnTo>
                    <a:pt x="0" y="6453"/>
                  </a:lnTo>
                  <a:lnTo>
                    <a:pt x="51" y="6453"/>
                  </a:lnTo>
                  <a:lnTo>
                    <a:pt x="102" y="6453"/>
                  </a:lnTo>
                  <a:lnTo>
                    <a:pt x="102"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86" name="未知"/>
            <p:cNvSpPr>
              <a:spLocks noChangeAspect="1"/>
            </p:cNvSpPr>
            <p:nvPr/>
          </p:nvSpPr>
          <p:spPr bwMode="auto">
            <a:xfrm>
              <a:off x="3640" y="1867"/>
              <a:ext cx="19" cy="7"/>
            </a:xfrm>
            <a:custGeom>
              <a:avLst/>
              <a:gdLst>
                <a:gd name="T0" fmla="*/ 51 w 102"/>
                <a:gd name="T1" fmla="*/ 0 h 51"/>
                <a:gd name="T2" fmla="*/ 102 w 102"/>
                <a:gd name="T3" fmla="*/ 0 h 51"/>
                <a:gd name="T4" fmla="*/ 100 w 102"/>
                <a:gd name="T5" fmla="*/ 11 h 51"/>
                <a:gd name="T6" fmla="*/ 96 w 102"/>
                <a:gd name="T7" fmla="*/ 22 h 51"/>
                <a:gd name="T8" fmla="*/ 90 w 102"/>
                <a:gd name="T9" fmla="*/ 31 h 51"/>
                <a:gd name="T10" fmla="*/ 82 w 102"/>
                <a:gd name="T11" fmla="*/ 39 h 51"/>
                <a:gd name="T12" fmla="*/ 73 w 102"/>
                <a:gd name="T13" fmla="*/ 45 h 51"/>
                <a:gd name="T14" fmla="*/ 62 w 102"/>
                <a:gd name="T15" fmla="*/ 49 h 51"/>
                <a:gd name="T16" fmla="*/ 51 w 102"/>
                <a:gd name="T17" fmla="*/ 51 h 51"/>
                <a:gd name="T18" fmla="*/ 39 w 102"/>
                <a:gd name="T19" fmla="*/ 49 h 51"/>
                <a:gd name="T20" fmla="*/ 28 w 102"/>
                <a:gd name="T21" fmla="*/ 45 h 51"/>
                <a:gd name="T22" fmla="*/ 19 w 102"/>
                <a:gd name="T23" fmla="*/ 39 h 51"/>
                <a:gd name="T24" fmla="*/ 11 w 102"/>
                <a:gd name="T25" fmla="*/ 31 h 51"/>
                <a:gd name="T26" fmla="*/ 5 w 102"/>
                <a:gd name="T27" fmla="*/ 22 h 51"/>
                <a:gd name="T28" fmla="*/ 1 w 102"/>
                <a:gd name="T29" fmla="*/ 11 h 51"/>
                <a:gd name="T30" fmla="*/ 0 w 102"/>
                <a:gd name="T31" fmla="*/ 0 h 51"/>
                <a:gd name="T32" fmla="*/ 51 w 102"/>
                <a:gd name="T33"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2" h="51">
                  <a:moveTo>
                    <a:pt x="51" y="0"/>
                  </a:moveTo>
                  <a:lnTo>
                    <a:pt x="102" y="0"/>
                  </a:lnTo>
                  <a:lnTo>
                    <a:pt x="100" y="11"/>
                  </a:lnTo>
                  <a:lnTo>
                    <a:pt x="96" y="22"/>
                  </a:lnTo>
                  <a:lnTo>
                    <a:pt x="90" y="31"/>
                  </a:lnTo>
                  <a:lnTo>
                    <a:pt x="82" y="39"/>
                  </a:lnTo>
                  <a:lnTo>
                    <a:pt x="73" y="45"/>
                  </a:lnTo>
                  <a:lnTo>
                    <a:pt x="62" y="49"/>
                  </a:lnTo>
                  <a:lnTo>
                    <a:pt x="51" y="51"/>
                  </a:lnTo>
                  <a:lnTo>
                    <a:pt x="39" y="49"/>
                  </a:lnTo>
                  <a:lnTo>
                    <a:pt x="28" y="45"/>
                  </a:lnTo>
                  <a:lnTo>
                    <a:pt x="19" y="39"/>
                  </a:lnTo>
                  <a:lnTo>
                    <a:pt x="11" y="31"/>
                  </a:lnTo>
                  <a:lnTo>
                    <a:pt x="5" y="22"/>
                  </a:lnTo>
                  <a:lnTo>
                    <a:pt x="1" y="11"/>
                  </a:lnTo>
                  <a:lnTo>
                    <a:pt x="0" y="0"/>
                  </a:lnTo>
                  <a:lnTo>
                    <a:pt x="5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7" name="未知"/>
            <p:cNvSpPr>
              <a:spLocks noChangeAspect="1"/>
            </p:cNvSpPr>
            <p:nvPr/>
          </p:nvSpPr>
          <p:spPr bwMode="auto">
            <a:xfrm>
              <a:off x="3640" y="1867"/>
              <a:ext cx="19" cy="7"/>
            </a:xfrm>
            <a:custGeom>
              <a:avLst/>
              <a:gdLst>
                <a:gd name="T0" fmla="*/ 102 w 102"/>
                <a:gd name="T1" fmla="*/ 0 h 51"/>
                <a:gd name="T2" fmla="*/ 100 w 102"/>
                <a:gd name="T3" fmla="*/ 11 h 51"/>
                <a:gd name="T4" fmla="*/ 96 w 102"/>
                <a:gd name="T5" fmla="*/ 22 h 51"/>
                <a:gd name="T6" fmla="*/ 90 w 102"/>
                <a:gd name="T7" fmla="*/ 31 h 51"/>
                <a:gd name="T8" fmla="*/ 82 w 102"/>
                <a:gd name="T9" fmla="*/ 39 h 51"/>
                <a:gd name="T10" fmla="*/ 73 w 102"/>
                <a:gd name="T11" fmla="*/ 45 h 51"/>
                <a:gd name="T12" fmla="*/ 62 w 102"/>
                <a:gd name="T13" fmla="*/ 49 h 51"/>
                <a:gd name="T14" fmla="*/ 51 w 102"/>
                <a:gd name="T15" fmla="*/ 51 h 51"/>
                <a:gd name="T16" fmla="*/ 39 w 102"/>
                <a:gd name="T17" fmla="*/ 49 h 51"/>
                <a:gd name="T18" fmla="*/ 28 w 102"/>
                <a:gd name="T19" fmla="*/ 45 h 51"/>
                <a:gd name="T20" fmla="*/ 19 w 102"/>
                <a:gd name="T21" fmla="*/ 39 h 51"/>
                <a:gd name="T22" fmla="*/ 11 w 102"/>
                <a:gd name="T23" fmla="*/ 31 h 51"/>
                <a:gd name="T24" fmla="*/ 5 w 102"/>
                <a:gd name="T25" fmla="*/ 22 h 51"/>
                <a:gd name="T26" fmla="*/ 1 w 102"/>
                <a:gd name="T27" fmla="*/ 11 h 51"/>
                <a:gd name="T28" fmla="*/ 0 w 102"/>
                <a:gd name="T29"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2" h="51">
                  <a:moveTo>
                    <a:pt x="102" y="0"/>
                  </a:moveTo>
                  <a:lnTo>
                    <a:pt x="100" y="11"/>
                  </a:lnTo>
                  <a:lnTo>
                    <a:pt x="96" y="22"/>
                  </a:lnTo>
                  <a:lnTo>
                    <a:pt x="90" y="31"/>
                  </a:lnTo>
                  <a:lnTo>
                    <a:pt x="82" y="39"/>
                  </a:lnTo>
                  <a:lnTo>
                    <a:pt x="73" y="45"/>
                  </a:lnTo>
                  <a:lnTo>
                    <a:pt x="62" y="49"/>
                  </a:lnTo>
                  <a:lnTo>
                    <a:pt x="51" y="51"/>
                  </a:lnTo>
                  <a:lnTo>
                    <a:pt x="39" y="49"/>
                  </a:lnTo>
                  <a:lnTo>
                    <a:pt x="28" y="45"/>
                  </a:lnTo>
                  <a:lnTo>
                    <a:pt x="19" y="39"/>
                  </a:lnTo>
                  <a:lnTo>
                    <a:pt x="11" y="31"/>
                  </a:lnTo>
                  <a:lnTo>
                    <a:pt x="5" y="22"/>
                  </a:lnTo>
                  <a:lnTo>
                    <a:pt x="1" y="11"/>
                  </a:lnTo>
                  <a:lnTo>
                    <a:pt x="0"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88" name="Line 383"/>
            <p:cNvSpPr>
              <a:spLocks noChangeAspect="1" noChangeShapeType="1"/>
            </p:cNvSpPr>
            <p:nvPr/>
          </p:nvSpPr>
          <p:spPr bwMode="auto">
            <a:xfrm flipH="1" flipV="1">
              <a:off x="3091" y="516"/>
              <a:ext cx="40" cy="1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9" name="Line 384"/>
            <p:cNvSpPr>
              <a:spLocks noChangeAspect="1" noChangeShapeType="1"/>
            </p:cNvSpPr>
            <p:nvPr/>
          </p:nvSpPr>
          <p:spPr bwMode="auto">
            <a:xfrm flipH="1" flipV="1">
              <a:off x="3036" y="492"/>
              <a:ext cx="40" cy="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0" name="Line 385"/>
            <p:cNvSpPr>
              <a:spLocks noChangeAspect="1" noChangeShapeType="1"/>
            </p:cNvSpPr>
            <p:nvPr/>
          </p:nvSpPr>
          <p:spPr bwMode="auto">
            <a:xfrm flipH="1">
              <a:off x="3090" y="1511"/>
              <a:ext cx="42" cy="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1" name="Line 386"/>
            <p:cNvSpPr>
              <a:spLocks noChangeAspect="1" noChangeShapeType="1"/>
            </p:cNvSpPr>
            <p:nvPr/>
          </p:nvSpPr>
          <p:spPr bwMode="auto">
            <a:xfrm flipH="1">
              <a:off x="3032" y="1530"/>
              <a:ext cx="42" cy="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2" name="未知"/>
            <p:cNvSpPr>
              <a:spLocks noChangeAspect="1"/>
            </p:cNvSpPr>
            <p:nvPr/>
          </p:nvSpPr>
          <p:spPr bwMode="auto">
            <a:xfrm>
              <a:off x="3222" y="568"/>
              <a:ext cx="14" cy="14"/>
            </a:xfrm>
            <a:custGeom>
              <a:avLst/>
              <a:gdLst>
                <a:gd name="T0" fmla="*/ 23 w 74"/>
                <a:gd name="T1" fmla="*/ 45 h 96"/>
                <a:gd name="T2" fmla="*/ 47 w 74"/>
                <a:gd name="T3" fmla="*/ 0 h 96"/>
                <a:gd name="T4" fmla="*/ 57 w 74"/>
                <a:gd name="T5" fmla="*/ 6 h 96"/>
                <a:gd name="T6" fmla="*/ 64 w 74"/>
                <a:gd name="T7" fmla="*/ 15 h 96"/>
                <a:gd name="T8" fmla="*/ 70 w 74"/>
                <a:gd name="T9" fmla="*/ 24 h 96"/>
                <a:gd name="T10" fmla="*/ 74 w 74"/>
                <a:gd name="T11" fmla="*/ 35 h 96"/>
                <a:gd name="T12" fmla="*/ 74 w 74"/>
                <a:gd name="T13" fmla="*/ 46 h 96"/>
                <a:gd name="T14" fmla="*/ 73 w 74"/>
                <a:gd name="T15" fmla="*/ 59 h 96"/>
                <a:gd name="T16" fmla="*/ 69 w 74"/>
                <a:gd name="T17" fmla="*/ 69 h 96"/>
                <a:gd name="T18" fmla="*/ 63 w 74"/>
                <a:gd name="T19" fmla="*/ 79 h 96"/>
                <a:gd name="T20" fmla="*/ 54 w 74"/>
                <a:gd name="T21" fmla="*/ 86 h 96"/>
                <a:gd name="T22" fmla="*/ 45 w 74"/>
                <a:gd name="T23" fmla="*/ 92 h 96"/>
                <a:gd name="T24" fmla="*/ 34 w 74"/>
                <a:gd name="T25" fmla="*/ 96 h 96"/>
                <a:gd name="T26" fmla="*/ 22 w 74"/>
                <a:gd name="T27" fmla="*/ 96 h 96"/>
                <a:gd name="T28" fmla="*/ 10 w 74"/>
                <a:gd name="T29" fmla="*/ 95 h 96"/>
                <a:gd name="T30" fmla="*/ 0 w 74"/>
                <a:gd name="T31" fmla="*/ 91 h 96"/>
                <a:gd name="T32" fmla="*/ 23 w 74"/>
                <a:gd name="T33" fmla="*/ 45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4" h="96">
                  <a:moveTo>
                    <a:pt x="23" y="45"/>
                  </a:moveTo>
                  <a:lnTo>
                    <a:pt x="47" y="0"/>
                  </a:lnTo>
                  <a:lnTo>
                    <a:pt x="57" y="6"/>
                  </a:lnTo>
                  <a:lnTo>
                    <a:pt x="64" y="15"/>
                  </a:lnTo>
                  <a:lnTo>
                    <a:pt x="70" y="24"/>
                  </a:lnTo>
                  <a:lnTo>
                    <a:pt x="74" y="35"/>
                  </a:lnTo>
                  <a:lnTo>
                    <a:pt x="74" y="46"/>
                  </a:lnTo>
                  <a:lnTo>
                    <a:pt x="73" y="59"/>
                  </a:lnTo>
                  <a:lnTo>
                    <a:pt x="69" y="69"/>
                  </a:lnTo>
                  <a:lnTo>
                    <a:pt x="63" y="79"/>
                  </a:lnTo>
                  <a:lnTo>
                    <a:pt x="54" y="86"/>
                  </a:lnTo>
                  <a:lnTo>
                    <a:pt x="45" y="92"/>
                  </a:lnTo>
                  <a:lnTo>
                    <a:pt x="34" y="96"/>
                  </a:lnTo>
                  <a:lnTo>
                    <a:pt x="22" y="96"/>
                  </a:lnTo>
                  <a:lnTo>
                    <a:pt x="10" y="95"/>
                  </a:lnTo>
                  <a:lnTo>
                    <a:pt x="0" y="91"/>
                  </a:lnTo>
                  <a:lnTo>
                    <a:pt x="23" y="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3" name="未知"/>
            <p:cNvSpPr>
              <a:spLocks noChangeAspect="1"/>
            </p:cNvSpPr>
            <p:nvPr/>
          </p:nvSpPr>
          <p:spPr bwMode="auto">
            <a:xfrm>
              <a:off x="3222" y="568"/>
              <a:ext cx="14" cy="14"/>
            </a:xfrm>
            <a:custGeom>
              <a:avLst/>
              <a:gdLst>
                <a:gd name="T0" fmla="*/ 47 w 74"/>
                <a:gd name="T1" fmla="*/ 0 h 96"/>
                <a:gd name="T2" fmla="*/ 57 w 74"/>
                <a:gd name="T3" fmla="*/ 6 h 96"/>
                <a:gd name="T4" fmla="*/ 64 w 74"/>
                <a:gd name="T5" fmla="*/ 15 h 96"/>
                <a:gd name="T6" fmla="*/ 70 w 74"/>
                <a:gd name="T7" fmla="*/ 24 h 96"/>
                <a:gd name="T8" fmla="*/ 74 w 74"/>
                <a:gd name="T9" fmla="*/ 35 h 96"/>
                <a:gd name="T10" fmla="*/ 74 w 74"/>
                <a:gd name="T11" fmla="*/ 46 h 96"/>
                <a:gd name="T12" fmla="*/ 73 w 74"/>
                <a:gd name="T13" fmla="*/ 59 h 96"/>
                <a:gd name="T14" fmla="*/ 69 w 74"/>
                <a:gd name="T15" fmla="*/ 69 h 96"/>
                <a:gd name="T16" fmla="*/ 63 w 74"/>
                <a:gd name="T17" fmla="*/ 79 h 96"/>
                <a:gd name="T18" fmla="*/ 54 w 74"/>
                <a:gd name="T19" fmla="*/ 86 h 96"/>
                <a:gd name="T20" fmla="*/ 45 w 74"/>
                <a:gd name="T21" fmla="*/ 92 h 96"/>
                <a:gd name="T22" fmla="*/ 34 w 74"/>
                <a:gd name="T23" fmla="*/ 96 h 96"/>
                <a:gd name="T24" fmla="*/ 22 w 74"/>
                <a:gd name="T25" fmla="*/ 96 h 96"/>
                <a:gd name="T26" fmla="*/ 10 w 74"/>
                <a:gd name="T27" fmla="*/ 95 h 96"/>
                <a:gd name="T28" fmla="*/ 0 w 74"/>
                <a:gd name="T29" fmla="*/ 91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4" h="96">
                  <a:moveTo>
                    <a:pt x="47" y="0"/>
                  </a:moveTo>
                  <a:lnTo>
                    <a:pt x="57" y="6"/>
                  </a:lnTo>
                  <a:lnTo>
                    <a:pt x="64" y="15"/>
                  </a:lnTo>
                  <a:lnTo>
                    <a:pt x="70" y="24"/>
                  </a:lnTo>
                  <a:lnTo>
                    <a:pt x="74" y="35"/>
                  </a:lnTo>
                  <a:lnTo>
                    <a:pt x="74" y="46"/>
                  </a:lnTo>
                  <a:lnTo>
                    <a:pt x="73" y="59"/>
                  </a:lnTo>
                  <a:lnTo>
                    <a:pt x="69" y="69"/>
                  </a:lnTo>
                  <a:lnTo>
                    <a:pt x="63" y="79"/>
                  </a:lnTo>
                  <a:lnTo>
                    <a:pt x="54" y="86"/>
                  </a:lnTo>
                  <a:lnTo>
                    <a:pt x="45" y="92"/>
                  </a:lnTo>
                  <a:lnTo>
                    <a:pt x="34" y="96"/>
                  </a:lnTo>
                  <a:lnTo>
                    <a:pt x="22" y="96"/>
                  </a:lnTo>
                  <a:lnTo>
                    <a:pt x="10" y="95"/>
                  </a:lnTo>
                  <a:lnTo>
                    <a:pt x="0" y="91"/>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 name="未知"/>
            <p:cNvSpPr>
              <a:spLocks noChangeAspect="1"/>
            </p:cNvSpPr>
            <p:nvPr/>
          </p:nvSpPr>
          <p:spPr bwMode="auto">
            <a:xfrm>
              <a:off x="3128" y="527"/>
              <a:ext cx="104" cy="54"/>
            </a:xfrm>
            <a:custGeom>
              <a:avLst/>
              <a:gdLst>
                <a:gd name="T0" fmla="*/ 524 w 571"/>
                <a:gd name="T1" fmla="*/ 363 h 363"/>
                <a:gd name="T2" fmla="*/ 547 w 571"/>
                <a:gd name="T3" fmla="*/ 317 h 363"/>
                <a:gd name="T4" fmla="*/ 571 w 571"/>
                <a:gd name="T5" fmla="*/ 272 h 363"/>
                <a:gd name="T6" fmla="*/ 46 w 571"/>
                <a:gd name="T7" fmla="*/ 0 h 363"/>
                <a:gd name="T8" fmla="*/ 23 w 571"/>
                <a:gd name="T9" fmla="*/ 46 h 363"/>
                <a:gd name="T10" fmla="*/ 0 w 571"/>
                <a:gd name="T11" fmla="*/ 91 h 363"/>
                <a:gd name="T12" fmla="*/ 524 w 571"/>
                <a:gd name="T13" fmla="*/ 363 h 363"/>
              </a:gdLst>
              <a:ahLst/>
              <a:cxnLst>
                <a:cxn ang="0">
                  <a:pos x="T0" y="T1"/>
                </a:cxn>
                <a:cxn ang="0">
                  <a:pos x="T2" y="T3"/>
                </a:cxn>
                <a:cxn ang="0">
                  <a:pos x="T4" y="T5"/>
                </a:cxn>
                <a:cxn ang="0">
                  <a:pos x="T6" y="T7"/>
                </a:cxn>
                <a:cxn ang="0">
                  <a:pos x="T8" y="T9"/>
                </a:cxn>
                <a:cxn ang="0">
                  <a:pos x="T10" y="T11"/>
                </a:cxn>
                <a:cxn ang="0">
                  <a:pos x="T12" y="T13"/>
                </a:cxn>
              </a:cxnLst>
              <a:rect l="0" t="0" r="r" b="b"/>
              <a:pathLst>
                <a:path w="571" h="363">
                  <a:moveTo>
                    <a:pt x="524" y="363"/>
                  </a:moveTo>
                  <a:lnTo>
                    <a:pt x="547" y="317"/>
                  </a:lnTo>
                  <a:lnTo>
                    <a:pt x="571" y="272"/>
                  </a:lnTo>
                  <a:lnTo>
                    <a:pt x="46" y="0"/>
                  </a:lnTo>
                  <a:lnTo>
                    <a:pt x="23" y="46"/>
                  </a:lnTo>
                  <a:lnTo>
                    <a:pt x="0" y="91"/>
                  </a:lnTo>
                  <a:lnTo>
                    <a:pt x="524" y="3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5" name="未知"/>
            <p:cNvSpPr>
              <a:spLocks noChangeAspect="1"/>
            </p:cNvSpPr>
            <p:nvPr/>
          </p:nvSpPr>
          <p:spPr bwMode="auto">
            <a:xfrm>
              <a:off x="3128" y="527"/>
              <a:ext cx="104" cy="54"/>
            </a:xfrm>
            <a:custGeom>
              <a:avLst/>
              <a:gdLst>
                <a:gd name="T0" fmla="*/ 524 w 571"/>
                <a:gd name="T1" fmla="*/ 363 h 363"/>
                <a:gd name="T2" fmla="*/ 547 w 571"/>
                <a:gd name="T3" fmla="*/ 317 h 363"/>
                <a:gd name="T4" fmla="*/ 571 w 571"/>
                <a:gd name="T5" fmla="*/ 272 h 363"/>
                <a:gd name="T6" fmla="*/ 46 w 571"/>
                <a:gd name="T7" fmla="*/ 0 h 363"/>
                <a:gd name="T8" fmla="*/ 23 w 571"/>
                <a:gd name="T9" fmla="*/ 46 h 363"/>
                <a:gd name="T10" fmla="*/ 0 w 571"/>
                <a:gd name="T11" fmla="*/ 91 h 363"/>
                <a:gd name="T12" fmla="*/ 524 w 571"/>
                <a:gd name="T13" fmla="*/ 363 h 363"/>
              </a:gdLst>
              <a:ahLst/>
              <a:cxnLst>
                <a:cxn ang="0">
                  <a:pos x="T0" y="T1"/>
                </a:cxn>
                <a:cxn ang="0">
                  <a:pos x="T2" y="T3"/>
                </a:cxn>
                <a:cxn ang="0">
                  <a:pos x="T4" y="T5"/>
                </a:cxn>
                <a:cxn ang="0">
                  <a:pos x="T6" y="T7"/>
                </a:cxn>
                <a:cxn ang="0">
                  <a:pos x="T8" y="T9"/>
                </a:cxn>
                <a:cxn ang="0">
                  <a:pos x="T10" y="T11"/>
                </a:cxn>
                <a:cxn ang="0">
                  <a:pos x="T12" y="T13"/>
                </a:cxn>
              </a:cxnLst>
              <a:rect l="0" t="0" r="r" b="b"/>
              <a:pathLst>
                <a:path w="571" h="363">
                  <a:moveTo>
                    <a:pt x="524" y="363"/>
                  </a:moveTo>
                  <a:lnTo>
                    <a:pt x="547" y="317"/>
                  </a:lnTo>
                  <a:lnTo>
                    <a:pt x="571" y="272"/>
                  </a:lnTo>
                  <a:lnTo>
                    <a:pt x="46" y="0"/>
                  </a:lnTo>
                  <a:lnTo>
                    <a:pt x="23" y="46"/>
                  </a:lnTo>
                  <a:lnTo>
                    <a:pt x="0" y="91"/>
                  </a:lnTo>
                  <a:lnTo>
                    <a:pt x="524" y="363"/>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6" name="未知"/>
            <p:cNvSpPr>
              <a:spLocks noChangeAspect="1"/>
            </p:cNvSpPr>
            <p:nvPr/>
          </p:nvSpPr>
          <p:spPr bwMode="auto">
            <a:xfrm>
              <a:off x="3122" y="526"/>
              <a:ext cx="14" cy="14"/>
            </a:xfrm>
            <a:custGeom>
              <a:avLst/>
              <a:gdLst>
                <a:gd name="T0" fmla="*/ 50 w 73"/>
                <a:gd name="T1" fmla="*/ 51 h 96"/>
                <a:gd name="T2" fmla="*/ 27 w 73"/>
                <a:gd name="T3" fmla="*/ 96 h 96"/>
                <a:gd name="T4" fmla="*/ 17 w 73"/>
                <a:gd name="T5" fmla="*/ 90 h 96"/>
                <a:gd name="T6" fmla="*/ 10 w 73"/>
                <a:gd name="T7" fmla="*/ 81 h 96"/>
                <a:gd name="T8" fmla="*/ 4 w 73"/>
                <a:gd name="T9" fmla="*/ 72 h 96"/>
                <a:gd name="T10" fmla="*/ 0 w 73"/>
                <a:gd name="T11" fmla="*/ 61 h 96"/>
                <a:gd name="T12" fmla="*/ 0 w 73"/>
                <a:gd name="T13" fmla="*/ 50 h 96"/>
                <a:gd name="T14" fmla="*/ 1 w 73"/>
                <a:gd name="T15" fmla="*/ 38 h 96"/>
                <a:gd name="T16" fmla="*/ 5 w 73"/>
                <a:gd name="T17" fmla="*/ 27 h 96"/>
                <a:gd name="T18" fmla="*/ 11 w 73"/>
                <a:gd name="T19" fmla="*/ 17 h 96"/>
                <a:gd name="T20" fmla="*/ 20 w 73"/>
                <a:gd name="T21" fmla="*/ 10 h 96"/>
                <a:gd name="T22" fmla="*/ 29 w 73"/>
                <a:gd name="T23" fmla="*/ 4 h 96"/>
                <a:gd name="T24" fmla="*/ 40 w 73"/>
                <a:gd name="T25" fmla="*/ 0 h 96"/>
                <a:gd name="T26" fmla="*/ 51 w 73"/>
                <a:gd name="T27" fmla="*/ 0 h 96"/>
                <a:gd name="T28" fmla="*/ 63 w 73"/>
                <a:gd name="T29" fmla="*/ 1 h 96"/>
                <a:gd name="T30" fmla="*/ 73 w 73"/>
                <a:gd name="T31" fmla="*/ 5 h 96"/>
                <a:gd name="T32" fmla="*/ 50 w 73"/>
                <a:gd name="T33" fmla="*/ 51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3" h="96">
                  <a:moveTo>
                    <a:pt x="50" y="51"/>
                  </a:moveTo>
                  <a:lnTo>
                    <a:pt x="27" y="96"/>
                  </a:lnTo>
                  <a:lnTo>
                    <a:pt x="17" y="90"/>
                  </a:lnTo>
                  <a:lnTo>
                    <a:pt x="10" y="81"/>
                  </a:lnTo>
                  <a:lnTo>
                    <a:pt x="4" y="72"/>
                  </a:lnTo>
                  <a:lnTo>
                    <a:pt x="0" y="61"/>
                  </a:lnTo>
                  <a:lnTo>
                    <a:pt x="0" y="50"/>
                  </a:lnTo>
                  <a:lnTo>
                    <a:pt x="1" y="38"/>
                  </a:lnTo>
                  <a:lnTo>
                    <a:pt x="5" y="27"/>
                  </a:lnTo>
                  <a:lnTo>
                    <a:pt x="11" y="17"/>
                  </a:lnTo>
                  <a:lnTo>
                    <a:pt x="20" y="10"/>
                  </a:lnTo>
                  <a:lnTo>
                    <a:pt x="29" y="4"/>
                  </a:lnTo>
                  <a:lnTo>
                    <a:pt x="40" y="0"/>
                  </a:lnTo>
                  <a:lnTo>
                    <a:pt x="51" y="0"/>
                  </a:lnTo>
                  <a:lnTo>
                    <a:pt x="63" y="1"/>
                  </a:lnTo>
                  <a:lnTo>
                    <a:pt x="73" y="5"/>
                  </a:lnTo>
                  <a:lnTo>
                    <a:pt x="50" y="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7" name="未知"/>
            <p:cNvSpPr>
              <a:spLocks noChangeAspect="1"/>
            </p:cNvSpPr>
            <p:nvPr/>
          </p:nvSpPr>
          <p:spPr bwMode="auto">
            <a:xfrm>
              <a:off x="3122" y="526"/>
              <a:ext cx="14" cy="14"/>
            </a:xfrm>
            <a:custGeom>
              <a:avLst/>
              <a:gdLst>
                <a:gd name="T0" fmla="*/ 27 w 73"/>
                <a:gd name="T1" fmla="*/ 96 h 96"/>
                <a:gd name="T2" fmla="*/ 17 w 73"/>
                <a:gd name="T3" fmla="*/ 90 h 96"/>
                <a:gd name="T4" fmla="*/ 10 w 73"/>
                <a:gd name="T5" fmla="*/ 81 h 96"/>
                <a:gd name="T6" fmla="*/ 4 w 73"/>
                <a:gd name="T7" fmla="*/ 72 h 96"/>
                <a:gd name="T8" fmla="*/ 0 w 73"/>
                <a:gd name="T9" fmla="*/ 61 h 96"/>
                <a:gd name="T10" fmla="*/ 0 w 73"/>
                <a:gd name="T11" fmla="*/ 50 h 96"/>
                <a:gd name="T12" fmla="*/ 1 w 73"/>
                <a:gd name="T13" fmla="*/ 38 h 96"/>
                <a:gd name="T14" fmla="*/ 5 w 73"/>
                <a:gd name="T15" fmla="*/ 27 h 96"/>
                <a:gd name="T16" fmla="*/ 11 w 73"/>
                <a:gd name="T17" fmla="*/ 17 h 96"/>
                <a:gd name="T18" fmla="*/ 20 w 73"/>
                <a:gd name="T19" fmla="*/ 10 h 96"/>
                <a:gd name="T20" fmla="*/ 29 w 73"/>
                <a:gd name="T21" fmla="*/ 4 h 96"/>
                <a:gd name="T22" fmla="*/ 40 w 73"/>
                <a:gd name="T23" fmla="*/ 0 h 96"/>
                <a:gd name="T24" fmla="*/ 51 w 73"/>
                <a:gd name="T25" fmla="*/ 0 h 96"/>
                <a:gd name="T26" fmla="*/ 63 w 73"/>
                <a:gd name="T27" fmla="*/ 1 h 96"/>
                <a:gd name="T28" fmla="*/ 73 w 73"/>
                <a:gd name="T29" fmla="*/ 5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3" h="96">
                  <a:moveTo>
                    <a:pt x="27" y="96"/>
                  </a:moveTo>
                  <a:lnTo>
                    <a:pt x="17" y="90"/>
                  </a:lnTo>
                  <a:lnTo>
                    <a:pt x="10" y="81"/>
                  </a:lnTo>
                  <a:lnTo>
                    <a:pt x="4" y="72"/>
                  </a:lnTo>
                  <a:lnTo>
                    <a:pt x="0" y="61"/>
                  </a:lnTo>
                  <a:lnTo>
                    <a:pt x="0" y="50"/>
                  </a:lnTo>
                  <a:lnTo>
                    <a:pt x="1" y="38"/>
                  </a:lnTo>
                  <a:lnTo>
                    <a:pt x="5" y="27"/>
                  </a:lnTo>
                  <a:lnTo>
                    <a:pt x="11" y="17"/>
                  </a:lnTo>
                  <a:lnTo>
                    <a:pt x="20" y="10"/>
                  </a:lnTo>
                  <a:lnTo>
                    <a:pt x="29" y="4"/>
                  </a:lnTo>
                  <a:lnTo>
                    <a:pt x="40" y="0"/>
                  </a:lnTo>
                  <a:lnTo>
                    <a:pt x="51" y="0"/>
                  </a:lnTo>
                  <a:lnTo>
                    <a:pt x="63" y="1"/>
                  </a:lnTo>
                  <a:lnTo>
                    <a:pt x="73" y="5"/>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8" name="未知"/>
            <p:cNvSpPr>
              <a:spLocks noChangeAspect="1"/>
            </p:cNvSpPr>
            <p:nvPr/>
          </p:nvSpPr>
          <p:spPr bwMode="auto">
            <a:xfrm>
              <a:off x="3425" y="881"/>
              <a:ext cx="9" cy="15"/>
            </a:xfrm>
            <a:custGeom>
              <a:avLst/>
              <a:gdLst>
                <a:gd name="T0" fmla="*/ 50 w 50"/>
                <a:gd name="T1" fmla="*/ 52 h 103"/>
                <a:gd name="T2" fmla="*/ 50 w 50"/>
                <a:gd name="T3" fmla="*/ 103 h 103"/>
                <a:gd name="T4" fmla="*/ 39 w 50"/>
                <a:gd name="T5" fmla="*/ 102 h 103"/>
                <a:gd name="T6" fmla="*/ 28 w 50"/>
                <a:gd name="T7" fmla="*/ 98 h 103"/>
                <a:gd name="T8" fmla="*/ 19 w 50"/>
                <a:gd name="T9" fmla="*/ 91 h 103"/>
                <a:gd name="T10" fmla="*/ 11 w 50"/>
                <a:gd name="T11" fmla="*/ 83 h 103"/>
                <a:gd name="T12" fmla="*/ 5 w 50"/>
                <a:gd name="T13" fmla="*/ 74 h 103"/>
                <a:gd name="T14" fmla="*/ 1 w 50"/>
                <a:gd name="T15" fmla="*/ 63 h 103"/>
                <a:gd name="T16" fmla="*/ 0 w 50"/>
                <a:gd name="T17" fmla="*/ 52 h 103"/>
                <a:gd name="T18" fmla="*/ 1 w 50"/>
                <a:gd name="T19" fmla="*/ 41 h 103"/>
                <a:gd name="T20" fmla="*/ 5 w 50"/>
                <a:gd name="T21" fmla="*/ 30 h 103"/>
                <a:gd name="T22" fmla="*/ 11 w 50"/>
                <a:gd name="T23" fmla="*/ 21 h 103"/>
                <a:gd name="T24" fmla="*/ 19 w 50"/>
                <a:gd name="T25" fmla="*/ 12 h 103"/>
                <a:gd name="T26" fmla="*/ 28 w 50"/>
                <a:gd name="T27" fmla="*/ 6 h 103"/>
                <a:gd name="T28" fmla="*/ 39 w 50"/>
                <a:gd name="T29" fmla="*/ 2 h 103"/>
                <a:gd name="T30" fmla="*/ 50 w 50"/>
                <a:gd name="T31" fmla="*/ 0 h 103"/>
                <a:gd name="T32" fmla="*/ 50 w 50"/>
                <a:gd name="T33" fmla="*/ 52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0" h="103">
                  <a:moveTo>
                    <a:pt x="50" y="52"/>
                  </a:moveTo>
                  <a:lnTo>
                    <a:pt x="50" y="103"/>
                  </a:lnTo>
                  <a:lnTo>
                    <a:pt x="39" y="102"/>
                  </a:lnTo>
                  <a:lnTo>
                    <a:pt x="28" y="98"/>
                  </a:lnTo>
                  <a:lnTo>
                    <a:pt x="19" y="91"/>
                  </a:lnTo>
                  <a:lnTo>
                    <a:pt x="11" y="83"/>
                  </a:lnTo>
                  <a:lnTo>
                    <a:pt x="5" y="74"/>
                  </a:lnTo>
                  <a:lnTo>
                    <a:pt x="1" y="63"/>
                  </a:lnTo>
                  <a:lnTo>
                    <a:pt x="0" y="52"/>
                  </a:lnTo>
                  <a:lnTo>
                    <a:pt x="1" y="41"/>
                  </a:lnTo>
                  <a:lnTo>
                    <a:pt x="5" y="30"/>
                  </a:lnTo>
                  <a:lnTo>
                    <a:pt x="11" y="21"/>
                  </a:lnTo>
                  <a:lnTo>
                    <a:pt x="19" y="12"/>
                  </a:lnTo>
                  <a:lnTo>
                    <a:pt x="28" y="6"/>
                  </a:lnTo>
                  <a:lnTo>
                    <a:pt x="39" y="2"/>
                  </a:lnTo>
                  <a:lnTo>
                    <a:pt x="50" y="0"/>
                  </a:lnTo>
                  <a:lnTo>
                    <a:pt x="50"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9" name="未知"/>
            <p:cNvSpPr>
              <a:spLocks noChangeAspect="1"/>
            </p:cNvSpPr>
            <p:nvPr/>
          </p:nvSpPr>
          <p:spPr bwMode="auto">
            <a:xfrm>
              <a:off x="3425" y="881"/>
              <a:ext cx="9" cy="15"/>
            </a:xfrm>
            <a:custGeom>
              <a:avLst/>
              <a:gdLst>
                <a:gd name="T0" fmla="*/ 50 w 50"/>
                <a:gd name="T1" fmla="*/ 103 h 103"/>
                <a:gd name="T2" fmla="*/ 39 w 50"/>
                <a:gd name="T3" fmla="*/ 102 h 103"/>
                <a:gd name="T4" fmla="*/ 28 w 50"/>
                <a:gd name="T5" fmla="*/ 98 h 103"/>
                <a:gd name="T6" fmla="*/ 19 w 50"/>
                <a:gd name="T7" fmla="*/ 91 h 103"/>
                <a:gd name="T8" fmla="*/ 11 w 50"/>
                <a:gd name="T9" fmla="*/ 83 h 103"/>
                <a:gd name="T10" fmla="*/ 5 w 50"/>
                <a:gd name="T11" fmla="*/ 74 h 103"/>
                <a:gd name="T12" fmla="*/ 1 w 50"/>
                <a:gd name="T13" fmla="*/ 63 h 103"/>
                <a:gd name="T14" fmla="*/ 0 w 50"/>
                <a:gd name="T15" fmla="*/ 52 h 103"/>
                <a:gd name="T16" fmla="*/ 1 w 50"/>
                <a:gd name="T17" fmla="*/ 41 h 103"/>
                <a:gd name="T18" fmla="*/ 5 w 50"/>
                <a:gd name="T19" fmla="*/ 30 h 103"/>
                <a:gd name="T20" fmla="*/ 11 w 50"/>
                <a:gd name="T21" fmla="*/ 21 h 103"/>
                <a:gd name="T22" fmla="*/ 19 w 50"/>
                <a:gd name="T23" fmla="*/ 12 h 103"/>
                <a:gd name="T24" fmla="*/ 28 w 50"/>
                <a:gd name="T25" fmla="*/ 6 h 103"/>
                <a:gd name="T26" fmla="*/ 39 w 50"/>
                <a:gd name="T27" fmla="*/ 2 h 103"/>
                <a:gd name="T28" fmla="*/ 50 w 50"/>
                <a:gd name="T29"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0" h="103">
                  <a:moveTo>
                    <a:pt x="50" y="103"/>
                  </a:moveTo>
                  <a:lnTo>
                    <a:pt x="39" y="102"/>
                  </a:lnTo>
                  <a:lnTo>
                    <a:pt x="28" y="98"/>
                  </a:lnTo>
                  <a:lnTo>
                    <a:pt x="19" y="91"/>
                  </a:lnTo>
                  <a:lnTo>
                    <a:pt x="11" y="83"/>
                  </a:lnTo>
                  <a:lnTo>
                    <a:pt x="5" y="74"/>
                  </a:lnTo>
                  <a:lnTo>
                    <a:pt x="1" y="63"/>
                  </a:lnTo>
                  <a:lnTo>
                    <a:pt x="0" y="52"/>
                  </a:lnTo>
                  <a:lnTo>
                    <a:pt x="1" y="41"/>
                  </a:lnTo>
                  <a:lnTo>
                    <a:pt x="5" y="30"/>
                  </a:lnTo>
                  <a:lnTo>
                    <a:pt x="11" y="21"/>
                  </a:lnTo>
                  <a:lnTo>
                    <a:pt x="19" y="12"/>
                  </a:lnTo>
                  <a:lnTo>
                    <a:pt x="28" y="6"/>
                  </a:lnTo>
                  <a:lnTo>
                    <a:pt x="39" y="2"/>
                  </a:lnTo>
                  <a:lnTo>
                    <a:pt x="50"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0" name="未知"/>
            <p:cNvSpPr>
              <a:spLocks noChangeAspect="1"/>
            </p:cNvSpPr>
            <p:nvPr/>
          </p:nvSpPr>
          <p:spPr bwMode="auto">
            <a:xfrm>
              <a:off x="3434" y="881"/>
              <a:ext cx="216" cy="15"/>
            </a:xfrm>
            <a:custGeom>
              <a:avLst/>
              <a:gdLst>
                <a:gd name="T0" fmla="*/ 0 w 1182"/>
                <a:gd name="T1" fmla="*/ 0 h 103"/>
                <a:gd name="T2" fmla="*/ 0 w 1182"/>
                <a:gd name="T3" fmla="*/ 52 h 103"/>
                <a:gd name="T4" fmla="*/ 0 w 1182"/>
                <a:gd name="T5" fmla="*/ 103 h 103"/>
                <a:gd name="T6" fmla="*/ 1182 w 1182"/>
                <a:gd name="T7" fmla="*/ 103 h 103"/>
                <a:gd name="T8" fmla="*/ 1182 w 1182"/>
                <a:gd name="T9" fmla="*/ 52 h 103"/>
                <a:gd name="T10" fmla="*/ 1182 w 1182"/>
                <a:gd name="T11" fmla="*/ 0 h 103"/>
                <a:gd name="T12" fmla="*/ 0 w 1182"/>
                <a:gd name="T13" fmla="*/ 0 h 103"/>
              </a:gdLst>
              <a:ahLst/>
              <a:cxnLst>
                <a:cxn ang="0">
                  <a:pos x="T0" y="T1"/>
                </a:cxn>
                <a:cxn ang="0">
                  <a:pos x="T2" y="T3"/>
                </a:cxn>
                <a:cxn ang="0">
                  <a:pos x="T4" y="T5"/>
                </a:cxn>
                <a:cxn ang="0">
                  <a:pos x="T6" y="T7"/>
                </a:cxn>
                <a:cxn ang="0">
                  <a:pos x="T8" y="T9"/>
                </a:cxn>
                <a:cxn ang="0">
                  <a:pos x="T10" y="T11"/>
                </a:cxn>
                <a:cxn ang="0">
                  <a:pos x="T12" y="T13"/>
                </a:cxn>
              </a:cxnLst>
              <a:rect l="0" t="0" r="r" b="b"/>
              <a:pathLst>
                <a:path w="1182" h="103">
                  <a:moveTo>
                    <a:pt x="0" y="0"/>
                  </a:moveTo>
                  <a:lnTo>
                    <a:pt x="0" y="52"/>
                  </a:lnTo>
                  <a:lnTo>
                    <a:pt x="0" y="103"/>
                  </a:lnTo>
                  <a:lnTo>
                    <a:pt x="1182" y="103"/>
                  </a:lnTo>
                  <a:lnTo>
                    <a:pt x="1182" y="52"/>
                  </a:lnTo>
                  <a:lnTo>
                    <a:pt x="118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1" name="未知"/>
            <p:cNvSpPr>
              <a:spLocks noChangeAspect="1"/>
            </p:cNvSpPr>
            <p:nvPr/>
          </p:nvSpPr>
          <p:spPr bwMode="auto">
            <a:xfrm>
              <a:off x="3434" y="881"/>
              <a:ext cx="216" cy="15"/>
            </a:xfrm>
            <a:custGeom>
              <a:avLst/>
              <a:gdLst>
                <a:gd name="T0" fmla="*/ 0 w 1182"/>
                <a:gd name="T1" fmla="*/ 0 h 103"/>
                <a:gd name="T2" fmla="*/ 0 w 1182"/>
                <a:gd name="T3" fmla="*/ 52 h 103"/>
                <a:gd name="T4" fmla="*/ 0 w 1182"/>
                <a:gd name="T5" fmla="*/ 103 h 103"/>
                <a:gd name="T6" fmla="*/ 1182 w 1182"/>
                <a:gd name="T7" fmla="*/ 103 h 103"/>
                <a:gd name="T8" fmla="*/ 1182 w 1182"/>
                <a:gd name="T9" fmla="*/ 52 h 103"/>
                <a:gd name="T10" fmla="*/ 1182 w 1182"/>
                <a:gd name="T11" fmla="*/ 0 h 103"/>
                <a:gd name="T12" fmla="*/ 0 w 1182"/>
                <a:gd name="T13" fmla="*/ 0 h 103"/>
              </a:gdLst>
              <a:ahLst/>
              <a:cxnLst>
                <a:cxn ang="0">
                  <a:pos x="T0" y="T1"/>
                </a:cxn>
                <a:cxn ang="0">
                  <a:pos x="T2" y="T3"/>
                </a:cxn>
                <a:cxn ang="0">
                  <a:pos x="T4" y="T5"/>
                </a:cxn>
                <a:cxn ang="0">
                  <a:pos x="T6" y="T7"/>
                </a:cxn>
                <a:cxn ang="0">
                  <a:pos x="T8" y="T9"/>
                </a:cxn>
                <a:cxn ang="0">
                  <a:pos x="T10" y="T11"/>
                </a:cxn>
                <a:cxn ang="0">
                  <a:pos x="T12" y="T13"/>
                </a:cxn>
              </a:cxnLst>
              <a:rect l="0" t="0" r="r" b="b"/>
              <a:pathLst>
                <a:path w="1182" h="103">
                  <a:moveTo>
                    <a:pt x="0" y="0"/>
                  </a:moveTo>
                  <a:lnTo>
                    <a:pt x="0" y="52"/>
                  </a:lnTo>
                  <a:lnTo>
                    <a:pt x="0" y="103"/>
                  </a:lnTo>
                  <a:lnTo>
                    <a:pt x="1182" y="103"/>
                  </a:lnTo>
                  <a:lnTo>
                    <a:pt x="1182" y="52"/>
                  </a:lnTo>
                  <a:lnTo>
                    <a:pt x="1182" y="0"/>
                  </a:lnTo>
                  <a:lnTo>
                    <a:pt x="0"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2" name="未知"/>
            <p:cNvSpPr>
              <a:spLocks noChangeAspect="1"/>
            </p:cNvSpPr>
            <p:nvPr/>
          </p:nvSpPr>
          <p:spPr bwMode="auto">
            <a:xfrm>
              <a:off x="3650" y="881"/>
              <a:ext cx="9" cy="15"/>
            </a:xfrm>
            <a:custGeom>
              <a:avLst/>
              <a:gdLst>
                <a:gd name="T0" fmla="*/ 0 w 51"/>
                <a:gd name="T1" fmla="*/ 52 h 103"/>
                <a:gd name="T2" fmla="*/ 0 w 51"/>
                <a:gd name="T3" fmla="*/ 0 h 103"/>
                <a:gd name="T4" fmla="*/ 11 w 51"/>
                <a:gd name="T5" fmla="*/ 2 h 103"/>
                <a:gd name="T6" fmla="*/ 22 w 51"/>
                <a:gd name="T7" fmla="*/ 6 h 103"/>
                <a:gd name="T8" fmla="*/ 31 w 51"/>
                <a:gd name="T9" fmla="*/ 12 h 103"/>
                <a:gd name="T10" fmla="*/ 39 w 51"/>
                <a:gd name="T11" fmla="*/ 21 h 103"/>
                <a:gd name="T12" fmla="*/ 45 w 51"/>
                <a:gd name="T13" fmla="*/ 30 h 103"/>
                <a:gd name="T14" fmla="*/ 49 w 51"/>
                <a:gd name="T15" fmla="*/ 41 h 103"/>
                <a:gd name="T16" fmla="*/ 51 w 51"/>
                <a:gd name="T17" fmla="*/ 52 h 103"/>
                <a:gd name="T18" fmla="*/ 49 w 51"/>
                <a:gd name="T19" fmla="*/ 63 h 103"/>
                <a:gd name="T20" fmla="*/ 45 w 51"/>
                <a:gd name="T21" fmla="*/ 74 h 103"/>
                <a:gd name="T22" fmla="*/ 39 w 51"/>
                <a:gd name="T23" fmla="*/ 83 h 103"/>
                <a:gd name="T24" fmla="*/ 31 w 51"/>
                <a:gd name="T25" fmla="*/ 91 h 103"/>
                <a:gd name="T26" fmla="*/ 22 w 51"/>
                <a:gd name="T27" fmla="*/ 98 h 103"/>
                <a:gd name="T28" fmla="*/ 11 w 51"/>
                <a:gd name="T29" fmla="*/ 102 h 103"/>
                <a:gd name="T30" fmla="*/ 0 w 51"/>
                <a:gd name="T31" fmla="*/ 103 h 103"/>
                <a:gd name="T32" fmla="*/ 0 w 51"/>
                <a:gd name="T33" fmla="*/ 52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1" h="103">
                  <a:moveTo>
                    <a:pt x="0" y="52"/>
                  </a:moveTo>
                  <a:lnTo>
                    <a:pt x="0" y="0"/>
                  </a:lnTo>
                  <a:lnTo>
                    <a:pt x="11" y="2"/>
                  </a:lnTo>
                  <a:lnTo>
                    <a:pt x="22" y="6"/>
                  </a:lnTo>
                  <a:lnTo>
                    <a:pt x="31" y="12"/>
                  </a:lnTo>
                  <a:lnTo>
                    <a:pt x="39" y="21"/>
                  </a:lnTo>
                  <a:lnTo>
                    <a:pt x="45" y="30"/>
                  </a:lnTo>
                  <a:lnTo>
                    <a:pt x="49" y="41"/>
                  </a:lnTo>
                  <a:lnTo>
                    <a:pt x="51" y="52"/>
                  </a:lnTo>
                  <a:lnTo>
                    <a:pt x="49" y="63"/>
                  </a:lnTo>
                  <a:lnTo>
                    <a:pt x="45" y="74"/>
                  </a:lnTo>
                  <a:lnTo>
                    <a:pt x="39" y="83"/>
                  </a:lnTo>
                  <a:lnTo>
                    <a:pt x="31" y="91"/>
                  </a:lnTo>
                  <a:lnTo>
                    <a:pt x="22" y="98"/>
                  </a:lnTo>
                  <a:lnTo>
                    <a:pt x="11" y="102"/>
                  </a:lnTo>
                  <a:lnTo>
                    <a:pt x="0" y="103"/>
                  </a:lnTo>
                  <a:lnTo>
                    <a:pt x="0"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3" name="未知"/>
            <p:cNvSpPr>
              <a:spLocks noChangeAspect="1"/>
            </p:cNvSpPr>
            <p:nvPr/>
          </p:nvSpPr>
          <p:spPr bwMode="auto">
            <a:xfrm>
              <a:off x="3650" y="881"/>
              <a:ext cx="9" cy="15"/>
            </a:xfrm>
            <a:custGeom>
              <a:avLst/>
              <a:gdLst>
                <a:gd name="T0" fmla="*/ 0 w 51"/>
                <a:gd name="T1" fmla="*/ 0 h 103"/>
                <a:gd name="T2" fmla="*/ 11 w 51"/>
                <a:gd name="T3" fmla="*/ 2 h 103"/>
                <a:gd name="T4" fmla="*/ 22 w 51"/>
                <a:gd name="T5" fmla="*/ 6 h 103"/>
                <a:gd name="T6" fmla="*/ 31 w 51"/>
                <a:gd name="T7" fmla="*/ 12 h 103"/>
                <a:gd name="T8" fmla="*/ 39 w 51"/>
                <a:gd name="T9" fmla="*/ 21 h 103"/>
                <a:gd name="T10" fmla="*/ 45 w 51"/>
                <a:gd name="T11" fmla="*/ 30 h 103"/>
                <a:gd name="T12" fmla="*/ 49 w 51"/>
                <a:gd name="T13" fmla="*/ 41 h 103"/>
                <a:gd name="T14" fmla="*/ 51 w 51"/>
                <a:gd name="T15" fmla="*/ 52 h 103"/>
                <a:gd name="T16" fmla="*/ 49 w 51"/>
                <a:gd name="T17" fmla="*/ 63 h 103"/>
                <a:gd name="T18" fmla="*/ 45 w 51"/>
                <a:gd name="T19" fmla="*/ 74 h 103"/>
                <a:gd name="T20" fmla="*/ 39 w 51"/>
                <a:gd name="T21" fmla="*/ 83 h 103"/>
                <a:gd name="T22" fmla="*/ 31 w 51"/>
                <a:gd name="T23" fmla="*/ 91 h 103"/>
                <a:gd name="T24" fmla="*/ 22 w 51"/>
                <a:gd name="T25" fmla="*/ 98 h 103"/>
                <a:gd name="T26" fmla="*/ 11 w 51"/>
                <a:gd name="T27" fmla="*/ 102 h 103"/>
                <a:gd name="T28" fmla="*/ 0 w 51"/>
                <a:gd name="T29" fmla="*/ 10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1" h="103">
                  <a:moveTo>
                    <a:pt x="0" y="0"/>
                  </a:moveTo>
                  <a:lnTo>
                    <a:pt x="11" y="2"/>
                  </a:lnTo>
                  <a:lnTo>
                    <a:pt x="22" y="6"/>
                  </a:lnTo>
                  <a:lnTo>
                    <a:pt x="31" y="12"/>
                  </a:lnTo>
                  <a:lnTo>
                    <a:pt x="39" y="21"/>
                  </a:lnTo>
                  <a:lnTo>
                    <a:pt x="45" y="30"/>
                  </a:lnTo>
                  <a:lnTo>
                    <a:pt x="49" y="41"/>
                  </a:lnTo>
                  <a:lnTo>
                    <a:pt x="51" y="52"/>
                  </a:lnTo>
                  <a:lnTo>
                    <a:pt x="49" y="63"/>
                  </a:lnTo>
                  <a:lnTo>
                    <a:pt x="45" y="74"/>
                  </a:lnTo>
                  <a:lnTo>
                    <a:pt x="39" y="83"/>
                  </a:lnTo>
                  <a:lnTo>
                    <a:pt x="31" y="91"/>
                  </a:lnTo>
                  <a:lnTo>
                    <a:pt x="22" y="98"/>
                  </a:lnTo>
                  <a:lnTo>
                    <a:pt x="11" y="102"/>
                  </a:lnTo>
                  <a:lnTo>
                    <a:pt x="0" y="103"/>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4" name="未知"/>
            <p:cNvSpPr>
              <a:spLocks noChangeAspect="1"/>
            </p:cNvSpPr>
            <p:nvPr/>
          </p:nvSpPr>
          <p:spPr bwMode="auto">
            <a:xfrm>
              <a:off x="3425" y="1859"/>
              <a:ext cx="9" cy="15"/>
            </a:xfrm>
            <a:custGeom>
              <a:avLst/>
              <a:gdLst>
                <a:gd name="T0" fmla="*/ 50 w 50"/>
                <a:gd name="T1" fmla="*/ 52 h 103"/>
                <a:gd name="T2" fmla="*/ 50 w 50"/>
                <a:gd name="T3" fmla="*/ 103 h 103"/>
                <a:gd name="T4" fmla="*/ 39 w 50"/>
                <a:gd name="T5" fmla="*/ 101 h 103"/>
                <a:gd name="T6" fmla="*/ 28 w 50"/>
                <a:gd name="T7" fmla="*/ 97 h 103"/>
                <a:gd name="T8" fmla="*/ 19 w 50"/>
                <a:gd name="T9" fmla="*/ 91 h 103"/>
                <a:gd name="T10" fmla="*/ 11 w 50"/>
                <a:gd name="T11" fmla="*/ 83 h 103"/>
                <a:gd name="T12" fmla="*/ 5 w 50"/>
                <a:gd name="T13" fmla="*/ 74 h 103"/>
                <a:gd name="T14" fmla="*/ 1 w 50"/>
                <a:gd name="T15" fmla="*/ 63 h 103"/>
                <a:gd name="T16" fmla="*/ 0 w 50"/>
                <a:gd name="T17" fmla="*/ 52 h 103"/>
                <a:gd name="T18" fmla="*/ 1 w 50"/>
                <a:gd name="T19" fmla="*/ 41 h 103"/>
                <a:gd name="T20" fmla="*/ 5 w 50"/>
                <a:gd name="T21" fmla="*/ 30 h 103"/>
                <a:gd name="T22" fmla="*/ 11 w 50"/>
                <a:gd name="T23" fmla="*/ 20 h 103"/>
                <a:gd name="T24" fmla="*/ 19 w 50"/>
                <a:gd name="T25" fmla="*/ 12 h 103"/>
                <a:gd name="T26" fmla="*/ 28 w 50"/>
                <a:gd name="T27" fmla="*/ 6 h 103"/>
                <a:gd name="T28" fmla="*/ 39 w 50"/>
                <a:gd name="T29" fmla="*/ 2 h 103"/>
                <a:gd name="T30" fmla="*/ 50 w 50"/>
                <a:gd name="T31" fmla="*/ 0 h 103"/>
                <a:gd name="T32" fmla="*/ 50 w 50"/>
                <a:gd name="T33" fmla="*/ 52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0" h="103">
                  <a:moveTo>
                    <a:pt x="50" y="52"/>
                  </a:moveTo>
                  <a:lnTo>
                    <a:pt x="50" y="103"/>
                  </a:lnTo>
                  <a:lnTo>
                    <a:pt x="39" y="101"/>
                  </a:lnTo>
                  <a:lnTo>
                    <a:pt x="28" y="97"/>
                  </a:lnTo>
                  <a:lnTo>
                    <a:pt x="19" y="91"/>
                  </a:lnTo>
                  <a:lnTo>
                    <a:pt x="11" y="83"/>
                  </a:lnTo>
                  <a:lnTo>
                    <a:pt x="5" y="74"/>
                  </a:lnTo>
                  <a:lnTo>
                    <a:pt x="1" y="63"/>
                  </a:lnTo>
                  <a:lnTo>
                    <a:pt x="0" y="52"/>
                  </a:lnTo>
                  <a:lnTo>
                    <a:pt x="1" y="41"/>
                  </a:lnTo>
                  <a:lnTo>
                    <a:pt x="5" y="30"/>
                  </a:lnTo>
                  <a:lnTo>
                    <a:pt x="11" y="20"/>
                  </a:lnTo>
                  <a:lnTo>
                    <a:pt x="19" y="12"/>
                  </a:lnTo>
                  <a:lnTo>
                    <a:pt x="28" y="6"/>
                  </a:lnTo>
                  <a:lnTo>
                    <a:pt x="39" y="2"/>
                  </a:lnTo>
                  <a:lnTo>
                    <a:pt x="50" y="0"/>
                  </a:lnTo>
                  <a:lnTo>
                    <a:pt x="50"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5" name="未知"/>
            <p:cNvSpPr>
              <a:spLocks noChangeAspect="1"/>
            </p:cNvSpPr>
            <p:nvPr/>
          </p:nvSpPr>
          <p:spPr bwMode="auto">
            <a:xfrm>
              <a:off x="3425" y="1859"/>
              <a:ext cx="9" cy="15"/>
            </a:xfrm>
            <a:custGeom>
              <a:avLst/>
              <a:gdLst>
                <a:gd name="T0" fmla="*/ 50 w 50"/>
                <a:gd name="T1" fmla="*/ 103 h 103"/>
                <a:gd name="T2" fmla="*/ 39 w 50"/>
                <a:gd name="T3" fmla="*/ 101 h 103"/>
                <a:gd name="T4" fmla="*/ 28 w 50"/>
                <a:gd name="T5" fmla="*/ 97 h 103"/>
                <a:gd name="T6" fmla="*/ 19 w 50"/>
                <a:gd name="T7" fmla="*/ 91 h 103"/>
                <a:gd name="T8" fmla="*/ 11 w 50"/>
                <a:gd name="T9" fmla="*/ 83 h 103"/>
                <a:gd name="T10" fmla="*/ 5 w 50"/>
                <a:gd name="T11" fmla="*/ 74 h 103"/>
                <a:gd name="T12" fmla="*/ 1 w 50"/>
                <a:gd name="T13" fmla="*/ 63 h 103"/>
                <a:gd name="T14" fmla="*/ 0 w 50"/>
                <a:gd name="T15" fmla="*/ 52 h 103"/>
                <a:gd name="T16" fmla="*/ 1 w 50"/>
                <a:gd name="T17" fmla="*/ 41 h 103"/>
                <a:gd name="T18" fmla="*/ 5 w 50"/>
                <a:gd name="T19" fmla="*/ 30 h 103"/>
                <a:gd name="T20" fmla="*/ 11 w 50"/>
                <a:gd name="T21" fmla="*/ 20 h 103"/>
                <a:gd name="T22" fmla="*/ 19 w 50"/>
                <a:gd name="T23" fmla="*/ 12 h 103"/>
                <a:gd name="T24" fmla="*/ 28 w 50"/>
                <a:gd name="T25" fmla="*/ 6 h 103"/>
                <a:gd name="T26" fmla="*/ 39 w 50"/>
                <a:gd name="T27" fmla="*/ 2 h 103"/>
                <a:gd name="T28" fmla="*/ 50 w 50"/>
                <a:gd name="T29"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0" h="103">
                  <a:moveTo>
                    <a:pt x="50" y="103"/>
                  </a:moveTo>
                  <a:lnTo>
                    <a:pt x="39" y="101"/>
                  </a:lnTo>
                  <a:lnTo>
                    <a:pt x="28" y="97"/>
                  </a:lnTo>
                  <a:lnTo>
                    <a:pt x="19" y="91"/>
                  </a:lnTo>
                  <a:lnTo>
                    <a:pt x="11" y="83"/>
                  </a:lnTo>
                  <a:lnTo>
                    <a:pt x="5" y="74"/>
                  </a:lnTo>
                  <a:lnTo>
                    <a:pt x="1" y="63"/>
                  </a:lnTo>
                  <a:lnTo>
                    <a:pt x="0" y="52"/>
                  </a:lnTo>
                  <a:lnTo>
                    <a:pt x="1" y="41"/>
                  </a:lnTo>
                  <a:lnTo>
                    <a:pt x="5" y="30"/>
                  </a:lnTo>
                  <a:lnTo>
                    <a:pt x="11" y="20"/>
                  </a:lnTo>
                  <a:lnTo>
                    <a:pt x="19" y="12"/>
                  </a:lnTo>
                  <a:lnTo>
                    <a:pt x="28" y="6"/>
                  </a:lnTo>
                  <a:lnTo>
                    <a:pt x="39" y="2"/>
                  </a:lnTo>
                  <a:lnTo>
                    <a:pt x="50"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6" name="未知"/>
            <p:cNvSpPr>
              <a:spLocks noChangeAspect="1"/>
            </p:cNvSpPr>
            <p:nvPr/>
          </p:nvSpPr>
          <p:spPr bwMode="auto">
            <a:xfrm>
              <a:off x="3434" y="1859"/>
              <a:ext cx="216" cy="15"/>
            </a:xfrm>
            <a:custGeom>
              <a:avLst/>
              <a:gdLst>
                <a:gd name="T0" fmla="*/ 0 w 1182"/>
                <a:gd name="T1" fmla="*/ 0 h 103"/>
                <a:gd name="T2" fmla="*/ 0 w 1182"/>
                <a:gd name="T3" fmla="*/ 52 h 103"/>
                <a:gd name="T4" fmla="*/ 0 w 1182"/>
                <a:gd name="T5" fmla="*/ 103 h 103"/>
                <a:gd name="T6" fmla="*/ 1182 w 1182"/>
                <a:gd name="T7" fmla="*/ 103 h 103"/>
                <a:gd name="T8" fmla="*/ 1182 w 1182"/>
                <a:gd name="T9" fmla="*/ 52 h 103"/>
                <a:gd name="T10" fmla="*/ 1182 w 1182"/>
                <a:gd name="T11" fmla="*/ 0 h 103"/>
                <a:gd name="T12" fmla="*/ 0 w 1182"/>
                <a:gd name="T13" fmla="*/ 0 h 103"/>
              </a:gdLst>
              <a:ahLst/>
              <a:cxnLst>
                <a:cxn ang="0">
                  <a:pos x="T0" y="T1"/>
                </a:cxn>
                <a:cxn ang="0">
                  <a:pos x="T2" y="T3"/>
                </a:cxn>
                <a:cxn ang="0">
                  <a:pos x="T4" y="T5"/>
                </a:cxn>
                <a:cxn ang="0">
                  <a:pos x="T6" y="T7"/>
                </a:cxn>
                <a:cxn ang="0">
                  <a:pos x="T8" y="T9"/>
                </a:cxn>
                <a:cxn ang="0">
                  <a:pos x="T10" y="T11"/>
                </a:cxn>
                <a:cxn ang="0">
                  <a:pos x="T12" y="T13"/>
                </a:cxn>
              </a:cxnLst>
              <a:rect l="0" t="0" r="r" b="b"/>
              <a:pathLst>
                <a:path w="1182" h="103">
                  <a:moveTo>
                    <a:pt x="0" y="0"/>
                  </a:moveTo>
                  <a:lnTo>
                    <a:pt x="0" y="52"/>
                  </a:lnTo>
                  <a:lnTo>
                    <a:pt x="0" y="103"/>
                  </a:lnTo>
                  <a:lnTo>
                    <a:pt x="1182" y="103"/>
                  </a:lnTo>
                  <a:lnTo>
                    <a:pt x="1182" y="52"/>
                  </a:lnTo>
                  <a:lnTo>
                    <a:pt x="118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7" name="未知"/>
            <p:cNvSpPr>
              <a:spLocks noChangeAspect="1"/>
            </p:cNvSpPr>
            <p:nvPr/>
          </p:nvSpPr>
          <p:spPr bwMode="auto">
            <a:xfrm>
              <a:off x="3434" y="1859"/>
              <a:ext cx="216" cy="15"/>
            </a:xfrm>
            <a:custGeom>
              <a:avLst/>
              <a:gdLst>
                <a:gd name="T0" fmla="*/ 0 w 1182"/>
                <a:gd name="T1" fmla="*/ 0 h 103"/>
                <a:gd name="T2" fmla="*/ 0 w 1182"/>
                <a:gd name="T3" fmla="*/ 52 h 103"/>
                <a:gd name="T4" fmla="*/ 0 w 1182"/>
                <a:gd name="T5" fmla="*/ 103 h 103"/>
                <a:gd name="T6" fmla="*/ 1182 w 1182"/>
                <a:gd name="T7" fmla="*/ 103 h 103"/>
                <a:gd name="T8" fmla="*/ 1182 w 1182"/>
                <a:gd name="T9" fmla="*/ 52 h 103"/>
                <a:gd name="T10" fmla="*/ 1182 w 1182"/>
                <a:gd name="T11" fmla="*/ 0 h 103"/>
                <a:gd name="T12" fmla="*/ 0 w 1182"/>
                <a:gd name="T13" fmla="*/ 0 h 103"/>
              </a:gdLst>
              <a:ahLst/>
              <a:cxnLst>
                <a:cxn ang="0">
                  <a:pos x="T0" y="T1"/>
                </a:cxn>
                <a:cxn ang="0">
                  <a:pos x="T2" y="T3"/>
                </a:cxn>
                <a:cxn ang="0">
                  <a:pos x="T4" y="T5"/>
                </a:cxn>
                <a:cxn ang="0">
                  <a:pos x="T6" y="T7"/>
                </a:cxn>
                <a:cxn ang="0">
                  <a:pos x="T8" y="T9"/>
                </a:cxn>
                <a:cxn ang="0">
                  <a:pos x="T10" y="T11"/>
                </a:cxn>
                <a:cxn ang="0">
                  <a:pos x="T12" y="T13"/>
                </a:cxn>
              </a:cxnLst>
              <a:rect l="0" t="0" r="r" b="b"/>
              <a:pathLst>
                <a:path w="1182" h="103">
                  <a:moveTo>
                    <a:pt x="0" y="0"/>
                  </a:moveTo>
                  <a:lnTo>
                    <a:pt x="0" y="52"/>
                  </a:lnTo>
                  <a:lnTo>
                    <a:pt x="0" y="103"/>
                  </a:lnTo>
                  <a:lnTo>
                    <a:pt x="1182" y="103"/>
                  </a:lnTo>
                  <a:lnTo>
                    <a:pt x="1182" y="52"/>
                  </a:lnTo>
                  <a:lnTo>
                    <a:pt x="1182" y="0"/>
                  </a:lnTo>
                  <a:lnTo>
                    <a:pt x="0"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8" name="未知"/>
            <p:cNvSpPr>
              <a:spLocks noChangeAspect="1"/>
            </p:cNvSpPr>
            <p:nvPr/>
          </p:nvSpPr>
          <p:spPr bwMode="auto">
            <a:xfrm>
              <a:off x="3650" y="1859"/>
              <a:ext cx="9" cy="15"/>
            </a:xfrm>
            <a:custGeom>
              <a:avLst/>
              <a:gdLst>
                <a:gd name="T0" fmla="*/ 0 w 51"/>
                <a:gd name="T1" fmla="*/ 52 h 103"/>
                <a:gd name="T2" fmla="*/ 0 w 51"/>
                <a:gd name="T3" fmla="*/ 0 h 103"/>
                <a:gd name="T4" fmla="*/ 11 w 51"/>
                <a:gd name="T5" fmla="*/ 2 h 103"/>
                <a:gd name="T6" fmla="*/ 22 w 51"/>
                <a:gd name="T7" fmla="*/ 6 h 103"/>
                <a:gd name="T8" fmla="*/ 31 w 51"/>
                <a:gd name="T9" fmla="*/ 12 h 103"/>
                <a:gd name="T10" fmla="*/ 39 w 51"/>
                <a:gd name="T11" fmla="*/ 20 h 103"/>
                <a:gd name="T12" fmla="*/ 45 w 51"/>
                <a:gd name="T13" fmla="*/ 30 h 103"/>
                <a:gd name="T14" fmla="*/ 49 w 51"/>
                <a:gd name="T15" fmla="*/ 41 h 103"/>
                <a:gd name="T16" fmla="*/ 51 w 51"/>
                <a:gd name="T17" fmla="*/ 52 h 103"/>
                <a:gd name="T18" fmla="*/ 49 w 51"/>
                <a:gd name="T19" fmla="*/ 63 h 103"/>
                <a:gd name="T20" fmla="*/ 45 w 51"/>
                <a:gd name="T21" fmla="*/ 74 h 103"/>
                <a:gd name="T22" fmla="*/ 39 w 51"/>
                <a:gd name="T23" fmla="*/ 83 h 103"/>
                <a:gd name="T24" fmla="*/ 31 w 51"/>
                <a:gd name="T25" fmla="*/ 91 h 103"/>
                <a:gd name="T26" fmla="*/ 22 w 51"/>
                <a:gd name="T27" fmla="*/ 97 h 103"/>
                <a:gd name="T28" fmla="*/ 11 w 51"/>
                <a:gd name="T29" fmla="*/ 101 h 103"/>
                <a:gd name="T30" fmla="*/ 0 w 51"/>
                <a:gd name="T31" fmla="*/ 103 h 103"/>
                <a:gd name="T32" fmla="*/ 0 w 51"/>
                <a:gd name="T33" fmla="*/ 52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1" h="103">
                  <a:moveTo>
                    <a:pt x="0" y="52"/>
                  </a:moveTo>
                  <a:lnTo>
                    <a:pt x="0" y="0"/>
                  </a:lnTo>
                  <a:lnTo>
                    <a:pt x="11" y="2"/>
                  </a:lnTo>
                  <a:lnTo>
                    <a:pt x="22" y="6"/>
                  </a:lnTo>
                  <a:lnTo>
                    <a:pt x="31" y="12"/>
                  </a:lnTo>
                  <a:lnTo>
                    <a:pt x="39" y="20"/>
                  </a:lnTo>
                  <a:lnTo>
                    <a:pt x="45" y="30"/>
                  </a:lnTo>
                  <a:lnTo>
                    <a:pt x="49" y="41"/>
                  </a:lnTo>
                  <a:lnTo>
                    <a:pt x="51" y="52"/>
                  </a:lnTo>
                  <a:lnTo>
                    <a:pt x="49" y="63"/>
                  </a:lnTo>
                  <a:lnTo>
                    <a:pt x="45" y="74"/>
                  </a:lnTo>
                  <a:lnTo>
                    <a:pt x="39" y="83"/>
                  </a:lnTo>
                  <a:lnTo>
                    <a:pt x="31" y="91"/>
                  </a:lnTo>
                  <a:lnTo>
                    <a:pt x="22" y="97"/>
                  </a:lnTo>
                  <a:lnTo>
                    <a:pt x="11" y="101"/>
                  </a:lnTo>
                  <a:lnTo>
                    <a:pt x="0" y="103"/>
                  </a:lnTo>
                  <a:lnTo>
                    <a:pt x="0"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9" name="未知"/>
            <p:cNvSpPr>
              <a:spLocks noChangeAspect="1"/>
            </p:cNvSpPr>
            <p:nvPr/>
          </p:nvSpPr>
          <p:spPr bwMode="auto">
            <a:xfrm>
              <a:off x="3650" y="1859"/>
              <a:ext cx="9" cy="15"/>
            </a:xfrm>
            <a:custGeom>
              <a:avLst/>
              <a:gdLst>
                <a:gd name="T0" fmla="*/ 0 w 51"/>
                <a:gd name="T1" fmla="*/ 0 h 103"/>
                <a:gd name="T2" fmla="*/ 11 w 51"/>
                <a:gd name="T3" fmla="*/ 2 h 103"/>
                <a:gd name="T4" fmla="*/ 22 w 51"/>
                <a:gd name="T5" fmla="*/ 6 h 103"/>
                <a:gd name="T6" fmla="*/ 31 w 51"/>
                <a:gd name="T7" fmla="*/ 12 h 103"/>
                <a:gd name="T8" fmla="*/ 39 w 51"/>
                <a:gd name="T9" fmla="*/ 20 h 103"/>
                <a:gd name="T10" fmla="*/ 45 w 51"/>
                <a:gd name="T11" fmla="*/ 30 h 103"/>
                <a:gd name="T12" fmla="*/ 49 w 51"/>
                <a:gd name="T13" fmla="*/ 41 h 103"/>
                <a:gd name="T14" fmla="*/ 51 w 51"/>
                <a:gd name="T15" fmla="*/ 52 h 103"/>
                <a:gd name="T16" fmla="*/ 49 w 51"/>
                <a:gd name="T17" fmla="*/ 63 h 103"/>
                <a:gd name="T18" fmla="*/ 45 w 51"/>
                <a:gd name="T19" fmla="*/ 74 h 103"/>
                <a:gd name="T20" fmla="*/ 39 w 51"/>
                <a:gd name="T21" fmla="*/ 83 h 103"/>
                <a:gd name="T22" fmla="*/ 31 w 51"/>
                <a:gd name="T23" fmla="*/ 91 h 103"/>
                <a:gd name="T24" fmla="*/ 22 w 51"/>
                <a:gd name="T25" fmla="*/ 97 h 103"/>
                <a:gd name="T26" fmla="*/ 11 w 51"/>
                <a:gd name="T27" fmla="*/ 101 h 103"/>
                <a:gd name="T28" fmla="*/ 0 w 51"/>
                <a:gd name="T29" fmla="*/ 10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1" h="103">
                  <a:moveTo>
                    <a:pt x="0" y="0"/>
                  </a:moveTo>
                  <a:lnTo>
                    <a:pt x="11" y="2"/>
                  </a:lnTo>
                  <a:lnTo>
                    <a:pt x="22" y="6"/>
                  </a:lnTo>
                  <a:lnTo>
                    <a:pt x="31" y="12"/>
                  </a:lnTo>
                  <a:lnTo>
                    <a:pt x="39" y="20"/>
                  </a:lnTo>
                  <a:lnTo>
                    <a:pt x="45" y="30"/>
                  </a:lnTo>
                  <a:lnTo>
                    <a:pt x="49" y="41"/>
                  </a:lnTo>
                  <a:lnTo>
                    <a:pt x="51" y="52"/>
                  </a:lnTo>
                  <a:lnTo>
                    <a:pt x="49" y="63"/>
                  </a:lnTo>
                  <a:lnTo>
                    <a:pt x="45" y="74"/>
                  </a:lnTo>
                  <a:lnTo>
                    <a:pt x="39" y="83"/>
                  </a:lnTo>
                  <a:lnTo>
                    <a:pt x="31" y="91"/>
                  </a:lnTo>
                  <a:lnTo>
                    <a:pt x="22" y="97"/>
                  </a:lnTo>
                  <a:lnTo>
                    <a:pt x="11" y="101"/>
                  </a:lnTo>
                  <a:lnTo>
                    <a:pt x="0" y="103"/>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0" name="Line 405"/>
            <p:cNvSpPr>
              <a:spLocks noChangeAspect="1" noChangeShapeType="1"/>
            </p:cNvSpPr>
            <p:nvPr/>
          </p:nvSpPr>
          <p:spPr bwMode="auto">
            <a:xfrm flipV="1">
              <a:off x="3440" y="1791"/>
              <a:ext cx="25" cy="4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1" name="Line 406"/>
            <p:cNvSpPr>
              <a:spLocks noChangeAspect="1" noChangeShapeType="1"/>
            </p:cNvSpPr>
            <p:nvPr/>
          </p:nvSpPr>
          <p:spPr bwMode="auto">
            <a:xfrm flipV="1">
              <a:off x="3472" y="1728"/>
              <a:ext cx="27" cy="5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2" name="未知"/>
            <p:cNvSpPr>
              <a:spLocks noChangeAspect="1"/>
            </p:cNvSpPr>
            <p:nvPr/>
          </p:nvSpPr>
          <p:spPr bwMode="auto">
            <a:xfrm>
              <a:off x="3506" y="1661"/>
              <a:ext cx="19" cy="54"/>
            </a:xfrm>
            <a:custGeom>
              <a:avLst/>
              <a:gdLst>
                <a:gd name="T0" fmla="*/ 0 w 101"/>
                <a:gd name="T1" fmla="*/ 354 h 354"/>
                <a:gd name="T2" fmla="*/ 1 w 101"/>
                <a:gd name="T3" fmla="*/ 352 h 354"/>
                <a:gd name="T4" fmla="*/ 101 w 101"/>
                <a:gd name="T5" fmla="*/ 0 h 354"/>
              </a:gdLst>
              <a:ahLst/>
              <a:cxnLst>
                <a:cxn ang="0">
                  <a:pos x="T0" y="T1"/>
                </a:cxn>
                <a:cxn ang="0">
                  <a:pos x="T2" y="T3"/>
                </a:cxn>
                <a:cxn ang="0">
                  <a:pos x="T4" y="T5"/>
                </a:cxn>
              </a:cxnLst>
              <a:rect l="0" t="0" r="r" b="b"/>
              <a:pathLst>
                <a:path w="101" h="354">
                  <a:moveTo>
                    <a:pt x="0" y="354"/>
                  </a:moveTo>
                  <a:lnTo>
                    <a:pt x="1" y="352"/>
                  </a:lnTo>
                  <a:lnTo>
                    <a:pt x="101"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3" name="Line 408"/>
            <p:cNvSpPr>
              <a:spLocks noChangeAspect="1" noChangeShapeType="1"/>
            </p:cNvSpPr>
            <p:nvPr/>
          </p:nvSpPr>
          <p:spPr bwMode="auto">
            <a:xfrm flipV="1">
              <a:off x="3529" y="1594"/>
              <a:ext cx="18" cy="5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4" name="Line 409"/>
            <p:cNvSpPr>
              <a:spLocks noChangeAspect="1" noChangeShapeType="1"/>
            </p:cNvSpPr>
            <p:nvPr/>
          </p:nvSpPr>
          <p:spPr bwMode="auto">
            <a:xfrm flipV="1">
              <a:off x="3552" y="1525"/>
              <a:ext cx="9" cy="5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 name="Line 410"/>
            <p:cNvSpPr>
              <a:spLocks noChangeAspect="1" noChangeShapeType="1"/>
            </p:cNvSpPr>
            <p:nvPr/>
          </p:nvSpPr>
          <p:spPr bwMode="auto">
            <a:xfrm flipV="1">
              <a:off x="3563" y="1456"/>
              <a:ext cx="10" cy="5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6" name="Line 411"/>
            <p:cNvSpPr>
              <a:spLocks noChangeAspect="1" noChangeShapeType="1"/>
            </p:cNvSpPr>
            <p:nvPr/>
          </p:nvSpPr>
          <p:spPr bwMode="auto">
            <a:xfrm flipV="1">
              <a:off x="3574" y="1386"/>
              <a:ext cx="1" cy="5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7" name="Line 412"/>
            <p:cNvSpPr>
              <a:spLocks noChangeAspect="1" noChangeShapeType="1"/>
            </p:cNvSpPr>
            <p:nvPr/>
          </p:nvSpPr>
          <p:spPr bwMode="auto">
            <a:xfrm flipV="1">
              <a:off x="3574" y="1316"/>
              <a:ext cx="1" cy="5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8" name="Line 413"/>
            <p:cNvSpPr>
              <a:spLocks noChangeAspect="1" noChangeShapeType="1"/>
            </p:cNvSpPr>
            <p:nvPr/>
          </p:nvSpPr>
          <p:spPr bwMode="auto">
            <a:xfrm flipH="1" flipV="1">
              <a:off x="3564" y="1246"/>
              <a:ext cx="9" cy="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9" name="Line 414"/>
            <p:cNvSpPr>
              <a:spLocks noChangeAspect="1" noChangeShapeType="1"/>
            </p:cNvSpPr>
            <p:nvPr/>
          </p:nvSpPr>
          <p:spPr bwMode="auto">
            <a:xfrm flipH="1" flipV="1">
              <a:off x="3552" y="1176"/>
              <a:ext cx="9" cy="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0" name="Line 415"/>
            <p:cNvSpPr>
              <a:spLocks noChangeAspect="1" noChangeShapeType="1"/>
            </p:cNvSpPr>
            <p:nvPr/>
          </p:nvSpPr>
          <p:spPr bwMode="auto">
            <a:xfrm flipH="1" flipV="1">
              <a:off x="3529" y="1109"/>
              <a:ext cx="18" cy="5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1" name="未知"/>
            <p:cNvSpPr>
              <a:spLocks noChangeAspect="1"/>
            </p:cNvSpPr>
            <p:nvPr/>
          </p:nvSpPr>
          <p:spPr bwMode="auto">
            <a:xfrm>
              <a:off x="3506" y="1042"/>
              <a:ext cx="19" cy="54"/>
            </a:xfrm>
            <a:custGeom>
              <a:avLst/>
              <a:gdLst>
                <a:gd name="T0" fmla="*/ 100 w 100"/>
                <a:gd name="T1" fmla="*/ 356 h 356"/>
                <a:gd name="T2" fmla="*/ 1 w 100"/>
                <a:gd name="T3" fmla="*/ 2 h 356"/>
                <a:gd name="T4" fmla="*/ 0 w 100"/>
                <a:gd name="T5" fmla="*/ 0 h 356"/>
              </a:gdLst>
              <a:ahLst/>
              <a:cxnLst>
                <a:cxn ang="0">
                  <a:pos x="T0" y="T1"/>
                </a:cxn>
                <a:cxn ang="0">
                  <a:pos x="T2" y="T3"/>
                </a:cxn>
                <a:cxn ang="0">
                  <a:pos x="T4" y="T5"/>
                </a:cxn>
              </a:cxnLst>
              <a:rect l="0" t="0" r="r" b="b"/>
              <a:pathLst>
                <a:path w="100" h="356">
                  <a:moveTo>
                    <a:pt x="100" y="356"/>
                  </a:moveTo>
                  <a:lnTo>
                    <a:pt x="1" y="2"/>
                  </a:lnTo>
                  <a:lnTo>
                    <a:pt x="0"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2" name="Line 417"/>
            <p:cNvSpPr>
              <a:spLocks noChangeAspect="1" noChangeShapeType="1"/>
            </p:cNvSpPr>
            <p:nvPr/>
          </p:nvSpPr>
          <p:spPr bwMode="auto">
            <a:xfrm flipH="1" flipV="1">
              <a:off x="3473" y="978"/>
              <a:ext cx="27" cy="5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3" name="Line 418"/>
            <p:cNvSpPr>
              <a:spLocks noChangeAspect="1" noChangeShapeType="1"/>
            </p:cNvSpPr>
            <p:nvPr/>
          </p:nvSpPr>
          <p:spPr bwMode="auto">
            <a:xfrm flipH="1" flipV="1">
              <a:off x="3440" y="917"/>
              <a:ext cx="25" cy="4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 name="Line 419"/>
            <p:cNvSpPr>
              <a:spLocks noChangeAspect="1" noChangeShapeType="1"/>
            </p:cNvSpPr>
            <p:nvPr/>
          </p:nvSpPr>
          <p:spPr bwMode="auto">
            <a:xfrm flipV="1">
              <a:off x="3645" y="1858"/>
              <a:ext cx="18" cy="3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 name="Line 420"/>
            <p:cNvSpPr>
              <a:spLocks noChangeAspect="1" noChangeShapeType="1"/>
            </p:cNvSpPr>
            <p:nvPr/>
          </p:nvSpPr>
          <p:spPr bwMode="auto">
            <a:xfrm flipV="1">
              <a:off x="3669" y="1793"/>
              <a:ext cx="27" cy="5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 name="未知"/>
            <p:cNvSpPr>
              <a:spLocks noChangeAspect="1"/>
            </p:cNvSpPr>
            <p:nvPr/>
          </p:nvSpPr>
          <p:spPr bwMode="auto">
            <a:xfrm>
              <a:off x="3703" y="1728"/>
              <a:ext cx="22" cy="53"/>
            </a:xfrm>
            <a:custGeom>
              <a:avLst/>
              <a:gdLst>
                <a:gd name="T0" fmla="*/ 0 w 123"/>
                <a:gd name="T1" fmla="*/ 347 h 347"/>
                <a:gd name="T2" fmla="*/ 77 w 123"/>
                <a:gd name="T3" fmla="*/ 165 h 347"/>
                <a:gd name="T4" fmla="*/ 123 w 123"/>
                <a:gd name="T5" fmla="*/ 0 h 347"/>
              </a:gdLst>
              <a:ahLst/>
              <a:cxnLst>
                <a:cxn ang="0">
                  <a:pos x="T0" y="T1"/>
                </a:cxn>
                <a:cxn ang="0">
                  <a:pos x="T2" y="T3"/>
                </a:cxn>
                <a:cxn ang="0">
                  <a:pos x="T4" y="T5"/>
                </a:cxn>
              </a:cxnLst>
              <a:rect l="0" t="0" r="r" b="b"/>
              <a:pathLst>
                <a:path w="123" h="347">
                  <a:moveTo>
                    <a:pt x="0" y="347"/>
                  </a:moveTo>
                  <a:lnTo>
                    <a:pt x="77" y="165"/>
                  </a:lnTo>
                  <a:lnTo>
                    <a:pt x="123"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7" name="Line 422"/>
            <p:cNvSpPr>
              <a:spLocks noChangeAspect="1" noChangeShapeType="1"/>
            </p:cNvSpPr>
            <p:nvPr/>
          </p:nvSpPr>
          <p:spPr bwMode="auto">
            <a:xfrm flipV="1">
              <a:off x="3729" y="1660"/>
              <a:ext cx="19" cy="5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8" name="未知"/>
            <p:cNvSpPr>
              <a:spLocks noChangeAspect="1"/>
            </p:cNvSpPr>
            <p:nvPr/>
          </p:nvSpPr>
          <p:spPr bwMode="auto">
            <a:xfrm>
              <a:off x="3751" y="1593"/>
              <a:ext cx="17" cy="54"/>
            </a:xfrm>
            <a:custGeom>
              <a:avLst/>
              <a:gdLst>
                <a:gd name="T0" fmla="*/ 0 w 87"/>
                <a:gd name="T1" fmla="*/ 358 h 358"/>
                <a:gd name="T2" fmla="*/ 75 w 87"/>
                <a:gd name="T3" fmla="*/ 83 h 358"/>
                <a:gd name="T4" fmla="*/ 87 w 87"/>
                <a:gd name="T5" fmla="*/ 0 h 358"/>
              </a:gdLst>
              <a:ahLst/>
              <a:cxnLst>
                <a:cxn ang="0">
                  <a:pos x="T0" y="T1"/>
                </a:cxn>
                <a:cxn ang="0">
                  <a:pos x="T2" y="T3"/>
                </a:cxn>
                <a:cxn ang="0">
                  <a:pos x="T4" y="T5"/>
                </a:cxn>
              </a:cxnLst>
              <a:rect l="0" t="0" r="r" b="b"/>
              <a:pathLst>
                <a:path w="87" h="358">
                  <a:moveTo>
                    <a:pt x="0" y="358"/>
                  </a:moveTo>
                  <a:lnTo>
                    <a:pt x="75" y="83"/>
                  </a:lnTo>
                  <a:lnTo>
                    <a:pt x="87"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9" name="Line 424"/>
            <p:cNvSpPr>
              <a:spLocks noChangeAspect="1" noChangeShapeType="1"/>
            </p:cNvSpPr>
            <p:nvPr/>
          </p:nvSpPr>
          <p:spPr bwMode="auto">
            <a:xfrm flipV="1">
              <a:off x="3769" y="1523"/>
              <a:ext cx="9" cy="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0" name="Line 425"/>
            <p:cNvSpPr>
              <a:spLocks noChangeAspect="1" noChangeShapeType="1"/>
            </p:cNvSpPr>
            <p:nvPr/>
          </p:nvSpPr>
          <p:spPr bwMode="auto">
            <a:xfrm flipV="1">
              <a:off x="3781" y="1454"/>
              <a:ext cx="8" cy="5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1" name="Line 426"/>
            <p:cNvSpPr>
              <a:spLocks noChangeAspect="1" noChangeShapeType="1"/>
            </p:cNvSpPr>
            <p:nvPr/>
          </p:nvSpPr>
          <p:spPr bwMode="auto">
            <a:xfrm flipH="1" flipV="1">
              <a:off x="3789" y="1384"/>
              <a:ext cx="1" cy="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2" name="Line 427"/>
            <p:cNvSpPr>
              <a:spLocks noChangeAspect="1" noChangeShapeType="1"/>
            </p:cNvSpPr>
            <p:nvPr/>
          </p:nvSpPr>
          <p:spPr bwMode="auto">
            <a:xfrm flipV="1">
              <a:off x="3789" y="1314"/>
              <a:ext cx="1" cy="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3" name="Line 428"/>
            <p:cNvSpPr>
              <a:spLocks noChangeAspect="1" noChangeShapeType="1"/>
            </p:cNvSpPr>
            <p:nvPr/>
          </p:nvSpPr>
          <p:spPr bwMode="auto">
            <a:xfrm flipH="1" flipV="1">
              <a:off x="3780" y="1245"/>
              <a:ext cx="9" cy="5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4" name="Line 429"/>
            <p:cNvSpPr>
              <a:spLocks noChangeAspect="1" noChangeShapeType="1"/>
            </p:cNvSpPr>
            <p:nvPr/>
          </p:nvSpPr>
          <p:spPr bwMode="auto">
            <a:xfrm flipH="1" flipV="1">
              <a:off x="3769" y="1176"/>
              <a:ext cx="9" cy="5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 name="未知"/>
            <p:cNvSpPr>
              <a:spLocks noChangeAspect="1"/>
            </p:cNvSpPr>
            <p:nvPr/>
          </p:nvSpPr>
          <p:spPr bwMode="auto">
            <a:xfrm>
              <a:off x="3751" y="1107"/>
              <a:ext cx="16" cy="54"/>
            </a:xfrm>
            <a:custGeom>
              <a:avLst/>
              <a:gdLst>
                <a:gd name="T0" fmla="*/ 87 w 87"/>
                <a:gd name="T1" fmla="*/ 358 h 358"/>
                <a:gd name="T2" fmla="*/ 76 w 87"/>
                <a:gd name="T3" fmla="*/ 275 h 358"/>
                <a:gd name="T4" fmla="*/ 0 w 87"/>
                <a:gd name="T5" fmla="*/ 0 h 358"/>
              </a:gdLst>
              <a:ahLst/>
              <a:cxnLst>
                <a:cxn ang="0">
                  <a:pos x="T0" y="T1"/>
                </a:cxn>
                <a:cxn ang="0">
                  <a:pos x="T2" y="T3"/>
                </a:cxn>
                <a:cxn ang="0">
                  <a:pos x="T4" y="T5"/>
                </a:cxn>
              </a:cxnLst>
              <a:rect l="0" t="0" r="r" b="b"/>
              <a:pathLst>
                <a:path w="87" h="358">
                  <a:moveTo>
                    <a:pt x="87" y="358"/>
                  </a:moveTo>
                  <a:lnTo>
                    <a:pt x="76" y="275"/>
                  </a:lnTo>
                  <a:lnTo>
                    <a:pt x="0"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6" name="Line 431"/>
            <p:cNvSpPr>
              <a:spLocks noChangeAspect="1" noChangeShapeType="1"/>
            </p:cNvSpPr>
            <p:nvPr/>
          </p:nvSpPr>
          <p:spPr bwMode="auto">
            <a:xfrm flipH="1" flipV="1">
              <a:off x="3729" y="1040"/>
              <a:ext cx="18" cy="5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7" name="未知"/>
            <p:cNvSpPr>
              <a:spLocks noChangeAspect="1"/>
            </p:cNvSpPr>
            <p:nvPr/>
          </p:nvSpPr>
          <p:spPr bwMode="auto">
            <a:xfrm>
              <a:off x="3702" y="974"/>
              <a:ext cx="23" cy="52"/>
            </a:xfrm>
            <a:custGeom>
              <a:avLst/>
              <a:gdLst>
                <a:gd name="T0" fmla="*/ 124 w 124"/>
                <a:gd name="T1" fmla="*/ 348 h 348"/>
                <a:gd name="T2" fmla="*/ 78 w 124"/>
                <a:gd name="T3" fmla="*/ 183 h 348"/>
                <a:gd name="T4" fmla="*/ 0 w 124"/>
                <a:gd name="T5" fmla="*/ 0 h 348"/>
              </a:gdLst>
              <a:ahLst/>
              <a:cxnLst>
                <a:cxn ang="0">
                  <a:pos x="T0" y="T1"/>
                </a:cxn>
                <a:cxn ang="0">
                  <a:pos x="T2" y="T3"/>
                </a:cxn>
                <a:cxn ang="0">
                  <a:pos x="T4" y="T5"/>
                </a:cxn>
              </a:cxnLst>
              <a:rect l="0" t="0" r="r" b="b"/>
              <a:pathLst>
                <a:path w="124" h="348">
                  <a:moveTo>
                    <a:pt x="124" y="348"/>
                  </a:moveTo>
                  <a:lnTo>
                    <a:pt x="78" y="183"/>
                  </a:lnTo>
                  <a:lnTo>
                    <a:pt x="0" y="0"/>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8" name="Line 433"/>
            <p:cNvSpPr>
              <a:spLocks noChangeAspect="1" noChangeShapeType="1"/>
            </p:cNvSpPr>
            <p:nvPr/>
          </p:nvSpPr>
          <p:spPr bwMode="auto">
            <a:xfrm flipH="1" flipV="1">
              <a:off x="3669" y="909"/>
              <a:ext cx="27" cy="5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9" name="Line 434"/>
            <p:cNvSpPr>
              <a:spLocks noChangeAspect="1" noChangeShapeType="1"/>
            </p:cNvSpPr>
            <p:nvPr/>
          </p:nvSpPr>
          <p:spPr bwMode="auto">
            <a:xfrm flipH="1" flipV="1">
              <a:off x="3644" y="860"/>
              <a:ext cx="19" cy="3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0" name="Line 435"/>
            <p:cNvSpPr>
              <a:spLocks noChangeAspect="1" noChangeShapeType="1"/>
            </p:cNvSpPr>
            <p:nvPr/>
          </p:nvSpPr>
          <p:spPr bwMode="auto">
            <a:xfrm flipH="1">
              <a:off x="3206" y="575"/>
              <a:ext cx="21" cy="2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1" name="Line 436"/>
            <p:cNvSpPr>
              <a:spLocks noChangeAspect="1" noChangeShapeType="1"/>
            </p:cNvSpPr>
            <p:nvPr/>
          </p:nvSpPr>
          <p:spPr bwMode="auto">
            <a:xfrm flipH="1">
              <a:off x="3108" y="533"/>
              <a:ext cx="23" cy="4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2" name="Line 437"/>
            <p:cNvSpPr>
              <a:spLocks noChangeAspect="1" noChangeShapeType="1"/>
            </p:cNvSpPr>
            <p:nvPr/>
          </p:nvSpPr>
          <p:spPr bwMode="auto">
            <a:xfrm flipH="1">
              <a:off x="3072" y="590"/>
              <a:ext cx="28" cy="5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3" name="未知"/>
            <p:cNvSpPr>
              <a:spLocks noChangeAspect="1"/>
            </p:cNvSpPr>
            <p:nvPr/>
          </p:nvSpPr>
          <p:spPr bwMode="auto">
            <a:xfrm>
              <a:off x="3044" y="653"/>
              <a:ext cx="21" cy="53"/>
            </a:xfrm>
            <a:custGeom>
              <a:avLst/>
              <a:gdLst>
                <a:gd name="T0" fmla="*/ 117 w 117"/>
                <a:gd name="T1" fmla="*/ 0 h 349"/>
                <a:gd name="T2" fmla="*/ 79 w 117"/>
                <a:gd name="T3" fmla="*/ 81 h 349"/>
                <a:gd name="T4" fmla="*/ 0 w 117"/>
                <a:gd name="T5" fmla="*/ 349 h 349"/>
              </a:gdLst>
              <a:ahLst/>
              <a:cxnLst>
                <a:cxn ang="0">
                  <a:pos x="T0" y="T1"/>
                </a:cxn>
                <a:cxn ang="0">
                  <a:pos x="T2" y="T3"/>
                </a:cxn>
                <a:cxn ang="0">
                  <a:pos x="T4" y="T5"/>
                </a:cxn>
              </a:cxnLst>
              <a:rect l="0" t="0" r="r" b="b"/>
              <a:pathLst>
                <a:path w="117" h="349">
                  <a:moveTo>
                    <a:pt x="117" y="0"/>
                  </a:moveTo>
                  <a:lnTo>
                    <a:pt x="79" y="81"/>
                  </a:lnTo>
                  <a:lnTo>
                    <a:pt x="0" y="349"/>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4" name="Line 439"/>
            <p:cNvSpPr>
              <a:spLocks noChangeAspect="1" noChangeShapeType="1"/>
            </p:cNvSpPr>
            <p:nvPr/>
          </p:nvSpPr>
          <p:spPr bwMode="auto">
            <a:xfrm flipH="1">
              <a:off x="3019" y="720"/>
              <a:ext cx="20" cy="5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 name="未知"/>
            <p:cNvSpPr>
              <a:spLocks noChangeAspect="1"/>
            </p:cNvSpPr>
            <p:nvPr/>
          </p:nvSpPr>
          <p:spPr bwMode="auto">
            <a:xfrm>
              <a:off x="3002" y="787"/>
              <a:ext cx="13" cy="55"/>
            </a:xfrm>
            <a:custGeom>
              <a:avLst/>
              <a:gdLst>
                <a:gd name="T0" fmla="*/ 71 w 71"/>
                <a:gd name="T1" fmla="*/ 0 h 362"/>
                <a:gd name="T2" fmla="*/ 35 w 71"/>
                <a:gd name="T3" fmla="*/ 123 h 362"/>
                <a:gd name="T4" fmla="*/ 0 w 71"/>
                <a:gd name="T5" fmla="*/ 362 h 362"/>
              </a:gdLst>
              <a:ahLst/>
              <a:cxnLst>
                <a:cxn ang="0">
                  <a:pos x="T0" y="T1"/>
                </a:cxn>
                <a:cxn ang="0">
                  <a:pos x="T2" y="T3"/>
                </a:cxn>
                <a:cxn ang="0">
                  <a:pos x="T4" y="T5"/>
                </a:cxn>
              </a:cxnLst>
              <a:rect l="0" t="0" r="r" b="b"/>
              <a:pathLst>
                <a:path w="71" h="362">
                  <a:moveTo>
                    <a:pt x="71" y="0"/>
                  </a:moveTo>
                  <a:lnTo>
                    <a:pt x="35" y="123"/>
                  </a:lnTo>
                  <a:lnTo>
                    <a:pt x="0" y="362"/>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6" name="Line 441"/>
            <p:cNvSpPr>
              <a:spLocks noChangeAspect="1" noChangeShapeType="1"/>
            </p:cNvSpPr>
            <p:nvPr/>
          </p:nvSpPr>
          <p:spPr bwMode="auto">
            <a:xfrm flipH="1">
              <a:off x="2990" y="856"/>
              <a:ext cx="9" cy="5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7" name="未知"/>
            <p:cNvSpPr>
              <a:spLocks noChangeAspect="1"/>
            </p:cNvSpPr>
            <p:nvPr/>
          </p:nvSpPr>
          <p:spPr bwMode="auto">
            <a:xfrm>
              <a:off x="2983" y="925"/>
              <a:ext cx="5" cy="56"/>
            </a:xfrm>
            <a:custGeom>
              <a:avLst/>
              <a:gdLst>
                <a:gd name="T0" fmla="*/ 25 w 25"/>
                <a:gd name="T1" fmla="*/ 0 h 367"/>
                <a:gd name="T2" fmla="*/ 0 w 25"/>
                <a:gd name="T3" fmla="*/ 163 h 367"/>
                <a:gd name="T4" fmla="*/ 0 w 25"/>
                <a:gd name="T5" fmla="*/ 367 h 367"/>
              </a:gdLst>
              <a:ahLst/>
              <a:cxnLst>
                <a:cxn ang="0">
                  <a:pos x="T0" y="T1"/>
                </a:cxn>
                <a:cxn ang="0">
                  <a:pos x="T2" y="T3"/>
                </a:cxn>
                <a:cxn ang="0">
                  <a:pos x="T4" y="T5"/>
                </a:cxn>
              </a:cxnLst>
              <a:rect l="0" t="0" r="r" b="b"/>
              <a:pathLst>
                <a:path w="25" h="367">
                  <a:moveTo>
                    <a:pt x="25" y="0"/>
                  </a:moveTo>
                  <a:lnTo>
                    <a:pt x="0" y="163"/>
                  </a:lnTo>
                  <a:lnTo>
                    <a:pt x="0" y="367"/>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8" name="Line 443"/>
            <p:cNvSpPr>
              <a:spLocks noChangeAspect="1" noChangeShapeType="1"/>
            </p:cNvSpPr>
            <p:nvPr/>
          </p:nvSpPr>
          <p:spPr bwMode="auto">
            <a:xfrm>
              <a:off x="2983" y="994"/>
              <a:ext cx="1" cy="5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9" name="未知"/>
            <p:cNvSpPr>
              <a:spLocks noChangeAspect="1"/>
            </p:cNvSpPr>
            <p:nvPr/>
          </p:nvSpPr>
          <p:spPr bwMode="auto">
            <a:xfrm>
              <a:off x="2983" y="1065"/>
              <a:ext cx="5" cy="56"/>
            </a:xfrm>
            <a:custGeom>
              <a:avLst/>
              <a:gdLst>
                <a:gd name="T0" fmla="*/ 0 w 24"/>
                <a:gd name="T1" fmla="*/ 0 h 368"/>
                <a:gd name="T2" fmla="*/ 0 w 24"/>
                <a:gd name="T3" fmla="*/ 204 h 368"/>
                <a:gd name="T4" fmla="*/ 24 w 24"/>
                <a:gd name="T5" fmla="*/ 368 h 368"/>
              </a:gdLst>
              <a:ahLst/>
              <a:cxnLst>
                <a:cxn ang="0">
                  <a:pos x="T0" y="T1"/>
                </a:cxn>
                <a:cxn ang="0">
                  <a:pos x="T2" y="T3"/>
                </a:cxn>
                <a:cxn ang="0">
                  <a:pos x="T4" y="T5"/>
                </a:cxn>
              </a:cxnLst>
              <a:rect l="0" t="0" r="r" b="b"/>
              <a:pathLst>
                <a:path w="24" h="368">
                  <a:moveTo>
                    <a:pt x="0" y="0"/>
                  </a:moveTo>
                  <a:lnTo>
                    <a:pt x="0" y="204"/>
                  </a:lnTo>
                  <a:lnTo>
                    <a:pt x="24" y="368"/>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0" name="Line 445"/>
            <p:cNvSpPr>
              <a:spLocks noChangeAspect="1" noChangeShapeType="1"/>
            </p:cNvSpPr>
            <p:nvPr/>
          </p:nvSpPr>
          <p:spPr bwMode="auto">
            <a:xfrm>
              <a:off x="2990" y="1135"/>
              <a:ext cx="9" cy="5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1" name="未知"/>
            <p:cNvSpPr>
              <a:spLocks noChangeAspect="1"/>
            </p:cNvSpPr>
            <p:nvPr/>
          </p:nvSpPr>
          <p:spPr bwMode="auto">
            <a:xfrm>
              <a:off x="3002" y="1204"/>
              <a:ext cx="13" cy="54"/>
            </a:xfrm>
            <a:custGeom>
              <a:avLst/>
              <a:gdLst>
                <a:gd name="T0" fmla="*/ 0 w 70"/>
                <a:gd name="T1" fmla="*/ 0 h 361"/>
                <a:gd name="T2" fmla="*/ 34 w 70"/>
                <a:gd name="T3" fmla="*/ 239 h 361"/>
                <a:gd name="T4" fmla="*/ 70 w 70"/>
                <a:gd name="T5" fmla="*/ 361 h 361"/>
              </a:gdLst>
              <a:ahLst/>
              <a:cxnLst>
                <a:cxn ang="0">
                  <a:pos x="T0" y="T1"/>
                </a:cxn>
                <a:cxn ang="0">
                  <a:pos x="T2" y="T3"/>
                </a:cxn>
                <a:cxn ang="0">
                  <a:pos x="T4" y="T5"/>
                </a:cxn>
              </a:cxnLst>
              <a:rect l="0" t="0" r="r" b="b"/>
              <a:pathLst>
                <a:path w="70" h="361">
                  <a:moveTo>
                    <a:pt x="0" y="0"/>
                  </a:moveTo>
                  <a:lnTo>
                    <a:pt x="34" y="239"/>
                  </a:lnTo>
                  <a:lnTo>
                    <a:pt x="70" y="361"/>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2" name="Line 447"/>
            <p:cNvSpPr>
              <a:spLocks noChangeAspect="1" noChangeShapeType="1"/>
            </p:cNvSpPr>
            <p:nvPr/>
          </p:nvSpPr>
          <p:spPr bwMode="auto">
            <a:xfrm>
              <a:off x="3020" y="1272"/>
              <a:ext cx="19" cy="5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3" name="未知"/>
            <p:cNvSpPr>
              <a:spLocks noChangeAspect="1"/>
            </p:cNvSpPr>
            <p:nvPr/>
          </p:nvSpPr>
          <p:spPr bwMode="auto">
            <a:xfrm>
              <a:off x="3044" y="1339"/>
              <a:ext cx="22" cy="53"/>
            </a:xfrm>
            <a:custGeom>
              <a:avLst/>
              <a:gdLst>
                <a:gd name="T0" fmla="*/ 0 w 118"/>
                <a:gd name="T1" fmla="*/ 0 h 349"/>
                <a:gd name="T2" fmla="*/ 79 w 118"/>
                <a:gd name="T3" fmla="*/ 268 h 349"/>
                <a:gd name="T4" fmla="*/ 118 w 118"/>
                <a:gd name="T5" fmla="*/ 349 h 349"/>
              </a:gdLst>
              <a:ahLst/>
              <a:cxnLst>
                <a:cxn ang="0">
                  <a:pos x="T0" y="T1"/>
                </a:cxn>
                <a:cxn ang="0">
                  <a:pos x="T2" y="T3"/>
                </a:cxn>
                <a:cxn ang="0">
                  <a:pos x="T4" y="T5"/>
                </a:cxn>
              </a:cxnLst>
              <a:rect l="0" t="0" r="r" b="b"/>
              <a:pathLst>
                <a:path w="118" h="349">
                  <a:moveTo>
                    <a:pt x="0" y="0"/>
                  </a:moveTo>
                  <a:lnTo>
                    <a:pt x="79" y="268"/>
                  </a:lnTo>
                  <a:lnTo>
                    <a:pt x="118" y="349"/>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4" name="Line 449"/>
            <p:cNvSpPr>
              <a:spLocks noChangeAspect="1" noChangeShapeType="1"/>
            </p:cNvSpPr>
            <p:nvPr/>
          </p:nvSpPr>
          <p:spPr bwMode="auto">
            <a:xfrm>
              <a:off x="3072" y="1405"/>
              <a:ext cx="28" cy="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5" name="Line 450"/>
            <p:cNvSpPr>
              <a:spLocks noChangeAspect="1" noChangeShapeType="1"/>
            </p:cNvSpPr>
            <p:nvPr/>
          </p:nvSpPr>
          <p:spPr bwMode="auto">
            <a:xfrm>
              <a:off x="3108" y="1468"/>
              <a:ext cx="24" cy="4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 name="Line 451"/>
            <p:cNvSpPr>
              <a:spLocks noChangeAspect="1" noChangeShapeType="1"/>
            </p:cNvSpPr>
            <p:nvPr/>
          </p:nvSpPr>
          <p:spPr bwMode="auto">
            <a:xfrm flipH="1">
              <a:off x="3009" y="492"/>
              <a:ext cx="27" cy="4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7" name="Line 452"/>
            <p:cNvSpPr>
              <a:spLocks noChangeAspect="1" noChangeShapeType="1"/>
            </p:cNvSpPr>
            <p:nvPr/>
          </p:nvSpPr>
          <p:spPr bwMode="auto">
            <a:xfrm flipH="1">
              <a:off x="2974" y="551"/>
              <a:ext cx="29" cy="5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8" name="未知"/>
            <p:cNvSpPr>
              <a:spLocks noChangeAspect="1"/>
            </p:cNvSpPr>
            <p:nvPr/>
          </p:nvSpPr>
          <p:spPr bwMode="auto">
            <a:xfrm>
              <a:off x="2946" y="614"/>
              <a:ext cx="21" cy="54"/>
            </a:xfrm>
            <a:custGeom>
              <a:avLst/>
              <a:gdLst>
                <a:gd name="T0" fmla="*/ 116 w 116"/>
                <a:gd name="T1" fmla="*/ 0 h 351"/>
                <a:gd name="T2" fmla="*/ 111 w 116"/>
                <a:gd name="T3" fmla="*/ 11 h 351"/>
                <a:gd name="T4" fmla="*/ 0 w 116"/>
                <a:gd name="T5" fmla="*/ 351 h 351"/>
              </a:gdLst>
              <a:ahLst/>
              <a:cxnLst>
                <a:cxn ang="0">
                  <a:pos x="T0" y="T1"/>
                </a:cxn>
                <a:cxn ang="0">
                  <a:pos x="T2" y="T3"/>
                </a:cxn>
                <a:cxn ang="0">
                  <a:pos x="T4" y="T5"/>
                </a:cxn>
              </a:cxnLst>
              <a:rect l="0" t="0" r="r" b="b"/>
              <a:pathLst>
                <a:path w="116" h="351">
                  <a:moveTo>
                    <a:pt x="116" y="0"/>
                  </a:moveTo>
                  <a:lnTo>
                    <a:pt x="111" y="11"/>
                  </a:lnTo>
                  <a:lnTo>
                    <a:pt x="0" y="351"/>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9" name="Line 454"/>
            <p:cNvSpPr>
              <a:spLocks noChangeAspect="1" noChangeShapeType="1"/>
            </p:cNvSpPr>
            <p:nvPr/>
          </p:nvSpPr>
          <p:spPr bwMode="auto">
            <a:xfrm flipH="1">
              <a:off x="2919" y="681"/>
              <a:ext cx="21" cy="5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 name="Line 455"/>
            <p:cNvSpPr>
              <a:spLocks noChangeAspect="1" noChangeShapeType="1"/>
            </p:cNvSpPr>
            <p:nvPr/>
          </p:nvSpPr>
          <p:spPr bwMode="auto">
            <a:xfrm flipH="1">
              <a:off x="2902" y="748"/>
              <a:ext cx="13" cy="5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1" name="Line 456"/>
            <p:cNvSpPr>
              <a:spLocks noChangeAspect="1" noChangeShapeType="1"/>
            </p:cNvSpPr>
            <p:nvPr/>
          </p:nvSpPr>
          <p:spPr bwMode="auto">
            <a:xfrm flipH="1">
              <a:off x="2886" y="816"/>
              <a:ext cx="12" cy="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 name="Line 457"/>
            <p:cNvSpPr>
              <a:spLocks noChangeAspect="1" noChangeShapeType="1"/>
            </p:cNvSpPr>
            <p:nvPr/>
          </p:nvSpPr>
          <p:spPr bwMode="auto">
            <a:xfrm flipH="1">
              <a:off x="2878" y="885"/>
              <a:ext cx="5" cy="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3" name="Line 458"/>
            <p:cNvSpPr>
              <a:spLocks noChangeAspect="1" noChangeShapeType="1"/>
            </p:cNvSpPr>
            <p:nvPr/>
          </p:nvSpPr>
          <p:spPr bwMode="auto">
            <a:xfrm flipH="1">
              <a:off x="2873" y="955"/>
              <a:ext cx="5" cy="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4" name="Line 459"/>
            <p:cNvSpPr>
              <a:spLocks noChangeAspect="1" noChangeShapeType="1"/>
            </p:cNvSpPr>
            <p:nvPr/>
          </p:nvSpPr>
          <p:spPr bwMode="auto">
            <a:xfrm>
              <a:off x="2873" y="1024"/>
              <a:ext cx="4" cy="5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5" name="Line 460"/>
            <p:cNvSpPr>
              <a:spLocks noChangeAspect="1" noChangeShapeType="1"/>
            </p:cNvSpPr>
            <p:nvPr/>
          </p:nvSpPr>
          <p:spPr bwMode="auto">
            <a:xfrm>
              <a:off x="2878" y="1095"/>
              <a:ext cx="4" cy="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 name="Line 461"/>
            <p:cNvSpPr>
              <a:spLocks noChangeAspect="1" noChangeShapeType="1"/>
            </p:cNvSpPr>
            <p:nvPr/>
          </p:nvSpPr>
          <p:spPr bwMode="auto">
            <a:xfrm>
              <a:off x="2885" y="1165"/>
              <a:ext cx="12" cy="5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7" name="Line 462"/>
            <p:cNvSpPr>
              <a:spLocks noChangeAspect="1" noChangeShapeType="1"/>
            </p:cNvSpPr>
            <p:nvPr/>
          </p:nvSpPr>
          <p:spPr bwMode="auto">
            <a:xfrm>
              <a:off x="2900" y="1233"/>
              <a:ext cx="12" cy="5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8" name="Line 463"/>
            <p:cNvSpPr>
              <a:spLocks noChangeAspect="1" noChangeShapeType="1"/>
            </p:cNvSpPr>
            <p:nvPr/>
          </p:nvSpPr>
          <p:spPr bwMode="auto">
            <a:xfrm>
              <a:off x="2918" y="1302"/>
              <a:ext cx="20" cy="5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9" name="未知"/>
            <p:cNvSpPr>
              <a:spLocks noChangeAspect="1"/>
            </p:cNvSpPr>
            <p:nvPr/>
          </p:nvSpPr>
          <p:spPr bwMode="auto">
            <a:xfrm>
              <a:off x="2943" y="1368"/>
              <a:ext cx="21" cy="53"/>
            </a:xfrm>
            <a:custGeom>
              <a:avLst/>
              <a:gdLst>
                <a:gd name="T0" fmla="*/ 0 w 113"/>
                <a:gd name="T1" fmla="*/ 0 h 351"/>
                <a:gd name="T2" fmla="*/ 108 w 113"/>
                <a:gd name="T3" fmla="*/ 340 h 351"/>
                <a:gd name="T4" fmla="*/ 113 w 113"/>
                <a:gd name="T5" fmla="*/ 351 h 351"/>
              </a:gdLst>
              <a:ahLst/>
              <a:cxnLst>
                <a:cxn ang="0">
                  <a:pos x="T0" y="T1"/>
                </a:cxn>
                <a:cxn ang="0">
                  <a:pos x="T2" y="T3"/>
                </a:cxn>
                <a:cxn ang="0">
                  <a:pos x="T4" y="T5"/>
                </a:cxn>
              </a:cxnLst>
              <a:rect l="0" t="0" r="r" b="b"/>
              <a:pathLst>
                <a:path w="113" h="351">
                  <a:moveTo>
                    <a:pt x="0" y="0"/>
                  </a:moveTo>
                  <a:lnTo>
                    <a:pt x="108" y="340"/>
                  </a:lnTo>
                  <a:lnTo>
                    <a:pt x="113" y="351"/>
                  </a:lnTo>
                </a:path>
              </a:pathLst>
            </a:custGeom>
            <a:noFill/>
            <a:ln w="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0" name="Line 465"/>
            <p:cNvSpPr>
              <a:spLocks noChangeAspect="1" noChangeShapeType="1"/>
            </p:cNvSpPr>
            <p:nvPr/>
          </p:nvSpPr>
          <p:spPr bwMode="auto">
            <a:xfrm>
              <a:off x="2970" y="1434"/>
              <a:ext cx="29" cy="5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1" name="Line 466"/>
            <p:cNvSpPr>
              <a:spLocks noChangeAspect="1" noChangeShapeType="1"/>
            </p:cNvSpPr>
            <p:nvPr/>
          </p:nvSpPr>
          <p:spPr bwMode="auto">
            <a:xfrm>
              <a:off x="3006" y="1498"/>
              <a:ext cx="26" cy="4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2" name="未知"/>
            <p:cNvSpPr>
              <a:spLocks noChangeAspect="1"/>
            </p:cNvSpPr>
            <p:nvPr/>
          </p:nvSpPr>
          <p:spPr bwMode="auto">
            <a:xfrm>
              <a:off x="3013" y="350"/>
              <a:ext cx="24" cy="59"/>
            </a:xfrm>
            <a:custGeom>
              <a:avLst/>
              <a:gdLst>
                <a:gd name="T0" fmla="*/ 0 w 128"/>
                <a:gd name="T1" fmla="*/ 384 h 384"/>
                <a:gd name="T2" fmla="*/ 128 w 128"/>
                <a:gd name="T3" fmla="*/ 384 h 384"/>
                <a:gd name="T4" fmla="*/ 64 w 128"/>
                <a:gd name="T5" fmla="*/ 0 h 384"/>
                <a:gd name="T6" fmla="*/ 0 w 128"/>
                <a:gd name="T7" fmla="*/ 384 h 384"/>
              </a:gdLst>
              <a:ahLst/>
              <a:cxnLst>
                <a:cxn ang="0">
                  <a:pos x="T0" y="T1"/>
                </a:cxn>
                <a:cxn ang="0">
                  <a:pos x="T2" y="T3"/>
                </a:cxn>
                <a:cxn ang="0">
                  <a:pos x="T4" y="T5"/>
                </a:cxn>
                <a:cxn ang="0">
                  <a:pos x="T6" y="T7"/>
                </a:cxn>
              </a:cxnLst>
              <a:rect l="0" t="0" r="r" b="b"/>
              <a:pathLst>
                <a:path w="128" h="384">
                  <a:moveTo>
                    <a:pt x="0" y="384"/>
                  </a:moveTo>
                  <a:lnTo>
                    <a:pt x="128" y="384"/>
                  </a:lnTo>
                  <a:lnTo>
                    <a:pt x="64" y="0"/>
                  </a:lnTo>
                  <a:lnTo>
                    <a:pt x="0" y="384"/>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3" name="未知"/>
            <p:cNvSpPr>
              <a:spLocks noChangeAspect="1"/>
            </p:cNvSpPr>
            <p:nvPr/>
          </p:nvSpPr>
          <p:spPr bwMode="auto">
            <a:xfrm>
              <a:off x="3013" y="350"/>
              <a:ext cx="24" cy="59"/>
            </a:xfrm>
            <a:custGeom>
              <a:avLst/>
              <a:gdLst>
                <a:gd name="T0" fmla="*/ 0 w 128"/>
                <a:gd name="T1" fmla="*/ 384 h 384"/>
                <a:gd name="T2" fmla="*/ 128 w 128"/>
                <a:gd name="T3" fmla="*/ 384 h 384"/>
                <a:gd name="T4" fmla="*/ 64 w 128"/>
                <a:gd name="T5" fmla="*/ 0 h 384"/>
                <a:gd name="T6" fmla="*/ 0 w 128"/>
                <a:gd name="T7" fmla="*/ 384 h 384"/>
              </a:gdLst>
              <a:ahLst/>
              <a:cxnLst>
                <a:cxn ang="0">
                  <a:pos x="T0" y="T1"/>
                </a:cxn>
                <a:cxn ang="0">
                  <a:pos x="T2" y="T3"/>
                </a:cxn>
                <a:cxn ang="0">
                  <a:pos x="T4" y="T5"/>
                </a:cxn>
                <a:cxn ang="0">
                  <a:pos x="T6" y="T7"/>
                </a:cxn>
              </a:cxnLst>
              <a:rect l="0" t="0" r="r" b="b"/>
              <a:pathLst>
                <a:path w="128" h="384">
                  <a:moveTo>
                    <a:pt x="0" y="384"/>
                  </a:moveTo>
                  <a:lnTo>
                    <a:pt x="128" y="384"/>
                  </a:lnTo>
                  <a:lnTo>
                    <a:pt x="64" y="0"/>
                  </a:lnTo>
                  <a:lnTo>
                    <a:pt x="0" y="384"/>
                  </a:lnTo>
                </a:path>
              </a:pathLst>
            </a:custGeom>
            <a:noFill/>
            <a:ln w="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4" name="Line 469"/>
            <p:cNvSpPr>
              <a:spLocks noChangeAspect="1" noChangeShapeType="1"/>
            </p:cNvSpPr>
            <p:nvPr/>
          </p:nvSpPr>
          <p:spPr bwMode="auto">
            <a:xfrm flipV="1">
              <a:off x="3024" y="407"/>
              <a:ext cx="1" cy="95"/>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5" name="未知"/>
            <p:cNvSpPr>
              <a:spLocks noChangeAspect="1"/>
            </p:cNvSpPr>
            <p:nvPr/>
          </p:nvSpPr>
          <p:spPr bwMode="auto">
            <a:xfrm>
              <a:off x="3639" y="705"/>
              <a:ext cx="23" cy="58"/>
            </a:xfrm>
            <a:custGeom>
              <a:avLst/>
              <a:gdLst>
                <a:gd name="T0" fmla="*/ 0 w 127"/>
                <a:gd name="T1" fmla="*/ 384 h 384"/>
                <a:gd name="T2" fmla="*/ 127 w 127"/>
                <a:gd name="T3" fmla="*/ 384 h 384"/>
                <a:gd name="T4" fmla="*/ 64 w 127"/>
                <a:gd name="T5" fmla="*/ 0 h 384"/>
                <a:gd name="T6" fmla="*/ 0 w 127"/>
                <a:gd name="T7" fmla="*/ 384 h 384"/>
              </a:gdLst>
              <a:ahLst/>
              <a:cxnLst>
                <a:cxn ang="0">
                  <a:pos x="T0" y="T1"/>
                </a:cxn>
                <a:cxn ang="0">
                  <a:pos x="T2" y="T3"/>
                </a:cxn>
                <a:cxn ang="0">
                  <a:pos x="T4" y="T5"/>
                </a:cxn>
                <a:cxn ang="0">
                  <a:pos x="T6" y="T7"/>
                </a:cxn>
              </a:cxnLst>
              <a:rect l="0" t="0" r="r" b="b"/>
              <a:pathLst>
                <a:path w="127" h="384">
                  <a:moveTo>
                    <a:pt x="0" y="384"/>
                  </a:moveTo>
                  <a:lnTo>
                    <a:pt x="127" y="384"/>
                  </a:lnTo>
                  <a:lnTo>
                    <a:pt x="64" y="0"/>
                  </a:lnTo>
                  <a:lnTo>
                    <a:pt x="0" y="384"/>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6" name="未知"/>
            <p:cNvSpPr>
              <a:spLocks noChangeAspect="1"/>
            </p:cNvSpPr>
            <p:nvPr/>
          </p:nvSpPr>
          <p:spPr bwMode="auto">
            <a:xfrm>
              <a:off x="3639" y="705"/>
              <a:ext cx="23" cy="58"/>
            </a:xfrm>
            <a:custGeom>
              <a:avLst/>
              <a:gdLst>
                <a:gd name="T0" fmla="*/ 0 w 127"/>
                <a:gd name="T1" fmla="*/ 384 h 384"/>
                <a:gd name="T2" fmla="*/ 127 w 127"/>
                <a:gd name="T3" fmla="*/ 384 h 384"/>
                <a:gd name="T4" fmla="*/ 64 w 127"/>
                <a:gd name="T5" fmla="*/ 0 h 384"/>
                <a:gd name="T6" fmla="*/ 0 w 127"/>
                <a:gd name="T7" fmla="*/ 384 h 384"/>
              </a:gdLst>
              <a:ahLst/>
              <a:cxnLst>
                <a:cxn ang="0">
                  <a:pos x="T0" y="T1"/>
                </a:cxn>
                <a:cxn ang="0">
                  <a:pos x="T2" y="T3"/>
                </a:cxn>
                <a:cxn ang="0">
                  <a:pos x="T4" y="T5"/>
                </a:cxn>
                <a:cxn ang="0">
                  <a:pos x="T6" y="T7"/>
                </a:cxn>
              </a:cxnLst>
              <a:rect l="0" t="0" r="r" b="b"/>
              <a:pathLst>
                <a:path w="127" h="384">
                  <a:moveTo>
                    <a:pt x="0" y="384"/>
                  </a:moveTo>
                  <a:lnTo>
                    <a:pt x="127" y="384"/>
                  </a:lnTo>
                  <a:lnTo>
                    <a:pt x="64" y="0"/>
                  </a:lnTo>
                  <a:lnTo>
                    <a:pt x="0" y="384"/>
                  </a:lnTo>
                </a:path>
              </a:pathLst>
            </a:custGeom>
            <a:noFill/>
            <a:ln w="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7" name="Line 472"/>
            <p:cNvSpPr>
              <a:spLocks noChangeAspect="1" noChangeShapeType="1"/>
            </p:cNvSpPr>
            <p:nvPr/>
          </p:nvSpPr>
          <p:spPr bwMode="auto">
            <a:xfrm flipV="1">
              <a:off x="3650" y="762"/>
              <a:ext cx="1" cy="95"/>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8" name="Line 473"/>
            <p:cNvSpPr>
              <a:spLocks noChangeAspect="1" noChangeShapeType="1"/>
            </p:cNvSpPr>
            <p:nvPr/>
          </p:nvSpPr>
          <p:spPr bwMode="auto">
            <a:xfrm>
              <a:off x="3241" y="351"/>
              <a:ext cx="1" cy="97"/>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9" name="未知"/>
            <p:cNvSpPr>
              <a:spLocks noChangeAspect="1"/>
            </p:cNvSpPr>
            <p:nvPr/>
          </p:nvSpPr>
          <p:spPr bwMode="auto">
            <a:xfrm>
              <a:off x="3228" y="446"/>
              <a:ext cx="23" cy="58"/>
            </a:xfrm>
            <a:custGeom>
              <a:avLst/>
              <a:gdLst>
                <a:gd name="T0" fmla="*/ 0 w 127"/>
                <a:gd name="T1" fmla="*/ 0 h 384"/>
                <a:gd name="T2" fmla="*/ 127 w 127"/>
                <a:gd name="T3" fmla="*/ 0 h 384"/>
                <a:gd name="T4" fmla="*/ 63 w 127"/>
                <a:gd name="T5" fmla="*/ 384 h 384"/>
                <a:gd name="T6" fmla="*/ 0 w 127"/>
                <a:gd name="T7" fmla="*/ 0 h 384"/>
              </a:gdLst>
              <a:ahLst/>
              <a:cxnLst>
                <a:cxn ang="0">
                  <a:pos x="T0" y="T1"/>
                </a:cxn>
                <a:cxn ang="0">
                  <a:pos x="T2" y="T3"/>
                </a:cxn>
                <a:cxn ang="0">
                  <a:pos x="T4" y="T5"/>
                </a:cxn>
                <a:cxn ang="0">
                  <a:pos x="T6" y="T7"/>
                </a:cxn>
              </a:cxnLst>
              <a:rect l="0" t="0" r="r" b="b"/>
              <a:pathLst>
                <a:path w="127" h="384">
                  <a:moveTo>
                    <a:pt x="0" y="0"/>
                  </a:moveTo>
                  <a:lnTo>
                    <a:pt x="127" y="0"/>
                  </a:lnTo>
                  <a:lnTo>
                    <a:pt x="63" y="384"/>
                  </a:lnTo>
                  <a:lnTo>
                    <a:pt x="0"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0" name="未知"/>
            <p:cNvSpPr>
              <a:spLocks noChangeAspect="1"/>
            </p:cNvSpPr>
            <p:nvPr/>
          </p:nvSpPr>
          <p:spPr bwMode="auto">
            <a:xfrm>
              <a:off x="3228" y="446"/>
              <a:ext cx="23" cy="58"/>
            </a:xfrm>
            <a:custGeom>
              <a:avLst/>
              <a:gdLst>
                <a:gd name="T0" fmla="*/ 0 w 127"/>
                <a:gd name="T1" fmla="*/ 0 h 384"/>
                <a:gd name="T2" fmla="*/ 127 w 127"/>
                <a:gd name="T3" fmla="*/ 0 h 384"/>
                <a:gd name="T4" fmla="*/ 63 w 127"/>
                <a:gd name="T5" fmla="*/ 384 h 384"/>
                <a:gd name="T6" fmla="*/ 0 w 127"/>
                <a:gd name="T7" fmla="*/ 0 h 384"/>
              </a:gdLst>
              <a:ahLst/>
              <a:cxnLst>
                <a:cxn ang="0">
                  <a:pos x="T0" y="T1"/>
                </a:cxn>
                <a:cxn ang="0">
                  <a:pos x="T2" y="T3"/>
                </a:cxn>
                <a:cxn ang="0">
                  <a:pos x="T4" y="T5"/>
                </a:cxn>
                <a:cxn ang="0">
                  <a:pos x="T6" y="T7"/>
                </a:cxn>
              </a:cxnLst>
              <a:rect l="0" t="0" r="r" b="b"/>
              <a:pathLst>
                <a:path w="127" h="384">
                  <a:moveTo>
                    <a:pt x="0" y="0"/>
                  </a:moveTo>
                  <a:lnTo>
                    <a:pt x="127" y="0"/>
                  </a:lnTo>
                  <a:lnTo>
                    <a:pt x="63" y="384"/>
                  </a:lnTo>
                  <a:lnTo>
                    <a:pt x="0" y="0"/>
                  </a:lnTo>
                </a:path>
              </a:pathLst>
            </a:custGeom>
            <a:noFill/>
            <a:ln w="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1" name="未知"/>
            <p:cNvSpPr>
              <a:spLocks noChangeAspect="1"/>
            </p:cNvSpPr>
            <p:nvPr/>
          </p:nvSpPr>
          <p:spPr bwMode="auto">
            <a:xfrm>
              <a:off x="3239" y="504"/>
              <a:ext cx="1" cy="1"/>
            </a:xfrm>
            <a:custGeom>
              <a:avLst/>
              <a:gdLst>
                <a:gd name="T0" fmla="*/ 2 w 2"/>
                <a:gd name="T1" fmla="*/ 1 h 2"/>
                <a:gd name="T2" fmla="*/ 0 w 2"/>
                <a:gd name="T3" fmla="*/ 0 h 2"/>
                <a:gd name="T4" fmla="*/ 1 w 2"/>
                <a:gd name="T5" fmla="*/ 2 h 2"/>
                <a:gd name="T6" fmla="*/ 2 w 2"/>
                <a:gd name="T7" fmla="*/ 1 h 2"/>
              </a:gdLst>
              <a:ahLst/>
              <a:cxnLst>
                <a:cxn ang="0">
                  <a:pos x="T0" y="T1"/>
                </a:cxn>
                <a:cxn ang="0">
                  <a:pos x="T2" y="T3"/>
                </a:cxn>
                <a:cxn ang="0">
                  <a:pos x="T4" y="T5"/>
                </a:cxn>
                <a:cxn ang="0">
                  <a:pos x="T6" y="T7"/>
                </a:cxn>
              </a:cxnLst>
              <a:rect l="0" t="0" r="r" b="b"/>
              <a:pathLst>
                <a:path w="2" h="2">
                  <a:moveTo>
                    <a:pt x="2" y="1"/>
                  </a:moveTo>
                  <a:lnTo>
                    <a:pt x="0" y="0"/>
                  </a:lnTo>
                  <a:lnTo>
                    <a:pt x="1" y="2"/>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2" name="Line 477"/>
            <p:cNvSpPr>
              <a:spLocks noChangeAspect="1" noChangeShapeType="1"/>
            </p:cNvSpPr>
            <p:nvPr/>
          </p:nvSpPr>
          <p:spPr bwMode="auto">
            <a:xfrm>
              <a:off x="3436" y="706"/>
              <a:ext cx="1" cy="96"/>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3" name="未知"/>
            <p:cNvSpPr>
              <a:spLocks noChangeAspect="1"/>
            </p:cNvSpPr>
            <p:nvPr/>
          </p:nvSpPr>
          <p:spPr bwMode="auto">
            <a:xfrm>
              <a:off x="3424" y="801"/>
              <a:ext cx="22" cy="58"/>
            </a:xfrm>
            <a:custGeom>
              <a:avLst/>
              <a:gdLst>
                <a:gd name="T0" fmla="*/ 0 w 128"/>
                <a:gd name="T1" fmla="*/ 0 h 384"/>
                <a:gd name="T2" fmla="*/ 128 w 128"/>
                <a:gd name="T3" fmla="*/ 0 h 384"/>
                <a:gd name="T4" fmla="*/ 63 w 128"/>
                <a:gd name="T5" fmla="*/ 384 h 384"/>
                <a:gd name="T6" fmla="*/ 0 w 128"/>
                <a:gd name="T7" fmla="*/ 0 h 384"/>
              </a:gdLst>
              <a:ahLst/>
              <a:cxnLst>
                <a:cxn ang="0">
                  <a:pos x="T0" y="T1"/>
                </a:cxn>
                <a:cxn ang="0">
                  <a:pos x="T2" y="T3"/>
                </a:cxn>
                <a:cxn ang="0">
                  <a:pos x="T4" y="T5"/>
                </a:cxn>
                <a:cxn ang="0">
                  <a:pos x="T6" y="T7"/>
                </a:cxn>
              </a:cxnLst>
              <a:rect l="0" t="0" r="r" b="b"/>
              <a:pathLst>
                <a:path w="128" h="384">
                  <a:moveTo>
                    <a:pt x="0" y="0"/>
                  </a:moveTo>
                  <a:lnTo>
                    <a:pt x="128" y="0"/>
                  </a:lnTo>
                  <a:lnTo>
                    <a:pt x="63" y="384"/>
                  </a:lnTo>
                  <a:lnTo>
                    <a:pt x="0"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4" name="未知"/>
            <p:cNvSpPr>
              <a:spLocks noChangeAspect="1"/>
            </p:cNvSpPr>
            <p:nvPr/>
          </p:nvSpPr>
          <p:spPr bwMode="auto">
            <a:xfrm>
              <a:off x="3424" y="801"/>
              <a:ext cx="22" cy="58"/>
            </a:xfrm>
            <a:custGeom>
              <a:avLst/>
              <a:gdLst>
                <a:gd name="T0" fmla="*/ 0 w 128"/>
                <a:gd name="T1" fmla="*/ 0 h 384"/>
                <a:gd name="T2" fmla="*/ 128 w 128"/>
                <a:gd name="T3" fmla="*/ 0 h 384"/>
                <a:gd name="T4" fmla="*/ 63 w 128"/>
                <a:gd name="T5" fmla="*/ 384 h 384"/>
                <a:gd name="T6" fmla="*/ 0 w 128"/>
                <a:gd name="T7" fmla="*/ 0 h 384"/>
              </a:gdLst>
              <a:ahLst/>
              <a:cxnLst>
                <a:cxn ang="0">
                  <a:pos x="T0" y="T1"/>
                </a:cxn>
                <a:cxn ang="0">
                  <a:pos x="T2" y="T3"/>
                </a:cxn>
                <a:cxn ang="0">
                  <a:pos x="T4" y="T5"/>
                </a:cxn>
                <a:cxn ang="0">
                  <a:pos x="T6" y="T7"/>
                </a:cxn>
              </a:cxnLst>
              <a:rect l="0" t="0" r="r" b="b"/>
              <a:pathLst>
                <a:path w="128" h="384">
                  <a:moveTo>
                    <a:pt x="0" y="0"/>
                  </a:moveTo>
                  <a:lnTo>
                    <a:pt x="128" y="0"/>
                  </a:lnTo>
                  <a:lnTo>
                    <a:pt x="63" y="384"/>
                  </a:lnTo>
                  <a:lnTo>
                    <a:pt x="0" y="0"/>
                  </a:lnTo>
                </a:path>
              </a:pathLst>
            </a:custGeom>
            <a:noFill/>
            <a:ln w="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5" name="未知"/>
            <p:cNvSpPr>
              <a:spLocks noChangeAspect="1"/>
            </p:cNvSpPr>
            <p:nvPr/>
          </p:nvSpPr>
          <p:spPr bwMode="auto">
            <a:xfrm>
              <a:off x="3434" y="859"/>
              <a:ext cx="1" cy="1"/>
            </a:xfrm>
            <a:custGeom>
              <a:avLst/>
              <a:gdLst>
                <a:gd name="T0" fmla="*/ 2 w 2"/>
                <a:gd name="T1" fmla="*/ 1 h 2"/>
                <a:gd name="T2" fmla="*/ 0 w 2"/>
                <a:gd name="T3" fmla="*/ 0 h 2"/>
                <a:gd name="T4" fmla="*/ 1 w 2"/>
                <a:gd name="T5" fmla="*/ 2 h 2"/>
                <a:gd name="T6" fmla="*/ 2 w 2"/>
                <a:gd name="T7" fmla="*/ 1 h 2"/>
              </a:gdLst>
              <a:ahLst/>
              <a:cxnLst>
                <a:cxn ang="0">
                  <a:pos x="T0" y="T1"/>
                </a:cxn>
                <a:cxn ang="0">
                  <a:pos x="T2" y="T3"/>
                </a:cxn>
                <a:cxn ang="0">
                  <a:pos x="T4" y="T5"/>
                </a:cxn>
                <a:cxn ang="0">
                  <a:pos x="T6" y="T7"/>
                </a:cxn>
              </a:cxnLst>
              <a:rect l="0" t="0" r="r" b="b"/>
              <a:pathLst>
                <a:path w="2" h="2">
                  <a:moveTo>
                    <a:pt x="2" y="1"/>
                  </a:moveTo>
                  <a:lnTo>
                    <a:pt x="0" y="0"/>
                  </a:lnTo>
                  <a:lnTo>
                    <a:pt x="1" y="2"/>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6" name="未知"/>
            <p:cNvSpPr>
              <a:spLocks noChangeAspect="1"/>
            </p:cNvSpPr>
            <p:nvPr/>
          </p:nvSpPr>
          <p:spPr bwMode="auto">
            <a:xfrm>
              <a:off x="3424" y="1883"/>
              <a:ext cx="23" cy="59"/>
            </a:xfrm>
            <a:custGeom>
              <a:avLst/>
              <a:gdLst>
                <a:gd name="T0" fmla="*/ 0 w 128"/>
                <a:gd name="T1" fmla="*/ 384 h 384"/>
                <a:gd name="T2" fmla="*/ 128 w 128"/>
                <a:gd name="T3" fmla="*/ 384 h 384"/>
                <a:gd name="T4" fmla="*/ 63 w 128"/>
                <a:gd name="T5" fmla="*/ 0 h 384"/>
                <a:gd name="T6" fmla="*/ 0 w 128"/>
                <a:gd name="T7" fmla="*/ 384 h 384"/>
              </a:gdLst>
              <a:ahLst/>
              <a:cxnLst>
                <a:cxn ang="0">
                  <a:pos x="T0" y="T1"/>
                </a:cxn>
                <a:cxn ang="0">
                  <a:pos x="T2" y="T3"/>
                </a:cxn>
                <a:cxn ang="0">
                  <a:pos x="T4" y="T5"/>
                </a:cxn>
                <a:cxn ang="0">
                  <a:pos x="T6" y="T7"/>
                </a:cxn>
              </a:cxnLst>
              <a:rect l="0" t="0" r="r" b="b"/>
              <a:pathLst>
                <a:path w="128" h="384">
                  <a:moveTo>
                    <a:pt x="0" y="384"/>
                  </a:moveTo>
                  <a:lnTo>
                    <a:pt x="128" y="384"/>
                  </a:lnTo>
                  <a:lnTo>
                    <a:pt x="63" y="0"/>
                  </a:lnTo>
                  <a:lnTo>
                    <a:pt x="0" y="384"/>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7" name="未知"/>
            <p:cNvSpPr>
              <a:spLocks noChangeAspect="1"/>
            </p:cNvSpPr>
            <p:nvPr/>
          </p:nvSpPr>
          <p:spPr bwMode="auto">
            <a:xfrm>
              <a:off x="3424" y="1883"/>
              <a:ext cx="23" cy="59"/>
            </a:xfrm>
            <a:custGeom>
              <a:avLst/>
              <a:gdLst>
                <a:gd name="T0" fmla="*/ 0 w 128"/>
                <a:gd name="T1" fmla="*/ 384 h 384"/>
                <a:gd name="T2" fmla="*/ 128 w 128"/>
                <a:gd name="T3" fmla="*/ 384 h 384"/>
                <a:gd name="T4" fmla="*/ 63 w 128"/>
                <a:gd name="T5" fmla="*/ 0 h 384"/>
                <a:gd name="T6" fmla="*/ 0 w 128"/>
                <a:gd name="T7" fmla="*/ 384 h 384"/>
              </a:gdLst>
              <a:ahLst/>
              <a:cxnLst>
                <a:cxn ang="0">
                  <a:pos x="T0" y="T1"/>
                </a:cxn>
                <a:cxn ang="0">
                  <a:pos x="T2" y="T3"/>
                </a:cxn>
                <a:cxn ang="0">
                  <a:pos x="T4" y="T5"/>
                </a:cxn>
                <a:cxn ang="0">
                  <a:pos x="T6" y="T7"/>
                </a:cxn>
              </a:cxnLst>
              <a:rect l="0" t="0" r="r" b="b"/>
              <a:pathLst>
                <a:path w="128" h="384">
                  <a:moveTo>
                    <a:pt x="0" y="384"/>
                  </a:moveTo>
                  <a:lnTo>
                    <a:pt x="128" y="384"/>
                  </a:lnTo>
                  <a:lnTo>
                    <a:pt x="63" y="0"/>
                  </a:lnTo>
                  <a:lnTo>
                    <a:pt x="0" y="384"/>
                  </a:lnTo>
                </a:path>
              </a:pathLst>
            </a:custGeom>
            <a:noFill/>
            <a:ln w="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8" name="Line 483"/>
            <p:cNvSpPr>
              <a:spLocks noChangeAspect="1" noChangeShapeType="1"/>
            </p:cNvSpPr>
            <p:nvPr/>
          </p:nvSpPr>
          <p:spPr bwMode="auto">
            <a:xfrm flipV="1">
              <a:off x="3434" y="1939"/>
              <a:ext cx="1" cy="96"/>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9" name="Line 484"/>
            <p:cNvSpPr>
              <a:spLocks noChangeAspect="1" noChangeShapeType="1"/>
            </p:cNvSpPr>
            <p:nvPr/>
          </p:nvSpPr>
          <p:spPr bwMode="auto">
            <a:xfrm>
              <a:off x="3652" y="1884"/>
              <a:ext cx="1" cy="97"/>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0" name="未知"/>
            <p:cNvSpPr>
              <a:spLocks noChangeAspect="1"/>
            </p:cNvSpPr>
            <p:nvPr/>
          </p:nvSpPr>
          <p:spPr bwMode="auto">
            <a:xfrm>
              <a:off x="3638" y="1979"/>
              <a:ext cx="23" cy="58"/>
            </a:xfrm>
            <a:custGeom>
              <a:avLst/>
              <a:gdLst>
                <a:gd name="T0" fmla="*/ 0 w 127"/>
                <a:gd name="T1" fmla="*/ 0 h 384"/>
                <a:gd name="T2" fmla="*/ 127 w 127"/>
                <a:gd name="T3" fmla="*/ 0 h 384"/>
                <a:gd name="T4" fmla="*/ 64 w 127"/>
                <a:gd name="T5" fmla="*/ 384 h 384"/>
                <a:gd name="T6" fmla="*/ 0 w 127"/>
                <a:gd name="T7" fmla="*/ 0 h 384"/>
              </a:gdLst>
              <a:ahLst/>
              <a:cxnLst>
                <a:cxn ang="0">
                  <a:pos x="T0" y="T1"/>
                </a:cxn>
                <a:cxn ang="0">
                  <a:pos x="T2" y="T3"/>
                </a:cxn>
                <a:cxn ang="0">
                  <a:pos x="T4" y="T5"/>
                </a:cxn>
                <a:cxn ang="0">
                  <a:pos x="T6" y="T7"/>
                </a:cxn>
              </a:cxnLst>
              <a:rect l="0" t="0" r="r" b="b"/>
              <a:pathLst>
                <a:path w="127" h="384">
                  <a:moveTo>
                    <a:pt x="0" y="0"/>
                  </a:moveTo>
                  <a:lnTo>
                    <a:pt x="127" y="0"/>
                  </a:lnTo>
                  <a:lnTo>
                    <a:pt x="64" y="384"/>
                  </a:lnTo>
                  <a:lnTo>
                    <a:pt x="0"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1" name="未知"/>
            <p:cNvSpPr>
              <a:spLocks noChangeAspect="1"/>
            </p:cNvSpPr>
            <p:nvPr/>
          </p:nvSpPr>
          <p:spPr bwMode="auto">
            <a:xfrm>
              <a:off x="3638" y="1979"/>
              <a:ext cx="23" cy="58"/>
            </a:xfrm>
            <a:custGeom>
              <a:avLst/>
              <a:gdLst>
                <a:gd name="T0" fmla="*/ 0 w 127"/>
                <a:gd name="T1" fmla="*/ 0 h 384"/>
                <a:gd name="T2" fmla="*/ 127 w 127"/>
                <a:gd name="T3" fmla="*/ 0 h 384"/>
                <a:gd name="T4" fmla="*/ 64 w 127"/>
                <a:gd name="T5" fmla="*/ 384 h 384"/>
                <a:gd name="T6" fmla="*/ 0 w 127"/>
                <a:gd name="T7" fmla="*/ 0 h 384"/>
              </a:gdLst>
              <a:ahLst/>
              <a:cxnLst>
                <a:cxn ang="0">
                  <a:pos x="T0" y="T1"/>
                </a:cxn>
                <a:cxn ang="0">
                  <a:pos x="T2" y="T3"/>
                </a:cxn>
                <a:cxn ang="0">
                  <a:pos x="T4" y="T5"/>
                </a:cxn>
                <a:cxn ang="0">
                  <a:pos x="T6" y="T7"/>
                </a:cxn>
              </a:cxnLst>
              <a:rect l="0" t="0" r="r" b="b"/>
              <a:pathLst>
                <a:path w="127" h="384">
                  <a:moveTo>
                    <a:pt x="0" y="0"/>
                  </a:moveTo>
                  <a:lnTo>
                    <a:pt x="127" y="0"/>
                  </a:lnTo>
                  <a:lnTo>
                    <a:pt x="64" y="384"/>
                  </a:lnTo>
                  <a:lnTo>
                    <a:pt x="0" y="0"/>
                  </a:lnTo>
                </a:path>
              </a:pathLst>
            </a:custGeom>
            <a:noFill/>
            <a:ln w="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92" name="未知"/>
            <p:cNvSpPr>
              <a:spLocks noChangeAspect="1"/>
            </p:cNvSpPr>
            <p:nvPr/>
          </p:nvSpPr>
          <p:spPr bwMode="auto">
            <a:xfrm>
              <a:off x="3649" y="2037"/>
              <a:ext cx="1" cy="1"/>
            </a:xfrm>
            <a:custGeom>
              <a:avLst/>
              <a:gdLst>
                <a:gd name="T0" fmla="*/ 2 w 2"/>
                <a:gd name="T1" fmla="*/ 1 h 2"/>
                <a:gd name="T2" fmla="*/ 0 w 2"/>
                <a:gd name="T3" fmla="*/ 0 h 2"/>
                <a:gd name="T4" fmla="*/ 1 w 2"/>
                <a:gd name="T5" fmla="*/ 2 h 2"/>
                <a:gd name="T6" fmla="*/ 2 w 2"/>
                <a:gd name="T7" fmla="*/ 1 h 2"/>
              </a:gdLst>
              <a:ahLst/>
              <a:cxnLst>
                <a:cxn ang="0">
                  <a:pos x="T0" y="T1"/>
                </a:cxn>
                <a:cxn ang="0">
                  <a:pos x="T2" y="T3"/>
                </a:cxn>
                <a:cxn ang="0">
                  <a:pos x="T4" y="T5"/>
                </a:cxn>
                <a:cxn ang="0">
                  <a:pos x="T6" y="T7"/>
                </a:cxn>
              </a:cxnLst>
              <a:rect l="0" t="0" r="r" b="b"/>
              <a:pathLst>
                <a:path w="2" h="2">
                  <a:moveTo>
                    <a:pt x="2" y="1"/>
                  </a:moveTo>
                  <a:lnTo>
                    <a:pt x="0" y="0"/>
                  </a:lnTo>
                  <a:lnTo>
                    <a:pt x="1" y="2"/>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3" name="未知"/>
            <p:cNvSpPr>
              <a:spLocks noChangeAspect="1"/>
            </p:cNvSpPr>
            <p:nvPr/>
          </p:nvSpPr>
          <p:spPr bwMode="auto">
            <a:xfrm>
              <a:off x="3011" y="1652"/>
              <a:ext cx="24" cy="59"/>
            </a:xfrm>
            <a:custGeom>
              <a:avLst/>
              <a:gdLst>
                <a:gd name="T0" fmla="*/ 0 w 129"/>
                <a:gd name="T1" fmla="*/ 0 h 384"/>
                <a:gd name="T2" fmla="*/ 129 w 129"/>
                <a:gd name="T3" fmla="*/ 0 h 384"/>
                <a:gd name="T4" fmla="*/ 65 w 129"/>
                <a:gd name="T5" fmla="*/ 384 h 384"/>
                <a:gd name="T6" fmla="*/ 0 w 129"/>
                <a:gd name="T7" fmla="*/ 0 h 384"/>
              </a:gdLst>
              <a:ahLst/>
              <a:cxnLst>
                <a:cxn ang="0">
                  <a:pos x="T0" y="T1"/>
                </a:cxn>
                <a:cxn ang="0">
                  <a:pos x="T2" y="T3"/>
                </a:cxn>
                <a:cxn ang="0">
                  <a:pos x="T4" y="T5"/>
                </a:cxn>
                <a:cxn ang="0">
                  <a:pos x="T6" y="T7"/>
                </a:cxn>
              </a:cxnLst>
              <a:rect l="0" t="0" r="r" b="b"/>
              <a:pathLst>
                <a:path w="129" h="384">
                  <a:moveTo>
                    <a:pt x="0" y="0"/>
                  </a:moveTo>
                  <a:lnTo>
                    <a:pt x="129" y="0"/>
                  </a:lnTo>
                  <a:lnTo>
                    <a:pt x="65" y="384"/>
                  </a:lnTo>
                  <a:lnTo>
                    <a:pt x="0"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4" name="未知"/>
            <p:cNvSpPr>
              <a:spLocks noChangeAspect="1"/>
            </p:cNvSpPr>
            <p:nvPr/>
          </p:nvSpPr>
          <p:spPr bwMode="auto">
            <a:xfrm>
              <a:off x="3011" y="1652"/>
              <a:ext cx="24" cy="59"/>
            </a:xfrm>
            <a:custGeom>
              <a:avLst/>
              <a:gdLst>
                <a:gd name="T0" fmla="*/ 0 w 129"/>
                <a:gd name="T1" fmla="*/ 0 h 384"/>
                <a:gd name="T2" fmla="*/ 129 w 129"/>
                <a:gd name="T3" fmla="*/ 0 h 384"/>
                <a:gd name="T4" fmla="*/ 65 w 129"/>
                <a:gd name="T5" fmla="*/ 384 h 384"/>
                <a:gd name="T6" fmla="*/ 0 w 129"/>
                <a:gd name="T7" fmla="*/ 0 h 384"/>
              </a:gdLst>
              <a:ahLst/>
              <a:cxnLst>
                <a:cxn ang="0">
                  <a:pos x="T0" y="T1"/>
                </a:cxn>
                <a:cxn ang="0">
                  <a:pos x="T2" y="T3"/>
                </a:cxn>
                <a:cxn ang="0">
                  <a:pos x="T4" y="T5"/>
                </a:cxn>
                <a:cxn ang="0">
                  <a:pos x="T6" y="T7"/>
                </a:cxn>
              </a:cxnLst>
              <a:rect l="0" t="0" r="r" b="b"/>
              <a:pathLst>
                <a:path w="129" h="384">
                  <a:moveTo>
                    <a:pt x="0" y="0"/>
                  </a:moveTo>
                  <a:lnTo>
                    <a:pt x="129" y="0"/>
                  </a:lnTo>
                  <a:lnTo>
                    <a:pt x="65" y="384"/>
                  </a:lnTo>
                  <a:lnTo>
                    <a:pt x="0" y="0"/>
                  </a:lnTo>
                </a:path>
              </a:pathLst>
            </a:custGeom>
            <a:noFill/>
            <a:ln w="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95" name="未知"/>
            <p:cNvSpPr>
              <a:spLocks noChangeAspect="1"/>
            </p:cNvSpPr>
            <p:nvPr/>
          </p:nvSpPr>
          <p:spPr bwMode="auto">
            <a:xfrm>
              <a:off x="3023" y="1711"/>
              <a:ext cx="1" cy="0"/>
            </a:xfrm>
            <a:custGeom>
              <a:avLst/>
              <a:gdLst>
                <a:gd name="T0" fmla="*/ 2 w 2"/>
                <a:gd name="T1" fmla="*/ 1 h 2"/>
                <a:gd name="T2" fmla="*/ 0 w 2"/>
                <a:gd name="T3" fmla="*/ 0 h 2"/>
                <a:gd name="T4" fmla="*/ 1 w 2"/>
                <a:gd name="T5" fmla="*/ 2 h 2"/>
                <a:gd name="T6" fmla="*/ 2 w 2"/>
                <a:gd name="T7" fmla="*/ 1 h 2"/>
              </a:gdLst>
              <a:ahLst/>
              <a:cxnLst>
                <a:cxn ang="0">
                  <a:pos x="T0" y="T1"/>
                </a:cxn>
                <a:cxn ang="0">
                  <a:pos x="T2" y="T3"/>
                </a:cxn>
                <a:cxn ang="0">
                  <a:pos x="T4" y="T5"/>
                </a:cxn>
                <a:cxn ang="0">
                  <a:pos x="T6" y="T7"/>
                </a:cxn>
              </a:cxnLst>
              <a:rect l="0" t="0" r="r" b="b"/>
              <a:pathLst>
                <a:path w="2" h="2">
                  <a:moveTo>
                    <a:pt x="2" y="1"/>
                  </a:moveTo>
                  <a:lnTo>
                    <a:pt x="0" y="0"/>
                  </a:lnTo>
                  <a:lnTo>
                    <a:pt x="1" y="2"/>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6" name="Line 491"/>
            <p:cNvSpPr>
              <a:spLocks noChangeAspect="1" noChangeShapeType="1"/>
            </p:cNvSpPr>
            <p:nvPr/>
          </p:nvSpPr>
          <p:spPr bwMode="auto">
            <a:xfrm>
              <a:off x="3025" y="1559"/>
              <a:ext cx="1" cy="95"/>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 name="Line 492"/>
            <p:cNvSpPr>
              <a:spLocks noChangeAspect="1" noChangeShapeType="1"/>
            </p:cNvSpPr>
            <p:nvPr/>
          </p:nvSpPr>
          <p:spPr bwMode="auto">
            <a:xfrm flipV="1">
              <a:off x="3238" y="1679"/>
              <a:ext cx="1" cy="96"/>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8" name="未知"/>
            <p:cNvSpPr>
              <a:spLocks noChangeAspect="1"/>
            </p:cNvSpPr>
            <p:nvPr/>
          </p:nvSpPr>
          <p:spPr bwMode="auto">
            <a:xfrm>
              <a:off x="3227" y="1623"/>
              <a:ext cx="23" cy="58"/>
            </a:xfrm>
            <a:custGeom>
              <a:avLst/>
              <a:gdLst>
                <a:gd name="T0" fmla="*/ 0 w 128"/>
                <a:gd name="T1" fmla="*/ 386 h 386"/>
                <a:gd name="T2" fmla="*/ 128 w 128"/>
                <a:gd name="T3" fmla="*/ 386 h 386"/>
                <a:gd name="T4" fmla="*/ 64 w 128"/>
                <a:gd name="T5" fmla="*/ 0 h 386"/>
                <a:gd name="T6" fmla="*/ 0 w 128"/>
                <a:gd name="T7" fmla="*/ 386 h 386"/>
              </a:gdLst>
              <a:ahLst/>
              <a:cxnLst>
                <a:cxn ang="0">
                  <a:pos x="T0" y="T1"/>
                </a:cxn>
                <a:cxn ang="0">
                  <a:pos x="T2" y="T3"/>
                </a:cxn>
                <a:cxn ang="0">
                  <a:pos x="T4" y="T5"/>
                </a:cxn>
                <a:cxn ang="0">
                  <a:pos x="T6" y="T7"/>
                </a:cxn>
              </a:cxnLst>
              <a:rect l="0" t="0" r="r" b="b"/>
              <a:pathLst>
                <a:path w="128" h="386">
                  <a:moveTo>
                    <a:pt x="0" y="386"/>
                  </a:moveTo>
                  <a:lnTo>
                    <a:pt x="128" y="386"/>
                  </a:lnTo>
                  <a:lnTo>
                    <a:pt x="64" y="0"/>
                  </a:lnTo>
                  <a:lnTo>
                    <a:pt x="0" y="386"/>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9" name="Rectangle 494"/>
            <p:cNvSpPr>
              <a:spLocks noChangeAspect="1" noChangeArrowheads="1"/>
            </p:cNvSpPr>
            <p:nvPr/>
          </p:nvSpPr>
          <p:spPr bwMode="auto">
            <a:xfrm>
              <a:off x="892" y="388"/>
              <a:ext cx="389"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i="1" dirty="0"/>
                <a:t>q=F/A</a:t>
              </a:r>
              <a:endParaRPr lang="en-US" altLang="zh-CN" sz="1800" dirty="0"/>
            </a:p>
          </p:txBody>
        </p:sp>
        <p:sp>
          <p:nvSpPr>
            <p:cNvPr id="300" name="Rectangle 495"/>
            <p:cNvSpPr>
              <a:spLocks noChangeAspect="1" noChangeArrowheads="1"/>
            </p:cNvSpPr>
            <p:nvPr/>
          </p:nvSpPr>
          <p:spPr bwMode="auto">
            <a:xfrm>
              <a:off x="716" y="1822"/>
              <a:ext cx="7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i="1" dirty="0"/>
                <a:t>q</a:t>
              </a:r>
              <a:endParaRPr lang="en-US" altLang="zh-CN" sz="1800" dirty="0"/>
            </a:p>
          </p:txBody>
        </p:sp>
        <p:sp>
          <p:nvSpPr>
            <p:cNvPr id="301" name="Rectangle 496"/>
            <p:cNvSpPr>
              <a:spLocks noChangeAspect="1" noChangeArrowheads="1"/>
            </p:cNvSpPr>
            <p:nvPr/>
          </p:nvSpPr>
          <p:spPr bwMode="auto">
            <a:xfrm>
              <a:off x="1720" y="285"/>
              <a:ext cx="20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i="1" dirty="0"/>
                <a:t>F/</a:t>
              </a:r>
              <a:r>
                <a:rPr lang="en-US" altLang="zh-CN" sz="1800" dirty="0"/>
                <a:t>2</a:t>
              </a:r>
            </a:p>
          </p:txBody>
        </p:sp>
        <p:sp>
          <p:nvSpPr>
            <p:cNvPr id="302" name="Rectangle 497"/>
            <p:cNvSpPr>
              <a:spLocks noChangeAspect="1" noChangeArrowheads="1"/>
            </p:cNvSpPr>
            <p:nvPr/>
          </p:nvSpPr>
          <p:spPr bwMode="auto">
            <a:xfrm>
              <a:off x="2409" y="569"/>
              <a:ext cx="20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i="1" dirty="0"/>
                <a:t>F/</a:t>
              </a:r>
              <a:r>
                <a:rPr lang="en-US" altLang="zh-CN" sz="1800" dirty="0"/>
                <a:t>2</a:t>
              </a:r>
            </a:p>
          </p:txBody>
        </p:sp>
        <p:sp>
          <p:nvSpPr>
            <p:cNvPr id="303" name="Rectangle 498"/>
            <p:cNvSpPr>
              <a:spLocks noChangeAspect="1" noChangeArrowheads="1"/>
            </p:cNvSpPr>
            <p:nvPr/>
          </p:nvSpPr>
          <p:spPr bwMode="auto">
            <a:xfrm>
              <a:off x="1627" y="1718"/>
              <a:ext cx="20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i="1" dirty="0"/>
                <a:t>F/</a:t>
              </a:r>
              <a:r>
                <a:rPr lang="en-US" altLang="zh-CN" sz="1800" dirty="0"/>
                <a:t>2</a:t>
              </a:r>
            </a:p>
          </p:txBody>
        </p:sp>
        <p:sp>
          <p:nvSpPr>
            <p:cNvPr id="304" name="Rectangle 499"/>
            <p:cNvSpPr>
              <a:spLocks noChangeAspect="1" noChangeArrowheads="1"/>
            </p:cNvSpPr>
            <p:nvPr/>
          </p:nvSpPr>
          <p:spPr bwMode="auto">
            <a:xfrm>
              <a:off x="2424" y="2073"/>
              <a:ext cx="20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i="1" dirty="0"/>
                <a:t>F/</a:t>
              </a:r>
              <a:r>
                <a:rPr lang="en-US" altLang="zh-CN" sz="1800" dirty="0"/>
                <a:t>2</a:t>
              </a:r>
            </a:p>
          </p:txBody>
        </p:sp>
        <p:sp>
          <p:nvSpPr>
            <p:cNvPr id="305" name="Rectangle 500"/>
            <p:cNvSpPr>
              <a:spLocks noChangeAspect="1" noChangeArrowheads="1"/>
            </p:cNvSpPr>
            <p:nvPr/>
          </p:nvSpPr>
          <p:spPr bwMode="auto">
            <a:xfrm>
              <a:off x="3063" y="304"/>
              <a:ext cx="89"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i="1" dirty="0"/>
                <a:t>F</a:t>
              </a:r>
              <a:endParaRPr lang="en-US" altLang="zh-CN" sz="1800" dirty="0"/>
            </a:p>
          </p:txBody>
        </p:sp>
        <p:sp>
          <p:nvSpPr>
            <p:cNvPr id="306" name="Rectangle 501"/>
            <p:cNvSpPr>
              <a:spLocks noChangeAspect="1" noChangeArrowheads="1"/>
            </p:cNvSpPr>
            <p:nvPr/>
          </p:nvSpPr>
          <p:spPr bwMode="auto">
            <a:xfrm>
              <a:off x="3273" y="289"/>
              <a:ext cx="89"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i="1" dirty="0"/>
                <a:t>F</a:t>
              </a:r>
            </a:p>
          </p:txBody>
        </p:sp>
        <p:sp>
          <p:nvSpPr>
            <p:cNvPr id="307" name="Rectangle 502"/>
            <p:cNvSpPr>
              <a:spLocks noChangeAspect="1" noChangeArrowheads="1"/>
            </p:cNvSpPr>
            <p:nvPr/>
          </p:nvSpPr>
          <p:spPr bwMode="auto">
            <a:xfrm>
              <a:off x="3456" y="610"/>
              <a:ext cx="19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altLang="zh-CN" sz="1500" i="1" dirty="0">
                  <a:latin typeface="Times New Roman" panose="02020603050405020304" pitchFamily="18" charset="0"/>
                </a:rPr>
                <a:t>F</a:t>
              </a:r>
              <a:endParaRPr lang="en-US" altLang="zh-CN" dirty="0"/>
            </a:p>
          </p:txBody>
        </p:sp>
        <p:sp>
          <p:nvSpPr>
            <p:cNvPr id="308" name="Rectangle 503"/>
            <p:cNvSpPr>
              <a:spLocks noChangeAspect="1" noChangeArrowheads="1"/>
            </p:cNvSpPr>
            <p:nvPr/>
          </p:nvSpPr>
          <p:spPr bwMode="auto">
            <a:xfrm>
              <a:off x="3690" y="638"/>
              <a:ext cx="7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i="1" dirty="0">
                  <a:latin typeface="Times New Roman" panose="02020603050405020304" pitchFamily="18" charset="0"/>
                </a:rPr>
                <a:t>F</a:t>
              </a:r>
              <a:endParaRPr lang="en-US" altLang="zh-CN" sz="1800" i="1" dirty="0"/>
            </a:p>
          </p:txBody>
        </p:sp>
        <p:sp>
          <p:nvSpPr>
            <p:cNvPr id="309" name="Rectangle 504"/>
            <p:cNvSpPr>
              <a:spLocks noChangeAspect="1" noChangeArrowheads="1"/>
            </p:cNvSpPr>
            <p:nvPr/>
          </p:nvSpPr>
          <p:spPr bwMode="auto">
            <a:xfrm>
              <a:off x="3239" y="1769"/>
              <a:ext cx="3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altLang="zh-CN" sz="1800" i="1" dirty="0"/>
                <a:t>F</a:t>
              </a:r>
              <a:endParaRPr lang="en-US" altLang="zh-CN" sz="1800" dirty="0"/>
            </a:p>
          </p:txBody>
        </p:sp>
        <p:sp>
          <p:nvSpPr>
            <p:cNvPr id="310" name="Rectangle 505"/>
            <p:cNvSpPr>
              <a:spLocks noChangeAspect="1" noChangeArrowheads="1"/>
            </p:cNvSpPr>
            <p:nvPr/>
          </p:nvSpPr>
          <p:spPr bwMode="auto">
            <a:xfrm>
              <a:off x="2973" y="1727"/>
              <a:ext cx="89"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i="1" dirty="0"/>
                <a:t>F</a:t>
              </a:r>
            </a:p>
          </p:txBody>
        </p:sp>
        <p:sp>
          <p:nvSpPr>
            <p:cNvPr id="311" name="Rectangle 506"/>
            <p:cNvSpPr>
              <a:spLocks noChangeAspect="1" noChangeArrowheads="1"/>
            </p:cNvSpPr>
            <p:nvPr/>
          </p:nvSpPr>
          <p:spPr bwMode="auto">
            <a:xfrm>
              <a:off x="3426" y="2044"/>
              <a:ext cx="7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i="1">
                  <a:latin typeface="Times New Roman" panose="02020603050405020304" pitchFamily="18" charset="0"/>
                </a:rPr>
                <a:t>F</a:t>
              </a:r>
              <a:endParaRPr lang="en-US" altLang="zh-CN"/>
            </a:p>
          </p:txBody>
        </p:sp>
        <p:sp>
          <p:nvSpPr>
            <p:cNvPr id="312" name="Rectangle 507"/>
            <p:cNvSpPr>
              <a:spLocks noChangeAspect="1" noChangeArrowheads="1"/>
            </p:cNvSpPr>
            <p:nvPr/>
          </p:nvSpPr>
          <p:spPr bwMode="auto">
            <a:xfrm>
              <a:off x="3633" y="2044"/>
              <a:ext cx="7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i="1">
                  <a:latin typeface="Times New Roman" panose="02020603050405020304" pitchFamily="18" charset="0"/>
                </a:rPr>
                <a:t>F</a:t>
              </a:r>
              <a:endParaRPr lang="en-US" altLang="zh-CN"/>
            </a:p>
          </p:txBody>
        </p:sp>
        <p:sp>
          <p:nvSpPr>
            <p:cNvPr id="315" name="未知"/>
            <p:cNvSpPr>
              <a:spLocks noChangeAspect="1"/>
            </p:cNvSpPr>
            <p:nvPr/>
          </p:nvSpPr>
          <p:spPr bwMode="auto">
            <a:xfrm>
              <a:off x="3227" y="1623"/>
              <a:ext cx="23" cy="58"/>
            </a:xfrm>
            <a:custGeom>
              <a:avLst/>
              <a:gdLst>
                <a:gd name="T0" fmla="*/ 0 w 128"/>
                <a:gd name="T1" fmla="*/ 386 h 386"/>
                <a:gd name="T2" fmla="*/ 128 w 128"/>
                <a:gd name="T3" fmla="*/ 386 h 386"/>
                <a:gd name="T4" fmla="*/ 64 w 128"/>
                <a:gd name="T5" fmla="*/ 0 h 386"/>
                <a:gd name="T6" fmla="*/ 0 w 128"/>
                <a:gd name="T7" fmla="*/ 386 h 386"/>
              </a:gdLst>
              <a:ahLst/>
              <a:cxnLst>
                <a:cxn ang="0">
                  <a:pos x="T0" y="T1"/>
                </a:cxn>
                <a:cxn ang="0">
                  <a:pos x="T2" y="T3"/>
                </a:cxn>
                <a:cxn ang="0">
                  <a:pos x="T4" y="T5"/>
                </a:cxn>
                <a:cxn ang="0">
                  <a:pos x="T6" y="T7"/>
                </a:cxn>
              </a:cxnLst>
              <a:rect l="0" t="0" r="r" b="b"/>
              <a:pathLst>
                <a:path w="128" h="386">
                  <a:moveTo>
                    <a:pt x="0" y="386"/>
                  </a:moveTo>
                  <a:lnTo>
                    <a:pt x="128" y="386"/>
                  </a:lnTo>
                  <a:lnTo>
                    <a:pt x="64" y="0"/>
                  </a:lnTo>
                  <a:lnTo>
                    <a:pt x="0" y="386"/>
                  </a:lnTo>
                </a:path>
              </a:pathLst>
            </a:custGeom>
            <a:noFill/>
            <a:ln w="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514" name="Group 9"/>
          <p:cNvGrpSpPr>
            <a:grpSpLocks/>
          </p:cNvGrpSpPr>
          <p:nvPr/>
        </p:nvGrpSpPr>
        <p:grpSpPr bwMode="auto">
          <a:xfrm>
            <a:off x="7694144" y="1371753"/>
            <a:ext cx="844550" cy="561976"/>
            <a:chOff x="4558" y="714"/>
            <a:chExt cx="532" cy="354"/>
          </a:xfrm>
        </p:grpSpPr>
        <p:sp>
          <p:nvSpPr>
            <p:cNvPr id="515" name="Line 10"/>
            <p:cNvSpPr>
              <a:spLocks noChangeShapeType="1"/>
            </p:cNvSpPr>
            <p:nvPr/>
          </p:nvSpPr>
          <p:spPr bwMode="auto">
            <a:xfrm>
              <a:off x="4560" y="803"/>
              <a:ext cx="240" cy="0"/>
            </a:xfrm>
            <a:prstGeom prst="line">
              <a:avLst/>
            </a:prstGeom>
            <a:noFill/>
            <a:ln w="31750">
              <a:solidFill>
                <a:srgbClr val="0000FF"/>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 name="Line 11"/>
            <p:cNvSpPr>
              <a:spLocks noChangeShapeType="1"/>
            </p:cNvSpPr>
            <p:nvPr/>
          </p:nvSpPr>
          <p:spPr bwMode="auto">
            <a:xfrm>
              <a:off x="4560" y="869"/>
              <a:ext cx="240" cy="0"/>
            </a:xfrm>
            <a:prstGeom prst="line">
              <a:avLst/>
            </a:prstGeom>
            <a:noFill/>
            <a:ln w="31750">
              <a:solidFill>
                <a:srgbClr val="0000FF"/>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 name="Line 12"/>
            <p:cNvSpPr>
              <a:spLocks noChangeShapeType="1"/>
            </p:cNvSpPr>
            <p:nvPr/>
          </p:nvSpPr>
          <p:spPr bwMode="auto">
            <a:xfrm>
              <a:off x="4560" y="935"/>
              <a:ext cx="240" cy="0"/>
            </a:xfrm>
            <a:prstGeom prst="line">
              <a:avLst/>
            </a:prstGeom>
            <a:noFill/>
            <a:ln w="31750">
              <a:solidFill>
                <a:srgbClr val="0000FF"/>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 name="Line 13"/>
            <p:cNvSpPr>
              <a:spLocks noChangeShapeType="1"/>
            </p:cNvSpPr>
            <p:nvPr/>
          </p:nvSpPr>
          <p:spPr bwMode="auto">
            <a:xfrm>
              <a:off x="4558" y="1003"/>
              <a:ext cx="240" cy="0"/>
            </a:xfrm>
            <a:prstGeom prst="line">
              <a:avLst/>
            </a:prstGeom>
            <a:noFill/>
            <a:ln w="31750">
              <a:solidFill>
                <a:srgbClr val="0000FF"/>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20" name="Object 15"/>
            <p:cNvGraphicFramePr>
              <a:graphicFrameLocks/>
            </p:cNvGraphicFramePr>
            <p:nvPr>
              <p:extLst>
                <p:ext uri="{D42A27DB-BD31-4B8C-83A1-F6EECF244321}">
                  <p14:modId xmlns:p14="http://schemas.microsoft.com/office/powerpoint/2010/main" val="1422573210"/>
                </p:ext>
              </p:extLst>
            </p:nvPr>
          </p:nvGraphicFramePr>
          <p:xfrm>
            <a:off x="4729" y="714"/>
            <a:ext cx="169" cy="354"/>
          </p:xfrm>
          <a:graphic>
            <a:graphicData uri="http://schemas.openxmlformats.org/presentationml/2006/ole">
              <mc:AlternateContent xmlns:mc="http://schemas.openxmlformats.org/markup-compatibility/2006">
                <mc:Choice xmlns:v="urn:schemas-microsoft-com:vml" Requires="v">
                  <p:oleObj name="Equation" r:id="rId2" imgW="171450" imgH="257175" progId="Equation.DSMT4">
                    <p:embed/>
                  </p:oleObj>
                </mc:Choice>
                <mc:Fallback>
                  <p:oleObj name="Equation" r:id="rId2" imgW="171450" imgH="257175" progId="Equation.DSMT4">
                    <p:embed/>
                    <p:pic>
                      <p:nvPicPr>
                        <p:cNvPr id="0" nam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9" y="714"/>
                          <a:ext cx="169" cy="354"/>
                        </a:xfrm>
                        <a:prstGeom prst="rect">
                          <a:avLst/>
                        </a:prstGeom>
                        <a:noFill/>
                        <a:ln>
                          <a:noFill/>
                        </a:ln>
                        <a:effectLst/>
                      </p:spPr>
                    </p:pic>
                  </p:oleObj>
                </mc:Fallback>
              </mc:AlternateContent>
            </a:graphicData>
          </a:graphic>
        </p:graphicFrame>
        <p:sp>
          <p:nvSpPr>
            <p:cNvPr id="522" name="Rectangle 17"/>
            <p:cNvSpPr>
              <a:spLocks noChangeArrowheads="1"/>
            </p:cNvSpPr>
            <p:nvPr/>
          </p:nvSpPr>
          <p:spPr bwMode="auto">
            <a:xfrm>
              <a:off x="4844" y="747"/>
              <a:ext cx="24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400" b="1" i="1" dirty="0">
                  <a:solidFill>
                    <a:srgbClr val="FF0000"/>
                  </a:solidFill>
                  <a:latin typeface="Times New Roman" panose="02020603050405020304" pitchFamily="18" charset="0"/>
                </a:rPr>
                <a:t>F</a:t>
              </a:r>
              <a:endParaRPr kumimoji="1" lang="en-US" altLang="zh-CN" sz="2400" b="1" i="1" dirty="0">
                <a:solidFill>
                  <a:srgbClr val="FF0000"/>
                </a:solidFill>
                <a:latin typeface="Times New Roman" panose="02020603050405020304" pitchFamily="18" charset="0"/>
                <a:ea typeface="'宋体" pitchFamily="34" charset="-122"/>
              </a:endParaRPr>
            </a:p>
          </p:txBody>
        </p:sp>
      </p:grpSp>
      <p:grpSp>
        <p:nvGrpSpPr>
          <p:cNvPr id="527" name="Group 3"/>
          <p:cNvGrpSpPr>
            <a:grpSpLocks/>
          </p:cNvGrpSpPr>
          <p:nvPr/>
        </p:nvGrpSpPr>
        <p:grpSpPr bwMode="auto">
          <a:xfrm>
            <a:off x="522319" y="1214955"/>
            <a:ext cx="3209926" cy="650876"/>
            <a:chOff x="3600" y="660"/>
            <a:chExt cx="2022" cy="410"/>
          </a:xfrm>
        </p:grpSpPr>
        <p:grpSp>
          <p:nvGrpSpPr>
            <p:cNvPr id="528" name="Group 4"/>
            <p:cNvGrpSpPr>
              <a:grpSpLocks/>
            </p:cNvGrpSpPr>
            <p:nvPr/>
          </p:nvGrpSpPr>
          <p:grpSpPr bwMode="auto">
            <a:xfrm>
              <a:off x="3600" y="660"/>
              <a:ext cx="1738" cy="410"/>
              <a:chOff x="3600" y="660"/>
              <a:chExt cx="1738" cy="410"/>
            </a:xfrm>
          </p:grpSpPr>
          <p:sp>
            <p:nvSpPr>
              <p:cNvPr id="538" name="Rectangle 5"/>
              <p:cNvSpPr>
                <a:spLocks noChangeArrowheads="1"/>
              </p:cNvSpPr>
              <p:nvPr/>
            </p:nvSpPr>
            <p:spPr bwMode="auto">
              <a:xfrm>
                <a:off x="3881" y="857"/>
                <a:ext cx="1457" cy="213"/>
              </a:xfrm>
              <a:prstGeom prst="rect">
                <a:avLst/>
              </a:prstGeom>
              <a:noFill/>
              <a:ln w="317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539" name="Line 6"/>
              <p:cNvSpPr>
                <a:spLocks noChangeShapeType="1"/>
              </p:cNvSpPr>
              <p:nvPr/>
            </p:nvSpPr>
            <p:spPr bwMode="auto">
              <a:xfrm flipH="1">
                <a:off x="3600" y="960"/>
                <a:ext cx="336" cy="0"/>
              </a:xfrm>
              <a:prstGeom prst="line">
                <a:avLst/>
              </a:prstGeom>
              <a:noFill/>
              <a:ln w="31750">
                <a:solidFill>
                  <a:srgbClr val="FF33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0" name="Line 7"/>
              <p:cNvSpPr>
                <a:spLocks noChangeShapeType="1"/>
              </p:cNvSpPr>
              <p:nvPr/>
            </p:nvSpPr>
            <p:spPr bwMode="auto">
              <a:xfrm flipV="1">
                <a:off x="3936" y="960"/>
                <a:ext cx="1402" cy="0"/>
              </a:xfrm>
              <a:prstGeom prst="line">
                <a:avLst/>
              </a:prstGeom>
              <a:noFill/>
              <a:ln w="31750">
                <a:solidFill>
                  <a:schemeClr val="tx1"/>
                </a:solidFill>
                <a:prstDash val="dash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1" name="Rectangle 8"/>
              <p:cNvSpPr>
                <a:spLocks noChangeArrowheads="1"/>
              </p:cNvSpPr>
              <p:nvPr/>
            </p:nvSpPr>
            <p:spPr bwMode="auto">
              <a:xfrm>
                <a:off x="3628" y="660"/>
                <a:ext cx="24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400" b="1" i="1" dirty="0">
                    <a:solidFill>
                      <a:srgbClr val="FF0000"/>
                    </a:solidFill>
                    <a:latin typeface="Times New Roman" panose="02020603050405020304" pitchFamily="18" charset="0"/>
                  </a:rPr>
                  <a:t>F</a:t>
                </a:r>
                <a:endParaRPr kumimoji="1" lang="en-US" altLang="zh-CN" sz="2400" b="1" i="1" dirty="0">
                  <a:solidFill>
                    <a:srgbClr val="FF0000"/>
                  </a:solidFill>
                  <a:latin typeface="Times New Roman" panose="02020603050405020304" pitchFamily="18" charset="0"/>
                  <a:ea typeface="'宋体" pitchFamily="34" charset="-122"/>
                </a:endParaRPr>
              </a:p>
            </p:txBody>
          </p:sp>
        </p:grpSp>
        <p:grpSp>
          <p:nvGrpSpPr>
            <p:cNvPr id="529" name="Group 9"/>
            <p:cNvGrpSpPr>
              <a:grpSpLocks/>
            </p:cNvGrpSpPr>
            <p:nvPr/>
          </p:nvGrpSpPr>
          <p:grpSpPr bwMode="auto">
            <a:xfrm>
              <a:off x="5260" y="691"/>
              <a:ext cx="362" cy="291"/>
              <a:chOff x="5260" y="691"/>
              <a:chExt cx="362" cy="291"/>
            </a:xfrm>
          </p:grpSpPr>
          <p:sp>
            <p:nvSpPr>
              <p:cNvPr id="536" name="Line 16"/>
              <p:cNvSpPr>
                <a:spLocks noChangeShapeType="1"/>
              </p:cNvSpPr>
              <p:nvPr/>
            </p:nvSpPr>
            <p:spPr bwMode="auto">
              <a:xfrm>
                <a:off x="5260" y="960"/>
                <a:ext cx="336" cy="0"/>
              </a:xfrm>
              <a:prstGeom prst="line">
                <a:avLst/>
              </a:prstGeom>
              <a:noFill/>
              <a:ln w="31750">
                <a:solidFill>
                  <a:srgbClr val="FF33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7" name="Rectangle 17"/>
              <p:cNvSpPr>
                <a:spLocks noChangeArrowheads="1"/>
              </p:cNvSpPr>
              <p:nvPr/>
            </p:nvSpPr>
            <p:spPr bwMode="auto">
              <a:xfrm>
                <a:off x="5376" y="691"/>
                <a:ext cx="24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400" b="1" i="1" dirty="0">
                    <a:solidFill>
                      <a:srgbClr val="FF0000"/>
                    </a:solidFill>
                    <a:latin typeface="Times New Roman" panose="02020603050405020304" pitchFamily="18" charset="0"/>
                  </a:rPr>
                  <a:t>F</a:t>
                </a:r>
                <a:endParaRPr kumimoji="1" lang="en-US" altLang="zh-CN" sz="2400" b="1" i="1" dirty="0">
                  <a:solidFill>
                    <a:srgbClr val="FF0000"/>
                  </a:solidFill>
                  <a:latin typeface="Times New Roman" panose="02020603050405020304" pitchFamily="18" charset="0"/>
                  <a:ea typeface="'宋体" pitchFamily="34" charset="-122"/>
                </a:endParaRPr>
              </a:p>
            </p:txBody>
          </p:sp>
        </p:grpSp>
      </p:grpSp>
      <p:grpSp>
        <p:nvGrpSpPr>
          <p:cNvPr id="543" name="Group 4"/>
          <p:cNvGrpSpPr>
            <a:grpSpLocks/>
          </p:cNvGrpSpPr>
          <p:nvPr/>
        </p:nvGrpSpPr>
        <p:grpSpPr bwMode="auto">
          <a:xfrm>
            <a:off x="4916022" y="1192854"/>
            <a:ext cx="2759076" cy="650876"/>
            <a:chOff x="3600" y="660"/>
            <a:chExt cx="1738" cy="410"/>
          </a:xfrm>
        </p:grpSpPr>
        <p:sp>
          <p:nvSpPr>
            <p:cNvPr id="547" name="Rectangle 5"/>
            <p:cNvSpPr>
              <a:spLocks noChangeArrowheads="1"/>
            </p:cNvSpPr>
            <p:nvPr/>
          </p:nvSpPr>
          <p:spPr bwMode="auto">
            <a:xfrm>
              <a:off x="3881" y="857"/>
              <a:ext cx="1457" cy="213"/>
            </a:xfrm>
            <a:prstGeom prst="rect">
              <a:avLst/>
            </a:prstGeom>
            <a:noFill/>
            <a:ln w="317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548" name="Line 6"/>
            <p:cNvSpPr>
              <a:spLocks noChangeShapeType="1"/>
            </p:cNvSpPr>
            <p:nvPr/>
          </p:nvSpPr>
          <p:spPr bwMode="auto">
            <a:xfrm flipH="1">
              <a:off x="3600" y="960"/>
              <a:ext cx="336" cy="0"/>
            </a:xfrm>
            <a:prstGeom prst="line">
              <a:avLst/>
            </a:prstGeom>
            <a:noFill/>
            <a:ln w="31750">
              <a:solidFill>
                <a:srgbClr val="FF33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9" name="Line 7"/>
            <p:cNvSpPr>
              <a:spLocks noChangeShapeType="1"/>
            </p:cNvSpPr>
            <p:nvPr/>
          </p:nvSpPr>
          <p:spPr bwMode="auto">
            <a:xfrm flipV="1">
              <a:off x="3936" y="960"/>
              <a:ext cx="1402" cy="0"/>
            </a:xfrm>
            <a:prstGeom prst="line">
              <a:avLst/>
            </a:prstGeom>
            <a:noFill/>
            <a:ln w="31750">
              <a:solidFill>
                <a:schemeClr val="tx1"/>
              </a:solidFill>
              <a:prstDash val="dash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0" name="Rectangle 8"/>
            <p:cNvSpPr>
              <a:spLocks noChangeArrowheads="1"/>
            </p:cNvSpPr>
            <p:nvPr/>
          </p:nvSpPr>
          <p:spPr bwMode="auto">
            <a:xfrm>
              <a:off x="3628" y="660"/>
              <a:ext cx="24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400" b="1" i="1" dirty="0">
                  <a:solidFill>
                    <a:srgbClr val="FF0000"/>
                  </a:solidFill>
                  <a:latin typeface="Times New Roman" panose="02020603050405020304" pitchFamily="18" charset="0"/>
                </a:rPr>
                <a:t>F</a:t>
              </a:r>
              <a:endParaRPr kumimoji="1" lang="en-US" altLang="zh-CN" sz="2400" b="1" i="1" dirty="0">
                <a:solidFill>
                  <a:srgbClr val="FF0000"/>
                </a:solidFill>
                <a:latin typeface="Times New Roman" panose="02020603050405020304" pitchFamily="18" charset="0"/>
                <a:ea typeface="'宋体" pitchFamily="34" charset="-122"/>
              </a:endParaRPr>
            </a:p>
          </p:txBody>
        </p:sp>
      </p:grpSp>
    </p:spTree>
    <p:extLst>
      <p:ext uri="{BB962C8B-B14F-4D97-AF65-F5344CB8AC3E}">
        <p14:creationId xmlns:p14="http://schemas.microsoft.com/office/powerpoint/2010/main" val="2340206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527"/>
                                        </p:tgtEl>
                                        <p:attrNameLst>
                                          <p:attrName>style.visibility</p:attrName>
                                        </p:attrNameLst>
                                      </p:cBhvr>
                                      <p:to>
                                        <p:strVal val="visible"/>
                                      </p:to>
                                    </p:set>
                                    <p:animEffect transition="in" filter="box(out)">
                                      <p:cBhvr>
                                        <p:cTn id="7" dur="500"/>
                                        <p:tgtEl>
                                          <p:spTgt spid="5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43"/>
                                        </p:tgtEl>
                                        <p:attrNameLst>
                                          <p:attrName>style.visibility</p:attrName>
                                        </p:attrNameLst>
                                      </p:cBhvr>
                                      <p:to>
                                        <p:strVal val="visible"/>
                                      </p:to>
                                    </p:set>
                                    <p:animEffect transition="in" filter="fade">
                                      <p:cBhvr>
                                        <p:cTn id="12" dur="500"/>
                                        <p:tgtEl>
                                          <p:spTgt spid="54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14"/>
                                        </p:tgtEl>
                                        <p:attrNameLst>
                                          <p:attrName>style.visibility</p:attrName>
                                        </p:attrNameLst>
                                      </p:cBhvr>
                                      <p:to>
                                        <p:strVal val="visible"/>
                                      </p:to>
                                    </p:set>
                                    <p:animEffect transition="in" filter="fade">
                                      <p:cBhvr>
                                        <p:cTn id="17" dur="500"/>
                                        <p:tgtEl>
                                          <p:spTgt spid="5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checkerboard(across)">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619" name="Rectangle 83"/>
          <p:cNvSpPr>
            <a:spLocks noChangeArrowheads="1"/>
          </p:cNvSpPr>
          <p:nvPr/>
        </p:nvSpPr>
        <p:spPr bwMode="auto">
          <a:xfrm>
            <a:off x="435217" y="559820"/>
            <a:ext cx="8429625" cy="1570038"/>
          </a:xfrm>
          <a:prstGeom prst="rect">
            <a:avLst/>
          </a:prstGeom>
          <a:noFill/>
          <a:ln w="9525">
            <a:noFill/>
            <a:miter lim="800000"/>
            <a:headEnd/>
            <a:tailEnd/>
          </a:ln>
          <a:effectLst/>
        </p:spPr>
        <p:txBody>
          <a:bodyPr lIns="92075" tIns="46038" rIns="92075" bIns="46038">
            <a:spAutoFit/>
          </a:bodyPr>
          <a:lstStyle/>
          <a:p>
            <a:pPr>
              <a:spcBef>
                <a:spcPct val="20000"/>
              </a:spcBef>
              <a:buClr>
                <a:srgbClr val="FFFF00"/>
              </a:buClr>
              <a:buSzPct val="75000"/>
              <a:defRPr/>
            </a:pPr>
            <a:r>
              <a:rPr lang="zh-CN" altLang="en-US" b="1" dirty="0">
                <a:solidFill>
                  <a:srgbClr val="FF0000"/>
                </a:solidFill>
                <a:latin typeface="+mn-lt"/>
                <a:ea typeface="楷体" panose="02010609060101010101" pitchFamily="49" charset="-122"/>
              </a:rPr>
              <a:t>例 </a:t>
            </a:r>
            <a:r>
              <a:rPr lang="zh-CN" altLang="en-US" b="1" dirty="0">
                <a:latin typeface="+mn-lt"/>
                <a:ea typeface="楷体" panose="02010609060101010101" pitchFamily="49" charset="-122"/>
              </a:rPr>
              <a:t>阶梯直杆，</a:t>
            </a:r>
            <a:r>
              <a:rPr lang="en-US" altLang="zh-CN" i="1" dirty="0">
                <a:latin typeface="+mn-lt"/>
                <a:ea typeface="楷体" panose="02010609060101010101" pitchFamily="49" charset="-122"/>
              </a:rPr>
              <a:t>D</a:t>
            </a:r>
            <a:r>
              <a:rPr lang="zh-CN" altLang="en-US" b="1" dirty="0">
                <a:latin typeface="+mn-lt"/>
                <a:ea typeface="楷体" panose="02010609060101010101" pitchFamily="49" charset="-122"/>
              </a:rPr>
              <a:t>端固定，在</a:t>
            </a:r>
            <a:r>
              <a:rPr lang="en-US" altLang="zh-CN" i="1" dirty="0">
                <a:latin typeface="+mn-lt"/>
                <a:ea typeface="楷体" panose="02010609060101010101" pitchFamily="49" charset="-122"/>
              </a:rPr>
              <a:t>A</a:t>
            </a:r>
            <a:r>
              <a:rPr lang="zh-CN" altLang="en-US" dirty="0">
                <a:latin typeface="+mn-lt"/>
                <a:ea typeface="楷体" panose="02010609060101010101" pitchFamily="49" charset="-122"/>
              </a:rPr>
              <a:t>、</a:t>
            </a:r>
            <a:r>
              <a:rPr lang="en-US" altLang="zh-CN" i="1" dirty="0">
                <a:latin typeface="+mn-lt"/>
                <a:ea typeface="楷体" panose="02010609060101010101" pitchFamily="49" charset="-122"/>
              </a:rPr>
              <a:t>B</a:t>
            </a:r>
            <a:r>
              <a:rPr lang="zh-CN" altLang="en-US" i="1" dirty="0">
                <a:latin typeface="+mn-lt"/>
                <a:ea typeface="楷体" panose="02010609060101010101" pitchFamily="49" charset="-122"/>
              </a:rPr>
              <a:t>、</a:t>
            </a:r>
            <a:r>
              <a:rPr lang="en-US" altLang="zh-CN" i="1" dirty="0">
                <a:latin typeface="+mn-lt"/>
                <a:ea typeface="楷体" panose="02010609060101010101" pitchFamily="49" charset="-122"/>
              </a:rPr>
              <a:t>C</a:t>
            </a:r>
            <a:r>
              <a:rPr lang="zh-CN" altLang="en-US" b="1" dirty="0">
                <a:latin typeface="+mn-lt"/>
                <a:ea typeface="楷体" panose="02010609060101010101" pitchFamily="49" charset="-122"/>
              </a:rPr>
              <a:t>处作用有集中载荷</a:t>
            </a:r>
            <a:r>
              <a:rPr lang="en-US" altLang="zh-CN" b="1" i="1" dirty="0">
                <a:latin typeface="+mn-lt"/>
                <a:ea typeface="楷体" panose="02010609060101010101" pitchFamily="49" charset="-122"/>
              </a:rPr>
              <a:t>F</a:t>
            </a:r>
            <a:r>
              <a:rPr lang="en-US" altLang="zh-CN" b="1" baseline="-30000" dirty="0">
                <a:latin typeface="+mn-lt"/>
                <a:ea typeface="楷体" panose="02010609060101010101" pitchFamily="49" charset="-122"/>
              </a:rPr>
              <a:t>1</a:t>
            </a:r>
            <a:r>
              <a:rPr lang="zh-CN" altLang="en-US" b="1" baseline="-30000" dirty="0">
                <a:latin typeface="+mn-lt"/>
                <a:ea typeface="楷体" panose="02010609060101010101" pitchFamily="49" charset="-122"/>
              </a:rPr>
              <a:t>、</a:t>
            </a:r>
            <a:r>
              <a:rPr lang="en-US" altLang="zh-CN" b="1" i="1" dirty="0">
                <a:latin typeface="+mn-lt"/>
                <a:ea typeface="楷体" panose="02010609060101010101" pitchFamily="49" charset="-122"/>
              </a:rPr>
              <a:t>F</a:t>
            </a:r>
            <a:r>
              <a:rPr lang="en-US" altLang="zh-CN" b="1" baseline="-30000" dirty="0">
                <a:latin typeface="+mn-lt"/>
                <a:ea typeface="楷体" panose="02010609060101010101" pitchFamily="49" charset="-122"/>
              </a:rPr>
              <a:t>2</a:t>
            </a:r>
            <a:r>
              <a:rPr lang="zh-CN" altLang="en-US" b="1" dirty="0">
                <a:latin typeface="+mn-lt"/>
                <a:ea typeface="楷体" panose="02010609060101010101" pitchFamily="49" charset="-122"/>
              </a:rPr>
              <a:t>和</a:t>
            </a:r>
            <a:r>
              <a:rPr lang="en-US" altLang="zh-CN" b="1" i="1" dirty="0">
                <a:latin typeface="+mn-lt"/>
                <a:ea typeface="楷体" panose="02010609060101010101" pitchFamily="49" charset="-122"/>
              </a:rPr>
              <a:t>F</a:t>
            </a:r>
            <a:r>
              <a:rPr lang="en-US" altLang="zh-CN" b="1" baseline="-30000" dirty="0">
                <a:latin typeface="+mn-lt"/>
                <a:ea typeface="楷体" panose="02010609060101010101" pitchFamily="49" charset="-122"/>
              </a:rPr>
              <a:t>3</a:t>
            </a:r>
            <a:r>
              <a:rPr lang="zh-CN" altLang="en-US" b="1" dirty="0">
                <a:latin typeface="+mn-lt"/>
                <a:ea typeface="楷体" panose="02010609060101010101" pitchFamily="49" charset="-122"/>
              </a:rPr>
              <a:t>。其中</a:t>
            </a:r>
            <a:r>
              <a:rPr lang="en-US" altLang="zh-CN" i="1" dirty="0">
                <a:latin typeface="+mn-lt"/>
                <a:ea typeface="楷体" panose="02010609060101010101" pitchFamily="49" charset="-122"/>
              </a:rPr>
              <a:t>F</a:t>
            </a:r>
            <a:r>
              <a:rPr lang="en-US" altLang="zh-CN" baseline="-30000" dirty="0">
                <a:latin typeface="+mn-lt"/>
                <a:ea typeface="楷体" panose="02010609060101010101" pitchFamily="49" charset="-122"/>
              </a:rPr>
              <a:t>1</a:t>
            </a:r>
            <a:r>
              <a:rPr lang="zh-CN" altLang="en-US" dirty="0">
                <a:latin typeface="+mn-lt"/>
                <a:ea typeface="楷体" panose="02010609060101010101" pitchFamily="49" charset="-122"/>
              </a:rPr>
              <a:t>＝</a:t>
            </a:r>
            <a:r>
              <a:rPr lang="en-US" altLang="zh-CN" dirty="0">
                <a:latin typeface="+mn-lt"/>
                <a:ea typeface="楷体" panose="02010609060101010101" pitchFamily="49" charset="-122"/>
              </a:rPr>
              <a:t>20kN</a:t>
            </a:r>
            <a:r>
              <a:rPr lang="zh-CN" altLang="en-US" dirty="0">
                <a:latin typeface="+mn-lt"/>
                <a:ea typeface="楷体" panose="02010609060101010101" pitchFamily="49" charset="-122"/>
              </a:rPr>
              <a:t>，</a:t>
            </a:r>
            <a:r>
              <a:rPr lang="en-US" altLang="zh-CN" i="1" dirty="0">
                <a:latin typeface="+mn-lt"/>
                <a:ea typeface="楷体" panose="02010609060101010101" pitchFamily="49" charset="-122"/>
              </a:rPr>
              <a:t>F</a:t>
            </a:r>
            <a:r>
              <a:rPr lang="en-US" altLang="zh-CN" baseline="-30000" dirty="0">
                <a:latin typeface="+mn-lt"/>
                <a:ea typeface="楷体" panose="02010609060101010101" pitchFamily="49" charset="-122"/>
              </a:rPr>
              <a:t>2</a:t>
            </a:r>
            <a:r>
              <a:rPr lang="zh-CN" altLang="en-US" dirty="0">
                <a:latin typeface="+mn-lt"/>
                <a:ea typeface="楷体" panose="02010609060101010101" pitchFamily="49" charset="-122"/>
              </a:rPr>
              <a:t>＝</a:t>
            </a:r>
            <a:r>
              <a:rPr lang="en-US" altLang="zh-CN" i="1" dirty="0">
                <a:latin typeface="+mn-lt"/>
                <a:ea typeface="楷体" panose="02010609060101010101" pitchFamily="49" charset="-122"/>
              </a:rPr>
              <a:t>F</a:t>
            </a:r>
            <a:r>
              <a:rPr lang="en-US" altLang="zh-CN" baseline="-30000" dirty="0">
                <a:latin typeface="+mn-lt"/>
                <a:ea typeface="楷体" panose="02010609060101010101" pitchFamily="49" charset="-122"/>
              </a:rPr>
              <a:t>3</a:t>
            </a:r>
            <a:r>
              <a:rPr lang="en-US" altLang="zh-CN" dirty="0">
                <a:latin typeface="+mn-lt"/>
                <a:ea typeface="楷体" panose="02010609060101010101" pitchFamily="49" charset="-122"/>
              </a:rPr>
              <a:t>=35kN</a:t>
            </a:r>
            <a:r>
              <a:rPr lang="zh-CN" altLang="en-US" dirty="0">
                <a:latin typeface="+mn-lt"/>
                <a:ea typeface="楷体" panose="02010609060101010101" pitchFamily="49" charset="-122"/>
              </a:rPr>
              <a:t>。</a:t>
            </a:r>
            <a:r>
              <a:rPr lang="en-US" altLang="zh-CN" i="1" dirty="0">
                <a:latin typeface="+mn-lt"/>
                <a:ea typeface="楷体" panose="02010609060101010101" pitchFamily="49" charset="-122"/>
              </a:rPr>
              <a:t>d</a:t>
            </a:r>
            <a:r>
              <a:rPr lang="en-US" altLang="zh-CN" baseline="-25000" dirty="0">
                <a:latin typeface="+mn-lt"/>
                <a:ea typeface="楷体" panose="02010609060101010101" pitchFamily="49" charset="-122"/>
              </a:rPr>
              <a:t>1</a:t>
            </a:r>
            <a:r>
              <a:rPr lang="en-US" altLang="zh-CN" dirty="0">
                <a:latin typeface="+mn-lt"/>
                <a:ea typeface="楷体" panose="02010609060101010101" pitchFamily="49" charset="-122"/>
              </a:rPr>
              <a:t>=12mm</a:t>
            </a:r>
            <a:r>
              <a:rPr lang="zh-CN" altLang="en-US" dirty="0">
                <a:latin typeface="+mn-lt"/>
                <a:ea typeface="楷体" panose="02010609060101010101" pitchFamily="49" charset="-122"/>
              </a:rPr>
              <a:t>，</a:t>
            </a:r>
            <a:r>
              <a:rPr lang="en-US" altLang="zh-CN" i="1" dirty="0">
                <a:latin typeface="+mn-lt"/>
                <a:ea typeface="楷体" panose="02010609060101010101" pitchFamily="49" charset="-122"/>
              </a:rPr>
              <a:t>d</a:t>
            </a:r>
            <a:r>
              <a:rPr lang="en-US" altLang="zh-CN" baseline="-25000" dirty="0">
                <a:latin typeface="+mn-lt"/>
                <a:ea typeface="楷体" panose="02010609060101010101" pitchFamily="49" charset="-122"/>
              </a:rPr>
              <a:t>2</a:t>
            </a:r>
            <a:r>
              <a:rPr lang="en-US" altLang="zh-CN" dirty="0">
                <a:latin typeface="+mn-lt"/>
                <a:ea typeface="楷体" panose="02010609060101010101" pitchFamily="49" charset="-122"/>
              </a:rPr>
              <a:t>=16mm</a:t>
            </a:r>
            <a:r>
              <a:rPr lang="zh-CN" altLang="en-US" dirty="0">
                <a:latin typeface="+mn-lt"/>
                <a:ea typeface="楷体" panose="02010609060101010101" pitchFamily="49" charset="-122"/>
              </a:rPr>
              <a:t>，</a:t>
            </a:r>
            <a:r>
              <a:rPr lang="en-US" altLang="zh-CN" i="1" dirty="0">
                <a:latin typeface="+mn-lt"/>
                <a:ea typeface="楷体" panose="02010609060101010101" pitchFamily="49" charset="-122"/>
              </a:rPr>
              <a:t>d</a:t>
            </a:r>
            <a:r>
              <a:rPr lang="en-US" altLang="zh-CN" baseline="-25000" dirty="0">
                <a:latin typeface="+mn-lt"/>
                <a:ea typeface="楷体" panose="02010609060101010101" pitchFamily="49" charset="-122"/>
              </a:rPr>
              <a:t>3</a:t>
            </a:r>
            <a:r>
              <a:rPr lang="en-US" altLang="zh-CN" dirty="0">
                <a:latin typeface="+mn-lt"/>
                <a:ea typeface="楷体" panose="02010609060101010101" pitchFamily="49" charset="-122"/>
              </a:rPr>
              <a:t>=24mm</a:t>
            </a:r>
            <a:r>
              <a:rPr lang="zh-CN" altLang="en-US" b="1" dirty="0">
                <a:latin typeface="+mn-lt"/>
                <a:ea typeface="楷体" panose="02010609060101010101" pitchFamily="49" charset="-122"/>
              </a:rPr>
              <a:t>。试求：</a:t>
            </a:r>
            <a:r>
              <a:rPr lang="en-US" altLang="zh-CN" b="1" dirty="0">
                <a:latin typeface="+mn-lt"/>
                <a:ea typeface="楷体" panose="02010609060101010101" pitchFamily="49" charset="-122"/>
              </a:rPr>
              <a:t>1)</a:t>
            </a:r>
            <a:r>
              <a:rPr lang="zh-CN" altLang="en-US" b="1" dirty="0">
                <a:latin typeface="+mn-lt"/>
                <a:ea typeface="楷体" panose="02010609060101010101" pitchFamily="49" charset="-122"/>
              </a:rPr>
              <a:t>各段杆的轴力及轴力图。</a:t>
            </a:r>
            <a:r>
              <a:rPr lang="en-US" altLang="zh-CN" b="1" dirty="0">
                <a:latin typeface="+mn-lt"/>
                <a:ea typeface="楷体" panose="02010609060101010101" pitchFamily="49" charset="-122"/>
              </a:rPr>
              <a:t>2</a:t>
            </a:r>
            <a:r>
              <a:rPr lang="en-US" altLang="zh-CN" b="1" dirty="0">
                <a:ea typeface="楷体" panose="02010609060101010101" pitchFamily="49" charset="-122"/>
              </a:rPr>
              <a:t>) </a:t>
            </a:r>
            <a:r>
              <a:rPr lang="zh-CN" altLang="en-US" b="1" dirty="0">
                <a:latin typeface="+mn-lt"/>
                <a:ea typeface="楷体" panose="02010609060101010101" pitchFamily="49" charset="-122"/>
              </a:rPr>
              <a:t>各段杆横截面上的正应力。  </a:t>
            </a:r>
          </a:p>
        </p:txBody>
      </p:sp>
      <p:grpSp>
        <p:nvGrpSpPr>
          <p:cNvPr id="8201" name="Group 56"/>
          <p:cNvGrpSpPr>
            <a:grpSpLocks/>
          </p:cNvGrpSpPr>
          <p:nvPr/>
        </p:nvGrpSpPr>
        <p:grpSpPr bwMode="auto">
          <a:xfrm>
            <a:off x="605512" y="2403095"/>
            <a:ext cx="3879859" cy="1370242"/>
            <a:chOff x="3417" y="1018"/>
            <a:chExt cx="2129" cy="726"/>
          </a:xfrm>
        </p:grpSpPr>
        <p:sp>
          <p:nvSpPr>
            <p:cNvPr id="8218" name="Line 15"/>
            <p:cNvSpPr>
              <a:spLocks noChangeShapeType="1"/>
            </p:cNvSpPr>
            <p:nvPr/>
          </p:nvSpPr>
          <p:spPr bwMode="auto">
            <a:xfrm>
              <a:off x="3456" y="1152"/>
              <a:ext cx="0" cy="336"/>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219" name="Line 16"/>
            <p:cNvSpPr>
              <a:spLocks noChangeShapeType="1"/>
            </p:cNvSpPr>
            <p:nvPr/>
          </p:nvSpPr>
          <p:spPr bwMode="auto">
            <a:xfrm>
              <a:off x="3417" y="1158"/>
              <a:ext cx="0" cy="336"/>
            </a:xfrm>
            <a:prstGeom prst="line">
              <a:avLst/>
            </a:prstGeom>
            <a:noFill/>
            <a:ln w="117475">
              <a:pattFill prst="ltUpDiag">
                <a:fgClr>
                  <a:schemeClr val="tx1"/>
                </a:fgClr>
                <a:bgClr>
                  <a:srgbClr val="FFFFFF"/>
                </a:bgClr>
              </a:patt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220" name="Rectangle 17"/>
            <p:cNvSpPr>
              <a:spLocks noChangeArrowheads="1"/>
            </p:cNvSpPr>
            <p:nvPr/>
          </p:nvSpPr>
          <p:spPr bwMode="auto">
            <a:xfrm>
              <a:off x="3459" y="1185"/>
              <a:ext cx="544" cy="286"/>
            </a:xfrm>
            <a:prstGeom prst="rect">
              <a:avLst/>
            </a:prstGeom>
            <a:solidFill>
              <a:srgbClr val="EAEAEA"/>
            </a:solidFill>
            <a:ln w="15875">
              <a:solidFill>
                <a:srgbClr val="666699"/>
              </a:solidFill>
              <a:miter lim="800000"/>
              <a:headEnd/>
              <a:tailEnd/>
            </a:ln>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endParaRPr lang="zh-CN" altLang="en-US"/>
            </a:p>
          </p:txBody>
        </p:sp>
        <p:sp>
          <p:nvSpPr>
            <p:cNvPr id="8221" name="Rectangle 18"/>
            <p:cNvSpPr>
              <a:spLocks noChangeArrowheads="1"/>
            </p:cNvSpPr>
            <p:nvPr/>
          </p:nvSpPr>
          <p:spPr bwMode="auto">
            <a:xfrm>
              <a:off x="4731" y="1254"/>
              <a:ext cx="544" cy="143"/>
            </a:xfrm>
            <a:prstGeom prst="rect">
              <a:avLst/>
            </a:prstGeom>
            <a:solidFill>
              <a:srgbClr val="EAEAEA"/>
            </a:solidFill>
            <a:ln w="15875">
              <a:solidFill>
                <a:srgbClr val="666699"/>
              </a:solidFill>
              <a:miter lim="800000"/>
              <a:headEnd/>
              <a:tailEnd/>
            </a:ln>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endParaRPr lang="zh-CN" altLang="en-US"/>
            </a:p>
          </p:txBody>
        </p:sp>
        <p:sp>
          <p:nvSpPr>
            <p:cNvPr id="8222" name="Rectangle 19"/>
            <p:cNvSpPr>
              <a:spLocks noChangeArrowheads="1"/>
            </p:cNvSpPr>
            <p:nvPr/>
          </p:nvSpPr>
          <p:spPr bwMode="auto">
            <a:xfrm>
              <a:off x="4005" y="1233"/>
              <a:ext cx="725" cy="190"/>
            </a:xfrm>
            <a:prstGeom prst="rect">
              <a:avLst/>
            </a:prstGeom>
            <a:solidFill>
              <a:srgbClr val="EAEAEA"/>
            </a:solidFill>
            <a:ln w="15875">
              <a:solidFill>
                <a:srgbClr val="666699"/>
              </a:solidFill>
              <a:miter lim="800000"/>
              <a:headEnd/>
              <a:tailEnd/>
            </a:ln>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endParaRPr lang="zh-CN" altLang="en-US"/>
            </a:p>
          </p:txBody>
        </p:sp>
        <p:sp>
          <p:nvSpPr>
            <p:cNvPr id="8223" name="AutoShape 20"/>
            <p:cNvSpPr>
              <a:spLocks noChangeArrowheads="1"/>
            </p:cNvSpPr>
            <p:nvPr/>
          </p:nvSpPr>
          <p:spPr bwMode="auto">
            <a:xfrm>
              <a:off x="4005" y="1305"/>
              <a:ext cx="324" cy="34"/>
            </a:xfrm>
            <a:prstGeom prst="leftArrow">
              <a:avLst>
                <a:gd name="adj1" fmla="val 50000"/>
                <a:gd name="adj2" fmla="val 238235"/>
              </a:avLst>
            </a:prstGeom>
            <a:solidFill>
              <a:srgbClr val="FF0000"/>
            </a:solidFill>
            <a:ln w="9525">
              <a:solidFill>
                <a:srgbClr val="FF0000"/>
              </a:solidFill>
              <a:miter lim="800000"/>
              <a:headEnd/>
              <a:tailEnd/>
            </a:ln>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endParaRPr lang="zh-CN" altLang="en-US"/>
            </a:p>
          </p:txBody>
        </p:sp>
        <p:sp>
          <p:nvSpPr>
            <p:cNvPr id="8224" name="AutoShape 22"/>
            <p:cNvSpPr>
              <a:spLocks noChangeArrowheads="1"/>
            </p:cNvSpPr>
            <p:nvPr/>
          </p:nvSpPr>
          <p:spPr bwMode="auto">
            <a:xfrm>
              <a:off x="4734" y="1305"/>
              <a:ext cx="324" cy="34"/>
            </a:xfrm>
            <a:prstGeom prst="leftArrow">
              <a:avLst>
                <a:gd name="adj1" fmla="val 50000"/>
                <a:gd name="adj2" fmla="val 238235"/>
              </a:avLst>
            </a:prstGeom>
            <a:solidFill>
              <a:srgbClr val="FF0000"/>
            </a:solidFill>
            <a:ln w="9525">
              <a:solidFill>
                <a:srgbClr val="FF0000"/>
              </a:solidFill>
              <a:miter lim="800000"/>
              <a:headEnd/>
              <a:tailEnd/>
            </a:ln>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endParaRPr lang="zh-CN" altLang="en-US"/>
            </a:p>
          </p:txBody>
        </p:sp>
        <p:sp>
          <p:nvSpPr>
            <p:cNvPr id="8225" name="AutoShape 23"/>
            <p:cNvSpPr>
              <a:spLocks noChangeArrowheads="1"/>
            </p:cNvSpPr>
            <p:nvPr/>
          </p:nvSpPr>
          <p:spPr bwMode="auto">
            <a:xfrm flipH="1">
              <a:off x="5277" y="1308"/>
              <a:ext cx="256" cy="34"/>
            </a:xfrm>
            <a:prstGeom prst="leftArrow">
              <a:avLst>
                <a:gd name="adj1" fmla="val 50000"/>
                <a:gd name="adj2" fmla="val 188235"/>
              </a:avLst>
            </a:prstGeom>
            <a:solidFill>
              <a:srgbClr val="FF0000"/>
            </a:solidFill>
            <a:ln w="9525">
              <a:solidFill>
                <a:srgbClr val="FF0000"/>
              </a:solidFill>
              <a:miter lim="800000"/>
              <a:headEnd/>
              <a:tailEnd/>
            </a:ln>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endParaRPr lang="zh-CN" altLang="en-US"/>
            </a:p>
          </p:txBody>
        </p:sp>
        <p:sp>
          <p:nvSpPr>
            <p:cNvPr id="8226" name="Text Box 24"/>
            <p:cNvSpPr txBox="1">
              <a:spLocks noChangeArrowheads="1"/>
            </p:cNvSpPr>
            <p:nvPr/>
          </p:nvSpPr>
          <p:spPr bwMode="auto">
            <a:xfrm>
              <a:off x="5220" y="1097"/>
              <a:ext cx="88"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2000" i="1">
                  <a:solidFill>
                    <a:srgbClr val="000000"/>
                  </a:solidFill>
                  <a:latin typeface="Times New Roman" panose="02020603050405020304" pitchFamily="18" charset="0"/>
                </a:rPr>
                <a:t>A</a:t>
              </a:r>
            </a:p>
          </p:txBody>
        </p:sp>
        <p:sp>
          <p:nvSpPr>
            <p:cNvPr id="8227" name="Text Box 25"/>
            <p:cNvSpPr txBox="1">
              <a:spLocks noChangeArrowheads="1"/>
            </p:cNvSpPr>
            <p:nvPr/>
          </p:nvSpPr>
          <p:spPr bwMode="auto">
            <a:xfrm>
              <a:off x="4704" y="1031"/>
              <a:ext cx="88"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2000" i="1">
                  <a:solidFill>
                    <a:srgbClr val="000000"/>
                  </a:solidFill>
                  <a:latin typeface="Times New Roman" panose="02020603050405020304" pitchFamily="18" charset="0"/>
                </a:rPr>
                <a:t>B</a:t>
              </a:r>
            </a:p>
          </p:txBody>
        </p:sp>
        <p:sp>
          <p:nvSpPr>
            <p:cNvPr id="8228" name="Text Box 26"/>
            <p:cNvSpPr txBox="1">
              <a:spLocks noChangeArrowheads="1"/>
            </p:cNvSpPr>
            <p:nvPr/>
          </p:nvSpPr>
          <p:spPr bwMode="auto">
            <a:xfrm>
              <a:off x="3966" y="1021"/>
              <a:ext cx="88"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2000" i="1">
                  <a:solidFill>
                    <a:srgbClr val="000000"/>
                  </a:solidFill>
                  <a:latin typeface="Times New Roman" panose="02020603050405020304" pitchFamily="18" charset="0"/>
                </a:rPr>
                <a:t>C</a:t>
              </a:r>
            </a:p>
          </p:txBody>
        </p:sp>
        <p:sp>
          <p:nvSpPr>
            <p:cNvPr id="8229" name="Text Box 27"/>
            <p:cNvSpPr txBox="1">
              <a:spLocks noChangeArrowheads="1"/>
            </p:cNvSpPr>
            <p:nvPr/>
          </p:nvSpPr>
          <p:spPr bwMode="auto">
            <a:xfrm>
              <a:off x="3472" y="1018"/>
              <a:ext cx="96"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2000" i="1" dirty="0">
                  <a:solidFill>
                    <a:srgbClr val="000000"/>
                  </a:solidFill>
                  <a:latin typeface="Times New Roman" panose="02020603050405020304" pitchFamily="18" charset="0"/>
                </a:rPr>
                <a:t>D</a:t>
              </a:r>
            </a:p>
          </p:txBody>
        </p:sp>
        <p:sp>
          <p:nvSpPr>
            <p:cNvPr id="8230" name="Text Box 28"/>
            <p:cNvSpPr txBox="1">
              <a:spLocks noChangeArrowheads="1"/>
            </p:cNvSpPr>
            <p:nvPr/>
          </p:nvSpPr>
          <p:spPr bwMode="auto">
            <a:xfrm>
              <a:off x="5397" y="1126"/>
              <a:ext cx="149"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36000" bIns="36000">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2000" i="1" dirty="0">
                  <a:solidFill>
                    <a:srgbClr val="E2220E"/>
                  </a:solidFill>
                  <a:latin typeface="Times New Roman" panose="02020603050405020304" pitchFamily="18" charset="0"/>
                </a:rPr>
                <a:t>F</a:t>
              </a:r>
              <a:r>
                <a:rPr lang="en-US" altLang="zh-CN" sz="2000" baseline="-25000" dirty="0">
                  <a:solidFill>
                    <a:srgbClr val="E2220E"/>
                  </a:solidFill>
                  <a:latin typeface="Times New Roman" panose="02020603050405020304" pitchFamily="18" charset="0"/>
                </a:rPr>
                <a:t>1</a:t>
              </a:r>
            </a:p>
          </p:txBody>
        </p:sp>
        <p:sp>
          <p:nvSpPr>
            <p:cNvPr id="8231" name="Text Box 29"/>
            <p:cNvSpPr txBox="1">
              <a:spLocks noChangeArrowheads="1"/>
            </p:cNvSpPr>
            <p:nvPr/>
          </p:nvSpPr>
          <p:spPr bwMode="auto">
            <a:xfrm>
              <a:off x="4828" y="1117"/>
              <a:ext cx="148"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36000" bIns="36000">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2000" i="1">
                  <a:solidFill>
                    <a:srgbClr val="E2220E"/>
                  </a:solidFill>
                  <a:latin typeface="Times New Roman" panose="02020603050405020304" pitchFamily="18" charset="0"/>
                </a:rPr>
                <a:t>F</a:t>
              </a:r>
              <a:r>
                <a:rPr lang="en-US" altLang="zh-CN" sz="2000" baseline="-25000">
                  <a:solidFill>
                    <a:srgbClr val="E2220E"/>
                  </a:solidFill>
                  <a:latin typeface="Times New Roman" panose="02020603050405020304" pitchFamily="18" charset="0"/>
                </a:rPr>
                <a:t>2</a:t>
              </a:r>
            </a:p>
          </p:txBody>
        </p:sp>
        <p:sp>
          <p:nvSpPr>
            <p:cNvPr id="8232" name="Text Box 30"/>
            <p:cNvSpPr txBox="1">
              <a:spLocks noChangeArrowheads="1"/>
            </p:cNvSpPr>
            <p:nvPr/>
          </p:nvSpPr>
          <p:spPr bwMode="auto">
            <a:xfrm>
              <a:off x="4091" y="1117"/>
              <a:ext cx="149"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36000" bIns="36000">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2000" i="1">
                  <a:solidFill>
                    <a:srgbClr val="E2220E"/>
                  </a:solidFill>
                  <a:latin typeface="Times New Roman" panose="02020603050405020304" pitchFamily="18" charset="0"/>
                </a:rPr>
                <a:t>F</a:t>
              </a:r>
              <a:r>
                <a:rPr lang="en-US" altLang="zh-CN" sz="2000" baseline="-25000">
                  <a:solidFill>
                    <a:srgbClr val="E2220E"/>
                  </a:solidFill>
                  <a:latin typeface="Times New Roman" panose="02020603050405020304" pitchFamily="18" charset="0"/>
                </a:rPr>
                <a:t>3</a:t>
              </a:r>
            </a:p>
          </p:txBody>
        </p:sp>
        <p:grpSp>
          <p:nvGrpSpPr>
            <p:cNvPr id="8233" name="Group 34"/>
            <p:cNvGrpSpPr>
              <a:grpSpLocks/>
            </p:cNvGrpSpPr>
            <p:nvPr/>
          </p:nvGrpSpPr>
          <p:grpSpPr bwMode="auto">
            <a:xfrm>
              <a:off x="3456" y="1536"/>
              <a:ext cx="546" cy="102"/>
              <a:chOff x="3456" y="1536"/>
              <a:chExt cx="546" cy="102"/>
            </a:xfrm>
          </p:grpSpPr>
          <p:sp>
            <p:nvSpPr>
              <p:cNvPr id="8242" name="Line 31"/>
              <p:cNvSpPr>
                <a:spLocks noChangeShapeType="1"/>
              </p:cNvSpPr>
              <p:nvPr/>
            </p:nvSpPr>
            <p:spPr bwMode="auto">
              <a:xfrm>
                <a:off x="3456" y="1536"/>
                <a:ext cx="0" cy="9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243" name="Line 32"/>
              <p:cNvSpPr>
                <a:spLocks noChangeShapeType="1"/>
              </p:cNvSpPr>
              <p:nvPr/>
            </p:nvSpPr>
            <p:spPr bwMode="auto">
              <a:xfrm>
                <a:off x="3456" y="1584"/>
                <a:ext cx="544" cy="0"/>
              </a:xfrm>
              <a:prstGeom prst="line">
                <a:avLst/>
              </a:prstGeom>
              <a:noFill/>
              <a:ln w="3175">
                <a:solidFill>
                  <a:schemeClr val="tx1"/>
                </a:solidFill>
                <a:miter lim="800000"/>
                <a:headEnd type="triangl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8244" name="Line 33"/>
              <p:cNvSpPr>
                <a:spLocks noChangeShapeType="1"/>
              </p:cNvSpPr>
              <p:nvPr/>
            </p:nvSpPr>
            <p:spPr bwMode="auto">
              <a:xfrm>
                <a:off x="4002" y="1542"/>
                <a:ext cx="0" cy="9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8234" name="Group 35"/>
            <p:cNvGrpSpPr>
              <a:grpSpLocks/>
            </p:cNvGrpSpPr>
            <p:nvPr/>
          </p:nvGrpSpPr>
          <p:grpSpPr bwMode="auto">
            <a:xfrm>
              <a:off x="4740" y="1536"/>
              <a:ext cx="546" cy="102"/>
              <a:chOff x="3456" y="1536"/>
              <a:chExt cx="546" cy="102"/>
            </a:xfrm>
          </p:grpSpPr>
          <p:sp>
            <p:nvSpPr>
              <p:cNvPr id="8239" name="Line 36"/>
              <p:cNvSpPr>
                <a:spLocks noChangeShapeType="1"/>
              </p:cNvSpPr>
              <p:nvPr/>
            </p:nvSpPr>
            <p:spPr bwMode="auto">
              <a:xfrm>
                <a:off x="3456" y="1536"/>
                <a:ext cx="0" cy="9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240" name="Line 37"/>
              <p:cNvSpPr>
                <a:spLocks noChangeShapeType="1"/>
              </p:cNvSpPr>
              <p:nvPr/>
            </p:nvSpPr>
            <p:spPr bwMode="auto">
              <a:xfrm>
                <a:off x="3456" y="1584"/>
                <a:ext cx="544" cy="0"/>
              </a:xfrm>
              <a:prstGeom prst="line">
                <a:avLst/>
              </a:prstGeom>
              <a:noFill/>
              <a:ln w="3175">
                <a:solidFill>
                  <a:schemeClr val="tx1"/>
                </a:solidFill>
                <a:miter lim="800000"/>
                <a:headEnd type="triangl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8241" name="Line 38"/>
              <p:cNvSpPr>
                <a:spLocks noChangeShapeType="1"/>
              </p:cNvSpPr>
              <p:nvPr/>
            </p:nvSpPr>
            <p:spPr bwMode="auto">
              <a:xfrm>
                <a:off x="4002" y="1542"/>
                <a:ext cx="0" cy="9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8235" name="Line 39"/>
            <p:cNvSpPr>
              <a:spLocks noChangeShapeType="1"/>
            </p:cNvSpPr>
            <p:nvPr/>
          </p:nvSpPr>
          <p:spPr bwMode="auto">
            <a:xfrm>
              <a:off x="3996" y="1584"/>
              <a:ext cx="744" cy="0"/>
            </a:xfrm>
            <a:prstGeom prst="line">
              <a:avLst/>
            </a:prstGeom>
            <a:noFill/>
            <a:ln w="3175">
              <a:solidFill>
                <a:schemeClr val="tx1"/>
              </a:solidFill>
              <a:miter lim="800000"/>
              <a:headEnd type="triangl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8236" name="Text Box 40"/>
            <p:cNvSpPr txBox="1">
              <a:spLocks noChangeArrowheads="1"/>
            </p:cNvSpPr>
            <p:nvPr/>
          </p:nvSpPr>
          <p:spPr bwMode="auto">
            <a:xfrm>
              <a:off x="4992" y="1575"/>
              <a:ext cx="95"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18000" bIns="10800">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2000" b="0" i="1" dirty="0">
                  <a:latin typeface="Times New Roman" panose="02020603050405020304" pitchFamily="18" charset="0"/>
                </a:rPr>
                <a:t>l</a:t>
              </a:r>
              <a:r>
                <a:rPr lang="en-US" altLang="zh-CN" sz="2000" baseline="-25000" dirty="0">
                  <a:latin typeface="Times New Roman" panose="02020603050405020304" pitchFamily="18" charset="0"/>
                </a:rPr>
                <a:t>1</a:t>
              </a:r>
            </a:p>
          </p:txBody>
        </p:sp>
        <p:sp>
          <p:nvSpPr>
            <p:cNvPr id="8237" name="Text Box 41"/>
            <p:cNvSpPr txBox="1">
              <a:spLocks noChangeArrowheads="1"/>
            </p:cNvSpPr>
            <p:nvPr/>
          </p:nvSpPr>
          <p:spPr bwMode="auto">
            <a:xfrm>
              <a:off x="4368" y="1560"/>
              <a:ext cx="95"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18000" bIns="10800">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2000" b="0" i="1" dirty="0">
                  <a:latin typeface="Times New Roman" panose="02020603050405020304" pitchFamily="18" charset="0"/>
                </a:rPr>
                <a:t>l</a:t>
              </a:r>
              <a:r>
                <a:rPr lang="en-US" altLang="zh-CN" sz="2000" baseline="-25000" dirty="0">
                  <a:latin typeface="Times New Roman" panose="02020603050405020304" pitchFamily="18" charset="0"/>
                </a:rPr>
                <a:t>2</a:t>
              </a:r>
            </a:p>
          </p:txBody>
        </p:sp>
        <p:sp>
          <p:nvSpPr>
            <p:cNvPr id="8238" name="Text Box 42"/>
            <p:cNvSpPr txBox="1">
              <a:spLocks noChangeArrowheads="1"/>
            </p:cNvSpPr>
            <p:nvPr/>
          </p:nvSpPr>
          <p:spPr bwMode="auto">
            <a:xfrm>
              <a:off x="3696" y="1560"/>
              <a:ext cx="95"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18000" bIns="10800">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2000" b="0" i="1" dirty="0">
                  <a:latin typeface="Times New Roman" panose="02020603050405020304" pitchFamily="18" charset="0"/>
                </a:rPr>
                <a:t>l</a:t>
              </a:r>
              <a:r>
                <a:rPr lang="en-US" altLang="zh-CN" sz="2000" baseline="-25000" dirty="0">
                  <a:latin typeface="Times New Roman" panose="02020603050405020304" pitchFamily="18" charset="0"/>
                </a:rPr>
                <a:t>3</a:t>
              </a:r>
            </a:p>
          </p:txBody>
        </p:sp>
      </p:grpSp>
      <p:grpSp>
        <p:nvGrpSpPr>
          <p:cNvPr id="5" name="Group 95"/>
          <p:cNvGrpSpPr>
            <a:grpSpLocks/>
          </p:cNvGrpSpPr>
          <p:nvPr/>
        </p:nvGrpSpPr>
        <p:grpSpPr bwMode="auto">
          <a:xfrm>
            <a:off x="369512" y="3838711"/>
            <a:ext cx="3716338" cy="1957387"/>
            <a:chOff x="3251" y="2799"/>
            <a:chExt cx="2341" cy="1233"/>
          </a:xfrm>
        </p:grpSpPr>
        <p:sp>
          <p:nvSpPr>
            <p:cNvPr id="8213" name="Line 96"/>
            <p:cNvSpPr>
              <a:spLocks noChangeShapeType="1"/>
            </p:cNvSpPr>
            <p:nvPr/>
          </p:nvSpPr>
          <p:spPr bwMode="auto">
            <a:xfrm>
              <a:off x="3456" y="2923"/>
              <a:ext cx="0" cy="1109"/>
            </a:xfrm>
            <a:prstGeom prst="line">
              <a:avLst/>
            </a:prstGeom>
            <a:noFill/>
            <a:ln w="6350">
              <a:solidFill>
                <a:schemeClr val="tx1"/>
              </a:solidFill>
              <a:miter lim="800000"/>
              <a:headEnd type="triangle" w="sm" len="sm"/>
              <a:tailEnd/>
            </a:ln>
            <a:extLst>
              <a:ext uri="{909E8E84-426E-40DD-AFC4-6F175D3DCCD1}">
                <a14:hiddenFill xmlns:a14="http://schemas.microsoft.com/office/drawing/2010/main">
                  <a:noFill/>
                </a14:hiddenFill>
              </a:ext>
            </a:extLst>
          </p:spPr>
          <p:txBody>
            <a:bodyPr wrap="none"/>
            <a:lstStyle/>
            <a:p>
              <a:endParaRPr lang="zh-CN" altLang="en-US"/>
            </a:p>
          </p:txBody>
        </p:sp>
        <p:sp>
          <p:nvSpPr>
            <p:cNvPr id="8214" name="Line 97"/>
            <p:cNvSpPr>
              <a:spLocks noChangeShapeType="1"/>
            </p:cNvSpPr>
            <p:nvPr/>
          </p:nvSpPr>
          <p:spPr bwMode="auto">
            <a:xfrm rot="5400000">
              <a:off x="4511" y="2401"/>
              <a:ext cx="1" cy="2112"/>
            </a:xfrm>
            <a:prstGeom prst="line">
              <a:avLst/>
            </a:prstGeom>
            <a:noFill/>
            <a:ln w="6350">
              <a:solidFill>
                <a:schemeClr val="tx1"/>
              </a:solidFill>
              <a:miter lim="800000"/>
              <a:headEnd type="triangle" w="sm" len="sm"/>
              <a:tailEnd/>
            </a:ln>
            <a:extLst>
              <a:ext uri="{909E8E84-426E-40DD-AFC4-6F175D3DCCD1}">
                <a14:hiddenFill xmlns:a14="http://schemas.microsoft.com/office/drawing/2010/main">
                  <a:noFill/>
                </a14:hiddenFill>
              </a:ext>
            </a:extLst>
          </p:spPr>
          <p:txBody>
            <a:bodyPr wrap="none"/>
            <a:lstStyle/>
            <a:p>
              <a:endParaRPr lang="zh-CN" altLang="en-US"/>
            </a:p>
          </p:txBody>
        </p:sp>
        <p:sp>
          <p:nvSpPr>
            <p:cNvPr id="8215" name="Text Box 98"/>
            <p:cNvSpPr txBox="1">
              <a:spLocks noChangeArrowheads="1"/>
            </p:cNvSpPr>
            <p:nvPr/>
          </p:nvSpPr>
          <p:spPr bwMode="auto">
            <a:xfrm>
              <a:off x="3312" y="3408"/>
              <a:ext cx="105"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1800" b="0" i="1" dirty="0">
                  <a:solidFill>
                    <a:srgbClr val="000000"/>
                  </a:solidFill>
                  <a:latin typeface="Times New Roman" panose="02020603050405020304" pitchFamily="18" charset="0"/>
                </a:rPr>
                <a:t>O</a:t>
              </a:r>
            </a:p>
          </p:txBody>
        </p:sp>
        <p:sp>
          <p:nvSpPr>
            <p:cNvPr id="8216" name="Text Box 99"/>
            <p:cNvSpPr txBox="1">
              <a:spLocks noChangeArrowheads="1"/>
            </p:cNvSpPr>
            <p:nvPr/>
          </p:nvSpPr>
          <p:spPr bwMode="auto">
            <a:xfrm>
              <a:off x="3251" y="2799"/>
              <a:ext cx="18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2000" b="0" i="1" dirty="0">
                  <a:solidFill>
                    <a:srgbClr val="000000"/>
                  </a:solidFill>
                  <a:latin typeface="Times New Roman" panose="02020603050405020304" pitchFamily="18" charset="0"/>
                </a:rPr>
                <a:t>F</a:t>
              </a:r>
              <a:r>
                <a:rPr lang="en-US" altLang="zh-CN" sz="2000" baseline="-25000" dirty="0">
                  <a:solidFill>
                    <a:srgbClr val="000000"/>
                  </a:solidFill>
                  <a:latin typeface="Times New Roman" panose="02020603050405020304" pitchFamily="18" charset="0"/>
                </a:rPr>
                <a:t>N</a:t>
              </a:r>
            </a:p>
          </p:txBody>
        </p:sp>
        <p:sp>
          <p:nvSpPr>
            <p:cNvPr id="8217" name="Text Box 100"/>
            <p:cNvSpPr txBox="1">
              <a:spLocks noChangeArrowheads="1"/>
            </p:cNvSpPr>
            <p:nvPr/>
          </p:nvSpPr>
          <p:spPr bwMode="auto">
            <a:xfrm>
              <a:off x="5520" y="3234"/>
              <a:ext cx="7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2000" b="0" i="1" dirty="0">
                  <a:solidFill>
                    <a:srgbClr val="000000"/>
                  </a:solidFill>
                  <a:latin typeface="Times New Roman" panose="02020603050405020304" pitchFamily="18" charset="0"/>
                </a:rPr>
                <a:t>x</a:t>
              </a:r>
            </a:p>
          </p:txBody>
        </p:sp>
      </p:grpSp>
      <p:grpSp>
        <p:nvGrpSpPr>
          <p:cNvPr id="6" name="Group 101"/>
          <p:cNvGrpSpPr>
            <a:grpSpLocks/>
          </p:cNvGrpSpPr>
          <p:nvPr/>
        </p:nvGrpSpPr>
        <p:grpSpPr bwMode="auto">
          <a:xfrm>
            <a:off x="693363" y="5643709"/>
            <a:ext cx="874713" cy="274638"/>
            <a:chOff x="3465" y="3942"/>
            <a:chExt cx="551" cy="173"/>
          </a:xfrm>
        </p:grpSpPr>
        <p:sp>
          <p:nvSpPr>
            <p:cNvPr id="8211" name="Line 102"/>
            <p:cNvSpPr>
              <a:spLocks noChangeShapeType="1"/>
            </p:cNvSpPr>
            <p:nvPr/>
          </p:nvSpPr>
          <p:spPr bwMode="auto">
            <a:xfrm>
              <a:off x="3465" y="3942"/>
              <a:ext cx="551" cy="0"/>
            </a:xfrm>
            <a:prstGeom prst="line">
              <a:avLst/>
            </a:prstGeom>
            <a:noFill/>
            <a:ln w="25400">
              <a:solidFill>
                <a:srgbClr val="E2220E"/>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212" name="Text Box 103"/>
            <p:cNvSpPr txBox="1">
              <a:spLocks noChangeArrowheads="1"/>
            </p:cNvSpPr>
            <p:nvPr/>
          </p:nvSpPr>
          <p:spPr bwMode="auto">
            <a:xfrm>
              <a:off x="3568" y="3961"/>
              <a:ext cx="29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1600" dirty="0">
                  <a:solidFill>
                    <a:srgbClr val="E2220E"/>
                  </a:solidFill>
                  <a:latin typeface="Times New Roman" panose="02020603050405020304" pitchFamily="18" charset="0"/>
                </a:rPr>
                <a:t>50kN</a:t>
              </a:r>
            </a:p>
          </p:txBody>
        </p:sp>
      </p:grpSp>
      <p:grpSp>
        <p:nvGrpSpPr>
          <p:cNvPr id="7" name="Group 104"/>
          <p:cNvGrpSpPr>
            <a:grpSpLocks/>
          </p:cNvGrpSpPr>
          <p:nvPr/>
        </p:nvGrpSpPr>
        <p:grpSpPr bwMode="auto">
          <a:xfrm>
            <a:off x="1545850" y="5083839"/>
            <a:ext cx="1198562" cy="244475"/>
            <a:chOff x="4002" y="3600"/>
            <a:chExt cx="755" cy="154"/>
          </a:xfrm>
        </p:grpSpPr>
        <p:sp>
          <p:nvSpPr>
            <p:cNvPr id="8209" name="Line 105"/>
            <p:cNvSpPr>
              <a:spLocks noChangeShapeType="1"/>
            </p:cNvSpPr>
            <p:nvPr/>
          </p:nvSpPr>
          <p:spPr bwMode="auto">
            <a:xfrm>
              <a:off x="4002" y="3606"/>
              <a:ext cx="755" cy="0"/>
            </a:xfrm>
            <a:prstGeom prst="line">
              <a:avLst/>
            </a:prstGeom>
            <a:noFill/>
            <a:ln w="25400">
              <a:solidFill>
                <a:srgbClr val="E2220E"/>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210" name="Text Box 106"/>
            <p:cNvSpPr txBox="1">
              <a:spLocks noChangeArrowheads="1"/>
            </p:cNvSpPr>
            <p:nvPr/>
          </p:nvSpPr>
          <p:spPr bwMode="auto">
            <a:xfrm>
              <a:off x="4272" y="3600"/>
              <a:ext cx="29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1600">
                  <a:solidFill>
                    <a:srgbClr val="E2220E"/>
                  </a:solidFill>
                  <a:latin typeface="Times New Roman" panose="02020603050405020304" pitchFamily="18" charset="0"/>
                </a:rPr>
                <a:t>15kN</a:t>
              </a:r>
            </a:p>
          </p:txBody>
        </p:sp>
      </p:grpSp>
      <p:grpSp>
        <p:nvGrpSpPr>
          <p:cNvPr id="8" name="Group 107"/>
          <p:cNvGrpSpPr>
            <a:grpSpLocks/>
          </p:cNvGrpSpPr>
          <p:nvPr/>
        </p:nvGrpSpPr>
        <p:grpSpPr bwMode="auto">
          <a:xfrm>
            <a:off x="2730130" y="4283220"/>
            <a:ext cx="874713" cy="284163"/>
            <a:chOff x="4748" y="3085"/>
            <a:chExt cx="551" cy="179"/>
          </a:xfrm>
        </p:grpSpPr>
        <p:sp>
          <p:nvSpPr>
            <p:cNvPr id="8207" name="Line 108"/>
            <p:cNvSpPr>
              <a:spLocks noChangeShapeType="1"/>
            </p:cNvSpPr>
            <p:nvPr/>
          </p:nvSpPr>
          <p:spPr bwMode="auto">
            <a:xfrm>
              <a:off x="4748" y="3264"/>
              <a:ext cx="551" cy="0"/>
            </a:xfrm>
            <a:prstGeom prst="line">
              <a:avLst/>
            </a:prstGeom>
            <a:noFill/>
            <a:ln w="25400">
              <a:solidFill>
                <a:srgbClr val="E2220E"/>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208" name="Text Box 109"/>
            <p:cNvSpPr txBox="1">
              <a:spLocks noChangeArrowheads="1"/>
            </p:cNvSpPr>
            <p:nvPr/>
          </p:nvSpPr>
          <p:spPr bwMode="auto">
            <a:xfrm>
              <a:off x="4908" y="3085"/>
              <a:ext cx="29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1600" dirty="0">
                  <a:solidFill>
                    <a:srgbClr val="E2220E"/>
                  </a:solidFill>
                  <a:latin typeface="Times New Roman" panose="02020603050405020304" pitchFamily="18" charset="0"/>
                </a:rPr>
                <a:t>20kN</a:t>
              </a:r>
            </a:p>
          </p:txBody>
        </p:sp>
      </p:grpSp>
      <p:sp>
        <p:nvSpPr>
          <p:cNvPr id="86" name="Freeform 110"/>
          <p:cNvSpPr>
            <a:spLocks/>
          </p:cNvSpPr>
          <p:nvPr/>
        </p:nvSpPr>
        <p:spPr bwMode="auto">
          <a:xfrm>
            <a:off x="1564900" y="4557848"/>
            <a:ext cx="2051050" cy="1066800"/>
          </a:xfrm>
          <a:custGeom>
            <a:avLst/>
            <a:gdLst>
              <a:gd name="T0" fmla="*/ 0 w 1344"/>
              <a:gd name="T1" fmla="*/ 2147483647 h 672"/>
              <a:gd name="T2" fmla="*/ 0 w 1344"/>
              <a:gd name="T3" fmla="*/ 2147483647 h 672"/>
              <a:gd name="T4" fmla="*/ 2147483647 w 1344"/>
              <a:gd name="T5" fmla="*/ 2147483647 h 672"/>
              <a:gd name="T6" fmla="*/ 2147483647 w 1344"/>
              <a:gd name="T7" fmla="*/ 0 h 672"/>
              <a:gd name="T8" fmla="*/ 2147483647 w 1344"/>
              <a:gd name="T9" fmla="*/ 0 h 672"/>
              <a:gd name="T10" fmla="*/ 2147483647 w 1344"/>
              <a:gd name="T11" fmla="*/ 2147483647 h 672"/>
              <a:gd name="T12" fmla="*/ 0 60000 65536"/>
              <a:gd name="T13" fmla="*/ 0 60000 65536"/>
              <a:gd name="T14" fmla="*/ 0 60000 65536"/>
              <a:gd name="T15" fmla="*/ 0 60000 65536"/>
              <a:gd name="T16" fmla="*/ 0 60000 65536"/>
              <a:gd name="T17" fmla="*/ 0 60000 65536"/>
              <a:gd name="T18" fmla="*/ 0 w 1344"/>
              <a:gd name="T19" fmla="*/ 0 h 672"/>
              <a:gd name="T20" fmla="*/ 1344 w 1344"/>
              <a:gd name="T21" fmla="*/ 672 h 672"/>
            </a:gdLst>
            <a:ahLst/>
            <a:cxnLst>
              <a:cxn ang="T12">
                <a:pos x="T0" y="T1"/>
              </a:cxn>
              <a:cxn ang="T13">
                <a:pos x="T2" y="T3"/>
              </a:cxn>
              <a:cxn ang="T14">
                <a:pos x="T4" y="T5"/>
              </a:cxn>
              <a:cxn ang="T15">
                <a:pos x="T6" y="T7"/>
              </a:cxn>
              <a:cxn ang="T16">
                <a:pos x="T8" y="T9"/>
              </a:cxn>
              <a:cxn ang="T17">
                <a:pos x="T10" y="T11"/>
              </a:cxn>
            </a:cxnLst>
            <a:rect l="T18" t="T19" r="T20" b="T21"/>
            <a:pathLst>
              <a:path w="1344" h="672">
                <a:moveTo>
                  <a:pt x="0" y="672"/>
                </a:moveTo>
                <a:lnTo>
                  <a:pt x="0" y="336"/>
                </a:lnTo>
                <a:lnTo>
                  <a:pt x="768" y="336"/>
                </a:lnTo>
                <a:lnTo>
                  <a:pt x="768" y="0"/>
                </a:lnTo>
                <a:lnTo>
                  <a:pt x="1344" y="0"/>
                </a:lnTo>
                <a:lnTo>
                  <a:pt x="1344" y="192"/>
                </a:lnTo>
              </a:path>
            </a:pathLst>
          </a:custGeom>
          <a:noFill/>
          <a:ln w="3175">
            <a:solidFill>
              <a:srgbClr val="E2220E"/>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endParaRPr lang="zh-CN" altLang="en-US"/>
          </a:p>
        </p:txBody>
      </p:sp>
      <p:graphicFrame>
        <p:nvGraphicFramePr>
          <p:cNvPr id="87" name="Object 115"/>
          <p:cNvGraphicFramePr>
            <a:graphicFrameLocks noChangeAspect="1"/>
          </p:cNvGraphicFramePr>
          <p:nvPr>
            <p:extLst>
              <p:ext uri="{D42A27DB-BD31-4B8C-83A1-F6EECF244321}">
                <p14:modId xmlns:p14="http://schemas.microsoft.com/office/powerpoint/2010/main" val="2881003605"/>
              </p:ext>
            </p:extLst>
          </p:nvPr>
        </p:nvGraphicFramePr>
        <p:xfrm>
          <a:off x="4395931" y="2006735"/>
          <a:ext cx="4175125" cy="1055688"/>
        </p:xfrm>
        <a:graphic>
          <a:graphicData uri="http://schemas.openxmlformats.org/presentationml/2006/ole">
            <mc:AlternateContent xmlns:mc="http://schemas.openxmlformats.org/markup-compatibility/2006">
              <mc:Choice xmlns:v="urn:schemas-microsoft-com:vml" Requires="v">
                <p:oleObj name="Equation" r:id="rId2" imgW="2412720" imgH="609480" progId="Equation.DSMT4">
                  <p:embed/>
                </p:oleObj>
              </mc:Choice>
              <mc:Fallback>
                <p:oleObj name="Equation" r:id="rId2" imgW="2412720" imgH="609480"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95931" y="2006735"/>
                        <a:ext cx="4175125" cy="1055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 name="Object 116"/>
          <p:cNvGraphicFramePr>
            <a:graphicFrameLocks noChangeAspect="1"/>
          </p:cNvGraphicFramePr>
          <p:nvPr>
            <p:extLst>
              <p:ext uri="{D42A27DB-BD31-4B8C-83A1-F6EECF244321}">
                <p14:modId xmlns:p14="http://schemas.microsoft.com/office/powerpoint/2010/main" val="2576753475"/>
              </p:ext>
            </p:extLst>
          </p:nvPr>
        </p:nvGraphicFramePr>
        <p:xfrm>
          <a:off x="4395931" y="3078298"/>
          <a:ext cx="4071938" cy="1008062"/>
        </p:xfrm>
        <a:graphic>
          <a:graphicData uri="http://schemas.openxmlformats.org/presentationml/2006/ole">
            <mc:AlternateContent xmlns:mc="http://schemas.openxmlformats.org/markup-compatibility/2006">
              <mc:Choice xmlns:v="urn:schemas-microsoft-com:vml" Requires="v">
                <p:oleObj name="Equation" r:id="rId4" imgW="2463480" imgH="609480" progId="Equation.DSMT4">
                  <p:embed/>
                </p:oleObj>
              </mc:Choice>
              <mc:Fallback>
                <p:oleObj name="Equation" r:id="rId4" imgW="2463480" imgH="60948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95931" y="3078298"/>
                        <a:ext cx="4071938" cy="1008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9" name="Object 117"/>
          <p:cNvGraphicFramePr>
            <a:graphicFrameLocks noChangeAspect="1"/>
          </p:cNvGraphicFramePr>
          <p:nvPr>
            <p:extLst>
              <p:ext uri="{D42A27DB-BD31-4B8C-83A1-F6EECF244321}">
                <p14:modId xmlns:p14="http://schemas.microsoft.com/office/powerpoint/2010/main" val="2282646935"/>
              </p:ext>
            </p:extLst>
          </p:nvPr>
        </p:nvGraphicFramePr>
        <p:xfrm>
          <a:off x="4395931" y="4149860"/>
          <a:ext cx="4000500" cy="962025"/>
        </p:xfrm>
        <a:graphic>
          <a:graphicData uri="http://schemas.openxmlformats.org/presentationml/2006/ole">
            <mc:AlternateContent xmlns:mc="http://schemas.openxmlformats.org/markup-compatibility/2006">
              <mc:Choice xmlns:v="urn:schemas-microsoft-com:vml" Requires="v">
                <p:oleObj name="Equation" r:id="rId6" imgW="2539800" imgH="609480" progId="Equation.DSMT4">
                  <p:embed/>
                </p:oleObj>
              </mc:Choice>
              <mc:Fallback>
                <p:oleObj name="Equation" r:id="rId6" imgW="2539800" imgH="60948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95931" y="4149860"/>
                        <a:ext cx="4000500" cy="962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1671" name="Object 119"/>
          <p:cNvGraphicFramePr>
            <a:graphicFrameLocks noChangeAspect="1"/>
          </p:cNvGraphicFramePr>
          <p:nvPr>
            <p:extLst>
              <p:ext uri="{D42A27DB-BD31-4B8C-83A1-F6EECF244321}">
                <p14:modId xmlns:p14="http://schemas.microsoft.com/office/powerpoint/2010/main" val="2676677503"/>
              </p:ext>
            </p:extLst>
          </p:nvPr>
        </p:nvGraphicFramePr>
        <p:xfrm>
          <a:off x="5436096" y="5624648"/>
          <a:ext cx="2787650" cy="455612"/>
        </p:xfrm>
        <a:graphic>
          <a:graphicData uri="http://schemas.openxmlformats.org/presentationml/2006/ole">
            <mc:AlternateContent xmlns:mc="http://schemas.openxmlformats.org/markup-compatibility/2006">
              <mc:Choice xmlns:v="urn:schemas-microsoft-com:vml" Requires="v">
                <p:oleObj name="Equation" r:id="rId8" imgW="1396800" imgH="228600" progId="Equation.DSMT4">
                  <p:embed/>
                </p:oleObj>
              </mc:Choice>
              <mc:Fallback>
                <p:oleObj name="Equation" r:id="rId8" imgW="1396800" imgH="228600" progId="Equation.DSMT4">
                  <p:embed/>
                  <p:pic>
                    <p:nvPicPr>
                      <p:cNvPr id="0" name=""/>
                      <p:cNvPicPr>
                        <a:picLocks noChangeAspect="1" noChangeArrowheads="1"/>
                      </p:cNvPicPr>
                      <p:nvPr/>
                    </p:nvPicPr>
                    <p:blipFill>
                      <a:blip r:embed="rId9"/>
                      <a:srcRect/>
                      <a:stretch>
                        <a:fillRect/>
                      </a:stretch>
                    </p:blipFill>
                    <p:spPr bwMode="auto">
                      <a:xfrm>
                        <a:off x="5436096" y="5624648"/>
                        <a:ext cx="2787650" cy="455612"/>
                      </a:xfrm>
                      <a:prstGeom prst="rect">
                        <a:avLst/>
                      </a:prstGeom>
                      <a:noFill/>
                      <a:ln>
                        <a:noFill/>
                      </a:ln>
                      <a:effectLst/>
                    </p:spPr>
                  </p:pic>
                </p:oleObj>
              </mc:Fallback>
            </mc:AlternateContent>
          </a:graphicData>
        </a:graphic>
      </p:graphicFrame>
      <p:graphicFrame>
        <p:nvGraphicFramePr>
          <p:cNvPr id="51" name="Object 119"/>
          <p:cNvGraphicFramePr>
            <a:graphicFrameLocks noChangeAspect="1"/>
          </p:cNvGraphicFramePr>
          <p:nvPr>
            <p:extLst>
              <p:ext uri="{D42A27DB-BD31-4B8C-83A1-F6EECF244321}">
                <p14:modId xmlns:p14="http://schemas.microsoft.com/office/powerpoint/2010/main" val="3511895514"/>
              </p:ext>
            </p:extLst>
          </p:nvPr>
        </p:nvGraphicFramePr>
        <p:xfrm>
          <a:off x="1758529" y="5722517"/>
          <a:ext cx="2328863" cy="427037"/>
        </p:xfrm>
        <a:graphic>
          <a:graphicData uri="http://schemas.openxmlformats.org/presentationml/2006/ole">
            <mc:AlternateContent xmlns:mc="http://schemas.openxmlformats.org/markup-compatibility/2006">
              <mc:Choice xmlns:v="urn:schemas-microsoft-com:vml" Requires="v">
                <p:oleObj name="Equation" r:id="rId10" imgW="1244520" imgH="228600" progId="Equation.DSMT4">
                  <p:embed/>
                </p:oleObj>
              </mc:Choice>
              <mc:Fallback>
                <p:oleObj name="Equation" r:id="rId10" imgW="1244520" imgH="228600" progId="Equation.DSMT4">
                  <p:embed/>
                  <p:pic>
                    <p:nvPicPr>
                      <p:cNvPr id="0" name=""/>
                      <p:cNvPicPr>
                        <a:picLocks noChangeAspect="1" noChangeArrowheads="1"/>
                      </p:cNvPicPr>
                      <p:nvPr/>
                    </p:nvPicPr>
                    <p:blipFill>
                      <a:blip r:embed="rId11"/>
                      <a:srcRect/>
                      <a:stretch>
                        <a:fillRect/>
                      </a:stretch>
                    </p:blipFill>
                    <p:spPr bwMode="auto">
                      <a:xfrm>
                        <a:off x="1758529" y="5722517"/>
                        <a:ext cx="2328863" cy="427037"/>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41709233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1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linds(horizontal)">
                                      <p:cBhvr>
                                        <p:cTn id="11" dur="500"/>
                                        <p:tgtEl>
                                          <p:spTgt spid="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linds(horizontal)">
                                      <p:cBhvr>
                                        <p:cTn id="16" dur="500"/>
                                        <p:tgtEl>
                                          <p:spTgt spid="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blinds(horizontal)">
                                      <p:cBhvr>
                                        <p:cTn id="21" dur="500"/>
                                        <p:tgtEl>
                                          <p:spTgt spid="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86"/>
                                        </p:tgtEl>
                                        <p:attrNameLst>
                                          <p:attrName>style.visibility</p:attrName>
                                        </p:attrNameLst>
                                      </p:cBhvr>
                                      <p:to>
                                        <p:strVal val="visible"/>
                                      </p:to>
                                    </p:set>
                                    <p:animEffect transition="in" filter="blinds(horizontal)">
                                      <p:cBhvr>
                                        <p:cTn id="26" dur="500"/>
                                        <p:tgtEl>
                                          <p:spTgt spid="8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nodeType="clickEffect">
                                  <p:stCondLst>
                                    <p:cond delay="0"/>
                                  </p:stCondLst>
                                  <p:childTnLst>
                                    <p:set>
                                      <p:cBhvr>
                                        <p:cTn id="30" dur="1" fill="hold">
                                          <p:stCondLst>
                                            <p:cond delay="0"/>
                                          </p:stCondLst>
                                        </p:cTn>
                                        <p:tgtEl>
                                          <p:spTgt spid="51"/>
                                        </p:tgtEl>
                                        <p:attrNameLst>
                                          <p:attrName>style.visibility</p:attrName>
                                        </p:attrNameLst>
                                      </p:cBhvr>
                                      <p:to>
                                        <p:strVal val="visible"/>
                                      </p:to>
                                    </p:set>
                                    <p:animEffect transition="in" filter="blinds(horizontal)">
                                      <p:cBhvr>
                                        <p:cTn id="31" dur="500"/>
                                        <p:tgtEl>
                                          <p:spTgt spid="51"/>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87"/>
                                        </p:tgtEl>
                                        <p:attrNameLst>
                                          <p:attrName>style.visibility</p:attrName>
                                        </p:attrNameLst>
                                      </p:cBhvr>
                                      <p:to>
                                        <p:strVal val="visible"/>
                                      </p:to>
                                    </p:set>
                                    <p:animEffect transition="in" filter="blinds(horizontal)">
                                      <p:cBhvr>
                                        <p:cTn id="36" dur="500"/>
                                        <p:tgtEl>
                                          <p:spTgt spid="87"/>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88"/>
                                        </p:tgtEl>
                                        <p:attrNameLst>
                                          <p:attrName>style.visibility</p:attrName>
                                        </p:attrNameLst>
                                      </p:cBhvr>
                                      <p:to>
                                        <p:strVal val="visible"/>
                                      </p:to>
                                    </p:set>
                                    <p:animEffect transition="in" filter="blinds(horizontal)">
                                      <p:cBhvr>
                                        <p:cTn id="41" dur="500"/>
                                        <p:tgtEl>
                                          <p:spTgt spid="88"/>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89"/>
                                        </p:tgtEl>
                                        <p:attrNameLst>
                                          <p:attrName>style.visibility</p:attrName>
                                        </p:attrNameLst>
                                      </p:cBhvr>
                                      <p:to>
                                        <p:strVal val="visible"/>
                                      </p:to>
                                    </p:set>
                                    <p:animEffect transition="in" filter="blinds(horizontal)">
                                      <p:cBhvr>
                                        <p:cTn id="46" dur="500"/>
                                        <p:tgtEl>
                                          <p:spTgt spid="89"/>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nodeType="clickEffect">
                                  <p:stCondLst>
                                    <p:cond delay="0"/>
                                  </p:stCondLst>
                                  <p:childTnLst>
                                    <p:set>
                                      <p:cBhvr>
                                        <p:cTn id="50" dur="1" fill="hold">
                                          <p:stCondLst>
                                            <p:cond delay="0"/>
                                          </p:stCondLst>
                                        </p:cTn>
                                        <p:tgtEl>
                                          <p:spTgt spid="151671"/>
                                        </p:tgtEl>
                                        <p:attrNameLst>
                                          <p:attrName>style.visibility</p:attrName>
                                        </p:attrNameLst>
                                      </p:cBhvr>
                                      <p:to>
                                        <p:strVal val="visible"/>
                                      </p:to>
                                    </p:set>
                                    <p:animEffect transition="in" filter="blinds(horizontal)">
                                      <p:cBhvr>
                                        <p:cTn id="51" dur="500"/>
                                        <p:tgtEl>
                                          <p:spTgt spid="1516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7830" name="Group 70"/>
          <p:cNvGrpSpPr>
            <a:grpSpLocks/>
          </p:cNvGrpSpPr>
          <p:nvPr/>
        </p:nvGrpSpPr>
        <p:grpSpPr bwMode="auto">
          <a:xfrm>
            <a:off x="611560" y="1490294"/>
            <a:ext cx="2808288" cy="3462338"/>
            <a:chOff x="1296" y="1632"/>
            <a:chExt cx="1536" cy="2215"/>
          </a:xfrm>
        </p:grpSpPr>
        <p:pic>
          <p:nvPicPr>
            <p:cNvPr id="77837" name="Picture 63" descr="tu7-9"/>
            <p:cNvPicPr>
              <a:picLocks noChangeAspect="1" noChangeArrowheads="1"/>
            </p:cNvPicPr>
            <p:nvPr/>
          </p:nvPicPr>
          <p:blipFill>
            <a:blip r:embed="rId2">
              <a:lum bright="-12000" contrast="36000"/>
              <a:extLst>
                <a:ext uri="{28A0092B-C50C-407E-A947-70E740481C1C}">
                  <a14:useLocalDpi xmlns:a14="http://schemas.microsoft.com/office/drawing/2010/main" val="0"/>
                </a:ext>
              </a:extLst>
            </a:blip>
            <a:srcRect l="6494" t="7298" r="51949" b="16077"/>
            <a:stretch>
              <a:fillRect/>
            </a:stretch>
          </p:blipFill>
          <p:spPr bwMode="auto">
            <a:xfrm>
              <a:off x="1296" y="1632"/>
              <a:ext cx="1536" cy="2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38" name="Line 68"/>
            <p:cNvSpPr>
              <a:spLocks noChangeShapeType="1"/>
            </p:cNvSpPr>
            <p:nvPr/>
          </p:nvSpPr>
          <p:spPr bwMode="auto">
            <a:xfrm>
              <a:off x="2392" y="3464"/>
              <a:ext cx="1" cy="352"/>
            </a:xfrm>
            <a:prstGeom prst="line">
              <a:avLst/>
            </a:prstGeom>
            <a:noFill/>
            <a:ln w="38100">
              <a:solidFill>
                <a:srgbClr val="FF0000"/>
              </a:solidFill>
              <a:miter lim="800000"/>
              <a:headEnd/>
              <a:tailEnd type="stealth"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77839" name="Text Box 69"/>
            <p:cNvSpPr txBox="1">
              <a:spLocks noChangeArrowheads="1"/>
            </p:cNvSpPr>
            <p:nvPr/>
          </p:nvSpPr>
          <p:spPr bwMode="auto">
            <a:xfrm>
              <a:off x="2426" y="3612"/>
              <a:ext cx="230"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1800" i="1">
                  <a:solidFill>
                    <a:srgbClr val="C6061D"/>
                  </a:solidFill>
                  <a:latin typeface="Times New Roman" panose="02020603050405020304" pitchFamily="18" charset="0"/>
                </a:rPr>
                <a:t>F</a:t>
              </a:r>
              <a:r>
                <a:rPr lang="en-US" altLang="zh-CN" sz="1800" b="0" baseline="-25000">
                  <a:solidFill>
                    <a:srgbClr val="C6061D"/>
                  </a:solidFill>
                  <a:latin typeface="Times New Roman" panose="02020603050405020304" pitchFamily="18" charset="0"/>
                </a:rPr>
                <a:t>P</a:t>
              </a:r>
            </a:p>
          </p:txBody>
        </p:sp>
      </p:grpSp>
      <p:sp>
        <p:nvSpPr>
          <p:cNvPr id="100427" name="Text Box 75"/>
          <p:cNvSpPr txBox="1">
            <a:spLocks noChangeArrowheads="1"/>
          </p:cNvSpPr>
          <p:nvPr/>
        </p:nvSpPr>
        <p:spPr bwMode="auto">
          <a:xfrm>
            <a:off x="2933080" y="1688724"/>
            <a:ext cx="5616624" cy="461665"/>
          </a:xfrm>
          <a:prstGeom prst="rect">
            <a:avLst/>
          </a:prstGeom>
          <a:noFill/>
          <a:ln w="12700" cap="sq">
            <a:noFill/>
            <a:miter lim="800000"/>
            <a:headEnd type="none" w="sm" len="sm"/>
            <a:tailEnd type="none" w="sm" len="sm"/>
          </a:ln>
          <a:effectLst/>
        </p:spPr>
        <p:txBody>
          <a:bodyPr wrap="square">
            <a:spAutoFit/>
          </a:bodyPr>
          <a:lstStyle/>
          <a:p>
            <a:pPr algn="l">
              <a:defRPr/>
            </a:pPr>
            <a:r>
              <a:rPr kumimoji="0" lang="zh-CN" altLang="en-US" b="1" dirty="0">
                <a:solidFill>
                  <a:srgbClr val="0000FF"/>
                </a:solidFill>
                <a:latin typeface="楷体" panose="02010609060101010101" pitchFamily="49" charset="-122"/>
                <a:ea typeface="楷体" panose="02010609060101010101" pitchFamily="49" charset="-122"/>
              </a:rPr>
              <a:t>解：研究对象：构架整体</a:t>
            </a:r>
            <a:r>
              <a:rPr kumimoji="0" lang="en-US" altLang="zh-CN" b="1" dirty="0">
                <a:solidFill>
                  <a:srgbClr val="0000FF"/>
                </a:solidFill>
                <a:latin typeface="楷体" panose="02010609060101010101" pitchFamily="49" charset="-122"/>
                <a:ea typeface="楷体" panose="02010609060101010101" pitchFamily="49" charset="-122"/>
              </a:rPr>
              <a:t>,</a:t>
            </a:r>
            <a:r>
              <a:rPr kumimoji="0" lang="zh-CN" altLang="en-US" b="1" dirty="0">
                <a:solidFill>
                  <a:srgbClr val="0000FF"/>
                </a:solidFill>
                <a:latin typeface="楷体" panose="02010609060101010101" pitchFamily="49" charset="-122"/>
                <a:ea typeface="楷体" panose="02010609060101010101" pitchFamily="49" charset="-122"/>
              </a:rPr>
              <a:t>受力分析</a:t>
            </a:r>
          </a:p>
        </p:txBody>
      </p:sp>
      <p:sp>
        <p:nvSpPr>
          <p:cNvPr id="100413" name="Text Box 61"/>
          <p:cNvSpPr txBox="1">
            <a:spLocks noChangeArrowheads="1"/>
          </p:cNvSpPr>
          <p:nvPr/>
        </p:nvSpPr>
        <p:spPr bwMode="auto">
          <a:xfrm>
            <a:off x="683568" y="467809"/>
            <a:ext cx="7848872" cy="1200329"/>
          </a:xfrm>
          <a:prstGeom prst="rect">
            <a:avLst/>
          </a:prstGeom>
          <a:noFill/>
          <a:ln w="12700" cap="sq">
            <a:noFill/>
            <a:miter lim="800000"/>
            <a:headEnd type="none" w="sm" len="sm"/>
            <a:tailEnd type="none" w="sm" len="sm"/>
          </a:ln>
          <a:effectLst/>
        </p:spPr>
        <p:txBody>
          <a:bodyPr wrap="square">
            <a:spAutoFit/>
          </a:bodyPr>
          <a:lstStyle/>
          <a:p>
            <a:pPr algn="l">
              <a:defRPr/>
            </a:pPr>
            <a:r>
              <a:rPr kumimoji="0" lang="zh-CN" altLang="en-US" b="1" dirty="0">
                <a:solidFill>
                  <a:srgbClr val="FF0000"/>
                </a:solidFill>
                <a:latin typeface="+mn-lt"/>
                <a:ea typeface="楷体" panose="02010609060101010101" pitchFamily="49" charset="-122"/>
              </a:rPr>
              <a:t>例</a:t>
            </a:r>
            <a:r>
              <a:rPr kumimoji="0" lang="en-US" altLang="zh-CN" b="1" dirty="0">
                <a:solidFill>
                  <a:srgbClr val="FF0000"/>
                </a:solidFill>
                <a:latin typeface="+mn-lt"/>
                <a:ea typeface="楷体" panose="02010609060101010101" pitchFamily="49" charset="-122"/>
              </a:rPr>
              <a:t> </a:t>
            </a:r>
            <a:r>
              <a:rPr kumimoji="0" lang="zh-CN" altLang="en-US" b="1" dirty="0">
                <a:latin typeface="+mn-lt"/>
                <a:ea typeface="楷体" panose="02010609060101010101" pitchFamily="49" charset="-122"/>
              </a:rPr>
              <a:t>三角架结构尺寸及受力如图所示。其中</a:t>
            </a:r>
            <a:r>
              <a:rPr kumimoji="0" lang="en-US" altLang="zh-CN" i="1" dirty="0">
                <a:latin typeface="+mn-lt"/>
                <a:ea typeface="楷体" panose="02010609060101010101" pitchFamily="49" charset="-122"/>
              </a:rPr>
              <a:t>F</a:t>
            </a:r>
            <a:r>
              <a:rPr kumimoji="0" lang="en-US" altLang="zh-CN" baseline="-30000" dirty="0">
                <a:latin typeface="+mn-lt"/>
                <a:ea typeface="楷体" panose="02010609060101010101" pitchFamily="49" charset="-122"/>
              </a:rPr>
              <a:t>P</a:t>
            </a:r>
            <a:r>
              <a:rPr kumimoji="0" lang="zh-CN" altLang="en-US" dirty="0">
                <a:latin typeface="+mn-lt"/>
                <a:ea typeface="楷体" panose="02010609060101010101" pitchFamily="49" charset="-122"/>
              </a:rPr>
              <a:t>＝</a:t>
            </a:r>
            <a:r>
              <a:rPr kumimoji="0" lang="en-US" altLang="zh-CN" dirty="0">
                <a:latin typeface="+mn-lt"/>
                <a:ea typeface="楷体" panose="02010609060101010101" pitchFamily="49" charset="-122"/>
              </a:rPr>
              <a:t>22.2 </a:t>
            </a:r>
            <a:r>
              <a:rPr kumimoji="0" lang="en-US" altLang="zh-CN" dirty="0" err="1">
                <a:latin typeface="+mn-lt"/>
                <a:ea typeface="楷体" panose="02010609060101010101" pitchFamily="49" charset="-122"/>
              </a:rPr>
              <a:t>kN</a:t>
            </a:r>
            <a:r>
              <a:rPr kumimoji="0" lang="zh-CN" altLang="en-US" b="1" dirty="0">
                <a:latin typeface="+mn-lt"/>
                <a:ea typeface="楷体" panose="02010609060101010101" pitchFamily="49" charset="-122"/>
              </a:rPr>
              <a:t>；钢杆</a:t>
            </a:r>
            <a:r>
              <a:rPr kumimoji="0" lang="en-US" altLang="zh-CN" i="1" dirty="0">
                <a:latin typeface="+mn-lt"/>
                <a:ea typeface="楷体" panose="02010609060101010101" pitchFamily="49" charset="-122"/>
              </a:rPr>
              <a:t>BD</a:t>
            </a:r>
            <a:r>
              <a:rPr kumimoji="0" lang="zh-CN" altLang="en-US" b="1" dirty="0">
                <a:latin typeface="+mn-lt"/>
                <a:ea typeface="楷体" panose="02010609060101010101" pitchFamily="49" charset="-122"/>
              </a:rPr>
              <a:t>的直径</a:t>
            </a:r>
            <a:r>
              <a:rPr kumimoji="0" lang="en-US" altLang="zh-CN" i="1" dirty="0">
                <a:latin typeface="+mn-lt"/>
                <a:ea typeface="楷体" panose="02010609060101010101" pitchFamily="49" charset="-122"/>
              </a:rPr>
              <a:t>d</a:t>
            </a:r>
            <a:r>
              <a:rPr kumimoji="0" lang="en-US" altLang="zh-CN" baseline="-30000" dirty="0">
                <a:latin typeface="+mn-lt"/>
                <a:ea typeface="楷体" panose="02010609060101010101" pitchFamily="49" charset="-122"/>
              </a:rPr>
              <a:t>l</a:t>
            </a:r>
            <a:r>
              <a:rPr kumimoji="0" lang="zh-CN" altLang="en-US" dirty="0">
                <a:latin typeface="+mn-lt"/>
                <a:ea typeface="楷体" panose="02010609060101010101" pitchFamily="49" charset="-122"/>
              </a:rPr>
              <a:t>＝</a:t>
            </a:r>
            <a:r>
              <a:rPr kumimoji="0" lang="en-US" altLang="zh-CN" dirty="0">
                <a:latin typeface="+mn-lt"/>
                <a:ea typeface="楷体" panose="02010609060101010101" pitchFamily="49" charset="-122"/>
              </a:rPr>
              <a:t>25.4mm</a:t>
            </a:r>
            <a:r>
              <a:rPr kumimoji="0" lang="zh-CN" altLang="en-US" b="1" dirty="0">
                <a:latin typeface="+mn-lt"/>
                <a:ea typeface="楷体" panose="02010609060101010101" pitchFamily="49" charset="-122"/>
              </a:rPr>
              <a:t>；钢梁</a:t>
            </a:r>
            <a:r>
              <a:rPr kumimoji="0" lang="en-US" altLang="zh-CN" i="1" dirty="0">
                <a:latin typeface="+mn-lt"/>
                <a:ea typeface="楷体" panose="02010609060101010101" pitchFamily="49" charset="-122"/>
              </a:rPr>
              <a:t>CD</a:t>
            </a:r>
            <a:r>
              <a:rPr kumimoji="0" lang="zh-CN" altLang="en-US" b="1" dirty="0">
                <a:latin typeface="+mn-lt"/>
                <a:ea typeface="楷体" panose="02010609060101010101" pitchFamily="49" charset="-122"/>
              </a:rPr>
              <a:t>的横截面面积</a:t>
            </a:r>
            <a:r>
              <a:rPr kumimoji="0" lang="en-US" altLang="zh-CN" i="1" dirty="0">
                <a:latin typeface="+mn-lt"/>
                <a:ea typeface="楷体" panose="02010609060101010101" pitchFamily="49" charset="-122"/>
              </a:rPr>
              <a:t>A</a:t>
            </a:r>
            <a:r>
              <a:rPr kumimoji="0" lang="en-US" altLang="zh-CN" baseline="-30000" dirty="0">
                <a:latin typeface="+mn-lt"/>
                <a:ea typeface="楷体" panose="02010609060101010101" pitchFamily="49" charset="-122"/>
              </a:rPr>
              <a:t>2</a:t>
            </a:r>
            <a:r>
              <a:rPr kumimoji="0" lang="zh-CN" altLang="en-US" dirty="0">
                <a:latin typeface="+mn-lt"/>
                <a:ea typeface="楷体" panose="02010609060101010101" pitchFamily="49" charset="-122"/>
              </a:rPr>
              <a:t>＝</a:t>
            </a:r>
            <a:r>
              <a:rPr kumimoji="0" lang="en-US" altLang="zh-CN" dirty="0">
                <a:latin typeface="+mn-lt"/>
                <a:ea typeface="楷体" panose="02010609060101010101" pitchFamily="49" charset="-122"/>
              </a:rPr>
              <a:t>2.32×10</a:t>
            </a:r>
            <a:r>
              <a:rPr kumimoji="0" lang="en-US" altLang="zh-CN" baseline="30000" dirty="0">
                <a:latin typeface="+mn-lt"/>
                <a:ea typeface="楷体" panose="02010609060101010101" pitchFamily="49" charset="-122"/>
              </a:rPr>
              <a:t>3 </a:t>
            </a:r>
            <a:r>
              <a:rPr kumimoji="0" lang="en-US" altLang="zh-CN" dirty="0">
                <a:latin typeface="+mn-lt"/>
                <a:ea typeface="楷体" panose="02010609060101010101" pitchFamily="49" charset="-122"/>
              </a:rPr>
              <a:t>mm</a:t>
            </a:r>
            <a:r>
              <a:rPr kumimoji="0" lang="en-US" altLang="zh-CN" baseline="30000" dirty="0">
                <a:latin typeface="+mn-lt"/>
                <a:ea typeface="楷体" panose="02010609060101010101" pitchFamily="49" charset="-122"/>
              </a:rPr>
              <a:t>2</a:t>
            </a:r>
            <a:r>
              <a:rPr kumimoji="0" lang="zh-CN" altLang="en-US" b="1" dirty="0">
                <a:latin typeface="+mn-lt"/>
                <a:ea typeface="楷体" panose="02010609060101010101" pitchFamily="49" charset="-122"/>
              </a:rPr>
              <a:t>；试求</a:t>
            </a:r>
            <a:r>
              <a:rPr kumimoji="0" lang="en-US" altLang="zh-CN" b="1" dirty="0">
                <a:latin typeface="+mn-lt"/>
                <a:ea typeface="楷体" panose="02010609060101010101" pitchFamily="49" charset="-122"/>
              </a:rPr>
              <a:t>:</a:t>
            </a:r>
            <a:r>
              <a:rPr kumimoji="0" lang="en-US" altLang="zh-CN" b="1" dirty="0">
                <a:effectLst>
                  <a:outerShdw blurRad="38100" dist="38100" dir="2700000" algn="tl">
                    <a:srgbClr val="C0C0C0"/>
                  </a:outerShdw>
                </a:effectLst>
                <a:latin typeface="+mn-lt"/>
                <a:ea typeface="楷体" panose="02010609060101010101" pitchFamily="49" charset="-122"/>
              </a:rPr>
              <a:t> </a:t>
            </a:r>
            <a:r>
              <a:rPr kumimoji="0" lang="zh-CN" altLang="en-US" b="1" dirty="0">
                <a:latin typeface="+mn-lt"/>
                <a:ea typeface="楷体" panose="02010609060101010101" pitchFamily="49" charset="-122"/>
              </a:rPr>
              <a:t>杆</a:t>
            </a:r>
            <a:r>
              <a:rPr kumimoji="0" lang="en-US" altLang="zh-CN" i="1" dirty="0">
                <a:latin typeface="+mn-lt"/>
                <a:ea typeface="楷体" panose="02010609060101010101" pitchFamily="49" charset="-122"/>
              </a:rPr>
              <a:t>BD</a:t>
            </a:r>
            <a:r>
              <a:rPr kumimoji="0" lang="zh-CN" altLang="en-US" b="1" dirty="0">
                <a:latin typeface="+mn-lt"/>
                <a:ea typeface="楷体" panose="02010609060101010101" pitchFamily="49" charset="-122"/>
              </a:rPr>
              <a:t>与</a:t>
            </a:r>
            <a:r>
              <a:rPr kumimoji="0" lang="en-US" altLang="zh-CN" i="1" dirty="0">
                <a:latin typeface="+mn-lt"/>
                <a:ea typeface="楷体" panose="02010609060101010101" pitchFamily="49" charset="-122"/>
              </a:rPr>
              <a:t>CD</a:t>
            </a:r>
            <a:r>
              <a:rPr kumimoji="0" lang="zh-CN" altLang="en-US" b="1" dirty="0">
                <a:latin typeface="+mn-lt"/>
                <a:ea typeface="楷体" panose="02010609060101010101" pitchFamily="49" charset="-122"/>
              </a:rPr>
              <a:t>的横截面上的正应力。 </a:t>
            </a:r>
          </a:p>
        </p:txBody>
      </p:sp>
      <p:grpSp>
        <p:nvGrpSpPr>
          <p:cNvPr id="3" name="Group 71"/>
          <p:cNvGrpSpPr>
            <a:grpSpLocks/>
          </p:cNvGrpSpPr>
          <p:nvPr/>
        </p:nvGrpSpPr>
        <p:grpSpPr bwMode="auto">
          <a:xfrm>
            <a:off x="333509" y="4116906"/>
            <a:ext cx="1919288" cy="2130425"/>
            <a:chOff x="1074" y="1200"/>
            <a:chExt cx="1209" cy="1342"/>
          </a:xfrm>
        </p:grpSpPr>
        <p:pic>
          <p:nvPicPr>
            <p:cNvPr id="77834" name="Picture 72" descr="tu7-9"/>
            <p:cNvPicPr>
              <a:picLocks noChangeAspect="1" noChangeArrowheads="1"/>
            </p:cNvPicPr>
            <p:nvPr/>
          </p:nvPicPr>
          <p:blipFill>
            <a:blip r:embed="rId2">
              <a:lum bright="-12000" contrast="36000"/>
              <a:extLst>
                <a:ext uri="{28A0092B-C50C-407E-A947-70E740481C1C}">
                  <a14:useLocalDpi xmlns:a14="http://schemas.microsoft.com/office/drawing/2010/main" val="0"/>
                </a:ext>
              </a:extLst>
            </a:blip>
            <a:srcRect l="50648" t="9123" r="11688" b="30672"/>
            <a:stretch>
              <a:fillRect/>
            </a:stretch>
          </p:blipFill>
          <p:spPr bwMode="auto">
            <a:xfrm>
              <a:off x="1104" y="1200"/>
              <a:ext cx="1179" cy="1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35" name="Rectangle 73"/>
            <p:cNvSpPr>
              <a:spLocks noChangeArrowheads="1"/>
            </p:cNvSpPr>
            <p:nvPr/>
          </p:nvSpPr>
          <p:spPr bwMode="auto">
            <a:xfrm>
              <a:off x="1104" y="2370"/>
              <a:ext cx="336" cy="48"/>
            </a:xfrm>
            <a:prstGeom prst="rect">
              <a:avLst/>
            </a:prstGeom>
            <a:solidFill>
              <a:schemeClr val="bg1"/>
            </a:solidFill>
            <a:ln w="9525">
              <a:solidFill>
                <a:schemeClr val="bg1"/>
              </a:solidFill>
              <a:miter lim="800000"/>
              <a:headEnd/>
              <a:tailEnd/>
            </a:ln>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endParaRPr lang="zh-CN" altLang="en-US"/>
            </a:p>
          </p:txBody>
        </p:sp>
        <p:sp>
          <p:nvSpPr>
            <p:cNvPr id="77836" name="AutoShape 74"/>
            <p:cNvSpPr>
              <a:spLocks noChangeArrowheads="1"/>
            </p:cNvSpPr>
            <p:nvPr/>
          </p:nvSpPr>
          <p:spPr bwMode="auto">
            <a:xfrm>
              <a:off x="1074" y="2185"/>
              <a:ext cx="336" cy="41"/>
            </a:xfrm>
            <a:prstGeom prst="leftArrow">
              <a:avLst>
                <a:gd name="adj1" fmla="val 50000"/>
                <a:gd name="adj2" fmla="val 204878"/>
              </a:avLst>
            </a:prstGeom>
            <a:solidFill>
              <a:srgbClr val="CC3399"/>
            </a:solidFill>
            <a:ln w="9525">
              <a:solidFill>
                <a:srgbClr val="CC3399"/>
              </a:solidFill>
              <a:miter lim="800000"/>
              <a:headEnd/>
              <a:tailEnd/>
            </a:ln>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endParaRPr lang="zh-CN" altLang="en-US"/>
            </a:p>
          </p:txBody>
        </p:sp>
      </p:grpSp>
      <p:graphicFrame>
        <p:nvGraphicFramePr>
          <p:cNvPr id="16" name="Object 21"/>
          <p:cNvGraphicFramePr>
            <a:graphicFrameLocks noChangeAspect="1"/>
          </p:cNvGraphicFramePr>
          <p:nvPr>
            <p:extLst>
              <p:ext uri="{D42A27DB-BD31-4B8C-83A1-F6EECF244321}">
                <p14:modId xmlns:p14="http://schemas.microsoft.com/office/powerpoint/2010/main" val="31542930"/>
              </p:ext>
            </p:extLst>
          </p:nvPr>
        </p:nvGraphicFramePr>
        <p:xfrm>
          <a:off x="3719723" y="3189806"/>
          <a:ext cx="4176713" cy="927100"/>
        </p:xfrm>
        <a:graphic>
          <a:graphicData uri="http://schemas.openxmlformats.org/presentationml/2006/ole">
            <mc:AlternateContent xmlns:mc="http://schemas.openxmlformats.org/markup-compatibility/2006">
              <mc:Choice xmlns:v="urn:schemas-microsoft-com:vml" Requires="v">
                <p:oleObj name="Equation" r:id="rId3" imgW="2171520" imgH="482400" progId="Equation.DSMT4">
                  <p:embed/>
                </p:oleObj>
              </mc:Choice>
              <mc:Fallback>
                <p:oleObj name="Equation" r:id="rId3" imgW="2171520" imgH="4824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19723" y="3189806"/>
                        <a:ext cx="4176713" cy="927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 name="Object 26"/>
          <p:cNvGraphicFramePr>
            <a:graphicFrameLocks noGrp="1" noChangeAspect="1"/>
          </p:cNvGraphicFramePr>
          <p:nvPr>
            <p:ph sz="half" idx="1"/>
            <p:extLst>
              <p:ext uri="{D42A27DB-BD31-4B8C-83A1-F6EECF244321}">
                <p14:modId xmlns:p14="http://schemas.microsoft.com/office/powerpoint/2010/main" val="1222544997"/>
              </p:ext>
            </p:extLst>
          </p:nvPr>
        </p:nvGraphicFramePr>
        <p:xfrm>
          <a:off x="3862272" y="2207612"/>
          <a:ext cx="3554412" cy="493713"/>
        </p:xfrm>
        <a:graphic>
          <a:graphicData uri="http://schemas.openxmlformats.org/presentationml/2006/ole">
            <mc:AlternateContent xmlns:mc="http://schemas.openxmlformats.org/markup-compatibility/2006">
              <mc:Choice xmlns:v="urn:schemas-microsoft-com:vml" Requires="v">
                <p:oleObj name="Equation" r:id="rId5" imgW="1828800" imgH="253800" progId="Equation.DSMT4">
                  <p:embed/>
                </p:oleObj>
              </mc:Choice>
              <mc:Fallback>
                <p:oleObj name="Equation" r:id="rId5" imgW="1828800" imgH="253800" progId="Equation.DSMT4">
                  <p:embed/>
                  <p:pic>
                    <p:nvPicPr>
                      <p:cNvPr id="0" name=""/>
                      <p:cNvPicPr>
                        <a:picLocks noGrp="1" noChangeAspect="1" noChangeArrowheads="1"/>
                      </p:cNvPicPr>
                      <p:nvPr/>
                    </p:nvPicPr>
                    <p:blipFill>
                      <a:blip r:embed="rId6"/>
                      <a:srcRect/>
                      <a:stretch>
                        <a:fillRect/>
                      </a:stretch>
                    </p:blipFill>
                    <p:spPr bwMode="auto">
                      <a:xfrm>
                        <a:off x="3862272" y="2207612"/>
                        <a:ext cx="3554412" cy="49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 name="Object 28"/>
          <p:cNvGraphicFramePr>
            <a:graphicFrameLocks noChangeAspect="1"/>
          </p:cNvGraphicFramePr>
          <p:nvPr>
            <p:extLst>
              <p:ext uri="{D42A27DB-BD31-4B8C-83A1-F6EECF244321}">
                <p14:modId xmlns:p14="http://schemas.microsoft.com/office/powerpoint/2010/main" val="2643914443"/>
              </p:ext>
            </p:extLst>
          </p:nvPr>
        </p:nvGraphicFramePr>
        <p:xfrm>
          <a:off x="3922713" y="2674938"/>
          <a:ext cx="3908425" cy="457200"/>
        </p:xfrm>
        <a:graphic>
          <a:graphicData uri="http://schemas.openxmlformats.org/presentationml/2006/ole">
            <mc:AlternateContent xmlns:mc="http://schemas.openxmlformats.org/markup-compatibility/2006">
              <mc:Choice xmlns:v="urn:schemas-microsoft-com:vml" Requires="v">
                <p:oleObj name="Equation" r:id="rId7" imgW="2070000" imgH="241200" progId="Equation.DSMT4">
                  <p:embed/>
                </p:oleObj>
              </mc:Choice>
              <mc:Fallback>
                <p:oleObj name="Equation" r:id="rId7" imgW="2070000" imgH="241200" progId="Equation.DSMT4">
                  <p:embed/>
                  <p:pic>
                    <p:nvPicPr>
                      <p:cNvPr id="0" name=""/>
                      <p:cNvPicPr>
                        <a:picLocks noChangeAspect="1" noChangeArrowheads="1"/>
                      </p:cNvPicPr>
                      <p:nvPr/>
                    </p:nvPicPr>
                    <p:blipFill>
                      <a:blip r:embed="rId8"/>
                      <a:srcRect/>
                      <a:stretch>
                        <a:fillRect/>
                      </a:stretch>
                    </p:blipFill>
                    <p:spPr bwMode="auto">
                      <a:xfrm>
                        <a:off x="3922713" y="2674938"/>
                        <a:ext cx="3908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 name="Object 32"/>
          <p:cNvGraphicFramePr>
            <a:graphicFrameLocks noChangeAspect="1"/>
          </p:cNvGraphicFramePr>
          <p:nvPr>
            <p:extLst>
              <p:ext uri="{D42A27DB-BD31-4B8C-83A1-F6EECF244321}">
                <p14:modId xmlns:p14="http://schemas.microsoft.com/office/powerpoint/2010/main" val="4007127956"/>
              </p:ext>
            </p:extLst>
          </p:nvPr>
        </p:nvGraphicFramePr>
        <p:xfrm>
          <a:off x="3418386" y="4225065"/>
          <a:ext cx="4757738" cy="1047750"/>
        </p:xfrm>
        <a:graphic>
          <a:graphicData uri="http://schemas.openxmlformats.org/presentationml/2006/ole">
            <mc:AlternateContent xmlns:mc="http://schemas.openxmlformats.org/markup-compatibility/2006">
              <mc:Choice xmlns:v="urn:schemas-microsoft-com:vml" Requires="v">
                <p:oleObj name="Equation" r:id="rId9" imgW="2819160" imgH="622080" progId="Equation.DSMT4">
                  <p:embed/>
                </p:oleObj>
              </mc:Choice>
              <mc:Fallback>
                <p:oleObj name="Equation" r:id="rId9" imgW="2819160" imgH="622080" progId="Equation.DSMT4">
                  <p:embed/>
                  <p:pic>
                    <p:nvPicPr>
                      <p:cNvPr id="0" name=""/>
                      <p:cNvPicPr>
                        <a:picLocks noGrp="1" noChangeAspect="1" noChangeArrowheads="1"/>
                      </p:cNvPicPr>
                      <p:nvPr/>
                    </p:nvPicPr>
                    <p:blipFill>
                      <a:blip r:embed="rId10"/>
                      <a:srcRect/>
                      <a:stretch>
                        <a:fillRect/>
                      </a:stretch>
                    </p:blipFill>
                    <p:spPr bwMode="auto">
                      <a:xfrm>
                        <a:off x="3418386" y="4225065"/>
                        <a:ext cx="4757738" cy="1047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 name="Object 35"/>
          <p:cNvGraphicFramePr>
            <a:graphicFrameLocks noChangeAspect="1"/>
          </p:cNvGraphicFramePr>
          <p:nvPr>
            <p:extLst>
              <p:ext uri="{D42A27DB-BD31-4B8C-83A1-F6EECF244321}">
                <p14:modId xmlns:p14="http://schemas.microsoft.com/office/powerpoint/2010/main" val="3410680646"/>
              </p:ext>
            </p:extLst>
          </p:nvPr>
        </p:nvGraphicFramePr>
        <p:xfrm>
          <a:off x="3387725" y="5275263"/>
          <a:ext cx="5060950" cy="769937"/>
        </p:xfrm>
        <a:graphic>
          <a:graphicData uri="http://schemas.openxmlformats.org/presentationml/2006/ole">
            <mc:AlternateContent xmlns:mc="http://schemas.openxmlformats.org/markup-compatibility/2006">
              <mc:Choice xmlns:v="urn:schemas-microsoft-com:vml" Requires="v">
                <p:oleObj name="Equation" r:id="rId11" imgW="3009600" imgH="457200" progId="Equation.DSMT4">
                  <p:embed/>
                </p:oleObj>
              </mc:Choice>
              <mc:Fallback>
                <p:oleObj name="Equation" r:id="rId11" imgW="3009600" imgH="457200" progId="Equation.DSMT4">
                  <p:embed/>
                  <p:pic>
                    <p:nvPicPr>
                      <p:cNvPr id="0" name=""/>
                      <p:cNvPicPr>
                        <a:picLocks noGrp="1" noChangeAspect="1" noChangeArrowheads="1"/>
                      </p:cNvPicPr>
                      <p:nvPr/>
                    </p:nvPicPr>
                    <p:blipFill>
                      <a:blip r:embed="rId12"/>
                      <a:srcRect/>
                      <a:stretch>
                        <a:fillRect/>
                      </a:stretch>
                    </p:blipFill>
                    <p:spPr bwMode="auto">
                      <a:xfrm>
                        <a:off x="3387725" y="5275263"/>
                        <a:ext cx="5060950" cy="769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8315169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0427"/>
                                        </p:tgtEl>
                                        <p:attrNameLst>
                                          <p:attrName>style.visibility</p:attrName>
                                        </p:attrNameLst>
                                      </p:cBhvr>
                                      <p:to>
                                        <p:strVal val="visible"/>
                                      </p:to>
                                    </p:set>
                                    <p:animEffect transition="in" filter="box(out)">
                                      <p:cBhvr>
                                        <p:cTn id="7" dur="500"/>
                                        <p:tgtEl>
                                          <p:spTgt spid="1004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ox(ou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box(out)">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box(out)">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blinds(horizontal)">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blinds(horizontal)">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blinds(horizontal)">
                                      <p:cBhvr>
                                        <p:cTn id="3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27"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8181" name="Group 5"/>
          <p:cNvGrpSpPr>
            <a:grpSpLocks/>
          </p:cNvGrpSpPr>
          <p:nvPr/>
        </p:nvGrpSpPr>
        <p:grpSpPr bwMode="auto">
          <a:xfrm>
            <a:off x="5229015" y="631763"/>
            <a:ext cx="2487613" cy="1633537"/>
            <a:chOff x="3607" y="28"/>
            <a:chExt cx="1567" cy="1029"/>
          </a:xfrm>
        </p:grpSpPr>
        <p:grpSp>
          <p:nvGrpSpPr>
            <p:cNvPr id="22601" name="Group 6"/>
            <p:cNvGrpSpPr>
              <a:grpSpLocks/>
            </p:cNvGrpSpPr>
            <p:nvPr/>
          </p:nvGrpSpPr>
          <p:grpSpPr bwMode="auto">
            <a:xfrm>
              <a:off x="3607" y="402"/>
              <a:ext cx="1253" cy="654"/>
              <a:chOff x="3615" y="772"/>
              <a:chExt cx="945" cy="376"/>
            </a:xfrm>
          </p:grpSpPr>
          <p:sp>
            <p:nvSpPr>
              <p:cNvPr id="22609" name="Rectangle 7"/>
              <p:cNvSpPr>
                <a:spLocks noChangeArrowheads="1"/>
              </p:cNvSpPr>
              <p:nvPr/>
            </p:nvSpPr>
            <p:spPr bwMode="auto">
              <a:xfrm>
                <a:off x="3940" y="772"/>
                <a:ext cx="616" cy="376"/>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b="1">
                  <a:ea typeface="宋体" panose="02010600030101010101" pitchFamily="2" charset="-122"/>
                </a:endParaRPr>
              </a:p>
            </p:txBody>
          </p:sp>
          <p:sp>
            <p:nvSpPr>
              <p:cNvPr id="22610" name="Line 8"/>
              <p:cNvSpPr>
                <a:spLocks noChangeShapeType="1"/>
              </p:cNvSpPr>
              <p:nvPr/>
            </p:nvSpPr>
            <p:spPr bwMode="auto">
              <a:xfrm flipH="1">
                <a:off x="3615" y="959"/>
                <a:ext cx="325" cy="0"/>
              </a:xfrm>
              <a:prstGeom prst="line">
                <a:avLst/>
              </a:prstGeom>
              <a:noFill/>
              <a:ln w="25400">
                <a:solidFill>
                  <a:srgbClr val="FF33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11" name="Line 9"/>
              <p:cNvSpPr>
                <a:spLocks noChangeShapeType="1"/>
              </p:cNvSpPr>
              <p:nvPr/>
            </p:nvSpPr>
            <p:spPr bwMode="auto">
              <a:xfrm>
                <a:off x="3936" y="960"/>
                <a:ext cx="624" cy="0"/>
              </a:xfrm>
              <a:prstGeom prst="line">
                <a:avLst/>
              </a:prstGeom>
              <a:noFill/>
              <a:ln w="12700">
                <a:solidFill>
                  <a:schemeClr val="tx1"/>
                </a:solidFill>
                <a:prstDash val="dash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12" name="Rectangle 10"/>
              <p:cNvSpPr>
                <a:spLocks noChangeArrowheads="1"/>
              </p:cNvSpPr>
              <p:nvPr/>
            </p:nvSpPr>
            <p:spPr bwMode="auto">
              <a:xfrm>
                <a:off x="3648" y="789"/>
                <a:ext cx="186" cy="1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400" b="1" i="1" dirty="0">
                    <a:solidFill>
                      <a:srgbClr val="FF3300"/>
                    </a:solidFill>
                    <a:latin typeface="+mn-lt"/>
                  </a:rPr>
                  <a:t>F</a:t>
                </a:r>
                <a:endParaRPr kumimoji="1" lang="en-US" altLang="zh-CN" sz="2400" b="1" i="1" dirty="0">
                  <a:solidFill>
                    <a:srgbClr val="FF3300"/>
                  </a:solidFill>
                  <a:latin typeface="+mn-lt"/>
                  <a:ea typeface="'宋体" pitchFamily="34" charset="-122"/>
                </a:endParaRPr>
              </a:p>
            </p:txBody>
          </p:sp>
        </p:grpSp>
        <p:sp>
          <p:nvSpPr>
            <p:cNvPr id="22602" name="Line 11"/>
            <p:cNvSpPr>
              <a:spLocks noChangeShapeType="1"/>
            </p:cNvSpPr>
            <p:nvPr/>
          </p:nvSpPr>
          <p:spPr bwMode="auto">
            <a:xfrm>
              <a:off x="4848" y="415"/>
              <a:ext cx="318" cy="1"/>
            </a:xfrm>
            <a:prstGeom prst="line">
              <a:avLst/>
            </a:prstGeom>
            <a:noFill/>
            <a:ln w="25400">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03" name="Line 12"/>
            <p:cNvSpPr>
              <a:spLocks noChangeShapeType="1"/>
            </p:cNvSpPr>
            <p:nvPr/>
          </p:nvSpPr>
          <p:spPr bwMode="auto">
            <a:xfrm>
              <a:off x="4848" y="571"/>
              <a:ext cx="318" cy="1"/>
            </a:xfrm>
            <a:prstGeom prst="line">
              <a:avLst/>
            </a:prstGeom>
            <a:noFill/>
            <a:ln w="25400">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04" name="Line 13"/>
            <p:cNvSpPr>
              <a:spLocks noChangeShapeType="1"/>
            </p:cNvSpPr>
            <p:nvPr/>
          </p:nvSpPr>
          <p:spPr bwMode="auto">
            <a:xfrm>
              <a:off x="4848" y="727"/>
              <a:ext cx="318" cy="1"/>
            </a:xfrm>
            <a:prstGeom prst="line">
              <a:avLst/>
            </a:prstGeom>
            <a:noFill/>
            <a:ln w="25400">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05" name="Line 14"/>
            <p:cNvSpPr>
              <a:spLocks noChangeShapeType="1"/>
            </p:cNvSpPr>
            <p:nvPr/>
          </p:nvSpPr>
          <p:spPr bwMode="auto">
            <a:xfrm>
              <a:off x="4848" y="883"/>
              <a:ext cx="318" cy="1"/>
            </a:xfrm>
            <a:prstGeom prst="line">
              <a:avLst/>
            </a:prstGeom>
            <a:noFill/>
            <a:ln w="25400">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2606" name="Object 15"/>
            <p:cNvGraphicFramePr>
              <a:graphicFrameLocks/>
            </p:cNvGraphicFramePr>
            <p:nvPr>
              <p:extLst>
                <p:ext uri="{D42A27DB-BD31-4B8C-83A1-F6EECF244321}">
                  <p14:modId xmlns:p14="http://schemas.microsoft.com/office/powerpoint/2010/main" val="1069890739"/>
                </p:ext>
              </p:extLst>
            </p:nvPr>
          </p:nvGraphicFramePr>
          <p:xfrm>
            <a:off x="4052" y="28"/>
            <a:ext cx="895" cy="308"/>
          </p:xfrm>
          <a:graphic>
            <a:graphicData uri="http://schemas.openxmlformats.org/presentationml/2006/ole">
              <mc:AlternateContent xmlns:mc="http://schemas.openxmlformats.org/markup-compatibility/2006">
                <mc:Choice xmlns:v="urn:schemas-microsoft-com:vml" Requires="v">
                  <p:oleObj name="Equation" r:id="rId2" imgW="672840" imgH="228600" progId="Equation.DSMT4">
                    <p:embed/>
                  </p:oleObj>
                </mc:Choice>
                <mc:Fallback>
                  <p:oleObj name="Equation" r:id="rId2" imgW="672840" imgH="228600" progId="Equation.DSMT4">
                    <p:embed/>
                    <p:pic>
                      <p:nvPicPr>
                        <p:cNvPr id="0" nam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52" y="28"/>
                          <a:ext cx="895" cy="308"/>
                        </a:xfrm>
                        <a:prstGeom prst="rect">
                          <a:avLst/>
                        </a:prstGeom>
                        <a:noFill/>
                        <a:ln>
                          <a:noFill/>
                        </a:ln>
                        <a:effectLst/>
                      </p:spPr>
                    </p:pic>
                  </p:oleObj>
                </mc:Fallback>
              </mc:AlternateContent>
            </a:graphicData>
          </a:graphic>
        </p:graphicFrame>
        <p:sp>
          <p:nvSpPr>
            <p:cNvPr id="22607" name="Line 16"/>
            <p:cNvSpPr>
              <a:spLocks noChangeShapeType="1"/>
            </p:cNvSpPr>
            <p:nvPr/>
          </p:nvSpPr>
          <p:spPr bwMode="auto">
            <a:xfrm>
              <a:off x="4856" y="1055"/>
              <a:ext cx="318" cy="1"/>
            </a:xfrm>
            <a:prstGeom prst="line">
              <a:avLst/>
            </a:prstGeom>
            <a:noFill/>
            <a:ln w="25400">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08" name="Line 17"/>
            <p:cNvSpPr>
              <a:spLocks noChangeShapeType="1"/>
            </p:cNvSpPr>
            <p:nvPr/>
          </p:nvSpPr>
          <p:spPr bwMode="auto">
            <a:xfrm>
              <a:off x="4848" y="400"/>
              <a:ext cx="0" cy="657"/>
            </a:xfrm>
            <a:prstGeom prst="line">
              <a:avLst/>
            </a:prstGeom>
            <a:noFill/>
            <a:ln w="57150">
              <a:solidFill>
                <a:srgbClr val="00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8194" name="Group 18"/>
          <p:cNvGrpSpPr>
            <a:grpSpLocks/>
          </p:cNvGrpSpPr>
          <p:nvPr/>
        </p:nvGrpSpPr>
        <p:grpSpPr bwMode="auto">
          <a:xfrm>
            <a:off x="7686462" y="2992378"/>
            <a:ext cx="1144588" cy="461963"/>
            <a:chOff x="2016" y="1746"/>
            <a:chExt cx="721" cy="291"/>
          </a:xfrm>
        </p:grpSpPr>
        <p:sp>
          <p:nvSpPr>
            <p:cNvPr id="22599" name="Line 19"/>
            <p:cNvSpPr>
              <a:spLocks noChangeShapeType="1"/>
            </p:cNvSpPr>
            <p:nvPr/>
          </p:nvSpPr>
          <p:spPr bwMode="auto">
            <a:xfrm>
              <a:off x="2016" y="1765"/>
              <a:ext cx="384" cy="0"/>
            </a:xfrm>
            <a:prstGeom prst="line">
              <a:avLst/>
            </a:prstGeom>
            <a:noFill/>
            <a:ln w="2222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600" name="Text Box 20"/>
            <p:cNvSpPr txBox="1">
              <a:spLocks noChangeArrowheads="1"/>
            </p:cNvSpPr>
            <p:nvPr/>
          </p:nvSpPr>
          <p:spPr bwMode="auto">
            <a:xfrm>
              <a:off x="2170" y="1746"/>
              <a:ext cx="567"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i="1" dirty="0">
                  <a:solidFill>
                    <a:srgbClr val="FF0000"/>
                  </a:solidFill>
                  <a:latin typeface="Times New Roman" panose="02020603050405020304" pitchFamily="18" charset="0"/>
                  <a:ea typeface="宋体" panose="02010600030101010101" pitchFamily="2" charset="-122"/>
                </a:rPr>
                <a:t>F</a:t>
              </a:r>
              <a:r>
                <a:rPr kumimoji="1" lang="en-US" altLang="zh-CN" sz="2400" b="1" i="1" baseline="-25000" dirty="0">
                  <a:solidFill>
                    <a:srgbClr val="FF0000"/>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1" dirty="0">
                  <a:solidFill>
                    <a:srgbClr val="FF0000"/>
                  </a:solidFill>
                  <a:latin typeface="Times New Roman" panose="02020603050405020304" pitchFamily="18" charset="0"/>
                  <a:ea typeface="宋体" panose="02010600030101010101" pitchFamily="2" charset="-122"/>
                </a:rPr>
                <a:t>=F</a:t>
              </a:r>
            </a:p>
          </p:txBody>
        </p:sp>
      </p:grpSp>
      <p:grpSp>
        <p:nvGrpSpPr>
          <p:cNvPr id="178199" name="Group 23"/>
          <p:cNvGrpSpPr>
            <a:grpSpLocks/>
          </p:cNvGrpSpPr>
          <p:nvPr/>
        </p:nvGrpSpPr>
        <p:grpSpPr bwMode="auto">
          <a:xfrm>
            <a:off x="7686462" y="2125600"/>
            <a:ext cx="1219200" cy="942975"/>
            <a:chOff x="2016" y="1200"/>
            <a:chExt cx="768" cy="594"/>
          </a:xfrm>
        </p:grpSpPr>
        <p:graphicFrame>
          <p:nvGraphicFramePr>
            <p:cNvPr id="22593" name="Object 24"/>
            <p:cNvGraphicFramePr>
              <a:graphicFrameLocks noChangeAspect="1"/>
            </p:cNvGraphicFramePr>
            <p:nvPr/>
          </p:nvGraphicFramePr>
          <p:xfrm>
            <a:off x="2238" y="1560"/>
            <a:ext cx="192" cy="176"/>
          </p:xfrm>
          <a:graphic>
            <a:graphicData uri="http://schemas.openxmlformats.org/presentationml/2006/ole">
              <mc:AlternateContent xmlns:mc="http://schemas.openxmlformats.org/markup-compatibility/2006">
                <mc:Choice xmlns:v="urn:schemas-microsoft-com:vml" Requires="v">
                  <p:oleObj name="Equation" r:id="rId4" imgW="142830" imgH="133440" progId="Equation.3">
                    <p:embed/>
                  </p:oleObj>
                </mc:Choice>
                <mc:Fallback>
                  <p:oleObj name="Equation" r:id="rId4" imgW="142830" imgH="1334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38" y="1560"/>
                          <a:ext cx="192"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94" name="Line 25"/>
            <p:cNvSpPr>
              <a:spLocks noChangeShapeType="1"/>
            </p:cNvSpPr>
            <p:nvPr/>
          </p:nvSpPr>
          <p:spPr bwMode="auto">
            <a:xfrm flipV="1">
              <a:off x="2016" y="1359"/>
              <a:ext cx="480" cy="406"/>
            </a:xfrm>
            <a:prstGeom prst="line">
              <a:avLst/>
            </a:prstGeom>
            <a:noFill/>
            <a:ln w="22225">
              <a:solidFill>
                <a:srgbClr val="3333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95" name="Text Box 26"/>
            <p:cNvSpPr txBox="1">
              <a:spLocks noChangeArrowheads="1"/>
            </p:cNvSpPr>
            <p:nvPr/>
          </p:nvSpPr>
          <p:spPr bwMode="auto">
            <a:xfrm>
              <a:off x="2236" y="1200"/>
              <a:ext cx="22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i="1">
                  <a:solidFill>
                    <a:srgbClr val="3333FF"/>
                  </a:solidFill>
                  <a:latin typeface="Times New Roman" panose="02020603050405020304" pitchFamily="18" charset="0"/>
                  <a:ea typeface="宋体" panose="02010600030101010101" pitchFamily="2" charset="-122"/>
                </a:rPr>
                <a:t>n</a:t>
              </a:r>
            </a:p>
          </p:txBody>
        </p:sp>
        <p:sp>
          <p:nvSpPr>
            <p:cNvPr id="22596" name="Line 27"/>
            <p:cNvSpPr>
              <a:spLocks noChangeShapeType="1"/>
            </p:cNvSpPr>
            <p:nvPr/>
          </p:nvSpPr>
          <p:spPr bwMode="auto">
            <a:xfrm>
              <a:off x="2400" y="1764"/>
              <a:ext cx="384" cy="1"/>
            </a:xfrm>
            <a:prstGeom prst="line">
              <a:avLst/>
            </a:prstGeom>
            <a:noFill/>
            <a:ln w="22225">
              <a:solidFill>
                <a:srgbClr val="3333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97" name="Text Box 28"/>
            <p:cNvSpPr txBox="1">
              <a:spLocks noChangeArrowheads="1"/>
            </p:cNvSpPr>
            <p:nvPr/>
          </p:nvSpPr>
          <p:spPr bwMode="auto">
            <a:xfrm>
              <a:off x="2562" y="1506"/>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i="1">
                  <a:solidFill>
                    <a:srgbClr val="3333FF"/>
                  </a:solidFill>
                  <a:latin typeface="Times New Roman" panose="02020603050405020304" pitchFamily="18" charset="0"/>
                  <a:ea typeface="宋体" panose="02010600030101010101" pitchFamily="2" charset="-122"/>
                </a:rPr>
                <a:t>x</a:t>
              </a:r>
            </a:p>
          </p:txBody>
        </p:sp>
        <p:sp>
          <p:nvSpPr>
            <p:cNvPr id="22598" name="Arc 29"/>
            <p:cNvSpPr>
              <a:spLocks/>
            </p:cNvSpPr>
            <p:nvPr/>
          </p:nvSpPr>
          <p:spPr bwMode="auto">
            <a:xfrm rot="10800000" flipH="1">
              <a:off x="2131" y="1642"/>
              <a:ext cx="86" cy="128"/>
            </a:xfrm>
            <a:custGeom>
              <a:avLst/>
              <a:gdLst>
                <a:gd name="T0" fmla="*/ 79 w 21600"/>
                <a:gd name="T1" fmla="*/ 0 h 29004"/>
                <a:gd name="T2" fmla="*/ 24 w 21600"/>
                <a:gd name="T3" fmla="*/ 128 h 29004"/>
                <a:gd name="T4" fmla="*/ 0 w 21600"/>
                <a:gd name="T5" fmla="*/ 37 h 29004"/>
                <a:gd name="T6" fmla="*/ 0 60000 65536"/>
                <a:gd name="T7" fmla="*/ 0 60000 65536"/>
                <a:gd name="T8" fmla="*/ 0 60000 65536"/>
              </a:gdLst>
              <a:ahLst/>
              <a:cxnLst>
                <a:cxn ang="T6">
                  <a:pos x="T0" y="T1"/>
                </a:cxn>
                <a:cxn ang="T7">
                  <a:pos x="T2" y="T3"/>
                </a:cxn>
                <a:cxn ang="T8">
                  <a:pos x="T4" y="T5"/>
                </a:cxn>
              </a:cxnLst>
              <a:rect l="0" t="0" r="r" b="b"/>
              <a:pathLst>
                <a:path w="21600" h="29004" fill="none" extrusionOk="0">
                  <a:moveTo>
                    <a:pt x="19945" y="-1"/>
                  </a:moveTo>
                  <a:cubicBezTo>
                    <a:pt x="21037" y="2627"/>
                    <a:pt x="21600" y="5445"/>
                    <a:pt x="21600" y="8291"/>
                  </a:cubicBezTo>
                  <a:cubicBezTo>
                    <a:pt x="21600" y="17861"/>
                    <a:pt x="15302" y="26290"/>
                    <a:pt x="6125" y="29004"/>
                  </a:cubicBezTo>
                </a:path>
                <a:path w="21600" h="29004" stroke="0" extrusionOk="0">
                  <a:moveTo>
                    <a:pt x="19945" y="-1"/>
                  </a:moveTo>
                  <a:cubicBezTo>
                    <a:pt x="21037" y="2627"/>
                    <a:pt x="21600" y="5445"/>
                    <a:pt x="21600" y="8291"/>
                  </a:cubicBezTo>
                  <a:cubicBezTo>
                    <a:pt x="21600" y="17861"/>
                    <a:pt x="15302" y="26290"/>
                    <a:pt x="6125" y="29004"/>
                  </a:cubicBezTo>
                  <a:lnTo>
                    <a:pt x="0" y="8291"/>
                  </a:lnTo>
                  <a:lnTo>
                    <a:pt x="19945" y="-1"/>
                  </a:lnTo>
                  <a:close/>
                </a:path>
              </a:pathLst>
            </a:custGeom>
            <a:noFill/>
            <a:ln w="1905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78206" name="Group 30"/>
          <p:cNvGrpSpPr>
            <a:grpSpLocks/>
          </p:cNvGrpSpPr>
          <p:nvPr/>
        </p:nvGrpSpPr>
        <p:grpSpPr bwMode="auto">
          <a:xfrm>
            <a:off x="5200437" y="2489138"/>
            <a:ext cx="2911475" cy="1066800"/>
            <a:chOff x="450" y="1429"/>
            <a:chExt cx="1834" cy="672"/>
          </a:xfrm>
        </p:grpSpPr>
        <p:sp>
          <p:nvSpPr>
            <p:cNvPr id="22583" name="Line 31"/>
            <p:cNvSpPr>
              <a:spLocks noChangeShapeType="1"/>
            </p:cNvSpPr>
            <p:nvPr/>
          </p:nvSpPr>
          <p:spPr bwMode="auto">
            <a:xfrm>
              <a:off x="892" y="1429"/>
              <a:ext cx="81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584" name="Line 32"/>
            <p:cNvSpPr>
              <a:spLocks noChangeShapeType="1"/>
            </p:cNvSpPr>
            <p:nvPr/>
          </p:nvSpPr>
          <p:spPr bwMode="auto">
            <a:xfrm>
              <a:off x="892" y="1429"/>
              <a:ext cx="0" cy="67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585" name="Line 33"/>
            <p:cNvSpPr>
              <a:spLocks noChangeShapeType="1"/>
            </p:cNvSpPr>
            <p:nvPr/>
          </p:nvSpPr>
          <p:spPr bwMode="auto">
            <a:xfrm>
              <a:off x="892" y="2101"/>
              <a:ext cx="139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586" name="Line 34"/>
            <p:cNvSpPr>
              <a:spLocks noChangeShapeType="1"/>
            </p:cNvSpPr>
            <p:nvPr/>
          </p:nvSpPr>
          <p:spPr bwMode="auto">
            <a:xfrm>
              <a:off x="1708" y="1429"/>
              <a:ext cx="576" cy="672"/>
            </a:xfrm>
            <a:prstGeom prst="line">
              <a:avLst/>
            </a:prstGeom>
            <a:noFill/>
            <a:ln w="57150">
              <a:solidFill>
                <a:srgbClr val="00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587" name="Line 35"/>
            <p:cNvSpPr>
              <a:spLocks noChangeShapeType="1"/>
            </p:cNvSpPr>
            <p:nvPr/>
          </p:nvSpPr>
          <p:spPr bwMode="auto">
            <a:xfrm>
              <a:off x="892" y="1765"/>
              <a:ext cx="1104" cy="0"/>
            </a:xfrm>
            <a:prstGeom prst="line">
              <a:avLst/>
            </a:prstGeom>
            <a:noFill/>
            <a:ln w="9525">
              <a:solidFill>
                <a:schemeClr val="tx1"/>
              </a:solidFill>
              <a:prstDash val="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588" name="Line 36"/>
            <p:cNvSpPr>
              <a:spLocks noChangeShapeType="1"/>
            </p:cNvSpPr>
            <p:nvPr/>
          </p:nvSpPr>
          <p:spPr bwMode="auto">
            <a:xfrm flipH="1">
              <a:off x="508" y="1765"/>
              <a:ext cx="384" cy="0"/>
            </a:xfrm>
            <a:prstGeom prst="line">
              <a:avLst/>
            </a:prstGeom>
            <a:noFill/>
            <a:ln w="2222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589" name="Text Box 37"/>
            <p:cNvSpPr txBox="1">
              <a:spLocks noChangeArrowheads="1"/>
            </p:cNvSpPr>
            <p:nvPr/>
          </p:nvSpPr>
          <p:spPr bwMode="auto">
            <a:xfrm>
              <a:off x="450" y="1477"/>
              <a:ext cx="25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i="1" dirty="0">
                  <a:solidFill>
                    <a:srgbClr val="FF0000"/>
                  </a:solidFill>
                  <a:latin typeface="Times New Roman" panose="02020603050405020304" pitchFamily="18" charset="0"/>
                  <a:ea typeface="宋体" panose="02010600030101010101" pitchFamily="2" charset="-122"/>
                </a:rPr>
                <a:t>F</a:t>
              </a:r>
            </a:p>
          </p:txBody>
        </p:sp>
        <p:sp>
          <p:nvSpPr>
            <p:cNvPr id="22590" name="Line 38"/>
            <p:cNvSpPr>
              <a:spLocks noChangeShapeType="1"/>
            </p:cNvSpPr>
            <p:nvPr/>
          </p:nvSpPr>
          <p:spPr bwMode="auto">
            <a:xfrm>
              <a:off x="1708" y="1429"/>
              <a:ext cx="0" cy="672"/>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591" name="Arc 39"/>
            <p:cNvSpPr>
              <a:spLocks/>
            </p:cNvSpPr>
            <p:nvPr/>
          </p:nvSpPr>
          <p:spPr bwMode="auto">
            <a:xfrm rot="10800000" flipH="1">
              <a:off x="1706" y="1605"/>
              <a:ext cx="144" cy="96"/>
            </a:xfrm>
            <a:custGeom>
              <a:avLst/>
              <a:gdLst>
                <a:gd name="T0" fmla="*/ 0 w 21600"/>
                <a:gd name="T1" fmla="*/ 0 h 21600"/>
                <a:gd name="T2" fmla="*/ 144 w 21600"/>
                <a:gd name="T3" fmla="*/ 96 h 21600"/>
                <a:gd name="T4" fmla="*/ 0 w 21600"/>
                <a:gd name="T5" fmla="*/ 96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lnTo>
                    <a:pt x="0" y="0"/>
                  </a:lnTo>
                  <a:close/>
                </a:path>
              </a:pathLst>
            </a:custGeom>
            <a:noFill/>
            <a:ln w="1905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2592" name="Object 40"/>
            <p:cNvGraphicFramePr>
              <a:graphicFrameLocks noChangeAspect="1"/>
            </p:cNvGraphicFramePr>
            <p:nvPr/>
          </p:nvGraphicFramePr>
          <p:xfrm>
            <a:off x="1728" y="1683"/>
            <a:ext cx="192" cy="176"/>
          </p:xfrm>
          <a:graphic>
            <a:graphicData uri="http://schemas.openxmlformats.org/presentationml/2006/ole">
              <mc:AlternateContent xmlns:mc="http://schemas.openxmlformats.org/markup-compatibility/2006">
                <mc:Choice xmlns:v="urn:schemas-microsoft-com:vml" Requires="v">
                  <p:oleObj name="Equation" r:id="rId4" imgW="142830" imgH="133440" progId="Equation.3">
                    <p:embed/>
                  </p:oleObj>
                </mc:Choice>
                <mc:Fallback>
                  <p:oleObj name="Equation" r:id="rId4" imgW="142830" imgH="1334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28" y="1683"/>
                          <a:ext cx="192"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78217" name="Text Box 41"/>
          <p:cNvSpPr txBox="1">
            <a:spLocks noChangeArrowheads="1"/>
          </p:cNvSpPr>
          <p:nvPr/>
        </p:nvSpPr>
        <p:spPr bwMode="auto">
          <a:xfrm>
            <a:off x="320591" y="1078276"/>
            <a:ext cx="505981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l-GR" altLang="zh-CN" sz="2400" i="1" dirty="0">
                <a:solidFill>
                  <a:srgbClr val="3333FF"/>
                </a:solidFill>
                <a:latin typeface="+mj-lt"/>
                <a:ea typeface="楷体" panose="02010609060101010101" pitchFamily="49" charset="-122"/>
              </a:rPr>
              <a:t>α</a:t>
            </a:r>
            <a:r>
              <a:rPr kumimoji="1" lang="zh-CN" altLang="en-US" sz="2400" b="1" dirty="0">
                <a:solidFill>
                  <a:srgbClr val="3333FF"/>
                </a:solidFill>
                <a:latin typeface="+mj-lt"/>
                <a:ea typeface="楷体" panose="02010609060101010101" pitchFamily="49" charset="-122"/>
              </a:rPr>
              <a:t>角符号：从</a:t>
            </a:r>
            <a:r>
              <a:rPr kumimoji="1" lang="zh-CN" altLang="en-US" sz="2400" dirty="0">
                <a:solidFill>
                  <a:srgbClr val="3333FF"/>
                </a:solidFill>
                <a:latin typeface="+mj-lt"/>
                <a:ea typeface="楷体" panose="02010609060101010101" pitchFamily="49" charset="-122"/>
              </a:rPr>
              <a:t> </a:t>
            </a:r>
            <a:r>
              <a:rPr kumimoji="1" lang="en-US" altLang="zh-CN" sz="2400" i="1" dirty="0">
                <a:solidFill>
                  <a:srgbClr val="3333FF"/>
                </a:solidFill>
                <a:latin typeface="+mj-lt"/>
                <a:ea typeface="楷体" panose="02010609060101010101" pitchFamily="49" charset="-122"/>
              </a:rPr>
              <a:t>x </a:t>
            </a:r>
            <a:r>
              <a:rPr kumimoji="1" lang="zh-CN" altLang="en-US" sz="2400" b="1" dirty="0">
                <a:solidFill>
                  <a:srgbClr val="3333FF"/>
                </a:solidFill>
                <a:latin typeface="+mj-lt"/>
                <a:ea typeface="楷体" panose="02010609060101010101" pitchFamily="49" charset="-122"/>
              </a:rPr>
              <a:t>逆时针转到</a:t>
            </a:r>
            <a:r>
              <a:rPr kumimoji="1" lang="el-GR" altLang="zh-CN" sz="2400" i="1" dirty="0">
                <a:solidFill>
                  <a:srgbClr val="3333FF"/>
                </a:solidFill>
                <a:latin typeface="+mj-lt"/>
                <a:ea typeface="楷体" panose="02010609060101010101" pitchFamily="49" charset="-122"/>
              </a:rPr>
              <a:t>α</a:t>
            </a:r>
            <a:r>
              <a:rPr kumimoji="1" lang="zh-CN" altLang="en-US" sz="2400" b="1" dirty="0">
                <a:solidFill>
                  <a:srgbClr val="3333FF"/>
                </a:solidFill>
                <a:latin typeface="+mj-lt"/>
                <a:ea typeface="楷体" panose="02010609060101010101" pitchFamily="49" charset="-122"/>
              </a:rPr>
              <a:t>截面的外法线 </a:t>
            </a:r>
            <a:r>
              <a:rPr kumimoji="1" lang="en-US" altLang="zh-CN" sz="2400" i="1" dirty="0">
                <a:solidFill>
                  <a:srgbClr val="3333FF"/>
                </a:solidFill>
                <a:latin typeface="+mj-lt"/>
                <a:ea typeface="楷体" panose="02010609060101010101" pitchFamily="49" charset="-122"/>
              </a:rPr>
              <a:t>n </a:t>
            </a:r>
            <a:r>
              <a:rPr kumimoji="1" lang="zh-CN" altLang="en-US" sz="2400" b="1" dirty="0">
                <a:solidFill>
                  <a:srgbClr val="3333FF"/>
                </a:solidFill>
                <a:latin typeface="+mj-lt"/>
                <a:ea typeface="楷体" panose="02010609060101010101" pitchFamily="49" charset="-122"/>
              </a:rPr>
              <a:t>时， </a:t>
            </a:r>
            <a:r>
              <a:rPr kumimoji="1" lang="el-GR" altLang="zh-CN" sz="2400" i="1" dirty="0">
                <a:solidFill>
                  <a:srgbClr val="3333FF"/>
                </a:solidFill>
                <a:latin typeface="+mj-lt"/>
                <a:ea typeface="楷体" panose="02010609060101010101" pitchFamily="49" charset="-122"/>
              </a:rPr>
              <a:t>α</a:t>
            </a:r>
            <a:r>
              <a:rPr kumimoji="1" lang="zh-CN" altLang="en-US" sz="2400" b="1" dirty="0">
                <a:solidFill>
                  <a:srgbClr val="3333FF"/>
                </a:solidFill>
                <a:latin typeface="+mj-lt"/>
                <a:ea typeface="楷体" panose="02010609060101010101" pitchFamily="49" charset="-122"/>
              </a:rPr>
              <a:t>为正值，反之为负。</a:t>
            </a:r>
            <a:endParaRPr kumimoji="1" lang="zh-CN" altLang="el-GR" sz="2400" b="1" i="1" dirty="0">
              <a:solidFill>
                <a:srgbClr val="3333FF"/>
              </a:solidFill>
              <a:latin typeface="+mj-lt"/>
              <a:ea typeface="楷体" panose="02010609060101010101" pitchFamily="49" charset="-122"/>
            </a:endParaRPr>
          </a:p>
        </p:txBody>
      </p:sp>
      <p:grpSp>
        <p:nvGrpSpPr>
          <p:cNvPr id="178218" name="Group 42"/>
          <p:cNvGrpSpPr>
            <a:grpSpLocks/>
          </p:cNvGrpSpPr>
          <p:nvPr/>
        </p:nvGrpSpPr>
        <p:grpSpPr bwMode="auto">
          <a:xfrm>
            <a:off x="5205200" y="3795650"/>
            <a:ext cx="3652837" cy="1066800"/>
            <a:chOff x="3120" y="2448"/>
            <a:chExt cx="2301" cy="672"/>
          </a:xfrm>
        </p:grpSpPr>
        <p:sp>
          <p:nvSpPr>
            <p:cNvPr id="22567" name="Line 43"/>
            <p:cNvSpPr>
              <a:spLocks noChangeShapeType="1"/>
            </p:cNvSpPr>
            <p:nvPr/>
          </p:nvSpPr>
          <p:spPr bwMode="auto">
            <a:xfrm>
              <a:off x="4378" y="2448"/>
              <a:ext cx="576" cy="672"/>
            </a:xfrm>
            <a:prstGeom prst="line">
              <a:avLst/>
            </a:prstGeom>
            <a:noFill/>
            <a:ln w="57150">
              <a:solidFill>
                <a:srgbClr val="00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568" name="Line 44"/>
            <p:cNvSpPr>
              <a:spLocks noChangeShapeType="1"/>
            </p:cNvSpPr>
            <p:nvPr/>
          </p:nvSpPr>
          <p:spPr bwMode="auto">
            <a:xfrm>
              <a:off x="3562" y="2448"/>
              <a:ext cx="81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569" name="Line 45"/>
            <p:cNvSpPr>
              <a:spLocks noChangeShapeType="1"/>
            </p:cNvSpPr>
            <p:nvPr/>
          </p:nvSpPr>
          <p:spPr bwMode="auto">
            <a:xfrm>
              <a:off x="3562" y="2448"/>
              <a:ext cx="0" cy="6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570" name="Line 46"/>
            <p:cNvSpPr>
              <a:spLocks noChangeShapeType="1"/>
            </p:cNvSpPr>
            <p:nvPr/>
          </p:nvSpPr>
          <p:spPr bwMode="auto">
            <a:xfrm>
              <a:off x="3562" y="3120"/>
              <a:ext cx="139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571" name="Line 47"/>
            <p:cNvSpPr>
              <a:spLocks noChangeShapeType="1"/>
            </p:cNvSpPr>
            <p:nvPr/>
          </p:nvSpPr>
          <p:spPr bwMode="auto">
            <a:xfrm>
              <a:off x="3562" y="2784"/>
              <a:ext cx="1104" cy="0"/>
            </a:xfrm>
            <a:prstGeom prst="line">
              <a:avLst/>
            </a:prstGeom>
            <a:noFill/>
            <a:ln w="9525">
              <a:solidFill>
                <a:schemeClr val="tx1"/>
              </a:solidFill>
              <a:prstDash val="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572" name="Line 48"/>
            <p:cNvSpPr>
              <a:spLocks noChangeShapeType="1"/>
            </p:cNvSpPr>
            <p:nvPr/>
          </p:nvSpPr>
          <p:spPr bwMode="auto">
            <a:xfrm flipH="1">
              <a:off x="3178" y="2784"/>
              <a:ext cx="384" cy="0"/>
            </a:xfrm>
            <a:prstGeom prst="line">
              <a:avLst/>
            </a:prstGeom>
            <a:noFill/>
            <a:ln w="2222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573" name="Text Box 49"/>
            <p:cNvSpPr txBox="1">
              <a:spLocks noChangeArrowheads="1"/>
            </p:cNvSpPr>
            <p:nvPr/>
          </p:nvSpPr>
          <p:spPr bwMode="auto">
            <a:xfrm>
              <a:off x="3120" y="2496"/>
              <a:ext cx="25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i="1">
                  <a:solidFill>
                    <a:srgbClr val="FF0000"/>
                  </a:solidFill>
                  <a:latin typeface="Times New Roman" panose="02020603050405020304" pitchFamily="18" charset="0"/>
                  <a:ea typeface="宋体" panose="02010600030101010101" pitchFamily="2" charset="-122"/>
                </a:rPr>
                <a:t>F</a:t>
              </a:r>
            </a:p>
          </p:txBody>
        </p:sp>
        <p:sp>
          <p:nvSpPr>
            <p:cNvPr id="22574" name="Line 50"/>
            <p:cNvSpPr>
              <a:spLocks noChangeShapeType="1"/>
            </p:cNvSpPr>
            <p:nvPr/>
          </p:nvSpPr>
          <p:spPr bwMode="auto">
            <a:xfrm>
              <a:off x="4378" y="2448"/>
              <a:ext cx="0" cy="672"/>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575" name="Line 51"/>
            <p:cNvSpPr>
              <a:spLocks noChangeShapeType="1"/>
            </p:cNvSpPr>
            <p:nvPr/>
          </p:nvSpPr>
          <p:spPr bwMode="auto">
            <a:xfrm>
              <a:off x="4704" y="2784"/>
              <a:ext cx="384" cy="0"/>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2576" name="Object 52"/>
            <p:cNvGraphicFramePr>
              <a:graphicFrameLocks/>
            </p:cNvGraphicFramePr>
            <p:nvPr/>
          </p:nvGraphicFramePr>
          <p:xfrm>
            <a:off x="5136" y="2544"/>
            <a:ext cx="285" cy="307"/>
          </p:xfrm>
          <a:graphic>
            <a:graphicData uri="http://schemas.openxmlformats.org/presentationml/2006/ole">
              <mc:AlternateContent xmlns:mc="http://schemas.openxmlformats.org/markup-compatibility/2006">
                <mc:Choice xmlns:v="urn:schemas-microsoft-com:vml" Requires="v">
                  <p:oleObj name="Equation" r:id="rId7" imgW="190620" imgH="219165" progId="Equation.3">
                    <p:embed/>
                  </p:oleObj>
                </mc:Choice>
                <mc:Fallback>
                  <p:oleObj name="Equation" r:id="rId7" imgW="190620" imgH="219165"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36" y="2544"/>
                          <a:ext cx="285" cy="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577" name="Line 53"/>
            <p:cNvSpPr>
              <a:spLocks noChangeShapeType="1"/>
            </p:cNvSpPr>
            <p:nvPr/>
          </p:nvSpPr>
          <p:spPr bwMode="auto">
            <a:xfrm>
              <a:off x="4416" y="2448"/>
              <a:ext cx="384" cy="0"/>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78" name="Line 54"/>
            <p:cNvSpPr>
              <a:spLocks noChangeShapeType="1"/>
            </p:cNvSpPr>
            <p:nvPr/>
          </p:nvSpPr>
          <p:spPr bwMode="auto">
            <a:xfrm>
              <a:off x="4512" y="2560"/>
              <a:ext cx="384" cy="0"/>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79" name="Line 55"/>
            <p:cNvSpPr>
              <a:spLocks noChangeShapeType="1"/>
            </p:cNvSpPr>
            <p:nvPr/>
          </p:nvSpPr>
          <p:spPr bwMode="auto">
            <a:xfrm>
              <a:off x="4608" y="2672"/>
              <a:ext cx="384" cy="0"/>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80" name="Line 56"/>
            <p:cNvSpPr>
              <a:spLocks noChangeShapeType="1"/>
            </p:cNvSpPr>
            <p:nvPr/>
          </p:nvSpPr>
          <p:spPr bwMode="auto">
            <a:xfrm>
              <a:off x="4896" y="3008"/>
              <a:ext cx="384" cy="0"/>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81" name="Line 57"/>
            <p:cNvSpPr>
              <a:spLocks noChangeShapeType="1"/>
            </p:cNvSpPr>
            <p:nvPr/>
          </p:nvSpPr>
          <p:spPr bwMode="auto">
            <a:xfrm>
              <a:off x="4984" y="3120"/>
              <a:ext cx="384" cy="0"/>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82" name="Line 58"/>
            <p:cNvSpPr>
              <a:spLocks noChangeShapeType="1"/>
            </p:cNvSpPr>
            <p:nvPr/>
          </p:nvSpPr>
          <p:spPr bwMode="auto">
            <a:xfrm>
              <a:off x="4800" y="2896"/>
              <a:ext cx="384" cy="0"/>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178235" name="Object 59"/>
          <p:cNvGraphicFramePr>
            <a:graphicFrameLocks/>
          </p:cNvGraphicFramePr>
          <p:nvPr>
            <p:extLst>
              <p:ext uri="{D42A27DB-BD31-4B8C-83A1-F6EECF244321}">
                <p14:modId xmlns:p14="http://schemas.microsoft.com/office/powerpoint/2010/main" val="2450336332"/>
              </p:ext>
            </p:extLst>
          </p:nvPr>
        </p:nvGraphicFramePr>
        <p:xfrm>
          <a:off x="430213" y="1873250"/>
          <a:ext cx="1001712" cy="781050"/>
        </p:xfrm>
        <a:graphic>
          <a:graphicData uri="http://schemas.openxmlformats.org/presentationml/2006/ole">
            <mc:AlternateContent xmlns:mc="http://schemas.openxmlformats.org/markup-compatibility/2006">
              <mc:Choice xmlns:v="urn:schemas-microsoft-com:vml" Requires="v">
                <p:oleObj name="Equation" r:id="rId9" imgW="558720" imgH="431640" progId="Equation.DSMT4">
                  <p:embed/>
                </p:oleObj>
              </mc:Choice>
              <mc:Fallback>
                <p:oleObj name="Equation" r:id="rId9" imgW="558720" imgH="431640" progId="Equation.DSMT4">
                  <p:embed/>
                  <p:pic>
                    <p:nvPicPr>
                      <p:cNvPr id="0" name=""/>
                      <p:cNvPicPr>
                        <a:picLocks noChangeArrowheads="1"/>
                      </p:cNvPicPr>
                      <p:nvPr/>
                    </p:nvPicPr>
                    <p:blipFill>
                      <a:blip r:embed="rId10"/>
                      <a:srcRect/>
                      <a:stretch>
                        <a:fillRect/>
                      </a:stretch>
                    </p:blipFill>
                    <p:spPr bwMode="auto">
                      <a:xfrm>
                        <a:off x="430213" y="1873250"/>
                        <a:ext cx="1001712"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8236" name="Object 60"/>
          <p:cNvGraphicFramePr>
            <a:graphicFrameLocks/>
          </p:cNvGraphicFramePr>
          <p:nvPr>
            <p:extLst>
              <p:ext uri="{D42A27DB-BD31-4B8C-83A1-F6EECF244321}">
                <p14:modId xmlns:p14="http://schemas.microsoft.com/office/powerpoint/2010/main" val="3938573407"/>
              </p:ext>
            </p:extLst>
          </p:nvPr>
        </p:nvGraphicFramePr>
        <p:xfrm>
          <a:off x="3084513" y="1920875"/>
          <a:ext cx="2552700" cy="712788"/>
        </p:xfrm>
        <a:graphic>
          <a:graphicData uri="http://schemas.openxmlformats.org/presentationml/2006/ole">
            <mc:AlternateContent xmlns:mc="http://schemas.openxmlformats.org/markup-compatibility/2006">
              <mc:Choice xmlns:v="urn:schemas-microsoft-com:vml" Requires="v">
                <p:oleObj name="Equation" r:id="rId11" imgW="1447560" imgH="393480" progId="Equation.DSMT4">
                  <p:embed/>
                </p:oleObj>
              </mc:Choice>
              <mc:Fallback>
                <p:oleObj name="Equation" r:id="rId11" imgW="1447560" imgH="393480" progId="Equation.DSMT4">
                  <p:embed/>
                  <p:pic>
                    <p:nvPicPr>
                      <p:cNvPr id="0" name=""/>
                      <p:cNvPicPr>
                        <a:picLocks noChangeArrowheads="1"/>
                      </p:cNvPicPr>
                      <p:nvPr/>
                    </p:nvPicPr>
                    <p:blipFill>
                      <a:blip r:embed="rId12"/>
                      <a:srcRect/>
                      <a:stretch>
                        <a:fillRect/>
                      </a:stretch>
                    </p:blipFill>
                    <p:spPr bwMode="auto">
                      <a:xfrm>
                        <a:off x="3084513" y="1920875"/>
                        <a:ext cx="2552700" cy="71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8237" name="Object 61"/>
          <p:cNvGraphicFramePr>
            <a:graphicFrameLocks/>
          </p:cNvGraphicFramePr>
          <p:nvPr>
            <p:extLst>
              <p:ext uri="{D42A27DB-BD31-4B8C-83A1-F6EECF244321}">
                <p14:modId xmlns:p14="http://schemas.microsoft.com/office/powerpoint/2010/main" val="3499162225"/>
              </p:ext>
            </p:extLst>
          </p:nvPr>
        </p:nvGraphicFramePr>
        <p:xfrm>
          <a:off x="1603309" y="1936628"/>
          <a:ext cx="1216196" cy="655637"/>
        </p:xfrm>
        <a:graphic>
          <a:graphicData uri="http://schemas.openxmlformats.org/presentationml/2006/ole">
            <mc:AlternateContent xmlns:mc="http://schemas.openxmlformats.org/markup-compatibility/2006">
              <mc:Choice xmlns:v="urn:schemas-microsoft-com:vml" Requires="v">
                <p:oleObj name="公式" r:id="rId13" imgW="704970" imgH="380910" progId="Equation.3">
                  <p:embed/>
                </p:oleObj>
              </mc:Choice>
              <mc:Fallback>
                <p:oleObj name="公式" r:id="rId13" imgW="704970" imgH="380910" progId="Equation.3">
                  <p:embed/>
                  <p:pic>
                    <p:nvPicPr>
                      <p:cNvPr id="0" name=""/>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03309" y="1936628"/>
                        <a:ext cx="1216196" cy="655637"/>
                      </a:xfrm>
                      <a:prstGeom prst="rect">
                        <a:avLst/>
                      </a:prstGeom>
                      <a:noFill/>
                      <a:ln>
                        <a:noFill/>
                      </a:ln>
                      <a:effectLst/>
                    </p:spPr>
                  </p:pic>
                </p:oleObj>
              </mc:Fallback>
            </mc:AlternateContent>
          </a:graphicData>
        </a:graphic>
      </p:graphicFrame>
      <p:grpSp>
        <p:nvGrpSpPr>
          <p:cNvPr id="22617" name="Group 89"/>
          <p:cNvGrpSpPr>
            <a:grpSpLocks/>
          </p:cNvGrpSpPr>
          <p:nvPr/>
        </p:nvGrpSpPr>
        <p:grpSpPr bwMode="auto">
          <a:xfrm>
            <a:off x="5233775" y="4800538"/>
            <a:ext cx="3560762" cy="1662112"/>
            <a:chOff x="3363" y="3097"/>
            <a:chExt cx="2243" cy="1047"/>
          </a:xfrm>
        </p:grpSpPr>
        <p:sp>
          <p:nvSpPr>
            <p:cNvPr id="22546" name="Line 63"/>
            <p:cNvSpPr>
              <a:spLocks noChangeShapeType="1"/>
            </p:cNvSpPr>
            <p:nvPr/>
          </p:nvSpPr>
          <p:spPr bwMode="auto">
            <a:xfrm>
              <a:off x="4789" y="3672"/>
              <a:ext cx="384" cy="0"/>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2547" name="Object 64"/>
            <p:cNvGraphicFramePr>
              <a:graphicFrameLocks/>
            </p:cNvGraphicFramePr>
            <p:nvPr/>
          </p:nvGraphicFramePr>
          <p:xfrm>
            <a:off x="5045" y="3608"/>
            <a:ext cx="285" cy="307"/>
          </p:xfrm>
          <a:graphic>
            <a:graphicData uri="http://schemas.openxmlformats.org/presentationml/2006/ole">
              <mc:AlternateContent xmlns:mc="http://schemas.openxmlformats.org/markup-compatibility/2006">
                <mc:Choice xmlns:v="urn:schemas-microsoft-com:vml" Requires="v">
                  <p:oleObj name="Equation" r:id="rId15" imgW="190620" imgH="219165" progId="Equation.3">
                    <p:embed/>
                  </p:oleObj>
                </mc:Choice>
                <mc:Fallback>
                  <p:oleObj name="Equation" r:id="rId15" imgW="190620" imgH="219165" progId="Equation.3">
                    <p:embed/>
                    <p:pic>
                      <p:nvPicPr>
                        <p:cNvPr id="0" name=""/>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045" y="3608"/>
                          <a:ext cx="285" cy="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2548" name="Group 65"/>
            <p:cNvGrpSpPr>
              <a:grpSpLocks/>
            </p:cNvGrpSpPr>
            <p:nvPr/>
          </p:nvGrpSpPr>
          <p:grpSpPr bwMode="auto">
            <a:xfrm>
              <a:off x="3363" y="3472"/>
              <a:ext cx="1834" cy="672"/>
              <a:chOff x="2832" y="2160"/>
              <a:chExt cx="1834" cy="672"/>
            </a:xfrm>
          </p:grpSpPr>
          <p:sp>
            <p:nvSpPr>
              <p:cNvPr id="22559" name="Line 66"/>
              <p:cNvSpPr>
                <a:spLocks noChangeShapeType="1"/>
              </p:cNvSpPr>
              <p:nvPr/>
            </p:nvSpPr>
            <p:spPr bwMode="auto">
              <a:xfrm>
                <a:off x="4090" y="2160"/>
                <a:ext cx="576" cy="672"/>
              </a:xfrm>
              <a:prstGeom prst="line">
                <a:avLst/>
              </a:prstGeom>
              <a:noFill/>
              <a:ln w="57150">
                <a:solidFill>
                  <a:srgbClr val="00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560" name="Line 67"/>
              <p:cNvSpPr>
                <a:spLocks noChangeShapeType="1"/>
              </p:cNvSpPr>
              <p:nvPr/>
            </p:nvSpPr>
            <p:spPr bwMode="auto">
              <a:xfrm>
                <a:off x="3274" y="2160"/>
                <a:ext cx="81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561" name="Line 68"/>
              <p:cNvSpPr>
                <a:spLocks noChangeShapeType="1"/>
              </p:cNvSpPr>
              <p:nvPr/>
            </p:nvSpPr>
            <p:spPr bwMode="auto">
              <a:xfrm>
                <a:off x="3274" y="2160"/>
                <a:ext cx="0" cy="6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562" name="Line 69"/>
              <p:cNvSpPr>
                <a:spLocks noChangeShapeType="1"/>
              </p:cNvSpPr>
              <p:nvPr/>
            </p:nvSpPr>
            <p:spPr bwMode="auto">
              <a:xfrm>
                <a:off x="3274" y="2832"/>
                <a:ext cx="139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563" name="Line 70"/>
              <p:cNvSpPr>
                <a:spLocks noChangeShapeType="1"/>
              </p:cNvSpPr>
              <p:nvPr/>
            </p:nvSpPr>
            <p:spPr bwMode="auto">
              <a:xfrm>
                <a:off x="3274" y="2496"/>
                <a:ext cx="1104" cy="0"/>
              </a:xfrm>
              <a:prstGeom prst="line">
                <a:avLst/>
              </a:prstGeom>
              <a:noFill/>
              <a:ln w="9525">
                <a:solidFill>
                  <a:schemeClr val="tx1"/>
                </a:solidFill>
                <a:prstDash val="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564" name="Line 71"/>
              <p:cNvSpPr>
                <a:spLocks noChangeShapeType="1"/>
              </p:cNvSpPr>
              <p:nvPr/>
            </p:nvSpPr>
            <p:spPr bwMode="auto">
              <a:xfrm flipH="1">
                <a:off x="2890" y="2496"/>
                <a:ext cx="384" cy="0"/>
              </a:xfrm>
              <a:prstGeom prst="line">
                <a:avLst/>
              </a:prstGeom>
              <a:noFill/>
              <a:ln w="2222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565" name="Text Box 72"/>
              <p:cNvSpPr txBox="1">
                <a:spLocks noChangeArrowheads="1"/>
              </p:cNvSpPr>
              <p:nvPr/>
            </p:nvSpPr>
            <p:spPr bwMode="auto">
              <a:xfrm>
                <a:off x="2832" y="2208"/>
                <a:ext cx="25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i="1">
                    <a:solidFill>
                      <a:srgbClr val="FF0000"/>
                    </a:solidFill>
                    <a:latin typeface="Times New Roman" panose="02020603050405020304" pitchFamily="18" charset="0"/>
                    <a:ea typeface="宋体" panose="02010600030101010101" pitchFamily="2" charset="-122"/>
                  </a:rPr>
                  <a:t>F</a:t>
                </a:r>
              </a:p>
            </p:txBody>
          </p:sp>
          <p:sp>
            <p:nvSpPr>
              <p:cNvPr id="22566" name="Line 73"/>
              <p:cNvSpPr>
                <a:spLocks noChangeShapeType="1"/>
              </p:cNvSpPr>
              <p:nvPr/>
            </p:nvSpPr>
            <p:spPr bwMode="auto">
              <a:xfrm>
                <a:off x="4090" y="2160"/>
                <a:ext cx="0" cy="672"/>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aphicFrame>
          <p:nvGraphicFramePr>
            <p:cNvPr id="22549" name="Object 74"/>
            <p:cNvGraphicFramePr>
              <a:graphicFrameLocks noChangeAspect="1"/>
            </p:cNvGraphicFramePr>
            <p:nvPr/>
          </p:nvGraphicFramePr>
          <p:xfrm>
            <a:off x="5120" y="3445"/>
            <a:ext cx="192" cy="176"/>
          </p:xfrm>
          <a:graphic>
            <a:graphicData uri="http://schemas.openxmlformats.org/presentationml/2006/ole">
              <mc:AlternateContent xmlns:mc="http://schemas.openxmlformats.org/markup-compatibility/2006">
                <mc:Choice xmlns:v="urn:schemas-microsoft-com:vml" Requires="v">
                  <p:oleObj name="Equation" r:id="rId4" imgW="142830" imgH="133440" progId="Equation.3">
                    <p:embed/>
                  </p:oleObj>
                </mc:Choice>
                <mc:Fallback>
                  <p:oleObj name="Equation" r:id="rId4" imgW="142830" imgH="133440"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120" y="3445"/>
                          <a:ext cx="192"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50" name="Arc 75"/>
            <p:cNvSpPr>
              <a:spLocks/>
            </p:cNvSpPr>
            <p:nvPr/>
          </p:nvSpPr>
          <p:spPr bwMode="auto">
            <a:xfrm rot="-10200000" flipH="1" flipV="1">
              <a:off x="4982" y="3474"/>
              <a:ext cx="147" cy="222"/>
            </a:xfrm>
            <a:custGeom>
              <a:avLst/>
              <a:gdLst>
                <a:gd name="T0" fmla="*/ 23 w 21201"/>
                <a:gd name="T1" fmla="*/ 0 h 21333"/>
                <a:gd name="T2" fmla="*/ 147 w 21201"/>
                <a:gd name="T3" fmla="*/ 179 h 21333"/>
                <a:gd name="T4" fmla="*/ 0 w 21201"/>
                <a:gd name="T5" fmla="*/ 222 h 21333"/>
                <a:gd name="T6" fmla="*/ 0 60000 65536"/>
                <a:gd name="T7" fmla="*/ 0 60000 65536"/>
                <a:gd name="T8" fmla="*/ 0 60000 65536"/>
              </a:gdLst>
              <a:ahLst/>
              <a:cxnLst>
                <a:cxn ang="T6">
                  <a:pos x="T0" y="T1"/>
                </a:cxn>
                <a:cxn ang="T7">
                  <a:pos x="T2" y="T3"/>
                </a:cxn>
                <a:cxn ang="T8">
                  <a:pos x="T4" y="T5"/>
                </a:cxn>
              </a:cxnLst>
              <a:rect l="0" t="0" r="r" b="b"/>
              <a:pathLst>
                <a:path w="21201" h="21333" fill="none" extrusionOk="0">
                  <a:moveTo>
                    <a:pt x="3387" y="0"/>
                  </a:moveTo>
                  <a:cubicBezTo>
                    <a:pt x="12348" y="1423"/>
                    <a:pt x="19464" y="8294"/>
                    <a:pt x="21200" y="17199"/>
                  </a:cubicBezTo>
                </a:path>
                <a:path w="21201" h="21333" stroke="0" extrusionOk="0">
                  <a:moveTo>
                    <a:pt x="3387" y="0"/>
                  </a:moveTo>
                  <a:cubicBezTo>
                    <a:pt x="12348" y="1423"/>
                    <a:pt x="19464" y="8294"/>
                    <a:pt x="21200" y="17199"/>
                  </a:cubicBezTo>
                  <a:lnTo>
                    <a:pt x="0" y="21333"/>
                  </a:lnTo>
                  <a:lnTo>
                    <a:pt x="3387" y="0"/>
                  </a:lnTo>
                  <a:close/>
                </a:path>
              </a:pathLst>
            </a:custGeom>
            <a:noFill/>
            <a:ln w="19050">
              <a:solidFill>
                <a:srgbClr val="000000"/>
              </a:solidFill>
              <a:round/>
              <a:headEnd/>
              <a:tailEnd type="non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51" name="Line 76"/>
            <p:cNvSpPr>
              <a:spLocks noChangeShapeType="1"/>
            </p:cNvSpPr>
            <p:nvPr/>
          </p:nvSpPr>
          <p:spPr bwMode="auto">
            <a:xfrm>
              <a:off x="5162" y="3670"/>
              <a:ext cx="336" cy="0"/>
            </a:xfrm>
            <a:prstGeom prst="line">
              <a:avLst/>
            </a:prstGeom>
            <a:noFill/>
            <a:ln w="22225">
              <a:solidFill>
                <a:srgbClr val="3333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52" name="Line 77"/>
            <p:cNvSpPr>
              <a:spLocks noChangeShapeType="1"/>
            </p:cNvSpPr>
            <p:nvPr/>
          </p:nvSpPr>
          <p:spPr bwMode="auto">
            <a:xfrm flipV="1">
              <a:off x="5029" y="3272"/>
              <a:ext cx="235" cy="189"/>
            </a:xfrm>
            <a:prstGeom prst="line">
              <a:avLst/>
            </a:prstGeom>
            <a:noFill/>
            <a:ln w="22225">
              <a:solidFill>
                <a:srgbClr val="3333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53" name="Line 78"/>
            <p:cNvSpPr>
              <a:spLocks noChangeShapeType="1"/>
            </p:cNvSpPr>
            <p:nvPr/>
          </p:nvSpPr>
          <p:spPr bwMode="auto">
            <a:xfrm flipV="1">
              <a:off x="4789" y="3456"/>
              <a:ext cx="240" cy="215"/>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2554" name="Object 79"/>
            <p:cNvGraphicFramePr>
              <a:graphicFrameLocks/>
            </p:cNvGraphicFramePr>
            <p:nvPr/>
          </p:nvGraphicFramePr>
          <p:xfrm>
            <a:off x="4661" y="3240"/>
            <a:ext cx="285" cy="307"/>
          </p:xfrm>
          <a:graphic>
            <a:graphicData uri="http://schemas.openxmlformats.org/presentationml/2006/ole">
              <mc:AlternateContent xmlns:mc="http://schemas.openxmlformats.org/markup-compatibility/2006">
                <mc:Choice xmlns:v="urn:schemas-microsoft-com:vml" Requires="v">
                  <p:oleObj name="Equation" r:id="rId18" imgW="190620" imgH="219165" progId="Equation.DSMT4">
                    <p:embed/>
                  </p:oleObj>
                </mc:Choice>
                <mc:Fallback>
                  <p:oleObj name="Equation" r:id="rId18" imgW="190620" imgH="219165" progId="Equation.DSMT4">
                    <p:embed/>
                    <p:pic>
                      <p:nvPicPr>
                        <p:cNvPr id="0" name=""/>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661" y="3240"/>
                          <a:ext cx="285" cy="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555" name="Line 80"/>
            <p:cNvSpPr>
              <a:spLocks noChangeShapeType="1"/>
            </p:cNvSpPr>
            <p:nvPr/>
          </p:nvSpPr>
          <p:spPr bwMode="auto">
            <a:xfrm rot="-600000">
              <a:off x="4797" y="3648"/>
              <a:ext cx="144" cy="227"/>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2556" name="Object 81"/>
            <p:cNvGraphicFramePr>
              <a:graphicFrameLocks/>
            </p:cNvGraphicFramePr>
            <p:nvPr/>
          </p:nvGraphicFramePr>
          <p:xfrm>
            <a:off x="4642" y="3669"/>
            <a:ext cx="249" cy="307"/>
          </p:xfrm>
          <a:graphic>
            <a:graphicData uri="http://schemas.openxmlformats.org/presentationml/2006/ole">
              <mc:AlternateContent xmlns:mc="http://schemas.openxmlformats.org/markup-compatibility/2006">
                <mc:Choice xmlns:v="urn:schemas-microsoft-com:vml" Requires="v">
                  <p:oleObj name="Equation" r:id="rId20" imgW="171450" imgH="219165" progId="Equation.3">
                    <p:embed/>
                  </p:oleObj>
                </mc:Choice>
                <mc:Fallback>
                  <p:oleObj name="Equation" r:id="rId20" imgW="171450" imgH="219165" progId="Equation.3">
                    <p:embed/>
                    <p:pic>
                      <p:nvPicPr>
                        <p:cNvPr id="0" name=""/>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642" y="3669"/>
                          <a:ext cx="249" cy="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557" name="Text Box 82"/>
            <p:cNvSpPr txBox="1">
              <a:spLocks noChangeArrowheads="1"/>
            </p:cNvSpPr>
            <p:nvPr/>
          </p:nvSpPr>
          <p:spPr bwMode="auto">
            <a:xfrm>
              <a:off x="4987" y="3097"/>
              <a:ext cx="22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0000"/>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kumimoji="1" lang="en-US" altLang="zh-CN" sz="2400" b="1" i="1">
                  <a:solidFill>
                    <a:srgbClr val="3333FF"/>
                  </a:solidFill>
                  <a:latin typeface="Times New Roman" panose="02020603050405020304" pitchFamily="18" charset="0"/>
                  <a:ea typeface="宋体" panose="02010600030101010101" pitchFamily="2" charset="-122"/>
                </a:rPr>
                <a:t>n</a:t>
              </a:r>
            </a:p>
          </p:txBody>
        </p:sp>
        <p:sp>
          <p:nvSpPr>
            <p:cNvPr id="22558" name="Text Box 83"/>
            <p:cNvSpPr txBox="1">
              <a:spLocks noChangeArrowheads="1"/>
            </p:cNvSpPr>
            <p:nvPr/>
          </p:nvSpPr>
          <p:spPr bwMode="auto">
            <a:xfrm>
              <a:off x="5394" y="3594"/>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0000"/>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kumimoji="1" lang="en-US" altLang="zh-CN" sz="2400" b="1" i="1">
                  <a:solidFill>
                    <a:srgbClr val="3333FF"/>
                  </a:solidFill>
                  <a:latin typeface="Times New Roman" panose="02020603050405020304" pitchFamily="18" charset="0"/>
                  <a:ea typeface="宋体" panose="02010600030101010101" pitchFamily="2" charset="-122"/>
                </a:rPr>
                <a:t>x</a:t>
              </a:r>
            </a:p>
          </p:txBody>
        </p:sp>
      </p:grpSp>
      <p:grpSp>
        <p:nvGrpSpPr>
          <p:cNvPr id="178260" name="Group 84"/>
          <p:cNvGrpSpPr>
            <a:grpSpLocks/>
          </p:cNvGrpSpPr>
          <p:nvPr/>
        </p:nvGrpSpPr>
        <p:grpSpPr bwMode="auto">
          <a:xfrm>
            <a:off x="961182" y="2694782"/>
            <a:ext cx="3416931" cy="1382290"/>
            <a:chOff x="347" y="3266"/>
            <a:chExt cx="2378" cy="1022"/>
          </a:xfrm>
        </p:grpSpPr>
        <p:graphicFrame>
          <p:nvGraphicFramePr>
            <p:cNvPr id="22544" name="Object 85"/>
            <p:cNvGraphicFramePr>
              <a:graphicFrameLocks/>
            </p:cNvGraphicFramePr>
            <p:nvPr>
              <p:extLst>
                <p:ext uri="{D42A27DB-BD31-4B8C-83A1-F6EECF244321}">
                  <p14:modId xmlns:p14="http://schemas.microsoft.com/office/powerpoint/2010/main" val="168708548"/>
                </p:ext>
              </p:extLst>
            </p:nvPr>
          </p:nvGraphicFramePr>
          <p:xfrm>
            <a:off x="352" y="3266"/>
            <a:ext cx="2373" cy="502"/>
          </p:xfrm>
          <a:graphic>
            <a:graphicData uri="http://schemas.openxmlformats.org/presentationml/2006/ole">
              <mc:AlternateContent xmlns:mc="http://schemas.openxmlformats.org/markup-compatibility/2006">
                <mc:Choice xmlns:v="urn:schemas-microsoft-com:vml" Requires="v">
                  <p:oleObj name="Equation" r:id="rId22" imgW="1857330" imgH="380910" progId="Equation.DSMT4">
                    <p:embed/>
                  </p:oleObj>
                </mc:Choice>
                <mc:Fallback>
                  <p:oleObj name="Equation" r:id="rId22" imgW="1857330" imgH="380910" progId="Equation.DSMT4">
                    <p:embed/>
                    <p:pic>
                      <p:nvPicPr>
                        <p:cNvPr id="0" name=""/>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52" y="3266"/>
                          <a:ext cx="2373" cy="502"/>
                        </a:xfrm>
                        <a:prstGeom prst="rect">
                          <a:avLst/>
                        </a:prstGeom>
                        <a:noFill/>
                        <a:ln>
                          <a:noFill/>
                        </a:ln>
                        <a:effectLst/>
                      </p:spPr>
                    </p:pic>
                  </p:oleObj>
                </mc:Fallback>
              </mc:AlternateContent>
            </a:graphicData>
          </a:graphic>
        </p:graphicFrame>
        <p:graphicFrame>
          <p:nvGraphicFramePr>
            <p:cNvPr id="22545" name="Object 86"/>
            <p:cNvGraphicFramePr>
              <a:graphicFrameLocks/>
            </p:cNvGraphicFramePr>
            <p:nvPr>
              <p:extLst>
                <p:ext uri="{D42A27DB-BD31-4B8C-83A1-F6EECF244321}">
                  <p14:modId xmlns:p14="http://schemas.microsoft.com/office/powerpoint/2010/main" val="2399494308"/>
                </p:ext>
              </p:extLst>
            </p:nvPr>
          </p:nvGraphicFramePr>
          <p:xfrm>
            <a:off x="347" y="3768"/>
            <a:ext cx="2373" cy="520"/>
          </p:xfrm>
          <a:graphic>
            <a:graphicData uri="http://schemas.openxmlformats.org/presentationml/2006/ole">
              <mc:AlternateContent xmlns:mc="http://schemas.openxmlformats.org/markup-compatibility/2006">
                <mc:Choice xmlns:v="urn:schemas-microsoft-com:vml" Requires="v">
                  <p:oleObj name="Equation" r:id="rId24" imgW="1857330" imgH="380910" progId="Equation.3">
                    <p:embed/>
                  </p:oleObj>
                </mc:Choice>
                <mc:Fallback>
                  <p:oleObj name="Equation" r:id="rId24" imgW="1857330" imgH="380910" progId="Equation.3">
                    <p:embed/>
                    <p:pic>
                      <p:nvPicPr>
                        <p:cNvPr id="0" name=""/>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47" y="3768"/>
                          <a:ext cx="2373" cy="520"/>
                        </a:xfrm>
                        <a:prstGeom prst="rect">
                          <a:avLst/>
                        </a:prstGeom>
                        <a:noFill/>
                        <a:ln>
                          <a:noFill/>
                        </a:ln>
                        <a:effectLst/>
                      </p:spPr>
                    </p:pic>
                  </p:oleObj>
                </mc:Fallback>
              </mc:AlternateContent>
            </a:graphicData>
          </a:graphic>
        </p:graphicFrame>
      </p:grpSp>
      <p:sp>
        <p:nvSpPr>
          <p:cNvPr id="178263" name="Text Box 87"/>
          <p:cNvSpPr txBox="1">
            <a:spLocks noChangeArrowheads="1"/>
          </p:cNvSpPr>
          <p:nvPr/>
        </p:nvSpPr>
        <p:spPr bwMode="auto">
          <a:xfrm>
            <a:off x="675314" y="4129658"/>
            <a:ext cx="4402672" cy="1015663"/>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000" b="1" dirty="0">
                <a:latin typeface="+mj-lt"/>
                <a:ea typeface="楷体" panose="02010609060101010101" pitchFamily="49" charset="-122"/>
              </a:rPr>
              <a:t>切应力的符号规定：截面外法线顺时针转</a:t>
            </a:r>
            <a:r>
              <a:rPr kumimoji="1" lang="en-US" altLang="zh-CN" sz="2000" dirty="0">
                <a:latin typeface="+mj-lt"/>
                <a:ea typeface="楷体" panose="02010609060101010101" pitchFamily="49" charset="-122"/>
              </a:rPr>
              <a:t>90</a:t>
            </a:r>
            <a:r>
              <a:rPr kumimoji="1" lang="zh-CN" altLang="en-US" sz="2000" b="1" dirty="0">
                <a:latin typeface="+mj-lt"/>
                <a:ea typeface="楷体" panose="02010609060101010101" pitchFamily="49" charset="-122"/>
              </a:rPr>
              <a:t>度后，其方向与切应力方向相同为正，相反为负。</a:t>
            </a:r>
            <a:endParaRPr kumimoji="1" lang="zh-CN" altLang="el-GR" sz="2000" b="1" i="1" dirty="0">
              <a:latin typeface="+mj-lt"/>
              <a:ea typeface="楷体" panose="02010609060101010101" pitchFamily="49" charset="-122"/>
            </a:endParaRPr>
          </a:p>
        </p:txBody>
      </p:sp>
      <p:sp>
        <p:nvSpPr>
          <p:cNvPr id="171010" name="Text Box 2"/>
          <p:cNvSpPr txBox="1">
            <a:spLocks noChangeArrowheads="1"/>
          </p:cNvSpPr>
          <p:nvPr/>
        </p:nvSpPr>
        <p:spPr bwMode="auto">
          <a:xfrm>
            <a:off x="309563" y="545962"/>
            <a:ext cx="4876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800" b="1" dirty="0">
                <a:solidFill>
                  <a:srgbClr val="FF3300"/>
                </a:solidFill>
                <a:latin typeface="黑体" panose="02010609060101010101" pitchFamily="49" charset="-122"/>
                <a:ea typeface="黑体" panose="02010609060101010101" pitchFamily="49" charset="-122"/>
              </a:rPr>
              <a:t>三、</a:t>
            </a:r>
            <a:r>
              <a:rPr kumimoji="1" lang="zh-CN" altLang="en-US" sz="2800" b="1" dirty="0">
                <a:solidFill>
                  <a:srgbClr val="FF3300"/>
                </a:solidFill>
                <a:latin typeface="黑体" panose="02010609060101010101" pitchFamily="49" charset="-122"/>
                <a:ea typeface="黑体" panose="02010609060101010101" pitchFamily="49" charset="-122"/>
                <a:cs typeface="Times New Roman" panose="02020603050405020304" pitchFamily="18" charset="0"/>
              </a:rPr>
              <a:t> </a:t>
            </a:r>
            <a:r>
              <a:rPr kumimoji="1" lang="zh-CN" altLang="en-US" sz="2800" b="1" dirty="0">
                <a:solidFill>
                  <a:srgbClr val="FF3300"/>
                </a:solidFill>
                <a:latin typeface="黑体" panose="02010609060101010101" pitchFamily="49" charset="-122"/>
                <a:ea typeface="黑体" panose="02010609060101010101" pitchFamily="49" charset="-122"/>
              </a:rPr>
              <a:t>直杆斜截面上的应力</a:t>
            </a:r>
          </a:p>
        </p:txBody>
      </p:sp>
      <p:sp>
        <p:nvSpPr>
          <p:cNvPr id="85" name="Text Box 261"/>
          <p:cNvSpPr txBox="1">
            <a:spLocks noChangeArrowheads="1"/>
          </p:cNvSpPr>
          <p:nvPr/>
        </p:nvSpPr>
        <p:spPr bwMode="auto">
          <a:xfrm>
            <a:off x="763017" y="5512992"/>
            <a:ext cx="4210844" cy="495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lnSpc>
                <a:spcPct val="150000"/>
              </a:lnSpc>
            </a:pPr>
            <a:r>
              <a:rPr lang="en-US" altLang="zh-CN" sz="2000" b="0" i="1" dirty="0">
                <a:solidFill>
                  <a:srgbClr val="000000"/>
                </a:solidFill>
                <a:latin typeface="Times New Roman" panose="02020603050405020304" pitchFamily="18" charset="0"/>
                <a:sym typeface="Symbol" panose="05050102010706020507" pitchFamily="18" charset="2"/>
              </a:rPr>
              <a:t>=</a:t>
            </a:r>
            <a:r>
              <a:rPr lang="en-US" altLang="zh-CN" sz="2000" b="0" dirty="0">
                <a:solidFill>
                  <a:srgbClr val="000000"/>
                </a:solidFill>
                <a:latin typeface="Times New Roman" panose="02020603050405020304" pitchFamily="18" charset="0"/>
                <a:sym typeface="Symbol" panose="05050102010706020507" pitchFamily="18" charset="2"/>
              </a:rPr>
              <a:t>90</a:t>
            </a:r>
            <a:r>
              <a:rPr lang="en-US" altLang="zh-CN" sz="2000" b="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º</a:t>
            </a:r>
            <a:r>
              <a:rPr lang="zh-CN" altLang="en-US" sz="2000" b="0" dirty="0">
                <a:solidFill>
                  <a:srgbClr val="000000"/>
                </a:solidFill>
                <a:latin typeface="Times New Roman" panose="02020603050405020304" pitchFamily="18" charset="0"/>
                <a:sym typeface="Symbol" panose="05050102010706020507" pitchFamily="18" charset="2"/>
              </a:rPr>
              <a:t>，</a:t>
            </a:r>
            <a:r>
              <a:rPr lang="zh-CN" altLang="en-US" sz="2000" b="0" i="1" dirty="0">
                <a:solidFill>
                  <a:srgbClr val="000000"/>
                </a:solidFill>
                <a:latin typeface="Times New Roman" panose="02020603050405020304" pitchFamily="18" charset="0"/>
                <a:sym typeface="Symbol" panose="05050102010706020507" pitchFamily="18" charset="2"/>
              </a:rPr>
              <a:t> </a:t>
            </a:r>
            <a:r>
              <a:rPr lang="zh-CN" altLang="en-US" sz="2000" b="0" i="1" baseline="-25000" dirty="0">
                <a:solidFill>
                  <a:srgbClr val="000000"/>
                </a:solidFill>
                <a:latin typeface="Times New Roman" panose="02020603050405020304" pitchFamily="18" charset="0"/>
                <a:sym typeface="Symbol" panose="05050102010706020507" pitchFamily="18" charset="2"/>
              </a:rPr>
              <a:t></a:t>
            </a:r>
            <a:r>
              <a:rPr lang="en-US" altLang="zh-CN" sz="2000" b="0" dirty="0">
                <a:solidFill>
                  <a:srgbClr val="000000"/>
                </a:solidFill>
                <a:latin typeface="Times New Roman" panose="02020603050405020304" pitchFamily="18" charset="0"/>
              </a:rPr>
              <a:t>= </a:t>
            </a:r>
            <a:r>
              <a:rPr lang="zh-CN" altLang="en-US" sz="2000" b="0" i="1" dirty="0">
                <a:solidFill>
                  <a:srgbClr val="000000"/>
                </a:solidFill>
                <a:latin typeface="Times New Roman" panose="02020603050405020304" pitchFamily="18" charset="0"/>
                <a:sym typeface="Symbol" panose="05050102010706020507" pitchFamily="18" charset="2"/>
              </a:rPr>
              <a:t></a:t>
            </a:r>
            <a:r>
              <a:rPr lang="zh-CN" altLang="en-US" sz="2000" b="0" i="1" baseline="-25000" dirty="0">
                <a:solidFill>
                  <a:srgbClr val="000000"/>
                </a:solidFill>
                <a:latin typeface="Times New Roman" panose="02020603050405020304" pitchFamily="18" charset="0"/>
                <a:sym typeface="Symbol" panose="05050102010706020507" pitchFamily="18" charset="2"/>
              </a:rPr>
              <a:t></a:t>
            </a:r>
            <a:r>
              <a:rPr lang="en-US" altLang="zh-CN" sz="2000" b="0" dirty="0">
                <a:solidFill>
                  <a:srgbClr val="000000"/>
                </a:solidFill>
                <a:latin typeface="Times New Roman" panose="02020603050405020304" pitchFamily="18" charset="0"/>
              </a:rPr>
              <a:t>= </a:t>
            </a:r>
            <a:r>
              <a:rPr lang="en-US" altLang="zh-CN" sz="2000" b="0" dirty="0">
                <a:solidFill>
                  <a:srgbClr val="000000"/>
                </a:solidFill>
                <a:latin typeface="Times New Roman" panose="02020603050405020304" pitchFamily="18" charset="0"/>
                <a:sym typeface="Symbol" panose="05050102010706020507" pitchFamily="18" charset="2"/>
              </a:rPr>
              <a:t>0</a:t>
            </a:r>
            <a:endParaRPr lang="en-US" altLang="zh-CN" sz="2000" b="0" dirty="0">
              <a:solidFill>
                <a:srgbClr val="000000"/>
              </a:solidFill>
              <a:latin typeface="Times New Roman" panose="02020603050405020304" pitchFamily="18" charset="0"/>
            </a:endParaRPr>
          </a:p>
        </p:txBody>
      </p:sp>
      <p:sp>
        <p:nvSpPr>
          <p:cNvPr id="2" name="矩形 1"/>
          <p:cNvSpPr/>
          <p:nvPr/>
        </p:nvSpPr>
        <p:spPr>
          <a:xfrm>
            <a:off x="776169" y="5019069"/>
            <a:ext cx="3312125" cy="553998"/>
          </a:xfrm>
          <a:prstGeom prst="rect">
            <a:avLst/>
          </a:prstGeom>
        </p:spPr>
        <p:txBody>
          <a:bodyPr wrap="none">
            <a:spAutoFit/>
          </a:bodyPr>
          <a:lstStyle/>
          <a:p>
            <a:pPr eaLnBrk="1" hangingPunct="1">
              <a:lnSpc>
                <a:spcPct val="150000"/>
              </a:lnSpc>
            </a:pPr>
            <a:r>
              <a:rPr lang="en-US" altLang="zh-CN" sz="2000" i="1" dirty="0">
                <a:solidFill>
                  <a:srgbClr val="000000"/>
                </a:solidFill>
                <a:sym typeface="Symbol" panose="05050102010706020507" pitchFamily="18" charset="2"/>
              </a:rPr>
              <a:t>=</a:t>
            </a:r>
            <a:r>
              <a:rPr lang="en-US" altLang="zh-CN" sz="2000" dirty="0">
                <a:solidFill>
                  <a:srgbClr val="000000"/>
                </a:solidFill>
                <a:sym typeface="Symbol" panose="05050102010706020507" pitchFamily="18" charset="2"/>
              </a:rPr>
              <a:t>0</a:t>
            </a:r>
            <a:r>
              <a:rPr lang="en-US" altLang="zh-CN" sz="2000" dirty="0">
                <a:solidFill>
                  <a:srgbClr val="000000"/>
                </a:solidFill>
                <a:cs typeface="Times New Roman" panose="02020603050405020304" pitchFamily="18" charset="0"/>
                <a:sym typeface="Symbol" panose="05050102010706020507" pitchFamily="18" charset="2"/>
              </a:rPr>
              <a:t>º</a:t>
            </a:r>
            <a:r>
              <a:rPr lang="zh-CN" altLang="en-US" sz="2000" dirty="0">
                <a:solidFill>
                  <a:srgbClr val="000000"/>
                </a:solidFill>
                <a:sym typeface="Symbol" panose="05050102010706020507" pitchFamily="18" charset="2"/>
              </a:rPr>
              <a:t>，</a:t>
            </a:r>
            <a:r>
              <a:rPr lang="zh-CN" altLang="en-US" sz="2000" i="1" dirty="0">
                <a:solidFill>
                  <a:srgbClr val="000000"/>
                </a:solidFill>
                <a:sym typeface="Symbol" panose="05050102010706020507" pitchFamily="18" charset="2"/>
              </a:rPr>
              <a:t></a:t>
            </a:r>
            <a:r>
              <a:rPr lang="zh-CN" altLang="en-US" sz="2000" i="1" baseline="-25000" dirty="0">
                <a:solidFill>
                  <a:srgbClr val="000000"/>
                </a:solidFill>
                <a:sym typeface="Symbol" panose="05050102010706020507" pitchFamily="18" charset="2"/>
              </a:rPr>
              <a:t></a:t>
            </a:r>
            <a:r>
              <a:rPr lang="en-US" altLang="zh-CN" sz="2000" dirty="0">
                <a:solidFill>
                  <a:srgbClr val="000000"/>
                </a:solidFill>
              </a:rPr>
              <a:t>= </a:t>
            </a:r>
            <a:r>
              <a:rPr lang="en-US" altLang="zh-CN" sz="2000" i="1" dirty="0">
                <a:solidFill>
                  <a:srgbClr val="000000"/>
                </a:solidFill>
                <a:sym typeface="Symbol" panose="05050102010706020507" pitchFamily="18" charset="2"/>
              </a:rPr>
              <a:t> </a:t>
            </a:r>
            <a:r>
              <a:rPr lang="en-US" altLang="zh-CN" sz="2000" baseline="-25000" dirty="0">
                <a:solidFill>
                  <a:srgbClr val="000000"/>
                </a:solidFill>
                <a:sym typeface="Symbol" panose="05050102010706020507" pitchFamily="18" charset="2"/>
              </a:rPr>
              <a:t>max</a:t>
            </a:r>
            <a:r>
              <a:rPr lang="en-US" altLang="zh-CN" sz="2000" baseline="-25000" dirty="0">
                <a:solidFill>
                  <a:srgbClr val="000000"/>
                </a:solidFill>
              </a:rPr>
              <a:t> </a:t>
            </a:r>
            <a:r>
              <a:rPr lang="en-US" altLang="zh-CN" sz="2000" dirty="0">
                <a:solidFill>
                  <a:srgbClr val="000000"/>
                </a:solidFill>
              </a:rPr>
              <a:t>= </a:t>
            </a:r>
            <a:r>
              <a:rPr lang="en-US" altLang="zh-CN" sz="2000" i="1" dirty="0">
                <a:solidFill>
                  <a:srgbClr val="000000"/>
                </a:solidFill>
                <a:sym typeface="Symbol" panose="05050102010706020507" pitchFamily="18" charset="2"/>
              </a:rPr>
              <a:t></a:t>
            </a:r>
            <a:r>
              <a:rPr lang="zh-CN" altLang="en-US" sz="2000" dirty="0">
                <a:solidFill>
                  <a:srgbClr val="000000"/>
                </a:solidFill>
                <a:sym typeface="Symbol" panose="05050102010706020507" pitchFamily="18" charset="2"/>
              </a:rPr>
              <a:t> ，</a:t>
            </a:r>
            <a:r>
              <a:rPr lang="zh-CN" altLang="en-US" sz="2000" i="1" dirty="0">
                <a:solidFill>
                  <a:srgbClr val="000000"/>
                </a:solidFill>
                <a:sym typeface="Symbol" panose="05050102010706020507" pitchFamily="18" charset="2"/>
              </a:rPr>
              <a:t> </a:t>
            </a:r>
            <a:r>
              <a:rPr lang="zh-CN" altLang="en-US" sz="2000" i="1" baseline="-25000" dirty="0">
                <a:solidFill>
                  <a:srgbClr val="000000"/>
                </a:solidFill>
                <a:sym typeface="Symbol" panose="05050102010706020507" pitchFamily="18" charset="2"/>
              </a:rPr>
              <a:t></a:t>
            </a:r>
            <a:r>
              <a:rPr lang="en-US" altLang="zh-CN" sz="2000" dirty="0">
                <a:solidFill>
                  <a:srgbClr val="000000"/>
                </a:solidFill>
              </a:rPr>
              <a:t>= 0</a:t>
            </a:r>
          </a:p>
        </p:txBody>
      </p:sp>
      <p:sp>
        <p:nvSpPr>
          <p:cNvPr id="3" name="矩形 2"/>
          <p:cNvSpPr/>
          <p:nvPr/>
        </p:nvSpPr>
        <p:spPr>
          <a:xfrm>
            <a:off x="754141" y="5961653"/>
            <a:ext cx="3714478" cy="553998"/>
          </a:xfrm>
          <a:prstGeom prst="rect">
            <a:avLst/>
          </a:prstGeom>
        </p:spPr>
        <p:txBody>
          <a:bodyPr wrap="none">
            <a:spAutoFit/>
          </a:bodyPr>
          <a:lstStyle/>
          <a:p>
            <a:pPr eaLnBrk="1" hangingPunct="1">
              <a:lnSpc>
                <a:spcPct val="150000"/>
              </a:lnSpc>
            </a:pPr>
            <a:r>
              <a:rPr lang="en-US" altLang="zh-CN" sz="2000" i="1" dirty="0">
                <a:solidFill>
                  <a:srgbClr val="000000"/>
                </a:solidFill>
                <a:sym typeface="Symbol" panose="05050102010706020507" pitchFamily="18" charset="2"/>
              </a:rPr>
              <a:t>=</a:t>
            </a:r>
            <a:r>
              <a:rPr lang="en-US" altLang="zh-CN" sz="2000" dirty="0">
                <a:solidFill>
                  <a:srgbClr val="000000"/>
                </a:solidFill>
                <a:sym typeface="Symbol" panose="05050102010706020507" pitchFamily="18" charset="2"/>
              </a:rPr>
              <a:t>45</a:t>
            </a:r>
            <a:r>
              <a:rPr lang="en-US" altLang="zh-CN" sz="2000" dirty="0">
                <a:solidFill>
                  <a:srgbClr val="000000"/>
                </a:solidFill>
                <a:cs typeface="Times New Roman" panose="02020603050405020304" pitchFamily="18" charset="0"/>
                <a:sym typeface="Symbol" panose="05050102010706020507" pitchFamily="18" charset="2"/>
              </a:rPr>
              <a:t>º</a:t>
            </a:r>
            <a:r>
              <a:rPr lang="zh-CN" altLang="en-US" sz="2000" dirty="0">
                <a:solidFill>
                  <a:srgbClr val="000000"/>
                </a:solidFill>
                <a:sym typeface="Symbol" panose="05050102010706020507" pitchFamily="18" charset="2"/>
              </a:rPr>
              <a:t>，</a:t>
            </a:r>
            <a:r>
              <a:rPr lang="zh-CN" altLang="en-US" sz="2000" i="1" dirty="0">
                <a:solidFill>
                  <a:srgbClr val="000000"/>
                </a:solidFill>
                <a:sym typeface="Symbol" panose="05050102010706020507" pitchFamily="18" charset="2"/>
              </a:rPr>
              <a:t> </a:t>
            </a:r>
            <a:r>
              <a:rPr lang="zh-CN" altLang="en-US" sz="2000" i="1" baseline="-25000" dirty="0">
                <a:solidFill>
                  <a:srgbClr val="000000"/>
                </a:solidFill>
                <a:sym typeface="Symbol" panose="05050102010706020507" pitchFamily="18" charset="2"/>
              </a:rPr>
              <a:t></a:t>
            </a:r>
            <a:r>
              <a:rPr lang="en-US" altLang="zh-CN" sz="2000" dirty="0">
                <a:solidFill>
                  <a:srgbClr val="000000"/>
                </a:solidFill>
              </a:rPr>
              <a:t>= </a:t>
            </a:r>
            <a:r>
              <a:rPr lang="en-US" altLang="zh-CN" sz="2000" i="1" dirty="0">
                <a:solidFill>
                  <a:srgbClr val="000000"/>
                </a:solidFill>
                <a:sym typeface="Symbol" panose="05050102010706020507" pitchFamily="18" charset="2"/>
              </a:rPr>
              <a:t></a:t>
            </a:r>
            <a:r>
              <a:rPr lang="en-US" altLang="zh-CN" sz="2000" dirty="0">
                <a:solidFill>
                  <a:srgbClr val="000000"/>
                </a:solidFill>
              </a:rPr>
              <a:t> </a:t>
            </a:r>
            <a:r>
              <a:rPr lang="en-US" altLang="zh-CN" sz="2000" baseline="-25000" dirty="0">
                <a:solidFill>
                  <a:srgbClr val="000000"/>
                </a:solidFill>
                <a:sym typeface="Symbol" panose="05050102010706020507" pitchFamily="18" charset="2"/>
              </a:rPr>
              <a:t>max</a:t>
            </a:r>
            <a:r>
              <a:rPr lang="en-US" altLang="zh-CN" sz="2000" dirty="0">
                <a:solidFill>
                  <a:srgbClr val="000000"/>
                </a:solidFill>
              </a:rPr>
              <a:t> =</a:t>
            </a:r>
            <a:r>
              <a:rPr lang="en-US" altLang="zh-CN" sz="2000" i="1" dirty="0">
                <a:solidFill>
                  <a:srgbClr val="000000"/>
                </a:solidFill>
                <a:sym typeface="Symbol" panose="05050102010706020507" pitchFamily="18" charset="2"/>
              </a:rPr>
              <a:t> </a:t>
            </a:r>
            <a:r>
              <a:rPr lang="en-US" altLang="zh-CN" sz="2000" dirty="0">
                <a:solidFill>
                  <a:srgbClr val="000000"/>
                </a:solidFill>
              </a:rPr>
              <a:t>/2,</a:t>
            </a:r>
            <a:r>
              <a:rPr lang="zh-CN" altLang="en-US" sz="2000" i="1" dirty="0">
                <a:solidFill>
                  <a:srgbClr val="000000"/>
                </a:solidFill>
                <a:sym typeface="Symbol" panose="05050102010706020507" pitchFamily="18" charset="2"/>
              </a:rPr>
              <a:t> </a:t>
            </a:r>
            <a:r>
              <a:rPr lang="zh-CN" altLang="en-US" sz="2000" i="1" baseline="-25000" dirty="0">
                <a:solidFill>
                  <a:srgbClr val="000000"/>
                </a:solidFill>
                <a:sym typeface="Symbol" panose="05050102010706020507" pitchFamily="18" charset="2"/>
              </a:rPr>
              <a:t></a:t>
            </a:r>
            <a:r>
              <a:rPr lang="en-US" altLang="zh-CN" sz="2000" dirty="0">
                <a:solidFill>
                  <a:srgbClr val="000000"/>
                </a:solidFill>
              </a:rPr>
              <a:t>= </a:t>
            </a:r>
            <a:r>
              <a:rPr lang="en-US" altLang="zh-CN" sz="2000" i="1" dirty="0">
                <a:solidFill>
                  <a:srgbClr val="000000"/>
                </a:solidFill>
                <a:sym typeface="Symbol" panose="05050102010706020507" pitchFamily="18" charset="2"/>
              </a:rPr>
              <a:t> </a:t>
            </a:r>
            <a:r>
              <a:rPr lang="en-US" altLang="zh-CN" sz="2000" dirty="0">
                <a:solidFill>
                  <a:srgbClr val="000000"/>
                </a:solidFill>
              </a:rPr>
              <a:t>/2</a:t>
            </a:r>
          </a:p>
        </p:txBody>
      </p:sp>
    </p:spTree>
    <p:extLst>
      <p:ext uri="{BB962C8B-B14F-4D97-AF65-F5344CB8AC3E}">
        <p14:creationId xmlns:p14="http://schemas.microsoft.com/office/powerpoint/2010/main" val="171234067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178181"/>
                                        </p:tgtEl>
                                        <p:attrNameLst>
                                          <p:attrName>style.visibility</p:attrName>
                                        </p:attrNameLst>
                                      </p:cBhvr>
                                      <p:to>
                                        <p:strVal val="visible"/>
                                      </p:to>
                                    </p:set>
                                    <p:animEffect transition="in" filter="box(out)">
                                      <p:cBhvr>
                                        <p:cTn id="7" dur="500"/>
                                        <p:tgtEl>
                                          <p:spTgt spid="17818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178206"/>
                                        </p:tgtEl>
                                        <p:attrNameLst>
                                          <p:attrName>style.visibility</p:attrName>
                                        </p:attrNameLst>
                                      </p:cBhvr>
                                      <p:to>
                                        <p:strVal val="visible"/>
                                      </p:to>
                                    </p:set>
                                    <p:animEffect transition="in" filter="box(out)">
                                      <p:cBhvr>
                                        <p:cTn id="12" dur="500"/>
                                        <p:tgtEl>
                                          <p:spTgt spid="17820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178194"/>
                                        </p:tgtEl>
                                        <p:attrNameLst>
                                          <p:attrName>style.visibility</p:attrName>
                                        </p:attrNameLst>
                                      </p:cBhvr>
                                      <p:to>
                                        <p:strVal val="visible"/>
                                      </p:to>
                                    </p:set>
                                    <p:animEffect transition="in" filter="box(out)">
                                      <p:cBhvr>
                                        <p:cTn id="17" dur="500"/>
                                        <p:tgtEl>
                                          <p:spTgt spid="17819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178199"/>
                                        </p:tgtEl>
                                        <p:attrNameLst>
                                          <p:attrName>style.visibility</p:attrName>
                                        </p:attrNameLst>
                                      </p:cBhvr>
                                      <p:to>
                                        <p:strVal val="visible"/>
                                      </p:to>
                                    </p:set>
                                    <p:animEffect transition="in" filter="box(out)">
                                      <p:cBhvr>
                                        <p:cTn id="22" dur="500"/>
                                        <p:tgtEl>
                                          <p:spTgt spid="17819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78217"/>
                                        </p:tgtEl>
                                        <p:attrNameLst>
                                          <p:attrName>style.visibility</p:attrName>
                                        </p:attrNameLst>
                                      </p:cBhvr>
                                      <p:to>
                                        <p:strVal val="visible"/>
                                      </p:to>
                                    </p:set>
                                    <p:animEffect transition="in" filter="dissolve">
                                      <p:cBhvr>
                                        <p:cTn id="27" dur="500"/>
                                        <p:tgtEl>
                                          <p:spTgt spid="17821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nodeType="clickEffect">
                                  <p:stCondLst>
                                    <p:cond delay="0"/>
                                  </p:stCondLst>
                                  <p:childTnLst>
                                    <p:set>
                                      <p:cBhvr>
                                        <p:cTn id="31" dur="1" fill="hold">
                                          <p:stCondLst>
                                            <p:cond delay="0"/>
                                          </p:stCondLst>
                                        </p:cTn>
                                        <p:tgtEl>
                                          <p:spTgt spid="178218"/>
                                        </p:tgtEl>
                                        <p:attrNameLst>
                                          <p:attrName>style.visibility</p:attrName>
                                        </p:attrNameLst>
                                      </p:cBhvr>
                                      <p:to>
                                        <p:strVal val="visible"/>
                                      </p:to>
                                    </p:set>
                                    <p:animEffect transition="in" filter="box(out)">
                                      <p:cBhvr>
                                        <p:cTn id="32" dur="500"/>
                                        <p:tgtEl>
                                          <p:spTgt spid="17821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32" fill="hold" nodeType="clickEffect">
                                  <p:stCondLst>
                                    <p:cond delay="0"/>
                                  </p:stCondLst>
                                  <p:childTnLst>
                                    <p:set>
                                      <p:cBhvr>
                                        <p:cTn id="36" dur="1" fill="hold">
                                          <p:stCondLst>
                                            <p:cond delay="0"/>
                                          </p:stCondLst>
                                        </p:cTn>
                                        <p:tgtEl>
                                          <p:spTgt spid="178235"/>
                                        </p:tgtEl>
                                        <p:attrNameLst>
                                          <p:attrName>style.visibility</p:attrName>
                                        </p:attrNameLst>
                                      </p:cBhvr>
                                      <p:to>
                                        <p:strVal val="visible"/>
                                      </p:to>
                                    </p:set>
                                    <p:animEffect transition="in" filter="box(out)">
                                      <p:cBhvr>
                                        <p:cTn id="37" dur="500"/>
                                        <p:tgtEl>
                                          <p:spTgt spid="17823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32" fill="hold" nodeType="clickEffect">
                                  <p:stCondLst>
                                    <p:cond delay="0"/>
                                  </p:stCondLst>
                                  <p:childTnLst>
                                    <p:set>
                                      <p:cBhvr>
                                        <p:cTn id="41" dur="1" fill="hold">
                                          <p:stCondLst>
                                            <p:cond delay="0"/>
                                          </p:stCondLst>
                                        </p:cTn>
                                        <p:tgtEl>
                                          <p:spTgt spid="178237"/>
                                        </p:tgtEl>
                                        <p:attrNameLst>
                                          <p:attrName>style.visibility</p:attrName>
                                        </p:attrNameLst>
                                      </p:cBhvr>
                                      <p:to>
                                        <p:strVal val="visible"/>
                                      </p:to>
                                    </p:set>
                                    <p:animEffect transition="in" filter="box(out)">
                                      <p:cBhvr>
                                        <p:cTn id="42" dur="500"/>
                                        <p:tgtEl>
                                          <p:spTgt spid="17823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32" fill="hold" nodeType="clickEffect">
                                  <p:stCondLst>
                                    <p:cond delay="0"/>
                                  </p:stCondLst>
                                  <p:childTnLst>
                                    <p:set>
                                      <p:cBhvr>
                                        <p:cTn id="46" dur="1" fill="hold">
                                          <p:stCondLst>
                                            <p:cond delay="0"/>
                                          </p:stCondLst>
                                        </p:cTn>
                                        <p:tgtEl>
                                          <p:spTgt spid="178236"/>
                                        </p:tgtEl>
                                        <p:attrNameLst>
                                          <p:attrName>style.visibility</p:attrName>
                                        </p:attrNameLst>
                                      </p:cBhvr>
                                      <p:to>
                                        <p:strVal val="visible"/>
                                      </p:to>
                                    </p:set>
                                    <p:animEffect transition="in" filter="box(out)">
                                      <p:cBhvr>
                                        <p:cTn id="47" dur="500"/>
                                        <p:tgtEl>
                                          <p:spTgt spid="17823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22617"/>
                                        </p:tgtEl>
                                        <p:attrNameLst>
                                          <p:attrName>style.visibility</p:attrName>
                                        </p:attrNameLst>
                                      </p:cBhvr>
                                      <p:to>
                                        <p:strVal val="visible"/>
                                      </p:to>
                                    </p:set>
                                    <p:animEffect transition="in" filter="blinds(horizontal)">
                                      <p:cBhvr>
                                        <p:cTn id="52" dur="500"/>
                                        <p:tgtEl>
                                          <p:spTgt spid="2261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4" presetClass="entr" presetSubtype="32" fill="hold" nodeType="clickEffect">
                                  <p:stCondLst>
                                    <p:cond delay="0"/>
                                  </p:stCondLst>
                                  <p:childTnLst>
                                    <p:set>
                                      <p:cBhvr>
                                        <p:cTn id="56" dur="1" fill="hold">
                                          <p:stCondLst>
                                            <p:cond delay="0"/>
                                          </p:stCondLst>
                                        </p:cTn>
                                        <p:tgtEl>
                                          <p:spTgt spid="178260"/>
                                        </p:tgtEl>
                                        <p:attrNameLst>
                                          <p:attrName>style.visibility</p:attrName>
                                        </p:attrNameLst>
                                      </p:cBhvr>
                                      <p:to>
                                        <p:strVal val="visible"/>
                                      </p:to>
                                    </p:set>
                                    <p:animEffect transition="in" filter="box(out)">
                                      <p:cBhvr>
                                        <p:cTn id="57" dur="500"/>
                                        <p:tgtEl>
                                          <p:spTgt spid="178260"/>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178263"/>
                                        </p:tgtEl>
                                        <p:attrNameLst>
                                          <p:attrName>style.visibility</p:attrName>
                                        </p:attrNameLst>
                                      </p:cBhvr>
                                      <p:to>
                                        <p:strVal val="visible"/>
                                      </p:to>
                                    </p:set>
                                    <p:animEffect transition="in" filter="dissolve">
                                      <p:cBhvr>
                                        <p:cTn id="62" dur="500"/>
                                        <p:tgtEl>
                                          <p:spTgt spid="178263"/>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
                                        </p:tgtEl>
                                        <p:attrNameLst>
                                          <p:attrName>style.visibility</p:attrName>
                                        </p:attrNameLst>
                                      </p:cBhvr>
                                      <p:to>
                                        <p:strVal val="visible"/>
                                      </p:to>
                                    </p:set>
                                    <p:animEffect transition="in" filter="wipe(left)">
                                      <p:cBhvr>
                                        <p:cTn id="67" dur="500"/>
                                        <p:tgtEl>
                                          <p:spTgt spid="2"/>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85"/>
                                        </p:tgtEl>
                                        <p:attrNameLst>
                                          <p:attrName>style.visibility</p:attrName>
                                        </p:attrNameLst>
                                      </p:cBhvr>
                                      <p:to>
                                        <p:strVal val="visible"/>
                                      </p:to>
                                    </p:set>
                                    <p:animEffect transition="in" filter="blinds(horizontal)">
                                      <p:cBhvr>
                                        <p:cTn id="72" dur="500"/>
                                        <p:tgtEl>
                                          <p:spTgt spid="85"/>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3"/>
                                        </p:tgtEl>
                                        <p:attrNameLst>
                                          <p:attrName>style.visibility</p:attrName>
                                        </p:attrNameLst>
                                      </p:cBhvr>
                                      <p:to>
                                        <p:strVal val="visible"/>
                                      </p:to>
                                    </p:set>
                                    <p:animEffect transition="in" filter="wipe(left)">
                                      <p:cBhvr>
                                        <p:cTn id="7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217" grpId="0" autoUpdateAnimBg="0"/>
      <p:bldP spid="178263" grpId="0"/>
      <p:bldP spid="85" grpId="0" autoUpdateAnimBg="0"/>
      <p:bldP spid="2" grpId="0"/>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5" name="Rectangle 3"/>
          <p:cNvSpPr>
            <a:spLocks noChangeArrowheads="1"/>
          </p:cNvSpPr>
          <p:nvPr/>
        </p:nvSpPr>
        <p:spPr bwMode="auto">
          <a:xfrm>
            <a:off x="357981" y="1048269"/>
            <a:ext cx="83978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00"/>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400" b="1" dirty="0">
                <a:solidFill>
                  <a:srgbClr val="080808"/>
                </a:solidFill>
                <a:latin typeface="Times New Roman" panose="02020603050405020304" pitchFamily="18" charset="0"/>
                <a:ea typeface="华文楷体" panose="02010600040101010101" pitchFamily="2" charset="-122"/>
                <a:cs typeface="Times New Roman" panose="02020603050405020304" pitchFamily="18" charset="0"/>
              </a:rPr>
              <a:t>●  材料在外力作用下表现出来的与变形和破坏有关的性质，称为材料的</a:t>
            </a:r>
            <a:r>
              <a:rPr kumimoji="1"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力学性质</a:t>
            </a:r>
            <a:r>
              <a:rPr kumimoji="1" lang="zh-CN" altLang="en-US" sz="2400" b="1" dirty="0">
                <a:solidFill>
                  <a:srgbClr val="080808"/>
                </a:solidFill>
                <a:latin typeface="Times New Roman" panose="02020603050405020304" pitchFamily="18" charset="0"/>
                <a:ea typeface="华文楷体" panose="02010600040101010101" pitchFamily="2" charset="-122"/>
                <a:cs typeface="Times New Roman" panose="02020603050405020304" pitchFamily="18" charset="0"/>
              </a:rPr>
              <a:t>，又称</a:t>
            </a:r>
            <a:r>
              <a:rPr kumimoji="1"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机械性质</a:t>
            </a:r>
            <a:r>
              <a:rPr kumimoji="1" lang="zh-CN" altLang="en-US" sz="2400" b="1" dirty="0">
                <a:solidFill>
                  <a:srgbClr val="080808"/>
                </a:solidFill>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197636" name="Rectangle 4"/>
          <p:cNvSpPr>
            <a:spLocks noChangeArrowheads="1"/>
          </p:cNvSpPr>
          <p:nvPr/>
        </p:nvSpPr>
        <p:spPr bwMode="auto">
          <a:xfrm>
            <a:off x="372269" y="1878073"/>
            <a:ext cx="838358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00"/>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  通过实验的方法，按照有关国家标准，来测定材料的力学性质。</a:t>
            </a:r>
          </a:p>
        </p:txBody>
      </p:sp>
      <p:sp>
        <p:nvSpPr>
          <p:cNvPr id="197637" name="Rectangle 5"/>
          <p:cNvSpPr>
            <a:spLocks noChangeArrowheads="1"/>
          </p:cNvSpPr>
          <p:nvPr/>
        </p:nvSpPr>
        <p:spPr bwMode="auto">
          <a:xfrm>
            <a:off x="373352" y="2678534"/>
            <a:ext cx="280076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00"/>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400"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标准拉伸试件：</a:t>
            </a:r>
          </a:p>
        </p:txBody>
      </p:sp>
      <p:sp>
        <p:nvSpPr>
          <p:cNvPr id="44039" name="Rectangle 32"/>
          <p:cNvSpPr>
            <a:spLocks noChangeArrowheads="1"/>
          </p:cNvSpPr>
          <p:nvPr/>
        </p:nvSpPr>
        <p:spPr bwMode="auto">
          <a:xfrm>
            <a:off x="494103" y="435169"/>
            <a:ext cx="6769100" cy="585418"/>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3200" b="1" dirty="0">
                <a:solidFill>
                  <a:srgbClr val="0000CC"/>
                </a:solidFill>
                <a:latin typeface="Times New Roman" panose="02020603050405020304" pitchFamily="18" charset="0"/>
                <a:ea typeface="隶书" panose="02010509060101010101" pitchFamily="49" charset="-122"/>
              </a:rPr>
              <a:t>6-3  </a:t>
            </a:r>
            <a:r>
              <a:rPr kumimoji="1" lang="zh-CN" altLang="en-US" sz="3200" b="1" dirty="0">
                <a:solidFill>
                  <a:srgbClr val="0000CC"/>
                </a:solidFill>
                <a:latin typeface="Times New Roman" panose="02020603050405020304" pitchFamily="18" charset="0"/>
                <a:ea typeface="隶书" panose="02010509060101010101" pitchFamily="49" charset="-122"/>
              </a:rPr>
              <a:t>材料拉压的力学性质</a:t>
            </a:r>
          </a:p>
        </p:txBody>
      </p:sp>
      <p:sp>
        <p:nvSpPr>
          <p:cNvPr id="197665" name="Rectangle 33"/>
          <p:cNvSpPr>
            <a:spLocks noChangeArrowheads="1"/>
          </p:cNvSpPr>
          <p:nvPr/>
        </p:nvSpPr>
        <p:spPr bwMode="auto">
          <a:xfrm>
            <a:off x="2148533" y="3078531"/>
            <a:ext cx="2951163" cy="609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00"/>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40000"/>
              </a:lnSpc>
            </a:pPr>
            <a:r>
              <a:rPr kumimoji="1" lang="en-US" altLang="zh-CN" sz="2400"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5</a:t>
            </a:r>
            <a:r>
              <a:rPr kumimoji="1" lang="en-US" altLang="zh-CN" sz="2400"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400"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倍试样</a:t>
            </a:r>
            <a:r>
              <a:rPr lang="zh-CN" altLang="en-US"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和</a:t>
            </a:r>
            <a:r>
              <a:rPr kumimoji="1" lang="en-US" altLang="zh-CN" sz="2400"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10</a:t>
            </a:r>
            <a:r>
              <a:rPr kumimoji="1" lang="zh-CN" altLang="en-US" sz="2400"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倍试样</a:t>
            </a:r>
            <a:endParaRPr kumimoji="1" lang="en-US" altLang="zh-CN" sz="2400" i="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26" name="Picture 9" descr="7-10-1"/>
          <p:cNvPicPr>
            <a:picLocks noChangeAspect="1" noChangeArrowheads="1"/>
          </p:cNvPicPr>
          <p:nvPr/>
        </p:nvPicPr>
        <p:blipFill>
          <a:blip r:embed="rId2">
            <a:lum bright="-12000" contrast="24000"/>
            <a:extLst>
              <a:ext uri="{28A0092B-C50C-407E-A947-70E740481C1C}">
                <a14:useLocalDpi xmlns:a14="http://schemas.microsoft.com/office/drawing/2010/main" val="0"/>
              </a:ext>
            </a:extLst>
          </a:blip>
          <a:srcRect/>
          <a:stretch>
            <a:fillRect/>
          </a:stretch>
        </p:blipFill>
        <p:spPr bwMode="auto">
          <a:xfrm>
            <a:off x="602334" y="3645024"/>
            <a:ext cx="3816350" cy="110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7" name="Group 22"/>
          <p:cNvGrpSpPr>
            <a:grpSpLocks/>
          </p:cNvGrpSpPr>
          <p:nvPr/>
        </p:nvGrpSpPr>
        <p:grpSpPr bwMode="auto">
          <a:xfrm>
            <a:off x="590990" y="4998714"/>
            <a:ext cx="3836988" cy="969962"/>
            <a:chOff x="1143" y="2989"/>
            <a:chExt cx="1728" cy="476"/>
          </a:xfrm>
        </p:grpSpPr>
        <p:pic>
          <p:nvPicPr>
            <p:cNvPr id="28" name="Picture 12" descr="7-10-2"/>
            <p:cNvPicPr>
              <a:picLocks noChangeAspect="1" noChangeArrowheads="1"/>
            </p:cNvPicPr>
            <p:nvPr/>
          </p:nvPicPr>
          <p:blipFill>
            <a:blip r:embed="rId3">
              <a:lum bright="-12000" contrast="24000"/>
              <a:extLst>
                <a:ext uri="{28A0092B-C50C-407E-A947-70E740481C1C}">
                  <a14:useLocalDpi xmlns:a14="http://schemas.microsoft.com/office/drawing/2010/main" val="0"/>
                </a:ext>
              </a:extLst>
            </a:blip>
            <a:srcRect/>
            <a:stretch>
              <a:fillRect/>
            </a:stretch>
          </p:blipFill>
          <p:spPr bwMode="auto">
            <a:xfrm>
              <a:off x="1143" y="2989"/>
              <a:ext cx="1728" cy="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Freeform 19"/>
            <p:cNvSpPr>
              <a:spLocks/>
            </p:cNvSpPr>
            <p:nvPr/>
          </p:nvSpPr>
          <p:spPr bwMode="auto">
            <a:xfrm flipH="1">
              <a:off x="2460" y="3099"/>
              <a:ext cx="21" cy="162"/>
            </a:xfrm>
            <a:custGeom>
              <a:avLst/>
              <a:gdLst>
                <a:gd name="T0" fmla="*/ 0 w 21"/>
                <a:gd name="T1" fmla="*/ 0 h 162"/>
                <a:gd name="T2" fmla="*/ 21 w 21"/>
                <a:gd name="T3" fmla="*/ 30 h 162"/>
                <a:gd name="T4" fmla="*/ 21 w 21"/>
                <a:gd name="T5" fmla="*/ 132 h 162"/>
                <a:gd name="T6" fmla="*/ 3 w 21"/>
                <a:gd name="T7" fmla="*/ 162 h 162"/>
                <a:gd name="T8" fmla="*/ 0 w 21"/>
                <a:gd name="T9" fmla="*/ 0 h 162"/>
                <a:gd name="T10" fmla="*/ 0 60000 65536"/>
                <a:gd name="T11" fmla="*/ 0 60000 65536"/>
                <a:gd name="T12" fmla="*/ 0 60000 65536"/>
                <a:gd name="T13" fmla="*/ 0 60000 65536"/>
                <a:gd name="T14" fmla="*/ 0 60000 65536"/>
                <a:gd name="T15" fmla="*/ 0 w 21"/>
                <a:gd name="T16" fmla="*/ 0 h 162"/>
                <a:gd name="T17" fmla="*/ 21 w 21"/>
                <a:gd name="T18" fmla="*/ 162 h 162"/>
              </a:gdLst>
              <a:ahLst/>
              <a:cxnLst>
                <a:cxn ang="T10">
                  <a:pos x="T0" y="T1"/>
                </a:cxn>
                <a:cxn ang="T11">
                  <a:pos x="T2" y="T3"/>
                </a:cxn>
                <a:cxn ang="T12">
                  <a:pos x="T4" y="T5"/>
                </a:cxn>
                <a:cxn ang="T13">
                  <a:pos x="T6" y="T7"/>
                </a:cxn>
                <a:cxn ang="T14">
                  <a:pos x="T8" y="T9"/>
                </a:cxn>
              </a:cxnLst>
              <a:rect l="T15" t="T16" r="T17" b="T18"/>
              <a:pathLst>
                <a:path w="21" h="162">
                  <a:moveTo>
                    <a:pt x="0" y="0"/>
                  </a:moveTo>
                  <a:lnTo>
                    <a:pt x="21" y="30"/>
                  </a:lnTo>
                  <a:lnTo>
                    <a:pt x="21" y="132"/>
                  </a:lnTo>
                  <a:lnTo>
                    <a:pt x="3" y="162"/>
                  </a:lnTo>
                  <a:lnTo>
                    <a:pt x="0" y="0"/>
                  </a:lnTo>
                  <a:close/>
                </a:path>
              </a:pathLst>
            </a:custGeom>
            <a:solidFill>
              <a:schemeClr val="bg1"/>
            </a:solidFill>
            <a:ln w="9525">
              <a:solidFill>
                <a:schemeClr val="bg1"/>
              </a:solidFill>
              <a:miter lim="800000"/>
              <a:headEnd/>
              <a:tailEnd/>
            </a:ln>
          </p:spPr>
          <p:txBody>
            <a:bodyPr wrap="none"/>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endParaRPr lang="zh-CN" altLang="en-US"/>
            </a:p>
          </p:txBody>
        </p:sp>
        <p:sp>
          <p:nvSpPr>
            <p:cNvPr id="30" name="Freeform 21"/>
            <p:cNvSpPr>
              <a:spLocks/>
            </p:cNvSpPr>
            <p:nvPr/>
          </p:nvSpPr>
          <p:spPr bwMode="auto">
            <a:xfrm>
              <a:off x="1521" y="3102"/>
              <a:ext cx="32" cy="180"/>
            </a:xfrm>
            <a:custGeom>
              <a:avLst/>
              <a:gdLst>
                <a:gd name="T0" fmla="*/ 9 w 32"/>
                <a:gd name="T1" fmla="*/ 18 h 180"/>
                <a:gd name="T2" fmla="*/ 3 w 32"/>
                <a:gd name="T3" fmla="*/ 0 h 180"/>
                <a:gd name="T4" fmla="*/ 27 w 32"/>
                <a:gd name="T5" fmla="*/ 33 h 180"/>
                <a:gd name="T6" fmla="*/ 30 w 32"/>
                <a:gd name="T7" fmla="*/ 114 h 180"/>
                <a:gd name="T8" fmla="*/ 15 w 32"/>
                <a:gd name="T9" fmla="*/ 141 h 180"/>
                <a:gd name="T10" fmla="*/ 3 w 32"/>
                <a:gd name="T11" fmla="*/ 159 h 180"/>
                <a:gd name="T12" fmla="*/ 9 w 32"/>
                <a:gd name="T13" fmla="*/ 18 h 180"/>
                <a:gd name="T14" fmla="*/ 0 60000 65536"/>
                <a:gd name="T15" fmla="*/ 0 60000 65536"/>
                <a:gd name="T16" fmla="*/ 0 60000 65536"/>
                <a:gd name="T17" fmla="*/ 0 60000 65536"/>
                <a:gd name="T18" fmla="*/ 0 60000 65536"/>
                <a:gd name="T19" fmla="*/ 0 60000 65536"/>
                <a:gd name="T20" fmla="*/ 0 60000 65536"/>
                <a:gd name="T21" fmla="*/ 0 w 32"/>
                <a:gd name="T22" fmla="*/ 0 h 180"/>
                <a:gd name="T23" fmla="*/ 32 w 32"/>
                <a:gd name="T24" fmla="*/ 180 h 1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180">
                  <a:moveTo>
                    <a:pt x="9" y="18"/>
                  </a:moveTo>
                  <a:lnTo>
                    <a:pt x="3" y="0"/>
                  </a:lnTo>
                  <a:cubicBezTo>
                    <a:pt x="6" y="2"/>
                    <a:pt x="23" y="14"/>
                    <a:pt x="27" y="33"/>
                  </a:cubicBezTo>
                  <a:cubicBezTo>
                    <a:pt x="31" y="52"/>
                    <a:pt x="32" y="96"/>
                    <a:pt x="30" y="114"/>
                  </a:cubicBezTo>
                  <a:cubicBezTo>
                    <a:pt x="28" y="132"/>
                    <a:pt x="19" y="134"/>
                    <a:pt x="15" y="141"/>
                  </a:cubicBezTo>
                  <a:cubicBezTo>
                    <a:pt x="11" y="148"/>
                    <a:pt x="5" y="180"/>
                    <a:pt x="3" y="159"/>
                  </a:cubicBezTo>
                  <a:cubicBezTo>
                    <a:pt x="1" y="138"/>
                    <a:pt x="0" y="75"/>
                    <a:pt x="9" y="18"/>
                  </a:cubicBezTo>
                  <a:close/>
                </a:path>
              </a:pathLst>
            </a:custGeom>
            <a:solidFill>
              <a:schemeClr val="bg1"/>
            </a:solidFill>
            <a:ln w="9525">
              <a:solidFill>
                <a:schemeClr val="bg1"/>
              </a:solidFill>
              <a:miter lim="800000"/>
              <a:headEnd/>
              <a:tailEnd/>
            </a:ln>
          </p:spPr>
          <p:txBody>
            <a:bodyPr wrap="none"/>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endParaRPr lang="zh-CN" altLang="en-US"/>
            </a:p>
          </p:txBody>
        </p:sp>
      </p:grpSp>
      <p:sp>
        <p:nvSpPr>
          <p:cNvPr id="31" name="Text Box 8"/>
          <p:cNvSpPr txBox="1">
            <a:spLocks noChangeArrowheads="1"/>
          </p:cNvSpPr>
          <p:nvPr/>
        </p:nvSpPr>
        <p:spPr bwMode="auto">
          <a:xfrm>
            <a:off x="1225186" y="4614970"/>
            <a:ext cx="28082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dirty="0">
                <a:solidFill>
                  <a:srgbClr val="0000FF"/>
                </a:solidFill>
                <a:latin typeface="楷体" panose="02010609060101010101" pitchFamily="49" charset="-122"/>
                <a:ea typeface="楷体" panose="02010609060101010101" pitchFamily="49" charset="-122"/>
              </a:rPr>
              <a:t>圆柱形拉伸试样</a:t>
            </a:r>
          </a:p>
        </p:txBody>
      </p:sp>
      <p:sp>
        <p:nvSpPr>
          <p:cNvPr id="32" name="Text Box 10"/>
          <p:cNvSpPr txBox="1">
            <a:spLocks noChangeArrowheads="1"/>
          </p:cNvSpPr>
          <p:nvPr/>
        </p:nvSpPr>
        <p:spPr bwMode="auto">
          <a:xfrm>
            <a:off x="1732315" y="5813516"/>
            <a:ext cx="1884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dirty="0">
                <a:solidFill>
                  <a:srgbClr val="0000FF"/>
                </a:solidFill>
                <a:latin typeface="楷体" panose="02010609060101010101" pitchFamily="49" charset="-122"/>
                <a:ea typeface="楷体" panose="02010609060101010101" pitchFamily="49" charset="-122"/>
              </a:rPr>
              <a:t>板状试样</a:t>
            </a:r>
          </a:p>
        </p:txBody>
      </p:sp>
      <p:pic>
        <p:nvPicPr>
          <p:cNvPr id="33" name="Picture 15" descr="7-11"/>
          <p:cNvPicPr>
            <a:picLocks noChangeAspect="1" noChangeArrowheads="1"/>
          </p:cNvPicPr>
          <p:nvPr/>
        </p:nvPicPr>
        <p:blipFill>
          <a:blip r:embed="rId4">
            <a:extLst>
              <a:ext uri="{28A0092B-C50C-407E-A947-70E740481C1C}">
                <a14:useLocalDpi xmlns:a14="http://schemas.microsoft.com/office/drawing/2010/main" val="0"/>
              </a:ext>
            </a:extLst>
          </a:blip>
          <a:srcRect l="9293" t="6250" r="11714" b="8333"/>
          <a:stretch>
            <a:fillRect/>
          </a:stretch>
        </p:blipFill>
        <p:spPr bwMode="auto">
          <a:xfrm>
            <a:off x="5715573" y="2564904"/>
            <a:ext cx="3165475"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4283968" y="3838624"/>
            <a:ext cx="2239716" cy="461665"/>
          </a:xfrm>
          <a:prstGeom prst="rect">
            <a:avLst/>
          </a:prstGeom>
        </p:spPr>
        <p:txBody>
          <a:bodyPr wrap="none">
            <a:spAutoFit/>
          </a:bodyPr>
          <a:lstStyle/>
          <a:p>
            <a:r>
              <a:rPr lang="en-US" altLang="zh-CN" i="1" dirty="0"/>
              <a:t>l </a:t>
            </a:r>
            <a:r>
              <a:rPr lang="en-US" altLang="zh-CN" dirty="0"/>
              <a:t>= 10</a:t>
            </a:r>
            <a:r>
              <a:rPr lang="en-US" altLang="zh-CN" i="1" dirty="0"/>
              <a:t>d </a:t>
            </a:r>
            <a:r>
              <a:rPr lang="zh-CN" altLang="en-US" dirty="0"/>
              <a:t>或 </a:t>
            </a:r>
            <a:r>
              <a:rPr lang="en-US" altLang="zh-CN" i="1" dirty="0"/>
              <a:t>l </a:t>
            </a:r>
            <a:r>
              <a:rPr lang="en-US" altLang="zh-CN" dirty="0"/>
              <a:t>= 5</a:t>
            </a:r>
            <a:r>
              <a:rPr lang="en-US" altLang="zh-CN" i="1" dirty="0"/>
              <a:t>d</a:t>
            </a:r>
            <a:endParaRPr lang="zh-CN" altLang="en-US" dirty="0"/>
          </a:p>
        </p:txBody>
      </p:sp>
      <p:grpSp>
        <p:nvGrpSpPr>
          <p:cNvPr id="3" name="组合 2"/>
          <p:cNvGrpSpPr/>
          <p:nvPr/>
        </p:nvGrpSpPr>
        <p:grpSpPr>
          <a:xfrm>
            <a:off x="4421295" y="4998714"/>
            <a:ext cx="1392940" cy="857199"/>
            <a:chOff x="4421295" y="4998714"/>
            <a:chExt cx="1392940" cy="857199"/>
          </a:xfrm>
        </p:grpSpPr>
        <p:graphicFrame>
          <p:nvGraphicFramePr>
            <p:cNvPr id="17" name="Object 8"/>
            <p:cNvGraphicFramePr>
              <a:graphicFrameLocks noChangeAspect="1"/>
            </p:cNvGraphicFramePr>
            <p:nvPr>
              <p:extLst>
                <p:ext uri="{D42A27DB-BD31-4B8C-83A1-F6EECF244321}">
                  <p14:modId xmlns:p14="http://schemas.microsoft.com/office/powerpoint/2010/main" val="4133209420"/>
                </p:ext>
              </p:extLst>
            </p:nvPr>
          </p:nvGraphicFramePr>
          <p:xfrm>
            <a:off x="4421295" y="4998714"/>
            <a:ext cx="1356803" cy="431129"/>
          </p:xfrm>
          <a:graphic>
            <a:graphicData uri="http://schemas.openxmlformats.org/presentationml/2006/ole">
              <mc:AlternateContent xmlns:mc="http://schemas.openxmlformats.org/markup-compatibility/2006">
                <mc:Choice xmlns:v="urn:schemas-microsoft-com:vml" Requires="v">
                  <p:oleObj name="Equation" r:id="rId5" imgW="710592" imgH="215936" progId="Equation.DSMT4">
                    <p:embed/>
                  </p:oleObj>
                </mc:Choice>
                <mc:Fallback>
                  <p:oleObj name="Equation" r:id="rId5" imgW="710592" imgH="215936"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21295" y="4998714"/>
                          <a:ext cx="1356803" cy="431129"/>
                        </a:xfrm>
                        <a:prstGeom prst="rect">
                          <a:avLst/>
                        </a:prstGeom>
                        <a:noFill/>
                        <a:ln>
                          <a:noFill/>
                        </a:ln>
                      </p:spPr>
                    </p:pic>
                  </p:oleObj>
                </mc:Fallback>
              </mc:AlternateContent>
            </a:graphicData>
          </a:graphic>
        </p:graphicFrame>
        <p:graphicFrame>
          <p:nvGraphicFramePr>
            <p:cNvPr id="18" name="Object 9"/>
            <p:cNvGraphicFramePr>
              <a:graphicFrameLocks noChangeAspect="1"/>
            </p:cNvGraphicFramePr>
            <p:nvPr>
              <p:extLst>
                <p:ext uri="{D42A27DB-BD31-4B8C-83A1-F6EECF244321}">
                  <p14:modId xmlns:p14="http://schemas.microsoft.com/office/powerpoint/2010/main" val="3740679725"/>
                </p:ext>
              </p:extLst>
            </p:nvPr>
          </p:nvGraphicFramePr>
          <p:xfrm>
            <a:off x="4425757" y="5429843"/>
            <a:ext cx="1388478" cy="426070"/>
          </p:xfrm>
          <a:graphic>
            <a:graphicData uri="http://schemas.openxmlformats.org/presentationml/2006/ole">
              <mc:AlternateContent xmlns:mc="http://schemas.openxmlformats.org/markup-compatibility/2006">
                <mc:Choice xmlns:v="urn:schemas-microsoft-com:vml" Requires="v">
                  <p:oleObj name="Equation" r:id="rId7" imgW="736597" imgH="216123" progId="Equation.DSMT4">
                    <p:embed/>
                  </p:oleObj>
                </mc:Choice>
                <mc:Fallback>
                  <p:oleObj name="Equation" r:id="rId7" imgW="736597" imgH="216123"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25757" y="5429843"/>
                          <a:ext cx="1388478" cy="426070"/>
                        </a:xfrm>
                        <a:prstGeom prst="rect">
                          <a:avLst/>
                        </a:prstGeom>
                        <a:noFill/>
                        <a:ln>
                          <a:noFill/>
                        </a:ln>
                      </p:spPr>
                    </p:pic>
                  </p:oleObj>
                </mc:Fallback>
              </mc:AlternateContent>
            </a:graphicData>
          </a:graphic>
        </p:graphicFrame>
      </p:grpSp>
    </p:spTree>
    <p:extLst>
      <p:ext uri="{BB962C8B-B14F-4D97-AF65-F5344CB8AC3E}">
        <p14:creationId xmlns:p14="http://schemas.microsoft.com/office/powerpoint/2010/main" val="293714214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97635"/>
                                        </p:tgtEl>
                                        <p:attrNameLst>
                                          <p:attrName>style.visibility</p:attrName>
                                        </p:attrNameLst>
                                      </p:cBhvr>
                                      <p:to>
                                        <p:strVal val="visible"/>
                                      </p:to>
                                    </p:set>
                                    <p:animEffect transition="in" filter="checkerboard(across)">
                                      <p:cBhvr>
                                        <p:cTn id="7" dur="500"/>
                                        <p:tgtEl>
                                          <p:spTgt spid="1976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97636"/>
                                        </p:tgtEl>
                                        <p:attrNameLst>
                                          <p:attrName>style.visibility</p:attrName>
                                        </p:attrNameLst>
                                      </p:cBhvr>
                                      <p:to>
                                        <p:strVal val="visible"/>
                                      </p:to>
                                    </p:set>
                                    <p:animEffect transition="in" filter="checkerboard(across)">
                                      <p:cBhvr>
                                        <p:cTn id="12" dur="500"/>
                                        <p:tgtEl>
                                          <p:spTgt spid="197636"/>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97637"/>
                                        </p:tgtEl>
                                        <p:attrNameLst>
                                          <p:attrName>style.visibility</p:attrName>
                                        </p:attrNameLst>
                                      </p:cBhvr>
                                      <p:to>
                                        <p:strVal val="visible"/>
                                      </p:to>
                                    </p:set>
                                    <p:animEffect transition="in" filter="checkerboard(across)">
                                      <p:cBhvr>
                                        <p:cTn id="17" dur="500"/>
                                        <p:tgtEl>
                                          <p:spTgt spid="197637"/>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97665"/>
                                        </p:tgtEl>
                                        <p:attrNameLst>
                                          <p:attrName>style.visibility</p:attrName>
                                        </p:attrNameLst>
                                      </p:cBhvr>
                                      <p:to>
                                        <p:strVal val="visible"/>
                                      </p:to>
                                    </p:set>
                                    <p:animEffect transition="in" filter="checkerboard(across)">
                                      <p:cBhvr>
                                        <p:cTn id="22" dur="500"/>
                                        <p:tgtEl>
                                          <p:spTgt spid="197665"/>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box(out)">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box(out)">
                                      <p:cBhvr>
                                        <p:cTn id="32" dur="500"/>
                                        <p:tgtEl>
                                          <p:spTgt spid="3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fade">
                                      <p:cBhvr>
                                        <p:cTn id="37" dur="500"/>
                                        <p:tgtEl>
                                          <p:spTgt spid="2"/>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blinds(horizontal)">
                                      <p:cBhvr>
                                        <p:cTn id="42" dur="500"/>
                                        <p:tgtEl>
                                          <p:spTgt spid="27"/>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box(out)">
                                      <p:cBhvr>
                                        <p:cTn id="47" dur="500"/>
                                        <p:tgtEl>
                                          <p:spTgt spid="3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fade">
                                      <p:cBhvr>
                                        <p:cTn id="52" dur="500"/>
                                        <p:tgtEl>
                                          <p:spTgt spid="3"/>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32" fill="hold" nodeType="clickEffect">
                                  <p:stCondLst>
                                    <p:cond delay="0"/>
                                  </p:stCondLst>
                                  <p:childTnLst>
                                    <p:set>
                                      <p:cBhvr>
                                        <p:cTn id="56" dur="1" fill="hold">
                                          <p:stCondLst>
                                            <p:cond delay="0"/>
                                          </p:stCondLst>
                                        </p:cTn>
                                        <p:tgtEl>
                                          <p:spTgt spid="33"/>
                                        </p:tgtEl>
                                        <p:attrNameLst>
                                          <p:attrName>style.visibility</p:attrName>
                                        </p:attrNameLst>
                                      </p:cBhvr>
                                      <p:to>
                                        <p:strVal val="visible"/>
                                      </p:to>
                                    </p:set>
                                    <p:animEffect transition="in" filter="box(out)">
                                      <p:cBhvr>
                                        <p:cTn id="5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5" grpId="0" autoUpdateAnimBg="0"/>
      <p:bldP spid="197636" grpId="0" autoUpdateAnimBg="0"/>
      <p:bldP spid="197637" grpId="0" autoUpdateAnimBg="0"/>
      <p:bldP spid="197665" grpId="0" autoUpdateAnimBg="0"/>
      <p:bldP spid="31" grpId="0" autoUpdateAnimBg="0"/>
      <p:bldP spid="32" grpId="0" autoUpdateAnimBg="0"/>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138"/>
          <p:cNvSpPr>
            <a:spLocks noChangeArrowheads="1"/>
          </p:cNvSpPr>
          <p:nvPr/>
        </p:nvSpPr>
        <p:spPr bwMode="auto">
          <a:xfrm>
            <a:off x="315912" y="568345"/>
            <a:ext cx="4103687"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800" b="1" dirty="0">
                <a:solidFill>
                  <a:srgbClr val="FF0000"/>
                </a:solidFill>
                <a:latin typeface="黑体" panose="02010609060101010101" pitchFamily="49" charset="-122"/>
                <a:ea typeface="黑体" panose="02010609060101010101" pitchFamily="49" charset="-122"/>
              </a:rPr>
              <a:t>一、低碳钢的拉伸性能</a:t>
            </a:r>
          </a:p>
        </p:txBody>
      </p:sp>
      <p:grpSp>
        <p:nvGrpSpPr>
          <p:cNvPr id="198900" name="Group 244"/>
          <p:cNvGrpSpPr>
            <a:grpSpLocks/>
          </p:cNvGrpSpPr>
          <p:nvPr/>
        </p:nvGrpSpPr>
        <p:grpSpPr bwMode="auto">
          <a:xfrm>
            <a:off x="4842329" y="1126087"/>
            <a:ext cx="3997325" cy="2438400"/>
            <a:chOff x="3242" y="283"/>
            <a:chExt cx="2518" cy="1536"/>
          </a:xfrm>
        </p:grpSpPr>
        <p:grpSp>
          <p:nvGrpSpPr>
            <p:cNvPr id="45145" name="Group 245"/>
            <p:cNvGrpSpPr>
              <a:grpSpLocks/>
            </p:cNvGrpSpPr>
            <p:nvPr/>
          </p:nvGrpSpPr>
          <p:grpSpPr bwMode="auto">
            <a:xfrm>
              <a:off x="3242" y="283"/>
              <a:ext cx="2518" cy="1536"/>
              <a:chOff x="3195" y="181"/>
              <a:chExt cx="2518" cy="1536"/>
            </a:xfrm>
          </p:grpSpPr>
          <p:graphicFrame>
            <p:nvGraphicFramePr>
              <p:cNvPr id="45147" name="Object 246"/>
              <p:cNvGraphicFramePr>
                <a:graphicFrameLocks/>
              </p:cNvGraphicFramePr>
              <p:nvPr/>
            </p:nvGraphicFramePr>
            <p:xfrm>
              <a:off x="3195" y="192"/>
              <a:ext cx="225" cy="188"/>
            </p:xfrm>
            <a:graphic>
              <a:graphicData uri="http://schemas.openxmlformats.org/presentationml/2006/ole">
                <mc:AlternateContent xmlns:mc="http://schemas.openxmlformats.org/markup-compatibility/2006">
                  <mc:Choice xmlns:v="urn:schemas-microsoft-com:vml" Requires="v">
                    <p:oleObj name="公式" r:id="rId2" imgW="142830" imgH="133440" progId="Equation.3">
                      <p:embed/>
                    </p:oleObj>
                  </mc:Choice>
                  <mc:Fallback>
                    <p:oleObj name="公式" r:id="rId2" imgW="142830" imgH="133440" progId="Equation.3">
                      <p:embed/>
                      <p:pic>
                        <p:nvPicPr>
                          <p:cNvPr id="0" nam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5" y="192"/>
                            <a:ext cx="225" cy="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148" name="Object 247"/>
              <p:cNvGraphicFramePr>
                <a:graphicFrameLocks/>
              </p:cNvGraphicFramePr>
              <p:nvPr/>
            </p:nvGraphicFramePr>
            <p:xfrm>
              <a:off x="5524" y="1526"/>
              <a:ext cx="189" cy="191"/>
            </p:xfrm>
            <a:graphic>
              <a:graphicData uri="http://schemas.openxmlformats.org/presentationml/2006/ole">
                <mc:AlternateContent xmlns:mc="http://schemas.openxmlformats.org/markup-compatibility/2006">
                  <mc:Choice xmlns:v="urn:schemas-microsoft-com:vml" Requires="v">
                    <p:oleObj name="公式" r:id="rId4" imgW="114210" imgH="133440" progId="Equation.3">
                      <p:embed/>
                    </p:oleObj>
                  </mc:Choice>
                  <mc:Fallback>
                    <p:oleObj name="公式" r:id="rId4" imgW="114210" imgH="133440" progId="Equation.3">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24" y="1526"/>
                            <a:ext cx="189" cy="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45149" name="Group 248"/>
              <p:cNvGrpSpPr>
                <a:grpSpLocks/>
              </p:cNvGrpSpPr>
              <p:nvPr/>
            </p:nvGrpSpPr>
            <p:grpSpPr bwMode="auto">
              <a:xfrm>
                <a:off x="3334" y="181"/>
                <a:ext cx="2304" cy="1453"/>
                <a:chOff x="576" y="374"/>
                <a:chExt cx="2304" cy="1453"/>
              </a:xfrm>
            </p:grpSpPr>
            <p:sp>
              <p:nvSpPr>
                <p:cNvPr id="45150" name="Line 249"/>
                <p:cNvSpPr>
                  <a:spLocks noChangeShapeType="1"/>
                </p:cNvSpPr>
                <p:nvPr/>
              </p:nvSpPr>
              <p:spPr bwMode="auto">
                <a:xfrm>
                  <a:off x="576" y="1700"/>
                  <a:ext cx="2304" cy="0"/>
                </a:xfrm>
                <a:prstGeom prst="line">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151" name="Line 250"/>
                <p:cNvSpPr>
                  <a:spLocks noChangeShapeType="1"/>
                </p:cNvSpPr>
                <p:nvPr/>
              </p:nvSpPr>
              <p:spPr bwMode="auto">
                <a:xfrm flipV="1">
                  <a:off x="674" y="374"/>
                  <a:ext cx="0" cy="1453"/>
                </a:xfrm>
                <a:prstGeom prst="line">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152" name="Freeform 251"/>
                <p:cNvSpPr>
                  <a:spLocks/>
                </p:cNvSpPr>
                <p:nvPr/>
              </p:nvSpPr>
              <p:spPr bwMode="auto">
                <a:xfrm>
                  <a:off x="823" y="942"/>
                  <a:ext cx="112" cy="59"/>
                </a:xfrm>
                <a:custGeom>
                  <a:avLst/>
                  <a:gdLst>
                    <a:gd name="T0" fmla="*/ 0 w 112"/>
                    <a:gd name="T1" fmla="*/ 38 h 59"/>
                    <a:gd name="T2" fmla="*/ 16 w 112"/>
                    <a:gd name="T3" fmla="*/ 16 h 59"/>
                    <a:gd name="T4" fmla="*/ 22 w 112"/>
                    <a:gd name="T5" fmla="*/ 58 h 59"/>
                    <a:gd name="T6" fmla="*/ 44 w 112"/>
                    <a:gd name="T7" fmla="*/ 0 h 59"/>
                    <a:gd name="T8" fmla="*/ 44 w 112"/>
                    <a:gd name="T9" fmla="*/ 58 h 59"/>
                    <a:gd name="T10" fmla="*/ 66 w 112"/>
                    <a:gd name="T11" fmla="*/ 0 h 59"/>
                    <a:gd name="T12" fmla="*/ 66 w 112"/>
                    <a:gd name="T13" fmla="*/ 38 h 59"/>
                    <a:gd name="T14" fmla="*/ 88 w 112"/>
                    <a:gd name="T15" fmla="*/ 19 h 59"/>
                    <a:gd name="T16" fmla="*/ 111 w 112"/>
                    <a:gd name="T17" fmla="*/ 19 h 59"/>
                    <a:gd name="T18" fmla="*/ 111 w 112"/>
                    <a:gd name="T19" fmla="*/ 0 h 5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2" h="59">
                      <a:moveTo>
                        <a:pt x="0" y="38"/>
                      </a:moveTo>
                      <a:lnTo>
                        <a:pt x="16" y="16"/>
                      </a:lnTo>
                      <a:lnTo>
                        <a:pt x="22" y="58"/>
                      </a:lnTo>
                      <a:lnTo>
                        <a:pt x="44" y="0"/>
                      </a:lnTo>
                      <a:lnTo>
                        <a:pt x="44" y="58"/>
                      </a:lnTo>
                      <a:lnTo>
                        <a:pt x="66" y="0"/>
                      </a:lnTo>
                      <a:lnTo>
                        <a:pt x="66" y="38"/>
                      </a:lnTo>
                      <a:lnTo>
                        <a:pt x="88" y="19"/>
                      </a:lnTo>
                      <a:lnTo>
                        <a:pt x="111" y="19"/>
                      </a:lnTo>
                      <a:lnTo>
                        <a:pt x="111" y="0"/>
                      </a:lnTo>
                    </a:path>
                  </a:pathLst>
                </a:custGeom>
                <a:noFill/>
                <a:ln w="12700"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153" name="Arc 252"/>
                <p:cNvSpPr>
                  <a:spLocks/>
                </p:cNvSpPr>
                <p:nvPr/>
              </p:nvSpPr>
              <p:spPr bwMode="auto">
                <a:xfrm>
                  <a:off x="934" y="533"/>
                  <a:ext cx="1262" cy="449"/>
                </a:xfrm>
                <a:custGeom>
                  <a:avLst/>
                  <a:gdLst>
                    <a:gd name="T0" fmla="*/ 0 w 22828"/>
                    <a:gd name="T1" fmla="*/ 449 h 21600"/>
                    <a:gd name="T2" fmla="*/ 1262 w 22828"/>
                    <a:gd name="T3" fmla="*/ 1 h 21600"/>
                    <a:gd name="T4" fmla="*/ 1194 w 22828"/>
                    <a:gd name="T5" fmla="*/ 449 h 21600"/>
                    <a:gd name="T6" fmla="*/ 0 60000 65536"/>
                    <a:gd name="T7" fmla="*/ 0 60000 65536"/>
                    <a:gd name="T8" fmla="*/ 0 60000 65536"/>
                  </a:gdLst>
                  <a:ahLst/>
                  <a:cxnLst>
                    <a:cxn ang="T6">
                      <a:pos x="T0" y="T1"/>
                    </a:cxn>
                    <a:cxn ang="T7">
                      <a:pos x="T2" y="T3"/>
                    </a:cxn>
                    <a:cxn ang="T8">
                      <a:pos x="T4" y="T5"/>
                    </a:cxn>
                  </a:cxnLst>
                  <a:rect l="0" t="0" r="r" b="b"/>
                  <a:pathLst>
                    <a:path w="22828" h="21600" fill="none" extrusionOk="0">
                      <a:moveTo>
                        <a:pt x="0" y="21599"/>
                      </a:moveTo>
                      <a:cubicBezTo>
                        <a:pt x="0" y="9670"/>
                        <a:pt x="9670" y="0"/>
                        <a:pt x="21600" y="0"/>
                      </a:cubicBezTo>
                      <a:cubicBezTo>
                        <a:pt x="22009" y="0"/>
                        <a:pt x="22419" y="11"/>
                        <a:pt x="22828" y="34"/>
                      </a:cubicBezTo>
                    </a:path>
                    <a:path w="22828" h="21600" stroke="0" extrusionOk="0">
                      <a:moveTo>
                        <a:pt x="0" y="21599"/>
                      </a:moveTo>
                      <a:cubicBezTo>
                        <a:pt x="0" y="9670"/>
                        <a:pt x="9670" y="0"/>
                        <a:pt x="21600" y="0"/>
                      </a:cubicBezTo>
                      <a:cubicBezTo>
                        <a:pt x="22009" y="0"/>
                        <a:pt x="22419" y="11"/>
                        <a:pt x="22828" y="34"/>
                      </a:cubicBezTo>
                      <a:lnTo>
                        <a:pt x="21600" y="21600"/>
                      </a:lnTo>
                      <a:lnTo>
                        <a:pt x="0" y="21599"/>
                      </a:lnTo>
                      <a:close/>
                    </a:path>
                  </a:pathLst>
                </a:custGeom>
                <a:noFill/>
                <a:ln w="127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154" name="Arc 253"/>
                <p:cNvSpPr>
                  <a:spLocks/>
                </p:cNvSpPr>
                <p:nvPr/>
              </p:nvSpPr>
              <p:spPr bwMode="auto">
                <a:xfrm>
                  <a:off x="2170" y="533"/>
                  <a:ext cx="555" cy="195"/>
                </a:xfrm>
                <a:custGeom>
                  <a:avLst/>
                  <a:gdLst>
                    <a:gd name="T0" fmla="*/ 0 w 21639"/>
                    <a:gd name="T1" fmla="*/ 0 h 21600"/>
                    <a:gd name="T2" fmla="*/ 555 w 21639"/>
                    <a:gd name="T3" fmla="*/ 195 h 21600"/>
                    <a:gd name="T4" fmla="*/ 1 w 21639"/>
                    <a:gd name="T5" fmla="*/ 195 h 21600"/>
                    <a:gd name="T6" fmla="*/ 0 60000 65536"/>
                    <a:gd name="T7" fmla="*/ 0 60000 65536"/>
                    <a:gd name="T8" fmla="*/ 0 60000 65536"/>
                  </a:gdLst>
                  <a:ahLst/>
                  <a:cxnLst>
                    <a:cxn ang="T6">
                      <a:pos x="T0" y="T1"/>
                    </a:cxn>
                    <a:cxn ang="T7">
                      <a:pos x="T2" y="T3"/>
                    </a:cxn>
                    <a:cxn ang="T8">
                      <a:pos x="T4" y="T5"/>
                    </a:cxn>
                  </a:cxnLst>
                  <a:rect l="0" t="0" r="r" b="b"/>
                  <a:pathLst>
                    <a:path w="21639" h="21600" fill="none" extrusionOk="0">
                      <a:moveTo>
                        <a:pt x="0" y="0"/>
                      </a:moveTo>
                      <a:cubicBezTo>
                        <a:pt x="13" y="0"/>
                        <a:pt x="26" y="0"/>
                        <a:pt x="39" y="0"/>
                      </a:cubicBezTo>
                      <a:cubicBezTo>
                        <a:pt x="11968" y="0"/>
                        <a:pt x="21639" y="9670"/>
                        <a:pt x="21639" y="21600"/>
                      </a:cubicBezTo>
                    </a:path>
                    <a:path w="21639" h="21600" stroke="0" extrusionOk="0">
                      <a:moveTo>
                        <a:pt x="0" y="0"/>
                      </a:moveTo>
                      <a:cubicBezTo>
                        <a:pt x="13" y="0"/>
                        <a:pt x="26" y="0"/>
                        <a:pt x="39" y="0"/>
                      </a:cubicBezTo>
                      <a:cubicBezTo>
                        <a:pt x="11968" y="0"/>
                        <a:pt x="21639" y="9670"/>
                        <a:pt x="21639" y="21600"/>
                      </a:cubicBezTo>
                      <a:lnTo>
                        <a:pt x="39" y="21600"/>
                      </a:lnTo>
                      <a:lnTo>
                        <a:pt x="0" y="0"/>
                      </a:lnTo>
                      <a:close/>
                    </a:path>
                  </a:pathLst>
                </a:custGeom>
                <a:noFill/>
                <a:ln w="127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155" name="Line 254"/>
                <p:cNvSpPr>
                  <a:spLocks noChangeShapeType="1"/>
                </p:cNvSpPr>
                <p:nvPr/>
              </p:nvSpPr>
              <p:spPr bwMode="auto">
                <a:xfrm flipV="1">
                  <a:off x="674" y="960"/>
                  <a:ext cx="142" cy="76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45146" name="Text Box 255"/>
            <p:cNvSpPr txBox="1">
              <a:spLocks noChangeArrowheads="1"/>
            </p:cNvSpPr>
            <p:nvPr/>
          </p:nvSpPr>
          <p:spPr bwMode="auto">
            <a:xfrm>
              <a:off x="3250" y="1579"/>
              <a:ext cx="22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kumimoji="1" lang="en-US" altLang="zh-CN" sz="1800" i="1" dirty="0">
                  <a:latin typeface="Times New Roman" panose="02020603050405020304" pitchFamily="18" charset="0"/>
                  <a:ea typeface="华文楷体" panose="02010600040101010101" pitchFamily="2" charset="-122"/>
                </a:rPr>
                <a:t>O</a:t>
              </a:r>
            </a:p>
          </p:txBody>
        </p:sp>
      </p:grpSp>
      <p:grpSp>
        <p:nvGrpSpPr>
          <p:cNvPr id="198912" name="Group 256"/>
          <p:cNvGrpSpPr>
            <a:grpSpLocks/>
          </p:cNvGrpSpPr>
          <p:nvPr/>
        </p:nvGrpSpPr>
        <p:grpSpPr bwMode="auto">
          <a:xfrm>
            <a:off x="5062991" y="1067350"/>
            <a:ext cx="3657600" cy="2628900"/>
            <a:chOff x="3360" y="1200"/>
            <a:chExt cx="2304" cy="1656"/>
          </a:xfrm>
        </p:grpSpPr>
        <p:sp>
          <p:nvSpPr>
            <p:cNvPr id="45137" name="Line 257"/>
            <p:cNvSpPr>
              <a:spLocks noChangeShapeType="1"/>
            </p:cNvSpPr>
            <p:nvPr/>
          </p:nvSpPr>
          <p:spPr bwMode="auto">
            <a:xfrm>
              <a:off x="3360" y="2564"/>
              <a:ext cx="2304" cy="0"/>
            </a:xfrm>
            <a:prstGeom prst="line">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138" name="Line 258"/>
            <p:cNvSpPr>
              <a:spLocks noChangeShapeType="1"/>
            </p:cNvSpPr>
            <p:nvPr/>
          </p:nvSpPr>
          <p:spPr bwMode="auto">
            <a:xfrm flipV="1">
              <a:off x="3458" y="1238"/>
              <a:ext cx="0" cy="1453"/>
            </a:xfrm>
            <a:prstGeom prst="line">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5139" name="Object 259"/>
            <p:cNvGraphicFramePr>
              <a:graphicFrameLocks/>
            </p:cNvGraphicFramePr>
            <p:nvPr/>
          </p:nvGraphicFramePr>
          <p:xfrm>
            <a:off x="5376" y="2615"/>
            <a:ext cx="217" cy="241"/>
          </p:xfrm>
          <a:graphic>
            <a:graphicData uri="http://schemas.openxmlformats.org/presentationml/2006/ole">
              <mc:AlternateContent xmlns:mc="http://schemas.openxmlformats.org/markup-compatibility/2006">
                <mc:Choice xmlns:v="urn:schemas-microsoft-com:vml" Requires="v">
                  <p:oleObj name="Equation" r:id="rId6" imgW="209520" imgH="190590" progId="Equation.2">
                    <p:embed/>
                  </p:oleObj>
                </mc:Choice>
                <mc:Fallback>
                  <p:oleObj name="Equation" r:id="rId6" imgW="209520" imgH="190590" progId="Equation.2">
                    <p:embed/>
                    <p:pic>
                      <p:nvPicPr>
                        <p:cNvPr id="0" nam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76" y="2615"/>
                          <a:ext cx="217" cy="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140" name="Rectangle 260"/>
            <p:cNvSpPr>
              <a:spLocks noChangeArrowheads="1"/>
            </p:cNvSpPr>
            <p:nvPr/>
          </p:nvSpPr>
          <p:spPr bwMode="auto">
            <a:xfrm>
              <a:off x="3447" y="1200"/>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a:latin typeface="Times New Roman" panose="02020603050405020304" pitchFamily="18" charset="0"/>
                  <a:ea typeface="华文楷体" panose="02010600040101010101" pitchFamily="2" charset="-122"/>
                </a:rPr>
                <a:t>F</a:t>
              </a:r>
            </a:p>
          </p:txBody>
        </p:sp>
        <p:sp>
          <p:nvSpPr>
            <p:cNvPr id="45141" name="Freeform 261"/>
            <p:cNvSpPr>
              <a:spLocks/>
            </p:cNvSpPr>
            <p:nvPr/>
          </p:nvSpPr>
          <p:spPr bwMode="auto">
            <a:xfrm>
              <a:off x="3607" y="1806"/>
              <a:ext cx="112" cy="59"/>
            </a:xfrm>
            <a:custGeom>
              <a:avLst/>
              <a:gdLst>
                <a:gd name="T0" fmla="*/ 0 w 112"/>
                <a:gd name="T1" fmla="*/ 38 h 59"/>
                <a:gd name="T2" fmla="*/ 16 w 112"/>
                <a:gd name="T3" fmla="*/ 16 h 59"/>
                <a:gd name="T4" fmla="*/ 22 w 112"/>
                <a:gd name="T5" fmla="*/ 58 h 59"/>
                <a:gd name="T6" fmla="*/ 44 w 112"/>
                <a:gd name="T7" fmla="*/ 0 h 59"/>
                <a:gd name="T8" fmla="*/ 44 w 112"/>
                <a:gd name="T9" fmla="*/ 58 h 59"/>
                <a:gd name="T10" fmla="*/ 66 w 112"/>
                <a:gd name="T11" fmla="*/ 0 h 59"/>
                <a:gd name="T12" fmla="*/ 66 w 112"/>
                <a:gd name="T13" fmla="*/ 38 h 59"/>
                <a:gd name="T14" fmla="*/ 88 w 112"/>
                <a:gd name="T15" fmla="*/ 19 h 59"/>
                <a:gd name="T16" fmla="*/ 111 w 112"/>
                <a:gd name="T17" fmla="*/ 19 h 59"/>
                <a:gd name="T18" fmla="*/ 111 w 112"/>
                <a:gd name="T19" fmla="*/ 0 h 5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2" h="59">
                  <a:moveTo>
                    <a:pt x="0" y="38"/>
                  </a:moveTo>
                  <a:lnTo>
                    <a:pt x="16" y="16"/>
                  </a:lnTo>
                  <a:lnTo>
                    <a:pt x="22" y="58"/>
                  </a:lnTo>
                  <a:lnTo>
                    <a:pt x="44" y="0"/>
                  </a:lnTo>
                  <a:lnTo>
                    <a:pt x="44" y="58"/>
                  </a:lnTo>
                  <a:lnTo>
                    <a:pt x="66" y="0"/>
                  </a:lnTo>
                  <a:lnTo>
                    <a:pt x="66" y="38"/>
                  </a:lnTo>
                  <a:lnTo>
                    <a:pt x="88" y="19"/>
                  </a:lnTo>
                  <a:lnTo>
                    <a:pt x="111" y="19"/>
                  </a:lnTo>
                  <a:lnTo>
                    <a:pt x="111" y="0"/>
                  </a:lnTo>
                </a:path>
              </a:pathLst>
            </a:custGeom>
            <a:noFill/>
            <a:ln w="12700"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142" name="Arc 262"/>
            <p:cNvSpPr>
              <a:spLocks/>
            </p:cNvSpPr>
            <p:nvPr/>
          </p:nvSpPr>
          <p:spPr bwMode="auto">
            <a:xfrm>
              <a:off x="3718" y="1397"/>
              <a:ext cx="1262" cy="449"/>
            </a:xfrm>
            <a:custGeom>
              <a:avLst/>
              <a:gdLst>
                <a:gd name="T0" fmla="*/ 0 w 22828"/>
                <a:gd name="T1" fmla="*/ 449 h 21600"/>
                <a:gd name="T2" fmla="*/ 1262 w 22828"/>
                <a:gd name="T3" fmla="*/ 1 h 21600"/>
                <a:gd name="T4" fmla="*/ 1194 w 22828"/>
                <a:gd name="T5" fmla="*/ 449 h 21600"/>
                <a:gd name="T6" fmla="*/ 0 60000 65536"/>
                <a:gd name="T7" fmla="*/ 0 60000 65536"/>
                <a:gd name="T8" fmla="*/ 0 60000 65536"/>
              </a:gdLst>
              <a:ahLst/>
              <a:cxnLst>
                <a:cxn ang="T6">
                  <a:pos x="T0" y="T1"/>
                </a:cxn>
                <a:cxn ang="T7">
                  <a:pos x="T2" y="T3"/>
                </a:cxn>
                <a:cxn ang="T8">
                  <a:pos x="T4" y="T5"/>
                </a:cxn>
              </a:cxnLst>
              <a:rect l="0" t="0" r="r" b="b"/>
              <a:pathLst>
                <a:path w="22828" h="21600" fill="none" extrusionOk="0">
                  <a:moveTo>
                    <a:pt x="0" y="21599"/>
                  </a:moveTo>
                  <a:cubicBezTo>
                    <a:pt x="0" y="9670"/>
                    <a:pt x="9670" y="0"/>
                    <a:pt x="21600" y="0"/>
                  </a:cubicBezTo>
                  <a:cubicBezTo>
                    <a:pt x="22009" y="0"/>
                    <a:pt x="22419" y="11"/>
                    <a:pt x="22828" y="34"/>
                  </a:cubicBezTo>
                </a:path>
                <a:path w="22828" h="21600" stroke="0" extrusionOk="0">
                  <a:moveTo>
                    <a:pt x="0" y="21599"/>
                  </a:moveTo>
                  <a:cubicBezTo>
                    <a:pt x="0" y="9670"/>
                    <a:pt x="9670" y="0"/>
                    <a:pt x="21600" y="0"/>
                  </a:cubicBezTo>
                  <a:cubicBezTo>
                    <a:pt x="22009" y="0"/>
                    <a:pt x="22419" y="11"/>
                    <a:pt x="22828" y="34"/>
                  </a:cubicBezTo>
                  <a:lnTo>
                    <a:pt x="21600" y="21600"/>
                  </a:lnTo>
                  <a:lnTo>
                    <a:pt x="0" y="21599"/>
                  </a:lnTo>
                  <a:close/>
                </a:path>
              </a:pathLst>
            </a:custGeom>
            <a:noFill/>
            <a:ln w="127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143" name="Arc 263"/>
            <p:cNvSpPr>
              <a:spLocks/>
            </p:cNvSpPr>
            <p:nvPr/>
          </p:nvSpPr>
          <p:spPr bwMode="auto">
            <a:xfrm>
              <a:off x="4954" y="1397"/>
              <a:ext cx="555" cy="195"/>
            </a:xfrm>
            <a:custGeom>
              <a:avLst/>
              <a:gdLst>
                <a:gd name="T0" fmla="*/ 0 w 21639"/>
                <a:gd name="T1" fmla="*/ 0 h 21600"/>
                <a:gd name="T2" fmla="*/ 555 w 21639"/>
                <a:gd name="T3" fmla="*/ 195 h 21600"/>
                <a:gd name="T4" fmla="*/ 1 w 21639"/>
                <a:gd name="T5" fmla="*/ 195 h 21600"/>
                <a:gd name="T6" fmla="*/ 0 60000 65536"/>
                <a:gd name="T7" fmla="*/ 0 60000 65536"/>
                <a:gd name="T8" fmla="*/ 0 60000 65536"/>
              </a:gdLst>
              <a:ahLst/>
              <a:cxnLst>
                <a:cxn ang="T6">
                  <a:pos x="T0" y="T1"/>
                </a:cxn>
                <a:cxn ang="T7">
                  <a:pos x="T2" y="T3"/>
                </a:cxn>
                <a:cxn ang="T8">
                  <a:pos x="T4" y="T5"/>
                </a:cxn>
              </a:cxnLst>
              <a:rect l="0" t="0" r="r" b="b"/>
              <a:pathLst>
                <a:path w="21639" h="21600" fill="none" extrusionOk="0">
                  <a:moveTo>
                    <a:pt x="0" y="0"/>
                  </a:moveTo>
                  <a:cubicBezTo>
                    <a:pt x="13" y="0"/>
                    <a:pt x="26" y="0"/>
                    <a:pt x="39" y="0"/>
                  </a:cubicBezTo>
                  <a:cubicBezTo>
                    <a:pt x="11968" y="0"/>
                    <a:pt x="21639" y="9670"/>
                    <a:pt x="21639" y="21600"/>
                  </a:cubicBezTo>
                </a:path>
                <a:path w="21639" h="21600" stroke="0" extrusionOk="0">
                  <a:moveTo>
                    <a:pt x="0" y="0"/>
                  </a:moveTo>
                  <a:cubicBezTo>
                    <a:pt x="13" y="0"/>
                    <a:pt x="26" y="0"/>
                    <a:pt x="39" y="0"/>
                  </a:cubicBezTo>
                  <a:cubicBezTo>
                    <a:pt x="11968" y="0"/>
                    <a:pt x="21639" y="9670"/>
                    <a:pt x="21639" y="21600"/>
                  </a:cubicBezTo>
                  <a:lnTo>
                    <a:pt x="39" y="21600"/>
                  </a:lnTo>
                  <a:lnTo>
                    <a:pt x="0" y="0"/>
                  </a:lnTo>
                  <a:close/>
                </a:path>
              </a:pathLst>
            </a:custGeom>
            <a:noFill/>
            <a:ln w="127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144" name="Line 264"/>
            <p:cNvSpPr>
              <a:spLocks noChangeShapeType="1"/>
            </p:cNvSpPr>
            <p:nvPr/>
          </p:nvSpPr>
          <p:spPr bwMode="auto">
            <a:xfrm flipV="1">
              <a:off x="3458" y="1824"/>
              <a:ext cx="142" cy="76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98921" name="Group 265"/>
          <p:cNvGrpSpPr>
            <a:grpSpLocks/>
          </p:cNvGrpSpPr>
          <p:nvPr/>
        </p:nvGrpSpPr>
        <p:grpSpPr bwMode="auto">
          <a:xfrm>
            <a:off x="4820104" y="2210350"/>
            <a:ext cx="454025" cy="1001712"/>
            <a:chOff x="3205" y="1920"/>
            <a:chExt cx="286" cy="631"/>
          </a:xfrm>
        </p:grpSpPr>
        <p:sp>
          <p:nvSpPr>
            <p:cNvPr id="45133" name="Line 266"/>
            <p:cNvSpPr>
              <a:spLocks noChangeShapeType="1"/>
            </p:cNvSpPr>
            <p:nvPr/>
          </p:nvSpPr>
          <p:spPr bwMode="auto">
            <a:xfrm>
              <a:off x="3264" y="1920"/>
              <a:ext cx="227"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134" name="Line 267"/>
            <p:cNvSpPr>
              <a:spLocks noChangeShapeType="1"/>
            </p:cNvSpPr>
            <p:nvPr/>
          </p:nvSpPr>
          <p:spPr bwMode="auto">
            <a:xfrm flipV="1">
              <a:off x="3360" y="1920"/>
              <a:ext cx="0" cy="189"/>
            </a:xfrm>
            <a:prstGeom prst="line">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135" name="Line 268"/>
            <p:cNvSpPr>
              <a:spLocks noChangeShapeType="1"/>
            </p:cNvSpPr>
            <p:nvPr/>
          </p:nvSpPr>
          <p:spPr bwMode="auto">
            <a:xfrm>
              <a:off x="3360" y="2400"/>
              <a:ext cx="0" cy="151"/>
            </a:xfrm>
            <a:prstGeom prst="line">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5136" name="Object 269"/>
            <p:cNvGraphicFramePr>
              <a:graphicFrameLocks/>
            </p:cNvGraphicFramePr>
            <p:nvPr/>
          </p:nvGraphicFramePr>
          <p:xfrm>
            <a:off x="3205" y="2118"/>
            <a:ext cx="272" cy="282"/>
          </p:xfrm>
          <a:graphic>
            <a:graphicData uri="http://schemas.openxmlformats.org/presentationml/2006/ole">
              <mc:AlternateContent xmlns:mc="http://schemas.openxmlformats.org/markup-compatibility/2006">
                <mc:Choice xmlns:v="urn:schemas-microsoft-com:vml" Requires="v">
                  <p:oleObj name="Equation" r:id="rId8" imgW="190620" imgH="219165" progId="Equation.2">
                    <p:embed/>
                  </p:oleObj>
                </mc:Choice>
                <mc:Fallback>
                  <p:oleObj name="Equation" r:id="rId8" imgW="190620" imgH="219165" progId="Equation.2">
                    <p:embed/>
                    <p:pic>
                      <p:nvPicPr>
                        <p:cNvPr id="0" name=""/>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05" y="2118"/>
                          <a:ext cx="272" cy="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98926" name="Group 270"/>
          <p:cNvGrpSpPr>
            <a:grpSpLocks/>
          </p:cNvGrpSpPr>
          <p:nvPr/>
        </p:nvGrpSpPr>
        <p:grpSpPr bwMode="auto">
          <a:xfrm>
            <a:off x="4464504" y="2134150"/>
            <a:ext cx="906462" cy="1095375"/>
            <a:chOff x="2981" y="1872"/>
            <a:chExt cx="571" cy="720"/>
          </a:xfrm>
        </p:grpSpPr>
        <p:sp>
          <p:nvSpPr>
            <p:cNvPr id="45128" name="Line 271"/>
            <p:cNvSpPr>
              <a:spLocks noChangeShapeType="1"/>
            </p:cNvSpPr>
            <p:nvPr/>
          </p:nvSpPr>
          <p:spPr bwMode="auto">
            <a:xfrm flipH="1">
              <a:off x="3024" y="2592"/>
              <a:ext cx="336"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129" name="Line 272"/>
            <p:cNvSpPr>
              <a:spLocks noChangeShapeType="1"/>
            </p:cNvSpPr>
            <p:nvPr/>
          </p:nvSpPr>
          <p:spPr bwMode="auto">
            <a:xfrm>
              <a:off x="3072" y="1872"/>
              <a:ext cx="48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130" name="Line 273"/>
            <p:cNvSpPr>
              <a:spLocks noChangeShapeType="1"/>
            </p:cNvSpPr>
            <p:nvPr/>
          </p:nvSpPr>
          <p:spPr bwMode="auto">
            <a:xfrm>
              <a:off x="3120" y="1872"/>
              <a:ext cx="0" cy="240"/>
            </a:xfrm>
            <a:prstGeom prst="line">
              <a:avLst/>
            </a:prstGeom>
            <a:noFill/>
            <a:ln w="12700">
              <a:solidFill>
                <a:schemeClr val="tx1"/>
              </a:solidFill>
              <a:round/>
              <a:headEnd type="triangle"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131" name="Line 274"/>
            <p:cNvSpPr>
              <a:spLocks noChangeShapeType="1"/>
            </p:cNvSpPr>
            <p:nvPr/>
          </p:nvSpPr>
          <p:spPr bwMode="auto">
            <a:xfrm flipV="1">
              <a:off x="3120" y="2352"/>
              <a:ext cx="0" cy="240"/>
            </a:xfrm>
            <a:prstGeom prst="line">
              <a:avLst/>
            </a:prstGeom>
            <a:noFill/>
            <a:ln w="12700">
              <a:solidFill>
                <a:schemeClr val="tx1"/>
              </a:solidFill>
              <a:round/>
              <a:headEnd type="triangle"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5132" name="Object 275"/>
            <p:cNvGraphicFramePr>
              <a:graphicFrameLocks/>
            </p:cNvGraphicFramePr>
            <p:nvPr>
              <p:extLst>
                <p:ext uri="{D42A27DB-BD31-4B8C-83A1-F6EECF244321}">
                  <p14:modId xmlns:p14="http://schemas.microsoft.com/office/powerpoint/2010/main" val="3899219270"/>
                </p:ext>
              </p:extLst>
            </p:nvPr>
          </p:nvGraphicFramePr>
          <p:xfrm>
            <a:off x="2981" y="2096"/>
            <a:ext cx="242" cy="256"/>
          </p:xfrm>
          <a:graphic>
            <a:graphicData uri="http://schemas.openxmlformats.org/presentationml/2006/ole">
              <mc:AlternateContent xmlns:mc="http://schemas.openxmlformats.org/markup-compatibility/2006">
                <mc:Choice xmlns:v="urn:schemas-microsoft-com:vml" Requires="v">
                  <p:oleObj name="Equation" r:id="rId10" imgW="171450" imgH="190590" progId="Equation.2">
                    <p:embed/>
                  </p:oleObj>
                </mc:Choice>
                <mc:Fallback>
                  <p:oleObj name="Equation" r:id="rId10" imgW="171450" imgH="190590" progId="Equation.2">
                    <p:embed/>
                    <p:pic>
                      <p:nvPicPr>
                        <p:cNvPr id="0" name=""/>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81" y="2096"/>
                          <a:ext cx="242" cy="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98939" name="Group 283"/>
          <p:cNvGrpSpPr>
            <a:grpSpLocks/>
          </p:cNvGrpSpPr>
          <p:nvPr/>
        </p:nvGrpSpPr>
        <p:grpSpPr bwMode="auto">
          <a:xfrm>
            <a:off x="5278911" y="2794554"/>
            <a:ext cx="407989" cy="423863"/>
            <a:chOff x="3494" y="2288"/>
            <a:chExt cx="257" cy="267"/>
          </a:xfrm>
        </p:grpSpPr>
        <p:sp>
          <p:nvSpPr>
            <p:cNvPr id="45121" name="Arc 284"/>
            <p:cNvSpPr>
              <a:spLocks/>
            </p:cNvSpPr>
            <p:nvPr/>
          </p:nvSpPr>
          <p:spPr bwMode="auto">
            <a:xfrm>
              <a:off x="3494" y="2411"/>
              <a:ext cx="97" cy="144"/>
            </a:xfrm>
            <a:custGeom>
              <a:avLst/>
              <a:gdLst>
                <a:gd name="T0" fmla="*/ 0 w 21825"/>
                <a:gd name="T1" fmla="*/ 0 h 21600"/>
                <a:gd name="T2" fmla="*/ 97 w 21825"/>
                <a:gd name="T3" fmla="*/ 144 h 21600"/>
                <a:gd name="T4" fmla="*/ 1 w 21825"/>
                <a:gd name="T5" fmla="*/ 144 h 21600"/>
                <a:gd name="T6" fmla="*/ 0 60000 65536"/>
                <a:gd name="T7" fmla="*/ 0 60000 65536"/>
                <a:gd name="T8" fmla="*/ 0 60000 65536"/>
              </a:gdLst>
              <a:ahLst/>
              <a:cxnLst>
                <a:cxn ang="T6">
                  <a:pos x="T0" y="T1"/>
                </a:cxn>
                <a:cxn ang="T7">
                  <a:pos x="T2" y="T3"/>
                </a:cxn>
                <a:cxn ang="T8">
                  <a:pos x="T4" y="T5"/>
                </a:cxn>
              </a:cxnLst>
              <a:rect l="0" t="0" r="r" b="b"/>
              <a:pathLst>
                <a:path w="21825" h="21600" fill="none" extrusionOk="0">
                  <a:moveTo>
                    <a:pt x="0" y="1"/>
                  </a:moveTo>
                  <a:cubicBezTo>
                    <a:pt x="74" y="0"/>
                    <a:pt x="149" y="0"/>
                    <a:pt x="225" y="0"/>
                  </a:cubicBezTo>
                  <a:cubicBezTo>
                    <a:pt x="12154" y="0"/>
                    <a:pt x="21825" y="9670"/>
                    <a:pt x="21825" y="21600"/>
                  </a:cubicBezTo>
                </a:path>
                <a:path w="21825" h="21600" stroke="0" extrusionOk="0">
                  <a:moveTo>
                    <a:pt x="0" y="1"/>
                  </a:moveTo>
                  <a:cubicBezTo>
                    <a:pt x="74" y="0"/>
                    <a:pt x="149" y="0"/>
                    <a:pt x="225" y="0"/>
                  </a:cubicBezTo>
                  <a:cubicBezTo>
                    <a:pt x="12154" y="0"/>
                    <a:pt x="21825" y="9670"/>
                    <a:pt x="21825" y="21600"/>
                  </a:cubicBezTo>
                  <a:lnTo>
                    <a:pt x="225" y="21600"/>
                  </a:lnTo>
                  <a:lnTo>
                    <a:pt x="0" y="1"/>
                  </a:lnTo>
                  <a:close/>
                </a:path>
              </a:pathLst>
            </a:custGeom>
            <a:noFill/>
            <a:ln w="127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5122" name="Object 285"/>
            <p:cNvGraphicFramePr>
              <a:graphicFrameLocks/>
            </p:cNvGraphicFramePr>
            <p:nvPr>
              <p:extLst>
                <p:ext uri="{D42A27DB-BD31-4B8C-83A1-F6EECF244321}">
                  <p14:modId xmlns:p14="http://schemas.microsoft.com/office/powerpoint/2010/main" val="1445243894"/>
                </p:ext>
              </p:extLst>
            </p:nvPr>
          </p:nvGraphicFramePr>
          <p:xfrm>
            <a:off x="3556" y="2288"/>
            <a:ext cx="195" cy="177"/>
          </p:xfrm>
          <a:graphic>
            <a:graphicData uri="http://schemas.openxmlformats.org/presentationml/2006/ole">
              <mc:AlternateContent xmlns:mc="http://schemas.openxmlformats.org/markup-compatibility/2006">
                <mc:Choice xmlns:v="urn:schemas-microsoft-com:vml" Requires="v">
                  <p:oleObj name="Equation" r:id="rId12" imgW="142830" imgH="133440" progId="Equation.2">
                    <p:embed/>
                  </p:oleObj>
                </mc:Choice>
                <mc:Fallback>
                  <p:oleObj name="Equation" r:id="rId12" imgW="142830" imgH="133440" progId="Equation.2">
                    <p:embed/>
                    <p:pic>
                      <p:nvPicPr>
                        <p:cNvPr id="0" name=""/>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56" y="2288"/>
                          <a:ext cx="195" cy="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98942" name="Group 286"/>
          <p:cNvGrpSpPr>
            <a:grpSpLocks/>
          </p:cNvGrpSpPr>
          <p:nvPr/>
        </p:nvGrpSpPr>
        <p:grpSpPr bwMode="auto">
          <a:xfrm>
            <a:off x="5221741" y="2042075"/>
            <a:ext cx="487363" cy="1184275"/>
            <a:chOff x="3437" y="998"/>
            <a:chExt cx="307" cy="746"/>
          </a:xfrm>
        </p:grpSpPr>
        <p:sp>
          <p:nvSpPr>
            <p:cNvPr id="45119" name="Line 287"/>
            <p:cNvSpPr>
              <a:spLocks noChangeShapeType="1"/>
            </p:cNvSpPr>
            <p:nvPr/>
          </p:nvSpPr>
          <p:spPr bwMode="auto">
            <a:xfrm flipV="1">
              <a:off x="3437" y="1110"/>
              <a:ext cx="121" cy="634"/>
            </a:xfrm>
            <a:prstGeom prst="line">
              <a:avLst/>
            </a:prstGeom>
            <a:noFill/>
            <a:ln w="28575">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120" name="Text Box 288"/>
            <p:cNvSpPr txBox="1">
              <a:spLocks noChangeArrowheads="1"/>
            </p:cNvSpPr>
            <p:nvPr/>
          </p:nvSpPr>
          <p:spPr bwMode="auto">
            <a:xfrm>
              <a:off x="3516" y="998"/>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800" b="1" i="1">
                  <a:solidFill>
                    <a:srgbClr val="FF3300"/>
                  </a:solidFill>
                  <a:latin typeface="Times New Roman" panose="02020603050405020304" pitchFamily="18" charset="0"/>
                  <a:ea typeface="华文楷体" panose="02010600040101010101" pitchFamily="2" charset="-122"/>
                </a:rPr>
                <a:t>a</a:t>
              </a:r>
              <a:endParaRPr kumimoji="1" lang="en-US" altLang="zh-CN" sz="2800" b="1" i="1">
                <a:solidFill>
                  <a:srgbClr val="FFFF00"/>
                </a:solidFill>
                <a:latin typeface="Times New Roman" panose="02020603050405020304" pitchFamily="18" charset="0"/>
                <a:ea typeface="华文楷体" panose="02010600040101010101" pitchFamily="2" charset="-122"/>
              </a:endParaRPr>
            </a:p>
          </p:txBody>
        </p:sp>
      </p:grpSp>
      <p:grpSp>
        <p:nvGrpSpPr>
          <p:cNvPr id="198945" name="Group 289"/>
          <p:cNvGrpSpPr>
            <a:grpSpLocks/>
          </p:cNvGrpSpPr>
          <p:nvPr/>
        </p:nvGrpSpPr>
        <p:grpSpPr bwMode="auto">
          <a:xfrm>
            <a:off x="5131254" y="1708700"/>
            <a:ext cx="361950" cy="558800"/>
            <a:chOff x="3380" y="788"/>
            <a:chExt cx="228" cy="352"/>
          </a:xfrm>
        </p:grpSpPr>
        <p:sp>
          <p:nvSpPr>
            <p:cNvPr id="45117" name="Line 290"/>
            <p:cNvSpPr>
              <a:spLocks noChangeShapeType="1"/>
            </p:cNvSpPr>
            <p:nvPr/>
          </p:nvSpPr>
          <p:spPr bwMode="auto">
            <a:xfrm flipH="1">
              <a:off x="3558" y="1038"/>
              <a:ext cx="12" cy="102"/>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118" name="Text Box 291"/>
            <p:cNvSpPr txBox="1">
              <a:spLocks noChangeArrowheads="1"/>
            </p:cNvSpPr>
            <p:nvPr/>
          </p:nvSpPr>
          <p:spPr bwMode="auto">
            <a:xfrm>
              <a:off x="3380" y="788"/>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800" b="1" i="1" dirty="0">
                  <a:solidFill>
                    <a:srgbClr val="FF3300"/>
                  </a:solidFill>
                  <a:latin typeface="Times New Roman" panose="02020603050405020304" pitchFamily="18" charset="0"/>
                  <a:ea typeface="华文楷体" panose="02010600040101010101" pitchFamily="2" charset="-122"/>
                </a:rPr>
                <a:t>b</a:t>
              </a:r>
              <a:endParaRPr kumimoji="1" lang="en-US" altLang="zh-CN" sz="2800" b="1" i="1" dirty="0">
                <a:solidFill>
                  <a:srgbClr val="FFFF00"/>
                </a:solidFill>
                <a:latin typeface="Times New Roman" panose="02020603050405020304" pitchFamily="18" charset="0"/>
                <a:ea typeface="华文楷体" panose="02010600040101010101" pitchFamily="2" charset="-122"/>
              </a:endParaRPr>
            </a:p>
          </p:txBody>
        </p:sp>
      </p:grpSp>
      <p:sp>
        <p:nvSpPr>
          <p:cNvPr id="198958" name="Rectangle 302"/>
          <p:cNvSpPr>
            <a:spLocks noChangeArrowheads="1"/>
          </p:cNvSpPr>
          <p:nvPr/>
        </p:nvSpPr>
        <p:spPr bwMode="auto">
          <a:xfrm>
            <a:off x="330908" y="2738177"/>
            <a:ext cx="4694238"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Clr>
                <a:srgbClr val="3333FF"/>
              </a:buClr>
              <a:buFont typeface="Wingdings" panose="05000000000000000000" pitchFamily="2" charset="2"/>
              <a:buChar char="n"/>
            </a:pPr>
            <a:r>
              <a:rPr kumimoji="1" lang="zh-CN" altLang="en-US" sz="2400" b="1" dirty="0">
                <a:solidFill>
                  <a:srgbClr val="0000FF"/>
                </a:solidFill>
                <a:latin typeface="Times New Roman" panose="02020603050405020304" pitchFamily="18" charset="0"/>
                <a:ea typeface="华文楷体" panose="02010600040101010101" pitchFamily="2" charset="-122"/>
              </a:rPr>
              <a:t> 弹性阶段</a:t>
            </a:r>
            <a:r>
              <a:rPr kumimoji="1" lang="en-US" altLang="zh-CN" sz="2400" b="1" dirty="0">
                <a:solidFill>
                  <a:srgbClr val="0000FF"/>
                </a:solidFill>
                <a:latin typeface="Times New Roman" panose="02020603050405020304" pitchFamily="18" charset="0"/>
                <a:ea typeface="华文楷体" panose="02010600040101010101" pitchFamily="2" charset="-122"/>
              </a:rPr>
              <a:t>(</a:t>
            </a:r>
            <a:r>
              <a:rPr kumimoji="1" lang="en-US" altLang="zh-CN" sz="2400" dirty="0">
                <a:solidFill>
                  <a:srgbClr val="0000FF"/>
                </a:solidFill>
                <a:latin typeface="Times New Roman" panose="02020603050405020304" pitchFamily="18" charset="0"/>
                <a:ea typeface="华文楷体" panose="02010600040101010101" pitchFamily="2" charset="-122"/>
              </a:rPr>
              <a:t>Elastic region</a:t>
            </a:r>
            <a:r>
              <a:rPr kumimoji="1" lang="en-US" altLang="zh-CN" sz="2400" b="1" dirty="0">
                <a:solidFill>
                  <a:srgbClr val="0000FF"/>
                </a:solidFill>
                <a:latin typeface="Times New Roman" panose="02020603050405020304" pitchFamily="18" charset="0"/>
                <a:ea typeface="华文楷体" panose="02010600040101010101" pitchFamily="2" charset="-122"/>
              </a:rPr>
              <a:t>):  </a:t>
            </a:r>
            <a:r>
              <a:rPr kumimoji="1" lang="en-US" altLang="zh-CN" sz="2400" b="1" i="1" dirty="0" err="1">
                <a:solidFill>
                  <a:srgbClr val="0000FF"/>
                </a:solidFill>
                <a:latin typeface="Times New Roman" panose="02020603050405020304" pitchFamily="18" charset="0"/>
                <a:ea typeface="华文楷体" panose="02010600040101010101" pitchFamily="2" charset="-122"/>
              </a:rPr>
              <a:t>ob</a:t>
            </a:r>
            <a:endParaRPr kumimoji="1" lang="en-US" altLang="zh-CN" sz="2400" b="1" i="1" dirty="0">
              <a:solidFill>
                <a:srgbClr val="0000FF"/>
              </a:solidFill>
              <a:latin typeface="Times New Roman" panose="02020603050405020304" pitchFamily="18" charset="0"/>
              <a:ea typeface="华文楷体" panose="02010600040101010101" pitchFamily="2" charset="-122"/>
            </a:endParaRPr>
          </a:p>
        </p:txBody>
      </p:sp>
      <p:sp>
        <p:nvSpPr>
          <p:cNvPr id="198959" name="Rectangle 303"/>
          <p:cNvSpPr>
            <a:spLocks noChangeArrowheads="1"/>
          </p:cNvSpPr>
          <p:nvPr/>
        </p:nvSpPr>
        <p:spPr bwMode="auto">
          <a:xfrm>
            <a:off x="711982" y="3747539"/>
            <a:ext cx="3944609" cy="462307"/>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b="1" dirty="0">
                <a:solidFill>
                  <a:srgbClr val="FF0000"/>
                </a:solidFill>
                <a:latin typeface="楷体" panose="02010609060101010101" pitchFamily="49" charset="-122"/>
                <a:ea typeface="楷体" panose="02010609060101010101" pitchFamily="49" charset="-122"/>
              </a:rPr>
              <a:t>比例极限</a:t>
            </a:r>
            <a:r>
              <a:rPr kumimoji="1" lang="en-US" altLang="zh-CN" b="1" dirty="0">
                <a:solidFill>
                  <a:srgbClr val="FF0000"/>
                </a:solidFill>
                <a:latin typeface="Times New Roman" panose="02020603050405020304" pitchFamily="18" charset="0"/>
                <a:ea typeface="华文楷体" panose="02010600040101010101" pitchFamily="2" charset="-122"/>
              </a:rPr>
              <a:t>(</a:t>
            </a:r>
            <a:r>
              <a:rPr kumimoji="1" lang="en-US" altLang="zh-CN" sz="2000" dirty="0">
                <a:solidFill>
                  <a:srgbClr val="FF0000"/>
                </a:solidFill>
                <a:latin typeface="Times New Roman" panose="02020603050405020304" pitchFamily="18" charset="0"/>
                <a:ea typeface="华文楷体" panose="02010600040101010101" pitchFamily="2" charset="-122"/>
              </a:rPr>
              <a:t>Proportional limit</a:t>
            </a:r>
            <a:r>
              <a:rPr kumimoji="1" lang="en-US" altLang="zh-CN" b="1" dirty="0">
                <a:solidFill>
                  <a:srgbClr val="FF0000"/>
                </a:solidFill>
                <a:latin typeface="Times New Roman" panose="02020603050405020304" pitchFamily="18" charset="0"/>
                <a:ea typeface="华文楷体" panose="02010600040101010101" pitchFamily="2" charset="-122"/>
              </a:rPr>
              <a:t>)</a:t>
            </a:r>
          </a:p>
        </p:txBody>
      </p:sp>
      <p:graphicFrame>
        <p:nvGraphicFramePr>
          <p:cNvPr id="198960" name="Object 304"/>
          <p:cNvGraphicFramePr>
            <a:graphicFrameLocks/>
          </p:cNvGraphicFramePr>
          <p:nvPr>
            <p:extLst>
              <p:ext uri="{D42A27DB-BD31-4B8C-83A1-F6EECF244321}">
                <p14:modId xmlns:p14="http://schemas.microsoft.com/office/powerpoint/2010/main" val="327058361"/>
              </p:ext>
            </p:extLst>
          </p:nvPr>
        </p:nvGraphicFramePr>
        <p:xfrm>
          <a:off x="4102099" y="3804877"/>
          <a:ext cx="317500" cy="434975"/>
        </p:xfrm>
        <a:graphic>
          <a:graphicData uri="http://schemas.openxmlformats.org/presentationml/2006/ole">
            <mc:AlternateContent xmlns:mc="http://schemas.openxmlformats.org/markup-compatibility/2006">
              <mc:Choice xmlns:v="urn:schemas-microsoft-com:vml" Requires="v">
                <p:oleObj name="Equation" r:id="rId14" imgW="203040" imgH="241200" progId="Equation.DSMT4">
                  <p:embed/>
                </p:oleObj>
              </mc:Choice>
              <mc:Fallback>
                <p:oleObj name="Equation" r:id="rId14" imgW="203040" imgH="241200" progId="Equation.DSMT4">
                  <p:embed/>
                  <p:pic>
                    <p:nvPicPr>
                      <p:cNvPr id="0" name=""/>
                      <p:cNvPicPr>
                        <a:picLocks noChangeArrowheads="1"/>
                      </p:cNvPicPr>
                      <p:nvPr/>
                    </p:nvPicPr>
                    <p:blipFill>
                      <a:blip r:embed="rId15"/>
                      <a:srcRect/>
                      <a:stretch>
                        <a:fillRect/>
                      </a:stretch>
                    </p:blipFill>
                    <p:spPr bwMode="auto">
                      <a:xfrm>
                        <a:off x="4102099" y="3804877"/>
                        <a:ext cx="317500" cy="434975"/>
                      </a:xfrm>
                      <a:prstGeom prst="rect">
                        <a:avLst/>
                      </a:prstGeom>
                      <a:noFill/>
                      <a:ln>
                        <a:noFill/>
                      </a:ln>
                      <a:effectLst/>
                    </p:spPr>
                  </p:pic>
                </p:oleObj>
              </mc:Fallback>
            </mc:AlternateContent>
          </a:graphicData>
        </a:graphic>
      </p:graphicFrame>
      <p:sp>
        <p:nvSpPr>
          <p:cNvPr id="198961" name="Rectangle 305"/>
          <p:cNvSpPr>
            <a:spLocks noChangeArrowheads="1"/>
          </p:cNvSpPr>
          <p:nvPr/>
        </p:nvSpPr>
        <p:spPr bwMode="auto">
          <a:xfrm>
            <a:off x="744809" y="5624324"/>
            <a:ext cx="2928937" cy="462307"/>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b="1" dirty="0">
                <a:solidFill>
                  <a:srgbClr val="FF0000"/>
                </a:solidFill>
                <a:latin typeface="楷体" panose="02010609060101010101" pitchFamily="49" charset="-122"/>
                <a:ea typeface="楷体" panose="02010609060101010101" pitchFamily="49" charset="-122"/>
              </a:rPr>
              <a:t>弹性极限</a:t>
            </a:r>
            <a:r>
              <a:rPr kumimoji="1" lang="en-US" altLang="zh-CN" sz="2000" b="1" dirty="0">
                <a:solidFill>
                  <a:srgbClr val="FF0000"/>
                </a:solidFill>
                <a:latin typeface="Times New Roman" panose="02020603050405020304" pitchFamily="18" charset="0"/>
                <a:ea typeface="华文楷体" panose="02010600040101010101" pitchFamily="2" charset="-122"/>
              </a:rPr>
              <a:t>(</a:t>
            </a:r>
            <a:r>
              <a:rPr kumimoji="1" lang="en-US" altLang="zh-CN" sz="2000" dirty="0">
                <a:solidFill>
                  <a:srgbClr val="FF0000"/>
                </a:solidFill>
                <a:latin typeface="Times New Roman" panose="02020603050405020304" pitchFamily="18" charset="0"/>
                <a:ea typeface="华文楷体" panose="02010600040101010101" pitchFamily="2" charset="-122"/>
              </a:rPr>
              <a:t>Elastic limit</a:t>
            </a:r>
            <a:r>
              <a:rPr kumimoji="1" lang="en-US" altLang="zh-CN" sz="2000" b="1" dirty="0">
                <a:solidFill>
                  <a:srgbClr val="FF0000"/>
                </a:solidFill>
                <a:latin typeface="Times New Roman" panose="02020603050405020304" pitchFamily="18" charset="0"/>
                <a:ea typeface="华文楷体" panose="02010600040101010101" pitchFamily="2" charset="-122"/>
              </a:rPr>
              <a:t>)</a:t>
            </a:r>
          </a:p>
        </p:txBody>
      </p:sp>
      <p:graphicFrame>
        <p:nvGraphicFramePr>
          <p:cNvPr id="198962" name="Object 306"/>
          <p:cNvGraphicFramePr>
            <a:graphicFrameLocks/>
          </p:cNvGraphicFramePr>
          <p:nvPr>
            <p:extLst>
              <p:ext uri="{D42A27DB-BD31-4B8C-83A1-F6EECF244321}">
                <p14:modId xmlns:p14="http://schemas.microsoft.com/office/powerpoint/2010/main" val="707288358"/>
              </p:ext>
            </p:extLst>
          </p:nvPr>
        </p:nvGraphicFramePr>
        <p:xfrm>
          <a:off x="3513680" y="5618939"/>
          <a:ext cx="374238" cy="473075"/>
        </p:xfrm>
        <a:graphic>
          <a:graphicData uri="http://schemas.openxmlformats.org/presentationml/2006/ole">
            <mc:AlternateContent xmlns:mc="http://schemas.openxmlformats.org/markup-compatibility/2006">
              <mc:Choice xmlns:v="urn:schemas-microsoft-com:vml" Requires="v">
                <p:oleObj name="Equation" r:id="rId16" imgW="190440" imgH="228600" progId="Equation.DSMT4">
                  <p:embed/>
                </p:oleObj>
              </mc:Choice>
              <mc:Fallback>
                <p:oleObj name="Equation" r:id="rId16" imgW="190440" imgH="228600" progId="Equation.DSMT4">
                  <p:embed/>
                  <p:pic>
                    <p:nvPicPr>
                      <p:cNvPr id="0" name=""/>
                      <p:cNvPicPr>
                        <a:picLocks noChangeArrowheads="1"/>
                      </p:cNvPicPr>
                      <p:nvPr/>
                    </p:nvPicPr>
                    <p:blipFill>
                      <a:blip r:embed="rId17"/>
                      <a:srcRect/>
                      <a:stretch>
                        <a:fillRect/>
                      </a:stretch>
                    </p:blipFill>
                    <p:spPr bwMode="auto">
                      <a:xfrm>
                        <a:off x="3513680" y="5618939"/>
                        <a:ext cx="374238" cy="473075"/>
                      </a:xfrm>
                      <a:prstGeom prst="rect">
                        <a:avLst/>
                      </a:prstGeom>
                      <a:noFill/>
                      <a:ln>
                        <a:noFill/>
                      </a:ln>
                      <a:effectLst/>
                    </p:spPr>
                  </p:pic>
                </p:oleObj>
              </mc:Fallback>
            </mc:AlternateContent>
          </a:graphicData>
        </a:graphic>
      </p:graphicFrame>
      <p:graphicFrame>
        <p:nvGraphicFramePr>
          <p:cNvPr id="198963" name="Object 307"/>
          <p:cNvGraphicFramePr>
            <a:graphicFrameLocks/>
          </p:cNvGraphicFramePr>
          <p:nvPr>
            <p:extLst>
              <p:ext uri="{D42A27DB-BD31-4B8C-83A1-F6EECF244321}">
                <p14:modId xmlns:p14="http://schemas.microsoft.com/office/powerpoint/2010/main" val="1729189729"/>
              </p:ext>
            </p:extLst>
          </p:nvPr>
        </p:nvGraphicFramePr>
        <p:xfrm>
          <a:off x="1544944" y="4260442"/>
          <a:ext cx="2184400" cy="447675"/>
        </p:xfrm>
        <a:graphic>
          <a:graphicData uri="http://schemas.openxmlformats.org/presentationml/2006/ole">
            <mc:AlternateContent xmlns:mc="http://schemas.openxmlformats.org/markup-compatibility/2006">
              <mc:Choice xmlns:v="urn:schemas-microsoft-com:vml" Requires="v">
                <p:oleObj name="Equation" r:id="rId18" imgW="990360" imgH="215640" progId="Equation.DSMT4">
                  <p:embed/>
                </p:oleObj>
              </mc:Choice>
              <mc:Fallback>
                <p:oleObj name="Equation" r:id="rId18" imgW="990360" imgH="215640" progId="Equation.DSMT4">
                  <p:embed/>
                  <p:pic>
                    <p:nvPicPr>
                      <p:cNvPr id="0" name=""/>
                      <p:cNvPicPr>
                        <a:picLocks noChangeArrowheads="1"/>
                      </p:cNvPicPr>
                      <p:nvPr/>
                    </p:nvPicPr>
                    <p:blipFill>
                      <a:blip r:embed="rId19"/>
                      <a:srcRect/>
                      <a:stretch>
                        <a:fillRect/>
                      </a:stretch>
                    </p:blipFill>
                    <p:spPr bwMode="auto">
                      <a:xfrm>
                        <a:off x="1544944" y="4260442"/>
                        <a:ext cx="2184400" cy="4476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8964" name="Rectangle 308"/>
          <p:cNvSpPr>
            <a:spLocks noChangeArrowheads="1"/>
          </p:cNvSpPr>
          <p:nvPr/>
        </p:nvSpPr>
        <p:spPr bwMode="auto">
          <a:xfrm>
            <a:off x="994558" y="4669605"/>
            <a:ext cx="4317671" cy="462307"/>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b="1" dirty="0">
                <a:solidFill>
                  <a:srgbClr val="FF0000"/>
                </a:solidFill>
                <a:latin typeface="楷体" panose="02010609060101010101" pitchFamily="49" charset="-122"/>
                <a:ea typeface="楷体" panose="02010609060101010101" pitchFamily="49" charset="-122"/>
              </a:rPr>
              <a:t>弹性模量</a:t>
            </a:r>
            <a:r>
              <a:rPr kumimoji="1" lang="en-US" altLang="zh-CN" i="1" dirty="0">
                <a:solidFill>
                  <a:srgbClr val="FF0000"/>
                </a:solidFill>
                <a:latin typeface="+mn-lt"/>
                <a:ea typeface="楷体" panose="02010609060101010101" pitchFamily="49" charset="-122"/>
              </a:rPr>
              <a:t>E</a:t>
            </a:r>
            <a:r>
              <a:rPr kumimoji="1" lang="en-US" altLang="zh-CN" sz="2000" b="1" dirty="0">
                <a:solidFill>
                  <a:srgbClr val="FF0000"/>
                </a:solidFill>
                <a:latin typeface="Times New Roman" panose="02020603050405020304" pitchFamily="18" charset="0"/>
                <a:ea typeface="华文楷体" panose="02010600040101010101" pitchFamily="2" charset="-122"/>
              </a:rPr>
              <a:t>(</a:t>
            </a:r>
            <a:r>
              <a:rPr kumimoji="1" lang="en-US" altLang="zh-CN" sz="2000" dirty="0">
                <a:solidFill>
                  <a:srgbClr val="FF0000"/>
                </a:solidFill>
                <a:latin typeface="Times New Roman" panose="02020603050405020304" pitchFamily="18" charset="0"/>
                <a:ea typeface="华文楷体" panose="02010600040101010101" pitchFamily="2" charset="-122"/>
              </a:rPr>
              <a:t>Modulus of elasticity</a:t>
            </a:r>
            <a:r>
              <a:rPr kumimoji="1" lang="en-US" altLang="zh-CN" sz="2000" b="1" dirty="0">
                <a:solidFill>
                  <a:srgbClr val="FF0000"/>
                </a:solidFill>
                <a:latin typeface="Times New Roman" panose="02020603050405020304" pitchFamily="18" charset="0"/>
                <a:ea typeface="华文楷体" panose="02010600040101010101" pitchFamily="2" charset="-122"/>
              </a:rPr>
              <a:t>)</a:t>
            </a:r>
          </a:p>
        </p:txBody>
      </p:sp>
      <p:sp>
        <p:nvSpPr>
          <p:cNvPr id="2" name="文本框 1"/>
          <p:cNvSpPr txBox="1"/>
          <p:nvPr/>
        </p:nvSpPr>
        <p:spPr>
          <a:xfrm>
            <a:off x="1009450" y="1143550"/>
            <a:ext cx="2664296" cy="461665"/>
          </a:xfrm>
          <a:prstGeom prst="rect">
            <a:avLst/>
          </a:prstGeom>
          <a:noFill/>
        </p:spPr>
        <p:txBody>
          <a:bodyPr wrap="square" rtlCol="0">
            <a:spAutoFit/>
          </a:bodyPr>
          <a:lstStyle/>
          <a:p>
            <a:r>
              <a:rPr lang="zh-CN" altLang="en-US" b="1" dirty="0">
                <a:latin typeface="楷体" panose="02010609060101010101" pitchFamily="49" charset="-122"/>
                <a:ea typeface="楷体" panose="02010609060101010101" pitchFamily="49" charset="-122"/>
              </a:rPr>
              <a:t>低碳钢</a:t>
            </a:r>
            <a:r>
              <a:rPr lang="zh-CN" altLang="en-US" dirty="0"/>
              <a:t>：</a:t>
            </a:r>
            <a:r>
              <a:rPr lang="en-US" altLang="zh-CN" dirty="0"/>
              <a:t>C&lt;0.25%</a:t>
            </a:r>
            <a:endParaRPr lang="zh-CN" altLang="en-US" dirty="0"/>
          </a:p>
        </p:txBody>
      </p:sp>
      <p:sp>
        <p:nvSpPr>
          <p:cNvPr id="52" name="文本框 51"/>
          <p:cNvSpPr txBox="1"/>
          <p:nvPr/>
        </p:nvSpPr>
        <p:spPr>
          <a:xfrm>
            <a:off x="1009450" y="1659785"/>
            <a:ext cx="2664296" cy="461665"/>
          </a:xfrm>
          <a:prstGeom prst="rect">
            <a:avLst/>
          </a:prstGeom>
          <a:noFill/>
        </p:spPr>
        <p:txBody>
          <a:bodyPr wrap="square" rtlCol="0">
            <a:spAutoFit/>
          </a:bodyPr>
          <a:lstStyle/>
          <a:p>
            <a:r>
              <a:rPr lang="zh-CN" altLang="en-US" b="1" dirty="0">
                <a:latin typeface="楷体" panose="02010609060101010101" pitchFamily="49" charset="-122"/>
                <a:ea typeface="楷体" panose="02010609060101010101" pitchFamily="49" charset="-122"/>
              </a:rPr>
              <a:t>拉伸图</a:t>
            </a:r>
            <a:r>
              <a:rPr lang="zh-CN" altLang="en-US" dirty="0"/>
              <a:t>：</a:t>
            </a:r>
            <a:r>
              <a:rPr lang="en-US" altLang="zh-CN" i="1" dirty="0"/>
              <a:t>F </a:t>
            </a:r>
            <a:r>
              <a:rPr lang="en-US" altLang="zh-CN" b="1" dirty="0"/>
              <a:t>~ </a:t>
            </a:r>
            <a:r>
              <a:rPr lang="el-GR" altLang="zh-CN" dirty="0"/>
              <a:t>Δ</a:t>
            </a:r>
            <a:r>
              <a:rPr lang="en-US" altLang="zh-CN" i="1" dirty="0"/>
              <a:t>l</a:t>
            </a:r>
            <a:endParaRPr lang="zh-CN" altLang="en-US" i="1" dirty="0"/>
          </a:p>
        </p:txBody>
      </p:sp>
      <p:sp>
        <p:nvSpPr>
          <p:cNvPr id="53" name="文本框 52"/>
          <p:cNvSpPr txBox="1"/>
          <p:nvPr/>
        </p:nvSpPr>
        <p:spPr>
          <a:xfrm>
            <a:off x="983621" y="2158540"/>
            <a:ext cx="3140783" cy="461665"/>
          </a:xfrm>
          <a:prstGeom prst="rect">
            <a:avLst/>
          </a:prstGeom>
          <a:noFill/>
        </p:spPr>
        <p:txBody>
          <a:bodyPr wrap="square" rtlCol="0">
            <a:spAutoFit/>
          </a:bodyPr>
          <a:lstStyle/>
          <a:p>
            <a:r>
              <a:rPr lang="zh-CN" altLang="en-US" b="1" dirty="0">
                <a:latin typeface="楷体" panose="02010609060101010101" pitchFamily="49" charset="-122"/>
                <a:ea typeface="楷体" panose="02010609060101010101" pitchFamily="49" charset="-122"/>
              </a:rPr>
              <a:t>应力应变曲线</a:t>
            </a:r>
            <a:r>
              <a:rPr lang="zh-CN" altLang="en-US" dirty="0"/>
              <a:t>：</a:t>
            </a:r>
            <a:r>
              <a:rPr lang="el-GR" altLang="zh-CN" i="1" dirty="0"/>
              <a:t>σ</a:t>
            </a:r>
            <a:r>
              <a:rPr lang="en-US" altLang="zh-CN" i="1" dirty="0"/>
              <a:t> </a:t>
            </a:r>
            <a:r>
              <a:rPr lang="en-US" altLang="zh-CN" b="1" dirty="0"/>
              <a:t>~</a:t>
            </a:r>
            <a:r>
              <a:rPr lang="en-US" altLang="zh-CN" dirty="0"/>
              <a:t> </a:t>
            </a:r>
            <a:r>
              <a:rPr lang="el-GR" altLang="zh-CN" i="1" dirty="0"/>
              <a:t>ε</a:t>
            </a:r>
            <a:endParaRPr lang="zh-CN" altLang="en-US" i="1" dirty="0"/>
          </a:p>
        </p:txBody>
      </p:sp>
      <p:sp>
        <p:nvSpPr>
          <p:cNvPr id="54" name="文本框 53"/>
          <p:cNvSpPr txBox="1"/>
          <p:nvPr/>
        </p:nvSpPr>
        <p:spPr>
          <a:xfrm>
            <a:off x="4465974" y="4258585"/>
            <a:ext cx="1571860" cy="461665"/>
          </a:xfrm>
          <a:prstGeom prst="rect">
            <a:avLst/>
          </a:prstGeom>
          <a:noFill/>
        </p:spPr>
        <p:txBody>
          <a:bodyPr wrap="square" rtlCol="0">
            <a:spAutoFit/>
          </a:bodyPr>
          <a:lstStyle/>
          <a:p>
            <a:r>
              <a:rPr lang="zh-CN" altLang="en-US" b="1" dirty="0">
                <a:latin typeface="楷体" panose="02010609060101010101" pitchFamily="49" charset="-122"/>
                <a:ea typeface="楷体" panose="02010609060101010101" pitchFamily="49" charset="-122"/>
              </a:rPr>
              <a:t>胡克定律</a:t>
            </a:r>
            <a:endParaRPr lang="zh-CN" altLang="en-US" i="1" dirty="0"/>
          </a:p>
        </p:txBody>
      </p:sp>
      <p:sp>
        <p:nvSpPr>
          <p:cNvPr id="55" name="Rectangle 302"/>
          <p:cNvSpPr>
            <a:spLocks noChangeArrowheads="1"/>
          </p:cNvSpPr>
          <p:nvPr/>
        </p:nvSpPr>
        <p:spPr bwMode="auto">
          <a:xfrm>
            <a:off x="1108735" y="3255226"/>
            <a:ext cx="2518039"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Clr>
                <a:srgbClr val="3333FF"/>
              </a:buClr>
            </a:pPr>
            <a:r>
              <a:rPr lang="en-US" altLang="zh-CN" b="1" i="1" dirty="0" err="1">
                <a:latin typeface="Times New Roman" panose="02020603050405020304" pitchFamily="18" charset="0"/>
                <a:ea typeface="华文楷体" panose="02010600040101010101" pitchFamily="2" charset="-122"/>
              </a:rPr>
              <a:t>oa</a:t>
            </a:r>
            <a:r>
              <a:rPr lang="en-US" altLang="zh-CN" b="1" dirty="0">
                <a:latin typeface="Times New Roman" panose="02020603050405020304" pitchFamily="18" charset="0"/>
                <a:ea typeface="华文楷体" panose="02010600040101010101" pitchFamily="2" charset="-122"/>
              </a:rPr>
              <a:t>-</a:t>
            </a:r>
            <a:r>
              <a:rPr lang="zh-CN" altLang="en-US" b="1" dirty="0">
                <a:latin typeface="Times New Roman" panose="02020603050405020304" pitchFamily="18" charset="0"/>
                <a:ea typeface="华文楷体" panose="02010600040101010101" pitchFamily="2" charset="-122"/>
              </a:rPr>
              <a:t>线性</a:t>
            </a:r>
            <a:r>
              <a:rPr kumimoji="1" lang="zh-CN" altLang="en-US" sz="2400" b="1" dirty="0">
                <a:latin typeface="Times New Roman" panose="02020603050405020304" pitchFamily="18" charset="0"/>
                <a:ea typeface="华文楷体" panose="02010600040101010101" pitchFamily="2" charset="-122"/>
              </a:rPr>
              <a:t>弹性阶段</a:t>
            </a:r>
            <a:endParaRPr kumimoji="1" lang="en-US" altLang="zh-CN" sz="2400" b="1" i="1" dirty="0">
              <a:latin typeface="Times New Roman" panose="02020603050405020304" pitchFamily="18" charset="0"/>
              <a:ea typeface="华文楷体" panose="02010600040101010101" pitchFamily="2" charset="-122"/>
            </a:endParaRPr>
          </a:p>
        </p:txBody>
      </p:sp>
      <p:sp>
        <p:nvSpPr>
          <p:cNvPr id="56" name="Rectangle 302"/>
          <p:cNvSpPr>
            <a:spLocks noChangeArrowheads="1"/>
          </p:cNvSpPr>
          <p:nvPr/>
        </p:nvSpPr>
        <p:spPr bwMode="auto">
          <a:xfrm>
            <a:off x="1155707" y="5135144"/>
            <a:ext cx="2946392"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Clr>
                <a:srgbClr val="3333FF"/>
              </a:buClr>
            </a:pPr>
            <a:r>
              <a:rPr lang="en-US" altLang="zh-CN" b="1" i="1" dirty="0">
                <a:latin typeface="Times New Roman" panose="02020603050405020304" pitchFamily="18" charset="0"/>
                <a:ea typeface="华文楷体" panose="02010600040101010101" pitchFamily="2" charset="-122"/>
              </a:rPr>
              <a:t>ab</a:t>
            </a:r>
            <a:r>
              <a:rPr lang="en-US" altLang="zh-CN" b="1" dirty="0">
                <a:latin typeface="Times New Roman" panose="02020603050405020304" pitchFamily="18" charset="0"/>
                <a:ea typeface="华文楷体" panose="02010600040101010101" pitchFamily="2" charset="-122"/>
              </a:rPr>
              <a:t>-</a:t>
            </a:r>
            <a:r>
              <a:rPr lang="zh-CN" altLang="en-US" b="1" dirty="0">
                <a:latin typeface="Times New Roman" panose="02020603050405020304" pitchFamily="18" charset="0"/>
                <a:ea typeface="华文楷体" panose="02010600040101010101" pitchFamily="2" charset="-122"/>
              </a:rPr>
              <a:t>非线性</a:t>
            </a:r>
            <a:r>
              <a:rPr kumimoji="1" lang="zh-CN" altLang="en-US" sz="2400" b="1" dirty="0">
                <a:latin typeface="Times New Roman" panose="02020603050405020304" pitchFamily="18" charset="0"/>
                <a:ea typeface="华文楷体" panose="02010600040101010101" pitchFamily="2" charset="-122"/>
              </a:rPr>
              <a:t>弹性阶段</a:t>
            </a:r>
            <a:endParaRPr kumimoji="1" lang="en-US" altLang="zh-CN" sz="2400" b="1" i="1" dirty="0">
              <a:latin typeface="Times New Roman" panose="02020603050405020304" pitchFamily="18" charset="0"/>
              <a:ea typeface="华文楷体" panose="02010600040101010101" pitchFamily="2" charset="-122"/>
            </a:endParaRPr>
          </a:p>
        </p:txBody>
      </p:sp>
      <p:graphicFrame>
        <p:nvGraphicFramePr>
          <p:cNvPr id="57" name="Object 306"/>
          <p:cNvGraphicFramePr>
            <a:graphicFrameLocks/>
          </p:cNvGraphicFramePr>
          <p:nvPr>
            <p:extLst>
              <p:ext uri="{D42A27DB-BD31-4B8C-83A1-F6EECF244321}">
                <p14:modId xmlns:p14="http://schemas.microsoft.com/office/powerpoint/2010/main" val="334586302"/>
              </p:ext>
            </p:extLst>
          </p:nvPr>
        </p:nvGraphicFramePr>
        <p:xfrm>
          <a:off x="5090503" y="5403643"/>
          <a:ext cx="1237201" cy="621484"/>
        </p:xfrm>
        <a:graphic>
          <a:graphicData uri="http://schemas.openxmlformats.org/presentationml/2006/ole">
            <mc:AlternateContent xmlns:mc="http://schemas.openxmlformats.org/markup-compatibility/2006">
              <mc:Choice xmlns:v="urn:schemas-microsoft-com:vml" Requires="v">
                <p:oleObj name="Equation" r:id="rId20" imgW="507960" imgH="241200" progId="Equation.DSMT4">
                  <p:embed/>
                </p:oleObj>
              </mc:Choice>
              <mc:Fallback>
                <p:oleObj name="Equation" r:id="rId20" imgW="507960" imgH="241200" progId="Equation.DSMT4">
                  <p:embed/>
                  <p:pic>
                    <p:nvPicPr>
                      <p:cNvPr id="0" name=""/>
                      <p:cNvPicPr>
                        <a:picLocks noChangeArrowheads="1"/>
                      </p:cNvPicPr>
                      <p:nvPr/>
                    </p:nvPicPr>
                    <p:blipFill>
                      <a:blip r:embed="rId21"/>
                      <a:srcRect/>
                      <a:stretch>
                        <a:fillRect/>
                      </a:stretch>
                    </p:blipFill>
                    <p:spPr bwMode="auto">
                      <a:xfrm>
                        <a:off x="5090503" y="5403643"/>
                        <a:ext cx="1237201" cy="621484"/>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438025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fade">
                                      <p:cBhvr>
                                        <p:cTn id="12" dur="500"/>
                                        <p:tgtEl>
                                          <p:spTgt spid="5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198912"/>
                                        </p:tgtEl>
                                        <p:attrNameLst>
                                          <p:attrName>style.visibility</p:attrName>
                                        </p:attrNameLst>
                                      </p:cBhvr>
                                      <p:to>
                                        <p:strVal val="visible"/>
                                      </p:to>
                                    </p:set>
                                    <p:animEffect transition="in" filter="box(out)">
                                      <p:cBhvr>
                                        <p:cTn id="17" dur="500"/>
                                        <p:tgtEl>
                                          <p:spTgt spid="198912"/>
                                        </p:tgtEl>
                                      </p:cBhvr>
                                    </p:animEffect>
                                  </p:childTnLst>
                                  <p:subTnLst>
                                    <p:set>
                                      <p:cBhvr override="childStyle">
                                        <p:cTn dur="1" fill="hold" display="0" masterRel="nextClick" afterEffect="1"/>
                                        <p:tgtEl>
                                          <p:spTgt spid="198912"/>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3"/>
                                        </p:tgtEl>
                                        <p:attrNameLst>
                                          <p:attrName>style.visibility</p:attrName>
                                        </p:attrNameLst>
                                      </p:cBhvr>
                                      <p:to>
                                        <p:strVal val="visible"/>
                                      </p:to>
                                    </p:set>
                                    <p:animEffect transition="in" filter="fade">
                                      <p:cBhvr>
                                        <p:cTn id="22" dur="500"/>
                                        <p:tgtEl>
                                          <p:spTgt spid="53"/>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198900"/>
                                        </p:tgtEl>
                                        <p:attrNameLst>
                                          <p:attrName>style.visibility</p:attrName>
                                        </p:attrNameLst>
                                      </p:cBhvr>
                                      <p:to>
                                        <p:strVal val="visible"/>
                                      </p:to>
                                    </p:set>
                                    <p:animEffect transition="in" filter="box(out)">
                                      <p:cBhvr>
                                        <p:cTn id="27" dur="500"/>
                                        <p:tgtEl>
                                          <p:spTgt spid="198900"/>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198942"/>
                                        </p:tgtEl>
                                        <p:attrNameLst>
                                          <p:attrName>style.visibility</p:attrName>
                                        </p:attrNameLst>
                                      </p:cBhvr>
                                      <p:to>
                                        <p:strVal val="visible"/>
                                      </p:to>
                                    </p:set>
                                    <p:animEffect transition="in" filter="box(out)">
                                      <p:cBhvr>
                                        <p:cTn id="32" dur="500"/>
                                        <p:tgtEl>
                                          <p:spTgt spid="198942"/>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nodeType="clickEffect">
                                  <p:stCondLst>
                                    <p:cond delay="0"/>
                                  </p:stCondLst>
                                  <p:childTnLst>
                                    <p:set>
                                      <p:cBhvr>
                                        <p:cTn id="36" dur="1" fill="hold">
                                          <p:stCondLst>
                                            <p:cond delay="0"/>
                                          </p:stCondLst>
                                        </p:cTn>
                                        <p:tgtEl>
                                          <p:spTgt spid="198945"/>
                                        </p:tgtEl>
                                        <p:attrNameLst>
                                          <p:attrName>style.visibility</p:attrName>
                                        </p:attrNameLst>
                                      </p:cBhvr>
                                      <p:to>
                                        <p:strVal val="visible"/>
                                      </p:to>
                                    </p:set>
                                    <p:animEffect transition="in" filter="box(out)">
                                      <p:cBhvr>
                                        <p:cTn id="37" dur="500"/>
                                        <p:tgtEl>
                                          <p:spTgt spid="198945"/>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198958"/>
                                        </p:tgtEl>
                                        <p:attrNameLst>
                                          <p:attrName>style.visibility</p:attrName>
                                        </p:attrNameLst>
                                      </p:cBhvr>
                                      <p:to>
                                        <p:strVal val="visible"/>
                                      </p:to>
                                    </p:set>
                                    <p:animEffect transition="in" filter="box(out)">
                                      <p:cBhvr>
                                        <p:cTn id="42" dur="500"/>
                                        <p:tgtEl>
                                          <p:spTgt spid="198958"/>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55"/>
                                        </p:tgtEl>
                                        <p:attrNameLst>
                                          <p:attrName>style.visibility</p:attrName>
                                        </p:attrNameLst>
                                      </p:cBhvr>
                                      <p:to>
                                        <p:strVal val="visible"/>
                                      </p:to>
                                    </p:set>
                                    <p:animEffect transition="in" filter="box(out)">
                                      <p:cBhvr>
                                        <p:cTn id="47" dur="500"/>
                                        <p:tgtEl>
                                          <p:spTgt spid="55"/>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32" fill="hold" nodeType="clickEffect">
                                  <p:stCondLst>
                                    <p:cond delay="0"/>
                                  </p:stCondLst>
                                  <p:childTnLst>
                                    <p:set>
                                      <p:cBhvr>
                                        <p:cTn id="51" dur="1" fill="hold">
                                          <p:stCondLst>
                                            <p:cond delay="0"/>
                                          </p:stCondLst>
                                        </p:cTn>
                                        <p:tgtEl>
                                          <p:spTgt spid="198921"/>
                                        </p:tgtEl>
                                        <p:attrNameLst>
                                          <p:attrName>style.visibility</p:attrName>
                                        </p:attrNameLst>
                                      </p:cBhvr>
                                      <p:to>
                                        <p:strVal val="visible"/>
                                      </p:to>
                                    </p:set>
                                    <p:animEffect transition="in" filter="box(out)">
                                      <p:cBhvr>
                                        <p:cTn id="52" dur="500"/>
                                        <p:tgtEl>
                                          <p:spTgt spid="198921"/>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98959"/>
                                        </p:tgtEl>
                                        <p:attrNameLst>
                                          <p:attrName>style.visibility</p:attrName>
                                        </p:attrNameLst>
                                      </p:cBhvr>
                                      <p:to>
                                        <p:strVal val="visible"/>
                                      </p:to>
                                    </p:set>
                                    <p:animEffect transition="in" filter="blinds(horizontal)">
                                      <p:cBhvr>
                                        <p:cTn id="57" dur="500"/>
                                        <p:tgtEl>
                                          <p:spTgt spid="198959"/>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198960"/>
                                        </p:tgtEl>
                                        <p:attrNameLst>
                                          <p:attrName>style.visibility</p:attrName>
                                        </p:attrNameLst>
                                      </p:cBhvr>
                                      <p:to>
                                        <p:strVal val="visible"/>
                                      </p:to>
                                    </p:set>
                                    <p:animEffect transition="in" filter="blinds(horizontal)">
                                      <p:cBhvr>
                                        <p:cTn id="62" dur="500"/>
                                        <p:tgtEl>
                                          <p:spTgt spid="198960"/>
                                        </p:tgtEl>
                                      </p:cBhvr>
                                    </p:animEffect>
                                  </p:childTnLst>
                                </p:cTn>
                              </p:par>
                            </p:childTnLst>
                          </p:cTn>
                        </p:par>
                      </p:childTnLst>
                    </p:cTn>
                  </p:par>
                  <p:par>
                    <p:cTn id="63" fill="hold">
                      <p:stCondLst>
                        <p:cond delay="indefinite"/>
                      </p:stCondLst>
                      <p:childTnLst>
                        <p:par>
                          <p:cTn id="64" fill="hold">
                            <p:stCondLst>
                              <p:cond delay="0"/>
                            </p:stCondLst>
                            <p:childTnLst>
                              <p:par>
                                <p:cTn id="65" presetID="4" presetClass="entr" presetSubtype="32" fill="hold" nodeType="clickEffect">
                                  <p:stCondLst>
                                    <p:cond delay="0"/>
                                  </p:stCondLst>
                                  <p:childTnLst>
                                    <p:set>
                                      <p:cBhvr>
                                        <p:cTn id="66" dur="1" fill="hold">
                                          <p:stCondLst>
                                            <p:cond delay="0"/>
                                          </p:stCondLst>
                                        </p:cTn>
                                        <p:tgtEl>
                                          <p:spTgt spid="198939"/>
                                        </p:tgtEl>
                                        <p:attrNameLst>
                                          <p:attrName>style.visibility</p:attrName>
                                        </p:attrNameLst>
                                      </p:cBhvr>
                                      <p:to>
                                        <p:strVal val="visible"/>
                                      </p:to>
                                    </p:set>
                                    <p:animEffect transition="in" filter="box(out)">
                                      <p:cBhvr>
                                        <p:cTn id="67" dur="500"/>
                                        <p:tgtEl>
                                          <p:spTgt spid="198939"/>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198963"/>
                                        </p:tgtEl>
                                        <p:attrNameLst>
                                          <p:attrName>style.visibility</p:attrName>
                                        </p:attrNameLst>
                                      </p:cBhvr>
                                      <p:to>
                                        <p:strVal val="visible"/>
                                      </p:to>
                                    </p:set>
                                    <p:animEffect transition="in" filter="blinds(horizontal)">
                                      <p:cBhvr>
                                        <p:cTn id="72" dur="500"/>
                                        <p:tgtEl>
                                          <p:spTgt spid="198963"/>
                                        </p:tgtEl>
                                      </p:cBhvr>
                                    </p:animEffect>
                                  </p:childTnLst>
                                </p:cTn>
                              </p:par>
                              <p:par>
                                <p:cTn id="73" presetID="3" presetClass="entr" presetSubtype="10" fill="hold" grpId="0" nodeType="withEffect">
                                  <p:stCondLst>
                                    <p:cond delay="0"/>
                                  </p:stCondLst>
                                  <p:childTnLst>
                                    <p:set>
                                      <p:cBhvr>
                                        <p:cTn id="74" dur="1" fill="hold">
                                          <p:stCondLst>
                                            <p:cond delay="0"/>
                                          </p:stCondLst>
                                        </p:cTn>
                                        <p:tgtEl>
                                          <p:spTgt spid="198964"/>
                                        </p:tgtEl>
                                        <p:attrNameLst>
                                          <p:attrName>style.visibility</p:attrName>
                                        </p:attrNameLst>
                                      </p:cBhvr>
                                      <p:to>
                                        <p:strVal val="visible"/>
                                      </p:to>
                                    </p:set>
                                    <p:animEffect transition="in" filter="blinds(horizontal)">
                                      <p:cBhvr>
                                        <p:cTn id="75" dur="500"/>
                                        <p:tgtEl>
                                          <p:spTgt spid="198964"/>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54"/>
                                        </p:tgtEl>
                                        <p:attrNameLst>
                                          <p:attrName>style.visibility</p:attrName>
                                        </p:attrNameLst>
                                      </p:cBhvr>
                                      <p:to>
                                        <p:strVal val="visible"/>
                                      </p:to>
                                    </p:set>
                                    <p:animEffect transition="in" filter="fade">
                                      <p:cBhvr>
                                        <p:cTn id="80" dur="500"/>
                                        <p:tgtEl>
                                          <p:spTgt spid="54"/>
                                        </p:tgtEl>
                                      </p:cBhvr>
                                    </p:animEffect>
                                  </p:childTnLst>
                                </p:cTn>
                              </p:par>
                            </p:childTnLst>
                          </p:cTn>
                        </p:par>
                      </p:childTnLst>
                    </p:cTn>
                  </p:par>
                  <p:par>
                    <p:cTn id="81" fill="hold">
                      <p:stCondLst>
                        <p:cond delay="indefinite"/>
                      </p:stCondLst>
                      <p:childTnLst>
                        <p:par>
                          <p:cTn id="82" fill="hold">
                            <p:stCondLst>
                              <p:cond delay="0"/>
                            </p:stCondLst>
                            <p:childTnLst>
                              <p:par>
                                <p:cTn id="83" presetID="4" presetClass="entr" presetSubtype="32" fill="hold" grpId="0" nodeType="clickEffect">
                                  <p:stCondLst>
                                    <p:cond delay="0"/>
                                  </p:stCondLst>
                                  <p:childTnLst>
                                    <p:set>
                                      <p:cBhvr>
                                        <p:cTn id="84" dur="1" fill="hold">
                                          <p:stCondLst>
                                            <p:cond delay="0"/>
                                          </p:stCondLst>
                                        </p:cTn>
                                        <p:tgtEl>
                                          <p:spTgt spid="56"/>
                                        </p:tgtEl>
                                        <p:attrNameLst>
                                          <p:attrName>style.visibility</p:attrName>
                                        </p:attrNameLst>
                                      </p:cBhvr>
                                      <p:to>
                                        <p:strVal val="visible"/>
                                      </p:to>
                                    </p:set>
                                    <p:animEffect transition="in" filter="box(out)">
                                      <p:cBhvr>
                                        <p:cTn id="85" dur="500"/>
                                        <p:tgtEl>
                                          <p:spTgt spid="56"/>
                                        </p:tgtEl>
                                      </p:cBhvr>
                                    </p:animEffect>
                                  </p:childTnLst>
                                </p:cTn>
                              </p:par>
                            </p:childTnLst>
                          </p:cTn>
                        </p:par>
                      </p:childTnLst>
                    </p:cTn>
                  </p:par>
                  <p:par>
                    <p:cTn id="86" fill="hold">
                      <p:stCondLst>
                        <p:cond delay="indefinite"/>
                      </p:stCondLst>
                      <p:childTnLst>
                        <p:par>
                          <p:cTn id="87" fill="hold">
                            <p:stCondLst>
                              <p:cond delay="0"/>
                            </p:stCondLst>
                            <p:childTnLst>
                              <p:par>
                                <p:cTn id="88" presetID="4" presetClass="entr" presetSubtype="32" fill="hold" nodeType="clickEffect">
                                  <p:stCondLst>
                                    <p:cond delay="0"/>
                                  </p:stCondLst>
                                  <p:childTnLst>
                                    <p:set>
                                      <p:cBhvr>
                                        <p:cTn id="89" dur="1" fill="hold">
                                          <p:stCondLst>
                                            <p:cond delay="0"/>
                                          </p:stCondLst>
                                        </p:cTn>
                                        <p:tgtEl>
                                          <p:spTgt spid="198926"/>
                                        </p:tgtEl>
                                        <p:attrNameLst>
                                          <p:attrName>style.visibility</p:attrName>
                                        </p:attrNameLst>
                                      </p:cBhvr>
                                      <p:to>
                                        <p:strVal val="visible"/>
                                      </p:to>
                                    </p:set>
                                    <p:animEffect transition="in" filter="box(out)">
                                      <p:cBhvr>
                                        <p:cTn id="90" dur="500"/>
                                        <p:tgtEl>
                                          <p:spTgt spid="198926"/>
                                        </p:tgtEl>
                                      </p:cBhvr>
                                    </p:animEffect>
                                  </p:childTnLst>
                                </p:cTn>
                              </p:par>
                            </p:childTnLst>
                          </p:cTn>
                        </p:par>
                      </p:childTnLst>
                    </p:cTn>
                  </p:par>
                  <p:par>
                    <p:cTn id="91" fill="hold">
                      <p:stCondLst>
                        <p:cond delay="indefinite"/>
                      </p:stCondLst>
                      <p:childTnLst>
                        <p:par>
                          <p:cTn id="92" fill="hold">
                            <p:stCondLst>
                              <p:cond delay="0"/>
                            </p:stCondLst>
                            <p:childTnLst>
                              <p:par>
                                <p:cTn id="93" presetID="3" presetClass="entr" presetSubtype="10" fill="hold" grpId="0" nodeType="clickEffect">
                                  <p:stCondLst>
                                    <p:cond delay="0"/>
                                  </p:stCondLst>
                                  <p:childTnLst>
                                    <p:set>
                                      <p:cBhvr>
                                        <p:cTn id="94" dur="1" fill="hold">
                                          <p:stCondLst>
                                            <p:cond delay="0"/>
                                          </p:stCondLst>
                                        </p:cTn>
                                        <p:tgtEl>
                                          <p:spTgt spid="198961"/>
                                        </p:tgtEl>
                                        <p:attrNameLst>
                                          <p:attrName>style.visibility</p:attrName>
                                        </p:attrNameLst>
                                      </p:cBhvr>
                                      <p:to>
                                        <p:strVal val="visible"/>
                                      </p:to>
                                    </p:set>
                                    <p:animEffect transition="in" filter="blinds(horizontal)">
                                      <p:cBhvr>
                                        <p:cTn id="95" dur="500"/>
                                        <p:tgtEl>
                                          <p:spTgt spid="198961"/>
                                        </p:tgtEl>
                                      </p:cBhvr>
                                    </p:animEffect>
                                  </p:childTnLst>
                                </p:cTn>
                              </p:par>
                              <p:par>
                                <p:cTn id="96" presetID="3" presetClass="entr" presetSubtype="10" fill="hold" nodeType="withEffect">
                                  <p:stCondLst>
                                    <p:cond delay="0"/>
                                  </p:stCondLst>
                                  <p:childTnLst>
                                    <p:set>
                                      <p:cBhvr>
                                        <p:cTn id="97" dur="1" fill="hold">
                                          <p:stCondLst>
                                            <p:cond delay="0"/>
                                          </p:stCondLst>
                                        </p:cTn>
                                        <p:tgtEl>
                                          <p:spTgt spid="198962"/>
                                        </p:tgtEl>
                                        <p:attrNameLst>
                                          <p:attrName>style.visibility</p:attrName>
                                        </p:attrNameLst>
                                      </p:cBhvr>
                                      <p:to>
                                        <p:strVal val="visible"/>
                                      </p:to>
                                    </p:set>
                                    <p:animEffect transition="in" filter="blinds(horizontal)">
                                      <p:cBhvr>
                                        <p:cTn id="98" dur="500"/>
                                        <p:tgtEl>
                                          <p:spTgt spid="198962"/>
                                        </p:tgtEl>
                                      </p:cBhvr>
                                    </p:animEffect>
                                  </p:childTnLst>
                                </p:cTn>
                              </p:par>
                            </p:childTnLst>
                          </p:cTn>
                        </p:par>
                      </p:childTnLst>
                    </p:cTn>
                  </p:par>
                  <p:par>
                    <p:cTn id="99" fill="hold">
                      <p:stCondLst>
                        <p:cond delay="indefinite"/>
                      </p:stCondLst>
                      <p:childTnLst>
                        <p:par>
                          <p:cTn id="100" fill="hold">
                            <p:stCondLst>
                              <p:cond delay="0"/>
                            </p:stCondLst>
                            <p:childTnLst>
                              <p:par>
                                <p:cTn id="101" presetID="3" presetClass="entr" presetSubtype="10" fill="hold" nodeType="clickEffect">
                                  <p:stCondLst>
                                    <p:cond delay="0"/>
                                  </p:stCondLst>
                                  <p:childTnLst>
                                    <p:set>
                                      <p:cBhvr>
                                        <p:cTn id="102" dur="1" fill="hold">
                                          <p:stCondLst>
                                            <p:cond delay="0"/>
                                          </p:stCondLst>
                                        </p:cTn>
                                        <p:tgtEl>
                                          <p:spTgt spid="57"/>
                                        </p:tgtEl>
                                        <p:attrNameLst>
                                          <p:attrName>style.visibility</p:attrName>
                                        </p:attrNameLst>
                                      </p:cBhvr>
                                      <p:to>
                                        <p:strVal val="visible"/>
                                      </p:to>
                                    </p:set>
                                    <p:animEffect transition="in" filter="blinds(horizontal)">
                                      <p:cBhvr>
                                        <p:cTn id="103"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958" grpId="0" autoUpdateAnimBg="0"/>
      <p:bldP spid="198959" grpId="0"/>
      <p:bldP spid="198961" grpId="0"/>
      <p:bldP spid="198964" grpId="0"/>
      <p:bldP spid="2" grpId="0"/>
      <p:bldP spid="52" grpId="0"/>
      <p:bldP spid="53" grpId="0"/>
      <p:bldP spid="54" grpId="0"/>
      <p:bldP spid="55" grpId="0" autoUpdateAnimBg="0"/>
      <p:bldP spid="56"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09"/>
          <p:cNvSpPr>
            <a:spLocks noChangeArrowheads="1"/>
          </p:cNvSpPr>
          <p:nvPr/>
        </p:nvSpPr>
        <p:spPr bwMode="auto">
          <a:xfrm>
            <a:off x="539552" y="1052736"/>
            <a:ext cx="4606925"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Clr>
                <a:srgbClr val="3333FF"/>
              </a:buClr>
              <a:buFont typeface="Wingdings" panose="05000000000000000000" pitchFamily="2" charset="2"/>
              <a:buChar char="n"/>
            </a:pPr>
            <a:r>
              <a:rPr kumimoji="1" lang="zh-CN" altLang="en-US" sz="2400" b="1" dirty="0">
                <a:solidFill>
                  <a:srgbClr val="0000FF"/>
                </a:solidFill>
                <a:latin typeface="Times New Roman" panose="02020603050405020304" pitchFamily="18" charset="0"/>
                <a:ea typeface="华文楷体" panose="02010600040101010101" pitchFamily="2" charset="-122"/>
              </a:rPr>
              <a:t>屈服阶段</a:t>
            </a:r>
            <a:r>
              <a:rPr kumimoji="1" lang="en-US" altLang="zh-CN" sz="2400" b="1" dirty="0">
                <a:solidFill>
                  <a:srgbClr val="0000FF"/>
                </a:solidFill>
                <a:latin typeface="Times New Roman" panose="02020603050405020304" pitchFamily="18" charset="0"/>
                <a:ea typeface="华文楷体" panose="02010600040101010101" pitchFamily="2" charset="-122"/>
              </a:rPr>
              <a:t>(</a:t>
            </a:r>
            <a:r>
              <a:rPr kumimoji="1" lang="en-US" altLang="zh-CN" sz="2400" dirty="0">
                <a:solidFill>
                  <a:srgbClr val="0000FF"/>
                </a:solidFill>
                <a:latin typeface="Times New Roman" panose="02020603050405020304" pitchFamily="18" charset="0"/>
                <a:ea typeface="华文楷体" panose="02010600040101010101" pitchFamily="2" charset="-122"/>
              </a:rPr>
              <a:t>Yielding region</a:t>
            </a:r>
            <a:r>
              <a:rPr kumimoji="1" lang="en-US" altLang="zh-CN" sz="2400" b="1" dirty="0">
                <a:solidFill>
                  <a:srgbClr val="0000FF"/>
                </a:solidFill>
                <a:latin typeface="Times New Roman" panose="02020603050405020304" pitchFamily="18" charset="0"/>
                <a:ea typeface="华文楷体" panose="02010600040101010101" pitchFamily="2" charset="-122"/>
              </a:rPr>
              <a:t>):  </a:t>
            </a:r>
            <a:r>
              <a:rPr kumimoji="1" lang="en-US" altLang="zh-CN" sz="2400" b="1" i="1" dirty="0" err="1">
                <a:solidFill>
                  <a:srgbClr val="0000FF"/>
                </a:solidFill>
                <a:latin typeface="Times New Roman" panose="02020603050405020304" pitchFamily="18" charset="0"/>
                <a:ea typeface="华文楷体" panose="02010600040101010101" pitchFamily="2" charset="-122"/>
              </a:rPr>
              <a:t>bc</a:t>
            </a:r>
            <a:endParaRPr kumimoji="1" lang="en-US" altLang="zh-CN" sz="2400" b="1" i="1" dirty="0">
              <a:solidFill>
                <a:srgbClr val="0000FF"/>
              </a:solidFill>
              <a:latin typeface="Times New Roman" panose="02020603050405020304" pitchFamily="18" charset="0"/>
              <a:ea typeface="华文楷体" panose="02010600040101010101" pitchFamily="2" charset="-122"/>
            </a:endParaRPr>
          </a:p>
        </p:txBody>
      </p:sp>
      <p:sp>
        <p:nvSpPr>
          <p:cNvPr id="3" name="Rectangle 310"/>
          <p:cNvSpPr>
            <a:spLocks noChangeArrowheads="1"/>
          </p:cNvSpPr>
          <p:nvPr/>
        </p:nvSpPr>
        <p:spPr bwMode="auto">
          <a:xfrm>
            <a:off x="5091458" y="4321508"/>
            <a:ext cx="3081337" cy="462307"/>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b="1" dirty="0">
                <a:solidFill>
                  <a:srgbClr val="FF0000"/>
                </a:solidFill>
                <a:latin typeface="楷体" panose="02010609060101010101" pitchFamily="49" charset="-122"/>
                <a:ea typeface="楷体" panose="02010609060101010101" pitchFamily="49" charset="-122"/>
              </a:rPr>
              <a:t>屈服极限</a:t>
            </a:r>
            <a:r>
              <a:rPr kumimoji="1" lang="en-US" altLang="zh-CN" sz="2000" b="1" dirty="0">
                <a:solidFill>
                  <a:srgbClr val="FF0000"/>
                </a:solidFill>
                <a:latin typeface="Times New Roman" panose="02020603050405020304" pitchFamily="18" charset="0"/>
                <a:ea typeface="华文楷体" panose="02010600040101010101" pitchFamily="2" charset="-122"/>
              </a:rPr>
              <a:t>(</a:t>
            </a:r>
            <a:r>
              <a:rPr kumimoji="1" lang="en-US" altLang="zh-CN" sz="2000" dirty="0">
                <a:solidFill>
                  <a:srgbClr val="FF0000"/>
                </a:solidFill>
                <a:latin typeface="Times New Roman" panose="02020603050405020304" pitchFamily="18" charset="0"/>
                <a:ea typeface="华文楷体" panose="02010600040101010101" pitchFamily="2" charset="-122"/>
              </a:rPr>
              <a:t>Yielding limit</a:t>
            </a:r>
            <a:r>
              <a:rPr kumimoji="1" lang="en-US" altLang="zh-CN" sz="2000" b="1" dirty="0">
                <a:solidFill>
                  <a:srgbClr val="FF0000"/>
                </a:solidFill>
                <a:latin typeface="Times New Roman" panose="02020603050405020304" pitchFamily="18" charset="0"/>
                <a:ea typeface="华文楷体" panose="02010600040101010101" pitchFamily="2" charset="-122"/>
              </a:rPr>
              <a:t>)</a:t>
            </a:r>
          </a:p>
        </p:txBody>
      </p:sp>
      <p:graphicFrame>
        <p:nvGraphicFramePr>
          <p:cNvPr id="4" name="Object 311"/>
          <p:cNvGraphicFramePr>
            <a:graphicFrameLocks/>
          </p:cNvGraphicFramePr>
          <p:nvPr>
            <p:extLst>
              <p:ext uri="{D42A27DB-BD31-4B8C-83A1-F6EECF244321}">
                <p14:modId xmlns:p14="http://schemas.microsoft.com/office/powerpoint/2010/main" val="175881719"/>
              </p:ext>
            </p:extLst>
          </p:nvPr>
        </p:nvGraphicFramePr>
        <p:xfrm>
          <a:off x="8138680" y="4337781"/>
          <a:ext cx="358273" cy="458368"/>
        </p:xfrm>
        <a:graphic>
          <a:graphicData uri="http://schemas.openxmlformats.org/presentationml/2006/ole">
            <mc:AlternateContent xmlns:mc="http://schemas.openxmlformats.org/markup-compatibility/2006">
              <mc:Choice xmlns:v="urn:schemas-microsoft-com:vml" Requires="v">
                <p:oleObj name="Equation" r:id="rId2" imgW="190440" imgH="228600" progId="Equation.DSMT4">
                  <p:embed/>
                </p:oleObj>
              </mc:Choice>
              <mc:Fallback>
                <p:oleObj name="Equation" r:id="rId2" imgW="190440" imgH="228600" progId="Equation.DSMT4">
                  <p:embed/>
                  <p:pic>
                    <p:nvPicPr>
                      <p:cNvPr id="0" name=""/>
                      <p:cNvPicPr>
                        <a:picLocks noChangeArrowheads="1"/>
                      </p:cNvPicPr>
                      <p:nvPr/>
                    </p:nvPicPr>
                    <p:blipFill>
                      <a:blip r:embed="rId3"/>
                      <a:srcRect/>
                      <a:stretch>
                        <a:fillRect/>
                      </a:stretch>
                    </p:blipFill>
                    <p:spPr bwMode="auto">
                      <a:xfrm>
                        <a:off x="8138680" y="4337781"/>
                        <a:ext cx="358273" cy="458368"/>
                      </a:xfrm>
                      <a:prstGeom prst="rect">
                        <a:avLst/>
                      </a:prstGeom>
                      <a:noFill/>
                      <a:ln>
                        <a:noFill/>
                      </a:ln>
                      <a:effectLst/>
                    </p:spPr>
                  </p:pic>
                </p:oleObj>
              </mc:Fallback>
            </mc:AlternateContent>
          </a:graphicData>
        </a:graphic>
      </p:graphicFrame>
      <p:sp>
        <p:nvSpPr>
          <p:cNvPr id="5" name="TextBox 17"/>
          <p:cNvSpPr txBox="1">
            <a:spLocks noChangeArrowheads="1"/>
          </p:cNvSpPr>
          <p:nvPr/>
        </p:nvSpPr>
        <p:spPr bwMode="auto">
          <a:xfrm>
            <a:off x="607339" y="3189634"/>
            <a:ext cx="379594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Char char="Ø"/>
            </a:pPr>
            <a:r>
              <a:rPr lang="zh-CN" altLang="en-US" dirty="0">
                <a:latin typeface="楷体" panose="02010609060101010101" pitchFamily="49" charset="-122"/>
                <a:ea typeface="楷体" panose="02010609060101010101" pitchFamily="49" charset="-122"/>
              </a:rPr>
              <a:t>失去抵抗变形的能力，试件表面出现</a:t>
            </a:r>
            <a:r>
              <a:rPr lang="en-US" altLang="zh-CN" dirty="0">
                <a:latin typeface="楷体" panose="02010609060101010101" pitchFamily="49" charset="-122"/>
                <a:ea typeface="楷体" panose="02010609060101010101" pitchFamily="49" charset="-122"/>
                <a:cs typeface="Times New Roman" panose="02020603050405020304" pitchFamily="18" charset="0"/>
              </a:rPr>
              <a:t>45</a:t>
            </a:r>
            <a:r>
              <a:rPr lang="en-US" altLang="zh-CN" baseline="30000" dirty="0">
                <a:latin typeface="楷体" panose="02010609060101010101" pitchFamily="49" charset="-122"/>
                <a:ea typeface="楷体" panose="02010609060101010101" pitchFamily="49" charset="-122"/>
                <a:cs typeface="Times New Roman" panose="02020603050405020304" pitchFamily="18" charset="0"/>
              </a:rPr>
              <a:t>o</a:t>
            </a:r>
            <a:r>
              <a:rPr lang="zh-CN" altLang="en-US" dirty="0">
                <a:latin typeface="楷体" panose="02010609060101010101" pitchFamily="49" charset="-122"/>
                <a:ea typeface="楷体" panose="02010609060101010101" pitchFamily="49" charset="-122"/>
              </a:rPr>
              <a:t>滑移线。</a:t>
            </a:r>
            <a:endParaRPr lang="en-US" altLang="zh-CN" dirty="0">
              <a:latin typeface="楷体" panose="02010609060101010101" pitchFamily="49" charset="-122"/>
              <a:ea typeface="楷体" panose="02010609060101010101" pitchFamily="49" charset="-122"/>
            </a:endParaRPr>
          </a:p>
        </p:txBody>
      </p:sp>
      <p:grpSp>
        <p:nvGrpSpPr>
          <p:cNvPr id="6" name="Group 24"/>
          <p:cNvGrpSpPr>
            <a:grpSpLocks/>
          </p:cNvGrpSpPr>
          <p:nvPr/>
        </p:nvGrpSpPr>
        <p:grpSpPr bwMode="auto">
          <a:xfrm>
            <a:off x="971600" y="4108881"/>
            <a:ext cx="2128979" cy="2541459"/>
            <a:chOff x="3600" y="1392"/>
            <a:chExt cx="1861" cy="2400"/>
          </a:xfrm>
        </p:grpSpPr>
        <p:pic>
          <p:nvPicPr>
            <p:cNvPr id="7" name="Picture 22" descr="HWOCRTEMP_ROC410"/>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20671"/>
            <a:stretch/>
          </p:blipFill>
          <p:spPr bwMode="auto">
            <a:xfrm>
              <a:off x="3600" y="1392"/>
              <a:ext cx="1861" cy="1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Freeform 23"/>
            <p:cNvSpPr>
              <a:spLocks/>
            </p:cNvSpPr>
            <p:nvPr/>
          </p:nvSpPr>
          <p:spPr bwMode="auto">
            <a:xfrm>
              <a:off x="3744" y="1491"/>
              <a:ext cx="1632" cy="2301"/>
            </a:xfrm>
            <a:custGeom>
              <a:avLst/>
              <a:gdLst>
                <a:gd name="T0" fmla="*/ 0 w 1632"/>
                <a:gd name="T1" fmla="*/ 7611 h 2208"/>
                <a:gd name="T2" fmla="*/ 720 w 1632"/>
                <a:gd name="T3" fmla="*/ 7611 h 2208"/>
                <a:gd name="T4" fmla="*/ 720 w 1632"/>
                <a:gd name="T5" fmla="*/ 0 h 2208"/>
                <a:gd name="T6" fmla="*/ 1632 w 1632"/>
                <a:gd name="T7" fmla="*/ 0 h 2208"/>
                <a:gd name="T8" fmla="*/ 1632 w 1632"/>
                <a:gd name="T9" fmla="*/ 8977 h 2208"/>
                <a:gd name="T10" fmla="*/ 0 w 1632"/>
                <a:gd name="T11" fmla="*/ 8977 h 2208"/>
                <a:gd name="T12" fmla="*/ 0 w 1632"/>
                <a:gd name="T13" fmla="*/ 7611 h 2208"/>
                <a:gd name="T14" fmla="*/ 0 60000 65536"/>
                <a:gd name="T15" fmla="*/ 0 60000 65536"/>
                <a:gd name="T16" fmla="*/ 0 60000 65536"/>
                <a:gd name="T17" fmla="*/ 0 60000 65536"/>
                <a:gd name="T18" fmla="*/ 0 60000 65536"/>
                <a:gd name="T19" fmla="*/ 0 60000 65536"/>
                <a:gd name="T20" fmla="*/ 0 60000 65536"/>
                <a:gd name="T21" fmla="*/ 0 w 1632"/>
                <a:gd name="T22" fmla="*/ 0 h 2208"/>
                <a:gd name="T23" fmla="*/ 1632 w 1632"/>
                <a:gd name="T24" fmla="*/ 2208 h 22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32" h="2208">
                  <a:moveTo>
                    <a:pt x="0" y="1872"/>
                  </a:moveTo>
                  <a:lnTo>
                    <a:pt x="720" y="1872"/>
                  </a:lnTo>
                  <a:lnTo>
                    <a:pt x="720" y="0"/>
                  </a:lnTo>
                  <a:lnTo>
                    <a:pt x="1632" y="0"/>
                  </a:lnTo>
                  <a:lnTo>
                    <a:pt x="1632" y="2208"/>
                  </a:lnTo>
                  <a:lnTo>
                    <a:pt x="0" y="2208"/>
                  </a:lnTo>
                  <a:lnTo>
                    <a:pt x="0" y="1872"/>
                  </a:lnTo>
                  <a:close/>
                </a:path>
              </a:pathLst>
            </a:custGeom>
            <a:solidFill>
              <a:schemeClr val="bg1"/>
            </a:solidFill>
            <a:ln w="9525">
              <a:solidFill>
                <a:schemeClr val="bg1"/>
              </a:solidFill>
              <a:miter lim="800000"/>
              <a:headEnd/>
              <a:tailEnd/>
            </a:ln>
          </p:spPr>
          <p:txBody>
            <a:bodyPr wrap="none"/>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endParaRPr lang="zh-CN" altLang="en-US"/>
            </a:p>
          </p:txBody>
        </p:sp>
      </p:grpSp>
      <p:grpSp>
        <p:nvGrpSpPr>
          <p:cNvPr id="9" name="Group 244"/>
          <p:cNvGrpSpPr>
            <a:grpSpLocks/>
          </p:cNvGrpSpPr>
          <p:nvPr/>
        </p:nvGrpSpPr>
        <p:grpSpPr bwMode="auto">
          <a:xfrm>
            <a:off x="4716016" y="1629259"/>
            <a:ext cx="3997325" cy="2438400"/>
            <a:chOff x="3242" y="283"/>
            <a:chExt cx="2518" cy="1536"/>
          </a:xfrm>
        </p:grpSpPr>
        <p:grpSp>
          <p:nvGrpSpPr>
            <p:cNvPr id="10" name="Group 245"/>
            <p:cNvGrpSpPr>
              <a:grpSpLocks/>
            </p:cNvGrpSpPr>
            <p:nvPr/>
          </p:nvGrpSpPr>
          <p:grpSpPr bwMode="auto">
            <a:xfrm>
              <a:off x="3242" y="283"/>
              <a:ext cx="2518" cy="1536"/>
              <a:chOff x="3195" y="181"/>
              <a:chExt cx="2518" cy="1536"/>
            </a:xfrm>
          </p:grpSpPr>
          <p:graphicFrame>
            <p:nvGraphicFramePr>
              <p:cNvPr id="12" name="Object 246"/>
              <p:cNvGraphicFramePr>
                <a:graphicFrameLocks/>
              </p:cNvGraphicFramePr>
              <p:nvPr/>
            </p:nvGraphicFramePr>
            <p:xfrm>
              <a:off x="3195" y="192"/>
              <a:ext cx="225" cy="188"/>
            </p:xfrm>
            <a:graphic>
              <a:graphicData uri="http://schemas.openxmlformats.org/presentationml/2006/ole">
                <mc:AlternateContent xmlns:mc="http://schemas.openxmlformats.org/markup-compatibility/2006">
                  <mc:Choice xmlns:v="urn:schemas-microsoft-com:vml" Requires="v">
                    <p:oleObj name="公式" r:id="rId5" imgW="142830" imgH="133440" progId="Equation.3">
                      <p:embed/>
                    </p:oleObj>
                  </mc:Choice>
                  <mc:Fallback>
                    <p:oleObj name="公式" r:id="rId5" imgW="142830" imgH="133440"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95" y="192"/>
                            <a:ext cx="225" cy="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 name="Object 247"/>
              <p:cNvGraphicFramePr>
                <a:graphicFrameLocks/>
              </p:cNvGraphicFramePr>
              <p:nvPr/>
            </p:nvGraphicFramePr>
            <p:xfrm>
              <a:off x="5524" y="1526"/>
              <a:ext cx="189" cy="191"/>
            </p:xfrm>
            <a:graphic>
              <a:graphicData uri="http://schemas.openxmlformats.org/presentationml/2006/ole">
                <mc:AlternateContent xmlns:mc="http://schemas.openxmlformats.org/markup-compatibility/2006">
                  <mc:Choice xmlns:v="urn:schemas-microsoft-com:vml" Requires="v">
                    <p:oleObj name="公式" r:id="rId7" imgW="114210" imgH="133440" progId="Equation.3">
                      <p:embed/>
                    </p:oleObj>
                  </mc:Choice>
                  <mc:Fallback>
                    <p:oleObj name="公式" r:id="rId7" imgW="114210" imgH="133440"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24" y="1526"/>
                            <a:ext cx="189" cy="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4" name="Group 248"/>
              <p:cNvGrpSpPr>
                <a:grpSpLocks/>
              </p:cNvGrpSpPr>
              <p:nvPr/>
            </p:nvGrpSpPr>
            <p:grpSpPr bwMode="auto">
              <a:xfrm>
                <a:off x="3334" y="181"/>
                <a:ext cx="2304" cy="1453"/>
                <a:chOff x="576" y="374"/>
                <a:chExt cx="2304" cy="1453"/>
              </a:xfrm>
            </p:grpSpPr>
            <p:sp>
              <p:nvSpPr>
                <p:cNvPr id="15" name="Line 249"/>
                <p:cNvSpPr>
                  <a:spLocks noChangeShapeType="1"/>
                </p:cNvSpPr>
                <p:nvPr/>
              </p:nvSpPr>
              <p:spPr bwMode="auto">
                <a:xfrm>
                  <a:off x="576" y="1700"/>
                  <a:ext cx="2304" cy="0"/>
                </a:xfrm>
                <a:prstGeom prst="line">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250"/>
                <p:cNvSpPr>
                  <a:spLocks noChangeShapeType="1"/>
                </p:cNvSpPr>
                <p:nvPr/>
              </p:nvSpPr>
              <p:spPr bwMode="auto">
                <a:xfrm flipV="1">
                  <a:off x="674" y="374"/>
                  <a:ext cx="0" cy="1453"/>
                </a:xfrm>
                <a:prstGeom prst="line">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Freeform 251"/>
                <p:cNvSpPr>
                  <a:spLocks/>
                </p:cNvSpPr>
                <p:nvPr/>
              </p:nvSpPr>
              <p:spPr bwMode="auto">
                <a:xfrm>
                  <a:off x="823" y="942"/>
                  <a:ext cx="112" cy="59"/>
                </a:xfrm>
                <a:custGeom>
                  <a:avLst/>
                  <a:gdLst>
                    <a:gd name="T0" fmla="*/ 0 w 112"/>
                    <a:gd name="T1" fmla="*/ 38 h 59"/>
                    <a:gd name="T2" fmla="*/ 16 w 112"/>
                    <a:gd name="T3" fmla="*/ 16 h 59"/>
                    <a:gd name="T4" fmla="*/ 22 w 112"/>
                    <a:gd name="T5" fmla="*/ 58 h 59"/>
                    <a:gd name="T6" fmla="*/ 44 w 112"/>
                    <a:gd name="T7" fmla="*/ 0 h 59"/>
                    <a:gd name="T8" fmla="*/ 44 w 112"/>
                    <a:gd name="T9" fmla="*/ 58 h 59"/>
                    <a:gd name="T10" fmla="*/ 66 w 112"/>
                    <a:gd name="T11" fmla="*/ 0 h 59"/>
                    <a:gd name="T12" fmla="*/ 66 w 112"/>
                    <a:gd name="T13" fmla="*/ 38 h 59"/>
                    <a:gd name="T14" fmla="*/ 88 w 112"/>
                    <a:gd name="T15" fmla="*/ 19 h 59"/>
                    <a:gd name="T16" fmla="*/ 111 w 112"/>
                    <a:gd name="T17" fmla="*/ 19 h 59"/>
                    <a:gd name="T18" fmla="*/ 111 w 112"/>
                    <a:gd name="T19" fmla="*/ 0 h 5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2" h="59">
                      <a:moveTo>
                        <a:pt x="0" y="38"/>
                      </a:moveTo>
                      <a:lnTo>
                        <a:pt x="16" y="16"/>
                      </a:lnTo>
                      <a:lnTo>
                        <a:pt x="22" y="58"/>
                      </a:lnTo>
                      <a:lnTo>
                        <a:pt x="44" y="0"/>
                      </a:lnTo>
                      <a:lnTo>
                        <a:pt x="44" y="58"/>
                      </a:lnTo>
                      <a:lnTo>
                        <a:pt x="66" y="0"/>
                      </a:lnTo>
                      <a:lnTo>
                        <a:pt x="66" y="38"/>
                      </a:lnTo>
                      <a:lnTo>
                        <a:pt x="88" y="19"/>
                      </a:lnTo>
                      <a:lnTo>
                        <a:pt x="111" y="19"/>
                      </a:lnTo>
                      <a:lnTo>
                        <a:pt x="111" y="0"/>
                      </a:lnTo>
                    </a:path>
                  </a:pathLst>
                </a:custGeom>
                <a:noFill/>
                <a:ln w="12700"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Arc 252"/>
                <p:cNvSpPr>
                  <a:spLocks/>
                </p:cNvSpPr>
                <p:nvPr/>
              </p:nvSpPr>
              <p:spPr bwMode="auto">
                <a:xfrm>
                  <a:off x="934" y="533"/>
                  <a:ext cx="1262" cy="449"/>
                </a:xfrm>
                <a:custGeom>
                  <a:avLst/>
                  <a:gdLst>
                    <a:gd name="T0" fmla="*/ 0 w 22828"/>
                    <a:gd name="T1" fmla="*/ 449 h 21600"/>
                    <a:gd name="T2" fmla="*/ 1262 w 22828"/>
                    <a:gd name="T3" fmla="*/ 1 h 21600"/>
                    <a:gd name="T4" fmla="*/ 1194 w 22828"/>
                    <a:gd name="T5" fmla="*/ 449 h 21600"/>
                    <a:gd name="T6" fmla="*/ 0 60000 65536"/>
                    <a:gd name="T7" fmla="*/ 0 60000 65536"/>
                    <a:gd name="T8" fmla="*/ 0 60000 65536"/>
                  </a:gdLst>
                  <a:ahLst/>
                  <a:cxnLst>
                    <a:cxn ang="T6">
                      <a:pos x="T0" y="T1"/>
                    </a:cxn>
                    <a:cxn ang="T7">
                      <a:pos x="T2" y="T3"/>
                    </a:cxn>
                    <a:cxn ang="T8">
                      <a:pos x="T4" y="T5"/>
                    </a:cxn>
                  </a:cxnLst>
                  <a:rect l="0" t="0" r="r" b="b"/>
                  <a:pathLst>
                    <a:path w="22828" h="21600" fill="none" extrusionOk="0">
                      <a:moveTo>
                        <a:pt x="0" y="21599"/>
                      </a:moveTo>
                      <a:cubicBezTo>
                        <a:pt x="0" y="9670"/>
                        <a:pt x="9670" y="0"/>
                        <a:pt x="21600" y="0"/>
                      </a:cubicBezTo>
                      <a:cubicBezTo>
                        <a:pt x="22009" y="0"/>
                        <a:pt x="22419" y="11"/>
                        <a:pt x="22828" y="34"/>
                      </a:cubicBezTo>
                    </a:path>
                    <a:path w="22828" h="21600" stroke="0" extrusionOk="0">
                      <a:moveTo>
                        <a:pt x="0" y="21599"/>
                      </a:moveTo>
                      <a:cubicBezTo>
                        <a:pt x="0" y="9670"/>
                        <a:pt x="9670" y="0"/>
                        <a:pt x="21600" y="0"/>
                      </a:cubicBezTo>
                      <a:cubicBezTo>
                        <a:pt x="22009" y="0"/>
                        <a:pt x="22419" y="11"/>
                        <a:pt x="22828" y="34"/>
                      </a:cubicBezTo>
                      <a:lnTo>
                        <a:pt x="21600" y="21600"/>
                      </a:lnTo>
                      <a:lnTo>
                        <a:pt x="0" y="21599"/>
                      </a:lnTo>
                      <a:close/>
                    </a:path>
                  </a:pathLst>
                </a:custGeom>
                <a:noFill/>
                <a:ln w="127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Arc 253"/>
                <p:cNvSpPr>
                  <a:spLocks/>
                </p:cNvSpPr>
                <p:nvPr/>
              </p:nvSpPr>
              <p:spPr bwMode="auto">
                <a:xfrm>
                  <a:off x="2170" y="533"/>
                  <a:ext cx="555" cy="195"/>
                </a:xfrm>
                <a:custGeom>
                  <a:avLst/>
                  <a:gdLst>
                    <a:gd name="T0" fmla="*/ 0 w 21639"/>
                    <a:gd name="T1" fmla="*/ 0 h 21600"/>
                    <a:gd name="T2" fmla="*/ 555 w 21639"/>
                    <a:gd name="T3" fmla="*/ 195 h 21600"/>
                    <a:gd name="T4" fmla="*/ 1 w 21639"/>
                    <a:gd name="T5" fmla="*/ 195 h 21600"/>
                    <a:gd name="T6" fmla="*/ 0 60000 65536"/>
                    <a:gd name="T7" fmla="*/ 0 60000 65536"/>
                    <a:gd name="T8" fmla="*/ 0 60000 65536"/>
                  </a:gdLst>
                  <a:ahLst/>
                  <a:cxnLst>
                    <a:cxn ang="T6">
                      <a:pos x="T0" y="T1"/>
                    </a:cxn>
                    <a:cxn ang="T7">
                      <a:pos x="T2" y="T3"/>
                    </a:cxn>
                    <a:cxn ang="T8">
                      <a:pos x="T4" y="T5"/>
                    </a:cxn>
                  </a:cxnLst>
                  <a:rect l="0" t="0" r="r" b="b"/>
                  <a:pathLst>
                    <a:path w="21639" h="21600" fill="none" extrusionOk="0">
                      <a:moveTo>
                        <a:pt x="0" y="0"/>
                      </a:moveTo>
                      <a:cubicBezTo>
                        <a:pt x="13" y="0"/>
                        <a:pt x="26" y="0"/>
                        <a:pt x="39" y="0"/>
                      </a:cubicBezTo>
                      <a:cubicBezTo>
                        <a:pt x="11968" y="0"/>
                        <a:pt x="21639" y="9670"/>
                        <a:pt x="21639" y="21600"/>
                      </a:cubicBezTo>
                    </a:path>
                    <a:path w="21639" h="21600" stroke="0" extrusionOk="0">
                      <a:moveTo>
                        <a:pt x="0" y="0"/>
                      </a:moveTo>
                      <a:cubicBezTo>
                        <a:pt x="13" y="0"/>
                        <a:pt x="26" y="0"/>
                        <a:pt x="39" y="0"/>
                      </a:cubicBezTo>
                      <a:cubicBezTo>
                        <a:pt x="11968" y="0"/>
                        <a:pt x="21639" y="9670"/>
                        <a:pt x="21639" y="21600"/>
                      </a:cubicBezTo>
                      <a:lnTo>
                        <a:pt x="39" y="21600"/>
                      </a:lnTo>
                      <a:lnTo>
                        <a:pt x="0" y="0"/>
                      </a:lnTo>
                      <a:close/>
                    </a:path>
                  </a:pathLst>
                </a:custGeom>
                <a:noFill/>
                <a:ln w="127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254"/>
                <p:cNvSpPr>
                  <a:spLocks noChangeShapeType="1"/>
                </p:cNvSpPr>
                <p:nvPr/>
              </p:nvSpPr>
              <p:spPr bwMode="auto">
                <a:xfrm flipV="1">
                  <a:off x="674" y="960"/>
                  <a:ext cx="142" cy="76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1" name="Text Box 255"/>
            <p:cNvSpPr txBox="1">
              <a:spLocks noChangeArrowheads="1"/>
            </p:cNvSpPr>
            <p:nvPr/>
          </p:nvSpPr>
          <p:spPr bwMode="auto">
            <a:xfrm>
              <a:off x="3250" y="1579"/>
              <a:ext cx="22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kumimoji="1" lang="en-US" altLang="zh-CN" sz="1800" i="1" dirty="0">
                  <a:latin typeface="Times New Roman" panose="02020603050405020304" pitchFamily="18" charset="0"/>
                  <a:ea typeface="华文楷体" panose="02010600040101010101" pitchFamily="2" charset="-122"/>
                </a:rPr>
                <a:t>O</a:t>
              </a:r>
            </a:p>
          </p:txBody>
        </p:sp>
      </p:grpSp>
      <p:grpSp>
        <p:nvGrpSpPr>
          <p:cNvPr id="30" name="Group 265"/>
          <p:cNvGrpSpPr>
            <a:grpSpLocks/>
          </p:cNvGrpSpPr>
          <p:nvPr/>
        </p:nvGrpSpPr>
        <p:grpSpPr bwMode="auto">
          <a:xfrm>
            <a:off x="4693791" y="2713522"/>
            <a:ext cx="454025" cy="1001712"/>
            <a:chOff x="3205" y="1920"/>
            <a:chExt cx="286" cy="631"/>
          </a:xfrm>
        </p:grpSpPr>
        <p:sp>
          <p:nvSpPr>
            <p:cNvPr id="31" name="Line 266"/>
            <p:cNvSpPr>
              <a:spLocks noChangeShapeType="1"/>
            </p:cNvSpPr>
            <p:nvPr/>
          </p:nvSpPr>
          <p:spPr bwMode="auto">
            <a:xfrm>
              <a:off x="3264" y="1920"/>
              <a:ext cx="227"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267"/>
            <p:cNvSpPr>
              <a:spLocks noChangeShapeType="1"/>
            </p:cNvSpPr>
            <p:nvPr/>
          </p:nvSpPr>
          <p:spPr bwMode="auto">
            <a:xfrm flipV="1">
              <a:off x="3360" y="1920"/>
              <a:ext cx="0" cy="189"/>
            </a:xfrm>
            <a:prstGeom prst="line">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268"/>
            <p:cNvSpPr>
              <a:spLocks noChangeShapeType="1"/>
            </p:cNvSpPr>
            <p:nvPr/>
          </p:nvSpPr>
          <p:spPr bwMode="auto">
            <a:xfrm>
              <a:off x="3360" y="2400"/>
              <a:ext cx="0" cy="151"/>
            </a:xfrm>
            <a:prstGeom prst="line">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4" name="Object 269"/>
            <p:cNvGraphicFramePr>
              <a:graphicFrameLocks/>
            </p:cNvGraphicFramePr>
            <p:nvPr/>
          </p:nvGraphicFramePr>
          <p:xfrm>
            <a:off x="3205" y="2118"/>
            <a:ext cx="272" cy="282"/>
          </p:xfrm>
          <a:graphic>
            <a:graphicData uri="http://schemas.openxmlformats.org/presentationml/2006/ole">
              <mc:AlternateContent xmlns:mc="http://schemas.openxmlformats.org/markup-compatibility/2006">
                <mc:Choice xmlns:v="urn:schemas-microsoft-com:vml" Requires="v">
                  <p:oleObj name="Equation" r:id="rId9" imgW="190620" imgH="219165" progId="Equation.2">
                    <p:embed/>
                  </p:oleObj>
                </mc:Choice>
                <mc:Fallback>
                  <p:oleObj name="Equation" r:id="rId9" imgW="190620" imgH="219165" progId="Equation.2">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05" y="2118"/>
                          <a:ext cx="272" cy="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5" name="Group 270"/>
          <p:cNvGrpSpPr>
            <a:grpSpLocks/>
          </p:cNvGrpSpPr>
          <p:nvPr/>
        </p:nvGrpSpPr>
        <p:grpSpPr bwMode="auto">
          <a:xfrm>
            <a:off x="4281041" y="2637322"/>
            <a:ext cx="963612" cy="1095375"/>
            <a:chOff x="2945" y="1872"/>
            <a:chExt cx="607" cy="720"/>
          </a:xfrm>
        </p:grpSpPr>
        <p:sp>
          <p:nvSpPr>
            <p:cNvPr id="36" name="Line 271"/>
            <p:cNvSpPr>
              <a:spLocks noChangeShapeType="1"/>
            </p:cNvSpPr>
            <p:nvPr/>
          </p:nvSpPr>
          <p:spPr bwMode="auto">
            <a:xfrm flipH="1">
              <a:off x="3024" y="2592"/>
              <a:ext cx="336"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Line 272"/>
            <p:cNvSpPr>
              <a:spLocks noChangeShapeType="1"/>
            </p:cNvSpPr>
            <p:nvPr/>
          </p:nvSpPr>
          <p:spPr bwMode="auto">
            <a:xfrm>
              <a:off x="3072" y="1872"/>
              <a:ext cx="48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Line 273"/>
            <p:cNvSpPr>
              <a:spLocks noChangeShapeType="1"/>
            </p:cNvSpPr>
            <p:nvPr/>
          </p:nvSpPr>
          <p:spPr bwMode="auto">
            <a:xfrm>
              <a:off x="3120" y="1872"/>
              <a:ext cx="0" cy="240"/>
            </a:xfrm>
            <a:prstGeom prst="line">
              <a:avLst/>
            </a:prstGeom>
            <a:noFill/>
            <a:ln w="12700">
              <a:solidFill>
                <a:schemeClr val="tx1"/>
              </a:solidFill>
              <a:round/>
              <a:headEnd type="triangle"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274"/>
            <p:cNvSpPr>
              <a:spLocks noChangeShapeType="1"/>
            </p:cNvSpPr>
            <p:nvPr/>
          </p:nvSpPr>
          <p:spPr bwMode="auto">
            <a:xfrm flipV="1">
              <a:off x="3120" y="2352"/>
              <a:ext cx="0" cy="240"/>
            </a:xfrm>
            <a:prstGeom prst="line">
              <a:avLst/>
            </a:prstGeom>
            <a:noFill/>
            <a:ln w="12700">
              <a:solidFill>
                <a:schemeClr val="tx1"/>
              </a:solidFill>
              <a:round/>
              <a:headEnd type="triangle"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0" name="Object 275"/>
            <p:cNvGraphicFramePr>
              <a:graphicFrameLocks/>
            </p:cNvGraphicFramePr>
            <p:nvPr/>
          </p:nvGraphicFramePr>
          <p:xfrm>
            <a:off x="2945" y="2096"/>
            <a:ext cx="242" cy="256"/>
          </p:xfrm>
          <a:graphic>
            <a:graphicData uri="http://schemas.openxmlformats.org/presentationml/2006/ole">
              <mc:AlternateContent xmlns:mc="http://schemas.openxmlformats.org/markup-compatibility/2006">
                <mc:Choice xmlns:v="urn:schemas-microsoft-com:vml" Requires="v">
                  <p:oleObj name="Equation" r:id="rId11" imgW="171450" imgH="190590" progId="Equation.2">
                    <p:embed/>
                  </p:oleObj>
                </mc:Choice>
                <mc:Fallback>
                  <p:oleObj name="Equation" r:id="rId11" imgW="171450" imgH="190590" progId="Equation.2">
                    <p:embed/>
                    <p:pic>
                      <p:nvPicPr>
                        <p:cNvPr id="0" name=""/>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45" y="2096"/>
                          <a:ext cx="242" cy="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41" name="Group 276"/>
          <p:cNvGrpSpPr>
            <a:grpSpLocks/>
          </p:cNvGrpSpPr>
          <p:nvPr/>
        </p:nvGrpSpPr>
        <p:grpSpPr bwMode="auto">
          <a:xfrm>
            <a:off x="5473258" y="2637322"/>
            <a:ext cx="592138" cy="1066800"/>
            <a:chOff x="3696" y="1872"/>
            <a:chExt cx="373" cy="672"/>
          </a:xfrm>
        </p:grpSpPr>
        <p:sp>
          <p:nvSpPr>
            <p:cNvPr id="42" name="Line 277"/>
            <p:cNvSpPr>
              <a:spLocks noChangeShapeType="1"/>
            </p:cNvSpPr>
            <p:nvPr/>
          </p:nvSpPr>
          <p:spPr bwMode="auto">
            <a:xfrm>
              <a:off x="3696" y="1872"/>
              <a:ext cx="24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Line 278"/>
            <p:cNvSpPr>
              <a:spLocks noChangeShapeType="1"/>
            </p:cNvSpPr>
            <p:nvPr/>
          </p:nvSpPr>
          <p:spPr bwMode="auto">
            <a:xfrm>
              <a:off x="3792" y="1872"/>
              <a:ext cx="0" cy="672"/>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4" name="Object 279"/>
            <p:cNvGraphicFramePr>
              <a:graphicFrameLocks/>
            </p:cNvGraphicFramePr>
            <p:nvPr>
              <p:extLst>
                <p:ext uri="{D42A27DB-BD31-4B8C-83A1-F6EECF244321}">
                  <p14:modId xmlns:p14="http://schemas.microsoft.com/office/powerpoint/2010/main" val="2191589117"/>
                </p:ext>
              </p:extLst>
            </p:nvPr>
          </p:nvGraphicFramePr>
          <p:xfrm>
            <a:off x="3806" y="2096"/>
            <a:ext cx="263" cy="271"/>
          </p:xfrm>
          <a:graphic>
            <a:graphicData uri="http://schemas.openxmlformats.org/presentationml/2006/ole">
              <mc:AlternateContent xmlns:mc="http://schemas.openxmlformats.org/markup-compatibility/2006">
                <mc:Choice xmlns:v="urn:schemas-microsoft-com:vml" Requires="v">
                  <p:oleObj name="Equation" r:id="rId13" imgW="171450" imgH="190590" progId="Equation.2">
                    <p:embed/>
                  </p:oleObj>
                </mc:Choice>
                <mc:Fallback>
                  <p:oleObj name="Equation" r:id="rId13" imgW="171450" imgH="190590" progId="Equation.2">
                    <p:embed/>
                    <p:pic>
                      <p:nvPicPr>
                        <p:cNvPr id="0" name=""/>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806" y="2096"/>
                          <a:ext cx="263" cy="271"/>
                        </a:xfrm>
                        <a:prstGeom prst="rect">
                          <a:avLst/>
                        </a:prstGeom>
                        <a:noFill/>
                        <a:ln>
                          <a:noFill/>
                        </a:ln>
                        <a:effectLst/>
                      </p:spPr>
                    </p:pic>
                  </p:oleObj>
                </mc:Fallback>
              </mc:AlternateContent>
            </a:graphicData>
          </a:graphic>
        </p:graphicFrame>
      </p:grpSp>
      <p:grpSp>
        <p:nvGrpSpPr>
          <p:cNvPr id="45" name="Group 283"/>
          <p:cNvGrpSpPr>
            <a:grpSpLocks/>
          </p:cNvGrpSpPr>
          <p:nvPr/>
        </p:nvGrpSpPr>
        <p:grpSpPr bwMode="auto">
          <a:xfrm>
            <a:off x="5152598" y="3297726"/>
            <a:ext cx="407989" cy="423863"/>
            <a:chOff x="3494" y="2288"/>
            <a:chExt cx="257" cy="267"/>
          </a:xfrm>
        </p:grpSpPr>
        <p:sp>
          <p:nvSpPr>
            <p:cNvPr id="46" name="Arc 284"/>
            <p:cNvSpPr>
              <a:spLocks/>
            </p:cNvSpPr>
            <p:nvPr/>
          </p:nvSpPr>
          <p:spPr bwMode="auto">
            <a:xfrm>
              <a:off x="3494" y="2411"/>
              <a:ext cx="97" cy="144"/>
            </a:xfrm>
            <a:custGeom>
              <a:avLst/>
              <a:gdLst>
                <a:gd name="T0" fmla="*/ 0 w 21825"/>
                <a:gd name="T1" fmla="*/ 0 h 21600"/>
                <a:gd name="T2" fmla="*/ 97 w 21825"/>
                <a:gd name="T3" fmla="*/ 144 h 21600"/>
                <a:gd name="T4" fmla="*/ 1 w 21825"/>
                <a:gd name="T5" fmla="*/ 144 h 21600"/>
                <a:gd name="T6" fmla="*/ 0 60000 65536"/>
                <a:gd name="T7" fmla="*/ 0 60000 65536"/>
                <a:gd name="T8" fmla="*/ 0 60000 65536"/>
              </a:gdLst>
              <a:ahLst/>
              <a:cxnLst>
                <a:cxn ang="T6">
                  <a:pos x="T0" y="T1"/>
                </a:cxn>
                <a:cxn ang="T7">
                  <a:pos x="T2" y="T3"/>
                </a:cxn>
                <a:cxn ang="T8">
                  <a:pos x="T4" y="T5"/>
                </a:cxn>
              </a:cxnLst>
              <a:rect l="0" t="0" r="r" b="b"/>
              <a:pathLst>
                <a:path w="21825" h="21600" fill="none" extrusionOk="0">
                  <a:moveTo>
                    <a:pt x="0" y="1"/>
                  </a:moveTo>
                  <a:cubicBezTo>
                    <a:pt x="74" y="0"/>
                    <a:pt x="149" y="0"/>
                    <a:pt x="225" y="0"/>
                  </a:cubicBezTo>
                  <a:cubicBezTo>
                    <a:pt x="12154" y="0"/>
                    <a:pt x="21825" y="9670"/>
                    <a:pt x="21825" y="21600"/>
                  </a:cubicBezTo>
                </a:path>
                <a:path w="21825" h="21600" stroke="0" extrusionOk="0">
                  <a:moveTo>
                    <a:pt x="0" y="1"/>
                  </a:moveTo>
                  <a:cubicBezTo>
                    <a:pt x="74" y="0"/>
                    <a:pt x="149" y="0"/>
                    <a:pt x="225" y="0"/>
                  </a:cubicBezTo>
                  <a:cubicBezTo>
                    <a:pt x="12154" y="0"/>
                    <a:pt x="21825" y="9670"/>
                    <a:pt x="21825" y="21600"/>
                  </a:cubicBezTo>
                  <a:lnTo>
                    <a:pt x="225" y="21600"/>
                  </a:lnTo>
                  <a:lnTo>
                    <a:pt x="0" y="1"/>
                  </a:lnTo>
                  <a:close/>
                </a:path>
              </a:pathLst>
            </a:custGeom>
            <a:noFill/>
            <a:ln w="127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7" name="Object 285"/>
            <p:cNvGraphicFramePr>
              <a:graphicFrameLocks/>
            </p:cNvGraphicFramePr>
            <p:nvPr>
              <p:extLst>
                <p:ext uri="{D42A27DB-BD31-4B8C-83A1-F6EECF244321}">
                  <p14:modId xmlns:p14="http://schemas.microsoft.com/office/powerpoint/2010/main" val="3940094640"/>
                </p:ext>
              </p:extLst>
            </p:nvPr>
          </p:nvGraphicFramePr>
          <p:xfrm>
            <a:off x="3556" y="2288"/>
            <a:ext cx="195" cy="177"/>
          </p:xfrm>
          <a:graphic>
            <a:graphicData uri="http://schemas.openxmlformats.org/presentationml/2006/ole">
              <mc:AlternateContent xmlns:mc="http://schemas.openxmlformats.org/markup-compatibility/2006">
                <mc:Choice xmlns:v="urn:schemas-microsoft-com:vml" Requires="v">
                  <p:oleObj name="Equation" r:id="rId15" imgW="142830" imgH="133440" progId="Equation.2">
                    <p:embed/>
                  </p:oleObj>
                </mc:Choice>
                <mc:Fallback>
                  <p:oleObj name="Equation" r:id="rId15" imgW="142830" imgH="133440" progId="Equation.2">
                    <p:embed/>
                    <p:pic>
                      <p:nvPicPr>
                        <p:cNvPr id="0" name=""/>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556" y="2288"/>
                          <a:ext cx="195" cy="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48" name="Group 286"/>
          <p:cNvGrpSpPr>
            <a:grpSpLocks/>
          </p:cNvGrpSpPr>
          <p:nvPr/>
        </p:nvGrpSpPr>
        <p:grpSpPr bwMode="auto">
          <a:xfrm>
            <a:off x="5095428" y="2545247"/>
            <a:ext cx="487363" cy="1184275"/>
            <a:chOff x="3437" y="998"/>
            <a:chExt cx="307" cy="746"/>
          </a:xfrm>
        </p:grpSpPr>
        <p:sp>
          <p:nvSpPr>
            <p:cNvPr id="49" name="Line 287"/>
            <p:cNvSpPr>
              <a:spLocks noChangeShapeType="1"/>
            </p:cNvSpPr>
            <p:nvPr/>
          </p:nvSpPr>
          <p:spPr bwMode="auto">
            <a:xfrm flipV="1">
              <a:off x="3437" y="1110"/>
              <a:ext cx="121" cy="634"/>
            </a:xfrm>
            <a:prstGeom prst="line">
              <a:avLst/>
            </a:prstGeom>
            <a:noFill/>
            <a:ln w="28575">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Text Box 288"/>
            <p:cNvSpPr txBox="1">
              <a:spLocks noChangeArrowheads="1"/>
            </p:cNvSpPr>
            <p:nvPr/>
          </p:nvSpPr>
          <p:spPr bwMode="auto">
            <a:xfrm>
              <a:off x="3516" y="998"/>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800" b="1" i="1">
                  <a:solidFill>
                    <a:srgbClr val="FF3300"/>
                  </a:solidFill>
                  <a:latin typeface="Times New Roman" panose="02020603050405020304" pitchFamily="18" charset="0"/>
                  <a:ea typeface="华文楷体" panose="02010600040101010101" pitchFamily="2" charset="-122"/>
                </a:rPr>
                <a:t>a</a:t>
              </a:r>
              <a:endParaRPr kumimoji="1" lang="en-US" altLang="zh-CN" sz="2800" b="1" i="1">
                <a:solidFill>
                  <a:srgbClr val="FFFF00"/>
                </a:solidFill>
                <a:latin typeface="Times New Roman" panose="02020603050405020304" pitchFamily="18" charset="0"/>
                <a:ea typeface="华文楷体" panose="02010600040101010101" pitchFamily="2" charset="-122"/>
              </a:endParaRPr>
            </a:p>
          </p:txBody>
        </p:sp>
      </p:grpSp>
      <p:grpSp>
        <p:nvGrpSpPr>
          <p:cNvPr id="51" name="Group 289"/>
          <p:cNvGrpSpPr>
            <a:grpSpLocks/>
          </p:cNvGrpSpPr>
          <p:nvPr/>
        </p:nvGrpSpPr>
        <p:grpSpPr bwMode="auto">
          <a:xfrm>
            <a:off x="5004941" y="2211872"/>
            <a:ext cx="361950" cy="558800"/>
            <a:chOff x="3380" y="788"/>
            <a:chExt cx="228" cy="352"/>
          </a:xfrm>
        </p:grpSpPr>
        <p:sp>
          <p:nvSpPr>
            <p:cNvPr id="52" name="Line 290"/>
            <p:cNvSpPr>
              <a:spLocks noChangeShapeType="1"/>
            </p:cNvSpPr>
            <p:nvPr/>
          </p:nvSpPr>
          <p:spPr bwMode="auto">
            <a:xfrm flipH="1">
              <a:off x="3558" y="1038"/>
              <a:ext cx="12" cy="102"/>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Text Box 291"/>
            <p:cNvSpPr txBox="1">
              <a:spLocks noChangeArrowheads="1"/>
            </p:cNvSpPr>
            <p:nvPr/>
          </p:nvSpPr>
          <p:spPr bwMode="auto">
            <a:xfrm>
              <a:off x="3380" y="788"/>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800" b="1" i="1">
                  <a:solidFill>
                    <a:srgbClr val="FF3300"/>
                  </a:solidFill>
                  <a:latin typeface="Times New Roman" panose="02020603050405020304" pitchFamily="18" charset="0"/>
                  <a:ea typeface="华文楷体" panose="02010600040101010101" pitchFamily="2" charset="-122"/>
                </a:rPr>
                <a:t>b</a:t>
              </a:r>
              <a:endParaRPr kumimoji="1" lang="en-US" altLang="zh-CN" sz="2800" b="1" i="1">
                <a:solidFill>
                  <a:srgbClr val="FFFF00"/>
                </a:solidFill>
                <a:latin typeface="Times New Roman" panose="02020603050405020304" pitchFamily="18" charset="0"/>
                <a:ea typeface="华文楷体" panose="02010600040101010101" pitchFamily="2" charset="-122"/>
              </a:endParaRPr>
            </a:p>
          </p:txBody>
        </p:sp>
      </p:grpSp>
      <p:grpSp>
        <p:nvGrpSpPr>
          <p:cNvPr id="54" name="Group 292"/>
          <p:cNvGrpSpPr>
            <a:grpSpLocks/>
          </p:cNvGrpSpPr>
          <p:nvPr/>
        </p:nvGrpSpPr>
        <p:grpSpPr bwMode="auto">
          <a:xfrm>
            <a:off x="5331966" y="2532547"/>
            <a:ext cx="820737" cy="560387"/>
            <a:chOff x="3586" y="990"/>
            <a:chExt cx="517" cy="353"/>
          </a:xfrm>
        </p:grpSpPr>
        <p:sp>
          <p:nvSpPr>
            <p:cNvPr id="55" name="Freeform 293"/>
            <p:cNvSpPr>
              <a:spLocks/>
            </p:cNvSpPr>
            <p:nvPr/>
          </p:nvSpPr>
          <p:spPr bwMode="auto">
            <a:xfrm>
              <a:off x="3586" y="990"/>
              <a:ext cx="112" cy="59"/>
            </a:xfrm>
            <a:custGeom>
              <a:avLst/>
              <a:gdLst>
                <a:gd name="T0" fmla="*/ 0 w 112"/>
                <a:gd name="T1" fmla="*/ 38 h 59"/>
                <a:gd name="T2" fmla="*/ 16 w 112"/>
                <a:gd name="T3" fmla="*/ 16 h 59"/>
                <a:gd name="T4" fmla="*/ 22 w 112"/>
                <a:gd name="T5" fmla="*/ 58 h 59"/>
                <a:gd name="T6" fmla="*/ 44 w 112"/>
                <a:gd name="T7" fmla="*/ 0 h 59"/>
                <a:gd name="T8" fmla="*/ 44 w 112"/>
                <a:gd name="T9" fmla="*/ 58 h 59"/>
                <a:gd name="T10" fmla="*/ 66 w 112"/>
                <a:gd name="T11" fmla="*/ 0 h 59"/>
                <a:gd name="T12" fmla="*/ 66 w 112"/>
                <a:gd name="T13" fmla="*/ 38 h 59"/>
                <a:gd name="T14" fmla="*/ 88 w 112"/>
                <a:gd name="T15" fmla="*/ 19 h 59"/>
                <a:gd name="T16" fmla="*/ 111 w 112"/>
                <a:gd name="T17" fmla="*/ 19 h 59"/>
                <a:gd name="T18" fmla="*/ 111 w 112"/>
                <a:gd name="T19" fmla="*/ 0 h 5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2" h="59">
                  <a:moveTo>
                    <a:pt x="0" y="38"/>
                  </a:moveTo>
                  <a:lnTo>
                    <a:pt x="16" y="16"/>
                  </a:lnTo>
                  <a:lnTo>
                    <a:pt x="22" y="58"/>
                  </a:lnTo>
                  <a:lnTo>
                    <a:pt x="44" y="0"/>
                  </a:lnTo>
                  <a:lnTo>
                    <a:pt x="44" y="58"/>
                  </a:lnTo>
                  <a:lnTo>
                    <a:pt x="66" y="0"/>
                  </a:lnTo>
                  <a:lnTo>
                    <a:pt x="66" y="38"/>
                  </a:lnTo>
                  <a:lnTo>
                    <a:pt x="88" y="19"/>
                  </a:lnTo>
                  <a:lnTo>
                    <a:pt x="111" y="19"/>
                  </a:lnTo>
                  <a:lnTo>
                    <a:pt x="111" y="0"/>
                  </a:lnTo>
                </a:path>
              </a:pathLst>
            </a:custGeom>
            <a:noFill/>
            <a:ln w="28575" cap="rnd" cmpd="sng">
              <a:solidFill>
                <a:srgbClr val="FF33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 name="Text Box 294"/>
            <p:cNvSpPr txBox="1">
              <a:spLocks noChangeArrowheads="1"/>
            </p:cNvSpPr>
            <p:nvPr/>
          </p:nvSpPr>
          <p:spPr bwMode="auto">
            <a:xfrm>
              <a:off x="3888" y="1016"/>
              <a:ext cx="21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800" b="1" i="1">
                  <a:solidFill>
                    <a:srgbClr val="FF3300"/>
                  </a:solidFill>
                  <a:latin typeface="Times New Roman" panose="02020603050405020304" pitchFamily="18" charset="0"/>
                  <a:ea typeface="华文楷体" panose="02010600040101010101" pitchFamily="2" charset="-122"/>
                </a:rPr>
                <a:t>c</a:t>
              </a:r>
              <a:endParaRPr kumimoji="1" lang="en-US" altLang="zh-CN" sz="2800" b="1" i="1">
                <a:solidFill>
                  <a:srgbClr val="FFFF00"/>
                </a:solidFill>
                <a:latin typeface="Times New Roman" panose="02020603050405020304" pitchFamily="18" charset="0"/>
                <a:ea typeface="华文楷体" panose="02010600040101010101" pitchFamily="2" charset="-122"/>
              </a:endParaRPr>
            </a:p>
          </p:txBody>
        </p:sp>
        <p:sp>
          <p:nvSpPr>
            <p:cNvPr id="57" name="Line 295"/>
            <p:cNvSpPr>
              <a:spLocks noChangeShapeType="1"/>
            </p:cNvSpPr>
            <p:nvPr/>
          </p:nvSpPr>
          <p:spPr bwMode="auto">
            <a:xfrm flipH="1" flipV="1">
              <a:off x="3654" y="1080"/>
              <a:ext cx="282" cy="120"/>
            </a:xfrm>
            <a:prstGeom prst="line">
              <a:avLst/>
            </a:prstGeom>
            <a:noFill/>
            <a:ln w="9525">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8" name="矩形 57"/>
          <p:cNvSpPr/>
          <p:nvPr/>
        </p:nvSpPr>
        <p:spPr>
          <a:xfrm>
            <a:off x="607339" y="1578147"/>
            <a:ext cx="2584362" cy="461665"/>
          </a:xfrm>
          <a:prstGeom prst="rect">
            <a:avLst/>
          </a:prstGeom>
        </p:spPr>
        <p:txBody>
          <a:bodyPr wrap="none">
            <a:spAutoFit/>
          </a:bodyPr>
          <a:lstStyle/>
          <a:p>
            <a:pPr eaLnBrk="1" hangingPunct="1">
              <a:buFont typeface="Wingdings" panose="05000000000000000000" pitchFamily="2" charset="2"/>
              <a:buChar char="Ø"/>
            </a:pPr>
            <a:r>
              <a:rPr lang="zh-CN" altLang="en-US" b="1" dirty="0">
                <a:latin typeface="楷体" panose="02010609060101010101" pitchFamily="49" charset="-122"/>
                <a:ea typeface="楷体" panose="02010609060101010101" pitchFamily="49" charset="-122"/>
              </a:rPr>
              <a:t>显著的塑性变形</a:t>
            </a:r>
          </a:p>
        </p:txBody>
      </p:sp>
      <p:sp>
        <p:nvSpPr>
          <p:cNvPr id="59" name="文本框 58"/>
          <p:cNvSpPr txBox="1"/>
          <p:nvPr/>
        </p:nvSpPr>
        <p:spPr>
          <a:xfrm>
            <a:off x="714021" y="2138372"/>
            <a:ext cx="3294467" cy="1015663"/>
          </a:xfrm>
          <a:prstGeom prst="rect">
            <a:avLst/>
          </a:prstGeom>
          <a:noFill/>
        </p:spPr>
        <p:txBody>
          <a:bodyPr wrap="square" rtlCol="0">
            <a:spAutoFit/>
          </a:bodyPr>
          <a:lstStyle/>
          <a:p>
            <a:r>
              <a:rPr lang="zh-CN" altLang="en-US" sz="2000" b="1" dirty="0">
                <a:latin typeface="楷体" panose="02010609060101010101" pitchFamily="49" charset="-122"/>
                <a:ea typeface="楷体" panose="02010609060101010101" pitchFamily="49" charset="-122"/>
              </a:rPr>
              <a:t>屈服</a:t>
            </a:r>
            <a:r>
              <a:rPr lang="zh-CN" altLang="en-US" sz="2000" dirty="0"/>
              <a:t>（</a:t>
            </a:r>
            <a:r>
              <a:rPr lang="zh-CN" altLang="en-US" sz="2000" b="1" dirty="0">
                <a:latin typeface="楷体" panose="02010609060101010101" pitchFamily="49" charset="-122"/>
                <a:ea typeface="楷体" panose="02010609060101010101" pitchFamily="49" charset="-122"/>
              </a:rPr>
              <a:t>流动</a:t>
            </a:r>
            <a:r>
              <a:rPr lang="zh-CN" altLang="en-US" sz="2000" dirty="0"/>
              <a:t>）：</a:t>
            </a:r>
            <a:r>
              <a:rPr lang="zh-CN" altLang="en-US" sz="2000" b="1" dirty="0">
                <a:latin typeface="楷体" panose="02010609060101010101" pitchFamily="49" charset="-122"/>
                <a:ea typeface="楷体" panose="02010609060101010101" pitchFamily="49" charset="-122"/>
              </a:rPr>
              <a:t>应力先下降，后基本保持不变，而应变显著增加的现象。</a:t>
            </a:r>
          </a:p>
        </p:txBody>
      </p:sp>
      <p:sp>
        <p:nvSpPr>
          <p:cNvPr id="60" name="文本框 59"/>
          <p:cNvSpPr txBox="1"/>
          <p:nvPr/>
        </p:nvSpPr>
        <p:spPr>
          <a:xfrm>
            <a:off x="1955421" y="4856148"/>
            <a:ext cx="3122998" cy="400110"/>
          </a:xfrm>
          <a:prstGeom prst="rect">
            <a:avLst/>
          </a:prstGeom>
          <a:noFill/>
        </p:spPr>
        <p:txBody>
          <a:bodyPr wrap="square" rtlCol="0">
            <a:spAutoFit/>
          </a:bodyPr>
          <a:lstStyle/>
          <a:p>
            <a:r>
              <a:rPr lang="zh-CN" altLang="en-US" sz="2000" b="1" dirty="0">
                <a:latin typeface="楷体" panose="02010609060101010101" pitchFamily="49" charset="-122"/>
                <a:ea typeface="楷体" panose="02010609060101010101" pitchFamily="49" charset="-122"/>
              </a:rPr>
              <a:t>屈服与最大切应力相关</a:t>
            </a:r>
            <a:r>
              <a:rPr lang="zh-CN" altLang="en-US" sz="2000" dirty="0"/>
              <a:t>。</a:t>
            </a:r>
            <a:endParaRPr lang="zh-CN" altLang="en-US" sz="2000" b="1" dirty="0">
              <a:latin typeface="楷体" panose="02010609060101010101" pitchFamily="49" charset="-122"/>
              <a:ea typeface="楷体" panose="02010609060101010101" pitchFamily="49" charset="-122"/>
            </a:endParaRPr>
          </a:p>
        </p:txBody>
      </p:sp>
      <p:sp>
        <p:nvSpPr>
          <p:cNvPr id="61" name="文本框 60"/>
          <p:cNvSpPr txBox="1"/>
          <p:nvPr/>
        </p:nvSpPr>
        <p:spPr>
          <a:xfrm>
            <a:off x="5466441" y="5004915"/>
            <a:ext cx="3122998" cy="400110"/>
          </a:xfrm>
          <a:prstGeom prst="rect">
            <a:avLst/>
          </a:prstGeom>
          <a:noFill/>
        </p:spPr>
        <p:txBody>
          <a:bodyPr wrap="square" rtlCol="0">
            <a:spAutoFit/>
          </a:bodyPr>
          <a:lstStyle/>
          <a:p>
            <a:r>
              <a:rPr lang="zh-CN" altLang="en-US" sz="2000" b="1" dirty="0">
                <a:latin typeface="楷体" panose="02010609060101010101" pitchFamily="49" charset="-122"/>
                <a:ea typeface="楷体" panose="02010609060101010101" pitchFamily="49" charset="-122"/>
              </a:rPr>
              <a:t>屈服阶段应力的最低点。</a:t>
            </a:r>
          </a:p>
        </p:txBody>
      </p:sp>
      <p:sp>
        <p:nvSpPr>
          <p:cNvPr id="62" name="Rectangle 138"/>
          <p:cNvSpPr>
            <a:spLocks noChangeArrowheads="1"/>
          </p:cNvSpPr>
          <p:nvPr/>
        </p:nvSpPr>
        <p:spPr bwMode="auto">
          <a:xfrm>
            <a:off x="455166" y="417172"/>
            <a:ext cx="4103687"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800" b="1" dirty="0">
                <a:solidFill>
                  <a:srgbClr val="FF0000"/>
                </a:solidFill>
                <a:latin typeface="黑体" panose="02010609060101010101" pitchFamily="49" charset="-122"/>
                <a:ea typeface="黑体" panose="02010609060101010101" pitchFamily="49" charset="-122"/>
              </a:rPr>
              <a:t>一、低碳钢的拉伸性能</a:t>
            </a:r>
          </a:p>
        </p:txBody>
      </p:sp>
    </p:spTree>
    <p:extLst>
      <p:ext uri="{BB962C8B-B14F-4D97-AF65-F5344CB8AC3E}">
        <p14:creationId xmlns:p14="http://schemas.microsoft.com/office/powerpoint/2010/main" val="3635999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box(out)">
                                      <p:cBhvr>
                                        <p:cTn id="7" dur="500"/>
                                        <p:tgtEl>
                                          <p:spTgt spid="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8">
                                            <p:txEl>
                                              <p:pRg st="0" end="0"/>
                                            </p:txEl>
                                          </p:spTgt>
                                        </p:tgtEl>
                                        <p:attrNameLst>
                                          <p:attrName>style.visibility</p:attrName>
                                        </p:attrNameLst>
                                      </p:cBhvr>
                                      <p:to>
                                        <p:strVal val="visible"/>
                                      </p:to>
                                    </p:set>
                                    <p:animEffect transition="in" filter="wipe(left)">
                                      <p:cBhvr>
                                        <p:cTn id="17" dur="500"/>
                                        <p:tgtEl>
                                          <p:spTgt spid="5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32" fill="hold" grpId="0" nodeType="clickEffect">
                                  <p:stCondLst>
                                    <p:cond delay="0"/>
                                  </p:stCondLst>
                                  <p:childTnLst>
                                    <p:set>
                                      <p:cBhvr>
                                        <p:cTn id="21" dur="1" fill="hold">
                                          <p:stCondLst>
                                            <p:cond delay="0"/>
                                          </p:stCondLst>
                                        </p:cTn>
                                        <p:tgtEl>
                                          <p:spTgt spid="59"/>
                                        </p:tgtEl>
                                        <p:attrNameLst>
                                          <p:attrName>style.visibility</p:attrName>
                                        </p:attrNameLst>
                                      </p:cBhvr>
                                      <p:to>
                                        <p:strVal val="visible"/>
                                      </p:to>
                                    </p:set>
                                    <p:animEffect transition="in" filter="circle(out)">
                                      <p:cBhvr>
                                        <p:cTn id="22" dur="500"/>
                                        <p:tgtEl>
                                          <p:spTgt spid="5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499"/>
                                          </p:stCondLst>
                                        </p:cTn>
                                        <p:tgtEl>
                                          <p:spTgt spid="6"/>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60"/>
                                        </p:tgtEl>
                                        <p:attrNameLst>
                                          <p:attrName>style.visibility</p:attrName>
                                        </p:attrNameLst>
                                      </p:cBhvr>
                                      <p:to>
                                        <p:strVal val="visible"/>
                                      </p:to>
                                    </p:set>
                                    <p:animEffect transition="in" filter="wipe(left)">
                                      <p:cBhvr>
                                        <p:cTn id="36" dur="500"/>
                                        <p:tgtEl>
                                          <p:spTgt spid="60"/>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3"/>
                                        </p:tgtEl>
                                        <p:attrNameLst>
                                          <p:attrName>style.visibility</p:attrName>
                                        </p:attrNameLst>
                                      </p:cBhvr>
                                      <p:to>
                                        <p:strVal val="visible"/>
                                      </p:to>
                                    </p:set>
                                    <p:animEffect transition="in" filter="blinds(horizontal)">
                                      <p:cBhvr>
                                        <p:cTn id="41" dur="500"/>
                                        <p:tgtEl>
                                          <p:spTgt spid="3"/>
                                        </p:tgtEl>
                                      </p:cBhvr>
                                    </p:animEffect>
                                  </p:childTnLst>
                                </p:cTn>
                              </p:par>
                              <p:par>
                                <p:cTn id="42" presetID="3" presetClass="entr" presetSubtype="10" fill="hold" nodeType="with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blinds(horizontal)">
                                      <p:cBhvr>
                                        <p:cTn id="44" dur="500"/>
                                        <p:tgtEl>
                                          <p:spTgt spid="4"/>
                                        </p:tgtEl>
                                      </p:cBhvr>
                                    </p:animEffect>
                                  </p:childTnLst>
                                </p:cTn>
                              </p:par>
                            </p:childTnLst>
                          </p:cTn>
                        </p:par>
                      </p:childTnLst>
                    </p:cTn>
                  </p:par>
                  <p:par>
                    <p:cTn id="45" fill="hold">
                      <p:stCondLst>
                        <p:cond delay="indefinite"/>
                      </p:stCondLst>
                      <p:childTnLst>
                        <p:par>
                          <p:cTn id="46" fill="hold">
                            <p:stCondLst>
                              <p:cond delay="0"/>
                            </p:stCondLst>
                            <p:childTnLst>
                              <p:par>
                                <p:cTn id="47" presetID="4" presetClass="entr" presetSubtype="32" fill="hold" nodeType="clickEffect">
                                  <p:stCondLst>
                                    <p:cond delay="0"/>
                                  </p:stCondLst>
                                  <p:childTnLst>
                                    <p:set>
                                      <p:cBhvr>
                                        <p:cTn id="48" dur="1" fill="hold">
                                          <p:stCondLst>
                                            <p:cond delay="0"/>
                                          </p:stCondLst>
                                        </p:cTn>
                                        <p:tgtEl>
                                          <p:spTgt spid="41"/>
                                        </p:tgtEl>
                                        <p:attrNameLst>
                                          <p:attrName>style.visibility</p:attrName>
                                        </p:attrNameLst>
                                      </p:cBhvr>
                                      <p:to>
                                        <p:strVal val="visible"/>
                                      </p:to>
                                    </p:set>
                                    <p:animEffect transition="in" filter="box(out)">
                                      <p:cBhvr>
                                        <p:cTn id="49" dur="500"/>
                                        <p:tgtEl>
                                          <p:spTgt spid="41"/>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61"/>
                                        </p:tgtEl>
                                        <p:attrNameLst>
                                          <p:attrName>style.visibility</p:attrName>
                                        </p:attrNameLst>
                                      </p:cBhvr>
                                      <p:to>
                                        <p:strVal val="visible"/>
                                      </p:to>
                                    </p:set>
                                    <p:animEffect transition="in" filter="wipe(left)">
                                      <p:cBhvr>
                                        <p:cTn id="54"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59" grpId="0"/>
      <p:bldP spid="60" grpId="0"/>
      <p:bldP spid="6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39"/>
          <p:cNvSpPr>
            <a:spLocks noChangeArrowheads="1"/>
          </p:cNvSpPr>
          <p:nvPr/>
        </p:nvSpPr>
        <p:spPr bwMode="auto">
          <a:xfrm>
            <a:off x="4851058" y="5282672"/>
            <a:ext cx="3590616" cy="1200971"/>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solidFill>
                  <a:srgbClr val="FF0000"/>
                </a:solidFill>
                <a:latin typeface="Times New Roman" panose="02020603050405020304" pitchFamily="18" charset="0"/>
                <a:ea typeface="华文楷体" panose="02010600040101010101" pitchFamily="2" charset="-122"/>
              </a:rPr>
              <a:t>冷作硬化：</a:t>
            </a:r>
            <a:r>
              <a:rPr kumimoji="1" lang="zh-CN" altLang="en-US" sz="2400" b="1" dirty="0">
                <a:solidFill>
                  <a:srgbClr val="080808"/>
                </a:solidFill>
                <a:latin typeface="Times New Roman" panose="02020603050405020304" pitchFamily="18" charset="0"/>
                <a:ea typeface="华文楷体" panose="02010600040101010101" pitchFamily="2" charset="-122"/>
              </a:rPr>
              <a:t>比例极限提高，屈服消失，塑性降低，残余变形减小。</a:t>
            </a:r>
            <a:endParaRPr kumimoji="1" lang="en-US" altLang="zh-CN" sz="2400" b="1" dirty="0">
              <a:solidFill>
                <a:srgbClr val="080808"/>
              </a:solidFill>
              <a:latin typeface="Times New Roman" panose="02020603050405020304" pitchFamily="18" charset="0"/>
              <a:ea typeface="华文楷体" panose="02010600040101010101" pitchFamily="2" charset="-122"/>
            </a:endParaRPr>
          </a:p>
        </p:txBody>
      </p:sp>
      <p:pic>
        <p:nvPicPr>
          <p:cNvPr id="3" name="Picture 351" descr="低碳钢试样 拉伸破坏断口形貌2"/>
          <p:cNvPicPr>
            <a:picLocks noChangeAspect="1" noChangeArrowheads="1"/>
          </p:cNvPicPr>
          <p:nvPr/>
        </p:nvPicPr>
        <p:blipFill>
          <a:blip r:embed="rId2">
            <a:extLst>
              <a:ext uri="{28A0092B-C50C-407E-A947-70E740481C1C}">
                <a14:useLocalDpi xmlns:a14="http://schemas.microsoft.com/office/drawing/2010/main" val="0"/>
              </a:ext>
            </a:extLst>
          </a:blip>
          <a:srcRect l="5826" t="22371" r="28137" b="21600"/>
          <a:stretch>
            <a:fillRect/>
          </a:stretch>
        </p:blipFill>
        <p:spPr bwMode="auto">
          <a:xfrm>
            <a:off x="3126153" y="3461089"/>
            <a:ext cx="1271439" cy="2323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12"/>
          <p:cNvSpPr>
            <a:spLocks noChangeArrowheads="1"/>
          </p:cNvSpPr>
          <p:nvPr/>
        </p:nvSpPr>
        <p:spPr bwMode="auto">
          <a:xfrm>
            <a:off x="397744" y="1306021"/>
            <a:ext cx="4694238"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Clr>
                <a:srgbClr val="3333FF"/>
              </a:buClr>
              <a:buFont typeface="Wingdings" panose="05000000000000000000" pitchFamily="2" charset="2"/>
              <a:buChar char="n"/>
            </a:pPr>
            <a:r>
              <a:rPr kumimoji="1" lang="zh-CN" altLang="en-US" sz="2400" b="1" dirty="0">
                <a:solidFill>
                  <a:srgbClr val="0000FF"/>
                </a:solidFill>
                <a:latin typeface="Times New Roman" panose="02020603050405020304" pitchFamily="18" charset="0"/>
                <a:ea typeface="华文楷体" panose="02010600040101010101" pitchFamily="2" charset="-122"/>
              </a:rPr>
              <a:t>强化阶段</a:t>
            </a:r>
            <a:r>
              <a:rPr kumimoji="1" lang="en-US" altLang="zh-CN" sz="2400" b="1" dirty="0">
                <a:solidFill>
                  <a:srgbClr val="0000FF"/>
                </a:solidFill>
                <a:latin typeface="Times New Roman" panose="02020603050405020304" pitchFamily="18" charset="0"/>
                <a:ea typeface="华文楷体" panose="02010600040101010101" pitchFamily="2" charset="-122"/>
              </a:rPr>
              <a:t>(</a:t>
            </a:r>
            <a:r>
              <a:rPr kumimoji="1" lang="en-US" altLang="zh-CN" sz="2400" dirty="0">
                <a:solidFill>
                  <a:srgbClr val="0000FF"/>
                </a:solidFill>
                <a:latin typeface="Times New Roman" panose="02020603050405020304" pitchFamily="18" charset="0"/>
                <a:ea typeface="华文楷体" panose="02010600040101010101" pitchFamily="2" charset="-122"/>
              </a:rPr>
              <a:t>Harding region</a:t>
            </a:r>
            <a:r>
              <a:rPr kumimoji="1" lang="en-US" altLang="zh-CN" sz="2400" b="1" dirty="0">
                <a:solidFill>
                  <a:srgbClr val="0000FF"/>
                </a:solidFill>
                <a:latin typeface="Times New Roman" panose="02020603050405020304" pitchFamily="18" charset="0"/>
                <a:ea typeface="华文楷体" panose="02010600040101010101" pitchFamily="2" charset="-122"/>
              </a:rPr>
              <a:t>):  </a:t>
            </a:r>
            <a:r>
              <a:rPr kumimoji="1" lang="en-US" altLang="zh-CN" sz="2400" b="1" i="1" dirty="0">
                <a:solidFill>
                  <a:srgbClr val="0000FF"/>
                </a:solidFill>
                <a:latin typeface="Times New Roman" panose="02020603050405020304" pitchFamily="18" charset="0"/>
                <a:ea typeface="华文楷体" panose="02010600040101010101" pitchFamily="2" charset="-122"/>
              </a:rPr>
              <a:t>cd</a:t>
            </a:r>
          </a:p>
        </p:txBody>
      </p:sp>
      <p:sp>
        <p:nvSpPr>
          <p:cNvPr id="5" name="Rectangle 313"/>
          <p:cNvSpPr>
            <a:spLocks noChangeArrowheads="1"/>
          </p:cNvSpPr>
          <p:nvPr/>
        </p:nvSpPr>
        <p:spPr bwMode="auto">
          <a:xfrm>
            <a:off x="627936" y="1817599"/>
            <a:ext cx="3048000" cy="462307"/>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b="1" dirty="0">
                <a:solidFill>
                  <a:srgbClr val="FF0000"/>
                </a:solidFill>
                <a:latin typeface="楷体" panose="02010609060101010101" pitchFamily="49" charset="-122"/>
                <a:ea typeface="楷体" panose="02010609060101010101" pitchFamily="49" charset="-122"/>
              </a:rPr>
              <a:t>强度极限</a:t>
            </a:r>
            <a:r>
              <a:rPr kumimoji="1" lang="en-US" altLang="zh-CN" sz="2000" b="1" dirty="0">
                <a:solidFill>
                  <a:srgbClr val="FF0000"/>
                </a:solidFill>
                <a:latin typeface="Times New Roman" panose="02020603050405020304" pitchFamily="18" charset="0"/>
                <a:ea typeface="华文楷体" panose="02010600040101010101" pitchFamily="2" charset="-122"/>
              </a:rPr>
              <a:t>(</a:t>
            </a:r>
            <a:r>
              <a:rPr kumimoji="1" lang="en-US" altLang="zh-CN" sz="2000" dirty="0">
                <a:solidFill>
                  <a:srgbClr val="FF0000"/>
                </a:solidFill>
                <a:latin typeface="Times New Roman" panose="02020603050405020304" pitchFamily="18" charset="0"/>
                <a:ea typeface="华文楷体" panose="02010600040101010101" pitchFamily="2" charset="-122"/>
              </a:rPr>
              <a:t>Ultimate limit</a:t>
            </a:r>
            <a:r>
              <a:rPr kumimoji="1" lang="en-US" altLang="zh-CN" sz="2000" b="1" dirty="0">
                <a:solidFill>
                  <a:srgbClr val="FF0000"/>
                </a:solidFill>
                <a:latin typeface="Times New Roman" panose="02020603050405020304" pitchFamily="18" charset="0"/>
                <a:ea typeface="华文楷体" panose="02010600040101010101" pitchFamily="2" charset="-122"/>
              </a:rPr>
              <a:t>)</a:t>
            </a:r>
          </a:p>
        </p:txBody>
      </p:sp>
      <p:graphicFrame>
        <p:nvGraphicFramePr>
          <p:cNvPr id="6" name="Object 314"/>
          <p:cNvGraphicFramePr>
            <a:graphicFrameLocks/>
          </p:cNvGraphicFramePr>
          <p:nvPr>
            <p:extLst>
              <p:ext uri="{D42A27DB-BD31-4B8C-83A1-F6EECF244321}">
                <p14:modId xmlns:p14="http://schemas.microsoft.com/office/powerpoint/2010/main" val="68006351"/>
              </p:ext>
            </p:extLst>
          </p:nvPr>
        </p:nvGraphicFramePr>
        <p:xfrm>
          <a:off x="3582988" y="1811338"/>
          <a:ext cx="407987" cy="474662"/>
        </p:xfrm>
        <a:graphic>
          <a:graphicData uri="http://schemas.openxmlformats.org/presentationml/2006/ole">
            <mc:AlternateContent xmlns:mc="http://schemas.openxmlformats.org/markup-compatibility/2006">
              <mc:Choice xmlns:v="urn:schemas-microsoft-com:vml" Requires="v">
                <p:oleObj name="Equation" r:id="rId3" imgW="190440" imgH="228600" progId="Equation.DSMT4">
                  <p:embed/>
                </p:oleObj>
              </mc:Choice>
              <mc:Fallback>
                <p:oleObj name="Equation" r:id="rId3" imgW="190440" imgH="228600" progId="Equation.DSMT4">
                  <p:embed/>
                  <p:pic>
                    <p:nvPicPr>
                      <p:cNvPr id="0" name=""/>
                      <p:cNvPicPr>
                        <a:picLocks noChangeArrowheads="1"/>
                      </p:cNvPicPr>
                      <p:nvPr/>
                    </p:nvPicPr>
                    <p:blipFill>
                      <a:blip r:embed="rId4"/>
                      <a:srcRect/>
                      <a:stretch>
                        <a:fillRect/>
                      </a:stretch>
                    </p:blipFill>
                    <p:spPr bwMode="auto">
                      <a:xfrm>
                        <a:off x="3582988" y="1811338"/>
                        <a:ext cx="407987" cy="474662"/>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Rectangle 315"/>
          <p:cNvSpPr>
            <a:spLocks noChangeArrowheads="1"/>
          </p:cNvSpPr>
          <p:nvPr/>
        </p:nvSpPr>
        <p:spPr bwMode="auto">
          <a:xfrm>
            <a:off x="466020" y="2672096"/>
            <a:ext cx="301516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Clr>
                <a:srgbClr val="3333FF"/>
              </a:buClr>
              <a:buFont typeface="Wingdings" panose="05000000000000000000" pitchFamily="2" charset="2"/>
              <a:buChar char="n"/>
            </a:pPr>
            <a:r>
              <a:rPr kumimoji="1" lang="zh-CN" altLang="en-US" sz="2400" b="1" dirty="0">
                <a:solidFill>
                  <a:srgbClr val="0000FF"/>
                </a:solidFill>
                <a:latin typeface="Times New Roman" panose="02020603050405020304" pitchFamily="18" charset="0"/>
                <a:ea typeface="华文楷体" panose="02010600040101010101" pitchFamily="2" charset="-122"/>
              </a:rPr>
              <a:t>局部变形阶段</a:t>
            </a:r>
            <a:r>
              <a:rPr kumimoji="1" lang="en-US" altLang="zh-CN" sz="2400" b="1" dirty="0">
                <a:solidFill>
                  <a:srgbClr val="0000FF"/>
                </a:solidFill>
                <a:latin typeface="Times New Roman" panose="02020603050405020304" pitchFamily="18" charset="0"/>
                <a:ea typeface="华文楷体" panose="02010600040101010101" pitchFamily="2" charset="-122"/>
              </a:rPr>
              <a:t>:  </a:t>
            </a:r>
            <a:r>
              <a:rPr kumimoji="1" lang="en-US" altLang="zh-CN" sz="2400" b="1" i="1" dirty="0">
                <a:solidFill>
                  <a:srgbClr val="0000FF"/>
                </a:solidFill>
                <a:latin typeface="Times New Roman" panose="02020603050405020304" pitchFamily="18" charset="0"/>
                <a:ea typeface="华文楷体" panose="02010600040101010101" pitchFamily="2" charset="-122"/>
              </a:rPr>
              <a:t>de</a:t>
            </a:r>
          </a:p>
        </p:txBody>
      </p:sp>
      <p:grpSp>
        <p:nvGrpSpPr>
          <p:cNvPr id="8" name="Group 244"/>
          <p:cNvGrpSpPr>
            <a:grpSpLocks/>
          </p:cNvGrpSpPr>
          <p:nvPr/>
        </p:nvGrpSpPr>
        <p:grpSpPr bwMode="auto">
          <a:xfrm>
            <a:off x="4718986" y="1174295"/>
            <a:ext cx="3997325" cy="2457450"/>
            <a:chOff x="3242" y="283"/>
            <a:chExt cx="2518" cy="1548"/>
          </a:xfrm>
        </p:grpSpPr>
        <p:grpSp>
          <p:nvGrpSpPr>
            <p:cNvPr id="9" name="Group 245"/>
            <p:cNvGrpSpPr>
              <a:grpSpLocks/>
            </p:cNvGrpSpPr>
            <p:nvPr/>
          </p:nvGrpSpPr>
          <p:grpSpPr bwMode="auto">
            <a:xfrm>
              <a:off x="3242" y="283"/>
              <a:ext cx="2518" cy="1536"/>
              <a:chOff x="3195" y="181"/>
              <a:chExt cx="2518" cy="1536"/>
            </a:xfrm>
          </p:grpSpPr>
          <p:graphicFrame>
            <p:nvGraphicFramePr>
              <p:cNvPr id="11" name="Object 246"/>
              <p:cNvGraphicFramePr>
                <a:graphicFrameLocks/>
              </p:cNvGraphicFramePr>
              <p:nvPr/>
            </p:nvGraphicFramePr>
            <p:xfrm>
              <a:off x="3195" y="192"/>
              <a:ext cx="225" cy="188"/>
            </p:xfrm>
            <a:graphic>
              <a:graphicData uri="http://schemas.openxmlformats.org/presentationml/2006/ole">
                <mc:AlternateContent xmlns:mc="http://schemas.openxmlformats.org/markup-compatibility/2006">
                  <mc:Choice xmlns:v="urn:schemas-microsoft-com:vml" Requires="v">
                    <p:oleObj name="公式" r:id="rId5" imgW="142830" imgH="133440" progId="Equation.3">
                      <p:embed/>
                    </p:oleObj>
                  </mc:Choice>
                  <mc:Fallback>
                    <p:oleObj name="公式" r:id="rId5" imgW="142830" imgH="133440"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95" y="192"/>
                            <a:ext cx="225" cy="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 name="Object 247"/>
              <p:cNvGraphicFramePr>
                <a:graphicFrameLocks/>
              </p:cNvGraphicFramePr>
              <p:nvPr/>
            </p:nvGraphicFramePr>
            <p:xfrm>
              <a:off x="5524" y="1526"/>
              <a:ext cx="189" cy="191"/>
            </p:xfrm>
            <a:graphic>
              <a:graphicData uri="http://schemas.openxmlformats.org/presentationml/2006/ole">
                <mc:AlternateContent xmlns:mc="http://schemas.openxmlformats.org/markup-compatibility/2006">
                  <mc:Choice xmlns:v="urn:schemas-microsoft-com:vml" Requires="v">
                    <p:oleObj name="公式" r:id="rId7" imgW="114210" imgH="133440" progId="Equation.3">
                      <p:embed/>
                    </p:oleObj>
                  </mc:Choice>
                  <mc:Fallback>
                    <p:oleObj name="公式" r:id="rId7" imgW="114210" imgH="133440"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24" y="1526"/>
                            <a:ext cx="189" cy="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3" name="Group 248"/>
              <p:cNvGrpSpPr>
                <a:grpSpLocks/>
              </p:cNvGrpSpPr>
              <p:nvPr/>
            </p:nvGrpSpPr>
            <p:grpSpPr bwMode="auto">
              <a:xfrm>
                <a:off x="3334" y="181"/>
                <a:ext cx="2304" cy="1453"/>
                <a:chOff x="576" y="374"/>
                <a:chExt cx="2304" cy="1453"/>
              </a:xfrm>
            </p:grpSpPr>
            <p:sp>
              <p:nvSpPr>
                <p:cNvPr id="14" name="Line 249"/>
                <p:cNvSpPr>
                  <a:spLocks noChangeShapeType="1"/>
                </p:cNvSpPr>
                <p:nvPr/>
              </p:nvSpPr>
              <p:spPr bwMode="auto">
                <a:xfrm>
                  <a:off x="576" y="1700"/>
                  <a:ext cx="2304" cy="0"/>
                </a:xfrm>
                <a:prstGeom prst="line">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250"/>
                <p:cNvSpPr>
                  <a:spLocks noChangeShapeType="1"/>
                </p:cNvSpPr>
                <p:nvPr/>
              </p:nvSpPr>
              <p:spPr bwMode="auto">
                <a:xfrm flipV="1">
                  <a:off x="674" y="374"/>
                  <a:ext cx="0" cy="1453"/>
                </a:xfrm>
                <a:prstGeom prst="line">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Freeform 251"/>
                <p:cNvSpPr>
                  <a:spLocks/>
                </p:cNvSpPr>
                <p:nvPr/>
              </p:nvSpPr>
              <p:spPr bwMode="auto">
                <a:xfrm>
                  <a:off x="823" y="942"/>
                  <a:ext cx="112" cy="59"/>
                </a:xfrm>
                <a:custGeom>
                  <a:avLst/>
                  <a:gdLst>
                    <a:gd name="T0" fmla="*/ 0 w 112"/>
                    <a:gd name="T1" fmla="*/ 38 h 59"/>
                    <a:gd name="T2" fmla="*/ 16 w 112"/>
                    <a:gd name="T3" fmla="*/ 16 h 59"/>
                    <a:gd name="T4" fmla="*/ 22 w 112"/>
                    <a:gd name="T5" fmla="*/ 58 h 59"/>
                    <a:gd name="T6" fmla="*/ 44 w 112"/>
                    <a:gd name="T7" fmla="*/ 0 h 59"/>
                    <a:gd name="T8" fmla="*/ 44 w 112"/>
                    <a:gd name="T9" fmla="*/ 58 h 59"/>
                    <a:gd name="T10" fmla="*/ 66 w 112"/>
                    <a:gd name="T11" fmla="*/ 0 h 59"/>
                    <a:gd name="T12" fmla="*/ 66 w 112"/>
                    <a:gd name="T13" fmla="*/ 38 h 59"/>
                    <a:gd name="T14" fmla="*/ 88 w 112"/>
                    <a:gd name="T15" fmla="*/ 19 h 59"/>
                    <a:gd name="T16" fmla="*/ 111 w 112"/>
                    <a:gd name="T17" fmla="*/ 19 h 59"/>
                    <a:gd name="T18" fmla="*/ 111 w 112"/>
                    <a:gd name="T19" fmla="*/ 0 h 5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2" h="59">
                      <a:moveTo>
                        <a:pt x="0" y="38"/>
                      </a:moveTo>
                      <a:lnTo>
                        <a:pt x="16" y="16"/>
                      </a:lnTo>
                      <a:lnTo>
                        <a:pt x="22" y="58"/>
                      </a:lnTo>
                      <a:lnTo>
                        <a:pt x="44" y="0"/>
                      </a:lnTo>
                      <a:lnTo>
                        <a:pt x="44" y="58"/>
                      </a:lnTo>
                      <a:lnTo>
                        <a:pt x="66" y="0"/>
                      </a:lnTo>
                      <a:lnTo>
                        <a:pt x="66" y="38"/>
                      </a:lnTo>
                      <a:lnTo>
                        <a:pt x="88" y="19"/>
                      </a:lnTo>
                      <a:lnTo>
                        <a:pt x="111" y="19"/>
                      </a:lnTo>
                      <a:lnTo>
                        <a:pt x="111" y="0"/>
                      </a:lnTo>
                    </a:path>
                  </a:pathLst>
                </a:custGeom>
                <a:noFill/>
                <a:ln w="12700"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Arc 252"/>
                <p:cNvSpPr>
                  <a:spLocks/>
                </p:cNvSpPr>
                <p:nvPr/>
              </p:nvSpPr>
              <p:spPr bwMode="auto">
                <a:xfrm>
                  <a:off x="934" y="533"/>
                  <a:ext cx="1262" cy="449"/>
                </a:xfrm>
                <a:custGeom>
                  <a:avLst/>
                  <a:gdLst>
                    <a:gd name="T0" fmla="*/ 0 w 22828"/>
                    <a:gd name="T1" fmla="*/ 449 h 21600"/>
                    <a:gd name="T2" fmla="*/ 1262 w 22828"/>
                    <a:gd name="T3" fmla="*/ 1 h 21600"/>
                    <a:gd name="T4" fmla="*/ 1194 w 22828"/>
                    <a:gd name="T5" fmla="*/ 449 h 21600"/>
                    <a:gd name="T6" fmla="*/ 0 60000 65536"/>
                    <a:gd name="T7" fmla="*/ 0 60000 65536"/>
                    <a:gd name="T8" fmla="*/ 0 60000 65536"/>
                  </a:gdLst>
                  <a:ahLst/>
                  <a:cxnLst>
                    <a:cxn ang="T6">
                      <a:pos x="T0" y="T1"/>
                    </a:cxn>
                    <a:cxn ang="T7">
                      <a:pos x="T2" y="T3"/>
                    </a:cxn>
                    <a:cxn ang="T8">
                      <a:pos x="T4" y="T5"/>
                    </a:cxn>
                  </a:cxnLst>
                  <a:rect l="0" t="0" r="r" b="b"/>
                  <a:pathLst>
                    <a:path w="22828" h="21600" fill="none" extrusionOk="0">
                      <a:moveTo>
                        <a:pt x="0" y="21599"/>
                      </a:moveTo>
                      <a:cubicBezTo>
                        <a:pt x="0" y="9670"/>
                        <a:pt x="9670" y="0"/>
                        <a:pt x="21600" y="0"/>
                      </a:cubicBezTo>
                      <a:cubicBezTo>
                        <a:pt x="22009" y="0"/>
                        <a:pt x="22419" y="11"/>
                        <a:pt x="22828" y="34"/>
                      </a:cubicBezTo>
                    </a:path>
                    <a:path w="22828" h="21600" stroke="0" extrusionOk="0">
                      <a:moveTo>
                        <a:pt x="0" y="21599"/>
                      </a:moveTo>
                      <a:cubicBezTo>
                        <a:pt x="0" y="9670"/>
                        <a:pt x="9670" y="0"/>
                        <a:pt x="21600" y="0"/>
                      </a:cubicBezTo>
                      <a:cubicBezTo>
                        <a:pt x="22009" y="0"/>
                        <a:pt x="22419" y="11"/>
                        <a:pt x="22828" y="34"/>
                      </a:cubicBezTo>
                      <a:lnTo>
                        <a:pt x="21600" y="21600"/>
                      </a:lnTo>
                      <a:lnTo>
                        <a:pt x="0" y="21599"/>
                      </a:lnTo>
                      <a:close/>
                    </a:path>
                  </a:pathLst>
                </a:custGeom>
                <a:noFill/>
                <a:ln w="127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Arc 253"/>
                <p:cNvSpPr>
                  <a:spLocks/>
                </p:cNvSpPr>
                <p:nvPr/>
              </p:nvSpPr>
              <p:spPr bwMode="auto">
                <a:xfrm>
                  <a:off x="2170" y="533"/>
                  <a:ext cx="555" cy="195"/>
                </a:xfrm>
                <a:custGeom>
                  <a:avLst/>
                  <a:gdLst>
                    <a:gd name="T0" fmla="*/ 0 w 21639"/>
                    <a:gd name="T1" fmla="*/ 0 h 21600"/>
                    <a:gd name="T2" fmla="*/ 555 w 21639"/>
                    <a:gd name="T3" fmla="*/ 195 h 21600"/>
                    <a:gd name="T4" fmla="*/ 1 w 21639"/>
                    <a:gd name="T5" fmla="*/ 195 h 21600"/>
                    <a:gd name="T6" fmla="*/ 0 60000 65536"/>
                    <a:gd name="T7" fmla="*/ 0 60000 65536"/>
                    <a:gd name="T8" fmla="*/ 0 60000 65536"/>
                  </a:gdLst>
                  <a:ahLst/>
                  <a:cxnLst>
                    <a:cxn ang="T6">
                      <a:pos x="T0" y="T1"/>
                    </a:cxn>
                    <a:cxn ang="T7">
                      <a:pos x="T2" y="T3"/>
                    </a:cxn>
                    <a:cxn ang="T8">
                      <a:pos x="T4" y="T5"/>
                    </a:cxn>
                  </a:cxnLst>
                  <a:rect l="0" t="0" r="r" b="b"/>
                  <a:pathLst>
                    <a:path w="21639" h="21600" fill="none" extrusionOk="0">
                      <a:moveTo>
                        <a:pt x="0" y="0"/>
                      </a:moveTo>
                      <a:cubicBezTo>
                        <a:pt x="13" y="0"/>
                        <a:pt x="26" y="0"/>
                        <a:pt x="39" y="0"/>
                      </a:cubicBezTo>
                      <a:cubicBezTo>
                        <a:pt x="11968" y="0"/>
                        <a:pt x="21639" y="9670"/>
                        <a:pt x="21639" y="21600"/>
                      </a:cubicBezTo>
                    </a:path>
                    <a:path w="21639" h="21600" stroke="0" extrusionOk="0">
                      <a:moveTo>
                        <a:pt x="0" y="0"/>
                      </a:moveTo>
                      <a:cubicBezTo>
                        <a:pt x="13" y="0"/>
                        <a:pt x="26" y="0"/>
                        <a:pt x="39" y="0"/>
                      </a:cubicBezTo>
                      <a:cubicBezTo>
                        <a:pt x="11968" y="0"/>
                        <a:pt x="21639" y="9670"/>
                        <a:pt x="21639" y="21600"/>
                      </a:cubicBezTo>
                      <a:lnTo>
                        <a:pt x="39" y="21600"/>
                      </a:lnTo>
                      <a:lnTo>
                        <a:pt x="0" y="0"/>
                      </a:lnTo>
                      <a:close/>
                    </a:path>
                  </a:pathLst>
                </a:custGeom>
                <a:noFill/>
                <a:ln w="127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254"/>
                <p:cNvSpPr>
                  <a:spLocks noChangeShapeType="1"/>
                </p:cNvSpPr>
                <p:nvPr/>
              </p:nvSpPr>
              <p:spPr bwMode="auto">
                <a:xfrm flipV="1">
                  <a:off x="674" y="960"/>
                  <a:ext cx="142" cy="76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0" name="Text Box 255"/>
            <p:cNvSpPr txBox="1">
              <a:spLocks noChangeArrowheads="1"/>
            </p:cNvSpPr>
            <p:nvPr/>
          </p:nvSpPr>
          <p:spPr bwMode="auto">
            <a:xfrm>
              <a:off x="3244" y="1579"/>
              <a:ext cx="23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kumimoji="1" lang="en-US" altLang="zh-CN" sz="2000" b="1" i="1" dirty="0">
                  <a:latin typeface="Times New Roman" panose="02020603050405020304" pitchFamily="18" charset="0"/>
                  <a:ea typeface="华文楷体" panose="02010600040101010101" pitchFamily="2" charset="-122"/>
                </a:rPr>
                <a:t>O</a:t>
              </a:r>
            </a:p>
          </p:txBody>
        </p:sp>
      </p:grpSp>
      <p:grpSp>
        <p:nvGrpSpPr>
          <p:cNvPr id="29" name="Group 265"/>
          <p:cNvGrpSpPr>
            <a:grpSpLocks/>
          </p:cNvGrpSpPr>
          <p:nvPr/>
        </p:nvGrpSpPr>
        <p:grpSpPr bwMode="auto">
          <a:xfrm>
            <a:off x="4696761" y="2258558"/>
            <a:ext cx="454025" cy="1001712"/>
            <a:chOff x="3205" y="1920"/>
            <a:chExt cx="286" cy="631"/>
          </a:xfrm>
        </p:grpSpPr>
        <p:sp>
          <p:nvSpPr>
            <p:cNvPr id="30" name="Line 266"/>
            <p:cNvSpPr>
              <a:spLocks noChangeShapeType="1"/>
            </p:cNvSpPr>
            <p:nvPr/>
          </p:nvSpPr>
          <p:spPr bwMode="auto">
            <a:xfrm>
              <a:off x="3264" y="1920"/>
              <a:ext cx="227"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267"/>
            <p:cNvSpPr>
              <a:spLocks noChangeShapeType="1"/>
            </p:cNvSpPr>
            <p:nvPr/>
          </p:nvSpPr>
          <p:spPr bwMode="auto">
            <a:xfrm flipV="1">
              <a:off x="3360" y="1920"/>
              <a:ext cx="0" cy="189"/>
            </a:xfrm>
            <a:prstGeom prst="line">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268"/>
            <p:cNvSpPr>
              <a:spLocks noChangeShapeType="1"/>
            </p:cNvSpPr>
            <p:nvPr/>
          </p:nvSpPr>
          <p:spPr bwMode="auto">
            <a:xfrm>
              <a:off x="3360" y="2400"/>
              <a:ext cx="0" cy="151"/>
            </a:xfrm>
            <a:prstGeom prst="line">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3" name="Object 269"/>
            <p:cNvGraphicFramePr>
              <a:graphicFrameLocks/>
            </p:cNvGraphicFramePr>
            <p:nvPr/>
          </p:nvGraphicFramePr>
          <p:xfrm>
            <a:off x="3205" y="2118"/>
            <a:ext cx="272" cy="282"/>
          </p:xfrm>
          <a:graphic>
            <a:graphicData uri="http://schemas.openxmlformats.org/presentationml/2006/ole">
              <mc:AlternateContent xmlns:mc="http://schemas.openxmlformats.org/markup-compatibility/2006">
                <mc:Choice xmlns:v="urn:schemas-microsoft-com:vml" Requires="v">
                  <p:oleObj name="Equation" r:id="rId9" imgW="190620" imgH="219165" progId="Equation.2">
                    <p:embed/>
                  </p:oleObj>
                </mc:Choice>
                <mc:Fallback>
                  <p:oleObj name="Equation" r:id="rId9" imgW="190620" imgH="219165" progId="Equation.2">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05" y="2118"/>
                          <a:ext cx="272" cy="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4" name="Group 270"/>
          <p:cNvGrpSpPr>
            <a:grpSpLocks/>
          </p:cNvGrpSpPr>
          <p:nvPr/>
        </p:nvGrpSpPr>
        <p:grpSpPr bwMode="auto">
          <a:xfrm>
            <a:off x="4284011" y="2182358"/>
            <a:ext cx="963612" cy="1095375"/>
            <a:chOff x="2945" y="1872"/>
            <a:chExt cx="607" cy="720"/>
          </a:xfrm>
        </p:grpSpPr>
        <p:sp>
          <p:nvSpPr>
            <p:cNvPr id="35" name="Line 271"/>
            <p:cNvSpPr>
              <a:spLocks noChangeShapeType="1"/>
            </p:cNvSpPr>
            <p:nvPr/>
          </p:nvSpPr>
          <p:spPr bwMode="auto">
            <a:xfrm flipH="1">
              <a:off x="3024" y="2592"/>
              <a:ext cx="336"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Line 272"/>
            <p:cNvSpPr>
              <a:spLocks noChangeShapeType="1"/>
            </p:cNvSpPr>
            <p:nvPr/>
          </p:nvSpPr>
          <p:spPr bwMode="auto">
            <a:xfrm>
              <a:off x="3072" y="1872"/>
              <a:ext cx="48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Line 273"/>
            <p:cNvSpPr>
              <a:spLocks noChangeShapeType="1"/>
            </p:cNvSpPr>
            <p:nvPr/>
          </p:nvSpPr>
          <p:spPr bwMode="auto">
            <a:xfrm>
              <a:off x="3120" y="1872"/>
              <a:ext cx="0" cy="240"/>
            </a:xfrm>
            <a:prstGeom prst="line">
              <a:avLst/>
            </a:prstGeom>
            <a:noFill/>
            <a:ln w="12700">
              <a:solidFill>
                <a:schemeClr val="tx1"/>
              </a:solidFill>
              <a:round/>
              <a:headEnd type="triangle"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Line 274"/>
            <p:cNvSpPr>
              <a:spLocks noChangeShapeType="1"/>
            </p:cNvSpPr>
            <p:nvPr/>
          </p:nvSpPr>
          <p:spPr bwMode="auto">
            <a:xfrm flipV="1">
              <a:off x="3120" y="2352"/>
              <a:ext cx="0" cy="240"/>
            </a:xfrm>
            <a:prstGeom prst="line">
              <a:avLst/>
            </a:prstGeom>
            <a:noFill/>
            <a:ln w="12700">
              <a:solidFill>
                <a:schemeClr val="tx1"/>
              </a:solidFill>
              <a:round/>
              <a:headEnd type="triangle"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9" name="Object 275"/>
            <p:cNvGraphicFramePr>
              <a:graphicFrameLocks/>
            </p:cNvGraphicFramePr>
            <p:nvPr/>
          </p:nvGraphicFramePr>
          <p:xfrm>
            <a:off x="2945" y="2096"/>
            <a:ext cx="242" cy="256"/>
          </p:xfrm>
          <a:graphic>
            <a:graphicData uri="http://schemas.openxmlformats.org/presentationml/2006/ole">
              <mc:AlternateContent xmlns:mc="http://schemas.openxmlformats.org/markup-compatibility/2006">
                <mc:Choice xmlns:v="urn:schemas-microsoft-com:vml" Requires="v">
                  <p:oleObj name="Equation" r:id="rId11" imgW="171450" imgH="190590" progId="Equation.2">
                    <p:embed/>
                  </p:oleObj>
                </mc:Choice>
                <mc:Fallback>
                  <p:oleObj name="Equation" r:id="rId11" imgW="171450" imgH="190590" progId="Equation.2">
                    <p:embed/>
                    <p:pic>
                      <p:nvPicPr>
                        <p:cNvPr id="0" name=""/>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45" y="2096"/>
                          <a:ext cx="242" cy="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40" name="Group 276"/>
          <p:cNvGrpSpPr>
            <a:grpSpLocks/>
          </p:cNvGrpSpPr>
          <p:nvPr/>
        </p:nvGrpSpPr>
        <p:grpSpPr bwMode="auto">
          <a:xfrm>
            <a:off x="5476228" y="2182358"/>
            <a:ext cx="592138" cy="1066800"/>
            <a:chOff x="3696" y="1872"/>
            <a:chExt cx="373" cy="672"/>
          </a:xfrm>
        </p:grpSpPr>
        <p:sp>
          <p:nvSpPr>
            <p:cNvPr id="41" name="Line 277"/>
            <p:cNvSpPr>
              <a:spLocks noChangeShapeType="1"/>
            </p:cNvSpPr>
            <p:nvPr/>
          </p:nvSpPr>
          <p:spPr bwMode="auto">
            <a:xfrm>
              <a:off x="3696" y="1872"/>
              <a:ext cx="24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Line 278"/>
            <p:cNvSpPr>
              <a:spLocks noChangeShapeType="1"/>
            </p:cNvSpPr>
            <p:nvPr/>
          </p:nvSpPr>
          <p:spPr bwMode="auto">
            <a:xfrm>
              <a:off x="3792" y="1872"/>
              <a:ext cx="0" cy="672"/>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3" name="Object 279"/>
            <p:cNvGraphicFramePr>
              <a:graphicFrameLocks/>
            </p:cNvGraphicFramePr>
            <p:nvPr>
              <p:extLst>
                <p:ext uri="{D42A27DB-BD31-4B8C-83A1-F6EECF244321}">
                  <p14:modId xmlns:p14="http://schemas.microsoft.com/office/powerpoint/2010/main" val="2173575048"/>
                </p:ext>
              </p:extLst>
            </p:nvPr>
          </p:nvGraphicFramePr>
          <p:xfrm>
            <a:off x="3806" y="2096"/>
            <a:ext cx="263" cy="271"/>
          </p:xfrm>
          <a:graphic>
            <a:graphicData uri="http://schemas.openxmlformats.org/presentationml/2006/ole">
              <mc:AlternateContent xmlns:mc="http://schemas.openxmlformats.org/markup-compatibility/2006">
                <mc:Choice xmlns:v="urn:schemas-microsoft-com:vml" Requires="v">
                  <p:oleObj name="Equation" r:id="rId13" imgW="171450" imgH="190590" progId="Equation.2">
                    <p:embed/>
                  </p:oleObj>
                </mc:Choice>
                <mc:Fallback>
                  <p:oleObj name="Equation" r:id="rId13" imgW="171450" imgH="190590" progId="Equation.2">
                    <p:embed/>
                    <p:pic>
                      <p:nvPicPr>
                        <p:cNvPr id="0" name=""/>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806" y="2096"/>
                          <a:ext cx="263" cy="271"/>
                        </a:xfrm>
                        <a:prstGeom prst="rect">
                          <a:avLst/>
                        </a:prstGeom>
                        <a:noFill/>
                        <a:ln>
                          <a:noFill/>
                        </a:ln>
                        <a:effectLst/>
                      </p:spPr>
                    </p:pic>
                  </p:oleObj>
                </mc:Fallback>
              </mc:AlternateContent>
            </a:graphicData>
          </a:graphic>
        </p:graphicFrame>
      </p:grpSp>
      <p:grpSp>
        <p:nvGrpSpPr>
          <p:cNvPr id="44" name="Group 280"/>
          <p:cNvGrpSpPr>
            <a:grpSpLocks/>
          </p:cNvGrpSpPr>
          <p:nvPr/>
        </p:nvGrpSpPr>
        <p:grpSpPr bwMode="auto">
          <a:xfrm>
            <a:off x="7421246" y="1436233"/>
            <a:ext cx="412750" cy="1828800"/>
            <a:chOff x="4848" y="1392"/>
            <a:chExt cx="260" cy="1152"/>
          </a:xfrm>
        </p:grpSpPr>
        <p:sp>
          <p:nvSpPr>
            <p:cNvPr id="45" name="Line 281"/>
            <p:cNvSpPr>
              <a:spLocks noChangeShapeType="1"/>
            </p:cNvSpPr>
            <p:nvPr/>
          </p:nvSpPr>
          <p:spPr bwMode="auto">
            <a:xfrm>
              <a:off x="4848" y="1392"/>
              <a:ext cx="0" cy="1152"/>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6" name="Object 282"/>
            <p:cNvGraphicFramePr>
              <a:graphicFrameLocks/>
            </p:cNvGraphicFramePr>
            <p:nvPr/>
          </p:nvGraphicFramePr>
          <p:xfrm>
            <a:off x="4865" y="1856"/>
            <a:ext cx="243" cy="256"/>
          </p:xfrm>
          <a:graphic>
            <a:graphicData uri="http://schemas.openxmlformats.org/presentationml/2006/ole">
              <mc:AlternateContent xmlns:mc="http://schemas.openxmlformats.org/markup-compatibility/2006">
                <mc:Choice xmlns:v="urn:schemas-microsoft-com:vml" Requires="v">
                  <p:oleObj name="Equation" r:id="rId15" imgW="171450" imgH="190590" progId="Equation.2">
                    <p:embed/>
                  </p:oleObj>
                </mc:Choice>
                <mc:Fallback>
                  <p:oleObj name="Equation" r:id="rId15" imgW="171450" imgH="190590" progId="Equation.2">
                    <p:embed/>
                    <p:pic>
                      <p:nvPicPr>
                        <p:cNvPr id="0" name=""/>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865" y="1856"/>
                          <a:ext cx="243" cy="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47" name="Group 283"/>
          <p:cNvGrpSpPr>
            <a:grpSpLocks/>
          </p:cNvGrpSpPr>
          <p:nvPr/>
        </p:nvGrpSpPr>
        <p:grpSpPr bwMode="auto">
          <a:xfrm>
            <a:off x="5171423" y="2793545"/>
            <a:ext cx="381000" cy="457200"/>
            <a:chOff x="3504" y="2257"/>
            <a:chExt cx="240" cy="288"/>
          </a:xfrm>
        </p:grpSpPr>
        <p:sp>
          <p:nvSpPr>
            <p:cNvPr id="48" name="Arc 284"/>
            <p:cNvSpPr>
              <a:spLocks/>
            </p:cNvSpPr>
            <p:nvPr/>
          </p:nvSpPr>
          <p:spPr bwMode="auto">
            <a:xfrm>
              <a:off x="3504" y="2401"/>
              <a:ext cx="97" cy="144"/>
            </a:xfrm>
            <a:custGeom>
              <a:avLst/>
              <a:gdLst>
                <a:gd name="T0" fmla="*/ 0 w 21825"/>
                <a:gd name="T1" fmla="*/ 0 h 21600"/>
                <a:gd name="T2" fmla="*/ 97 w 21825"/>
                <a:gd name="T3" fmla="*/ 144 h 21600"/>
                <a:gd name="T4" fmla="*/ 1 w 21825"/>
                <a:gd name="T5" fmla="*/ 144 h 21600"/>
                <a:gd name="T6" fmla="*/ 0 60000 65536"/>
                <a:gd name="T7" fmla="*/ 0 60000 65536"/>
                <a:gd name="T8" fmla="*/ 0 60000 65536"/>
              </a:gdLst>
              <a:ahLst/>
              <a:cxnLst>
                <a:cxn ang="T6">
                  <a:pos x="T0" y="T1"/>
                </a:cxn>
                <a:cxn ang="T7">
                  <a:pos x="T2" y="T3"/>
                </a:cxn>
                <a:cxn ang="T8">
                  <a:pos x="T4" y="T5"/>
                </a:cxn>
              </a:cxnLst>
              <a:rect l="0" t="0" r="r" b="b"/>
              <a:pathLst>
                <a:path w="21825" h="21600" fill="none" extrusionOk="0">
                  <a:moveTo>
                    <a:pt x="0" y="1"/>
                  </a:moveTo>
                  <a:cubicBezTo>
                    <a:pt x="74" y="0"/>
                    <a:pt x="149" y="0"/>
                    <a:pt x="225" y="0"/>
                  </a:cubicBezTo>
                  <a:cubicBezTo>
                    <a:pt x="12154" y="0"/>
                    <a:pt x="21825" y="9670"/>
                    <a:pt x="21825" y="21600"/>
                  </a:cubicBezTo>
                </a:path>
                <a:path w="21825" h="21600" stroke="0" extrusionOk="0">
                  <a:moveTo>
                    <a:pt x="0" y="1"/>
                  </a:moveTo>
                  <a:cubicBezTo>
                    <a:pt x="74" y="0"/>
                    <a:pt x="149" y="0"/>
                    <a:pt x="225" y="0"/>
                  </a:cubicBezTo>
                  <a:cubicBezTo>
                    <a:pt x="12154" y="0"/>
                    <a:pt x="21825" y="9670"/>
                    <a:pt x="21825" y="21600"/>
                  </a:cubicBezTo>
                  <a:lnTo>
                    <a:pt x="225" y="21600"/>
                  </a:lnTo>
                  <a:lnTo>
                    <a:pt x="0" y="1"/>
                  </a:lnTo>
                  <a:close/>
                </a:path>
              </a:pathLst>
            </a:custGeom>
            <a:noFill/>
            <a:ln w="127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9" name="Object 285"/>
            <p:cNvGraphicFramePr>
              <a:graphicFrameLocks/>
            </p:cNvGraphicFramePr>
            <p:nvPr/>
          </p:nvGraphicFramePr>
          <p:xfrm>
            <a:off x="3549" y="2257"/>
            <a:ext cx="195" cy="177"/>
          </p:xfrm>
          <a:graphic>
            <a:graphicData uri="http://schemas.openxmlformats.org/presentationml/2006/ole">
              <mc:AlternateContent xmlns:mc="http://schemas.openxmlformats.org/markup-compatibility/2006">
                <mc:Choice xmlns:v="urn:schemas-microsoft-com:vml" Requires="v">
                  <p:oleObj name="Equation" r:id="rId17" imgW="142830" imgH="133440" progId="Equation.2">
                    <p:embed/>
                  </p:oleObj>
                </mc:Choice>
                <mc:Fallback>
                  <p:oleObj name="Equation" r:id="rId17" imgW="142830" imgH="133440" progId="Equation.2">
                    <p:embed/>
                    <p:pic>
                      <p:nvPicPr>
                        <p:cNvPr id="0" name=""/>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549" y="2257"/>
                          <a:ext cx="195" cy="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50" name="Group 286"/>
          <p:cNvGrpSpPr>
            <a:grpSpLocks/>
          </p:cNvGrpSpPr>
          <p:nvPr/>
        </p:nvGrpSpPr>
        <p:grpSpPr bwMode="auto">
          <a:xfrm>
            <a:off x="5098398" y="2090283"/>
            <a:ext cx="487363" cy="1184275"/>
            <a:chOff x="3437" y="998"/>
            <a:chExt cx="307" cy="746"/>
          </a:xfrm>
        </p:grpSpPr>
        <p:sp>
          <p:nvSpPr>
            <p:cNvPr id="51" name="Line 287"/>
            <p:cNvSpPr>
              <a:spLocks noChangeShapeType="1"/>
            </p:cNvSpPr>
            <p:nvPr/>
          </p:nvSpPr>
          <p:spPr bwMode="auto">
            <a:xfrm flipV="1">
              <a:off x="3437" y="1110"/>
              <a:ext cx="121" cy="634"/>
            </a:xfrm>
            <a:prstGeom prst="line">
              <a:avLst/>
            </a:prstGeom>
            <a:noFill/>
            <a:ln w="28575">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Text Box 288"/>
            <p:cNvSpPr txBox="1">
              <a:spLocks noChangeArrowheads="1"/>
            </p:cNvSpPr>
            <p:nvPr/>
          </p:nvSpPr>
          <p:spPr bwMode="auto">
            <a:xfrm>
              <a:off x="3516" y="998"/>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800" b="1" i="1">
                  <a:solidFill>
                    <a:srgbClr val="FF3300"/>
                  </a:solidFill>
                  <a:latin typeface="Times New Roman" panose="02020603050405020304" pitchFamily="18" charset="0"/>
                  <a:ea typeface="华文楷体" panose="02010600040101010101" pitchFamily="2" charset="-122"/>
                </a:rPr>
                <a:t>a</a:t>
              </a:r>
              <a:endParaRPr kumimoji="1" lang="en-US" altLang="zh-CN" sz="2800" b="1" i="1">
                <a:solidFill>
                  <a:srgbClr val="FFFF00"/>
                </a:solidFill>
                <a:latin typeface="Times New Roman" panose="02020603050405020304" pitchFamily="18" charset="0"/>
                <a:ea typeface="华文楷体" panose="02010600040101010101" pitchFamily="2" charset="-122"/>
              </a:endParaRPr>
            </a:p>
          </p:txBody>
        </p:sp>
      </p:grpSp>
      <p:grpSp>
        <p:nvGrpSpPr>
          <p:cNvPr id="53" name="Group 289"/>
          <p:cNvGrpSpPr>
            <a:grpSpLocks/>
          </p:cNvGrpSpPr>
          <p:nvPr/>
        </p:nvGrpSpPr>
        <p:grpSpPr bwMode="auto">
          <a:xfrm>
            <a:off x="5007911" y="1756908"/>
            <a:ext cx="361950" cy="558800"/>
            <a:chOff x="3380" y="788"/>
            <a:chExt cx="228" cy="352"/>
          </a:xfrm>
        </p:grpSpPr>
        <p:sp>
          <p:nvSpPr>
            <p:cNvPr id="54" name="Line 290"/>
            <p:cNvSpPr>
              <a:spLocks noChangeShapeType="1"/>
            </p:cNvSpPr>
            <p:nvPr/>
          </p:nvSpPr>
          <p:spPr bwMode="auto">
            <a:xfrm flipH="1">
              <a:off x="3558" y="1038"/>
              <a:ext cx="12" cy="102"/>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Text Box 291"/>
            <p:cNvSpPr txBox="1">
              <a:spLocks noChangeArrowheads="1"/>
            </p:cNvSpPr>
            <p:nvPr/>
          </p:nvSpPr>
          <p:spPr bwMode="auto">
            <a:xfrm>
              <a:off x="3380" y="788"/>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800" b="1" i="1">
                  <a:solidFill>
                    <a:srgbClr val="FF3300"/>
                  </a:solidFill>
                  <a:latin typeface="Times New Roman" panose="02020603050405020304" pitchFamily="18" charset="0"/>
                  <a:ea typeface="华文楷体" panose="02010600040101010101" pitchFamily="2" charset="-122"/>
                </a:rPr>
                <a:t>b</a:t>
              </a:r>
              <a:endParaRPr kumimoji="1" lang="en-US" altLang="zh-CN" sz="2800" b="1" i="1">
                <a:solidFill>
                  <a:srgbClr val="FFFF00"/>
                </a:solidFill>
                <a:latin typeface="Times New Roman" panose="02020603050405020304" pitchFamily="18" charset="0"/>
                <a:ea typeface="华文楷体" panose="02010600040101010101" pitchFamily="2" charset="-122"/>
              </a:endParaRPr>
            </a:p>
          </p:txBody>
        </p:sp>
      </p:grpSp>
      <p:grpSp>
        <p:nvGrpSpPr>
          <p:cNvPr id="56" name="Group 292"/>
          <p:cNvGrpSpPr>
            <a:grpSpLocks/>
          </p:cNvGrpSpPr>
          <p:nvPr/>
        </p:nvGrpSpPr>
        <p:grpSpPr bwMode="auto">
          <a:xfrm>
            <a:off x="5334936" y="2077583"/>
            <a:ext cx="820737" cy="560387"/>
            <a:chOff x="3586" y="990"/>
            <a:chExt cx="517" cy="353"/>
          </a:xfrm>
        </p:grpSpPr>
        <p:sp>
          <p:nvSpPr>
            <p:cNvPr id="57" name="Freeform 293"/>
            <p:cNvSpPr>
              <a:spLocks/>
            </p:cNvSpPr>
            <p:nvPr/>
          </p:nvSpPr>
          <p:spPr bwMode="auto">
            <a:xfrm>
              <a:off x="3586" y="990"/>
              <a:ext cx="112" cy="59"/>
            </a:xfrm>
            <a:custGeom>
              <a:avLst/>
              <a:gdLst>
                <a:gd name="T0" fmla="*/ 0 w 112"/>
                <a:gd name="T1" fmla="*/ 38 h 59"/>
                <a:gd name="T2" fmla="*/ 16 w 112"/>
                <a:gd name="T3" fmla="*/ 16 h 59"/>
                <a:gd name="T4" fmla="*/ 22 w 112"/>
                <a:gd name="T5" fmla="*/ 58 h 59"/>
                <a:gd name="T6" fmla="*/ 44 w 112"/>
                <a:gd name="T7" fmla="*/ 0 h 59"/>
                <a:gd name="T8" fmla="*/ 44 w 112"/>
                <a:gd name="T9" fmla="*/ 58 h 59"/>
                <a:gd name="T10" fmla="*/ 66 w 112"/>
                <a:gd name="T11" fmla="*/ 0 h 59"/>
                <a:gd name="T12" fmla="*/ 66 w 112"/>
                <a:gd name="T13" fmla="*/ 38 h 59"/>
                <a:gd name="T14" fmla="*/ 88 w 112"/>
                <a:gd name="T15" fmla="*/ 19 h 59"/>
                <a:gd name="T16" fmla="*/ 111 w 112"/>
                <a:gd name="T17" fmla="*/ 19 h 59"/>
                <a:gd name="T18" fmla="*/ 111 w 112"/>
                <a:gd name="T19" fmla="*/ 0 h 5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2" h="59">
                  <a:moveTo>
                    <a:pt x="0" y="38"/>
                  </a:moveTo>
                  <a:lnTo>
                    <a:pt x="16" y="16"/>
                  </a:lnTo>
                  <a:lnTo>
                    <a:pt x="22" y="58"/>
                  </a:lnTo>
                  <a:lnTo>
                    <a:pt x="44" y="0"/>
                  </a:lnTo>
                  <a:lnTo>
                    <a:pt x="44" y="58"/>
                  </a:lnTo>
                  <a:lnTo>
                    <a:pt x="66" y="0"/>
                  </a:lnTo>
                  <a:lnTo>
                    <a:pt x="66" y="38"/>
                  </a:lnTo>
                  <a:lnTo>
                    <a:pt x="88" y="19"/>
                  </a:lnTo>
                  <a:lnTo>
                    <a:pt x="111" y="19"/>
                  </a:lnTo>
                  <a:lnTo>
                    <a:pt x="111" y="0"/>
                  </a:lnTo>
                </a:path>
              </a:pathLst>
            </a:custGeom>
            <a:noFill/>
            <a:ln w="28575" cap="rnd" cmpd="sng">
              <a:solidFill>
                <a:srgbClr val="FF33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 name="Text Box 294"/>
            <p:cNvSpPr txBox="1">
              <a:spLocks noChangeArrowheads="1"/>
            </p:cNvSpPr>
            <p:nvPr/>
          </p:nvSpPr>
          <p:spPr bwMode="auto">
            <a:xfrm>
              <a:off x="3888" y="1016"/>
              <a:ext cx="21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800" b="1" i="1">
                  <a:solidFill>
                    <a:srgbClr val="FF3300"/>
                  </a:solidFill>
                  <a:latin typeface="Times New Roman" panose="02020603050405020304" pitchFamily="18" charset="0"/>
                  <a:ea typeface="华文楷体" panose="02010600040101010101" pitchFamily="2" charset="-122"/>
                </a:rPr>
                <a:t>c</a:t>
              </a:r>
              <a:endParaRPr kumimoji="1" lang="en-US" altLang="zh-CN" sz="2800" b="1" i="1">
                <a:solidFill>
                  <a:srgbClr val="FFFF00"/>
                </a:solidFill>
                <a:latin typeface="Times New Roman" panose="02020603050405020304" pitchFamily="18" charset="0"/>
                <a:ea typeface="华文楷体" panose="02010600040101010101" pitchFamily="2" charset="-122"/>
              </a:endParaRPr>
            </a:p>
          </p:txBody>
        </p:sp>
        <p:sp>
          <p:nvSpPr>
            <p:cNvPr id="59" name="Line 295"/>
            <p:cNvSpPr>
              <a:spLocks noChangeShapeType="1"/>
            </p:cNvSpPr>
            <p:nvPr/>
          </p:nvSpPr>
          <p:spPr bwMode="auto">
            <a:xfrm flipH="1" flipV="1">
              <a:off x="3654" y="1080"/>
              <a:ext cx="282" cy="120"/>
            </a:xfrm>
            <a:prstGeom prst="line">
              <a:avLst/>
            </a:prstGeom>
            <a:noFill/>
            <a:ln w="9525">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0" name="Group 296"/>
          <p:cNvGrpSpPr>
            <a:grpSpLocks/>
          </p:cNvGrpSpPr>
          <p:nvPr/>
        </p:nvGrpSpPr>
        <p:grpSpPr bwMode="auto">
          <a:xfrm>
            <a:off x="5511148" y="966333"/>
            <a:ext cx="2020888" cy="1174750"/>
            <a:chOff x="3697" y="290"/>
            <a:chExt cx="1273" cy="740"/>
          </a:xfrm>
        </p:grpSpPr>
        <p:sp>
          <p:nvSpPr>
            <p:cNvPr id="61" name="Arc 297"/>
            <p:cNvSpPr>
              <a:spLocks/>
            </p:cNvSpPr>
            <p:nvPr/>
          </p:nvSpPr>
          <p:spPr bwMode="auto">
            <a:xfrm>
              <a:off x="3697" y="581"/>
              <a:ext cx="1262" cy="449"/>
            </a:xfrm>
            <a:custGeom>
              <a:avLst/>
              <a:gdLst>
                <a:gd name="T0" fmla="*/ 0 w 22828"/>
                <a:gd name="T1" fmla="*/ 449 h 21600"/>
                <a:gd name="T2" fmla="*/ 1262 w 22828"/>
                <a:gd name="T3" fmla="*/ 1 h 21600"/>
                <a:gd name="T4" fmla="*/ 1194 w 22828"/>
                <a:gd name="T5" fmla="*/ 449 h 21600"/>
                <a:gd name="T6" fmla="*/ 0 60000 65536"/>
                <a:gd name="T7" fmla="*/ 0 60000 65536"/>
                <a:gd name="T8" fmla="*/ 0 60000 65536"/>
              </a:gdLst>
              <a:ahLst/>
              <a:cxnLst>
                <a:cxn ang="T6">
                  <a:pos x="T0" y="T1"/>
                </a:cxn>
                <a:cxn ang="T7">
                  <a:pos x="T2" y="T3"/>
                </a:cxn>
                <a:cxn ang="T8">
                  <a:pos x="T4" y="T5"/>
                </a:cxn>
              </a:cxnLst>
              <a:rect l="0" t="0" r="r" b="b"/>
              <a:pathLst>
                <a:path w="22828" h="21600" fill="none" extrusionOk="0">
                  <a:moveTo>
                    <a:pt x="0" y="21599"/>
                  </a:moveTo>
                  <a:cubicBezTo>
                    <a:pt x="0" y="9670"/>
                    <a:pt x="9670" y="0"/>
                    <a:pt x="21600" y="0"/>
                  </a:cubicBezTo>
                  <a:cubicBezTo>
                    <a:pt x="22009" y="0"/>
                    <a:pt x="22419" y="11"/>
                    <a:pt x="22828" y="34"/>
                  </a:cubicBezTo>
                </a:path>
                <a:path w="22828" h="21600" stroke="0" extrusionOk="0">
                  <a:moveTo>
                    <a:pt x="0" y="21599"/>
                  </a:moveTo>
                  <a:cubicBezTo>
                    <a:pt x="0" y="9670"/>
                    <a:pt x="9670" y="0"/>
                    <a:pt x="21600" y="0"/>
                  </a:cubicBezTo>
                  <a:cubicBezTo>
                    <a:pt x="22009" y="0"/>
                    <a:pt x="22419" y="11"/>
                    <a:pt x="22828" y="34"/>
                  </a:cubicBezTo>
                  <a:lnTo>
                    <a:pt x="21600" y="21600"/>
                  </a:lnTo>
                  <a:lnTo>
                    <a:pt x="0" y="21599"/>
                  </a:lnTo>
                  <a:close/>
                </a:path>
              </a:pathLst>
            </a:custGeom>
            <a:noFill/>
            <a:ln w="28575" cap="rnd">
              <a:solidFill>
                <a:srgbClr val="FF33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 name="Text Box 298"/>
            <p:cNvSpPr txBox="1">
              <a:spLocks noChangeArrowheads="1"/>
            </p:cNvSpPr>
            <p:nvPr/>
          </p:nvSpPr>
          <p:spPr bwMode="auto">
            <a:xfrm>
              <a:off x="4742" y="290"/>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800" b="1" i="1">
                  <a:solidFill>
                    <a:srgbClr val="FF3300"/>
                  </a:solidFill>
                  <a:latin typeface="Times New Roman" panose="02020603050405020304" pitchFamily="18" charset="0"/>
                  <a:ea typeface="华文楷体" panose="02010600040101010101" pitchFamily="2" charset="-122"/>
                </a:rPr>
                <a:t>d</a:t>
              </a:r>
              <a:endParaRPr kumimoji="1" lang="en-US" altLang="zh-CN" sz="2800" b="1" i="1">
                <a:solidFill>
                  <a:srgbClr val="FFFF00"/>
                </a:solidFill>
                <a:latin typeface="Times New Roman" panose="02020603050405020304" pitchFamily="18" charset="0"/>
                <a:ea typeface="华文楷体" panose="02010600040101010101" pitchFamily="2" charset="-122"/>
              </a:endParaRPr>
            </a:p>
          </p:txBody>
        </p:sp>
      </p:grpSp>
      <p:grpSp>
        <p:nvGrpSpPr>
          <p:cNvPr id="63" name="Group 299"/>
          <p:cNvGrpSpPr>
            <a:grpSpLocks/>
          </p:cNvGrpSpPr>
          <p:nvPr/>
        </p:nvGrpSpPr>
        <p:grpSpPr bwMode="auto">
          <a:xfrm>
            <a:off x="7473298" y="1428295"/>
            <a:ext cx="968375" cy="690563"/>
            <a:chOff x="4933" y="581"/>
            <a:chExt cx="610" cy="435"/>
          </a:xfrm>
        </p:grpSpPr>
        <p:sp>
          <p:nvSpPr>
            <p:cNvPr id="64" name="Arc 300"/>
            <p:cNvSpPr>
              <a:spLocks/>
            </p:cNvSpPr>
            <p:nvPr/>
          </p:nvSpPr>
          <p:spPr bwMode="auto">
            <a:xfrm>
              <a:off x="4933" y="581"/>
              <a:ext cx="555" cy="195"/>
            </a:xfrm>
            <a:custGeom>
              <a:avLst/>
              <a:gdLst>
                <a:gd name="T0" fmla="*/ 0 w 21639"/>
                <a:gd name="T1" fmla="*/ 0 h 21600"/>
                <a:gd name="T2" fmla="*/ 555 w 21639"/>
                <a:gd name="T3" fmla="*/ 195 h 21600"/>
                <a:gd name="T4" fmla="*/ 1 w 21639"/>
                <a:gd name="T5" fmla="*/ 195 h 21600"/>
                <a:gd name="T6" fmla="*/ 0 60000 65536"/>
                <a:gd name="T7" fmla="*/ 0 60000 65536"/>
                <a:gd name="T8" fmla="*/ 0 60000 65536"/>
              </a:gdLst>
              <a:ahLst/>
              <a:cxnLst>
                <a:cxn ang="T6">
                  <a:pos x="T0" y="T1"/>
                </a:cxn>
                <a:cxn ang="T7">
                  <a:pos x="T2" y="T3"/>
                </a:cxn>
                <a:cxn ang="T8">
                  <a:pos x="T4" y="T5"/>
                </a:cxn>
              </a:cxnLst>
              <a:rect l="0" t="0" r="r" b="b"/>
              <a:pathLst>
                <a:path w="21639" h="21600" fill="none" extrusionOk="0">
                  <a:moveTo>
                    <a:pt x="0" y="0"/>
                  </a:moveTo>
                  <a:cubicBezTo>
                    <a:pt x="13" y="0"/>
                    <a:pt x="26" y="0"/>
                    <a:pt x="39" y="0"/>
                  </a:cubicBezTo>
                  <a:cubicBezTo>
                    <a:pt x="11968" y="0"/>
                    <a:pt x="21639" y="9670"/>
                    <a:pt x="21639" y="21600"/>
                  </a:cubicBezTo>
                </a:path>
                <a:path w="21639" h="21600" stroke="0" extrusionOk="0">
                  <a:moveTo>
                    <a:pt x="0" y="0"/>
                  </a:moveTo>
                  <a:cubicBezTo>
                    <a:pt x="13" y="0"/>
                    <a:pt x="26" y="0"/>
                    <a:pt x="39" y="0"/>
                  </a:cubicBezTo>
                  <a:cubicBezTo>
                    <a:pt x="11968" y="0"/>
                    <a:pt x="21639" y="9670"/>
                    <a:pt x="21639" y="21600"/>
                  </a:cubicBezTo>
                  <a:lnTo>
                    <a:pt x="39" y="21600"/>
                  </a:lnTo>
                  <a:lnTo>
                    <a:pt x="0" y="0"/>
                  </a:lnTo>
                  <a:close/>
                </a:path>
              </a:pathLst>
            </a:custGeom>
            <a:noFill/>
            <a:ln w="28575" cap="rnd">
              <a:solidFill>
                <a:srgbClr val="FF33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 name="Text Box 301"/>
            <p:cNvSpPr txBox="1">
              <a:spLocks noChangeArrowheads="1"/>
            </p:cNvSpPr>
            <p:nvPr/>
          </p:nvSpPr>
          <p:spPr bwMode="auto">
            <a:xfrm>
              <a:off x="5328" y="689"/>
              <a:ext cx="21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800" b="1" i="1">
                  <a:solidFill>
                    <a:srgbClr val="FF3300"/>
                  </a:solidFill>
                  <a:latin typeface="Times New Roman" panose="02020603050405020304" pitchFamily="18" charset="0"/>
                  <a:ea typeface="华文楷体" panose="02010600040101010101" pitchFamily="2" charset="-122"/>
                </a:rPr>
                <a:t>e</a:t>
              </a:r>
              <a:endParaRPr kumimoji="1" lang="en-US" altLang="zh-CN" sz="2800" b="1" i="1">
                <a:solidFill>
                  <a:srgbClr val="FFFF00"/>
                </a:solidFill>
                <a:latin typeface="Times New Roman" panose="02020603050405020304" pitchFamily="18" charset="0"/>
                <a:ea typeface="华文楷体" panose="02010600040101010101" pitchFamily="2" charset="-122"/>
              </a:endParaRPr>
            </a:p>
          </p:txBody>
        </p:sp>
      </p:grpSp>
      <p:sp>
        <p:nvSpPr>
          <p:cNvPr id="66" name="Line 316"/>
          <p:cNvSpPr>
            <a:spLocks noChangeShapeType="1"/>
          </p:cNvSpPr>
          <p:nvPr/>
        </p:nvSpPr>
        <p:spPr bwMode="auto">
          <a:xfrm flipV="1">
            <a:off x="6314423" y="1496558"/>
            <a:ext cx="381000" cy="1752600"/>
          </a:xfrm>
          <a:prstGeom prst="line">
            <a:avLst/>
          </a:prstGeom>
          <a:noFill/>
          <a:ln w="12700">
            <a:solidFill>
              <a:srgbClr val="FF3300"/>
            </a:solidFill>
            <a:round/>
            <a:headEnd type="triangle"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Line 317"/>
          <p:cNvSpPr>
            <a:spLocks noChangeShapeType="1"/>
          </p:cNvSpPr>
          <p:nvPr/>
        </p:nvSpPr>
        <p:spPr bwMode="auto">
          <a:xfrm rot="21480000" flipV="1">
            <a:off x="6297489" y="1467983"/>
            <a:ext cx="438150" cy="1781175"/>
          </a:xfrm>
          <a:prstGeom prst="line">
            <a:avLst/>
          </a:prstGeom>
          <a:noFill/>
          <a:ln w="25400">
            <a:solidFill>
              <a:srgbClr val="008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8" name="Group 318"/>
          <p:cNvGrpSpPr>
            <a:grpSpLocks/>
          </p:cNvGrpSpPr>
          <p:nvPr/>
        </p:nvGrpSpPr>
        <p:grpSpPr bwMode="auto">
          <a:xfrm>
            <a:off x="5095223" y="3325358"/>
            <a:ext cx="1219200" cy="685800"/>
            <a:chOff x="3456" y="2592"/>
            <a:chExt cx="768" cy="432"/>
          </a:xfrm>
        </p:grpSpPr>
        <p:sp>
          <p:nvSpPr>
            <p:cNvPr id="69" name="Line 319"/>
            <p:cNvSpPr>
              <a:spLocks noChangeShapeType="1"/>
            </p:cNvSpPr>
            <p:nvPr/>
          </p:nvSpPr>
          <p:spPr bwMode="auto">
            <a:xfrm>
              <a:off x="3456" y="2640"/>
              <a:ext cx="0" cy="38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0" name="Group 320"/>
            <p:cNvGrpSpPr>
              <a:grpSpLocks/>
            </p:cNvGrpSpPr>
            <p:nvPr/>
          </p:nvGrpSpPr>
          <p:grpSpPr bwMode="auto">
            <a:xfrm>
              <a:off x="3456" y="2592"/>
              <a:ext cx="768" cy="266"/>
              <a:chOff x="3456" y="2592"/>
              <a:chExt cx="768" cy="266"/>
            </a:xfrm>
          </p:grpSpPr>
          <p:sp>
            <p:nvSpPr>
              <p:cNvPr id="71" name="Line 321"/>
              <p:cNvSpPr>
                <a:spLocks noChangeShapeType="1"/>
              </p:cNvSpPr>
              <p:nvPr/>
            </p:nvSpPr>
            <p:spPr bwMode="auto">
              <a:xfrm>
                <a:off x="4224" y="2592"/>
                <a:ext cx="0" cy="24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 name="Line 322"/>
              <p:cNvSpPr>
                <a:spLocks noChangeShapeType="1"/>
              </p:cNvSpPr>
              <p:nvPr/>
            </p:nvSpPr>
            <p:spPr bwMode="auto">
              <a:xfrm>
                <a:off x="3456" y="2736"/>
                <a:ext cx="192" cy="0"/>
              </a:xfrm>
              <a:prstGeom prst="line">
                <a:avLst/>
              </a:prstGeom>
              <a:noFill/>
              <a:ln w="12700">
                <a:solidFill>
                  <a:schemeClr val="tx1"/>
                </a:solidFill>
                <a:round/>
                <a:headEnd type="triangle"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 name="Line 323"/>
              <p:cNvSpPr>
                <a:spLocks noChangeShapeType="1"/>
              </p:cNvSpPr>
              <p:nvPr/>
            </p:nvSpPr>
            <p:spPr bwMode="auto">
              <a:xfrm>
                <a:off x="3984" y="2736"/>
                <a:ext cx="240" cy="0"/>
              </a:xfrm>
              <a:prstGeom prst="line">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4" name="Object 324"/>
              <p:cNvGraphicFramePr>
                <a:graphicFrameLocks/>
              </p:cNvGraphicFramePr>
              <p:nvPr/>
            </p:nvGraphicFramePr>
            <p:xfrm>
              <a:off x="3744" y="2598"/>
              <a:ext cx="203" cy="260"/>
            </p:xfrm>
            <a:graphic>
              <a:graphicData uri="http://schemas.openxmlformats.org/presentationml/2006/ole">
                <mc:AlternateContent xmlns:mc="http://schemas.openxmlformats.org/markup-compatibility/2006">
                  <mc:Choice xmlns:v="urn:schemas-microsoft-com:vml" Requires="v">
                    <p:oleObj name="Equation" r:id="rId19" imgW="152280" imgH="219165" progId="Equation.2">
                      <p:embed/>
                    </p:oleObj>
                  </mc:Choice>
                  <mc:Fallback>
                    <p:oleObj name="Equation" r:id="rId19" imgW="152280" imgH="219165" progId="Equation.2">
                      <p:embed/>
                      <p:pic>
                        <p:nvPicPr>
                          <p:cNvPr id="0" name=""/>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744" y="2598"/>
                            <a:ext cx="203" cy="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sp>
        <p:nvSpPr>
          <p:cNvPr id="75" name="Line 325"/>
          <p:cNvSpPr>
            <a:spLocks noChangeShapeType="1"/>
          </p:cNvSpPr>
          <p:nvPr/>
        </p:nvSpPr>
        <p:spPr bwMode="auto">
          <a:xfrm>
            <a:off x="6708123" y="1496558"/>
            <a:ext cx="0" cy="2514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6" name="Group 326"/>
          <p:cNvGrpSpPr>
            <a:grpSpLocks/>
          </p:cNvGrpSpPr>
          <p:nvPr/>
        </p:nvGrpSpPr>
        <p:grpSpPr bwMode="auto">
          <a:xfrm>
            <a:off x="6358873" y="3357108"/>
            <a:ext cx="674688" cy="357187"/>
            <a:chOff x="4279" y="2612"/>
            <a:chExt cx="425" cy="225"/>
          </a:xfrm>
        </p:grpSpPr>
        <p:graphicFrame>
          <p:nvGraphicFramePr>
            <p:cNvPr id="77" name="Object 327"/>
            <p:cNvGraphicFramePr>
              <a:graphicFrameLocks/>
            </p:cNvGraphicFramePr>
            <p:nvPr/>
          </p:nvGraphicFramePr>
          <p:xfrm>
            <a:off x="4279" y="2612"/>
            <a:ext cx="182" cy="225"/>
          </p:xfrm>
          <a:graphic>
            <a:graphicData uri="http://schemas.openxmlformats.org/presentationml/2006/ole">
              <mc:AlternateContent xmlns:mc="http://schemas.openxmlformats.org/markup-compatibility/2006">
                <mc:Choice xmlns:v="urn:schemas-microsoft-com:vml" Requires="v">
                  <p:oleObj name="Equation" r:id="rId21" imgW="142830" imgH="190590" progId="Equation.2">
                    <p:embed/>
                  </p:oleObj>
                </mc:Choice>
                <mc:Fallback>
                  <p:oleObj name="Equation" r:id="rId21" imgW="142830" imgH="190590" progId="Equation.2">
                    <p:embed/>
                    <p:pic>
                      <p:nvPicPr>
                        <p:cNvPr id="0" name=""/>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279" y="2612"/>
                          <a:ext cx="182" cy="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8" name="Line 328"/>
            <p:cNvSpPr>
              <a:spLocks noChangeShapeType="1"/>
            </p:cNvSpPr>
            <p:nvPr/>
          </p:nvSpPr>
          <p:spPr bwMode="auto">
            <a:xfrm>
              <a:off x="4512" y="2736"/>
              <a:ext cx="192" cy="0"/>
            </a:xfrm>
            <a:prstGeom prst="line">
              <a:avLst/>
            </a:prstGeom>
            <a:noFill/>
            <a:ln w="12700">
              <a:solidFill>
                <a:schemeClr val="tx1"/>
              </a:solidFill>
              <a:round/>
              <a:headEnd type="triangle"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9" name="Group 329"/>
          <p:cNvGrpSpPr>
            <a:grpSpLocks/>
          </p:cNvGrpSpPr>
          <p:nvPr/>
        </p:nvGrpSpPr>
        <p:grpSpPr bwMode="auto">
          <a:xfrm>
            <a:off x="5095223" y="3784145"/>
            <a:ext cx="1625600" cy="269875"/>
            <a:chOff x="3456" y="2881"/>
            <a:chExt cx="1056" cy="191"/>
          </a:xfrm>
        </p:grpSpPr>
        <p:sp>
          <p:nvSpPr>
            <p:cNvPr id="80" name="Line 330"/>
            <p:cNvSpPr>
              <a:spLocks noChangeShapeType="1"/>
            </p:cNvSpPr>
            <p:nvPr/>
          </p:nvSpPr>
          <p:spPr bwMode="auto">
            <a:xfrm>
              <a:off x="3456" y="2976"/>
              <a:ext cx="384" cy="0"/>
            </a:xfrm>
            <a:prstGeom prst="line">
              <a:avLst/>
            </a:prstGeom>
            <a:noFill/>
            <a:ln w="12700">
              <a:solidFill>
                <a:schemeClr val="tx1"/>
              </a:solidFill>
              <a:round/>
              <a:headEnd type="triangle"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Line 331"/>
            <p:cNvSpPr>
              <a:spLocks noChangeShapeType="1"/>
            </p:cNvSpPr>
            <p:nvPr/>
          </p:nvSpPr>
          <p:spPr bwMode="auto">
            <a:xfrm flipH="1">
              <a:off x="4128" y="2976"/>
              <a:ext cx="384" cy="0"/>
            </a:xfrm>
            <a:prstGeom prst="line">
              <a:avLst/>
            </a:prstGeom>
            <a:noFill/>
            <a:ln w="12700">
              <a:solidFill>
                <a:schemeClr val="tx1"/>
              </a:solidFill>
              <a:round/>
              <a:headEnd type="triangle"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2" name="Object 332"/>
            <p:cNvGraphicFramePr>
              <a:graphicFrameLocks/>
            </p:cNvGraphicFramePr>
            <p:nvPr/>
          </p:nvGraphicFramePr>
          <p:xfrm>
            <a:off x="3911" y="2881"/>
            <a:ext cx="174" cy="191"/>
          </p:xfrm>
          <a:graphic>
            <a:graphicData uri="http://schemas.openxmlformats.org/presentationml/2006/ole">
              <mc:AlternateContent xmlns:mc="http://schemas.openxmlformats.org/markup-compatibility/2006">
                <mc:Choice xmlns:v="urn:schemas-microsoft-com:vml" Requires="v">
                  <p:oleObj name="Equation" r:id="rId23" imgW="114210" imgH="133440" progId="Equation.2">
                    <p:embed/>
                  </p:oleObj>
                </mc:Choice>
                <mc:Fallback>
                  <p:oleObj name="Equation" r:id="rId23" imgW="114210" imgH="133440" progId="Equation.2">
                    <p:embed/>
                    <p:pic>
                      <p:nvPicPr>
                        <p:cNvPr id="0" name=""/>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911" y="2881"/>
                          <a:ext cx="174" cy="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83" name="Text Box 333"/>
          <p:cNvSpPr txBox="1">
            <a:spLocks noChangeArrowheads="1"/>
          </p:cNvSpPr>
          <p:nvPr/>
        </p:nvSpPr>
        <p:spPr bwMode="auto">
          <a:xfrm>
            <a:off x="6499989" y="999990"/>
            <a:ext cx="303212"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800" b="1" i="1" dirty="0">
                <a:solidFill>
                  <a:srgbClr val="FF3300"/>
                </a:solidFill>
                <a:latin typeface="Times New Roman" panose="02020603050405020304" pitchFamily="18" charset="0"/>
                <a:ea typeface="华文楷体" panose="02010600040101010101" pitchFamily="2" charset="-122"/>
              </a:rPr>
              <a:t>f</a:t>
            </a:r>
            <a:endParaRPr kumimoji="1" lang="en-US" altLang="zh-CN" sz="2800" b="1" i="1" dirty="0">
              <a:solidFill>
                <a:srgbClr val="FFFF00"/>
              </a:solidFill>
              <a:latin typeface="Times New Roman" panose="02020603050405020304" pitchFamily="18" charset="0"/>
              <a:ea typeface="华文楷体" panose="02010600040101010101" pitchFamily="2" charset="-122"/>
            </a:endParaRPr>
          </a:p>
        </p:txBody>
      </p:sp>
      <p:grpSp>
        <p:nvGrpSpPr>
          <p:cNvPr id="84" name="Group 334"/>
          <p:cNvGrpSpPr>
            <a:grpSpLocks/>
          </p:cNvGrpSpPr>
          <p:nvPr/>
        </p:nvGrpSpPr>
        <p:grpSpPr bwMode="auto">
          <a:xfrm>
            <a:off x="5876273" y="983795"/>
            <a:ext cx="2720975" cy="2297113"/>
            <a:chOff x="3928" y="89"/>
            <a:chExt cx="1714" cy="1447"/>
          </a:xfrm>
        </p:grpSpPr>
        <p:sp>
          <p:nvSpPr>
            <p:cNvPr id="85" name="Line 335"/>
            <p:cNvSpPr>
              <a:spLocks noChangeShapeType="1"/>
            </p:cNvSpPr>
            <p:nvPr/>
          </p:nvSpPr>
          <p:spPr bwMode="auto">
            <a:xfrm flipH="1">
              <a:off x="4202" y="144"/>
              <a:ext cx="0" cy="1392"/>
            </a:xfrm>
            <a:prstGeom prst="line">
              <a:avLst/>
            </a:prstGeom>
            <a:noFill/>
            <a:ln w="12700">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 name="Line 336"/>
            <p:cNvSpPr>
              <a:spLocks noChangeShapeType="1"/>
            </p:cNvSpPr>
            <p:nvPr/>
          </p:nvSpPr>
          <p:spPr bwMode="auto">
            <a:xfrm>
              <a:off x="4198" y="1536"/>
              <a:ext cx="1444" cy="0"/>
            </a:xfrm>
            <a:prstGeom prst="line">
              <a:avLst/>
            </a:prstGeom>
            <a:noFill/>
            <a:ln w="127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7" name="Object 337"/>
            <p:cNvGraphicFramePr>
              <a:graphicFrameLocks/>
            </p:cNvGraphicFramePr>
            <p:nvPr>
              <p:extLst>
                <p:ext uri="{D42A27DB-BD31-4B8C-83A1-F6EECF244321}">
                  <p14:modId xmlns:p14="http://schemas.microsoft.com/office/powerpoint/2010/main" val="281930356"/>
                </p:ext>
              </p:extLst>
            </p:nvPr>
          </p:nvGraphicFramePr>
          <p:xfrm>
            <a:off x="3928" y="89"/>
            <a:ext cx="240" cy="242"/>
          </p:xfrm>
          <a:graphic>
            <a:graphicData uri="http://schemas.openxmlformats.org/presentationml/2006/ole">
              <mc:AlternateContent xmlns:mc="http://schemas.openxmlformats.org/markup-compatibility/2006">
                <mc:Choice xmlns:v="urn:schemas-microsoft-com:vml" Requires="v">
                  <p:oleObj name="公式" r:id="rId25" imgW="171450" imgH="171450" progId="Equation.3">
                    <p:embed/>
                  </p:oleObj>
                </mc:Choice>
                <mc:Fallback>
                  <p:oleObj name="公式" r:id="rId25" imgW="171450" imgH="171450" progId="Equation.3">
                    <p:embed/>
                    <p:pic>
                      <p:nvPicPr>
                        <p:cNvPr id="0" name=""/>
                        <p:cNvPicPr>
                          <a:picLocks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928" y="89"/>
                          <a:ext cx="240" cy="242"/>
                        </a:xfrm>
                        <a:prstGeom prst="rect">
                          <a:avLst/>
                        </a:prstGeom>
                        <a:noFill/>
                        <a:ln>
                          <a:noFill/>
                        </a:ln>
                        <a:effectLst/>
                      </p:spPr>
                    </p:pic>
                  </p:oleObj>
                </mc:Fallback>
              </mc:AlternateContent>
            </a:graphicData>
          </a:graphic>
        </p:graphicFrame>
        <p:graphicFrame>
          <p:nvGraphicFramePr>
            <p:cNvPr id="88" name="Object 338"/>
            <p:cNvGraphicFramePr>
              <a:graphicFrameLocks/>
            </p:cNvGraphicFramePr>
            <p:nvPr>
              <p:extLst>
                <p:ext uri="{D42A27DB-BD31-4B8C-83A1-F6EECF244321}">
                  <p14:modId xmlns:p14="http://schemas.microsoft.com/office/powerpoint/2010/main" val="3751854400"/>
                </p:ext>
              </p:extLst>
            </p:nvPr>
          </p:nvGraphicFramePr>
          <p:xfrm>
            <a:off x="5422" y="1266"/>
            <a:ext cx="220" cy="235"/>
          </p:xfrm>
          <a:graphic>
            <a:graphicData uri="http://schemas.openxmlformats.org/presentationml/2006/ole">
              <mc:AlternateContent xmlns:mc="http://schemas.openxmlformats.org/markup-compatibility/2006">
                <mc:Choice xmlns:v="urn:schemas-microsoft-com:vml" Requires="v">
                  <p:oleObj name="公式" r:id="rId27" imgW="142830" imgH="171450" progId="Equation.3">
                    <p:embed/>
                  </p:oleObj>
                </mc:Choice>
                <mc:Fallback>
                  <p:oleObj name="公式" r:id="rId27" imgW="142830" imgH="171450" progId="Equation.3">
                    <p:embed/>
                    <p:pic>
                      <p:nvPicPr>
                        <p:cNvPr id="0" name=""/>
                        <p:cNvPicPr>
                          <a:picLocks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422" y="1266"/>
                          <a:ext cx="220" cy="235"/>
                        </a:xfrm>
                        <a:prstGeom prst="rect">
                          <a:avLst/>
                        </a:prstGeom>
                        <a:noFill/>
                        <a:ln>
                          <a:noFill/>
                        </a:ln>
                        <a:effectLst/>
                      </p:spPr>
                    </p:pic>
                  </p:oleObj>
                </mc:Fallback>
              </mc:AlternateContent>
            </a:graphicData>
          </a:graphic>
        </p:graphicFrame>
      </p:grpSp>
      <p:sp>
        <p:nvSpPr>
          <p:cNvPr id="89" name="Rectangle 138"/>
          <p:cNvSpPr>
            <a:spLocks noChangeArrowheads="1"/>
          </p:cNvSpPr>
          <p:nvPr/>
        </p:nvSpPr>
        <p:spPr bwMode="auto">
          <a:xfrm>
            <a:off x="315912" y="568345"/>
            <a:ext cx="4103687"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800" b="1" dirty="0">
                <a:solidFill>
                  <a:srgbClr val="FF0000"/>
                </a:solidFill>
                <a:latin typeface="黑体" panose="02010609060101010101" pitchFamily="49" charset="-122"/>
                <a:ea typeface="黑体" panose="02010609060101010101" pitchFamily="49" charset="-122"/>
              </a:rPr>
              <a:t>一、低碳钢的拉伸性能</a:t>
            </a:r>
          </a:p>
        </p:txBody>
      </p:sp>
      <p:pic>
        <p:nvPicPr>
          <p:cNvPr id="90" name="Picture 22" descr="12-4b "/>
          <p:cNvPicPr>
            <a:picLocks noChangeAspect="1" noChangeArrowheads="1"/>
          </p:cNvPicPr>
          <p:nvPr/>
        </p:nvPicPr>
        <p:blipFill>
          <a:blip r:embed="rId29" cstate="print">
            <a:lum contrast="12000"/>
            <a:extLst>
              <a:ext uri="{28A0092B-C50C-407E-A947-70E740481C1C}">
                <a14:useLocalDpi xmlns:a14="http://schemas.microsoft.com/office/drawing/2010/main" val="0"/>
              </a:ext>
            </a:extLst>
          </a:blip>
          <a:srcRect l="17885" t="7921" r="7465" b="8911"/>
          <a:stretch>
            <a:fillRect/>
          </a:stretch>
        </p:blipFill>
        <p:spPr bwMode="auto">
          <a:xfrm>
            <a:off x="2334444" y="3256262"/>
            <a:ext cx="762000" cy="320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1" name="Group 33"/>
          <p:cNvGrpSpPr>
            <a:grpSpLocks/>
          </p:cNvGrpSpPr>
          <p:nvPr/>
        </p:nvGrpSpPr>
        <p:grpSpPr bwMode="auto">
          <a:xfrm>
            <a:off x="-108356" y="3430922"/>
            <a:ext cx="2232025" cy="2592388"/>
            <a:chOff x="3312" y="2064"/>
            <a:chExt cx="1266" cy="1602"/>
          </a:xfrm>
        </p:grpSpPr>
        <p:pic>
          <p:nvPicPr>
            <p:cNvPr id="92" name="Picture 28" descr="HWOCRTEMP_ROC410"/>
            <p:cNvPicPr>
              <a:picLocks noChangeAspect="1" noChangeArrowheads="1"/>
            </p:cNvPicPr>
            <p:nvPr/>
          </p:nvPicPr>
          <p:blipFill>
            <a:blip r:embed="rId30" cstate="print">
              <a:extLst>
                <a:ext uri="{28A0092B-C50C-407E-A947-70E740481C1C}">
                  <a14:useLocalDpi xmlns:a14="http://schemas.microsoft.com/office/drawing/2010/main" val="0"/>
                </a:ext>
              </a:extLst>
            </a:blip>
            <a:srcRect/>
            <a:stretch>
              <a:fillRect/>
            </a:stretch>
          </p:blipFill>
          <p:spPr bwMode="auto">
            <a:xfrm>
              <a:off x="3360" y="2064"/>
              <a:ext cx="1218" cy="1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 name="Freeform 32"/>
            <p:cNvSpPr>
              <a:spLocks/>
            </p:cNvSpPr>
            <p:nvPr/>
          </p:nvSpPr>
          <p:spPr bwMode="auto">
            <a:xfrm>
              <a:off x="3312" y="2208"/>
              <a:ext cx="1104" cy="1440"/>
            </a:xfrm>
            <a:custGeom>
              <a:avLst/>
              <a:gdLst>
                <a:gd name="T0" fmla="*/ 0 w 1104"/>
                <a:gd name="T1" fmla="*/ 0 h 1440"/>
                <a:gd name="T2" fmla="*/ 0 w 1104"/>
                <a:gd name="T3" fmla="*/ 1440 h 1440"/>
                <a:gd name="T4" fmla="*/ 1104 w 1104"/>
                <a:gd name="T5" fmla="*/ 1440 h 1440"/>
                <a:gd name="T6" fmla="*/ 1104 w 1104"/>
                <a:gd name="T7" fmla="*/ 1104 h 1440"/>
                <a:gd name="T8" fmla="*/ 528 w 1104"/>
                <a:gd name="T9" fmla="*/ 1104 h 1440"/>
                <a:gd name="T10" fmla="*/ 528 w 1104"/>
                <a:gd name="T11" fmla="*/ 0 h 1440"/>
                <a:gd name="T12" fmla="*/ 0 w 1104"/>
                <a:gd name="T13" fmla="*/ 0 h 1440"/>
                <a:gd name="T14" fmla="*/ 0 60000 65536"/>
                <a:gd name="T15" fmla="*/ 0 60000 65536"/>
                <a:gd name="T16" fmla="*/ 0 60000 65536"/>
                <a:gd name="T17" fmla="*/ 0 60000 65536"/>
                <a:gd name="T18" fmla="*/ 0 60000 65536"/>
                <a:gd name="T19" fmla="*/ 0 60000 65536"/>
                <a:gd name="T20" fmla="*/ 0 60000 65536"/>
                <a:gd name="T21" fmla="*/ 0 w 1104"/>
                <a:gd name="T22" fmla="*/ 0 h 1440"/>
                <a:gd name="T23" fmla="*/ 1104 w 1104"/>
                <a:gd name="T24" fmla="*/ 1440 h 14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04" h="1440">
                  <a:moveTo>
                    <a:pt x="0" y="0"/>
                  </a:moveTo>
                  <a:lnTo>
                    <a:pt x="0" y="1440"/>
                  </a:lnTo>
                  <a:lnTo>
                    <a:pt x="1104" y="1440"/>
                  </a:lnTo>
                  <a:lnTo>
                    <a:pt x="1104" y="1104"/>
                  </a:lnTo>
                  <a:lnTo>
                    <a:pt x="528" y="1104"/>
                  </a:lnTo>
                  <a:lnTo>
                    <a:pt x="528" y="0"/>
                  </a:lnTo>
                  <a:lnTo>
                    <a:pt x="0" y="0"/>
                  </a:lnTo>
                  <a:close/>
                </a:path>
              </a:pathLst>
            </a:custGeom>
            <a:solidFill>
              <a:schemeClr val="bg1"/>
            </a:solidFill>
            <a:ln w="9525">
              <a:solidFill>
                <a:schemeClr val="bg1"/>
              </a:solidFill>
              <a:miter lim="800000"/>
              <a:headEnd/>
              <a:tailEnd/>
            </a:ln>
          </p:spPr>
          <p:txBody>
            <a:bodyPr wrap="none"/>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endParaRPr lang="zh-CN" altLang="en-US"/>
            </a:p>
          </p:txBody>
        </p:sp>
      </p:grpSp>
      <p:sp>
        <p:nvSpPr>
          <p:cNvPr id="94" name="Text Box 37"/>
          <p:cNvSpPr txBox="1">
            <a:spLocks noChangeArrowheads="1"/>
          </p:cNvSpPr>
          <p:nvPr/>
        </p:nvSpPr>
        <p:spPr bwMode="auto">
          <a:xfrm>
            <a:off x="738224" y="5658079"/>
            <a:ext cx="1557337" cy="405683"/>
          </a:xfrm>
          <a:prstGeom prst="rect">
            <a:avLst/>
          </a:prstGeom>
          <a:solidFill>
            <a:srgbClr val="FF99CC"/>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lIns="0" tIns="0" rIns="0" bIns="36000" anchor="ct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eaLnBrk="1" hangingPunct="1"/>
            <a:r>
              <a:rPr kumimoji="0" lang="zh-CN" altLang="en-US" dirty="0">
                <a:solidFill>
                  <a:srgbClr val="0000FF"/>
                </a:solidFill>
                <a:latin typeface="楷体" panose="02010609060101010101" pitchFamily="49" charset="-122"/>
                <a:ea typeface="楷体" panose="02010609060101010101" pitchFamily="49" charset="-122"/>
                <a:sym typeface="Symbol" panose="05050102010706020507" pitchFamily="18" charset="2"/>
              </a:rPr>
              <a:t>颈缩现象</a:t>
            </a:r>
            <a:endParaRPr kumimoji="0" lang="zh-CN" altLang="en-US" dirty="0">
              <a:solidFill>
                <a:srgbClr val="0000FF"/>
              </a:solidFill>
              <a:latin typeface="楷体" panose="02010609060101010101" pitchFamily="49" charset="-122"/>
              <a:ea typeface="楷体" panose="02010609060101010101" pitchFamily="49" charset="-122"/>
            </a:endParaRPr>
          </a:p>
        </p:txBody>
      </p:sp>
      <p:sp>
        <p:nvSpPr>
          <p:cNvPr id="95" name="Rectangle 339"/>
          <p:cNvSpPr>
            <a:spLocks noChangeArrowheads="1"/>
          </p:cNvSpPr>
          <p:nvPr/>
        </p:nvSpPr>
        <p:spPr bwMode="auto">
          <a:xfrm>
            <a:off x="4851058" y="4217447"/>
            <a:ext cx="3849689" cy="462307"/>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solidFill>
                  <a:srgbClr val="FF0000"/>
                </a:solidFill>
                <a:latin typeface="Times New Roman" panose="02020603050405020304" pitchFamily="18" charset="0"/>
                <a:ea typeface="华文楷体" panose="02010600040101010101" pitchFamily="2" charset="-122"/>
              </a:rPr>
              <a:t>卸载规律   </a:t>
            </a:r>
            <a:r>
              <a:rPr kumimoji="1" lang="zh-CN" altLang="en-US" sz="2400" b="1" dirty="0">
                <a:latin typeface="Times New Roman" panose="02020603050405020304" pitchFamily="18" charset="0"/>
                <a:ea typeface="华文楷体" panose="02010600040101010101" pitchFamily="2" charset="-122"/>
              </a:rPr>
              <a:t>平行于加载直线</a:t>
            </a:r>
            <a:endParaRPr kumimoji="1" lang="en-US" altLang="zh-CN" sz="2400" b="1" dirty="0">
              <a:latin typeface="Times New Roman" panose="02020603050405020304" pitchFamily="18" charset="0"/>
              <a:ea typeface="华文楷体" panose="02010600040101010101" pitchFamily="2" charset="-122"/>
            </a:endParaRPr>
          </a:p>
        </p:txBody>
      </p:sp>
      <p:graphicFrame>
        <p:nvGraphicFramePr>
          <p:cNvPr id="96" name="Object 306"/>
          <p:cNvGraphicFramePr>
            <a:graphicFrameLocks/>
          </p:cNvGraphicFramePr>
          <p:nvPr>
            <p:extLst>
              <p:ext uri="{D42A27DB-BD31-4B8C-83A1-F6EECF244321}">
                <p14:modId xmlns:p14="http://schemas.microsoft.com/office/powerpoint/2010/main" val="2131199946"/>
              </p:ext>
            </p:extLst>
          </p:nvPr>
        </p:nvGraphicFramePr>
        <p:xfrm>
          <a:off x="6022478" y="4708130"/>
          <a:ext cx="1247775" cy="498475"/>
        </p:xfrm>
        <a:graphic>
          <a:graphicData uri="http://schemas.openxmlformats.org/presentationml/2006/ole">
            <mc:AlternateContent xmlns:mc="http://schemas.openxmlformats.org/markup-compatibility/2006">
              <mc:Choice xmlns:v="urn:schemas-microsoft-com:vml" Requires="v">
                <p:oleObj name="Equation" r:id="rId31" imgW="634680" imgH="241200" progId="Equation.DSMT4">
                  <p:embed/>
                </p:oleObj>
              </mc:Choice>
              <mc:Fallback>
                <p:oleObj name="Equation" r:id="rId31" imgW="634680" imgH="241200" progId="Equation.DSMT4">
                  <p:embed/>
                  <p:pic>
                    <p:nvPicPr>
                      <p:cNvPr id="0" name=""/>
                      <p:cNvPicPr>
                        <a:picLocks noChangeArrowheads="1"/>
                      </p:cNvPicPr>
                      <p:nvPr/>
                    </p:nvPicPr>
                    <p:blipFill>
                      <a:blip r:embed="rId32"/>
                      <a:srcRect/>
                      <a:stretch>
                        <a:fillRect/>
                      </a:stretch>
                    </p:blipFill>
                    <p:spPr bwMode="auto">
                      <a:xfrm>
                        <a:off x="6022478" y="4708130"/>
                        <a:ext cx="1247775" cy="498475"/>
                      </a:xfrm>
                      <a:prstGeom prst="rect">
                        <a:avLst/>
                      </a:prstGeom>
                      <a:noFill/>
                      <a:ln>
                        <a:noFill/>
                      </a:ln>
                      <a:effectLst/>
                    </p:spPr>
                  </p:pic>
                </p:oleObj>
              </mc:Fallback>
            </mc:AlternateContent>
          </a:graphicData>
        </a:graphic>
      </p:graphicFrame>
      <p:sp>
        <p:nvSpPr>
          <p:cNvPr id="97" name="Text Box 37"/>
          <p:cNvSpPr txBox="1">
            <a:spLocks noChangeArrowheads="1"/>
          </p:cNvSpPr>
          <p:nvPr/>
        </p:nvSpPr>
        <p:spPr bwMode="auto">
          <a:xfrm>
            <a:off x="3112722" y="5854262"/>
            <a:ext cx="1447391" cy="405683"/>
          </a:xfrm>
          <a:prstGeom prst="rect">
            <a:avLst/>
          </a:prstGeom>
          <a:solidFill>
            <a:srgbClr val="FF99CC"/>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square" lIns="0" tIns="0" rIns="0" bIns="36000" anchor="ct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eaLnBrk="1" hangingPunct="1"/>
            <a:r>
              <a:rPr kumimoji="0" lang="zh-CN" altLang="en-US" dirty="0">
                <a:solidFill>
                  <a:srgbClr val="0000FF"/>
                </a:solidFill>
                <a:latin typeface="楷体" panose="02010609060101010101" pitchFamily="49" charset="-122"/>
                <a:ea typeface="楷体" panose="02010609060101010101" pitchFamily="49" charset="-122"/>
                <a:sym typeface="Symbol" panose="05050102010706020507" pitchFamily="18" charset="2"/>
              </a:rPr>
              <a:t>杯状断口</a:t>
            </a:r>
            <a:endParaRPr kumimoji="0" lang="zh-CN" altLang="en-US" dirty="0">
              <a:solidFill>
                <a:srgbClr val="0000FF"/>
              </a:solidFill>
              <a:latin typeface="楷体" panose="02010609060101010101" pitchFamily="49" charset="-122"/>
              <a:ea typeface="楷体" panose="02010609060101010101" pitchFamily="49" charset="-122"/>
            </a:endParaRPr>
          </a:p>
        </p:txBody>
      </p:sp>
      <p:sp>
        <p:nvSpPr>
          <p:cNvPr id="98" name="文本框 97"/>
          <p:cNvSpPr txBox="1"/>
          <p:nvPr/>
        </p:nvSpPr>
        <p:spPr>
          <a:xfrm>
            <a:off x="654471" y="2286000"/>
            <a:ext cx="3299277" cy="400110"/>
          </a:xfrm>
          <a:prstGeom prst="rect">
            <a:avLst/>
          </a:prstGeom>
          <a:noFill/>
        </p:spPr>
        <p:txBody>
          <a:bodyPr wrap="square" rtlCol="0">
            <a:spAutoFit/>
          </a:bodyPr>
          <a:lstStyle/>
          <a:p>
            <a:r>
              <a:rPr lang="zh-CN" altLang="en-US" sz="2000" b="1" dirty="0">
                <a:latin typeface="楷体" panose="02010609060101010101" pitchFamily="49" charset="-122"/>
                <a:ea typeface="楷体" panose="02010609060101010101" pitchFamily="49" charset="-122"/>
              </a:rPr>
              <a:t>材料所能承受的最大应力。</a:t>
            </a:r>
          </a:p>
        </p:txBody>
      </p:sp>
    </p:spTree>
    <p:extLst>
      <p:ext uri="{BB962C8B-B14F-4D97-AF65-F5344CB8AC3E}">
        <p14:creationId xmlns:p14="http://schemas.microsoft.com/office/powerpoint/2010/main" val="4189383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box(out)">
                                      <p:cBhvr>
                                        <p:cTn id="7" dur="500"/>
                                        <p:tgtEl>
                                          <p:spTgt spid="6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ou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44"/>
                                        </p:tgtEl>
                                        <p:attrNameLst>
                                          <p:attrName>style.visibility</p:attrName>
                                        </p:attrNameLst>
                                      </p:cBhvr>
                                      <p:to>
                                        <p:strVal val="visible"/>
                                      </p:to>
                                    </p:set>
                                    <p:animEffect transition="in" filter="box(out)">
                                      <p:cBhvr>
                                        <p:cTn id="17" dur="500"/>
                                        <p:tgtEl>
                                          <p:spTgt spid="4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par>
                                <p:cTn id="23" presetID="3" presetClass="entr" presetSubtype="1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blinds(horizontal)">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98"/>
                                        </p:tgtEl>
                                        <p:attrNameLst>
                                          <p:attrName>style.visibility</p:attrName>
                                        </p:attrNameLst>
                                      </p:cBhvr>
                                      <p:to>
                                        <p:strVal val="visible"/>
                                      </p:to>
                                    </p:set>
                                    <p:animEffect transition="in" filter="wipe(left)">
                                      <p:cBhvr>
                                        <p:cTn id="30" dur="500"/>
                                        <p:tgtEl>
                                          <p:spTgt spid="98"/>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ntr" presetSubtype="32" fill="hold" nodeType="clickEffect">
                                  <p:stCondLst>
                                    <p:cond delay="0"/>
                                  </p:stCondLst>
                                  <p:childTnLst>
                                    <p:set>
                                      <p:cBhvr>
                                        <p:cTn id="34" dur="1" fill="hold">
                                          <p:stCondLst>
                                            <p:cond delay="0"/>
                                          </p:stCondLst>
                                        </p:cTn>
                                        <p:tgtEl>
                                          <p:spTgt spid="63"/>
                                        </p:tgtEl>
                                        <p:attrNameLst>
                                          <p:attrName>style.visibility</p:attrName>
                                        </p:attrNameLst>
                                      </p:cBhvr>
                                      <p:to>
                                        <p:strVal val="visible"/>
                                      </p:to>
                                    </p:set>
                                    <p:animEffect transition="in" filter="box(out)">
                                      <p:cBhvr>
                                        <p:cTn id="35" dur="500"/>
                                        <p:tgtEl>
                                          <p:spTgt spid="63"/>
                                        </p:tgtEl>
                                      </p:cBhvr>
                                    </p:animEffect>
                                  </p:childTnLst>
                                </p:cTn>
                              </p:par>
                            </p:childTnLst>
                          </p:cTn>
                        </p:par>
                      </p:childTnLst>
                    </p:cTn>
                  </p:par>
                  <p:par>
                    <p:cTn id="36" fill="hold">
                      <p:stCondLst>
                        <p:cond delay="indefinite"/>
                      </p:stCondLst>
                      <p:childTnLst>
                        <p:par>
                          <p:cTn id="37" fill="hold">
                            <p:stCondLst>
                              <p:cond delay="0"/>
                            </p:stCondLst>
                            <p:childTnLst>
                              <p:par>
                                <p:cTn id="38" presetID="4" presetClass="entr" presetSubtype="32" fill="hold" grpId="0" nodeType="click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box(out)">
                                      <p:cBhvr>
                                        <p:cTn id="40" dur="500"/>
                                        <p:tgtEl>
                                          <p:spTgt spid="7"/>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499"/>
                                          </p:stCondLst>
                                        </p:cTn>
                                        <p:tgtEl>
                                          <p:spTgt spid="9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499"/>
                                          </p:stCondLst>
                                        </p:cTn>
                                        <p:tgtEl>
                                          <p:spTgt spid="9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6" presetClass="entr" presetSubtype="42" fill="hold" nodeType="clickEffect">
                                  <p:stCondLst>
                                    <p:cond delay="0"/>
                                  </p:stCondLst>
                                  <p:childTnLst>
                                    <p:set>
                                      <p:cBhvr>
                                        <p:cTn id="52" dur="1" fill="hold">
                                          <p:stCondLst>
                                            <p:cond delay="0"/>
                                          </p:stCondLst>
                                        </p:cTn>
                                        <p:tgtEl>
                                          <p:spTgt spid="90"/>
                                        </p:tgtEl>
                                        <p:attrNameLst>
                                          <p:attrName>style.visibility</p:attrName>
                                        </p:attrNameLst>
                                      </p:cBhvr>
                                      <p:to>
                                        <p:strVal val="visible"/>
                                      </p:to>
                                    </p:set>
                                    <p:animEffect transition="in" filter="barn(outHorizontal)">
                                      <p:cBhvr>
                                        <p:cTn id="53" dur="500"/>
                                        <p:tgtEl>
                                          <p:spTgt spid="90"/>
                                        </p:tgtEl>
                                      </p:cBhvr>
                                    </p:animEffect>
                                  </p:childTnLst>
                                </p:cTn>
                              </p:par>
                            </p:childTnLst>
                          </p:cTn>
                        </p:par>
                      </p:childTnLst>
                    </p:cTn>
                  </p:par>
                  <p:par>
                    <p:cTn id="54" fill="hold">
                      <p:stCondLst>
                        <p:cond delay="indefinite"/>
                      </p:stCondLst>
                      <p:childTnLst>
                        <p:par>
                          <p:cTn id="55" fill="hold">
                            <p:stCondLst>
                              <p:cond delay="0"/>
                            </p:stCondLst>
                            <p:childTnLst>
                              <p:par>
                                <p:cTn id="56" presetID="16" presetClass="entr" presetSubtype="42" fill="hold" nodeType="clickEffect">
                                  <p:stCondLst>
                                    <p:cond delay="0"/>
                                  </p:stCondLst>
                                  <p:childTnLst>
                                    <p:set>
                                      <p:cBhvr>
                                        <p:cTn id="57" dur="1" fill="hold">
                                          <p:stCondLst>
                                            <p:cond delay="0"/>
                                          </p:stCondLst>
                                        </p:cTn>
                                        <p:tgtEl>
                                          <p:spTgt spid="3"/>
                                        </p:tgtEl>
                                        <p:attrNameLst>
                                          <p:attrName>style.visibility</p:attrName>
                                        </p:attrNameLst>
                                      </p:cBhvr>
                                      <p:to>
                                        <p:strVal val="visible"/>
                                      </p:to>
                                    </p:set>
                                    <p:animEffect transition="in" filter="barn(outHorizontal)">
                                      <p:cBhvr>
                                        <p:cTn id="58" dur="500"/>
                                        <p:tgtEl>
                                          <p:spTgt spid="3"/>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9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4" presetClass="entr" presetSubtype="32" fill="hold" grpId="0" nodeType="clickEffect">
                                  <p:stCondLst>
                                    <p:cond delay="0"/>
                                  </p:stCondLst>
                                  <p:childTnLst>
                                    <p:set>
                                      <p:cBhvr>
                                        <p:cTn id="66" dur="1" fill="hold">
                                          <p:stCondLst>
                                            <p:cond delay="0"/>
                                          </p:stCondLst>
                                        </p:cTn>
                                        <p:tgtEl>
                                          <p:spTgt spid="83"/>
                                        </p:tgtEl>
                                        <p:attrNameLst>
                                          <p:attrName>style.visibility</p:attrName>
                                        </p:attrNameLst>
                                      </p:cBhvr>
                                      <p:to>
                                        <p:strVal val="visible"/>
                                      </p:to>
                                    </p:set>
                                    <p:animEffect transition="in" filter="box(out)">
                                      <p:cBhvr>
                                        <p:cTn id="67" dur="500"/>
                                        <p:tgtEl>
                                          <p:spTgt spid="83"/>
                                        </p:tgtEl>
                                      </p:cBhvr>
                                    </p:animEffect>
                                  </p:childTnLst>
                                </p:cTn>
                              </p:par>
                            </p:childTnLst>
                          </p:cTn>
                        </p:par>
                      </p:childTnLst>
                    </p:cTn>
                  </p:par>
                  <p:par>
                    <p:cTn id="68" fill="hold">
                      <p:stCondLst>
                        <p:cond delay="indefinite"/>
                      </p:stCondLst>
                      <p:childTnLst>
                        <p:par>
                          <p:cTn id="69" fill="hold">
                            <p:stCondLst>
                              <p:cond delay="0"/>
                            </p:stCondLst>
                            <p:childTnLst>
                              <p:par>
                                <p:cTn id="70" presetID="4" presetClass="entr" presetSubtype="32" fill="hold" grpId="0" nodeType="clickEffect">
                                  <p:stCondLst>
                                    <p:cond delay="0"/>
                                  </p:stCondLst>
                                  <p:childTnLst>
                                    <p:set>
                                      <p:cBhvr>
                                        <p:cTn id="71" dur="1" fill="hold">
                                          <p:stCondLst>
                                            <p:cond delay="0"/>
                                          </p:stCondLst>
                                        </p:cTn>
                                        <p:tgtEl>
                                          <p:spTgt spid="66"/>
                                        </p:tgtEl>
                                        <p:attrNameLst>
                                          <p:attrName>style.visibility</p:attrName>
                                        </p:attrNameLst>
                                      </p:cBhvr>
                                      <p:to>
                                        <p:strVal val="visible"/>
                                      </p:to>
                                    </p:set>
                                    <p:animEffect transition="in" filter="box(out)">
                                      <p:cBhvr>
                                        <p:cTn id="72" dur="500"/>
                                        <p:tgtEl>
                                          <p:spTgt spid="66"/>
                                        </p:tgtEl>
                                      </p:cBhvr>
                                    </p:animEffect>
                                  </p:childTnLst>
                                </p:cTn>
                              </p:par>
                            </p:childTnLst>
                          </p:cTn>
                        </p:par>
                      </p:childTnLst>
                    </p:cTn>
                  </p:par>
                  <p:par>
                    <p:cTn id="73" fill="hold">
                      <p:stCondLst>
                        <p:cond delay="indefinite"/>
                      </p:stCondLst>
                      <p:childTnLst>
                        <p:par>
                          <p:cTn id="74" fill="hold">
                            <p:stCondLst>
                              <p:cond delay="0"/>
                            </p:stCondLst>
                            <p:childTnLst>
                              <p:par>
                                <p:cTn id="75" presetID="4" presetClass="entr" presetSubtype="32" fill="hold" grpId="0" nodeType="clickEffect">
                                  <p:stCondLst>
                                    <p:cond delay="0"/>
                                  </p:stCondLst>
                                  <p:childTnLst>
                                    <p:set>
                                      <p:cBhvr>
                                        <p:cTn id="76" dur="1" fill="hold">
                                          <p:stCondLst>
                                            <p:cond delay="0"/>
                                          </p:stCondLst>
                                        </p:cTn>
                                        <p:tgtEl>
                                          <p:spTgt spid="95"/>
                                        </p:tgtEl>
                                        <p:attrNameLst>
                                          <p:attrName>style.visibility</p:attrName>
                                        </p:attrNameLst>
                                      </p:cBhvr>
                                      <p:to>
                                        <p:strVal val="visible"/>
                                      </p:to>
                                    </p:set>
                                    <p:animEffect transition="in" filter="box(out)">
                                      <p:cBhvr>
                                        <p:cTn id="77" dur="500"/>
                                        <p:tgtEl>
                                          <p:spTgt spid="95"/>
                                        </p:tgtEl>
                                      </p:cBhvr>
                                    </p:animEffect>
                                  </p:childTnLst>
                                </p:cTn>
                              </p:par>
                            </p:childTnLst>
                          </p:cTn>
                        </p:par>
                      </p:childTnLst>
                    </p:cTn>
                  </p:par>
                  <p:par>
                    <p:cTn id="78" fill="hold">
                      <p:stCondLst>
                        <p:cond delay="indefinite"/>
                      </p:stCondLst>
                      <p:childTnLst>
                        <p:par>
                          <p:cTn id="79" fill="hold">
                            <p:stCondLst>
                              <p:cond delay="0"/>
                            </p:stCondLst>
                            <p:childTnLst>
                              <p:par>
                                <p:cTn id="80" presetID="4" presetClass="entr" presetSubtype="32" fill="hold" nodeType="clickEffect">
                                  <p:stCondLst>
                                    <p:cond delay="0"/>
                                  </p:stCondLst>
                                  <p:childTnLst>
                                    <p:set>
                                      <p:cBhvr>
                                        <p:cTn id="81" dur="1" fill="hold">
                                          <p:stCondLst>
                                            <p:cond delay="0"/>
                                          </p:stCondLst>
                                        </p:cTn>
                                        <p:tgtEl>
                                          <p:spTgt spid="68"/>
                                        </p:tgtEl>
                                        <p:attrNameLst>
                                          <p:attrName>style.visibility</p:attrName>
                                        </p:attrNameLst>
                                      </p:cBhvr>
                                      <p:to>
                                        <p:strVal val="visible"/>
                                      </p:to>
                                    </p:set>
                                    <p:animEffect transition="in" filter="box(out)">
                                      <p:cBhvr>
                                        <p:cTn id="82" dur="500"/>
                                        <p:tgtEl>
                                          <p:spTgt spid="68"/>
                                        </p:tgtEl>
                                      </p:cBhvr>
                                    </p:animEffect>
                                  </p:childTnLst>
                                </p:cTn>
                              </p:par>
                            </p:childTnLst>
                          </p:cTn>
                        </p:par>
                      </p:childTnLst>
                    </p:cTn>
                  </p:par>
                  <p:par>
                    <p:cTn id="83" fill="hold">
                      <p:stCondLst>
                        <p:cond delay="indefinite"/>
                      </p:stCondLst>
                      <p:childTnLst>
                        <p:par>
                          <p:cTn id="84" fill="hold">
                            <p:stCondLst>
                              <p:cond delay="0"/>
                            </p:stCondLst>
                            <p:childTnLst>
                              <p:par>
                                <p:cTn id="85" presetID="4" presetClass="entr" presetSubtype="32" fill="hold" grpId="0" nodeType="clickEffect">
                                  <p:stCondLst>
                                    <p:cond delay="0"/>
                                  </p:stCondLst>
                                  <p:childTnLst>
                                    <p:set>
                                      <p:cBhvr>
                                        <p:cTn id="86" dur="1" fill="hold">
                                          <p:stCondLst>
                                            <p:cond delay="0"/>
                                          </p:stCondLst>
                                        </p:cTn>
                                        <p:tgtEl>
                                          <p:spTgt spid="75"/>
                                        </p:tgtEl>
                                        <p:attrNameLst>
                                          <p:attrName>style.visibility</p:attrName>
                                        </p:attrNameLst>
                                      </p:cBhvr>
                                      <p:to>
                                        <p:strVal val="visible"/>
                                      </p:to>
                                    </p:set>
                                    <p:animEffect transition="in" filter="box(out)">
                                      <p:cBhvr>
                                        <p:cTn id="87" dur="500"/>
                                        <p:tgtEl>
                                          <p:spTgt spid="75"/>
                                        </p:tgtEl>
                                      </p:cBhvr>
                                    </p:animEffect>
                                  </p:childTnLst>
                                </p:cTn>
                              </p:par>
                            </p:childTnLst>
                          </p:cTn>
                        </p:par>
                      </p:childTnLst>
                    </p:cTn>
                  </p:par>
                  <p:par>
                    <p:cTn id="88" fill="hold">
                      <p:stCondLst>
                        <p:cond delay="indefinite"/>
                      </p:stCondLst>
                      <p:childTnLst>
                        <p:par>
                          <p:cTn id="89" fill="hold">
                            <p:stCondLst>
                              <p:cond delay="0"/>
                            </p:stCondLst>
                            <p:childTnLst>
                              <p:par>
                                <p:cTn id="90" presetID="4" presetClass="entr" presetSubtype="32" fill="hold" nodeType="clickEffect">
                                  <p:stCondLst>
                                    <p:cond delay="0"/>
                                  </p:stCondLst>
                                  <p:childTnLst>
                                    <p:set>
                                      <p:cBhvr>
                                        <p:cTn id="91" dur="1" fill="hold">
                                          <p:stCondLst>
                                            <p:cond delay="0"/>
                                          </p:stCondLst>
                                        </p:cTn>
                                        <p:tgtEl>
                                          <p:spTgt spid="76"/>
                                        </p:tgtEl>
                                        <p:attrNameLst>
                                          <p:attrName>style.visibility</p:attrName>
                                        </p:attrNameLst>
                                      </p:cBhvr>
                                      <p:to>
                                        <p:strVal val="visible"/>
                                      </p:to>
                                    </p:set>
                                    <p:animEffect transition="in" filter="box(out)">
                                      <p:cBhvr>
                                        <p:cTn id="92" dur="500"/>
                                        <p:tgtEl>
                                          <p:spTgt spid="76"/>
                                        </p:tgtEl>
                                      </p:cBhvr>
                                    </p:animEffect>
                                  </p:childTnLst>
                                </p:cTn>
                              </p:par>
                            </p:childTnLst>
                          </p:cTn>
                        </p:par>
                      </p:childTnLst>
                    </p:cTn>
                  </p:par>
                  <p:par>
                    <p:cTn id="93" fill="hold">
                      <p:stCondLst>
                        <p:cond delay="indefinite"/>
                      </p:stCondLst>
                      <p:childTnLst>
                        <p:par>
                          <p:cTn id="94" fill="hold">
                            <p:stCondLst>
                              <p:cond delay="0"/>
                            </p:stCondLst>
                            <p:childTnLst>
                              <p:par>
                                <p:cTn id="95" presetID="4" presetClass="entr" presetSubtype="32" fill="hold" nodeType="clickEffect">
                                  <p:stCondLst>
                                    <p:cond delay="0"/>
                                  </p:stCondLst>
                                  <p:childTnLst>
                                    <p:set>
                                      <p:cBhvr>
                                        <p:cTn id="96" dur="1" fill="hold">
                                          <p:stCondLst>
                                            <p:cond delay="0"/>
                                          </p:stCondLst>
                                        </p:cTn>
                                        <p:tgtEl>
                                          <p:spTgt spid="79"/>
                                        </p:tgtEl>
                                        <p:attrNameLst>
                                          <p:attrName>style.visibility</p:attrName>
                                        </p:attrNameLst>
                                      </p:cBhvr>
                                      <p:to>
                                        <p:strVal val="visible"/>
                                      </p:to>
                                    </p:set>
                                    <p:animEffect transition="in" filter="box(out)">
                                      <p:cBhvr>
                                        <p:cTn id="97" dur="500"/>
                                        <p:tgtEl>
                                          <p:spTgt spid="79"/>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nodeType="clickEffect">
                                  <p:stCondLst>
                                    <p:cond delay="0"/>
                                  </p:stCondLst>
                                  <p:childTnLst>
                                    <p:set>
                                      <p:cBhvr>
                                        <p:cTn id="101" dur="1" fill="hold">
                                          <p:stCondLst>
                                            <p:cond delay="0"/>
                                          </p:stCondLst>
                                        </p:cTn>
                                        <p:tgtEl>
                                          <p:spTgt spid="96"/>
                                        </p:tgtEl>
                                        <p:attrNameLst>
                                          <p:attrName>style.visibility</p:attrName>
                                        </p:attrNameLst>
                                      </p:cBhvr>
                                      <p:to>
                                        <p:strVal val="visible"/>
                                      </p:to>
                                    </p:set>
                                    <p:animEffect transition="in" filter="blinds(horizontal)">
                                      <p:cBhvr>
                                        <p:cTn id="102" dur="500"/>
                                        <p:tgtEl>
                                          <p:spTgt spid="96"/>
                                        </p:tgtEl>
                                      </p:cBhvr>
                                    </p:animEffect>
                                  </p:childTnLst>
                                </p:cTn>
                              </p:par>
                            </p:childTnLst>
                          </p:cTn>
                        </p:par>
                      </p:childTnLst>
                    </p:cTn>
                  </p:par>
                  <p:par>
                    <p:cTn id="103" fill="hold">
                      <p:stCondLst>
                        <p:cond delay="indefinite"/>
                      </p:stCondLst>
                      <p:childTnLst>
                        <p:par>
                          <p:cTn id="104" fill="hold">
                            <p:stCondLst>
                              <p:cond delay="0"/>
                            </p:stCondLst>
                            <p:childTnLst>
                              <p:par>
                                <p:cTn id="105" presetID="4" presetClass="entr" presetSubtype="32" fill="hold" nodeType="clickEffect">
                                  <p:stCondLst>
                                    <p:cond delay="0"/>
                                  </p:stCondLst>
                                  <p:childTnLst>
                                    <p:set>
                                      <p:cBhvr>
                                        <p:cTn id="106" dur="1" fill="hold">
                                          <p:stCondLst>
                                            <p:cond delay="0"/>
                                          </p:stCondLst>
                                        </p:cTn>
                                        <p:tgtEl>
                                          <p:spTgt spid="84"/>
                                        </p:tgtEl>
                                        <p:attrNameLst>
                                          <p:attrName>style.visibility</p:attrName>
                                        </p:attrNameLst>
                                      </p:cBhvr>
                                      <p:to>
                                        <p:strVal val="visible"/>
                                      </p:to>
                                    </p:set>
                                    <p:animEffect transition="in" filter="box(out)">
                                      <p:cBhvr>
                                        <p:cTn id="107" dur="500"/>
                                        <p:tgtEl>
                                          <p:spTgt spid="84"/>
                                        </p:tgtEl>
                                      </p:cBhvr>
                                    </p:animEffect>
                                  </p:childTnLst>
                                </p:cTn>
                              </p:par>
                            </p:childTnLst>
                          </p:cTn>
                        </p:par>
                      </p:childTnLst>
                    </p:cTn>
                  </p:par>
                  <p:par>
                    <p:cTn id="108" fill="hold">
                      <p:stCondLst>
                        <p:cond delay="indefinite"/>
                      </p:stCondLst>
                      <p:childTnLst>
                        <p:par>
                          <p:cTn id="109" fill="hold">
                            <p:stCondLst>
                              <p:cond delay="0"/>
                            </p:stCondLst>
                            <p:childTnLst>
                              <p:par>
                                <p:cTn id="110" presetID="4" presetClass="entr" presetSubtype="32" fill="hold" grpId="0" nodeType="clickEffect">
                                  <p:stCondLst>
                                    <p:cond delay="0"/>
                                  </p:stCondLst>
                                  <p:childTnLst>
                                    <p:set>
                                      <p:cBhvr>
                                        <p:cTn id="111" dur="1" fill="hold">
                                          <p:stCondLst>
                                            <p:cond delay="0"/>
                                          </p:stCondLst>
                                        </p:cTn>
                                        <p:tgtEl>
                                          <p:spTgt spid="67"/>
                                        </p:tgtEl>
                                        <p:attrNameLst>
                                          <p:attrName>style.visibility</p:attrName>
                                        </p:attrNameLst>
                                      </p:cBhvr>
                                      <p:to>
                                        <p:strVal val="visible"/>
                                      </p:to>
                                    </p:set>
                                    <p:animEffect transition="in" filter="box(out)">
                                      <p:cBhvr>
                                        <p:cTn id="112" dur="500"/>
                                        <p:tgtEl>
                                          <p:spTgt spid="67"/>
                                        </p:tgtEl>
                                      </p:cBhvr>
                                    </p:animEffect>
                                  </p:childTnLst>
                                </p:cTn>
                              </p:par>
                            </p:childTnLst>
                          </p:cTn>
                        </p:par>
                      </p:childTnLst>
                    </p:cTn>
                  </p:par>
                  <p:par>
                    <p:cTn id="113" fill="hold">
                      <p:stCondLst>
                        <p:cond delay="indefinite"/>
                      </p:stCondLst>
                      <p:childTnLst>
                        <p:par>
                          <p:cTn id="114" fill="hold">
                            <p:stCondLst>
                              <p:cond delay="0"/>
                            </p:stCondLst>
                            <p:childTnLst>
                              <p:par>
                                <p:cTn id="115" presetID="4" presetClass="entr" presetSubtype="32" fill="hold" grpId="0" nodeType="clickEffect">
                                  <p:stCondLst>
                                    <p:cond delay="0"/>
                                  </p:stCondLst>
                                  <p:childTnLst>
                                    <p:set>
                                      <p:cBhvr>
                                        <p:cTn id="116" dur="1" fill="hold">
                                          <p:stCondLst>
                                            <p:cond delay="0"/>
                                          </p:stCondLst>
                                        </p:cTn>
                                        <p:tgtEl>
                                          <p:spTgt spid="2"/>
                                        </p:tgtEl>
                                        <p:attrNameLst>
                                          <p:attrName>style.visibility</p:attrName>
                                        </p:attrNameLst>
                                      </p:cBhvr>
                                      <p:to>
                                        <p:strVal val="visible"/>
                                      </p:to>
                                    </p:set>
                                    <p:animEffect transition="in" filter="box(out)">
                                      <p:cBhvr>
                                        <p:cTn id="1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rev="1"/>
      <p:bldP spid="4" grpId="0" autoUpdateAnimBg="0"/>
      <p:bldP spid="5" grpId="0"/>
      <p:bldP spid="7" grpId="0" autoUpdateAnimBg="0"/>
      <p:bldP spid="66" grpId="0" animBg="1"/>
      <p:bldP spid="67" grpId="0" animBg="1"/>
      <p:bldP spid="75" grpId="0" animBg="1"/>
      <p:bldP spid="83" grpId="0" autoUpdateAnimBg="0"/>
      <p:bldP spid="94" grpId="0" animBg="1" autoUpdateAnimBg="0"/>
      <p:bldP spid="95" grpId="0" autoUpdateAnimBg="0" rev="1"/>
      <p:bldP spid="97" grpId="0" animBg="1" autoUpdateAnimBg="0"/>
      <p:bldP spid="9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0959" name="Object 15"/>
          <p:cNvGraphicFramePr>
            <a:graphicFrameLocks/>
          </p:cNvGraphicFramePr>
          <p:nvPr>
            <p:extLst>
              <p:ext uri="{D42A27DB-BD31-4B8C-83A1-F6EECF244321}">
                <p14:modId xmlns:p14="http://schemas.microsoft.com/office/powerpoint/2010/main" val="1643731180"/>
              </p:ext>
            </p:extLst>
          </p:nvPr>
        </p:nvGraphicFramePr>
        <p:xfrm>
          <a:off x="1311639" y="1464667"/>
          <a:ext cx="2232025" cy="863600"/>
        </p:xfrm>
        <a:graphic>
          <a:graphicData uri="http://schemas.openxmlformats.org/presentationml/2006/ole">
            <mc:AlternateContent xmlns:mc="http://schemas.openxmlformats.org/markup-compatibility/2006">
              <mc:Choice xmlns:v="urn:schemas-microsoft-com:vml" Requires="v">
                <p:oleObj name="Equation" r:id="rId2" imgW="1095390" imgH="380910" progId="Equation.DSMT4">
                  <p:embed/>
                </p:oleObj>
              </mc:Choice>
              <mc:Fallback>
                <p:oleObj name="Equation" r:id="rId2" imgW="1095390" imgH="380910" progId="Equation.DSMT4">
                  <p:embed/>
                  <p:pic>
                    <p:nvPicPr>
                      <p:cNvPr id="0" nam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1639" y="1464667"/>
                        <a:ext cx="2232025"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0960" name="Rectangle 16"/>
          <p:cNvSpPr>
            <a:spLocks noChangeArrowheads="1"/>
          </p:cNvSpPr>
          <p:nvPr/>
        </p:nvSpPr>
        <p:spPr bwMode="auto">
          <a:xfrm>
            <a:off x="409575" y="912813"/>
            <a:ext cx="5000625" cy="536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20000"/>
              </a:lnSpc>
              <a:buClr>
                <a:schemeClr val="hlink"/>
              </a:buClr>
              <a:buFont typeface="Wingdings" panose="05000000000000000000" pitchFamily="2" charset="2"/>
              <a:buChar char="p"/>
            </a:pPr>
            <a:r>
              <a:rPr kumimoji="1" lang="zh-CN" altLang="en-US" sz="2400" b="1" dirty="0">
                <a:solidFill>
                  <a:srgbClr val="FF0000"/>
                </a:solidFill>
                <a:latin typeface="Times New Roman" panose="02020603050405020304" pitchFamily="18" charset="0"/>
                <a:ea typeface="华文楷体" panose="02010600040101010101" pitchFamily="2" charset="-122"/>
              </a:rPr>
              <a:t> </a:t>
            </a:r>
            <a:r>
              <a:rPr kumimoji="1" lang="zh-CN" altLang="en-US" sz="2400" b="1" dirty="0">
                <a:latin typeface="Times New Roman" panose="02020603050405020304" pitchFamily="18" charset="0"/>
                <a:ea typeface="华文楷体" panose="02010600040101010101" pitchFamily="2" charset="-122"/>
              </a:rPr>
              <a:t>延伸率</a:t>
            </a:r>
            <a:r>
              <a:rPr kumimoji="1" lang="en-US" altLang="zh-CN" sz="2400" b="1" dirty="0">
                <a:latin typeface="Times New Roman" panose="02020603050405020304" pitchFamily="18" charset="0"/>
                <a:ea typeface="华文楷体" panose="02010600040101010101" pitchFamily="2" charset="-122"/>
              </a:rPr>
              <a:t>(</a:t>
            </a:r>
            <a:r>
              <a:rPr kumimoji="1" lang="en-US" altLang="zh-CN" sz="2400" dirty="0">
                <a:latin typeface="Times New Roman" panose="02020603050405020304" pitchFamily="18" charset="0"/>
                <a:ea typeface="华文楷体" panose="02010600040101010101" pitchFamily="2" charset="-122"/>
              </a:rPr>
              <a:t>Percent elongation</a:t>
            </a:r>
            <a:r>
              <a:rPr kumimoji="1" lang="en-US" altLang="zh-CN" sz="2400" b="1" dirty="0">
                <a:latin typeface="Times New Roman" panose="02020603050405020304" pitchFamily="18" charset="0"/>
                <a:ea typeface="华文楷体" panose="02010600040101010101" pitchFamily="2" charset="-122"/>
              </a:rPr>
              <a:t>)</a:t>
            </a:r>
          </a:p>
        </p:txBody>
      </p:sp>
      <p:graphicFrame>
        <p:nvGraphicFramePr>
          <p:cNvPr id="210961" name="Object 17"/>
          <p:cNvGraphicFramePr>
            <a:graphicFrameLocks/>
          </p:cNvGraphicFramePr>
          <p:nvPr>
            <p:extLst>
              <p:ext uri="{D42A27DB-BD31-4B8C-83A1-F6EECF244321}">
                <p14:modId xmlns:p14="http://schemas.microsoft.com/office/powerpoint/2010/main" val="2090318422"/>
              </p:ext>
            </p:extLst>
          </p:nvPr>
        </p:nvGraphicFramePr>
        <p:xfrm>
          <a:off x="5868144" y="4054503"/>
          <a:ext cx="2497137" cy="874713"/>
        </p:xfrm>
        <a:graphic>
          <a:graphicData uri="http://schemas.openxmlformats.org/presentationml/2006/ole">
            <mc:AlternateContent xmlns:mc="http://schemas.openxmlformats.org/markup-compatibility/2006">
              <mc:Choice xmlns:v="urn:schemas-microsoft-com:vml" Requires="v">
                <p:oleObj name="Equation" r:id="rId4" imgW="1171530" imgH="380910" progId="Equation.3">
                  <p:embed/>
                </p:oleObj>
              </mc:Choice>
              <mc:Fallback>
                <p:oleObj name="Equation" r:id="rId4" imgW="1171530" imgH="380910" progId="Equation.3">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68144" y="4054503"/>
                        <a:ext cx="2497137" cy="874713"/>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0963" name="Object 19"/>
          <p:cNvGraphicFramePr>
            <a:graphicFrameLocks/>
          </p:cNvGraphicFramePr>
          <p:nvPr>
            <p:extLst>
              <p:ext uri="{D42A27DB-BD31-4B8C-83A1-F6EECF244321}">
                <p14:modId xmlns:p14="http://schemas.microsoft.com/office/powerpoint/2010/main" val="3314803346"/>
              </p:ext>
            </p:extLst>
          </p:nvPr>
        </p:nvGraphicFramePr>
        <p:xfrm>
          <a:off x="699443" y="3513148"/>
          <a:ext cx="992187" cy="419100"/>
        </p:xfrm>
        <a:graphic>
          <a:graphicData uri="http://schemas.openxmlformats.org/presentationml/2006/ole">
            <mc:AlternateContent xmlns:mc="http://schemas.openxmlformats.org/markup-compatibility/2006">
              <mc:Choice xmlns:v="urn:schemas-microsoft-com:vml" Requires="v">
                <p:oleObj name="Equation" r:id="rId6" imgW="447660" imgH="171450" progId="Equation.DSMT4">
                  <p:embed/>
                </p:oleObj>
              </mc:Choice>
              <mc:Fallback>
                <p:oleObj name="Equation" r:id="rId6" imgW="447660" imgH="171450" progId="Equation.DSMT4">
                  <p:embed/>
                  <p:pic>
                    <p:nvPicPr>
                      <p:cNvPr id="0" nam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9443" y="3513148"/>
                        <a:ext cx="992187"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0964" name="Object 20"/>
          <p:cNvGraphicFramePr>
            <a:graphicFrameLocks/>
          </p:cNvGraphicFramePr>
          <p:nvPr>
            <p:extLst>
              <p:ext uri="{D42A27DB-BD31-4B8C-83A1-F6EECF244321}">
                <p14:modId xmlns:p14="http://schemas.microsoft.com/office/powerpoint/2010/main" val="4166349770"/>
              </p:ext>
            </p:extLst>
          </p:nvPr>
        </p:nvGraphicFramePr>
        <p:xfrm>
          <a:off x="683568" y="2532112"/>
          <a:ext cx="1008062" cy="450850"/>
        </p:xfrm>
        <a:graphic>
          <a:graphicData uri="http://schemas.openxmlformats.org/presentationml/2006/ole">
            <mc:AlternateContent xmlns:mc="http://schemas.openxmlformats.org/markup-compatibility/2006">
              <mc:Choice xmlns:v="urn:schemas-microsoft-com:vml" Requires="v">
                <p:oleObj name="Equation" r:id="rId8" imgW="457110" imgH="190590" progId="Equation.DSMT4">
                  <p:embed/>
                </p:oleObj>
              </mc:Choice>
              <mc:Fallback>
                <p:oleObj name="Equation" r:id="rId8" imgW="457110" imgH="190590" progId="Equation.DSMT4">
                  <p:embed/>
                  <p:pic>
                    <p:nvPicPr>
                      <p:cNvPr id="0" name=""/>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83568" y="2532112"/>
                        <a:ext cx="1008062" cy="450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0965" name="Rectangle 21"/>
          <p:cNvSpPr>
            <a:spLocks noChangeArrowheads="1"/>
          </p:cNvSpPr>
          <p:nvPr/>
        </p:nvSpPr>
        <p:spPr bwMode="auto">
          <a:xfrm>
            <a:off x="425682" y="4275356"/>
            <a:ext cx="5832475" cy="536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20000"/>
              </a:lnSpc>
              <a:buClr>
                <a:schemeClr val="hlink"/>
              </a:buClr>
              <a:buFont typeface="Wingdings" panose="05000000000000000000" pitchFamily="2" charset="2"/>
              <a:buChar char="p"/>
            </a:pPr>
            <a:r>
              <a:rPr kumimoji="1" lang="zh-CN" altLang="en-US" sz="2400" b="1" dirty="0">
                <a:solidFill>
                  <a:srgbClr val="FF0000"/>
                </a:solidFill>
                <a:latin typeface="Times New Roman" panose="02020603050405020304" pitchFamily="18" charset="0"/>
                <a:ea typeface="华文楷体" panose="02010600040101010101" pitchFamily="2" charset="-122"/>
              </a:rPr>
              <a:t> </a:t>
            </a:r>
            <a:r>
              <a:rPr kumimoji="1" lang="zh-CN" altLang="en-US" sz="2400" b="1" dirty="0">
                <a:latin typeface="Times New Roman" panose="02020603050405020304" pitchFamily="18" charset="0"/>
                <a:ea typeface="华文楷体" panose="02010600040101010101" pitchFamily="2" charset="-122"/>
              </a:rPr>
              <a:t>断面收缩率</a:t>
            </a:r>
            <a:r>
              <a:rPr kumimoji="1" lang="en-US" altLang="zh-CN" sz="2400" b="1" dirty="0">
                <a:latin typeface="Times New Roman" panose="02020603050405020304" pitchFamily="18" charset="0"/>
                <a:ea typeface="华文楷体" panose="02010600040101010101" pitchFamily="2" charset="-122"/>
              </a:rPr>
              <a:t>(</a:t>
            </a:r>
            <a:r>
              <a:rPr kumimoji="1" lang="en-US" altLang="zh-CN" sz="2400" dirty="0">
                <a:latin typeface="Times New Roman" panose="02020603050405020304" pitchFamily="18" charset="0"/>
                <a:ea typeface="华文楷体" panose="02010600040101010101" pitchFamily="2" charset="-122"/>
              </a:rPr>
              <a:t>Percent reduction of area</a:t>
            </a:r>
            <a:r>
              <a:rPr kumimoji="1" lang="en-US" altLang="zh-CN" sz="2400" b="1" dirty="0">
                <a:latin typeface="Times New Roman" panose="02020603050405020304" pitchFamily="18" charset="0"/>
                <a:ea typeface="华文楷体" panose="02010600040101010101" pitchFamily="2" charset="-122"/>
              </a:rPr>
              <a:t>)</a:t>
            </a:r>
          </a:p>
        </p:txBody>
      </p:sp>
      <p:sp>
        <p:nvSpPr>
          <p:cNvPr id="210966" name="Rectangle 22"/>
          <p:cNvSpPr>
            <a:spLocks noChangeArrowheads="1"/>
          </p:cNvSpPr>
          <p:nvPr/>
        </p:nvSpPr>
        <p:spPr bwMode="auto">
          <a:xfrm>
            <a:off x="425682" y="4999158"/>
            <a:ext cx="8292777" cy="536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20000"/>
              </a:lnSpc>
              <a:buClr>
                <a:schemeClr val="hlink"/>
              </a:buClr>
              <a:buFont typeface="Wingdings" panose="05000000000000000000" pitchFamily="2" charset="2"/>
              <a:buChar char="p"/>
            </a:pPr>
            <a:r>
              <a:rPr kumimoji="1" lang="zh-CN" altLang="en-US" sz="2400" b="1" dirty="0">
                <a:solidFill>
                  <a:srgbClr val="080808"/>
                </a:solidFill>
                <a:latin typeface="Times New Roman" panose="02020603050405020304" pitchFamily="18" charset="0"/>
                <a:ea typeface="华文楷体" panose="02010600040101010101" pitchFamily="2" charset="-122"/>
              </a:rPr>
              <a:t> 强度指标：</a:t>
            </a:r>
            <a:r>
              <a:rPr kumimoji="1" lang="zh-CN" altLang="en-US" sz="2400" b="1" dirty="0">
                <a:solidFill>
                  <a:srgbClr val="FF0000"/>
                </a:solidFill>
                <a:latin typeface="Times New Roman" panose="02020603050405020304" pitchFamily="18" charset="0"/>
                <a:ea typeface="华文楷体" panose="02010600040101010101" pitchFamily="2" charset="-122"/>
              </a:rPr>
              <a:t>比例极限、弹性极限、屈服极限、强度极限</a:t>
            </a:r>
            <a:endParaRPr kumimoji="1" lang="en-US" altLang="zh-CN" sz="2400" dirty="0">
              <a:solidFill>
                <a:srgbClr val="FF0000"/>
              </a:solidFill>
              <a:latin typeface="Times New Roman" panose="02020603050405020304" pitchFamily="18" charset="0"/>
              <a:ea typeface="华文楷体" panose="02010600040101010101" pitchFamily="2" charset="-122"/>
            </a:endParaRPr>
          </a:p>
        </p:txBody>
      </p:sp>
      <p:sp>
        <p:nvSpPr>
          <p:cNvPr id="210967" name="Rectangle 23"/>
          <p:cNvSpPr>
            <a:spLocks noChangeArrowheads="1"/>
          </p:cNvSpPr>
          <p:nvPr/>
        </p:nvSpPr>
        <p:spPr bwMode="auto">
          <a:xfrm>
            <a:off x="432630" y="5572272"/>
            <a:ext cx="4954513" cy="5080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square" lIns="92075" tIns="46038" rIns="92075" bIns="46038">
            <a:spAutoFit/>
          </a:bodyPr>
          <a:lstStyle/>
          <a:p>
            <a:pPr eaLnBrk="0" hangingPunct="0">
              <a:lnSpc>
                <a:spcPct val="120000"/>
              </a:lnSpc>
              <a:buClr>
                <a:schemeClr val="hlink"/>
              </a:buClr>
              <a:buFont typeface="Wingdings" pitchFamily="2" charset="2"/>
              <a:buChar char="p"/>
              <a:defRPr/>
            </a:pPr>
            <a:r>
              <a:rPr kumimoji="1" lang="zh-CN" altLang="en-US" sz="2400" b="1" dirty="0">
                <a:solidFill>
                  <a:srgbClr val="0000FF"/>
                </a:solidFill>
                <a:latin typeface="Times New Roman" pitchFamily="18" charset="0"/>
                <a:ea typeface="华文楷体" pitchFamily="2" charset="-122"/>
              </a:rPr>
              <a:t> </a:t>
            </a:r>
            <a:r>
              <a:rPr kumimoji="1" lang="zh-CN" altLang="en-US" sz="2400" b="1" dirty="0">
                <a:solidFill>
                  <a:srgbClr val="080808"/>
                </a:solidFill>
                <a:latin typeface="Times New Roman" pitchFamily="18" charset="0"/>
                <a:ea typeface="华文楷体" pitchFamily="2" charset="-122"/>
              </a:rPr>
              <a:t>塑性指标：</a:t>
            </a:r>
            <a:r>
              <a:rPr kumimoji="1" lang="zh-CN" altLang="en-US" sz="2400" b="1" dirty="0">
                <a:solidFill>
                  <a:srgbClr val="FF0000"/>
                </a:solidFill>
                <a:latin typeface="Times New Roman" pitchFamily="18" charset="0"/>
                <a:ea typeface="华文楷体" pitchFamily="2" charset="-122"/>
              </a:rPr>
              <a:t>延伸率、断面收缩率</a:t>
            </a:r>
            <a:endParaRPr kumimoji="1" lang="en-US" altLang="zh-CN" sz="2400" dirty="0">
              <a:solidFill>
                <a:srgbClr val="FF0000"/>
              </a:solidFill>
              <a:effectLst>
                <a:outerShdw blurRad="38100" dist="38100" dir="2700000" algn="tl">
                  <a:srgbClr val="C0C0C0"/>
                </a:outerShdw>
              </a:effectLst>
              <a:latin typeface="Times New Roman" pitchFamily="18" charset="0"/>
              <a:ea typeface="华文楷体" pitchFamily="2" charset="-122"/>
            </a:endParaRPr>
          </a:p>
        </p:txBody>
      </p:sp>
      <p:sp>
        <p:nvSpPr>
          <p:cNvPr id="210968" name="Rectangle 24"/>
          <p:cNvSpPr>
            <a:spLocks noChangeArrowheads="1"/>
          </p:cNvSpPr>
          <p:nvPr/>
        </p:nvSpPr>
        <p:spPr bwMode="auto">
          <a:xfrm>
            <a:off x="1907704" y="2371522"/>
            <a:ext cx="2879725" cy="831639"/>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solidFill>
                  <a:srgbClr val="009900"/>
                </a:solidFill>
                <a:latin typeface="Times New Roman" panose="02020603050405020304" pitchFamily="18" charset="0"/>
                <a:ea typeface="华文楷体" panose="02010600040101010101" pitchFamily="2" charset="-122"/>
              </a:rPr>
              <a:t>塑性材料</a:t>
            </a:r>
            <a:endParaRPr kumimoji="1" lang="en-US" altLang="zh-CN" sz="2400" b="1" dirty="0">
              <a:solidFill>
                <a:srgbClr val="009900"/>
              </a:solidFill>
              <a:latin typeface="Times New Roman" panose="02020603050405020304" pitchFamily="18" charset="0"/>
              <a:ea typeface="华文楷体" panose="02010600040101010101" pitchFamily="2" charset="-122"/>
            </a:endParaRPr>
          </a:p>
          <a:p>
            <a:r>
              <a:rPr kumimoji="1" lang="en-US" altLang="zh-CN" sz="2400" b="1" dirty="0">
                <a:solidFill>
                  <a:srgbClr val="009900"/>
                </a:solidFill>
                <a:latin typeface="Times New Roman" panose="02020603050405020304" pitchFamily="18" charset="0"/>
                <a:ea typeface="华文楷体" panose="02010600040101010101" pitchFamily="2" charset="-122"/>
              </a:rPr>
              <a:t>(</a:t>
            </a:r>
            <a:r>
              <a:rPr kumimoji="1" lang="en-US" altLang="zh-CN" sz="2400" dirty="0">
                <a:solidFill>
                  <a:srgbClr val="009900"/>
                </a:solidFill>
                <a:latin typeface="Times New Roman" panose="02020603050405020304" pitchFamily="18" charset="0"/>
                <a:ea typeface="华文楷体" panose="02010600040101010101" pitchFamily="2" charset="-122"/>
              </a:rPr>
              <a:t>Ductile Materials</a:t>
            </a:r>
            <a:r>
              <a:rPr kumimoji="1" lang="en-US" altLang="zh-CN" sz="2400" b="1" dirty="0">
                <a:solidFill>
                  <a:srgbClr val="009900"/>
                </a:solidFill>
                <a:latin typeface="Times New Roman" panose="02020603050405020304" pitchFamily="18" charset="0"/>
                <a:ea typeface="华文楷体" panose="02010600040101010101" pitchFamily="2" charset="-122"/>
              </a:rPr>
              <a:t>)</a:t>
            </a:r>
          </a:p>
        </p:txBody>
      </p:sp>
      <p:sp>
        <p:nvSpPr>
          <p:cNvPr id="210969" name="Rectangle 25"/>
          <p:cNvSpPr>
            <a:spLocks noChangeArrowheads="1"/>
          </p:cNvSpPr>
          <p:nvPr/>
        </p:nvSpPr>
        <p:spPr bwMode="auto">
          <a:xfrm>
            <a:off x="1907704" y="3335984"/>
            <a:ext cx="3143250" cy="831639"/>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solidFill>
                  <a:srgbClr val="009900"/>
                </a:solidFill>
                <a:latin typeface="Times New Roman" panose="02020603050405020304" pitchFamily="18" charset="0"/>
                <a:ea typeface="华文楷体" panose="02010600040101010101" pitchFamily="2" charset="-122"/>
              </a:rPr>
              <a:t>脆性材料</a:t>
            </a:r>
            <a:endParaRPr kumimoji="1" lang="en-US" altLang="zh-CN" sz="2400" b="1" dirty="0">
              <a:solidFill>
                <a:srgbClr val="009900"/>
              </a:solidFill>
              <a:latin typeface="Times New Roman" panose="02020603050405020304" pitchFamily="18" charset="0"/>
              <a:ea typeface="华文楷体" panose="02010600040101010101" pitchFamily="2" charset="-122"/>
            </a:endParaRPr>
          </a:p>
          <a:p>
            <a:r>
              <a:rPr kumimoji="1" lang="en-US" altLang="zh-CN" sz="2400" b="1" dirty="0">
                <a:solidFill>
                  <a:srgbClr val="009900"/>
                </a:solidFill>
                <a:latin typeface="Times New Roman" panose="02020603050405020304" pitchFamily="18" charset="0"/>
                <a:ea typeface="华文楷体" panose="02010600040101010101" pitchFamily="2" charset="-122"/>
              </a:rPr>
              <a:t>(</a:t>
            </a:r>
            <a:r>
              <a:rPr kumimoji="1" lang="en-US" altLang="zh-CN" sz="2400" dirty="0">
                <a:solidFill>
                  <a:srgbClr val="009900"/>
                </a:solidFill>
                <a:latin typeface="Times New Roman" panose="02020603050405020304" pitchFamily="18" charset="0"/>
                <a:ea typeface="华文楷体" panose="02010600040101010101" pitchFamily="2" charset="-122"/>
              </a:rPr>
              <a:t>Brittle Materials</a:t>
            </a:r>
            <a:r>
              <a:rPr kumimoji="1" lang="en-US" altLang="zh-CN" sz="2400" b="1" dirty="0">
                <a:solidFill>
                  <a:srgbClr val="009900"/>
                </a:solidFill>
                <a:latin typeface="Times New Roman" panose="02020603050405020304" pitchFamily="18" charset="0"/>
                <a:ea typeface="华文楷体" panose="02010600040101010101" pitchFamily="2" charset="-122"/>
              </a:rPr>
              <a:t>)</a:t>
            </a:r>
          </a:p>
        </p:txBody>
      </p:sp>
      <p:sp>
        <p:nvSpPr>
          <p:cNvPr id="14" name="Rectangle 138"/>
          <p:cNvSpPr>
            <a:spLocks noChangeArrowheads="1"/>
          </p:cNvSpPr>
          <p:nvPr/>
        </p:nvSpPr>
        <p:spPr bwMode="auto">
          <a:xfrm>
            <a:off x="375809" y="295810"/>
            <a:ext cx="4103687"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800" b="1" dirty="0">
                <a:solidFill>
                  <a:srgbClr val="FF0000"/>
                </a:solidFill>
                <a:latin typeface="黑体" panose="02010609060101010101" pitchFamily="49" charset="-122"/>
                <a:ea typeface="黑体" panose="02010609060101010101" pitchFamily="49" charset="-122"/>
              </a:rPr>
              <a:t>一、低碳钢的拉伸性能</a:t>
            </a:r>
          </a:p>
        </p:txBody>
      </p:sp>
      <p:sp>
        <p:nvSpPr>
          <p:cNvPr id="2" name="矩形 1"/>
          <p:cNvSpPr/>
          <p:nvPr/>
        </p:nvSpPr>
        <p:spPr>
          <a:xfrm>
            <a:off x="5097907" y="763724"/>
            <a:ext cx="3285776" cy="2492990"/>
          </a:xfrm>
          <a:prstGeom prst="rect">
            <a:avLst/>
          </a:prstGeom>
        </p:spPr>
        <p:txBody>
          <a:bodyPr wrap="square">
            <a:spAutoFit/>
          </a:bodyPr>
          <a:lstStyle/>
          <a:p>
            <a:pPr algn="ctr">
              <a:lnSpc>
                <a:spcPct val="130000"/>
              </a:lnSpc>
            </a:pPr>
            <a:r>
              <a:rPr lang="zh-CN" altLang="en-US" b="1" dirty="0">
                <a:solidFill>
                  <a:srgbClr val="FF0000"/>
                </a:solidFill>
                <a:ea typeface="华文楷体" panose="02010600040101010101" pitchFamily="2" charset="-122"/>
              </a:rPr>
              <a:t>总结</a:t>
            </a:r>
            <a:endParaRPr lang="en-US" altLang="zh-CN" b="1" dirty="0">
              <a:solidFill>
                <a:srgbClr val="FF0000"/>
              </a:solidFill>
              <a:ea typeface="华文楷体" panose="02010600040101010101" pitchFamily="2" charset="-122"/>
            </a:endParaRPr>
          </a:p>
          <a:p>
            <a:pPr algn="ctr">
              <a:lnSpc>
                <a:spcPct val="130000"/>
              </a:lnSpc>
            </a:pPr>
            <a:r>
              <a:rPr lang="en-US" altLang="zh-CN" b="1" dirty="0">
                <a:solidFill>
                  <a:srgbClr val="3333FF"/>
                </a:solidFill>
                <a:ea typeface="华文楷体" panose="02010600040101010101" pitchFamily="2" charset="-122"/>
              </a:rPr>
              <a:t> </a:t>
            </a:r>
            <a:r>
              <a:rPr lang="zh-CN" altLang="en-US" b="1" dirty="0">
                <a:solidFill>
                  <a:srgbClr val="3333FF"/>
                </a:solidFill>
                <a:ea typeface="华文楷体" panose="02010600040101010101" pitchFamily="2" charset="-122"/>
              </a:rPr>
              <a:t>四个阶段四极限，</a:t>
            </a:r>
          </a:p>
          <a:p>
            <a:pPr algn="ctr">
              <a:lnSpc>
                <a:spcPct val="130000"/>
              </a:lnSpc>
            </a:pPr>
            <a:r>
              <a:rPr lang="zh-CN" altLang="en-US" b="1" dirty="0">
                <a:solidFill>
                  <a:srgbClr val="3333FF"/>
                </a:solidFill>
                <a:ea typeface="华文楷体" panose="02010600040101010101" pitchFamily="2" charset="-122"/>
              </a:rPr>
              <a:t> 四个指标两应变，</a:t>
            </a:r>
          </a:p>
          <a:p>
            <a:pPr algn="ctr">
              <a:lnSpc>
                <a:spcPct val="130000"/>
              </a:lnSpc>
            </a:pPr>
            <a:r>
              <a:rPr lang="zh-CN" altLang="en-US" b="1" dirty="0">
                <a:solidFill>
                  <a:srgbClr val="3333FF"/>
                </a:solidFill>
                <a:ea typeface="华文楷体" panose="02010600040101010101" pitchFamily="2" charset="-122"/>
              </a:rPr>
              <a:t> 弹性模量看斜率，</a:t>
            </a:r>
          </a:p>
          <a:p>
            <a:pPr algn="ctr">
              <a:lnSpc>
                <a:spcPct val="130000"/>
              </a:lnSpc>
            </a:pPr>
            <a:r>
              <a:rPr lang="zh-CN" altLang="en-US" b="1" dirty="0">
                <a:solidFill>
                  <a:srgbClr val="3333FF"/>
                </a:solidFill>
                <a:ea typeface="华文楷体" panose="02010600040101010101" pitchFamily="2" charset="-122"/>
              </a:rPr>
              <a:t> 冷作硬化颈缩面。</a:t>
            </a:r>
          </a:p>
        </p:txBody>
      </p:sp>
    </p:spTree>
    <p:extLst>
      <p:ext uri="{BB962C8B-B14F-4D97-AF65-F5344CB8AC3E}">
        <p14:creationId xmlns:p14="http://schemas.microsoft.com/office/powerpoint/2010/main" val="33499466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10960"/>
                                        </p:tgtEl>
                                        <p:attrNameLst>
                                          <p:attrName>style.visibility</p:attrName>
                                        </p:attrNameLst>
                                      </p:cBhvr>
                                      <p:to>
                                        <p:strVal val="visible"/>
                                      </p:to>
                                    </p:set>
                                    <p:animEffect transition="in" filter="checkerboard(across)">
                                      <p:cBhvr>
                                        <p:cTn id="7" dur="500"/>
                                        <p:tgtEl>
                                          <p:spTgt spid="2109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10959"/>
                                        </p:tgtEl>
                                        <p:attrNameLst>
                                          <p:attrName>style.visibility</p:attrName>
                                        </p:attrNameLst>
                                      </p:cBhvr>
                                      <p:to>
                                        <p:strVal val="visible"/>
                                      </p:to>
                                    </p:set>
                                    <p:animEffect transition="in" filter="checkerboard(across)">
                                      <p:cBhvr>
                                        <p:cTn id="12" dur="500"/>
                                        <p:tgtEl>
                                          <p:spTgt spid="21095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210964"/>
                                        </p:tgtEl>
                                        <p:attrNameLst>
                                          <p:attrName>style.visibility</p:attrName>
                                        </p:attrNameLst>
                                      </p:cBhvr>
                                      <p:to>
                                        <p:strVal val="visible"/>
                                      </p:to>
                                    </p:set>
                                    <p:animEffect transition="in" filter="box(out)">
                                      <p:cBhvr>
                                        <p:cTn id="17" dur="500"/>
                                        <p:tgtEl>
                                          <p:spTgt spid="21096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210968"/>
                                        </p:tgtEl>
                                        <p:attrNameLst>
                                          <p:attrName>style.visibility</p:attrName>
                                        </p:attrNameLst>
                                      </p:cBhvr>
                                      <p:to>
                                        <p:strVal val="visible"/>
                                      </p:to>
                                    </p:set>
                                    <p:animEffect transition="in" filter="box(out)">
                                      <p:cBhvr>
                                        <p:cTn id="22" dur="500"/>
                                        <p:tgtEl>
                                          <p:spTgt spid="21096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nodeType="clickEffect">
                                  <p:stCondLst>
                                    <p:cond delay="0"/>
                                  </p:stCondLst>
                                  <p:childTnLst>
                                    <p:set>
                                      <p:cBhvr>
                                        <p:cTn id="26" dur="1" fill="hold">
                                          <p:stCondLst>
                                            <p:cond delay="0"/>
                                          </p:stCondLst>
                                        </p:cTn>
                                        <p:tgtEl>
                                          <p:spTgt spid="210963"/>
                                        </p:tgtEl>
                                        <p:attrNameLst>
                                          <p:attrName>style.visibility</p:attrName>
                                        </p:attrNameLst>
                                      </p:cBhvr>
                                      <p:to>
                                        <p:strVal val="visible"/>
                                      </p:to>
                                    </p:set>
                                    <p:animEffect transition="in" filter="box(out)">
                                      <p:cBhvr>
                                        <p:cTn id="27" dur="500"/>
                                        <p:tgtEl>
                                          <p:spTgt spid="21096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210969"/>
                                        </p:tgtEl>
                                        <p:attrNameLst>
                                          <p:attrName>style.visibility</p:attrName>
                                        </p:attrNameLst>
                                      </p:cBhvr>
                                      <p:to>
                                        <p:strVal val="visible"/>
                                      </p:to>
                                    </p:set>
                                    <p:animEffect transition="in" filter="box(out)">
                                      <p:cBhvr>
                                        <p:cTn id="32" dur="500"/>
                                        <p:tgtEl>
                                          <p:spTgt spid="210969"/>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210965"/>
                                        </p:tgtEl>
                                        <p:attrNameLst>
                                          <p:attrName>style.visibility</p:attrName>
                                        </p:attrNameLst>
                                      </p:cBhvr>
                                      <p:to>
                                        <p:strVal val="visible"/>
                                      </p:to>
                                    </p:set>
                                    <p:animEffect transition="in" filter="checkerboard(across)">
                                      <p:cBhvr>
                                        <p:cTn id="37" dur="500"/>
                                        <p:tgtEl>
                                          <p:spTgt spid="21096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nodeType="clickEffect">
                                  <p:stCondLst>
                                    <p:cond delay="0"/>
                                  </p:stCondLst>
                                  <p:childTnLst>
                                    <p:set>
                                      <p:cBhvr>
                                        <p:cTn id="41" dur="1" fill="hold">
                                          <p:stCondLst>
                                            <p:cond delay="0"/>
                                          </p:stCondLst>
                                        </p:cTn>
                                        <p:tgtEl>
                                          <p:spTgt spid="210961"/>
                                        </p:tgtEl>
                                        <p:attrNameLst>
                                          <p:attrName>style.visibility</p:attrName>
                                        </p:attrNameLst>
                                      </p:cBhvr>
                                      <p:to>
                                        <p:strVal val="visible"/>
                                      </p:to>
                                    </p:set>
                                    <p:animEffect transition="in" filter="checkerboard(across)">
                                      <p:cBhvr>
                                        <p:cTn id="42" dur="500"/>
                                        <p:tgtEl>
                                          <p:spTgt spid="210961"/>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210966"/>
                                        </p:tgtEl>
                                        <p:attrNameLst>
                                          <p:attrName>style.visibility</p:attrName>
                                        </p:attrNameLst>
                                      </p:cBhvr>
                                      <p:to>
                                        <p:strVal val="visible"/>
                                      </p:to>
                                    </p:set>
                                    <p:animEffect transition="in" filter="checkerboard(across)">
                                      <p:cBhvr>
                                        <p:cTn id="47" dur="500"/>
                                        <p:tgtEl>
                                          <p:spTgt spid="21096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210967"/>
                                        </p:tgtEl>
                                        <p:attrNameLst>
                                          <p:attrName>style.visibility</p:attrName>
                                        </p:attrNameLst>
                                      </p:cBhvr>
                                      <p:to>
                                        <p:strVal val="visible"/>
                                      </p:to>
                                    </p:set>
                                    <p:animEffect transition="in" filter="checkerboard(across)">
                                      <p:cBhvr>
                                        <p:cTn id="52" dur="500"/>
                                        <p:tgtEl>
                                          <p:spTgt spid="210967"/>
                                        </p:tgtEl>
                                      </p:cBhvr>
                                    </p:animEffect>
                                  </p:childTnLst>
                                </p:cTn>
                              </p:par>
                            </p:childTnLst>
                          </p:cTn>
                        </p:par>
                      </p:childTnLst>
                    </p:cTn>
                  </p:par>
                  <p:par>
                    <p:cTn id="53" fill="hold">
                      <p:stCondLst>
                        <p:cond delay="indefinite"/>
                      </p:stCondLst>
                      <p:childTnLst>
                        <p:par>
                          <p:cTn id="54" fill="hold">
                            <p:stCondLst>
                              <p:cond delay="0"/>
                            </p:stCondLst>
                            <p:childTnLst>
                              <p:par>
                                <p:cTn id="55" presetID="6" presetClass="entr" presetSubtype="32" fill="hold" grpId="0" nodeType="clickEffect">
                                  <p:stCondLst>
                                    <p:cond delay="0"/>
                                  </p:stCondLst>
                                  <p:childTnLst>
                                    <p:set>
                                      <p:cBhvr>
                                        <p:cTn id="56" dur="1" fill="hold">
                                          <p:stCondLst>
                                            <p:cond delay="0"/>
                                          </p:stCondLst>
                                        </p:cTn>
                                        <p:tgtEl>
                                          <p:spTgt spid="2"/>
                                        </p:tgtEl>
                                        <p:attrNameLst>
                                          <p:attrName>style.visibility</p:attrName>
                                        </p:attrNameLst>
                                      </p:cBhvr>
                                      <p:to>
                                        <p:strVal val="visible"/>
                                      </p:to>
                                    </p:set>
                                    <p:animEffect transition="in" filter="circle(out)">
                                      <p:cBhvr>
                                        <p:cTn id="57" dur="7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60" grpId="0"/>
      <p:bldP spid="210965" grpId="0"/>
      <p:bldP spid="210966" grpId="0"/>
      <p:bldP spid="210967" grpId="0"/>
      <p:bldP spid="210968" grpId="0"/>
      <p:bldP spid="210969" grpId="0"/>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Picture 16" descr="12-3"/>
          <p:cNvPicPr>
            <a:picLocks noChangeAspect="1" noChangeArrowheads="1"/>
          </p:cNvPicPr>
          <p:nvPr/>
        </p:nvPicPr>
        <p:blipFill>
          <a:blip r:embed="rId2">
            <a:lum contrast="48000"/>
            <a:extLst>
              <a:ext uri="{28A0092B-C50C-407E-A947-70E740481C1C}">
                <a14:useLocalDpi xmlns:a14="http://schemas.microsoft.com/office/drawing/2010/main" val="0"/>
              </a:ext>
            </a:extLst>
          </a:blip>
          <a:srcRect/>
          <a:stretch>
            <a:fillRect/>
          </a:stretch>
        </p:blipFill>
        <p:spPr bwMode="auto">
          <a:xfrm>
            <a:off x="5315880" y="1019433"/>
            <a:ext cx="3682102" cy="3621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6" name="Rectangle 2"/>
          <p:cNvSpPr>
            <a:spLocks noChangeArrowheads="1"/>
          </p:cNvSpPr>
          <p:nvPr/>
        </p:nvSpPr>
        <p:spPr bwMode="auto">
          <a:xfrm>
            <a:off x="461777" y="542244"/>
            <a:ext cx="5583237"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800" b="1" dirty="0">
                <a:solidFill>
                  <a:srgbClr val="FF0000"/>
                </a:solidFill>
                <a:latin typeface="黑体" panose="02010609060101010101" pitchFamily="49" charset="-122"/>
                <a:ea typeface="黑体" panose="02010609060101010101" pitchFamily="49" charset="-122"/>
              </a:rPr>
              <a:t>二、 其它塑性材料的拉伸性质</a:t>
            </a:r>
          </a:p>
        </p:txBody>
      </p:sp>
      <p:grpSp>
        <p:nvGrpSpPr>
          <p:cNvPr id="199683" name="Group 3"/>
          <p:cNvGrpSpPr>
            <a:grpSpLocks/>
          </p:cNvGrpSpPr>
          <p:nvPr/>
        </p:nvGrpSpPr>
        <p:grpSpPr bwMode="auto">
          <a:xfrm>
            <a:off x="532798" y="1412776"/>
            <a:ext cx="4648200" cy="4403725"/>
            <a:chOff x="288" y="1133"/>
            <a:chExt cx="2928" cy="2774"/>
          </a:xfrm>
        </p:grpSpPr>
        <p:graphicFrame>
          <p:nvGraphicFramePr>
            <p:cNvPr id="47151" name="Object 4"/>
            <p:cNvGraphicFramePr>
              <a:graphicFrameLocks/>
            </p:cNvGraphicFramePr>
            <p:nvPr/>
          </p:nvGraphicFramePr>
          <p:xfrm>
            <a:off x="2996" y="3572"/>
            <a:ext cx="220" cy="235"/>
          </p:xfrm>
          <a:graphic>
            <a:graphicData uri="http://schemas.openxmlformats.org/presentationml/2006/ole">
              <mc:AlternateContent xmlns:mc="http://schemas.openxmlformats.org/markup-compatibility/2006">
                <mc:Choice xmlns:v="urn:schemas-microsoft-com:vml" Requires="v">
                  <p:oleObj name="Equation" r:id="rId3" imgW="114210" imgH="133440" progId="Equation.2">
                    <p:embed/>
                  </p:oleObj>
                </mc:Choice>
                <mc:Fallback>
                  <p:oleObj name="Equation" r:id="rId3" imgW="114210" imgH="133440" progId="Equation.2">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96" y="3572"/>
                          <a:ext cx="220"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7152" name="Line 5"/>
            <p:cNvSpPr>
              <a:spLocks noChangeShapeType="1"/>
            </p:cNvSpPr>
            <p:nvPr/>
          </p:nvSpPr>
          <p:spPr bwMode="auto">
            <a:xfrm>
              <a:off x="448" y="3855"/>
              <a:ext cx="2742" cy="0"/>
            </a:xfrm>
            <a:prstGeom prst="line">
              <a:avLst/>
            </a:prstGeom>
            <a:noFill/>
            <a:ln w="254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53" name="Line 6"/>
            <p:cNvSpPr>
              <a:spLocks noChangeShapeType="1"/>
            </p:cNvSpPr>
            <p:nvPr/>
          </p:nvSpPr>
          <p:spPr bwMode="auto">
            <a:xfrm flipV="1">
              <a:off x="549" y="1133"/>
              <a:ext cx="0" cy="2774"/>
            </a:xfrm>
            <a:prstGeom prst="line">
              <a:avLst/>
            </a:prstGeom>
            <a:noFill/>
            <a:ln w="254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7154" name="Object 7"/>
            <p:cNvGraphicFramePr>
              <a:graphicFrameLocks/>
            </p:cNvGraphicFramePr>
            <p:nvPr/>
          </p:nvGraphicFramePr>
          <p:xfrm>
            <a:off x="288" y="1152"/>
            <a:ext cx="258" cy="227"/>
          </p:xfrm>
          <a:graphic>
            <a:graphicData uri="http://schemas.openxmlformats.org/presentationml/2006/ole">
              <mc:AlternateContent xmlns:mc="http://schemas.openxmlformats.org/markup-compatibility/2006">
                <mc:Choice xmlns:v="urn:schemas-microsoft-com:vml" Requires="v">
                  <p:oleObj name="Equation" r:id="rId5" imgW="142830" imgH="133440" progId="Equation.2">
                    <p:embed/>
                  </p:oleObj>
                </mc:Choice>
                <mc:Fallback>
                  <p:oleObj name="Equation" r:id="rId5" imgW="142830" imgH="133440" progId="Equation.2">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8" y="1152"/>
                          <a:ext cx="258"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7155" name="Line 8"/>
            <p:cNvSpPr>
              <a:spLocks noChangeShapeType="1"/>
            </p:cNvSpPr>
            <p:nvPr/>
          </p:nvSpPr>
          <p:spPr bwMode="auto">
            <a:xfrm flipV="1">
              <a:off x="562" y="2922"/>
              <a:ext cx="166" cy="934"/>
            </a:xfrm>
            <a:prstGeom prst="line">
              <a:avLst/>
            </a:prstGeom>
            <a:noFill/>
            <a:ln w="254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56" name="Freeform 9"/>
            <p:cNvSpPr>
              <a:spLocks/>
            </p:cNvSpPr>
            <p:nvPr/>
          </p:nvSpPr>
          <p:spPr bwMode="auto">
            <a:xfrm>
              <a:off x="736" y="2899"/>
              <a:ext cx="130" cy="73"/>
            </a:xfrm>
            <a:custGeom>
              <a:avLst/>
              <a:gdLst>
                <a:gd name="T0" fmla="*/ 0 w 112"/>
                <a:gd name="T1" fmla="*/ 47 h 59"/>
                <a:gd name="T2" fmla="*/ 19 w 112"/>
                <a:gd name="T3" fmla="*/ 20 h 59"/>
                <a:gd name="T4" fmla="*/ 26 w 112"/>
                <a:gd name="T5" fmla="*/ 72 h 59"/>
                <a:gd name="T6" fmla="*/ 51 w 112"/>
                <a:gd name="T7" fmla="*/ 0 h 59"/>
                <a:gd name="T8" fmla="*/ 51 w 112"/>
                <a:gd name="T9" fmla="*/ 72 h 59"/>
                <a:gd name="T10" fmla="*/ 77 w 112"/>
                <a:gd name="T11" fmla="*/ 0 h 59"/>
                <a:gd name="T12" fmla="*/ 77 w 112"/>
                <a:gd name="T13" fmla="*/ 47 h 59"/>
                <a:gd name="T14" fmla="*/ 102 w 112"/>
                <a:gd name="T15" fmla="*/ 24 h 59"/>
                <a:gd name="T16" fmla="*/ 129 w 112"/>
                <a:gd name="T17" fmla="*/ 24 h 59"/>
                <a:gd name="T18" fmla="*/ 129 w 112"/>
                <a:gd name="T19" fmla="*/ 0 h 5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2" h="59">
                  <a:moveTo>
                    <a:pt x="0" y="38"/>
                  </a:moveTo>
                  <a:lnTo>
                    <a:pt x="16" y="16"/>
                  </a:lnTo>
                  <a:lnTo>
                    <a:pt x="22" y="58"/>
                  </a:lnTo>
                  <a:lnTo>
                    <a:pt x="44" y="0"/>
                  </a:lnTo>
                  <a:lnTo>
                    <a:pt x="44" y="58"/>
                  </a:lnTo>
                  <a:lnTo>
                    <a:pt x="66" y="0"/>
                  </a:lnTo>
                  <a:lnTo>
                    <a:pt x="66" y="38"/>
                  </a:lnTo>
                  <a:lnTo>
                    <a:pt x="88" y="19"/>
                  </a:lnTo>
                  <a:lnTo>
                    <a:pt x="111" y="19"/>
                  </a:lnTo>
                  <a:lnTo>
                    <a:pt x="111" y="0"/>
                  </a:lnTo>
                </a:path>
              </a:pathLst>
            </a:custGeom>
            <a:noFill/>
            <a:ln w="25400" cap="rnd" cmpd="sng">
              <a:solidFill>
                <a:schemeClr val="tx1"/>
              </a:solidFill>
              <a:prstDash val="sysDot"/>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57" name="Arc 10"/>
            <p:cNvSpPr>
              <a:spLocks/>
            </p:cNvSpPr>
            <p:nvPr/>
          </p:nvSpPr>
          <p:spPr bwMode="auto">
            <a:xfrm>
              <a:off x="865" y="2396"/>
              <a:ext cx="1472" cy="553"/>
            </a:xfrm>
            <a:custGeom>
              <a:avLst/>
              <a:gdLst>
                <a:gd name="T0" fmla="*/ 0 w 22828"/>
                <a:gd name="T1" fmla="*/ 553 h 21600"/>
                <a:gd name="T2" fmla="*/ 1472 w 22828"/>
                <a:gd name="T3" fmla="*/ 1 h 21600"/>
                <a:gd name="T4" fmla="*/ 1393 w 22828"/>
                <a:gd name="T5" fmla="*/ 553 h 21600"/>
                <a:gd name="T6" fmla="*/ 0 60000 65536"/>
                <a:gd name="T7" fmla="*/ 0 60000 65536"/>
                <a:gd name="T8" fmla="*/ 0 60000 65536"/>
              </a:gdLst>
              <a:ahLst/>
              <a:cxnLst>
                <a:cxn ang="T6">
                  <a:pos x="T0" y="T1"/>
                </a:cxn>
                <a:cxn ang="T7">
                  <a:pos x="T2" y="T3"/>
                </a:cxn>
                <a:cxn ang="T8">
                  <a:pos x="T4" y="T5"/>
                </a:cxn>
              </a:cxnLst>
              <a:rect l="0" t="0" r="r" b="b"/>
              <a:pathLst>
                <a:path w="22828" h="21600" fill="none" extrusionOk="0">
                  <a:moveTo>
                    <a:pt x="0" y="21599"/>
                  </a:moveTo>
                  <a:cubicBezTo>
                    <a:pt x="0" y="9670"/>
                    <a:pt x="9670" y="0"/>
                    <a:pt x="21600" y="0"/>
                  </a:cubicBezTo>
                  <a:cubicBezTo>
                    <a:pt x="22009" y="0"/>
                    <a:pt x="22419" y="11"/>
                    <a:pt x="22828" y="34"/>
                  </a:cubicBezTo>
                </a:path>
                <a:path w="22828" h="21600" stroke="0" extrusionOk="0">
                  <a:moveTo>
                    <a:pt x="0" y="21599"/>
                  </a:moveTo>
                  <a:cubicBezTo>
                    <a:pt x="0" y="9670"/>
                    <a:pt x="9670" y="0"/>
                    <a:pt x="21600" y="0"/>
                  </a:cubicBezTo>
                  <a:cubicBezTo>
                    <a:pt x="22009" y="0"/>
                    <a:pt x="22419" y="11"/>
                    <a:pt x="22828" y="34"/>
                  </a:cubicBezTo>
                  <a:lnTo>
                    <a:pt x="21600" y="21600"/>
                  </a:lnTo>
                  <a:lnTo>
                    <a:pt x="0" y="21599"/>
                  </a:lnTo>
                  <a:close/>
                </a:path>
              </a:pathLst>
            </a:custGeom>
            <a:noFill/>
            <a:ln w="25400" cap="rnd">
              <a:solidFill>
                <a:schemeClr val="tx1"/>
              </a:solidFill>
              <a:prstDash val="dash"/>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58" name="Arc 11"/>
            <p:cNvSpPr>
              <a:spLocks/>
            </p:cNvSpPr>
            <p:nvPr/>
          </p:nvSpPr>
          <p:spPr bwMode="auto">
            <a:xfrm>
              <a:off x="2306" y="2396"/>
              <a:ext cx="648" cy="240"/>
            </a:xfrm>
            <a:custGeom>
              <a:avLst/>
              <a:gdLst>
                <a:gd name="T0" fmla="*/ 0 w 21639"/>
                <a:gd name="T1" fmla="*/ 0 h 21600"/>
                <a:gd name="T2" fmla="*/ 648 w 21639"/>
                <a:gd name="T3" fmla="*/ 240 h 21600"/>
                <a:gd name="T4" fmla="*/ 1 w 21639"/>
                <a:gd name="T5" fmla="*/ 240 h 21600"/>
                <a:gd name="T6" fmla="*/ 0 60000 65536"/>
                <a:gd name="T7" fmla="*/ 0 60000 65536"/>
                <a:gd name="T8" fmla="*/ 0 60000 65536"/>
              </a:gdLst>
              <a:ahLst/>
              <a:cxnLst>
                <a:cxn ang="T6">
                  <a:pos x="T0" y="T1"/>
                </a:cxn>
                <a:cxn ang="T7">
                  <a:pos x="T2" y="T3"/>
                </a:cxn>
                <a:cxn ang="T8">
                  <a:pos x="T4" y="T5"/>
                </a:cxn>
              </a:cxnLst>
              <a:rect l="0" t="0" r="r" b="b"/>
              <a:pathLst>
                <a:path w="21639" h="21600" fill="none" extrusionOk="0">
                  <a:moveTo>
                    <a:pt x="0" y="0"/>
                  </a:moveTo>
                  <a:cubicBezTo>
                    <a:pt x="13" y="0"/>
                    <a:pt x="26" y="0"/>
                    <a:pt x="39" y="0"/>
                  </a:cubicBezTo>
                  <a:cubicBezTo>
                    <a:pt x="11968" y="0"/>
                    <a:pt x="21639" y="9670"/>
                    <a:pt x="21639" y="21600"/>
                  </a:cubicBezTo>
                </a:path>
                <a:path w="21639" h="21600" stroke="0" extrusionOk="0">
                  <a:moveTo>
                    <a:pt x="0" y="0"/>
                  </a:moveTo>
                  <a:cubicBezTo>
                    <a:pt x="13" y="0"/>
                    <a:pt x="26" y="0"/>
                    <a:pt x="39" y="0"/>
                  </a:cubicBezTo>
                  <a:cubicBezTo>
                    <a:pt x="11968" y="0"/>
                    <a:pt x="21639" y="9670"/>
                    <a:pt x="21639" y="21600"/>
                  </a:cubicBezTo>
                  <a:lnTo>
                    <a:pt x="39" y="21600"/>
                  </a:lnTo>
                  <a:lnTo>
                    <a:pt x="0" y="0"/>
                  </a:lnTo>
                  <a:close/>
                </a:path>
              </a:pathLst>
            </a:custGeom>
            <a:noFill/>
            <a:ln w="25400" cap="rnd">
              <a:solidFill>
                <a:schemeClr val="tx1"/>
              </a:solidFill>
              <a:prstDash val="dash"/>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59" name="Rectangle 12"/>
            <p:cNvSpPr>
              <a:spLocks noChangeArrowheads="1"/>
            </p:cNvSpPr>
            <p:nvPr/>
          </p:nvSpPr>
          <p:spPr bwMode="auto">
            <a:xfrm>
              <a:off x="2446" y="2162"/>
              <a:ext cx="69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b="1" dirty="0">
                  <a:latin typeface="宋体" panose="02010600030101010101" pitchFamily="2" charset="-122"/>
                  <a:ea typeface="华文楷体" panose="02010600040101010101" pitchFamily="2" charset="-122"/>
                </a:rPr>
                <a:t>低碳钢</a:t>
              </a:r>
            </a:p>
          </p:txBody>
        </p:sp>
      </p:grpSp>
      <p:grpSp>
        <p:nvGrpSpPr>
          <p:cNvPr id="199693" name="Group 13"/>
          <p:cNvGrpSpPr>
            <a:grpSpLocks/>
          </p:cNvGrpSpPr>
          <p:nvPr/>
        </p:nvGrpSpPr>
        <p:grpSpPr bwMode="auto">
          <a:xfrm>
            <a:off x="966187" y="2409726"/>
            <a:ext cx="3887400" cy="3309938"/>
            <a:chOff x="3456" y="897"/>
            <a:chExt cx="2100" cy="1695"/>
          </a:xfrm>
        </p:grpSpPr>
        <p:grpSp>
          <p:nvGrpSpPr>
            <p:cNvPr id="47144" name="Group 14"/>
            <p:cNvGrpSpPr>
              <a:grpSpLocks/>
            </p:cNvGrpSpPr>
            <p:nvPr/>
          </p:nvGrpSpPr>
          <p:grpSpPr bwMode="auto">
            <a:xfrm>
              <a:off x="3456" y="1109"/>
              <a:ext cx="1969" cy="1483"/>
              <a:chOff x="3456" y="1109"/>
              <a:chExt cx="1969" cy="1483"/>
            </a:xfrm>
          </p:grpSpPr>
          <p:sp>
            <p:nvSpPr>
              <p:cNvPr id="47146" name="Freeform 15"/>
              <p:cNvSpPr>
                <a:spLocks/>
              </p:cNvSpPr>
              <p:nvPr/>
            </p:nvSpPr>
            <p:spPr bwMode="auto">
              <a:xfrm>
                <a:off x="3655" y="1518"/>
                <a:ext cx="112" cy="59"/>
              </a:xfrm>
              <a:custGeom>
                <a:avLst/>
                <a:gdLst>
                  <a:gd name="T0" fmla="*/ 0 w 112"/>
                  <a:gd name="T1" fmla="*/ 38 h 59"/>
                  <a:gd name="T2" fmla="*/ 16 w 112"/>
                  <a:gd name="T3" fmla="*/ 16 h 59"/>
                  <a:gd name="T4" fmla="*/ 22 w 112"/>
                  <a:gd name="T5" fmla="*/ 58 h 59"/>
                  <a:gd name="T6" fmla="*/ 44 w 112"/>
                  <a:gd name="T7" fmla="*/ 0 h 59"/>
                  <a:gd name="T8" fmla="*/ 44 w 112"/>
                  <a:gd name="T9" fmla="*/ 58 h 59"/>
                  <a:gd name="T10" fmla="*/ 66 w 112"/>
                  <a:gd name="T11" fmla="*/ 0 h 59"/>
                  <a:gd name="T12" fmla="*/ 66 w 112"/>
                  <a:gd name="T13" fmla="*/ 38 h 59"/>
                  <a:gd name="T14" fmla="*/ 88 w 112"/>
                  <a:gd name="T15" fmla="*/ 19 h 59"/>
                  <a:gd name="T16" fmla="*/ 111 w 112"/>
                  <a:gd name="T17" fmla="*/ 19 h 59"/>
                  <a:gd name="T18" fmla="*/ 111 w 112"/>
                  <a:gd name="T19" fmla="*/ 0 h 5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2" h="59">
                    <a:moveTo>
                      <a:pt x="0" y="38"/>
                    </a:moveTo>
                    <a:lnTo>
                      <a:pt x="16" y="16"/>
                    </a:lnTo>
                    <a:lnTo>
                      <a:pt x="22" y="58"/>
                    </a:lnTo>
                    <a:lnTo>
                      <a:pt x="44" y="0"/>
                    </a:lnTo>
                    <a:lnTo>
                      <a:pt x="44" y="58"/>
                    </a:lnTo>
                    <a:lnTo>
                      <a:pt x="66" y="0"/>
                    </a:lnTo>
                    <a:lnTo>
                      <a:pt x="66" y="38"/>
                    </a:lnTo>
                    <a:lnTo>
                      <a:pt x="88" y="19"/>
                    </a:lnTo>
                    <a:lnTo>
                      <a:pt x="111" y="19"/>
                    </a:lnTo>
                    <a:lnTo>
                      <a:pt x="111" y="0"/>
                    </a:lnTo>
                  </a:path>
                </a:pathLst>
              </a:custGeom>
              <a:noFill/>
              <a:ln w="25400"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7147" name="Group 16"/>
              <p:cNvGrpSpPr>
                <a:grpSpLocks/>
              </p:cNvGrpSpPr>
              <p:nvPr/>
            </p:nvGrpSpPr>
            <p:grpSpPr bwMode="auto">
              <a:xfrm>
                <a:off x="3766" y="1109"/>
                <a:ext cx="1659" cy="449"/>
                <a:chOff x="3766" y="1109"/>
                <a:chExt cx="1659" cy="449"/>
              </a:xfrm>
            </p:grpSpPr>
            <p:sp>
              <p:nvSpPr>
                <p:cNvPr id="47149" name="Arc 17"/>
                <p:cNvSpPr>
                  <a:spLocks/>
                </p:cNvSpPr>
                <p:nvPr/>
              </p:nvSpPr>
              <p:spPr bwMode="auto">
                <a:xfrm>
                  <a:off x="3766" y="1109"/>
                  <a:ext cx="1262" cy="449"/>
                </a:xfrm>
                <a:custGeom>
                  <a:avLst/>
                  <a:gdLst>
                    <a:gd name="T0" fmla="*/ 0 w 22828"/>
                    <a:gd name="T1" fmla="*/ 449 h 21600"/>
                    <a:gd name="T2" fmla="*/ 1262 w 22828"/>
                    <a:gd name="T3" fmla="*/ 1 h 21600"/>
                    <a:gd name="T4" fmla="*/ 1194 w 22828"/>
                    <a:gd name="T5" fmla="*/ 449 h 21600"/>
                    <a:gd name="T6" fmla="*/ 0 60000 65536"/>
                    <a:gd name="T7" fmla="*/ 0 60000 65536"/>
                    <a:gd name="T8" fmla="*/ 0 60000 65536"/>
                  </a:gdLst>
                  <a:ahLst/>
                  <a:cxnLst>
                    <a:cxn ang="T6">
                      <a:pos x="T0" y="T1"/>
                    </a:cxn>
                    <a:cxn ang="T7">
                      <a:pos x="T2" y="T3"/>
                    </a:cxn>
                    <a:cxn ang="T8">
                      <a:pos x="T4" y="T5"/>
                    </a:cxn>
                  </a:cxnLst>
                  <a:rect l="0" t="0" r="r" b="b"/>
                  <a:pathLst>
                    <a:path w="22828" h="21600" fill="none" extrusionOk="0">
                      <a:moveTo>
                        <a:pt x="0" y="21599"/>
                      </a:moveTo>
                      <a:cubicBezTo>
                        <a:pt x="0" y="9670"/>
                        <a:pt x="9670" y="0"/>
                        <a:pt x="21600" y="0"/>
                      </a:cubicBezTo>
                      <a:cubicBezTo>
                        <a:pt x="22009" y="0"/>
                        <a:pt x="22419" y="11"/>
                        <a:pt x="22828" y="34"/>
                      </a:cubicBezTo>
                    </a:path>
                    <a:path w="22828" h="21600" stroke="0" extrusionOk="0">
                      <a:moveTo>
                        <a:pt x="0" y="21599"/>
                      </a:moveTo>
                      <a:cubicBezTo>
                        <a:pt x="0" y="9670"/>
                        <a:pt x="9670" y="0"/>
                        <a:pt x="21600" y="0"/>
                      </a:cubicBezTo>
                      <a:cubicBezTo>
                        <a:pt x="22009" y="0"/>
                        <a:pt x="22419" y="11"/>
                        <a:pt x="22828" y="34"/>
                      </a:cubicBezTo>
                      <a:lnTo>
                        <a:pt x="21600" y="21600"/>
                      </a:lnTo>
                      <a:lnTo>
                        <a:pt x="0" y="21599"/>
                      </a:lnTo>
                      <a:close/>
                    </a:path>
                  </a:pathLst>
                </a:custGeom>
                <a:noFill/>
                <a:ln w="254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50" name="Arc 18"/>
                <p:cNvSpPr>
                  <a:spLocks/>
                </p:cNvSpPr>
                <p:nvPr/>
              </p:nvSpPr>
              <p:spPr bwMode="auto">
                <a:xfrm>
                  <a:off x="5003" y="1109"/>
                  <a:ext cx="422" cy="92"/>
                </a:xfrm>
                <a:custGeom>
                  <a:avLst/>
                  <a:gdLst>
                    <a:gd name="T0" fmla="*/ 0 w 21651"/>
                    <a:gd name="T1" fmla="*/ 0 h 21600"/>
                    <a:gd name="T2" fmla="*/ 422 w 21651"/>
                    <a:gd name="T3" fmla="*/ 92 h 21600"/>
                    <a:gd name="T4" fmla="*/ 1 w 21651"/>
                    <a:gd name="T5" fmla="*/ 92 h 21600"/>
                    <a:gd name="T6" fmla="*/ 0 60000 65536"/>
                    <a:gd name="T7" fmla="*/ 0 60000 65536"/>
                    <a:gd name="T8" fmla="*/ 0 60000 65536"/>
                  </a:gdLst>
                  <a:ahLst/>
                  <a:cxnLst>
                    <a:cxn ang="T6">
                      <a:pos x="T0" y="T1"/>
                    </a:cxn>
                    <a:cxn ang="T7">
                      <a:pos x="T2" y="T3"/>
                    </a:cxn>
                    <a:cxn ang="T8">
                      <a:pos x="T4" y="T5"/>
                    </a:cxn>
                  </a:cxnLst>
                  <a:rect l="0" t="0" r="r" b="b"/>
                  <a:pathLst>
                    <a:path w="21651" h="21600" fill="none" extrusionOk="0">
                      <a:moveTo>
                        <a:pt x="0" y="0"/>
                      </a:moveTo>
                      <a:cubicBezTo>
                        <a:pt x="17" y="0"/>
                        <a:pt x="34" y="0"/>
                        <a:pt x="51" y="0"/>
                      </a:cubicBezTo>
                      <a:cubicBezTo>
                        <a:pt x="11980" y="0"/>
                        <a:pt x="21651" y="9670"/>
                        <a:pt x="21651" y="21600"/>
                      </a:cubicBezTo>
                    </a:path>
                    <a:path w="21651" h="21600" stroke="0" extrusionOk="0">
                      <a:moveTo>
                        <a:pt x="0" y="0"/>
                      </a:moveTo>
                      <a:cubicBezTo>
                        <a:pt x="17" y="0"/>
                        <a:pt x="34" y="0"/>
                        <a:pt x="51" y="0"/>
                      </a:cubicBezTo>
                      <a:cubicBezTo>
                        <a:pt x="11980" y="0"/>
                        <a:pt x="21651" y="9670"/>
                        <a:pt x="21651" y="21600"/>
                      </a:cubicBezTo>
                      <a:lnTo>
                        <a:pt x="51" y="21600"/>
                      </a:lnTo>
                      <a:lnTo>
                        <a:pt x="0" y="0"/>
                      </a:lnTo>
                      <a:close/>
                    </a:path>
                  </a:pathLst>
                </a:custGeom>
                <a:noFill/>
                <a:ln w="254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7148" name="Line 19"/>
              <p:cNvSpPr>
                <a:spLocks noChangeShapeType="1"/>
              </p:cNvSpPr>
              <p:nvPr/>
            </p:nvSpPr>
            <p:spPr bwMode="auto">
              <a:xfrm flipV="1">
                <a:off x="3456" y="1536"/>
                <a:ext cx="192" cy="1056"/>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7145" name="Rectangle 20"/>
            <p:cNvSpPr>
              <a:spLocks noChangeArrowheads="1"/>
            </p:cNvSpPr>
            <p:nvPr/>
          </p:nvSpPr>
          <p:spPr bwMode="auto">
            <a:xfrm>
              <a:off x="4790" y="897"/>
              <a:ext cx="766" cy="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b="1" dirty="0">
                  <a:latin typeface="宋体" panose="02010600030101010101" pitchFamily="2" charset="-122"/>
                  <a:ea typeface="华文楷体" panose="02010600040101010101" pitchFamily="2" charset="-122"/>
                </a:rPr>
                <a:t>低合金钢</a:t>
              </a:r>
              <a:endParaRPr kumimoji="1" lang="zh-CN" altLang="en-US" b="1" dirty="0">
                <a:latin typeface="'宋体" pitchFamily="34" charset="-122"/>
                <a:ea typeface="华文楷体" panose="02010600040101010101" pitchFamily="2" charset="-122"/>
              </a:endParaRPr>
            </a:p>
          </p:txBody>
        </p:sp>
      </p:grpSp>
      <p:grpSp>
        <p:nvGrpSpPr>
          <p:cNvPr id="199701" name="Group 21"/>
          <p:cNvGrpSpPr>
            <a:grpSpLocks/>
          </p:cNvGrpSpPr>
          <p:nvPr/>
        </p:nvGrpSpPr>
        <p:grpSpPr bwMode="auto">
          <a:xfrm>
            <a:off x="966186" y="1638201"/>
            <a:ext cx="2581274" cy="4092574"/>
            <a:chOff x="561" y="1275"/>
            <a:chExt cx="1626" cy="2578"/>
          </a:xfrm>
        </p:grpSpPr>
        <p:sp>
          <p:nvSpPr>
            <p:cNvPr id="47141" name="Line 22"/>
            <p:cNvSpPr>
              <a:spLocks noChangeShapeType="1"/>
            </p:cNvSpPr>
            <p:nvPr/>
          </p:nvSpPr>
          <p:spPr bwMode="auto">
            <a:xfrm flipV="1">
              <a:off x="561" y="1905"/>
              <a:ext cx="336" cy="1948"/>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42" name="Arc 23"/>
            <p:cNvSpPr>
              <a:spLocks/>
            </p:cNvSpPr>
            <p:nvPr/>
          </p:nvSpPr>
          <p:spPr bwMode="auto">
            <a:xfrm>
              <a:off x="898" y="1507"/>
              <a:ext cx="566" cy="466"/>
            </a:xfrm>
            <a:custGeom>
              <a:avLst/>
              <a:gdLst>
                <a:gd name="T0" fmla="*/ 0 w 21462"/>
                <a:gd name="T1" fmla="*/ 413 h 21600"/>
                <a:gd name="T2" fmla="*/ 565 w 21462"/>
                <a:gd name="T3" fmla="*/ 0 h 21600"/>
                <a:gd name="T4" fmla="*/ 566 w 21462"/>
                <a:gd name="T5" fmla="*/ 466 h 21600"/>
                <a:gd name="T6" fmla="*/ 0 60000 65536"/>
                <a:gd name="T7" fmla="*/ 0 60000 65536"/>
                <a:gd name="T8" fmla="*/ 0 60000 65536"/>
              </a:gdLst>
              <a:ahLst/>
              <a:cxnLst>
                <a:cxn ang="T6">
                  <a:pos x="T0" y="T1"/>
                </a:cxn>
                <a:cxn ang="T7">
                  <a:pos x="T2" y="T3"/>
                </a:cxn>
                <a:cxn ang="T8">
                  <a:pos x="T4" y="T5"/>
                </a:cxn>
              </a:cxnLst>
              <a:rect l="0" t="0" r="r" b="b"/>
              <a:pathLst>
                <a:path w="21462" h="21600" fill="none" extrusionOk="0">
                  <a:moveTo>
                    <a:pt x="0" y="19159"/>
                  </a:moveTo>
                  <a:cubicBezTo>
                    <a:pt x="1240" y="8251"/>
                    <a:pt x="10465" y="9"/>
                    <a:pt x="21443" y="0"/>
                  </a:cubicBezTo>
                </a:path>
                <a:path w="21462" h="21600" stroke="0" extrusionOk="0">
                  <a:moveTo>
                    <a:pt x="0" y="19159"/>
                  </a:moveTo>
                  <a:cubicBezTo>
                    <a:pt x="1240" y="8251"/>
                    <a:pt x="10465" y="9"/>
                    <a:pt x="21443" y="0"/>
                  </a:cubicBezTo>
                  <a:lnTo>
                    <a:pt x="21462" y="21600"/>
                  </a:lnTo>
                  <a:lnTo>
                    <a:pt x="0" y="19159"/>
                  </a:lnTo>
                  <a:close/>
                </a:path>
              </a:pathLst>
            </a:custGeom>
            <a:noFill/>
            <a:ln w="254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43" name="Rectangle 24"/>
            <p:cNvSpPr>
              <a:spLocks noChangeArrowheads="1"/>
            </p:cNvSpPr>
            <p:nvPr/>
          </p:nvSpPr>
          <p:spPr bwMode="auto">
            <a:xfrm>
              <a:off x="1488" y="1275"/>
              <a:ext cx="69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b="1" dirty="0">
                  <a:latin typeface="宋体" panose="02010600030101010101" pitchFamily="2" charset="-122"/>
                  <a:ea typeface="华文楷体" panose="02010600040101010101" pitchFamily="2" charset="-122"/>
                </a:rPr>
                <a:t>高强钢</a:t>
              </a:r>
            </a:p>
          </p:txBody>
        </p:sp>
      </p:grpSp>
      <p:grpSp>
        <p:nvGrpSpPr>
          <p:cNvPr id="199724" name="Group 44"/>
          <p:cNvGrpSpPr>
            <a:grpSpLocks/>
          </p:cNvGrpSpPr>
          <p:nvPr/>
        </p:nvGrpSpPr>
        <p:grpSpPr bwMode="auto">
          <a:xfrm>
            <a:off x="955073" y="4109939"/>
            <a:ext cx="2211388" cy="1600200"/>
            <a:chOff x="554" y="2832"/>
            <a:chExt cx="1393" cy="1008"/>
          </a:xfrm>
        </p:grpSpPr>
        <p:sp>
          <p:nvSpPr>
            <p:cNvPr id="47138" name="Rectangle 45"/>
            <p:cNvSpPr>
              <a:spLocks noChangeArrowheads="1"/>
            </p:cNvSpPr>
            <p:nvPr/>
          </p:nvSpPr>
          <p:spPr bwMode="auto">
            <a:xfrm>
              <a:off x="1248" y="2832"/>
              <a:ext cx="69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b="1" dirty="0">
                  <a:latin typeface="宋体" panose="02010600030101010101" pitchFamily="2" charset="-122"/>
                  <a:ea typeface="华文楷体" panose="02010600040101010101" pitchFamily="2" charset="-122"/>
                </a:rPr>
                <a:t>铝合金</a:t>
              </a:r>
              <a:endParaRPr kumimoji="1" lang="zh-CN" altLang="en-US" b="1" dirty="0">
                <a:latin typeface="'宋体" pitchFamily="34" charset="-122"/>
                <a:ea typeface="华文楷体" panose="02010600040101010101" pitchFamily="2" charset="-122"/>
              </a:endParaRPr>
            </a:p>
          </p:txBody>
        </p:sp>
        <p:sp>
          <p:nvSpPr>
            <p:cNvPr id="47139" name="Line 46"/>
            <p:cNvSpPr>
              <a:spLocks noChangeShapeType="1"/>
            </p:cNvSpPr>
            <p:nvPr/>
          </p:nvSpPr>
          <p:spPr bwMode="auto">
            <a:xfrm flipV="1">
              <a:off x="554" y="3182"/>
              <a:ext cx="396" cy="65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40" name="Arc 47"/>
            <p:cNvSpPr>
              <a:spLocks/>
            </p:cNvSpPr>
            <p:nvPr/>
          </p:nvSpPr>
          <p:spPr bwMode="auto">
            <a:xfrm flipH="1">
              <a:off x="942" y="3052"/>
              <a:ext cx="406" cy="240"/>
            </a:xfrm>
            <a:custGeom>
              <a:avLst/>
              <a:gdLst>
                <a:gd name="T0" fmla="*/ 0 w 32870"/>
                <a:gd name="T1" fmla="*/ 50 h 21600"/>
                <a:gd name="T2" fmla="*/ 406 w 32870"/>
                <a:gd name="T3" fmla="*/ 142 h 21600"/>
                <a:gd name="T4" fmla="*/ 163 w 32870"/>
                <a:gd name="T5" fmla="*/ 240 h 21600"/>
                <a:gd name="T6" fmla="*/ 0 60000 65536"/>
                <a:gd name="T7" fmla="*/ 0 60000 65536"/>
                <a:gd name="T8" fmla="*/ 0 60000 65536"/>
              </a:gdLst>
              <a:ahLst/>
              <a:cxnLst>
                <a:cxn ang="T6">
                  <a:pos x="T0" y="T1"/>
                </a:cxn>
                <a:cxn ang="T7">
                  <a:pos x="T2" y="T3"/>
                </a:cxn>
                <a:cxn ang="T8">
                  <a:pos x="T4" y="T5"/>
                </a:cxn>
              </a:cxnLst>
              <a:rect l="0" t="0" r="r" b="b"/>
              <a:pathLst>
                <a:path w="32870" h="21600" fill="none" extrusionOk="0">
                  <a:moveTo>
                    <a:pt x="0" y="4473"/>
                  </a:moveTo>
                  <a:cubicBezTo>
                    <a:pt x="3774" y="1572"/>
                    <a:pt x="8401" y="0"/>
                    <a:pt x="13162" y="0"/>
                  </a:cubicBezTo>
                  <a:cubicBezTo>
                    <a:pt x="21671" y="0"/>
                    <a:pt x="29387" y="4995"/>
                    <a:pt x="32870" y="12759"/>
                  </a:cubicBezTo>
                </a:path>
                <a:path w="32870" h="21600" stroke="0" extrusionOk="0">
                  <a:moveTo>
                    <a:pt x="0" y="4473"/>
                  </a:moveTo>
                  <a:cubicBezTo>
                    <a:pt x="3774" y="1572"/>
                    <a:pt x="8401" y="0"/>
                    <a:pt x="13162" y="0"/>
                  </a:cubicBezTo>
                  <a:cubicBezTo>
                    <a:pt x="21671" y="0"/>
                    <a:pt x="29387" y="4995"/>
                    <a:pt x="32870" y="12759"/>
                  </a:cubicBezTo>
                  <a:lnTo>
                    <a:pt x="13162" y="21600"/>
                  </a:lnTo>
                  <a:lnTo>
                    <a:pt x="0" y="4473"/>
                  </a:lnTo>
                  <a:close/>
                </a:path>
              </a:pathLst>
            </a:custGeom>
            <a:noFill/>
            <a:ln w="254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99728" name="Group 48"/>
          <p:cNvGrpSpPr>
            <a:grpSpLocks/>
          </p:cNvGrpSpPr>
          <p:nvPr/>
        </p:nvGrpSpPr>
        <p:grpSpPr bwMode="auto">
          <a:xfrm>
            <a:off x="945548" y="4422675"/>
            <a:ext cx="4059238" cy="1304924"/>
            <a:chOff x="548" y="3029"/>
            <a:chExt cx="2557" cy="822"/>
          </a:xfrm>
        </p:grpSpPr>
        <p:sp>
          <p:nvSpPr>
            <p:cNvPr id="47134" name="Rectangle 49"/>
            <p:cNvSpPr>
              <a:spLocks noChangeArrowheads="1"/>
            </p:cNvSpPr>
            <p:nvPr/>
          </p:nvSpPr>
          <p:spPr bwMode="auto">
            <a:xfrm>
              <a:off x="2505" y="3029"/>
              <a:ext cx="50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b="1" dirty="0">
                  <a:latin typeface="宋体" panose="02010600030101010101" pitchFamily="2" charset="-122"/>
                  <a:ea typeface="华文楷体" panose="02010600040101010101" pitchFamily="2" charset="-122"/>
                </a:rPr>
                <a:t>黄铜</a:t>
              </a:r>
              <a:endParaRPr kumimoji="1" lang="zh-CN" altLang="en-US" b="1" dirty="0">
                <a:latin typeface="'宋体" pitchFamily="34" charset="-122"/>
                <a:ea typeface="华文楷体" panose="02010600040101010101" pitchFamily="2" charset="-122"/>
              </a:endParaRPr>
            </a:p>
          </p:txBody>
        </p:sp>
        <p:grpSp>
          <p:nvGrpSpPr>
            <p:cNvPr id="47135" name="Group 50"/>
            <p:cNvGrpSpPr>
              <a:grpSpLocks/>
            </p:cNvGrpSpPr>
            <p:nvPr/>
          </p:nvGrpSpPr>
          <p:grpSpPr bwMode="auto">
            <a:xfrm>
              <a:off x="548" y="3256"/>
              <a:ext cx="2557" cy="595"/>
              <a:chOff x="592" y="3256"/>
              <a:chExt cx="2557" cy="595"/>
            </a:xfrm>
          </p:grpSpPr>
          <p:sp>
            <p:nvSpPr>
              <p:cNvPr id="47136" name="Line 51"/>
              <p:cNvSpPr>
                <a:spLocks noChangeShapeType="1"/>
              </p:cNvSpPr>
              <p:nvPr/>
            </p:nvSpPr>
            <p:spPr bwMode="auto">
              <a:xfrm flipV="1">
                <a:off x="592" y="3520"/>
                <a:ext cx="204" cy="33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37" name="Arc 52"/>
              <p:cNvSpPr>
                <a:spLocks/>
              </p:cNvSpPr>
              <p:nvPr/>
            </p:nvSpPr>
            <p:spPr bwMode="auto">
              <a:xfrm flipH="1">
                <a:off x="793" y="3256"/>
                <a:ext cx="2356" cy="347"/>
              </a:xfrm>
              <a:custGeom>
                <a:avLst/>
                <a:gdLst>
                  <a:gd name="T0" fmla="*/ 0 w 39093"/>
                  <a:gd name="T1" fmla="*/ 155 h 21600"/>
                  <a:gd name="T2" fmla="*/ 2356 w 39093"/>
                  <a:gd name="T3" fmla="*/ 273 h 21600"/>
                  <a:gd name="T4" fmla="*/ 1085 w 39093"/>
                  <a:gd name="T5" fmla="*/ 347 h 21600"/>
                  <a:gd name="T6" fmla="*/ 0 60000 65536"/>
                  <a:gd name="T7" fmla="*/ 0 60000 65536"/>
                  <a:gd name="T8" fmla="*/ 0 60000 65536"/>
                </a:gdLst>
                <a:ahLst/>
                <a:cxnLst>
                  <a:cxn ang="T6">
                    <a:pos x="T0" y="T1"/>
                  </a:cxn>
                  <a:cxn ang="T7">
                    <a:pos x="T2" y="T3"/>
                  </a:cxn>
                  <a:cxn ang="T8">
                    <a:pos x="T4" y="T5"/>
                  </a:cxn>
                </a:cxnLst>
                <a:rect l="0" t="0" r="r" b="b"/>
                <a:pathLst>
                  <a:path w="39093" h="21600" fill="none" extrusionOk="0">
                    <a:moveTo>
                      <a:pt x="-1" y="9655"/>
                    </a:moveTo>
                    <a:cubicBezTo>
                      <a:pt x="4002" y="3625"/>
                      <a:pt x="10759" y="0"/>
                      <a:pt x="17997" y="0"/>
                    </a:cubicBezTo>
                    <a:cubicBezTo>
                      <a:pt x="28139" y="0"/>
                      <a:pt x="36915" y="7056"/>
                      <a:pt x="39093" y="16962"/>
                    </a:cubicBezTo>
                  </a:path>
                  <a:path w="39093" h="21600" stroke="0" extrusionOk="0">
                    <a:moveTo>
                      <a:pt x="-1" y="9655"/>
                    </a:moveTo>
                    <a:cubicBezTo>
                      <a:pt x="4002" y="3625"/>
                      <a:pt x="10759" y="0"/>
                      <a:pt x="17997" y="0"/>
                    </a:cubicBezTo>
                    <a:cubicBezTo>
                      <a:pt x="28139" y="0"/>
                      <a:pt x="36915" y="7056"/>
                      <a:pt x="39093" y="16962"/>
                    </a:cubicBezTo>
                    <a:lnTo>
                      <a:pt x="17997" y="21600"/>
                    </a:lnTo>
                    <a:lnTo>
                      <a:pt x="-1" y="9655"/>
                    </a:lnTo>
                    <a:close/>
                  </a:path>
                </a:pathLst>
              </a:custGeom>
              <a:noFill/>
              <a:ln w="254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99750" name="Group 70"/>
          <p:cNvGrpSpPr>
            <a:grpSpLocks/>
          </p:cNvGrpSpPr>
          <p:nvPr/>
        </p:nvGrpSpPr>
        <p:grpSpPr bwMode="auto">
          <a:xfrm>
            <a:off x="6825052" y="2443881"/>
            <a:ext cx="748022" cy="1547812"/>
            <a:chOff x="816" y="864"/>
            <a:chExt cx="364" cy="864"/>
          </a:xfrm>
        </p:grpSpPr>
        <p:sp>
          <p:nvSpPr>
            <p:cNvPr id="47127" name="Line 71"/>
            <p:cNvSpPr>
              <a:spLocks noChangeShapeType="1"/>
            </p:cNvSpPr>
            <p:nvPr/>
          </p:nvSpPr>
          <p:spPr bwMode="auto">
            <a:xfrm>
              <a:off x="816" y="864"/>
              <a:ext cx="24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28" name="Line 72"/>
            <p:cNvSpPr>
              <a:spLocks noChangeShapeType="1"/>
            </p:cNvSpPr>
            <p:nvPr/>
          </p:nvSpPr>
          <p:spPr bwMode="auto">
            <a:xfrm>
              <a:off x="912" y="864"/>
              <a:ext cx="0" cy="864"/>
            </a:xfrm>
            <a:prstGeom prst="line">
              <a:avLst/>
            </a:prstGeom>
            <a:noFill/>
            <a:ln w="19050">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7129" name="Object 73"/>
            <p:cNvGraphicFramePr>
              <a:graphicFrameLocks/>
            </p:cNvGraphicFramePr>
            <p:nvPr>
              <p:extLst>
                <p:ext uri="{D42A27DB-BD31-4B8C-83A1-F6EECF244321}">
                  <p14:modId xmlns:p14="http://schemas.microsoft.com/office/powerpoint/2010/main" val="1683616299"/>
                </p:ext>
              </p:extLst>
            </p:nvPr>
          </p:nvGraphicFramePr>
          <p:xfrm>
            <a:off x="940" y="1136"/>
            <a:ext cx="240" cy="238"/>
          </p:xfrm>
          <a:graphic>
            <a:graphicData uri="http://schemas.openxmlformats.org/presentationml/2006/ole">
              <mc:AlternateContent xmlns:mc="http://schemas.openxmlformats.org/markup-compatibility/2006">
                <mc:Choice xmlns:v="urn:schemas-microsoft-com:vml" Requires="v">
                  <p:oleObj name="Equation" r:id="rId7" imgW="247590" imgH="190590" progId="Equation.2">
                    <p:embed/>
                  </p:oleObj>
                </mc:Choice>
                <mc:Fallback>
                  <p:oleObj name="Equation" r:id="rId7" imgW="247590" imgH="190590" progId="Equation.2">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40" y="1136"/>
                          <a:ext cx="240" cy="238"/>
                        </a:xfrm>
                        <a:prstGeom prst="rect">
                          <a:avLst/>
                        </a:prstGeom>
                        <a:noFill/>
                        <a:ln>
                          <a:noFill/>
                        </a:ln>
                        <a:effectLst/>
                      </p:spPr>
                    </p:pic>
                  </p:oleObj>
                </mc:Fallback>
              </mc:AlternateContent>
            </a:graphicData>
          </a:graphic>
        </p:graphicFrame>
      </p:grpSp>
      <p:sp>
        <p:nvSpPr>
          <p:cNvPr id="56" name="Text Box 17"/>
          <p:cNvSpPr txBox="1">
            <a:spLocks noChangeArrowheads="1"/>
          </p:cNvSpPr>
          <p:nvPr/>
        </p:nvSpPr>
        <p:spPr bwMode="auto">
          <a:xfrm>
            <a:off x="5433352" y="4682178"/>
            <a:ext cx="3276600" cy="1108075"/>
          </a:xfrm>
          <a:prstGeom prst="rect">
            <a:avLst/>
          </a:prstGeom>
          <a:noFill/>
          <a:ln>
            <a:noFill/>
          </a:ln>
        </p:spPr>
        <p:txBody>
          <a:bodyPr lIns="0" tIns="0" rIns="0" bIns="0" anchor="ct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eaLnBrk="1" hangingPunct="1"/>
            <a:r>
              <a:rPr lang="zh-CN" altLang="en-US" dirty="0">
                <a:solidFill>
                  <a:srgbClr val="0000FF"/>
                </a:solidFill>
                <a:latin typeface="华文中宋" panose="02010600040101010101" pitchFamily="2" charset="-122"/>
                <a:ea typeface="华文中宋" panose="02010600040101010101" pitchFamily="2" charset="-122"/>
              </a:rPr>
              <a:t>名义屈服极限</a:t>
            </a:r>
            <a:r>
              <a:rPr lang="zh-CN" altLang="en-US" i="1" dirty="0">
                <a:solidFill>
                  <a:srgbClr val="0000FF"/>
                </a:solidFill>
                <a:latin typeface="Times New Roman" panose="02020603050405020304" pitchFamily="18" charset="0"/>
                <a:ea typeface="华文中宋" panose="02010600040101010101" pitchFamily="2" charset="-122"/>
                <a:sym typeface="Symbol" panose="05050102010706020507" pitchFamily="18" charset="2"/>
              </a:rPr>
              <a:t></a:t>
            </a:r>
            <a:r>
              <a:rPr lang="en-US" altLang="zh-CN" baseline="-25000" dirty="0">
                <a:solidFill>
                  <a:srgbClr val="0000FF"/>
                </a:solidFill>
                <a:latin typeface="Times New Roman" panose="02020603050405020304" pitchFamily="18" charset="0"/>
                <a:ea typeface="华文中宋" panose="02010600040101010101" pitchFamily="2" charset="-122"/>
                <a:sym typeface="Symbol" panose="05050102010706020507" pitchFamily="18" charset="2"/>
              </a:rPr>
              <a:t>0.2</a:t>
            </a:r>
            <a:r>
              <a:rPr lang="en-US" altLang="zh-CN" baseline="-25000" dirty="0">
                <a:solidFill>
                  <a:srgbClr val="0000FF"/>
                </a:solidFill>
                <a:latin typeface="华文中宋" panose="02010600040101010101" pitchFamily="2" charset="-122"/>
                <a:ea typeface="华文中宋" panose="02010600040101010101" pitchFamily="2" charset="-122"/>
                <a:sym typeface="Symbol" panose="05050102010706020507" pitchFamily="18" charset="2"/>
              </a:rPr>
              <a:t> </a:t>
            </a:r>
            <a:endParaRPr lang="en-US" altLang="zh-CN" dirty="0">
              <a:solidFill>
                <a:srgbClr val="0000FF"/>
              </a:solidFill>
              <a:latin typeface="华文中宋" panose="02010600040101010101" pitchFamily="2" charset="-122"/>
              <a:ea typeface="华文中宋" panose="02010600040101010101" pitchFamily="2" charset="-122"/>
            </a:endParaRPr>
          </a:p>
          <a:p>
            <a:pPr algn="ctr" eaLnBrk="1" hangingPunct="1"/>
            <a:r>
              <a:rPr lang="en-US" altLang="zh-CN" dirty="0">
                <a:solidFill>
                  <a:srgbClr val="E2220E"/>
                </a:solidFill>
                <a:latin typeface="华文中宋" panose="02010600040101010101" pitchFamily="2" charset="-122"/>
                <a:ea typeface="华文中宋" panose="02010600040101010101" pitchFamily="2" charset="-122"/>
              </a:rPr>
              <a:t>—</a:t>
            </a:r>
            <a:r>
              <a:rPr lang="zh-CN" altLang="en-US" dirty="0">
                <a:solidFill>
                  <a:srgbClr val="E2220E"/>
                </a:solidFill>
                <a:latin typeface="华文中宋" panose="02010600040101010101" pitchFamily="2" charset="-122"/>
                <a:ea typeface="华文中宋" panose="02010600040101010101" pitchFamily="2" charset="-122"/>
              </a:rPr>
              <a:t>塑性应变等于</a:t>
            </a:r>
            <a:r>
              <a:rPr lang="en-US" altLang="zh-CN" dirty="0">
                <a:solidFill>
                  <a:srgbClr val="E2220E"/>
                </a:solidFill>
                <a:latin typeface="Times New Roman" panose="02020603050405020304" pitchFamily="18" charset="0"/>
                <a:ea typeface="华文中宋" panose="02010600040101010101" pitchFamily="2" charset="-122"/>
              </a:rPr>
              <a:t>0.2</a:t>
            </a:r>
            <a:r>
              <a:rPr lang="zh-CN" altLang="en-US" dirty="0">
                <a:solidFill>
                  <a:srgbClr val="E2220E"/>
                </a:solidFill>
                <a:latin typeface="Times New Roman" panose="02020603050405020304" pitchFamily="18" charset="0"/>
                <a:ea typeface="华文中宋" panose="02010600040101010101" pitchFamily="2" charset="-122"/>
              </a:rPr>
              <a:t>％</a:t>
            </a:r>
          </a:p>
          <a:p>
            <a:pPr algn="ctr" eaLnBrk="1" hangingPunct="1"/>
            <a:r>
              <a:rPr lang="zh-CN" altLang="en-US" dirty="0">
                <a:solidFill>
                  <a:srgbClr val="E2220E"/>
                </a:solidFill>
                <a:latin typeface="华文中宋" panose="02010600040101010101" pitchFamily="2" charset="-122"/>
                <a:ea typeface="华文中宋" panose="02010600040101010101" pitchFamily="2" charset="-122"/>
              </a:rPr>
              <a:t>时的应力值</a:t>
            </a:r>
          </a:p>
        </p:txBody>
      </p:sp>
    </p:spTree>
    <p:extLst>
      <p:ext uri="{BB962C8B-B14F-4D97-AF65-F5344CB8AC3E}">
        <p14:creationId xmlns:p14="http://schemas.microsoft.com/office/powerpoint/2010/main" val="25203019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99683"/>
                                        </p:tgtEl>
                                        <p:attrNameLst>
                                          <p:attrName>style.visibility</p:attrName>
                                        </p:attrNameLst>
                                      </p:cBhvr>
                                      <p:to>
                                        <p:strVal val="visible"/>
                                      </p:to>
                                    </p:set>
                                    <p:animEffect transition="in" filter="wipe(left)">
                                      <p:cBhvr>
                                        <p:cTn id="7" dur="500"/>
                                        <p:tgtEl>
                                          <p:spTgt spid="19968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199693"/>
                                        </p:tgtEl>
                                        <p:attrNameLst>
                                          <p:attrName>style.visibility</p:attrName>
                                        </p:attrNameLst>
                                      </p:cBhvr>
                                      <p:to>
                                        <p:strVal val="visible"/>
                                      </p:to>
                                    </p:set>
                                    <p:animEffect transition="in" filter="box(out)">
                                      <p:cBhvr>
                                        <p:cTn id="12" dur="500"/>
                                        <p:tgtEl>
                                          <p:spTgt spid="19969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199701"/>
                                        </p:tgtEl>
                                        <p:attrNameLst>
                                          <p:attrName>style.visibility</p:attrName>
                                        </p:attrNameLst>
                                      </p:cBhvr>
                                      <p:to>
                                        <p:strVal val="visible"/>
                                      </p:to>
                                    </p:set>
                                    <p:animEffect transition="in" filter="box(out)">
                                      <p:cBhvr>
                                        <p:cTn id="17" dur="500"/>
                                        <p:tgtEl>
                                          <p:spTgt spid="19970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199724"/>
                                        </p:tgtEl>
                                        <p:attrNameLst>
                                          <p:attrName>style.visibility</p:attrName>
                                        </p:attrNameLst>
                                      </p:cBhvr>
                                      <p:to>
                                        <p:strVal val="visible"/>
                                      </p:to>
                                    </p:set>
                                    <p:animEffect transition="in" filter="box(out)">
                                      <p:cBhvr>
                                        <p:cTn id="22" dur="500"/>
                                        <p:tgtEl>
                                          <p:spTgt spid="19972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nodeType="clickEffect">
                                  <p:stCondLst>
                                    <p:cond delay="0"/>
                                  </p:stCondLst>
                                  <p:childTnLst>
                                    <p:set>
                                      <p:cBhvr>
                                        <p:cTn id="26" dur="1" fill="hold">
                                          <p:stCondLst>
                                            <p:cond delay="0"/>
                                          </p:stCondLst>
                                        </p:cTn>
                                        <p:tgtEl>
                                          <p:spTgt spid="199728"/>
                                        </p:tgtEl>
                                        <p:attrNameLst>
                                          <p:attrName>style.visibility</p:attrName>
                                        </p:attrNameLst>
                                      </p:cBhvr>
                                      <p:to>
                                        <p:strVal val="visible"/>
                                      </p:to>
                                    </p:set>
                                    <p:animEffect transition="in" filter="box(out)">
                                      <p:cBhvr>
                                        <p:cTn id="27" dur="500"/>
                                        <p:tgtEl>
                                          <p:spTgt spid="19972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5"/>
                                        </p:tgtEl>
                                        <p:attrNameLst>
                                          <p:attrName>style.visibility</p:attrName>
                                        </p:attrNameLst>
                                      </p:cBhvr>
                                      <p:to>
                                        <p:strVal val="visible"/>
                                      </p:to>
                                    </p:set>
                                    <p:animEffect transition="in" filter="wipe(left)">
                                      <p:cBhvr>
                                        <p:cTn id="32" dur="500"/>
                                        <p:tgtEl>
                                          <p:spTgt spid="55"/>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nodeType="clickEffect">
                                  <p:stCondLst>
                                    <p:cond delay="0"/>
                                  </p:stCondLst>
                                  <p:childTnLst>
                                    <p:set>
                                      <p:cBhvr>
                                        <p:cTn id="36" dur="1" fill="hold">
                                          <p:stCondLst>
                                            <p:cond delay="0"/>
                                          </p:stCondLst>
                                        </p:cTn>
                                        <p:tgtEl>
                                          <p:spTgt spid="199750"/>
                                        </p:tgtEl>
                                        <p:attrNameLst>
                                          <p:attrName>style.visibility</p:attrName>
                                        </p:attrNameLst>
                                      </p:cBhvr>
                                      <p:to>
                                        <p:strVal val="visible"/>
                                      </p:to>
                                    </p:set>
                                    <p:animEffect transition="in" filter="box(out)">
                                      <p:cBhvr>
                                        <p:cTn id="37" dur="500"/>
                                        <p:tgtEl>
                                          <p:spTgt spid="19975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6"/>
                                        </p:tgtEl>
                                        <p:attrNameLst>
                                          <p:attrName>style.visibility</p:attrName>
                                        </p:attrNameLst>
                                      </p:cBhvr>
                                      <p:to>
                                        <p:strVal val="visible"/>
                                      </p:to>
                                    </p:set>
                                    <p:animEffect transition="in" filter="wipe(left)">
                                      <p:cBhvr>
                                        <p:cTn id="42"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ChangeArrowheads="1"/>
          </p:cNvSpPr>
          <p:nvPr/>
        </p:nvSpPr>
        <p:spPr bwMode="auto">
          <a:xfrm>
            <a:off x="440007" y="683074"/>
            <a:ext cx="5121275"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800" b="1" dirty="0">
                <a:solidFill>
                  <a:srgbClr val="FF0000"/>
                </a:solidFill>
                <a:latin typeface="黑体" panose="02010609060101010101" pitchFamily="49" charset="-122"/>
                <a:ea typeface="黑体" panose="02010609060101010101" pitchFamily="49" charset="-122"/>
              </a:rPr>
              <a:t>三、 脆性材料的拉伸性质</a:t>
            </a:r>
          </a:p>
        </p:txBody>
      </p:sp>
      <p:sp>
        <p:nvSpPr>
          <p:cNvPr id="200707" name="Rectangle 3"/>
          <p:cNvSpPr>
            <a:spLocks noChangeArrowheads="1"/>
          </p:cNvSpPr>
          <p:nvPr/>
        </p:nvSpPr>
        <p:spPr bwMode="auto">
          <a:xfrm>
            <a:off x="491138" y="5590444"/>
            <a:ext cx="8397875" cy="462307"/>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 灰铸铁材料特点：抗拉强度低，不宜制成受拉构件</a:t>
            </a:r>
          </a:p>
        </p:txBody>
      </p:sp>
      <p:grpSp>
        <p:nvGrpSpPr>
          <p:cNvPr id="200708" name="Group 4"/>
          <p:cNvGrpSpPr>
            <a:grpSpLocks/>
          </p:cNvGrpSpPr>
          <p:nvPr/>
        </p:nvGrpSpPr>
        <p:grpSpPr bwMode="auto">
          <a:xfrm>
            <a:off x="6229948" y="2462089"/>
            <a:ext cx="542925" cy="1506538"/>
            <a:chOff x="4842" y="1944"/>
            <a:chExt cx="342" cy="949"/>
          </a:xfrm>
        </p:grpSpPr>
        <p:sp>
          <p:nvSpPr>
            <p:cNvPr id="48148" name="Line 5"/>
            <p:cNvSpPr>
              <a:spLocks noChangeShapeType="1"/>
            </p:cNvSpPr>
            <p:nvPr/>
          </p:nvSpPr>
          <p:spPr bwMode="auto">
            <a:xfrm>
              <a:off x="4842" y="1944"/>
              <a:ext cx="329"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49" name="Line 6"/>
            <p:cNvSpPr>
              <a:spLocks noChangeShapeType="1"/>
            </p:cNvSpPr>
            <p:nvPr/>
          </p:nvSpPr>
          <p:spPr bwMode="auto">
            <a:xfrm>
              <a:off x="4924" y="1944"/>
              <a:ext cx="0" cy="949"/>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8150" name="Object 7"/>
            <p:cNvGraphicFramePr>
              <a:graphicFrameLocks/>
            </p:cNvGraphicFramePr>
            <p:nvPr/>
          </p:nvGraphicFramePr>
          <p:xfrm>
            <a:off x="4953" y="2256"/>
            <a:ext cx="231" cy="246"/>
          </p:xfrm>
          <a:graphic>
            <a:graphicData uri="http://schemas.openxmlformats.org/presentationml/2006/ole">
              <mc:AlternateContent xmlns:mc="http://schemas.openxmlformats.org/markup-compatibility/2006">
                <mc:Choice xmlns:v="urn:schemas-microsoft-com:vml" Requires="v">
                  <p:oleObj name="公式" r:id="rId2" imgW="171450" imgH="190590" progId="Equation.3">
                    <p:embed/>
                  </p:oleObj>
                </mc:Choice>
                <mc:Fallback>
                  <p:oleObj name="公式" r:id="rId2" imgW="171450" imgH="190590" progId="Equation.3">
                    <p:embed/>
                    <p:pic>
                      <p:nvPicPr>
                        <p:cNvPr id="0" nam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 y="2256"/>
                          <a:ext cx="231"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00712" name="Line 8"/>
          <p:cNvSpPr>
            <a:spLocks noChangeShapeType="1"/>
          </p:cNvSpPr>
          <p:nvPr/>
        </p:nvSpPr>
        <p:spPr bwMode="auto">
          <a:xfrm flipV="1">
            <a:off x="5601298" y="2462089"/>
            <a:ext cx="330200" cy="1524000"/>
          </a:xfrm>
          <a:prstGeom prst="line">
            <a:avLst/>
          </a:prstGeom>
          <a:noFill/>
          <a:ln w="25400">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0713" name="Text Box 9"/>
          <p:cNvSpPr txBox="1">
            <a:spLocks noChangeArrowheads="1"/>
          </p:cNvSpPr>
          <p:nvPr/>
        </p:nvSpPr>
        <p:spPr bwMode="auto">
          <a:xfrm>
            <a:off x="487813" y="1389757"/>
            <a:ext cx="8044627"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solidFill>
                  <a:srgbClr val="080808"/>
                </a:solidFill>
                <a:latin typeface="Times New Roman" panose="02020603050405020304" pitchFamily="18" charset="0"/>
                <a:ea typeface="华文楷体" panose="02010600040101010101" pitchFamily="2" charset="-122"/>
                <a:cs typeface="Times New Roman" panose="02020603050405020304" pitchFamily="18" charset="0"/>
              </a:rPr>
              <a:t>●  脆性材料有灰铸铁、水泥、石料、砖、玻璃、陶瓷、粉笔等。</a:t>
            </a:r>
          </a:p>
        </p:txBody>
      </p:sp>
      <p:grpSp>
        <p:nvGrpSpPr>
          <p:cNvPr id="200714" name="Group 10"/>
          <p:cNvGrpSpPr>
            <a:grpSpLocks/>
          </p:cNvGrpSpPr>
          <p:nvPr/>
        </p:nvGrpSpPr>
        <p:grpSpPr bwMode="auto">
          <a:xfrm>
            <a:off x="5248873" y="2195389"/>
            <a:ext cx="1930400" cy="1792288"/>
            <a:chOff x="4224" y="1776"/>
            <a:chExt cx="1216" cy="1129"/>
          </a:xfrm>
        </p:grpSpPr>
        <p:sp>
          <p:nvSpPr>
            <p:cNvPr id="48143" name="Line 11"/>
            <p:cNvSpPr>
              <a:spLocks noChangeShapeType="1"/>
            </p:cNvSpPr>
            <p:nvPr/>
          </p:nvSpPr>
          <p:spPr bwMode="auto">
            <a:xfrm>
              <a:off x="4450" y="2903"/>
              <a:ext cx="968" cy="0"/>
            </a:xfrm>
            <a:prstGeom prst="line">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44" name="Line 12"/>
            <p:cNvSpPr>
              <a:spLocks noChangeShapeType="1"/>
            </p:cNvSpPr>
            <p:nvPr/>
          </p:nvSpPr>
          <p:spPr bwMode="auto">
            <a:xfrm flipV="1">
              <a:off x="4444" y="1787"/>
              <a:ext cx="0" cy="1107"/>
            </a:xfrm>
            <a:prstGeom prst="line">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45" name="Arc 13"/>
            <p:cNvSpPr>
              <a:spLocks/>
            </p:cNvSpPr>
            <p:nvPr/>
          </p:nvSpPr>
          <p:spPr bwMode="auto">
            <a:xfrm>
              <a:off x="4447" y="1920"/>
              <a:ext cx="412" cy="985"/>
            </a:xfrm>
            <a:custGeom>
              <a:avLst/>
              <a:gdLst>
                <a:gd name="T0" fmla="*/ 0 w 21600"/>
                <a:gd name="T1" fmla="*/ 985 h 21256"/>
                <a:gd name="T2" fmla="*/ 339 w 21600"/>
                <a:gd name="T3" fmla="*/ 0 h 21256"/>
                <a:gd name="T4" fmla="*/ 412 w 21600"/>
                <a:gd name="T5" fmla="*/ 985 h 21256"/>
                <a:gd name="T6" fmla="*/ 0 60000 65536"/>
                <a:gd name="T7" fmla="*/ 0 60000 65536"/>
                <a:gd name="T8" fmla="*/ 0 60000 65536"/>
              </a:gdLst>
              <a:ahLst/>
              <a:cxnLst>
                <a:cxn ang="T6">
                  <a:pos x="T0" y="T1"/>
                </a:cxn>
                <a:cxn ang="T7">
                  <a:pos x="T2" y="T3"/>
                </a:cxn>
                <a:cxn ang="T8">
                  <a:pos x="T4" y="T5"/>
                </a:cxn>
              </a:cxnLst>
              <a:rect l="0" t="0" r="r" b="b"/>
              <a:pathLst>
                <a:path w="21600" h="21256" fill="none" extrusionOk="0">
                  <a:moveTo>
                    <a:pt x="0" y="21255"/>
                  </a:moveTo>
                  <a:cubicBezTo>
                    <a:pt x="0" y="10808"/>
                    <a:pt x="7477" y="1858"/>
                    <a:pt x="17759" y="0"/>
                  </a:cubicBezTo>
                </a:path>
                <a:path w="21600" h="21256" stroke="0" extrusionOk="0">
                  <a:moveTo>
                    <a:pt x="0" y="21255"/>
                  </a:moveTo>
                  <a:cubicBezTo>
                    <a:pt x="0" y="10808"/>
                    <a:pt x="7477" y="1858"/>
                    <a:pt x="17759" y="0"/>
                  </a:cubicBezTo>
                  <a:lnTo>
                    <a:pt x="21600" y="21256"/>
                  </a:lnTo>
                  <a:lnTo>
                    <a:pt x="0" y="21255"/>
                  </a:lnTo>
                  <a:close/>
                </a:path>
              </a:pathLst>
            </a:custGeom>
            <a:noFill/>
            <a:ln w="254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8146" name="Object 14"/>
            <p:cNvGraphicFramePr>
              <a:graphicFrameLocks/>
            </p:cNvGraphicFramePr>
            <p:nvPr/>
          </p:nvGraphicFramePr>
          <p:xfrm>
            <a:off x="4224" y="1776"/>
            <a:ext cx="179" cy="189"/>
          </p:xfrm>
          <a:graphic>
            <a:graphicData uri="http://schemas.openxmlformats.org/presentationml/2006/ole">
              <mc:AlternateContent xmlns:mc="http://schemas.openxmlformats.org/markup-compatibility/2006">
                <mc:Choice xmlns:v="urn:schemas-microsoft-com:vml" Requires="v">
                  <p:oleObj name="公式" r:id="rId4" imgW="142830" imgH="133440" progId="Equation.3">
                    <p:embed/>
                  </p:oleObj>
                </mc:Choice>
                <mc:Fallback>
                  <p:oleObj name="公式" r:id="rId4" imgW="142830" imgH="133440" progId="Equation.3">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24" y="1776"/>
                          <a:ext cx="179" cy="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147" name="Object 15"/>
            <p:cNvGraphicFramePr>
              <a:graphicFrameLocks/>
            </p:cNvGraphicFramePr>
            <p:nvPr>
              <p:extLst>
                <p:ext uri="{D42A27DB-BD31-4B8C-83A1-F6EECF244321}">
                  <p14:modId xmlns:p14="http://schemas.microsoft.com/office/powerpoint/2010/main" val="1877478112"/>
                </p:ext>
              </p:extLst>
            </p:nvPr>
          </p:nvGraphicFramePr>
          <p:xfrm>
            <a:off x="5264" y="2704"/>
            <a:ext cx="176" cy="189"/>
          </p:xfrm>
          <a:graphic>
            <a:graphicData uri="http://schemas.openxmlformats.org/presentationml/2006/ole">
              <mc:AlternateContent xmlns:mc="http://schemas.openxmlformats.org/markup-compatibility/2006">
                <mc:Choice xmlns:v="urn:schemas-microsoft-com:vml" Requires="v">
                  <p:oleObj name="公式" r:id="rId6" imgW="114210" imgH="133440" progId="Equation.3">
                    <p:embed/>
                  </p:oleObj>
                </mc:Choice>
                <mc:Fallback>
                  <p:oleObj name="公式" r:id="rId6" imgW="114210" imgH="133440" progId="Equation.3">
                    <p:embed/>
                    <p:pic>
                      <p:nvPicPr>
                        <p:cNvPr id="0" nam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64" y="2704"/>
                          <a:ext cx="176" cy="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00720" name="Text Box 16"/>
          <p:cNvSpPr txBox="1">
            <a:spLocks noChangeArrowheads="1"/>
          </p:cNvSpPr>
          <p:nvPr/>
        </p:nvSpPr>
        <p:spPr bwMode="auto">
          <a:xfrm>
            <a:off x="487813" y="2403009"/>
            <a:ext cx="5010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  灰铸铁应力</a:t>
            </a:r>
            <a:r>
              <a:rPr kumimoji="1"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应变曲线如图所示。</a:t>
            </a:r>
          </a:p>
        </p:txBody>
      </p:sp>
      <p:sp>
        <p:nvSpPr>
          <p:cNvPr id="200721" name="Rectangle 17"/>
          <p:cNvSpPr>
            <a:spLocks noChangeArrowheads="1"/>
          </p:cNvSpPr>
          <p:nvPr/>
        </p:nvSpPr>
        <p:spPr bwMode="auto">
          <a:xfrm>
            <a:off x="598890" y="4863976"/>
            <a:ext cx="6119813"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solidFill>
                  <a:srgbClr val="0000FF"/>
                </a:solidFill>
                <a:latin typeface="Times New Roman" panose="02020603050405020304" pitchFamily="18" charset="0"/>
                <a:ea typeface="华文楷体" panose="02010600040101010101" pitchFamily="2" charset="-122"/>
              </a:rPr>
              <a:t>变形小，弹性模量 </a:t>
            </a:r>
            <a:r>
              <a:rPr kumimoji="1" lang="en-US" altLang="zh-CN" sz="2400" i="1" dirty="0">
                <a:solidFill>
                  <a:srgbClr val="0000FF"/>
                </a:solidFill>
                <a:latin typeface="Times New Roman" panose="02020603050405020304" pitchFamily="18" charset="0"/>
                <a:ea typeface="华文楷体" panose="02010600040101010101" pitchFamily="2" charset="-122"/>
              </a:rPr>
              <a:t>E</a:t>
            </a:r>
            <a:r>
              <a:rPr kumimoji="1" lang="en-US" altLang="zh-CN" sz="2400" b="1" dirty="0">
                <a:solidFill>
                  <a:srgbClr val="0000FF"/>
                </a:solidFill>
                <a:latin typeface="Times New Roman" panose="02020603050405020304" pitchFamily="18" charset="0"/>
                <a:ea typeface="华文楷体" panose="02010600040101010101" pitchFamily="2" charset="-122"/>
              </a:rPr>
              <a:t> </a:t>
            </a:r>
            <a:r>
              <a:rPr kumimoji="1" lang="zh-CN" altLang="en-US" sz="2400" b="1" dirty="0">
                <a:solidFill>
                  <a:srgbClr val="0000FF"/>
                </a:solidFill>
                <a:latin typeface="Times New Roman" panose="02020603050405020304" pitchFamily="18" charset="0"/>
                <a:ea typeface="华文楷体" panose="02010600040101010101" pitchFamily="2" charset="-122"/>
              </a:rPr>
              <a:t>采用割线弹性模量。</a:t>
            </a:r>
          </a:p>
        </p:txBody>
      </p:sp>
      <p:grpSp>
        <p:nvGrpSpPr>
          <p:cNvPr id="200722" name="Group 18"/>
          <p:cNvGrpSpPr>
            <a:grpSpLocks/>
          </p:cNvGrpSpPr>
          <p:nvPr/>
        </p:nvGrpSpPr>
        <p:grpSpPr bwMode="auto">
          <a:xfrm>
            <a:off x="598890" y="4235326"/>
            <a:ext cx="6259513" cy="457200"/>
            <a:chOff x="329" y="2661"/>
            <a:chExt cx="3943" cy="288"/>
          </a:xfrm>
        </p:grpSpPr>
        <p:graphicFrame>
          <p:nvGraphicFramePr>
            <p:cNvPr id="48141" name="Object 19"/>
            <p:cNvGraphicFramePr>
              <a:graphicFrameLocks/>
            </p:cNvGraphicFramePr>
            <p:nvPr/>
          </p:nvGraphicFramePr>
          <p:xfrm>
            <a:off x="4039" y="2667"/>
            <a:ext cx="233" cy="271"/>
          </p:xfrm>
          <a:graphic>
            <a:graphicData uri="http://schemas.openxmlformats.org/presentationml/2006/ole">
              <mc:AlternateContent xmlns:mc="http://schemas.openxmlformats.org/markup-compatibility/2006">
                <mc:Choice xmlns:v="urn:schemas-microsoft-com:vml" Requires="v">
                  <p:oleObj name="公式" r:id="rId8" imgW="180900" imgH="219165" progId="Equation.3">
                    <p:embed/>
                  </p:oleObj>
                </mc:Choice>
                <mc:Fallback>
                  <p:oleObj name="公式" r:id="rId8" imgW="180900" imgH="219165" progId="Equation.3">
                    <p:embed/>
                    <p:pic>
                      <p:nvPicPr>
                        <p:cNvPr id="0" name=""/>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39" y="2667"/>
                          <a:ext cx="233"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8142" name="Text Box 20"/>
            <p:cNvSpPr txBox="1">
              <a:spLocks noChangeArrowheads="1"/>
            </p:cNvSpPr>
            <p:nvPr/>
          </p:nvSpPr>
          <p:spPr bwMode="auto">
            <a:xfrm>
              <a:off x="329" y="2661"/>
              <a:ext cx="376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solidFill>
                    <a:srgbClr val="0000FF"/>
                  </a:solidFill>
                  <a:latin typeface="Times New Roman" panose="02020603050405020304" pitchFamily="18" charset="0"/>
                  <a:ea typeface="华文楷体" panose="02010600040101010101" pitchFamily="2" charset="-122"/>
                </a:rPr>
                <a:t>没有直线段，没有屈服阶段，只有强度极限</a:t>
              </a:r>
            </a:p>
          </p:txBody>
        </p:sp>
      </p:grpSp>
      <p:sp>
        <p:nvSpPr>
          <p:cNvPr id="200725" name="Text Box 21"/>
          <p:cNvSpPr txBox="1">
            <a:spLocks noChangeArrowheads="1"/>
          </p:cNvSpPr>
          <p:nvPr/>
        </p:nvSpPr>
        <p:spPr bwMode="auto">
          <a:xfrm>
            <a:off x="971600" y="3278112"/>
            <a:ext cx="129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solidFill>
                  <a:srgbClr val="FF0000"/>
                </a:solidFill>
                <a:latin typeface="Times New Roman" panose="02020603050405020304" pitchFamily="18" charset="0"/>
                <a:ea typeface="华文楷体" panose="02010600040101010101" pitchFamily="2" charset="-122"/>
              </a:rPr>
              <a:t>特点：</a:t>
            </a:r>
          </a:p>
        </p:txBody>
      </p:sp>
      <p:pic>
        <p:nvPicPr>
          <p:cNvPr id="22" name="Picture 13" descr="12-4c"/>
          <p:cNvPicPr>
            <a:picLocks noChangeAspect="1" noChangeArrowheads="1"/>
          </p:cNvPicPr>
          <p:nvPr/>
        </p:nvPicPr>
        <p:blipFill>
          <a:blip r:embed="rId10" cstate="print">
            <a:lum contrast="18000"/>
            <a:extLst>
              <a:ext uri="{28A0092B-C50C-407E-A947-70E740481C1C}">
                <a14:useLocalDpi xmlns:a14="http://schemas.microsoft.com/office/drawing/2010/main" val="0"/>
              </a:ext>
            </a:extLst>
          </a:blip>
          <a:srcRect l="10971" t="6250" r="23199" b="6250"/>
          <a:stretch>
            <a:fillRect/>
          </a:stretch>
        </p:blipFill>
        <p:spPr bwMode="auto">
          <a:xfrm>
            <a:off x="7363533" y="2058847"/>
            <a:ext cx="762000" cy="355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255825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0713"/>
                                        </p:tgtEl>
                                        <p:attrNameLst>
                                          <p:attrName>style.visibility</p:attrName>
                                        </p:attrNameLst>
                                      </p:cBhvr>
                                      <p:to>
                                        <p:strVal val="visible"/>
                                      </p:to>
                                    </p:set>
                                    <p:animEffect transition="in" filter="dissolve">
                                      <p:cBhvr>
                                        <p:cTn id="7" dur="500"/>
                                        <p:tgtEl>
                                          <p:spTgt spid="2007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00720"/>
                                        </p:tgtEl>
                                        <p:attrNameLst>
                                          <p:attrName>style.visibility</p:attrName>
                                        </p:attrNameLst>
                                      </p:cBhvr>
                                      <p:to>
                                        <p:strVal val="visible"/>
                                      </p:to>
                                    </p:set>
                                    <p:animEffect transition="in" filter="dissolve">
                                      <p:cBhvr>
                                        <p:cTn id="12" dur="500"/>
                                        <p:tgtEl>
                                          <p:spTgt spid="20072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200714"/>
                                        </p:tgtEl>
                                        <p:attrNameLst>
                                          <p:attrName>style.visibility</p:attrName>
                                        </p:attrNameLst>
                                      </p:cBhvr>
                                      <p:to>
                                        <p:strVal val="visible"/>
                                      </p:to>
                                    </p:set>
                                    <p:animEffect transition="in" filter="box(out)">
                                      <p:cBhvr>
                                        <p:cTn id="17" dur="500"/>
                                        <p:tgtEl>
                                          <p:spTgt spid="20071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42" fill="hold"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barn(outHorizontal)">
                                      <p:cBhvr>
                                        <p:cTn id="22" dur="5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200725"/>
                                        </p:tgtEl>
                                        <p:attrNameLst>
                                          <p:attrName>style.visibility</p:attrName>
                                        </p:attrNameLst>
                                      </p:cBhvr>
                                      <p:to>
                                        <p:strVal val="visible"/>
                                      </p:to>
                                    </p:set>
                                    <p:animEffect transition="in" filter="box(out)">
                                      <p:cBhvr>
                                        <p:cTn id="27" dur="500"/>
                                        <p:tgtEl>
                                          <p:spTgt spid="200725"/>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200708"/>
                                        </p:tgtEl>
                                        <p:attrNameLst>
                                          <p:attrName>style.visibility</p:attrName>
                                        </p:attrNameLst>
                                      </p:cBhvr>
                                      <p:to>
                                        <p:strVal val="visible"/>
                                      </p:to>
                                    </p:set>
                                    <p:animEffect transition="in" filter="checkerboard(across)">
                                      <p:cBhvr>
                                        <p:cTn id="32" dur="500"/>
                                        <p:tgtEl>
                                          <p:spTgt spid="200708"/>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nodeType="clickEffect">
                                  <p:stCondLst>
                                    <p:cond delay="0"/>
                                  </p:stCondLst>
                                  <p:childTnLst>
                                    <p:set>
                                      <p:cBhvr>
                                        <p:cTn id="36" dur="1" fill="hold">
                                          <p:stCondLst>
                                            <p:cond delay="0"/>
                                          </p:stCondLst>
                                        </p:cTn>
                                        <p:tgtEl>
                                          <p:spTgt spid="200722"/>
                                        </p:tgtEl>
                                        <p:attrNameLst>
                                          <p:attrName>style.visibility</p:attrName>
                                        </p:attrNameLst>
                                      </p:cBhvr>
                                      <p:to>
                                        <p:strVal val="visible"/>
                                      </p:to>
                                    </p:set>
                                    <p:animEffect transition="in" filter="box(out)">
                                      <p:cBhvr>
                                        <p:cTn id="37" dur="500"/>
                                        <p:tgtEl>
                                          <p:spTgt spid="200722"/>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200721"/>
                                        </p:tgtEl>
                                        <p:attrNameLst>
                                          <p:attrName>style.visibility</p:attrName>
                                        </p:attrNameLst>
                                      </p:cBhvr>
                                      <p:to>
                                        <p:strVal val="visible"/>
                                      </p:to>
                                    </p:set>
                                    <p:animEffect transition="in" filter="box(out)">
                                      <p:cBhvr>
                                        <p:cTn id="42" dur="500"/>
                                        <p:tgtEl>
                                          <p:spTgt spid="200721"/>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200712"/>
                                        </p:tgtEl>
                                        <p:attrNameLst>
                                          <p:attrName>style.visibility</p:attrName>
                                        </p:attrNameLst>
                                      </p:cBhvr>
                                      <p:to>
                                        <p:strVal val="visible"/>
                                      </p:to>
                                    </p:set>
                                    <p:animEffect transition="in" filter="box(out)">
                                      <p:cBhvr>
                                        <p:cTn id="47" dur="500"/>
                                        <p:tgtEl>
                                          <p:spTgt spid="200712"/>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200707"/>
                                        </p:tgtEl>
                                        <p:attrNameLst>
                                          <p:attrName>style.visibility</p:attrName>
                                        </p:attrNameLst>
                                      </p:cBhvr>
                                      <p:to>
                                        <p:strVal val="visible"/>
                                      </p:to>
                                    </p:set>
                                    <p:animEffect transition="in" filter="box(out)">
                                      <p:cBhvr>
                                        <p:cTn id="52" dur="500"/>
                                        <p:tgtEl>
                                          <p:spTgt spid="2007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07" grpId="0" autoUpdateAnimBg="0"/>
      <p:bldP spid="200712" grpId="0" animBg="1"/>
      <p:bldP spid="200713" grpId="0" autoUpdateAnimBg="0"/>
      <p:bldP spid="200720" grpId="0" autoUpdateAnimBg="0"/>
      <p:bldP spid="200721" grpId="0" autoUpdateAnimBg="0" rev="1"/>
      <p:bldP spid="200725"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34" name="Rectangle 38"/>
          <p:cNvSpPr>
            <a:spLocks noChangeArrowheads="1"/>
          </p:cNvSpPr>
          <p:nvPr/>
        </p:nvSpPr>
        <p:spPr bwMode="auto">
          <a:xfrm>
            <a:off x="1022350" y="3105867"/>
            <a:ext cx="1371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b="0" i="1" dirty="0">
                <a:solidFill>
                  <a:srgbClr val="000000"/>
                </a:solidFill>
                <a:latin typeface="Times New Roman" panose="02020603050405020304" pitchFamily="18" charset="0"/>
              </a:rPr>
              <a:t>h</a:t>
            </a:r>
            <a:r>
              <a:rPr lang="en-US" altLang="zh-CN" b="0" dirty="0">
                <a:solidFill>
                  <a:srgbClr val="000000"/>
                </a:solidFill>
                <a:latin typeface="Times New Roman" panose="02020603050405020304" pitchFamily="18" charset="0"/>
              </a:rPr>
              <a:t>=1.5~3</a:t>
            </a:r>
            <a:r>
              <a:rPr lang="en-US" altLang="zh-CN" b="0" i="1" dirty="0">
                <a:solidFill>
                  <a:srgbClr val="000000"/>
                </a:solidFill>
                <a:latin typeface="Times New Roman" panose="02020603050405020304" pitchFamily="18" charset="0"/>
              </a:rPr>
              <a:t>d</a:t>
            </a:r>
          </a:p>
        </p:txBody>
      </p:sp>
      <p:grpSp>
        <p:nvGrpSpPr>
          <p:cNvPr id="8" name="Group 28"/>
          <p:cNvGrpSpPr>
            <a:grpSpLocks/>
          </p:cNvGrpSpPr>
          <p:nvPr/>
        </p:nvGrpSpPr>
        <p:grpSpPr bwMode="auto">
          <a:xfrm>
            <a:off x="4673600" y="633959"/>
            <a:ext cx="4157662" cy="3286125"/>
            <a:chOff x="1728" y="1710"/>
            <a:chExt cx="2928" cy="2325"/>
          </a:xfrm>
        </p:grpSpPr>
        <p:pic>
          <p:nvPicPr>
            <p:cNvPr id="87051" name="Picture 24" descr="12-6a"/>
            <p:cNvPicPr>
              <a:picLocks noChangeAspect="1" noChangeArrowheads="1"/>
            </p:cNvPicPr>
            <p:nvPr/>
          </p:nvPicPr>
          <p:blipFill>
            <a:blip r:embed="rId2">
              <a:lum bright="-6000" contrast="24000"/>
              <a:extLst>
                <a:ext uri="{28A0092B-C50C-407E-A947-70E740481C1C}">
                  <a14:useLocalDpi xmlns:a14="http://schemas.microsoft.com/office/drawing/2010/main" val="0"/>
                </a:ext>
              </a:extLst>
            </a:blip>
            <a:srcRect/>
            <a:stretch>
              <a:fillRect/>
            </a:stretch>
          </p:blipFill>
          <p:spPr bwMode="auto">
            <a:xfrm>
              <a:off x="1728" y="1710"/>
              <a:ext cx="2928" cy="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52" name="Rectangle 27"/>
            <p:cNvSpPr>
              <a:spLocks noChangeArrowheads="1"/>
            </p:cNvSpPr>
            <p:nvPr/>
          </p:nvSpPr>
          <p:spPr bwMode="auto">
            <a:xfrm>
              <a:off x="2304" y="3792"/>
              <a:ext cx="192" cy="144"/>
            </a:xfrm>
            <a:prstGeom prst="rect">
              <a:avLst/>
            </a:prstGeom>
            <a:solidFill>
              <a:schemeClr val="bg1"/>
            </a:solidFill>
            <a:ln w="9525">
              <a:solidFill>
                <a:schemeClr val="bg1"/>
              </a:solidFill>
              <a:miter lim="800000"/>
              <a:headEnd/>
              <a:tailEnd/>
            </a:ln>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endParaRPr lang="zh-CN" altLang="en-US"/>
            </a:p>
          </p:txBody>
        </p:sp>
      </p:grpSp>
      <p:sp>
        <p:nvSpPr>
          <p:cNvPr id="26" name="Text Box 29"/>
          <p:cNvSpPr txBox="1">
            <a:spLocks noChangeArrowheads="1"/>
          </p:cNvSpPr>
          <p:nvPr/>
        </p:nvSpPr>
        <p:spPr bwMode="auto">
          <a:xfrm>
            <a:off x="720530" y="4391598"/>
            <a:ext cx="4355526"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10800" rIns="0" bIns="0">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lnSpc>
                <a:spcPct val="130000"/>
              </a:lnSpc>
            </a:pPr>
            <a:r>
              <a:rPr lang="en-US" altLang="zh-CN" sz="2000" b="0" dirty="0">
                <a:solidFill>
                  <a:srgbClr val="1FAD1F"/>
                </a:solidFill>
                <a:latin typeface="Times New Roman" panose="02020603050405020304" pitchFamily="18" charset="0"/>
              </a:rPr>
              <a:t> </a:t>
            </a:r>
            <a:r>
              <a:rPr lang="en-US" altLang="zh-CN" dirty="0">
                <a:solidFill>
                  <a:srgbClr val="660066"/>
                </a:solidFill>
                <a:latin typeface="楷体_GB2312" pitchFamily="49" charset="-122"/>
                <a:ea typeface="楷体_GB2312" pitchFamily="49" charset="-122"/>
              </a:rPr>
              <a:t>2.</a:t>
            </a:r>
            <a:r>
              <a:rPr lang="zh-CN" altLang="en-US" dirty="0">
                <a:solidFill>
                  <a:srgbClr val="660066"/>
                </a:solidFill>
                <a:latin typeface="+mn-lt"/>
                <a:ea typeface="楷体" panose="02010609060101010101" pitchFamily="49" charset="-122"/>
              </a:rPr>
              <a:t>屈服极限</a:t>
            </a:r>
            <a:r>
              <a:rPr lang="zh-CN" altLang="en-US" i="1" dirty="0">
                <a:solidFill>
                  <a:srgbClr val="660066"/>
                </a:solidFill>
                <a:latin typeface="+mn-lt"/>
                <a:ea typeface="楷体" panose="02010609060101010101" pitchFamily="49" charset="-122"/>
                <a:sym typeface="Symbol" panose="05050102010706020507" pitchFamily="18" charset="2"/>
              </a:rPr>
              <a:t></a:t>
            </a:r>
            <a:r>
              <a:rPr lang="en-US" altLang="zh-CN" i="1" baseline="-30000" dirty="0">
                <a:solidFill>
                  <a:srgbClr val="660066"/>
                </a:solidFill>
                <a:latin typeface="+mn-lt"/>
                <a:ea typeface="楷体" panose="02010609060101010101" pitchFamily="49" charset="-122"/>
              </a:rPr>
              <a:t>s</a:t>
            </a:r>
            <a:r>
              <a:rPr lang="zh-CN" altLang="en-US" dirty="0">
                <a:solidFill>
                  <a:srgbClr val="660066"/>
                </a:solidFill>
                <a:latin typeface="+mn-lt"/>
                <a:ea typeface="楷体" panose="02010609060101010101" pitchFamily="49" charset="-122"/>
              </a:rPr>
              <a:t>与拉伸时相同。</a:t>
            </a:r>
            <a:endParaRPr lang="zh-CN" altLang="en-US" dirty="0">
              <a:solidFill>
                <a:srgbClr val="006600"/>
              </a:solidFill>
              <a:latin typeface="楷体_GB2312" pitchFamily="49" charset="-122"/>
              <a:ea typeface="楷体_GB2312" pitchFamily="49" charset="-122"/>
            </a:endParaRPr>
          </a:p>
        </p:txBody>
      </p:sp>
      <p:sp>
        <p:nvSpPr>
          <p:cNvPr id="27" name="Text Box 41"/>
          <p:cNvSpPr txBox="1">
            <a:spLocks noChangeArrowheads="1"/>
          </p:cNvSpPr>
          <p:nvPr/>
        </p:nvSpPr>
        <p:spPr bwMode="auto">
          <a:xfrm>
            <a:off x="611560" y="3899171"/>
            <a:ext cx="6286500" cy="572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lnSpc>
                <a:spcPct val="130000"/>
              </a:lnSpc>
            </a:pPr>
            <a:r>
              <a:rPr lang="en-US" altLang="zh-CN" sz="2000" b="0" dirty="0">
                <a:solidFill>
                  <a:srgbClr val="1FAD1F"/>
                </a:solidFill>
                <a:latin typeface="Times New Roman" panose="02020603050405020304" pitchFamily="18" charset="0"/>
              </a:rPr>
              <a:t> </a:t>
            </a:r>
            <a:r>
              <a:rPr lang="en-US" altLang="zh-CN" dirty="0">
                <a:solidFill>
                  <a:srgbClr val="660066"/>
                </a:solidFill>
                <a:latin typeface="楷体_GB2312" pitchFamily="49" charset="-122"/>
                <a:ea typeface="楷体_GB2312" pitchFamily="49" charset="-122"/>
              </a:rPr>
              <a:t>1.</a:t>
            </a:r>
            <a:r>
              <a:rPr lang="zh-CN" altLang="en-US" dirty="0">
                <a:solidFill>
                  <a:srgbClr val="660066"/>
                </a:solidFill>
                <a:latin typeface="+mn-lt"/>
                <a:ea typeface="楷体" panose="02010609060101010101" pitchFamily="49" charset="-122"/>
              </a:rPr>
              <a:t>在</a:t>
            </a:r>
            <a:r>
              <a:rPr lang="zh-CN" altLang="en-US" i="1" dirty="0">
                <a:solidFill>
                  <a:srgbClr val="660066"/>
                </a:solidFill>
                <a:latin typeface="+mn-lt"/>
                <a:ea typeface="楷体" panose="02010609060101010101" pitchFamily="49" charset="-122"/>
                <a:sym typeface="Symbol" panose="05050102010706020507" pitchFamily="18" charset="2"/>
              </a:rPr>
              <a:t></a:t>
            </a:r>
            <a:r>
              <a:rPr lang="en-US" altLang="zh-CN" i="1" baseline="-30000" dirty="0">
                <a:solidFill>
                  <a:srgbClr val="660066"/>
                </a:solidFill>
                <a:latin typeface="+mn-lt"/>
                <a:ea typeface="楷体" panose="02010609060101010101" pitchFamily="49" charset="-122"/>
              </a:rPr>
              <a:t>s</a:t>
            </a:r>
            <a:r>
              <a:rPr lang="zh-CN" altLang="en-US" dirty="0">
                <a:solidFill>
                  <a:srgbClr val="660066"/>
                </a:solidFill>
                <a:latin typeface="+mn-lt"/>
                <a:ea typeface="楷体" panose="02010609060101010101" pitchFamily="49" charset="-122"/>
              </a:rPr>
              <a:t>以前，拉伸与压缩时的</a:t>
            </a:r>
            <a:r>
              <a:rPr lang="zh-CN" altLang="en-US" i="1" dirty="0">
                <a:solidFill>
                  <a:srgbClr val="660066"/>
                </a:solidFill>
                <a:latin typeface="+mn-lt"/>
                <a:ea typeface="楷体" panose="02010609060101010101" pitchFamily="49" charset="-122"/>
                <a:sym typeface="Symbol" panose="05050102010706020507" pitchFamily="18" charset="2"/>
              </a:rPr>
              <a:t></a:t>
            </a:r>
            <a:r>
              <a:rPr lang="zh-CN" altLang="en-US" i="1" dirty="0">
                <a:solidFill>
                  <a:srgbClr val="660066"/>
                </a:solidFill>
                <a:latin typeface="+mn-lt"/>
                <a:ea typeface="楷体" panose="02010609060101010101" pitchFamily="49" charset="-122"/>
              </a:rPr>
              <a:t> </a:t>
            </a:r>
            <a:r>
              <a:rPr lang="en-US" altLang="zh-CN" dirty="0">
                <a:solidFill>
                  <a:srgbClr val="660066"/>
                </a:solidFill>
                <a:latin typeface="+mn-lt"/>
                <a:ea typeface="楷体" panose="02010609060101010101" pitchFamily="49" charset="-122"/>
              </a:rPr>
              <a:t>-</a:t>
            </a:r>
            <a:r>
              <a:rPr lang="en-US" altLang="zh-CN" i="1" dirty="0">
                <a:solidFill>
                  <a:srgbClr val="660066"/>
                </a:solidFill>
                <a:latin typeface="+mn-lt"/>
                <a:ea typeface="楷体" panose="02010609060101010101" pitchFamily="49" charset="-122"/>
                <a:sym typeface="Symbol" panose="05050102010706020507" pitchFamily="18" charset="2"/>
              </a:rPr>
              <a:t></a:t>
            </a:r>
            <a:r>
              <a:rPr lang="en-US" altLang="zh-CN" i="1" dirty="0">
                <a:solidFill>
                  <a:srgbClr val="660066"/>
                </a:solidFill>
                <a:latin typeface="+mn-lt"/>
                <a:ea typeface="楷体" panose="02010609060101010101" pitchFamily="49" charset="-122"/>
              </a:rPr>
              <a:t> </a:t>
            </a:r>
            <a:r>
              <a:rPr lang="zh-CN" altLang="en-US" dirty="0">
                <a:solidFill>
                  <a:srgbClr val="660066"/>
                </a:solidFill>
                <a:latin typeface="+mn-lt"/>
                <a:ea typeface="楷体" panose="02010609060101010101" pitchFamily="49" charset="-122"/>
              </a:rPr>
              <a:t>曲线重合。</a:t>
            </a:r>
          </a:p>
        </p:txBody>
      </p:sp>
      <p:sp>
        <p:nvSpPr>
          <p:cNvPr id="28" name="Text Box 42"/>
          <p:cNvSpPr txBox="1">
            <a:spLocks noChangeArrowheads="1"/>
          </p:cNvSpPr>
          <p:nvPr/>
        </p:nvSpPr>
        <p:spPr bwMode="auto">
          <a:xfrm>
            <a:off x="720530" y="4943149"/>
            <a:ext cx="6911942"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2000" b="0" dirty="0">
                <a:solidFill>
                  <a:srgbClr val="1FAD1F"/>
                </a:solidFill>
                <a:latin typeface="Times New Roman" panose="02020603050405020304" pitchFamily="18" charset="0"/>
              </a:rPr>
              <a:t> </a:t>
            </a:r>
            <a:r>
              <a:rPr lang="en-US" altLang="zh-CN" dirty="0">
                <a:solidFill>
                  <a:srgbClr val="660066"/>
                </a:solidFill>
                <a:latin typeface="楷体_GB2312" pitchFamily="49" charset="-122"/>
                <a:ea typeface="楷体_GB2312" pitchFamily="49" charset="-122"/>
              </a:rPr>
              <a:t>3.</a:t>
            </a:r>
            <a:r>
              <a:rPr lang="zh-CN" altLang="en-US" dirty="0">
                <a:solidFill>
                  <a:srgbClr val="660066"/>
                </a:solidFill>
                <a:latin typeface="楷体" panose="02010609060101010101" pitchFamily="49" charset="-122"/>
                <a:ea typeface="楷体" panose="02010609060101010101" pitchFamily="49" charset="-122"/>
              </a:rPr>
              <a:t>在强化阶段中，压缩试件愈压愈平，既无颈缩，又不断裂，所以测不出强度极限。 </a:t>
            </a:r>
          </a:p>
        </p:txBody>
      </p:sp>
      <p:sp>
        <p:nvSpPr>
          <p:cNvPr id="29" name="Text Box 16"/>
          <p:cNvSpPr txBox="1">
            <a:spLocks noChangeArrowheads="1"/>
          </p:cNvSpPr>
          <p:nvPr/>
        </p:nvSpPr>
        <p:spPr bwMode="auto">
          <a:xfrm>
            <a:off x="903288" y="1352550"/>
            <a:ext cx="16097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latin typeface="Times New Roman" panose="02020603050405020304" pitchFamily="18" charset="0"/>
                <a:ea typeface="华文楷体" panose="02010600040101010101" pitchFamily="2" charset="-122"/>
              </a:rPr>
              <a:t>金属材料</a:t>
            </a:r>
          </a:p>
        </p:txBody>
      </p:sp>
      <p:sp>
        <p:nvSpPr>
          <p:cNvPr id="30" name="AutoShape 17"/>
          <p:cNvSpPr>
            <a:spLocks noChangeArrowheads="1"/>
          </p:cNvSpPr>
          <p:nvPr/>
        </p:nvSpPr>
        <p:spPr bwMode="auto">
          <a:xfrm>
            <a:off x="1239838" y="1852613"/>
            <a:ext cx="762000" cy="1219200"/>
          </a:xfrm>
          <a:prstGeom prst="can">
            <a:avLst>
              <a:gd name="adj" fmla="val 29230"/>
            </a:avLst>
          </a:prstGeom>
          <a:gradFill rotWithShape="0">
            <a:gsLst>
              <a:gs pos="0">
                <a:srgbClr val="969696"/>
              </a:gs>
              <a:gs pos="100000">
                <a:srgbClr val="484848"/>
              </a:gs>
            </a:gsLst>
            <a:lin ang="0" scaled="1"/>
          </a:gra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31" name="Text Box 18"/>
          <p:cNvSpPr txBox="1">
            <a:spLocks noChangeArrowheads="1"/>
          </p:cNvSpPr>
          <p:nvPr/>
        </p:nvSpPr>
        <p:spPr bwMode="auto">
          <a:xfrm>
            <a:off x="2732088" y="1352550"/>
            <a:ext cx="194151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latin typeface="Times New Roman" panose="02020603050405020304" pitchFamily="18" charset="0"/>
                <a:ea typeface="华文楷体" panose="02010600040101010101" pitchFamily="2" charset="-122"/>
              </a:rPr>
              <a:t>非金属材料</a:t>
            </a:r>
          </a:p>
        </p:txBody>
      </p:sp>
      <p:sp>
        <p:nvSpPr>
          <p:cNvPr id="32" name="AutoShape 19"/>
          <p:cNvSpPr>
            <a:spLocks noChangeArrowheads="1"/>
          </p:cNvSpPr>
          <p:nvPr/>
        </p:nvSpPr>
        <p:spPr bwMode="auto">
          <a:xfrm>
            <a:off x="3089275" y="1874838"/>
            <a:ext cx="960438" cy="1143000"/>
          </a:xfrm>
          <a:prstGeom prst="cube">
            <a:avLst>
              <a:gd name="adj" fmla="val 25000"/>
            </a:avLst>
          </a:prstGeom>
          <a:gradFill rotWithShape="0">
            <a:gsLst>
              <a:gs pos="0">
                <a:srgbClr val="969696"/>
              </a:gs>
              <a:gs pos="100000">
                <a:srgbClr val="454545"/>
              </a:gs>
            </a:gsLst>
            <a:lin ang="0" scaled="1"/>
          </a:gra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33" name="Rectangle 20"/>
          <p:cNvSpPr>
            <a:spLocks noChangeArrowheads="1"/>
          </p:cNvSpPr>
          <p:nvPr/>
        </p:nvSpPr>
        <p:spPr bwMode="auto">
          <a:xfrm>
            <a:off x="495724" y="602524"/>
            <a:ext cx="4762854"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800" b="1" dirty="0">
                <a:solidFill>
                  <a:srgbClr val="FF0000"/>
                </a:solidFill>
                <a:latin typeface="黑体" panose="02010609060101010101" pitchFamily="49" charset="-122"/>
                <a:ea typeface="黑体" panose="02010609060101010101" pitchFamily="49" charset="-122"/>
              </a:rPr>
              <a:t>四</a:t>
            </a:r>
            <a:r>
              <a:rPr kumimoji="1" lang="zh-CN" altLang="en-US" sz="2800" b="1" dirty="0">
                <a:solidFill>
                  <a:srgbClr val="FF0000"/>
                </a:solidFill>
                <a:latin typeface="黑体" panose="02010609060101010101" pitchFamily="49" charset="-122"/>
                <a:ea typeface="黑体" panose="02010609060101010101" pitchFamily="49" charset="-122"/>
              </a:rPr>
              <a:t>、 低碳钢的压缩试验</a:t>
            </a:r>
          </a:p>
        </p:txBody>
      </p:sp>
      <p:graphicFrame>
        <p:nvGraphicFramePr>
          <p:cNvPr id="34" name="Object 34"/>
          <p:cNvGraphicFramePr>
            <a:graphicFrameLocks noChangeAspect="1"/>
          </p:cNvGraphicFramePr>
          <p:nvPr>
            <p:extLst>
              <p:ext uri="{D42A27DB-BD31-4B8C-83A1-F6EECF244321}">
                <p14:modId xmlns:p14="http://schemas.microsoft.com/office/powerpoint/2010/main" val="2305092347"/>
              </p:ext>
            </p:extLst>
          </p:nvPr>
        </p:nvGraphicFramePr>
        <p:xfrm>
          <a:off x="1721801" y="5790623"/>
          <a:ext cx="4675187" cy="528638"/>
        </p:xfrm>
        <a:graphic>
          <a:graphicData uri="http://schemas.openxmlformats.org/presentationml/2006/ole">
            <mc:AlternateContent xmlns:mc="http://schemas.openxmlformats.org/markup-compatibility/2006">
              <mc:Choice xmlns:v="urn:schemas-microsoft-com:vml" Requires="v">
                <p:oleObj name="Equation" r:id="rId3" imgW="2295540" imgH="228600" progId="Equation.DSMT4">
                  <p:embed/>
                </p:oleObj>
              </mc:Choice>
              <mc:Fallback>
                <p:oleObj name="Equation" r:id="rId3" imgW="2295540" imgH="2286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1801" y="5790623"/>
                        <a:ext cx="4675187"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160695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dissolve">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slide(fromTop)">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80934"/>
                                        </p:tgtEl>
                                        <p:attrNameLst>
                                          <p:attrName>style.visibility</p:attrName>
                                        </p:attrNameLst>
                                      </p:cBhvr>
                                      <p:to>
                                        <p:strVal val="visible"/>
                                      </p:to>
                                    </p:set>
                                    <p:animEffect transition="in" filter="box(out)">
                                      <p:cBhvr>
                                        <p:cTn id="17" dur="500"/>
                                        <p:tgtEl>
                                          <p:spTgt spid="8093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dissolve">
                                      <p:cBhvr>
                                        <p:cTn id="22" dur="5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1"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slide(fromTop)">
                                      <p:cBhvr>
                                        <p:cTn id="27" dur="5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box(out)">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blinds(horizontal)">
                                      <p:cBhvr>
                                        <p:cTn id="37" dur="500"/>
                                        <p:tgtEl>
                                          <p:spTgt spid="27"/>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blinds(horizontal)">
                                      <p:cBhvr>
                                        <p:cTn id="42" dur="500"/>
                                        <p:tgtEl>
                                          <p:spTgt spid="26"/>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blinds(horizontal)">
                                      <p:cBhvr>
                                        <p:cTn id="47" dur="500"/>
                                        <p:tgtEl>
                                          <p:spTgt spid="28"/>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8" fill="hold" nodeType="clickEffect">
                                  <p:stCondLst>
                                    <p:cond delay="0"/>
                                  </p:stCondLst>
                                  <p:childTnLst>
                                    <p:set>
                                      <p:cBhvr>
                                        <p:cTn id="51" dur="1" fill="hold">
                                          <p:stCondLst>
                                            <p:cond delay="0"/>
                                          </p:stCondLst>
                                        </p:cTn>
                                        <p:tgtEl>
                                          <p:spTgt spid="34"/>
                                        </p:tgtEl>
                                        <p:attrNameLst>
                                          <p:attrName>style.visibility</p:attrName>
                                        </p:attrNameLst>
                                      </p:cBhvr>
                                      <p:to>
                                        <p:strVal val="visible"/>
                                      </p:to>
                                    </p:set>
                                    <p:anim calcmode="lin" valueType="num">
                                      <p:cBhvr additive="base">
                                        <p:cTn id="52" dur="500" fill="hold"/>
                                        <p:tgtEl>
                                          <p:spTgt spid="34"/>
                                        </p:tgtEl>
                                        <p:attrNameLst>
                                          <p:attrName>ppt_x</p:attrName>
                                        </p:attrNameLst>
                                      </p:cBhvr>
                                      <p:tavLst>
                                        <p:tav tm="0">
                                          <p:val>
                                            <p:strVal val="0-#ppt_w/2"/>
                                          </p:val>
                                        </p:tav>
                                        <p:tav tm="100000">
                                          <p:val>
                                            <p:strVal val="#ppt_x"/>
                                          </p:val>
                                        </p:tav>
                                      </p:tavLst>
                                    </p:anim>
                                    <p:anim calcmode="lin" valueType="num">
                                      <p:cBhvr additive="base">
                                        <p:cTn id="53" dur="500" fill="hold"/>
                                        <p:tgtEl>
                                          <p:spTgt spid="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34" grpId="0" autoUpdateAnimBg="0"/>
      <p:bldP spid="26" grpId="0" autoUpdateAnimBg="0"/>
      <p:bldP spid="27" grpId="0" autoUpdateAnimBg="0"/>
      <p:bldP spid="28" grpId="0" autoUpdateAnimBg="0"/>
      <p:bldP spid="29" grpId="0" autoUpdateAnimBg="0"/>
      <p:bldP spid="30" grpId="0" animBg="1"/>
      <p:bldP spid="31" grpId="0" autoUpdateAnimBg="0"/>
      <p:bldP spid="3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1"/>
          <p:cNvSpPr>
            <a:spLocks noChangeArrowheads="1"/>
          </p:cNvSpPr>
          <p:nvPr/>
        </p:nvSpPr>
        <p:spPr bwMode="auto">
          <a:xfrm>
            <a:off x="588365" y="476672"/>
            <a:ext cx="4526210"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800" b="1" dirty="0">
                <a:solidFill>
                  <a:srgbClr val="FF0000"/>
                </a:solidFill>
                <a:latin typeface="黑体" panose="02010609060101010101" pitchFamily="49" charset="-122"/>
                <a:ea typeface="黑体" panose="02010609060101010101" pitchFamily="49" charset="-122"/>
              </a:rPr>
              <a:t>五、 灰铸铁的压缩试验</a:t>
            </a:r>
          </a:p>
        </p:txBody>
      </p:sp>
      <p:sp>
        <p:nvSpPr>
          <p:cNvPr id="7" name="Text Box 33"/>
          <p:cNvSpPr txBox="1">
            <a:spLocks noChangeArrowheads="1"/>
          </p:cNvSpPr>
          <p:nvPr/>
        </p:nvSpPr>
        <p:spPr bwMode="auto">
          <a:xfrm>
            <a:off x="5114575" y="561349"/>
            <a:ext cx="4570412" cy="5724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30000"/>
              </a:lnSpc>
            </a:pPr>
            <a:r>
              <a:rPr lang="en-US" altLang="zh-CN" b="1" dirty="0">
                <a:solidFill>
                  <a:srgbClr val="660066"/>
                </a:solidFill>
                <a:latin typeface="楷体" panose="02010609060101010101" pitchFamily="49" charset="-122"/>
                <a:ea typeface="楷体" panose="02010609060101010101" pitchFamily="49" charset="-122"/>
              </a:rPr>
              <a:t>1.</a:t>
            </a:r>
            <a:r>
              <a:rPr lang="zh-CN" altLang="en-US" b="1" dirty="0">
                <a:solidFill>
                  <a:srgbClr val="660066"/>
                </a:solidFill>
                <a:latin typeface="楷体" panose="02010609060101010101" pitchFamily="49" charset="-122"/>
                <a:ea typeface="楷体" panose="02010609060101010101" pitchFamily="49" charset="-122"/>
              </a:rPr>
              <a:t>无直线段，无屈服阶段；</a:t>
            </a:r>
          </a:p>
        </p:txBody>
      </p:sp>
      <p:sp>
        <p:nvSpPr>
          <p:cNvPr id="8" name="Text Box 35"/>
          <p:cNvSpPr txBox="1">
            <a:spLocks noChangeArrowheads="1"/>
          </p:cNvSpPr>
          <p:nvPr/>
        </p:nvSpPr>
        <p:spPr bwMode="auto">
          <a:xfrm>
            <a:off x="1043608" y="4479767"/>
            <a:ext cx="4824536"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b="1" dirty="0">
                <a:latin typeface="Times New Roman" panose="02020603050405020304" pitchFamily="18" charset="0"/>
                <a:ea typeface="华文楷体" panose="02010600040101010101" pitchFamily="2" charset="-122"/>
              </a:rPr>
              <a:t>理论分析破坏发生</a:t>
            </a:r>
            <a:r>
              <a:rPr kumimoji="1" lang="zh-CN" altLang="en-US" sz="2400" b="1" dirty="0">
                <a:latin typeface="Times New Roman" panose="02020603050405020304" pitchFamily="18" charset="0"/>
                <a:ea typeface="华文楷体" panose="02010600040101010101" pitchFamily="2" charset="-122"/>
              </a:rPr>
              <a:t>在与轴线成</a:t>
            </a:r>
            <a:r>
              <a:rPr kumimoji="1" lang="en-US" altLang="zh-CN" sz="2400" dirty="0">
                <a:latin typeface="Times New Roman" panose="02020603050405020304" pitchFamily="18" charset="0"/>
                <a:ea typeface="华文楷体" panose="02010600040101010101" pitchFamily="2" charset="-122"/>
              </a:rPr>
              <a:t>45</a:t>
            </a:r>
            <a:r>
              <a:rPr kumimoji="1" lang="en-US" altLang="zh-CN" sz="2400" b="1" dirty="0">
                <a:latin typeface="Times New Roman" panose="02020603050405020304" pitchFamily="18" charset="0"/>
                <a:ea typeface="华文楷体" panose="02010600040101010101" pitchFamily="2" charset="-122"/>
              </a:rPr>
              <a:t>°</a:t>
            </a:r>
            <a:r>
              <a:rPr kumimoji="1" lang="zh-CN" altLang="en-US" sz="2400" b="1" dirty="0">
                <a:latin typeface="Times New Roman" panose="02020603050405020304" pitchFamily="18" charset="0"/>
                <a:ea typeface="华文楷体" panose="02010600040101010101" pitchFamily="2" charset="-122"/>
              </a:rPr>
              <a:t>的斜面上，与最大切应力有关。</a:t>
            </a:r>
          </a:p>
        </p:txBody>
      </p:sp>
      <p:sp>
        <p:nvSpPr>
          <p:cNvPr id="10" name="Text Box 38"/>
          <p:cNvSpPr txBox="1">
            <a:spLocks noChangeArrowheads="1"/>
          </p:cNvSpPr>
          <p:nvPr/>
        </p:nvSpPr>
        <p:spPr bwMode="auto">
          <a:xfrm>
            <a:off x="540669" y="6041152"/>
            <a:ext cx="23907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solidFill>
                  <a:srgbClr val="C00000"/>
                </a:solidFill>
                <a:latin typeface="Times New Roman" panose="02020603050405020304" pitchFamily="18" charset="0"/>
                <a:ea typeface="华文楷体" panose="02010600040101010101" pitchFamily="2" charset="-122"/>
              </a:rPr>
              <a:t>铸铁的特点：</a:t>
            </a:r>
          </a:p>
        </p:txBody>
      </p:sp>
      <p:sp>
        <p:nvSpPr>
          <p:cNvPr id="11" name="Text Box 39"/>
          <p:cNvSpPr txBox="1">
            <a:spLocks noChangeArrowheads="1"/>
          </p:cNvSpPr>
          <p:nvPr/>
        </p:nvSpPr>
        <p:spPr bwMode="auto">
          <a:xfrm>
            <a:off x="2483768" y="6062441"/>
            <a:ext cx="58674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solidFill>
                  <a:srgbClr val="080808"/>
                </a:solidFill>
                <a:latin typeface="Times New Roman" panose="02020603050405020304" pitchFamily="18" charset="0"/>
                <a:ea typeface="华文楷体" panose="02010600040101010101" pitchFamily="2" charset="-122"/>
              </a:rPr>
              <a:t>抗压性能好；易浇铸；价格低廉。</a:t>
            </a:r>
          </a:p>
        </p:txBody>
      </p:sp>
      <p:pic>
        <p:nvPicPr>
          <p:cNvPr id="21" name="图片 20"/>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938563" y="4158255"/>
            <a:ext cx="1687434" cy="2132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2" name="Group 25"/>
          <p:cNvGrpSpPr>
            <a:grpSpLocks/>
          </p:cNvGrpSpPr>
          <p:nvPr/>
        </p:nvGrpSpPr>
        <p:grpSpPr bwMode="auto">
          <a:xfrm>
            <a:off x="788676" y="963053"/>
            <a:ext cx="3902867" cy="3531172"/>
            <a:chOff x="687" y="1522"/>
            <a:chExt cx="3310" cy="2430"/>
          </a:xfrm>
        </p:grpSpPr>
        <p:grpSp>
          <p:nvGrpSpPr>
            <p:cNvPr id="23" name="Group 13"/>
            <p:cNvGrpSpPr>
              <a:grpSpLocks/>
            </p:cNvGrpSpPr>
            <p:nvPr/>
          </p:nvGrpSpPr>
          <p:grpSpPr bwMode="auto">
            <a:xfrm>
              <a:off x="687" y="1522"/>
              <a:ext cx="3310" cy="2430"/>
              <a:chOff x="596" y="1557"/>
              <a:chExt cx="3168" cy="2244"/>
            </a:xfrm>
          </p:grpSpPr>
          <p:pic>
            <p:nvPicPr>
              <p:cNvPr id="25" name="Picture 11" descr="12-6b"/>
              <p:cNvPicPr>
                <a:picLocks noChangeAspect="1" noChangeArrowheads="1"/>
              </p:cNvPicPr>
              <p:nvPr/>
            </p:nvPicPr>
            <p:blipFill>
              <a:blip r:embed="rId3">
                <a:lum bright="-6000" contrast="18000"/>
                <a:extLst>
                  <a:ext uri="{28A0092B-C50C-407E-A947-70E740481C1C}">
                    <a14:useLocalDpi xmlns:a14="http://schemas.microsoft.com/office/drawing/2010/main" val="0"/>
                  </a:ext>
                </a:extLst>
              </a:blip>
              <a:srcRect l="2446" t="5498" r="3772" b="4391"/>
              <a:stretch>
                <a:fillRect/>
              </a:stretch>
            </p:blipFill>
            <p:spPr bwMode="auto">
              <a:xfrm>
                <a:off x="596" y="1557"/>
                <a:ext cx="3168" cy="2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Rectangle 12"/>
              <p:cNvSpPr>
                <a:spLocks noChangeArrowheads="1"/>
              </p:cNvSpPr>
              <p:nvPr/>
            </p:nvSpPr>
            <p:spPr bwMode="auto">
              <a:xfrm>
                <a:off x="1154" y="3600"/>
                <a:ext cx="307" cy="192"/>
              </a:xfrm>
              <a:prstGeom prst="rect">
                <a:avLst/>
              </a:prstGeom>
              <a:solidFill>
                <a:schemeClr val="bg1"/>
              </a:solidFill>
              <a:ln w="9525">
                <a:solidFill>
                  <a:schemeClr val="bg1"/>
                </a:solidFill>
                <a:miter lim="800000"/>
                <a:headEnd/>
                <a:tailEnd/>
              </a:ln>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endParaRPr lang="zh-CN" altLang="en-US"/>
              </a:p>
            </p:txBody>
          </p:sp>
        </p:grpSp>
        <p:sp>
          <p:nvSpPr>
            <p:cNvPr id="24" name="Freeform 17"/>
            <p:cNvSpPr>
              <a:spLocks/>
            </p:cNvSpPr>
            <p:nvPr/>
          </p:nvSpPr>
          <p:spPr bwMode="auto">
            <a:xfrm>
              <a:off x="1230" y="2994"/>
              <a:ext cx="114" cy="471"/>
            </a:xfrm>
            <a:custGeom>
              <a:avLst/>
              <a:gdLst>
                <a:gd name="T0" fmla="*/ 0 w 325"/>
                <a:gd name="T1" fmla="*/ 1 h 642"/>
                <a:gd name="T2" fmla="*/ 0 w 325"/>
                <a:gd name="T3" fmla="*/ 1 h 642"/>
                <a:gd name="T4" fmla="*/ 0 w 325"/>
                <a:gd name="T5" fmla="*/ 1 h 642"/>
                <a:gd name="T6" fmla="*/ 0 w 325"/>
                <a:gd name="T7" fmla="*/ 1 h 642"/>
                <a:gd name="T8" fmla="*/ 0 w 325"/>
                <a:gd name="T9" fmla="*/ 0 h 642"/>
                <a:gd name="T10" fmla="*/ 0 60000 65536"/>
                <a:gd name="T11" fmla="*/ 0 60000 65536"/>
                <a:gd name="T12" fmla="*/ 0 60000 65536"/>
                <a:gd name="T13" fmla="*/ 0 60000 65536"/>
                <a:gd name="T14" fmla="*/ 0 60000 65536"/>
                <a:gd name="T15" fmla="*/ 0 w 325"/>
                <a:gd name="T16" fmla="*/ 0 h 642"/>
                <a:gd name="T17" fmla="*/ 325 w 325"/>
                <a:gd name="T18" fmla="*/ 642 h 642"/>
              </a:gdLst>
              <a:ahLst/>
              <a:cxnLst>
                <a:cxn ang="T10">
                  <a:pos x="T0" y="T1"/>
                </a:cxn>
                <a:cxn ang="T11">
                  <a:pos x="T2" y="T3"/>
                </a:cxn>
                <a:cxn ang="T12">
                  <a:pos x="T4" y="T5"/>
                </a:cxn>
                <a:cxn ang="T13">
                  <a:pos x="T6" y="T7"/>
                </a:cxn>
                <a:cxn ang="T14">
                  <a:pos x="T8" y="T9"/>
                </a:cxn>
              </a:cxnLst>
              <a:rect l="T15" t="T16" r="T17" b="T18"/>
              <a:pathLst>
                <a:path w="325" h="642">
                  <a:moveTo>
                    <a:pt x="0" y="642"/>
                  </a:moveTo>
                  <a:cubicBezTo>
                    <a:pt x="18" y="586"/>
                    <a:pt x="37" y="530"/>
                    <a:pt x="59" y="475"/>
                  </a:cubicBezTo>
                  <a:cubicBezTo>
                    <a:pt x="81" y="420"/>
                    <a:pt x="106" y="367"/>
                    <a:pt x="133" y="311"/>
                  </a:cubicBezTo>
                  <a:cubicBezTo>
                    <a:pt x="160" y="255"/>
                    <a:pt x="192" y="189"/>
                    <a:pt x="224" y="137"/>
                  </a:cubicBezTo>
                  <a:cubicBezTo>
                    <a:pt x="256" y="85"/>
                    <a:pt x="290" y="42"/>
                    <a:pt x="325" y="0"/>
                  </a:cubicBezTo>
                </a:path>
              </a:pathLst>
            </a:cu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endParaRPr lang="zh-CN" altLang="en-US"/>
            </a:p>
          </p:txBody>
        </p:sp>
      </p:grpSp>
      <p:grpSp>
        <p:nvGrpSpPr>
          <p:cNvPr id="27" name="Group 28"/>
          <p:cNvGrpSpPr>
            <a:grpSpLocks/>
          </p:cNvGrpSpPr>
          <p:nvPr/>
        </p:nvGrpSpPr>
        <p:grpSpPr bwMode="auto">
          <a:xfrm>
            <a:off x="1428934" y="1360455"/>
            <a:ext cx="3568128" cy="2391040"/>
            <a:chOff x="1356" y="1669"/>
            <a:chExt cx="2686" cy="1800"/>
          </a:xfrm>
        </p:grpSpPr>
        <p:grpSp>
          <p:nvGrpSpPr>
            <p:cNvPr id="28" name="Group 26"/>
            <p:cNvGrpSpPr>
              <a:grpSpLocks/>
            </p:cNvGrpSpPr>
            <p:nvPr/>
          </p:nvGrpSpPr>
          <p:grpSpPr bwMode="auto">
            <a:xfrm>
              <a:off x="1356" y="2994"/>
              <a:ext cx="553" cy="475"/>
              <a:chOff x="1356" y="2994"/>
              <a:chExt cx="553" cy="475"/>
            </a:xfrm>
          </p:grpSpPr>
          <p:sp>
            <p:nvSpPr>
              <p:cNvPr id="34" name="Line 18"/>
              <p:cNvSpPr>
                <a:spLocks noChangeShapeType="1"/>
              </p:cNvSpPr>
              <p:nvPr/>
            </p:nvSpPr>
            <p:spPr bwMode="auto">
              <a:xfrm>
                <a:off x="1356" y="2997"/>
                <a:ext cx="384" cy="0"/>
              </a:xfrm>
              <a:prstGeom prst="line">
                <a:avLst/>
              </a:prstGeom>
              <a:noFill/>
              <a:ln w="9525">
                <a:solidFill>
                  <a:srgbClr val="4D804C"/>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5" name="Line 19"/>
              <p:cNvSpPr>
                <a:spLocks noChangeShapeType="1"/>
              </p:cNvSpPr>
              <p:nvPr/>
            </p:nvSpPr>
            <p:spPr bwMode="auto">
              <a:xfrm>
                <a:off x="1542" y="2994"/>
                <a:ext cx="0" cy="456"/>
              </a:xfrm>
              <a:prstGeom prst="line">
                <a:avLst/>
              </a:prstGeom>
              <a:noFill/>
              <a:ln w="3175">
                <a:solidFill>
                  <a:srgbClr val="008000"/>
                </a:solidFill>
                <a:miter lim="800000"/>
                <a:headEnd type="triangle" w="sm" len="med"/>
                <a:tailEnd type="triangle" w="sm" len="med"/>
              </a:ln>
              <a:extLst>
                <a:ext uri="{909E8E84-426E-40DD-AFC4-6F175D3DCCD1}">
                  <a14:hiddenFill xmlns:a14="http://schemas.microsoft.com/office/drawing/2010/main">
                    <a:noFill/>
                  </a14:hiddenFill>
                </a:ext>
              </a:extLst>
            </p:spPr>
            <p:txBody>
              <a:bodyPr wrap="none"/>
              <a:lstStyle/>
              <a:p>
                <a:endParaRPr lang="zh-CN" altLang="en-US"/>
              </a:p>
            </p:txBody>
          </p:sp>
          <p:sp>
            <p:nvSpPr>
              <p:cNvPr id="36" name="Text Box 20"/>
              <p:cNvSpPr txBox="1">
                <a:spLocks noChangeArrowheads="1"/>
              </p:cNvSpPr>
              <p:nvPr/>
            </p:nvSpPr>
            <p:spPr bwMode="auto">
              <a:xfrm>
                <a:off x="1590" y="3164"/>
                <a:ext cx="319" cy="3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18000" bIns="36000">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i="1" dirty="0">
                    <a:solidFill>
                      <a:srgbClr val="C00000"/>
                    </a:solidFill>
                    <a:latin typeface="Times New Roman" panose="02020603050405020304" pitchFamily="18" charset="0"/>
                    <a:sym typeface="Symbol" panose="05050102010706020507" pitchFamily="18" charset="2"/>
                  </a:rPr>
                  <a:t></a:t>
                </a:r>
                <a:r>
                  <a:rPr lang="en-US" altLang="zh-CN" i="1" baseline="-25000" dirty="0">
                    <a:solidFill>
                      <a:srgbClr val="C00000"/>
                    </a:solidFill>
                    <a:latin typeface="Times New Roman" panose="02020603050405020304" pitchFamily="18" charset="0"/>
                    <a:sym typeface="Symbol" panose="05050102010706020507" pitchFamily="18" charset="2"/>
                  </a:rPr>
                  <a:t>b</a:t>
                </a:r>
                <a:r>
                  <a:rPr lang="en-US" altLang="zh-CN" baseline="30000" dirty="0">
                    <a:solidFill>
                      <a:srgbClr val="C00000"/>
                    </a:solidFill>
                    <a:latin typeface="Times New Roman" panose="02020603050405020304" pitchFamily="18" charset="0"/>
                    <a:sym typeface="Symbol" panose="05050102010706020507" pitchFamily="18" charset="2"/>
                  </a:rPr>
                  <a:t>+</a:t>
                </a:r>
                <a:endParaRPr lang="en-US" altLang="zh-CN" baseline="30000" dirty="0">
                  <a:solidFill>
                    <a:srgbClr val="C00000"/>
                  </a:solidFill>
                  <a:latin typeface="Times New Roman" panose="02020603050405020304" pitchFamily="18" charset="0"/>
                </a:endParaRPr>
              </a:p>
            </p:txBody>
          </p:sp>
        </p:grpSp>
        <p:grpSp>
          <p:nvGrpSpPr>
            <p:cNvPr id="29" name="Group 27"/>
            <p:cNvGrpSpPr>
              <a:grpSpLocks/>
            </p:cNvGrpSpPr>
            <p:nvPr/>
          </p:nvGrpSpPr>
          <p:grpSpPr bwMode="auto">
            <a:xfrm>
              <a:off x="3644" y="1669"/>
              <a:ext cx="398" cy="1790"/>
              <a:chOff x="3644" y="1669"/>
              <a:chExt cx="398" cy="1790"/>
            </a:xfrm>
          </p:grpSpPr>
          <p:sp>
            <p:nvSpPr>
              <p:cNvPr id="30" name="Line 21"/>
              <p:cNvSpPr>
                <a:spLocks noChangeShapeType="1"/>
              </p:cNvSpPr>
              <p:nvPr/>
            </p:nvSpPr>
            <p:spPr bwMode="auto">
              <a:xfrm flipV="1">
                <a:off x="3644" y="1669"/>
                <a:ext cx="394" cy="9"/>
              </a:xfrm>
              <a:prstGeom prst="line">
                <a:avLst/>
              </a:prstGeom>
              <a:noFill/>
              <a:ln w="9525">
                <a:solidFill>
                  <a:srgbClr val="4D804C"/>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1" name="Line 22"/>
              <p:cNvSpPr>
                <a:spLocks noChangeShapeType="1"/>
              </p:cNvSpPr>
              <p:nvPr/>
            </p:nvSpPr>
            <p:spPr bwMode="auto">
              <a:xfrm>
                <a:off x="3826" y="1693"/>
                <a:ext cx="0" cy="1762"/>
              </a:xfrm>
              <a:prstGeom prst="line">
                <a:avLst/>
              </a:prstGeom>
              <a:noFill/>
              <a:ln w="3175">
                <a:solidFill>
                  <a:srgbClr val="008000"/>
                </a:solidFill>
                <a:miter lim="800000"/>
                <a:headEnd type="triangle" w="sm" len="med"/>
                <a:tailEnd type="triangle" w="sm" len="med"/>
              </a:ln>
              <a:extLst>
                <a:ext uri="{909E8E84-426E-40DD-AFC4-6F175D3DCCD1}">
                  <a14:hiddenFill xmlns:a14="http://schemas.microsoft.com/office/drawing/2010/main">
                    <a:noFill/>
                  </a14:hiddenFill>
                </a:ext>
              </a:extLst>
            </p:spPr>
            <p:txBody>
              <a:bodyPr wrap="none"/>
              <a:lstStyle/>
              <a:p>
                <a:endParaRPr lang="zh-CN" altLang="en-US"/>
              </a:p>
            </p:txBody>
          </p:sp>
          <p:sp>
            <p:nvSpPr>
              <p:cNvPr id="32" name="Text Box 23"/>
              <p:cNvSpPr txBox="1">
                <a:spLocks noChangeArrowheads="1"/>
              </p:cNvSpPr>
              <p:nvPr/>
            </p:nvSpPr>
            <p:spPr bwMode="auto">
              <a:xfrm>
                <a:off x="3722" y="2422"/>
                <a:ext cx="320" cy="3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18000" bIns="36000">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i="1" dirty="0">
                    <a:solidFill>
                      <a:srgbClr val="C00000"/>
                    </a:solidFill>
                    <a:latin typeface="Times New Roman" panose="02020603050405020304" pitchFamily="18" charset="0"/>
                    <a:sym typeface="Symbol" panose="05050102010706020507" pitchFamily="18" charset="2"/>
                  </a:rPr>
                  <a:t></a:t>
                </a:r>
                <a:r>
                  <a:rPr lang="en-US" altLang="zh-CN" i="1" baseline="-25000" dirty="0">
                    <a:solidFill>
                      <a:srgbClr val="C00000"/>
                    </a:solidFill>
                    <a:latin typeface="Times New Roman" panose="02020603050405020304" pitchFamily="18" charset="0"/>
                    <a:sym typeface="Symbol" panose="05050102010706020507" pitchFamily="18" charset="2"/>
                  </a:rPr>
                  <a:t>b </a:t>
                </a:r>
                <a:r>
                  <a:rPr lang="en-US" altLang="zh-CN" baseline="30000" dirty="0">
                    <a:solidFill>
                      <a:srgbClr val="C00000"/>
                    </a:solidFill>
                    <a:latin typeface="Times New Roman" panose="02020603050405020304" pitchFamily="18" charset="0"/>
                    <a:sym typeface="Symbol" panose="05050102010706020507" pitchFamily="18" charset="2"/>
                  </a:rPr>
                  <a:t>̶</a:t>
                </a:r>
                <a:endParaRPr lang="en-US" altLang="zh-CN" baseline="30000" dirty="0">
                  <a:solidFill>
                    <a:srgbClr val="C00000"/>
                  </a:solidFill>
                  <a:latin typeface="Times New Roman" panose="02020603050405020304" pitchFamily="18" charset="0"/>
                </a:endParaRPr>
              </a:p>
            </p:txBody>
          </p:sp>
          <p:sp>
            <p:nvSpPr>
              <p:cNvPr id="33" name="Line 24"/>
              <p:cNvSpPr>
                <a:spLocks noChangeShapeType="1"/>
              </p:cNvSpPr>
              <p:nvPr/>
            </p:nvSpPr>
            <p:spPr bwMode="auto">
              <a:xfrm>
                <a:off x="3654" y="3459"/>
                <a:ext cx="384" cy="0"/>
              </a:xfrm>
              <a:prstGeom prst="line">
                <a:avLst/>
              </a:prstGeom>
              <a:noFill/>
              <a:ln w="9525">
                <a:solidFill>
                  <a:srgbClr val="4D804C"/>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37" name="Text Box 10"/>
          <p:cNvSpPr txBox="1">
            <a:spLocks noChangeArrowheads="1"/>
          </p:cNvSpPr>
          <p:nvPr/>
        </p:nvSpPr>
        <p:spPr bwMode="auto">
          <a:xfrm>
            <a:off x="5148761" y="1059604"/>
            <a:ext cx="331236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dirty="0">
                <a:solidFill>
                  <a:srgbClr val="660066"/>
                </a:solidFill>
                <a:latin typeface="楷体_GB2312" pitchFamily="49" charset="-122"/>
                <a:ea typeface="楷体_GB2312" pitchFamily="49" charset="-122"/>
              </a:rPr>
              <a:t>2.</a:t>
            </a:r>
            <a:r>
              <a:rPr lang="zh-CN" altLang="en-US" dirty="0">
                <a:solidFill>
                  <a:srgbClr val="660066"/>
                </a:solidFill>
                <a:latin typeface="楷体" panose="02010609060101010101" pitchFamily="49" charset="-122"/>
                <a:ea typeface="楷体" panose="02010609060101010101" pitchFamily="49" charset="-122"/>
              </a:rPr>
              <a:t>压缩时的延伸率</a:t>
            </a:r>
            <a:r>
              <a:rPr lang="zh-CN" altLang="en-US" i="1" dirty="0">
                <a:solidFill>
                  <a:srgbClr val="660066"/>
                </a:solidFill>
                <a:latin typeface="楷体" panose="02010609060101010101" pitchFamily="49" charset="-122"/>
                <a:ea typeface="楷体" panose="02010609060101010101" pitchFamily="49" charset="-122"/>
                <a:sym typeface="Symbol" panose="05050102010706020507" pitchFamily="18" charset="2"/>
              </a:rPr>
              <a:t></a:t>
            </a:r>
            <a:r>
              <a:rPr lang="zh-CN" altLang="en-US" dirty="0">
                <a:solidFill>
                  <a:srgbClr val="660066"/>
                </a:solidFill>
                <a:latin typeface="楷体" panose="02010609060101010101" pitchFamily="49" charset="-122"/>
                <a:ea typeface="楷体" panose="02010609060101010101" pitchFamily="49" charset="-122"/>
              </a:rPr>
              <a:t> 要比拉伸时的大；</a:t>
            </a:r>
          </a:p>
        </p:txBody>
      </p:sp>
      <p:sp>
        <p:nvSpPr>
          <p:cNvPr id="38" name="Text Box 33"/>
          <p:cNvSpPr txBox="1">
            <a:spLocks noChangeArrowheads="1"/>
          </p:cNvSpPr>
          <p:nvPr/>
        </p:nvSpPr>
        <p:spPr bwMode="auto">
          <a:xfrm>
            <a:off x="5148761" y="1939058"/>
            <a:ext cx="347723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dirty="0">
                <a:solidFill>
                  <a:srgbClr val="660066"/>
                </a:solidFill>
                <a:latin typeface="楷体_GB2312" pitchFamily="49" charset="-122"/>
                <a:ea typeface="楷体_GB2312" pitchFamily="49" charset="-122"/>
              </a:rPr>
              <a:t>3.</a:t>
            </a:r>
            <a:r>
              <a:rPr lang="zh-CN" altLang="en-US" dirty="0">
                <a:solidFill>
                  <a:srgbClr val="660066"/>
                </a:solidFill>
                <a:latin typeface="楷体" panose="02010609060101010101" pitchFamily="49" charset="-122"/>
                <a:ea typeface="楷体" panose="02010609060101010101" pitchFamily="49" charset="-122"/>
              </a:rPr>
              <a:t>压缩时的强度极限</a:t>
            </a:r>
            <a:r>
              <a:rPr lang="zh-CN" altLang="en-US" i="1" dirty="0">
                <a:solidFill>
                  <a:srgbClr val="660066"/>
                </a:solidFill>
                <a:latin typeface="+mj-lt"/>
                <a:ea typeface="楷体" panose="02010609060101010101" pitchFamily="49" charset="-122"/>
                <a:sym typeface="Symbol" panose="05050102010706020507" pitchFamily="18" charset="2"/>
              </a:rPr>
              <a:t></a:t>
            </a:r>
            <a:r>
              <a:rPr lang="en-US" altLang="zh-CN" i="1" baseline="-25000" dirty="0">
                <a:solidFill>
                  <a:srgbClr val="660066"/>
                </a:solidFill>
                <a:latin typeface="+mj-lt"/>
                <a:ea typeface="楷体" panose="02010609060101010101" pitchFamily="49" charset="-122"/>
              </a:rPr>
              <a:t>b</a:t>
            </a:r>
            <a:r>
              <a:rPr lang="zh-CN" altLang="en-US" dirty="0">
                <a:solidFill>
                  <a:srgbClr val="660066"/>
                </a:solidFill>
                <a:latin typeface="楷体" panose="02010609060101010101" pitchFamily="49" charset="-122"/>
                <a:ea typeface="楷体" panose="02010609060101010101" pitchFamily="49" charset="-122"/>
              </a:rPr>
              <a:t>约为拉伸时的</a:t>
            </a:r>
            <a:r>
              <a:rPr lang="en-US" altLang="zh-CN" dirty="0">
                <a:solidFill>
                  <a:srgbClr val="660066"/>
                </a:solidFill>
                <a:latin typeface="楷体" panose="02010609060101010101" pitchFamily="49" charset="-122"/>
                <a:ea typeface="楷体" panose="02010609060101010101" pitchFamily="49" charset="-122"/>
              </a:rPr>
              <a:t>3</a:t>
            </a:r>
            <a:r>
              <a:rPr lang="zh-CN" altLang="en-US" dirty="0">
                <a:solidFill>
                  <a:srgbClr val="660066"/>
                </a:solidFill>
                <a:latin typeface="楷体" panose="02010609060101010101" pitchFamily="49" charset="-122"/>
                <a:ea typeface="楷体" panose="02010609060101010101" pitchFamily="49" charset="-122"/>
              </a:rPr>
              <a:t>～</a:t>
            </a:r>
            <a:r>
              <a:rPr lang="en-US" altLang="zh-CN" dirty="0">
                <a:solidFill>
                  <a:srgbClr val="660066"/>
                </a:solidFill>
                <a:latin typeface="楷体" panose="02010609060101010101" pitchFamily="49" charset="-122"/>
                <a:ea typeface="楷体" panose="02010609060101010101" pitchFamily="49" charset="-122"/>
              </a:rPr>
              <a:t>5</a:t>
            </a:r>
            <a:r>
              <a:rPr lang="zh-CN" altLang="en-US" dirty="0">
                <a:solidFill>
                  <a:srgbClr val="660066"/>
                </a:solidFill>
                <a:latin typeface="楷体" panose="02010609060101010101" pitchFamily="49" charset="-122"/>
                <a:ea typeface="楷体" panose="02010609060101010101" pitchFamily="49" charset="-122"/>
              </a:rPr>
              <a:t>倍；</a:t>
            </a:r>
          </a:p>
        </p:txBody>
      </p:sp>
      <p:sp>
        <p:nvSpPr>
          <p:cNvPr id="39" name="Text Box 34"/>
          <p:cNvSpPr txBox="1">
            <a:spLocks noChangeArrowheads="1"/>
          </p:cNvSpPr>
          <p:nvPr/>
        </p:nvSpPr>
        <p:spPr bwMode="auto">
          <a:xfrm>
            <a:off x="5148761" y="3200291"/>
            <a:ext cx="359176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dirty="0">
                <a:solidFill>
                  <a:srgbClr val="660066"/>
                </a:solidFill>
                <a:latin typeface="楷体_GB2312" pitchFamily="49" charset="-122"/>
                <a:ea typeface="楷体_GB2312" pitchFamily="49" charset="-122"/>
              </a:rPr>
              <a:t>4.</a:t>
            </a:r>
            <a:r>
              <a:rPr lang="zh-CN" altLang="en-US" dirty="0">
                <a:solidFill>
                  <a:srgbClr val="660066"/>
                </a:solidFill>
                <a:latin typeface="楷体" panose="02010609060101010101" pitchFamily="49" charset="-122"/>
                <a:ea typeface="楷体" panose="02010609060101010101" pitchFamily="49" charset="-122"/>
              </a:rPr>
              <a:t>破坏时成鼓形，断口与轴线约略成</a:t>
            </a:r>
            <a:r>
              <a:rPr lang="en-US" altLang="zh-CN" dirty="0">
                <a:solidFill>
                  <a:srgbClr val="660066"/>
                </a:solidFill>
                <a:latin typeface="+mj-lt"/>
                <a:ea typeface="楷体" panose="02010609060101010101" pitchFamily="49" charset="-122"/>
              </a:rPr>
              <a:t>45~55</a:t>
            </a:r>
            <a:r>
              <a:rPr lang="en-US" altLang="zh-CN" dirty="0">
                <a:solidFill>
                  <a:srgbClr val="660066"/>
                </a:solidFill>
                <a:latin typeface="楷体" panose="02010609060101010101" pitchFamily="49" charset="-122"/>
                <a:ea typeface="楷体" panose="02010609060101010101" pitchFamily="49" charset="-122"/>
                <a:sym typeface="Symbol" panose="05050102010706020507" pitchFamily="18" charset="2"/>
              </a:rPr>
              <a:t></a:t>
            </a:r>
            <a:r>
              <a:rPr lang="zh-CN" altLang="en-US" dirty="0">
                <a:solidFill>
                  <a:srgbClr val="660066"/>
                </a:solidFill>
                <a:latin typeface="楷体" panose="02010609060101010101" pitchFamily="49" charset="-122"/>
                <a:ea typeface="楷体" panose="02010609060101010101" pitchFamily="49" charset="-122"/>
              </a:rPr>
              <a:t>角。 </a:t>
            </a:r>
          </a:p>
        </p:txBody>
      </p:sp>
      <p:graphicFrame>
        <p:nvGraphicFramePr>
          <p:cNvPr id="41" name="Object 36"/>
          <p:cNvGraphicFramePr>
            <a:graphicFrameLocks/>
          </p:cNvGraphicFramePr>
          <p:nvPr>
            <p:extLst>
              <p:ext uri="{D42A27DB-BD31-4B8C-83A1-F6EECF244321}">
                <p14:modId xmlns:p14="http://schemas.microsoft.com/office/powerpoint/2010/main" val="1367025657"/>
              </p:ext>
            </p:extLst>
          </p:nvPr>
        </p:nvGraphicFramePr>
        <p:xfrm>
          <a:off x="5722339" y="2666646"/>
          <a:ext cx="1871662" cy="565150"/>
        </p:xfrm>
        <a:graphic>
          <a:graphicData uri="http://schemas.openxmlformats.org/presentationml/2006/ole">
            <mc:AlternateContent xmlns:mc="http://schemas.openxmlformats.org/markup-compatibility/2006">
              <mc:Choice xmlns:v="urn:schemas-microsoft-com:vml" Requires="v">
                <p:oleObj name="Equation" r:id="rId4" imgW="939600" imgH="241200" progId="Equation.DSMT4">
                  <p:embed/>
                </p:oleObj>
              </mc:Choice>
              <mc:Fallback>
                <p:oleObj name="Equation" r:id="rId4" imgW="939600" imgH="241200" progId="Equation.DSMT4">
                  <p:embed/>
                  <p:pic>
                    <p:nvPicPr>
                      <p:cNvPr id="0" name=""/>
                      <p:cNvPicPr>
                        <a:picLocks noChangeArrowheads="1"/>
                      </p:cNvPicPr>
                      <p:nvPr/>
                    </p:nvPicPr>
                    <p:blipFill>
                      <a:blip r:embed="rId5"/>
                      <a:srcRect/>
                      <a:stretch>
                        <a:fillRect/>
                      </a:stretch>
                    </p:blipFill>
                    <p:spPr bwMode="auto">
                      <a:xfrm>
                        <a:off x="5722339" y="2666646"/>
                        <a:ext cx="1871662" cy="56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2" name="Text Box 35"/>
          <p:cNvSpPr txBox="1">
            <a:spLocks noChangeArrowheads="1"/>
          </p:cNvSpPr>
          <p:nvPr/>
        </p:nvSpPr>
        <p:spPr bwMode="auto">
          <a:xfrm>
            <a:off x="615882" y="5270270"/>
            <a:ext cx="6143875"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dirty="0">
                <a:latin typeface="Times New Roman" panose="02020603050405020304" pitchFamily="18" charset="0"/>
                <a:ea typeface="华文楷体" panose="02010600040101010101" pitchFamily="2" charset="-122"/>
              </a:rPr>
              <a:t>真实破坏为什么却发生</a:t>
            </a:r>
            <a:r>
              <a:rPr kumimoji="1" lang="zh-CN" altLang="en-US" sz="2000" b="1" dirty="0">
                <a:latin typeface="Times New Roman" panose="02020603050405020304" pitchFamily="18" charset="0"/>
                <a:ea typeface="华文楷体" panose="02010600040101010101" pitchFamily="2" charset="-122"/>
              </a:rPr>
              <a:t>在与轴线成</a:t>
            </a:r>
            <a:r>
              <a:rPr lang="en-US" altLang="zh-CN" sz="2000" dirty="0">
                <a:latin typeface="+mn-lt"/>
                <a:ea typeface="楷体" panose="02010609060101010101" pitchFamily="49" charset="-122"/>
              </a:rPr>
              <a:t>45~55</a:t>
            </a:r>
            <a:r>
              <a:rPr lang="en-US" altLang="zh-CN" sz="2000" dirty="0">
                <a:latin typeface="+mn-lt"/>
                <a:ea typeface="楷体" panose="02010609060101010101" pitchFamily="49" charset="-122"/>
                <a:sym typeface="Symbol" panose="05050102010706020507" pitchFamily="18" charset="2"/>
              </a:rPr>
              <a:t></a:t>
            </a:r>
            <a:r>
              <a:rPr kumimoji="1" lang="zh-CN" altLang="en-US" sz="2000" b="1" dirty="0">
                <a:latin typeface="Times New Roman" panose="02020603050405020304" pitchFamily="18" charset="0"/>
                <a:ea typeface="华文楷体" panose="02010600040101010101" pitchFamily="2" charset="-122"/>
              </a:rPr>
              <a:t>的斜面上？</a:t>
            </a:r>
          </a:p>
        </p:txBody>
      </p:sp>
      <p:sp>
        <p:nvSpPr>
          <p:cNvPr id="43" name="Text Box 35"/>
          <p:cNvSpPr txBox="1">
            <a:spLocks noChangeArrowheads="1"/>
          </p:cNvSpPr>
          <p:nvPr/>
        </p:nvSpPr>
        <p:spPr bwMode="auto">
          <a:xfrm>
            <a:off x="711516" y="5670910"/>
            <a:ext cx="6143875"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dirty="0">
                <a:latin typeface="Times New Roman" panose="02020603050405020304" pitchFamily="18" charset="0"/>
                <a:ea typeface="华文楷体" panose="02010600040101010101" pitchFamily="2" charset="-122"/>
              </a:rPr>
              <a:t>1.</a:t>
            </a:r>
            <a:r>
              <a:rPr lang="zh-CN" altLang="en-US" sz="2000" b="1" dirty="0">
                <a:latin typeface="Times New Roman" panose="02020603050405020304" pitchFamily="18" charset="0"/>
                <a:ea typeface="华文楷体" panose="02010600040101010101" pitchFamily="2" charset="-122"/>
              </a:rPr>
              <a:t>端部摩擦导致非自由变形。</a:t>
            </a:r>
            <a:r>
              <a:rPr lang="en-US" altLang="zh-CN" sz="2000" b="1" dirty="0">
                <a:latin typeface="Times New Roman" panose="02020603050405020304" pitchFamily="18" charset="0"/>
                <a:ea typeface="华文楷体" panose="02010600040101010101" pitchFamily="2" charset="-122"/>
              </a:rPr>
              <a:t>2.</a:t>
            </a:r>
            <a:r>
              <a:rPr lang="zh-CN" altLang="en-US" sz="2000" b="1" dirty="0">
                <a:latin typeface="Times New Roman" panose="02020603050405020304" pitchFamily="18" charset="0"/>
                <a:ea typeface="华文楷体" panose="02010600040101010101" pitchFamily="2" charset="-122"/>
              </a:rPr>
              <a:t>圣维南原理。</a:t>
            </a:r>
            <a:endParaRPr kumimoji="1" lang="zh-CN" altLang="en-US" sz="2000" b="1" dirty="0">
              <a:latin typeface="Times New Roman" panose="02020603050405020304" pitchFamily="18" charset="0"/>
              <a:ea typeface="华文楷体" panose="02010600040101010101" pitchFamily="2" charset="-122"/>
            </a:endParaRPr>
          </a:p>
        </p:txBody>
      </p:sp>
    </p:spTree>
    <p:extLst>
      <p:ext uri="{BB962C8B-B14F-4D97-AF65-F5344CB8AC3E}">
        <p14:creationId xmlns:p14="http://schemas.microsoft.com/office/powerpoint/2010/main" val="4133606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ox(out)">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499"/>
                                          </p:stCondLst>
                                        </p:cTn>
                                        <p:tgtEl>
                                          <p:spTgt spid="2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37"/>
                                        </p:tgtEl>
                                        <p:attrNameLst>
                                          <p:attrName>style.visibility</p:attrName>
                                        </p:attrNameLst>
                                      </p:cBhvr>
                                      <p:to>
                                        <p:strVal val="visible"/>
                                      </p:to>
                                    </p:set>
                                    <p:animEffect transition="in" filter="blinds(horizontal)">
                                      <p:cBhvr>
                                        <p:cTn id="21" dur="500"/>
                                        <p:tgtEl>
                                          <p:spTgt spid="37"/>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38"/>
                                        </p:tgtEl>
                                        <p:attrNameLst>
                                          <p:attrName>style.visibility</p:attrName>
                                        </p:attrNameLst>
                                      </p:cBhvr>
                                      <p:to>
                                        <p:strVal val="visible"/>
                                      </p:to>
                                    </p:set>
                                    <p:animEffect transition="in" filter="blinds(horizontal)">
                                      <p:cBhvr>
                                        <p:cTn id="26" dur="500"/>
                                        <p:tgtEl>
                                          <p:spTgt spid="38"/>
                                        </p:tgtEl>
                                      </p:cBhvr>
                                    </p:animEffect>
                                  </p:childTnLst>
                                </p:cTn>
                              </p:par>
                              <p:par>
                                <p:cTn id="27" presetID="22" presetClass="entr" presetSubtype="8" fill="hold" nodeType="withEffect">
                                  <p:stCondLst>
                                    <p:cond delay="0"/>
                                  </p:stCondLst>
                                  <p:childTnLst>
                                    <p:set>
                                      <p:cBhvr>
                                        <p:cTn id="28" dur="1" fill="hold">
                                          <p:stCondLst>
                                            <p:cond delay="0"/>
                                          </p:stCondLst>
                                        </p:cTn>
                                        <p:tgtEl>
                                          <p:spTgt spid="41"/>
                                        </p:tgtEl>
                                        <p:attrNameLst>
                                          <p:attrName>style.visibility</p:attrName>
                                        </p:attrNameLst>
                                      </p:cBhvr>
                                      <p:to>
                                        <p:strVal val="visible"/>
                                      </p:to>
                                    </p:set>
                                    <p:animEffect transition="in" filter="wipe(left)">
                                      <p:cBhvr>
                                        <p:cTn id="29" dur="500"/>
                                        <p:tgtEl>
                                          <p:spTgt spid="41"/>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39"/>
                                        </p:tgtEl>
                                        <p:attrNameLst>
                                          <p:attrName>style.visibility</p:attrName>
                                        </p:attrNameLst>
                                      </p:cBhvr>
                                      <p:to>
                                        <p:strVal val="visible"/>
                                      </p:to>
                                    </p:set>
                                    <p:animEffect transition="in" filter="blinds(horizontal)">
                                      <p:cBhvr>
                                        <p:cTn id="34" dur="500"/>
                                        <p:tgtEl>
                                          <p:spTgt spid="39"/>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37" fill="hold" nodeType="click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barn(outVertical)">
                                      <p:cBhvr>
                                        <p:cTn id="39" dur="500"/>
                                        <p:tgtEl>
                                          <p:spTgt spid="21"/>
                                        </p:tgtEl>
                                      </p:cBhvr>
                                    </p:animEffect>
                                  </p:childTnLst>
                                </p:cTn>
                              </p:par>
                            </p:childTnLst>
                          </p:cTn>
                        </p:par>
                      </p:childTnLst>
                    </p:cTn>
                  </p:par>
                  <p:par>
                    <p:cTn id="40" fill="hold">
                      <p:stCondLst>
                        <p:cond delay="indefinite"/>
                      </p:stCondLst>
                      <p:childTnLst>
                        <p:par>
                          <p:cTn id="41" fill="hold">
                            <p:stCondLst>
                              <p:cond delay="0"/>
                            </p:stCondLst>
                            <p:childTnLst>
                              <p:par>
                                <p:cTn id="42" presetID="17" presetClass="entr" presetSubtype="8" fill="hold" grpId="0" nodeType="clickEffect">
                                  <p:stCondLst>
                                    <p:cond delay="0"/>
                                  </p:stCondLst>
                                  <p:childTnLst>
                                    <p:set>
                                      <p:cBhvr>
                                        <p:cTn id="43" dur="1" fill="hold">
                                          <p:stCondLst>
                                            <p:cond delay="0"/>
                                          </p:stCondLst>
                                        </p:cTn>
                                        <p:tgtEl>
                                          <p:spTgt spid="8"/>
                                        </p:tgtEl>
                                        <p:attrNameLst>
                                          <p:attrName>style.visibility</p:attrName>
                                        </p:attrNameLst>
                                      </p:cBhvr>
                                      <p:to>
                                        <p:strVal val="visible"/>
                                      </p:to>
                                    </p:set>
                                    <p:anim calcmode="lin" valueType="num">
                                      <p:cBhvr>
                                        <p:cTn id="44" dur="500" fill="hold"/>
                                        <p:tgtEl>
                                          <p:spTgt spid="8"/>
                                        </p:tgtEl>
                                        <p:attrNameLst>
                                          <p:attrName>ppt_x</p:attrName>
                                        </p:attrNameLst>
                                      </p:cBhvr>
                                      <p:tavLst>
                                        <p:tav tm="0">
                                          <p:val>
                                            <p:strVal val="#ppt_x-#ppt_w/2"/>
                                          </p:val>
                                        </p:tav>
                                        <p:tav tm="100000">
                                          <p:val>
                                            <p:strVal val="#ppt_x"/>
                                          </p:val>
                                        </p:tav>
                                      </p:tavLst>
                                    </p:anim>
                                    <p:anim calcmode="lin" valueType="num">
                                      <p:cBhvr>
                                        <p:cTn id="45" dur="500" fill="hold"/>
                                        <p:tgtEl>
                                          <p:spTgt spid="8"/>
                                        </p:tgtEl>
                                        <p:attrNameLst>
                                          <p:attrName>ppt_y</p:attrName>
                                        </p:attrNameLst>
                                      </p:cBhvr>
                                      <p:tavLst>
                                        <p:tav tm="0">
                                          <p:val>
                                            <p:strVal val="#ppt_y"/>
                                          </p:val>
                                        </p:tav>
                                        <p:tav tm="100000">
                                          <p:val>
                                            <p:strVal val="#ppt_y"/>
                                          </p:val>
                                        </p:tav>
                                      </p:tavLst>
                                    </p:anim>
                                    <p:anim calcmode="lin" valueType="num">
                                      <p:cBhvr>
                                        <p:cTn id="46" dur="500" fill="hold"/>
                                        <p:tgtEl>
                                          <p:spTgt spid="8"/>
                                        </p:tgtEl>
                                        <p:attrNameLst>
                                          <p:attrName>ppt_w</p:attrName>
                                        </p:attrNameLst>
                                      </p:cBhvr>
                                      <p:tavLst>
                                        <p:tav tm="0">
                                          <p:val>
                                            <p:fltVal val="0"/>
                                          </p:val>
                                        </p:tav>
                                        <p:tav tm="100000">
                                          <p:val>
                                            <p:strVal val="#ppt_w"/>
                                          </p:val>
                                        </p:tav>
                                      </p:tavLst>
                                    </p:anim>
                                    <p:anim calcmode="lin" valueType="num">
                                      <p:cBhvr>
                                        <p:cTn id="47" dur="500" fill="hold"/>
                                        <p:tgtEl>
                                          <p:spTgt spid="8"/>
                                        </p:tgtEl>
                                        <p:attrNameLst>
                                          <p:attrName>ppt_h</p:attrName>
                                        </p:attrNameLst>
                                      </p:cBhvr>
                                      <p:tavLst>
                                        <p:tav tm="0">
                                          <p:val>
                                            <p:strVal val="#ppt_h"/>
                                          </p:val>
                                        </p:tav>
                                        <p:tav tm="100000">
                                          <p:val>
                                            <p:strVal val="#ppt_h"/>
                                          </p:val>
                                        </p:tav>
                                      </p:tavLst>
                                    </p:anim>
                                  </p:childTnLst>
                                </p:cTn>
                              </p:par>
                            </p:childTnLst>
                          </p:cTn>
                        </p:par>
                      </p:childTnLst>
                    </p:cTn>
                  </p:par>
                  <p:par>
                    <p:cTn id="48" fill="hold">
                      <p:stCondLst>
                        <p:cond delay="indefinite"/>
                      </p:stCondLst>
                      <p:childTnLst>
                        <p:par>
                          <p:cTn id="49" fill="hold">
                            <p:stCondLst>
                              <p:cond delay="0"/>
                            </p:stCondLst>
                            <p:childTnLst>
                              <p:par>
                                <p:cTn id="50" presetID="17" presetClass="entr" presetSubtype="8" fill="hold" grpId="0" nodeType="clickEffect">
                                  <p:stCondLst>
                                    <p:cond delay="0"/>
                                  </p:stCondLst>
                                  <p:childTnLst>
                                    <p:set>
                                      <p:cBhvr>
                                        <p:cTn id="51" dur="1" fill="hold">
                                          <p:stCondLst>
                                            <p:cond delay="0"/>
                                          </p:stCondLst>
                                        </p:cTn>
                                        <p:tgtEl>
                                          <p:spTgt spid="42"/>
                                        </p:tgtEl>
                                        <p:attrNameLst>
                                          <p:attrName>style.visibility</p:attrName>
                                        </p:attrNameLst>
                                      </p:cBhvr>
                                      <p:to>
                                        <p:strVal val="visible"/>
                                      </p:to>
                                    </p:set>
                                    <p:anim calcmode="lin" valueType="num">
                                      <p:cBhvr>
                                        <p:cTn id="52" dur="500" fill="hold"/>
                                        <p:tgtEl>
                                          <p:spTgt spid="42"/>
                                        </p:tgtEl>
                                        <p:attrNameLst>
                                          <p:attrName>ppt_x</p:attrName>
                                        </p:attrNameLst>
                                      </p:cBhvr>
                                      <p:tavLst>
                                        <p:tav tm="0">
                                          <p:val>
                                            <p:strVal val="#ppt_x-#ppt_w/2"/>
                                          </p:val>
                                        </p:tav>
                                        <p:tav tm="100000">
                                          <p:val>
                                            <p:strVal val="#ppt_x"/>
                                          </p:val>
                                        </p:tav>
                                      </p:tavLst>
                                    </p:anim>
                                    <p:anim calcmode="lin" valueType="num">
                                      <p:cBhvr>
                                        <p:cTn id="53" dur="500" fill="hold"/>
                                        <p:tgtEl>
                                          <p:spTgt spid="42"/>
                                        </p:tgtEl>
                                        <p:attrNameLst>
                                          <p:attrName>ppt_y</p:attrName>
                                        </p:attrNameLst>
                                      </p:cBhvr>
                                      <p:tavLst>
                                        <p:tav tm="0">
                                          <p:val>
                                            <p:strVal val="#ppt_y"/>
                                          </p:val>
                                        </p:tav>
                                        <p:tav tm="100000">
                                          <p:val>
                                            <p:strVal val="#ppt_y"/>
                                          </p:val>
                                        </p:tav>
                                      </p:tavLst>
                                    </p:anim>
                                    <p:anim calcmode="lin" valueType="num">
                                      <p:cBhvr>
                                        <p:cTn id="54" dur="500" fill="hold"/>
                                        <p:tgtEl>
                                          <p:spTgt spid="42"/>
                                        </p:tgtEl>
                                        <p:attrNameLst>
                                          <p:attrName>ppt_w</p:attrName>
                                        </p:attrNameLst>
                                      </p:cBhvr>
                                      <p:tavLst>
                                        <p:tav tm="0">
                                          <p:val>
                                            <p:fltVal val="0"/>
                                          </p:val>
                                        </p:tav>
                                        <p:tav tm="100000">
                                          <p:val>
                                            <p:strVal val="#ppt_w"/>
                                          </p:val>
                                        </p:tav>
                                      </p:tavLst>
                                    </p:anim>
                                    <p:anim calcmode="lin" valueType="num">
                                      <p:cBhvr>
                                        <p:cTn id="55" dur="500" fill="hold"/>
                                        <p:tgtEl>
                                          <p:spTgt spid="42"/>
                                        </p:tgtEl>
                                        <p:attrNameLst>
                                          <p:attrName>ppt_h</p:attrName>
                                        </p:attrNameLst>
                                      </p:cBhvr>
                                      <p:tavLst>
                                        <p:tav tm="0">
                                          <p:val>
                                            <p:strVal val="#ppt_h"/>
                                          </p:val>
                                        </p:tav>
                                        <p:tav tm="100000">
                                          <p:val>
                                            <p:strVal val="#ppt_h"/>
                                          </p:val>
                                        </p:tav>
                                      </p:tavLst>
                                    </p:anim>
                                  </p:childTnLst>
                                </p:cTn>
                              </p:par>
                            </p:childTnLst>
                          </p:cTn>
                        </p:par>
                      </p:childTnLst>
                    </p:cTn>
                  </p:par>
                  <p:par>
                    <p:cTn id="56" fill="hold">
                      <p:stCondLst>
                        <p:cond delay="indefinite"/>
                      </p:stCondLst>
                      <p:childTnLst>
                        <p:par>
                          <p:cTn id="57" fill="hold">
                            <p:stCondLst>
                              <p:cond delay="0"/>
                            </p:stCondLst>
                            <p:childTnLst>
                              <p:par>
                                <p:cTn id="58" presetID="17" presetClass="entr" presetSubtype="8" fill="hold" grpId="0" nodeType="clickEffect">
                                  <p:stCondLst>
                                    <p:cond delay="0"/>
                                  </p:stCondLst>
                                  <p:childTnLst>
                                    <p:set>
                                      <p:cBhvr>
                                        <p:cTn id="59" dur="1" fill="hold">
                                          <p:stCondLst>
                                            <p:cond delay="0"/>
                                          </p:stCondLst>
                                        </p:cTn>
                                        <p:tgtEl>
                                          <p:spTgt spid="43"/>
                                        </p:tgtEl>
                                        <p:attrNameLst>
                                          <p:attrName>style.visibility</p:attrName>
                                        </p:attrNameLst>
                                      </p:cBhvr>
                                      <p:to>
                                        <p:strVal val="visible"/>
                                      </p:to>
                                    </p:set>
                                    <p:anim calcmode="lin" valueType="num">
                                      <p:cBhvr>
                                        <p:cTn id="60" dur="500" fill="hold"/>
                                        <p:tgtEl>
                                          <p:spTgt spid="43"/>
                                        </p:tgtEl>
                                        <p:attrNameLst>
                                          <p:attrName>ppt_x</p:attrName>
                                        </p:attrNameLst>
                                      </p:cBhvr>
                                      <p:tavLst>
                                        <p:tav tm="0">
                                          <p:val>
                                            <p:strVal val="#ppt_x-#ppt_w/2"/>
                                          </p:val>
                                        </p:tav>
                                        <p:tav tm="100000">
                                          <p:val>
                                            <p:strVal val="#ppt_x"/>
                                          </p:val>
                                        </p:tav>
                                      </p:tavLst>
                                    </p:anim>
                                    <p:anim calcmode="lin" valueType="num">
                                      <p:cBhvr>
                                        <p:cTn id="61" dur="500" fill="hold"/>
                                        <p:tgtEl>
                                          <p:spTgt spid="43"/>
                                        </p:tgtEl>
                                        <p:attrNameLst>
                                          <p:attrName>ppt_y</p:attrName>
                                        </p:attrNameLst>
                                      </p:cBhvr>
                                      <p:tavLst>
                                        <p:tav tm="0">
                                          <p:val>
                                            <p:strVal val="#ppt_y"/>
                                          </p:val>
                                        </p:tav>
                                        <p:tav tm="100000">
                                          <p:val>
                                            <p:strVal val="#ppt_y"/>
                                          </p:val>
                                        </p:tav>
                                      </p:tavLst>
                                    </p:anim>
                                    <p:anim calcmode="lin" valueType="num">
                                      <p:cBhvr>
                                        <p:cTn id="62" dur="500" fill="hold"/>
                                        <p:tgtEl>
                                          <p:spTgt spid="43"/>
                                        </p:tgtEl>
                                        <p:attrNameLst>
                                          <p:attrName>ppt_w</p:attrName>
                                        </p:attrNameLst>
                                      </p:cBhvr>
                                      <p:tavLst>
                                        <p:tav tm="0">
                                          <p:val>
                                            <p:fltVal val="0"/>
                                          </p:val>
                                        </p:tav>
                                        <p:tav tm="100000">
                                          <p:val>
                                            <p:strVal val="#ppt_w"/>
                                          </p:val>
                                        </p:tav>
                                      </p:tavLst>
                                    </p:anim>
                                    <p:anim calcmode="lin" valueType="num">
                                      <p:cBhvr>
                                        <p:cTn id="63" dur="500" fill="hold"/>
                                        <p:tgtEl>
                                          <p:spTgt spid="43"/>
                                        </p:tgtEl>
                                        <p:attrNameLst>
                                          <p:attrName>ppt_h</p:attrName>
                                        </p:attrNameLst>
                                      </p:cBhvr>
                                      <p:tavLst>
                                        <p:tav tm="0">
                                          <p:val>
                                            <p:strVal val="#ppt_h"/>
                                          </p:val>
                                        </p:tav>
                                        <p:tav tm="100000">
                                          <p:val>
                                            <p:strVal val="#ppt_h"/>
                                          </p:val>
                                        </p:tav>
                                      </p:tavLst>
                                    </p:anim>
                                  </p:childTnLst>
                                </p:cTn>
                              </p:par>
                            </p:childTnLst>
                          </p:cTn>
                        </p:par>
                      </p:childTnLst>
                    </p:cTn>
                  </p:par>
                  <p:par>
                    <p:cTn id="64" fill="hold">
                      <p:stCondLst>
                        <p:cond delay="indefinite"/>
                      </p:stCondLst>
                      <p:childTnLst>
                        <p:par>
                          <p:cTn id="65" fill="hold">
                            <p:stCondLst>
                              <p:cond delay="0"/>
                            </p:stCondLst>
                            <p:childTnLst>
                              <p:par>
                                <p:cTn id="66" presetID="2" presetClass="entr" presetSubtype="8" fill="hold" grpId="0" nodeType="clickEffect">
                                  <p:stCondLst>
                                    <p:cond delay="0"/>
                                  </p:stCondLst>
                                  <p:childTnLst>
                                    <p:set>
                                      <p:cBhvr>
                                        <p:cTn id="67" dur="1" fill="hold">
                                          <p:stCondLst>
                                            <p:cond delay="0"/>
                                          </p:stCondLst>
                                        </p:cTn>
                                        <p:tgtEl>
                                          <p:spTgt spid="10"/>
                                        </p:tgtEl>
                                        <p:attrNameLst>
                                          <p:attrName>style.visibility</p:attrName>
                                        </p:attrNameLst>
                                      </p:cBhvr>
                                      <p:to>
                                        <p:strVal val="visible"/>
                                      </p:to>
                                    </p:set>
                                    <p:anim calcmode="lin" valueType="num">
                                      <p:cBhvr additive="base">
                                        <p:cTn id="68" dur="500" fill="hold"/>
                                        <p:tgtEl>
                                          <p:spTgt spid="10"/>
                                        </p:tgtEl>
                                        <p:attrNameLst>
                                          <p:attrName>ppt_x</p:attrName>
                                        </p:attrNameLst>
                                      </p:cBhvr>
                                      <p:tavLst>
                                        <p:tav tm="0">
                                          <p:val>
                                            <p:strVal val="0-#ppt_w/2"/>
                                          </p:val>
                                        </p:tav>
                                        <p:tav tm="100000">
                                          <p:val>
                                            <p:strVal val="#ppt_x"/>
                                          </p:val>
                                        </p:tav>
                                      </p:tavLst>
                                    </p:anim>
                                    <p:anim calcmode="lin" valueType="num">
                                      <p:cBhvr additive="base">
                                        <p:cTn id="69"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2" presetClass="entr" presetSubtype="2" fill="hold" grpId="0" nodeType="clickEffect">
                                  <p:stCondLst>
                                    <p:cond delay="0"/>
                                  </p:stCondLst>
                                  <p:childTnLst>
                                    <p:set>
                                      <p:cBhvr>
                                        <p:cTn id="73" dur="1" fill="hold">
                                          <p:stCondLst>
                                            <p:cond delay="0"/>
                                          </p:stCondLst>
                                        </p:cTn>
                                        <p:tgtEl>
                                          <p:spTgt spid="11"/>
                                        </p:tgtEl>
                                        <p:attrNameLst>
                                          <p:attrName>style.visibility</p:attrName>
                                        </p:attrNameLst>
                                      </p:cBhvr>
                                      <p:to>
                                        <p:strVal val="visible"/>
                                      </p:to>
                                    </p:set>
                                    <p:anim calcmode="lin" valueType="num">
                                      <p:cBhvr additive="base">
                                        <p:cTn id="74" dur="500" fill="hold"/>
                                        <p:tgtEl>
                                          <p:spTgt spid="11"/>
                                        </p:tgtEl>
                                        <p:attrNameLst>
                                          <p:attrName>ppt_x</p:attrName>
                                        </p:attrNameLst>
                                      </p:cBhvr>
                                      <p:tavLst>
                                        <p:tav tm="0">
                                          <p:val>
                                            <p:strVal val="1+#ppt_w/2"/>
                                          </p:val>
                                        </p:tav>
                                        <p:tav tm="100000">
                                          <p:val>
                                            <p:strVal val="#ppt_x"/>
                                          </p:val>
                                        </p:tav>
                                      </p:tavLst>
                                    </p:anim>
                                    <p:anim calcmode="lin" valueType="num">
                                      <p:cBhvr additive="base">
                                        <p:cTn id="75"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8" grpId="0" autoUpdateAnimBg="0"/>
      <p:bldP spid="10" grpId="0" autoUpdateAnimBg="0"/>
      <p:bldP spid="11" grpId="0" autoUpdateAnimBg="0"/>
      <p:bldP spid="37" grpId="0" autoUpdateAnimBg="0"/>
      <p:bldP spid="38" grpId="0" autoUpdateAnimBg="0"/>
      <p:bldP spid="39" grpId="0" autoUpdateAnimBg="0"/>
      <p:bldP spid="42" grpId="0" autoUpdateAnimBg="0"/>
      <p:bldP spid="43"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Text Box 3"/>
          <p:cNvSpPr txBox="1">
            <a:spLocks noChangeArrowheads="1"/>
          </p:cNvSpPr>
          <p:nvPr/>
        </p:nvSpPr>
        <p:spPr bwMode="auto">
          <a:xfrm>
            <a:off x="682493" y="1087558"/>
            <a:ext cx="4652962" cy="520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spcBef>
                <a:spcPct val="50000"/>
              </a:spcBef>
            </a:pPr>
            <a:r>
              <a:rPr lang="en-US" altLang="zh-CN" dirty="0">
                <a:latin typeface="Times New Roman" panose="02020603050405020304" pitchFamily="18" charset="0"/>
                <a:ea typeface="宋体" panose="02010600030101010101" pitchFamily="2" charset="-122"/>
              </a:rPr>
              <a:t>(1)  </a:t>
            </a:r>
            <a:r>
              <a:rPr lang="zh-CN" altLang="en-US" dirty="0">
                <a:latin typeface="黑体" panose="02010609060101010101" pitchFamily="49" charset="-122"/>
                <a:ea typeface="黑体" panose="02010609060101010101" pitchFamily="49" charset="-122"/>
              </a:rPr>
              <a:t>混凝土压缩时的力学性能 </a:t>
            </a:r>
          </a:p>
        </p:txBody>
      </p:sp>
      <p:sp>
        <p:nvSpPr>
          <p:cNvPr id="91140" name="Text Box 4"/>
          <p:cNvSpPr txBox="1">
            <a:spLocks noChangeArrowheads="1"/>
          </p:cNvSpPr>
          <p:nvPr/>
        </p:nvSpPr>
        <p:spPr bwMode="auto">
          <a:xfrm>
            <a:off x="999734" y="1633019"/>
            <a:ext cx="4343400" cy="504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spcBef>
                <a:spcPct val="50000"/>
              </a:spcBef>
            </a:pPr>
            <a:r>
              <a:rPr lang="zh-CN" altLang="en-US" b="1" dirty="0">
                <a:latin typeface="楷体" panose="02010609060101010101" pitchFamily="49" charset="-122"/>
                <a:ea typeface="楷体" panose="02010609060101010101" pitchFamily="49" charset="-122"/>
              </a:rPr>
              <a:t>使用标准立方体试块测定</a:t>
            </a:r>
          </a:p>
        </p:txBody>
      </p:sp>
      <p:grpSp>
        <p:nvGrpSpPr>
          <p:cNvPr id="91141" name="Group 5"/>
          <p:cNvGrpSpPr>
            <a:grpSpLocks/>
          </p:cNvGrpSpPr>
          <p:nvPr/>
        </p:nvGrpSpPr>
        <p:grpSpPr bwMode="auto">
          <a:xfrm>
            <a:off x="323528" y="2117045"/>
            <a:ext cx="5924549" cy="2857500"/>
            <a:chOff x="0" y="0"/>
            <a:chExt cx="3732" cy="1800"/>
          </a:xfrm>
        </p:grpSpPr>
        <p:sp>
          <p:nvSpPr>
            <p:cNvPr id="91142" name="Text Box 6"/>
            <p:cNvSpPr txBox="1">
              <a:spLocks noChangeArrowheads="1"/>
            </p:cNvSpPr>
            <p:nvPr/>
          </p:nvSpPr>
          <p:spPr bwMode="auto">
            <a:xfrm>
              <a:off x="2628" y="1472"/>
              <a:ext cx="1104"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spcBef>
                  <a:spcPct val="50000"/>
                </a:spcBef>
              </a:pPr>
              <a:r>
                <a:rPr lang="zh-CN" altLang="en-US" dirty="0">
                  <a:latin typeface="楷体" panose="02010609060101010101" pitchFamily="49" charset="-122"/>
                  <a:ea typeface="楷体" panose="02010609060101010101" pitchFamily="49" charset="-122"/>
                </a:rPr>
                <a:t>端面润滑时</a:t>
              </a:r>
            </a:p>
          </p:txBody>
        </p:sp>
        <p:sp>
          <p:nvSpPr>
            <p:cNvPr id="91143" name="Text Box 7"/>
            <p:cNvSpPr txBox="1">
              <a:spLocks noChangeArrowheads="1"/>
            </p:cNvSpPr>
            <p:nvPr/>
          </p:nvSpPr>
          <p:spPr bwMode="auto">
            <a:xfrm>
              <a:off x="1267" y="1472"/>
              <a:ext cx="1361"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spcBef>
                  <a:spcPct val="50000"/>
                </a:spcBef>
              </a:pPr>
              <a:r>
                <a:rPr lang="zh-CN" altLang="en-US" dirty="0">
                  <a:latin typeface="楷体" panose="02010609060101010101" pitchFamily="49" charset="-122"/>
                  <a:ea typeface="楷体" panose="02010609060101010101" pitchFamily="49" charset="-122"/>
                </a:rPr>
                <a:t>端面未润滑时</a:t>
              </a:r>
            </a:p>
          </p:txBody>
        </p:sp>
        <p:pic>
          <p:nvPicPr>
            <p:cNvPr id="91144" name="Picture 8" descr="未命名"/>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416" cy="1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 name="Rectangle 21"/>
          <p:cNvSpPr>
            <a:spLocks noChangeArrowheads="1"/>
          </p:cNvSpPr>
          <p:nvPr/>
        </p:nvSpPr>
        <p:spPr bwMode="auto">
          <a:xfrm>
            <a:off x="683568" y="485775"/>
            <a:ext cx="5801989"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800" b="1" dirty="0">
                <a:solidFill>
                  <a:srgbClr val="FF0000"/>
                </a:solidFill>
                <a:latin typeface="黑体" panose="02010609060101010101" pitchFamily="49" charset="-122"/>
                <a:ea typeface="黑体" panose="02010609060101010101" pitchFamily="49" charset="-122"/>
              </a:rPr>
              <a:t>六、 几种非金属材料的力学性能</a:t>
            </a:r>
          </a:p>
        </p:txBody>
      </p:sp>
      <p:sp>
        <p:nvSpPr>
          <p:cNvPr id="11" name="Text Box 4"/>
          <p:cNvSpPr txBox="1">
            <a:spLocks noChangeArrowheads="1"/>
          </p:cNvSpPr>
          <p:nvPr/>
        </p:nvSpPr>
        <p:spPr bwMode="auto">
          <a:xfrm>
            <a:off x="1791090" y="4926289"/>
            <a:ext cx="358784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50000"/>
              </a:lnSpc>
              <a:spcBef>
                <a:spcPct val="50000"/>
              </a:spcBef>
            </a:pPr>
            <a:r>
              <a:rPr lang="zh-CN" altLang="en-US" b="1" dirty="0">
                <a:latin typeface="楷体" panose="02010609060101010101" pitchFamily="49" charset="-122"/>
                <a:ea typeface="楷体" panose="02010609060101010101" pitchFamily="49" charset="-122"/>
              </a:rPr>
              <a:t>压缩强度远大于拉伸强度</a:t>
            </a:r>
          </a:p>
        </p:txBody>
      </p:sp>
      <p:sp>
        <p:nvSpPr>
          <p:cNvPr id="12" name="Text Box 3"/>
          <p:cNvSpPr txBox="1">
            <a:spLocks noChangeArrowheads="1"/>
          </p:cNvSpPr>
          <p:nvPr/>
        </p:nvSpPr>
        <p:spPr bwMode="auto">
          <a:xfrm>
            <a:off x="539552" y="5533001"/>
            <a:ext cx="748883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ts val="0"/>
              </a:spcBef>
            </a:pPr>
            <a:r>
              <a:rPr lang="zh-CN" altLang="en-US" b="1" dirty="0">
                <a:latin typeface="+mn-lt"/>
                <a:ea typeface="楷体" panose="02010609060101010101" pitchFamily="49" charset="-122"/>
              </a:rPr>
              <a:t>混凝土的标号系根据其压缩强度标定，如</a:t>
            </a:r>
            <a:r>
              <a:rPr lang="en-US" altLang="zh-CN" dirty="0">
                <a:latin typeface="+mn-lt"/>
                <a:ea typeface="楷体" panose="02010609060101010101" pitchFamily="49" charset="-122"/>
              </a:rPr>
              <a:t>C20</a:t>
            </a:r>
            <a:r>
              <a:rPr lang="zh-CN" altLang="en-US" b="1" dirty="0">
                <a:latin typeface="+mn-lt"/>
                <a:ea typeface="楷体" panose="02010609060101010101" pitchFamily="49" charset="-122"/>
              </a:rPr>
              <a:t>混凝土是指经</a:t>
            </a:r>
            <a:r>
              <a:rPr lang="en-US" altLang="zh-CN" dirty="0">
                <a:latin typeface="+mn-lt"/>
                <a:ea typeface="楷体" panose="02010609060101010101" pitchFamily="49" charset="-122"/>
              </a:rPr>
              <a:t>28</a:t>
            </a:r>
            <a:r>
              <a:rPr lang="zh-CN" altLang="en-US" b="1" dirty="0">
                <a:latin typeface="+mn-lt"/>
                <a:ea typeface="楷体" panose="02010609060101010101" pitchFamily="49" charset="-122"/>
              </a:rPr>
              <a:t>天养护后立方体强度不低于</a:t>
            </a:r>
            <a:r>
              <a:rPr lang="en-US" altLang="zh-CN" dirty="0">
                <a:latin typeface="+mn-lt"/>
                <a:ea typeface="楷体" panose="02010609060101010101" pitchFamily="49" charset="-122"/>
              </a:rPr>
              <a:t>20 </a:t>
            </a:r>
            <a:r>
              <a:rPr lang="en-US" altLang="zh-CN" dirty="0" err="1">
                <a:latin typeface="+mn-lt"/>
                <a:ea typeface="楷体" panose="02010609060101010101" pitchFamily="49" charset="-122"/>
              </a:rPr>
              <a:t>MPa</a:t>
            </a:r>
            <a:r>
              <a:rPr lang="zh-CN" altLang="en-US" b="1" dirty="0">
                <a:latin typeface="+mn-lt"/>
                <a:ea typeface="楷体" panose="02010609060101010101" pitchFamily="49" charset="-122"/>
              </a:rPr>
              <a:t>的混凝土。 </a:t>
            </a:r>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49061" y="1055770"/>
            <a:ext cx="3120297" cy="2162332"/>
          </a:xfrm>
          <a:prstGeom prst="rect">
            <a:avLst/>
          </a:prstGeom>
        </p:spPr>
      </p:pic>
    </p:spTree>
    <p:extLst>
      <p:ext uri="{BB962C8B-B14F-4D97-AF65-F5344CB8AC3E}">
        <p14:creationId xmlns:p14="http://schemas.microsoft.com/office/powerpoint/2010/main" val="35718516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91139"/>
                                        </p:tgtEl>
                                        <p:attrNameLst>
                                          <p:attrName>style.visibility</p:attrName>
                                        </p:attrNameLst>
                                      </p:cBhvr>
                                      <p:to>
                                        <p:strVal val="visible"/>
                                      </p:to>
                                    </p:set>
                                    <p:animEffect transition="in" filter="randombar(horizontal)">
                                      <p:cBhvr>
                                        <p:cTn id="7" dur="500"/>
                                        <p:tgtEl>
                                          <p:spTgt spid="9113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91140"/>
                                        </p:tgtEl>
                                        <p:attrNameLst>
                                          <p:attrName>style.visibility</p:attrName>
                                        </p:attrNameLst>
                                      </p:cBhvr>
                                      <p:to>
                                        <p:strVal val="visible"/>
                                      </p:to>
                                    </p:set>
                                    <p:anim calcmode="lin" valueType="num">
                                      <p:cBhvr additive="base">
                                        <p:cTn id="12" dur="500" fill="hold"/>
                                        <p:tgtEl>
                                          <p:spTgt spid="91140"/>
                                        </p:tgtEl>
                                        <p:attrNameLst>
                                          <p:attrName>ppt_x</p:attrName>
                                        </p:attrNameLst>
                                      </p:cBhvr>
                                      <p:tavLst>
                                        <p:tav tm="0">
                                          <p:val>
                                            <p:strVal val="0-#ppt_w/2"/>
                                          </p:val>
                                        </p:tav>
                                        <p:tav tm="100000">
                                          <p:val>
                                            <p:strVal val="#ppt_x"/>
                                          </p:val>
                                        </p:tav>
                                      </p:tavLst>
                                    </p:anim>
                                    <p:anim calcmode="lin" valueType="num">
                                      <p:cBhvr additive="base">
                                        <p:cTn id="13" dur="500" fill="hold"/>
                                        <p:tgtEl>
                                          <p:spTgt spid="91140"/>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0" presetClass="entr" presetSubtype="0"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91141"/>
                                        </p:tgtEl>
                                        <p:attrNameLst>
                                          <p:attrName>style.visibility</p:attrName>
                                        </p:attrNameLst>
                                      </p:cBhvr>
                                      <p:to>
                                        <p:strVal val="visible"/>
                                      </p:to>
                                    </p:set>
                                    <p:animEffect transition="in" filter="dissolve">
                                      <p:cBhvr>
                                        <p:cTn id="23" dur="500"/>
                                        <p:tgtEl>
                                          <p:spTgt spid="91141"/>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blinds(horizontal)">
                                      <p:cBhvr>
                                        <p:cTn id="28" dur="5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5" presetClass="entr" presetSubtype="1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checkerboard(across)">
                                      <p:cBhvr>
                                        <p:cTn id="3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9" grpId="0" autoUpdateAnimBg="0"/>
      <p:bldP spid="91140" grpId="0" autoUpdateAnimBg="0"/>
      <p:bldP spid="11" grpId="0" autoUpdateAnimBg="0"/>
      <p:bldP spid="12"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ext Box 2"/>
          <p:cNvSpPr txBox="1">
            <a:spLocks noChangeArrowheads="1"/>
          </p:cNvSpPr>
          <p:nvPr/>
        </p:nvSpPr>
        <p:spPr bwMode="auto">
          <a:xfrm>
            <a:off x="473324" y="1150616"/>
            <a:ext cx="827514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zh-CN" altLang="en-US" b="1" dirty="0">
                <a:latin typeface="楷体" panose="02010609060101010101" pitchFamily="49" charset="-122"/>
                <a:ea typeface="楷体" panose="02010609060101010101" pitchFamily="49" charset="-122"/>
              </a:rPr>
              <a:t>木材的力学性能具有方向性，为各向异性材料。如认为木材任何方面的力学性能均可由顺纹和横纹两个相互垂直方向的力学性能确定，则又可以认为木材是正交各向异性材料。</a:t>
            </a:r>
          </a:p>
        </p:txBody>
      </p:sp>
      <p:sp>
        <p:nvSpPr>
          <p:cNvPr id="93187" name="Text Box 3"/>
          <p:cNvSpPr txBox="1">
            <a:spLocks noChangeArrowheads="1"/>
          </p:cNvSpPr>
          <p:nvPr/>
        </p:nvSpPr>
        <p:spPr bwMode="auto">
          <a:xfrm>
            <a:off x="4807440" y="5532452"/>
            <a:ext cx="4137570" cy="97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spcBef>
                <a:spcPct val="50000"/>
              </a:spcBef>
            </a:pPr>
            <a:r>
              <a:rPr lang="zh-CN" altLang="en-US" dirty="0">
                <a:latin typeface="+mn-lt"/>
                <a:ea typeface="楷体" panose="02010609060101010101" pitchFamily="49" charset="-122"/>
              </a:rPr>
              <a:t>松木在顺纹拉伸、压缩和横纹压缩时的</a:t>
            </a:r>
            <a:r>
              <a:rPr lang="el-GR" altLang="zh-CN" i="1" dirty="0">
                <a:latin typeface="+mn-lt"/>
                <a:ea typeface="楷体" panose="02010609060101010101" pitchFamily="49" charset="-122"/>
              </a:rPr>
              <a:t>σ</a:t>
            </a:r>
            <a:r>
              <a:rPr lang="en-US" altLang="zh-CN" i="1" dirty="0">
                <a:latin typeface="+mn-lt"/>
                <a:ea typeface="楷体" panose="02010609060101010101" pitchFamily="49" charset="-122"/>
              </a:rPr>
              <a:t> </a:t>
            </a:r>
            <a:r>
              <a:rPr lang="zh-CN" altLang="en-US" dirty="0">
                <a:latin typeface="+mn-lt"/>
                <a:ea typeface="楷体" panose="02010609060101010101" pitchFamily="49" charset="-122"/>
              </a:rPr>
              <a:t>－</a:t>
            </a:r>
            <a:r>
              <a:rPr lang="el-GR" altLang="zh-CN" i="1" dirty="0">
                <a:latin typeface="+mn-lt"/>
                <a:ea typeface="楷体" panose="02010609060101010101" pitchFamily="49" charset="-122"/>
              </a:rPr>
              <a:t>ε</a:t>
            </a:r>
            <a:r>
              <a:rPr lang="zh-CN" altLang="en-US" dirty="0">
                <a:latin typeface="+mn-lt"/>
                <a:ea typeface="楷体" panose="02010609060101010101" pitchFamily="49" charset="-122"/>
              </a:rPr>
              <a:t>曲线如图。</a:t>
            </a:r>
          </a:p>
        </p:txBody>
      </p:sp>
      <p:sp>
        <p:nvSpPr>
          <p:cNvPr id="93188" name="Text Box 4"/>
          <p:cNvSpPr txBox="1">
            <a:spLocks noChangeArrowheads="1"/>
          </p:cNvSpPr>
          <p:nvPr/>
        </p:nvSpPr>
        <p:spPr bwMode="auto">
          <a:xfrm>
            <a:off x="683568" y="476672"/>
            <a:ext cx="5195888" cy="576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50000"/>
              </a:spcBef>
            </a:pPr>
            <a:r>
              <a:rPr lang="en-US" altLang="zh-CN" dirty="0">
                <a:latin typeface="Times New Roman" panose="02020603050405020304" pitchFamily="18" charset="0"/>
                <a:ea typeface="宋体" panose="02010600030101010101" pitchFamily="2" charset="-122"/>
              </a:rPr>
              <a:t>(2) </a:t>
            </a:r>
            <a:r>
              <a:rPr lang="zh-CN" altLang="en-US" dirty="0">
                <a:latin typeface="黑体" panose="02010609060101010101" pitchFamily="49" charset="-122"/>
                <a:ea typeface="黑体" panose="02010609060101010101" pitchFamily="49" charset="-122"/>
              </a:rPr>
              <a:t>木材拉伸和压缩时的力学性能</a:t>
            </a:r>
          </a:p>
        </p:txBody>
      </p:sp>
      <p:pic>
        <p:nvPicPr>
          <p:cNvPr id="93190" name="Picture 6" descr="未命名"/>
          <p:cNvPicPr>
            <a:picLocks noChangeAspect="1" noChangeArrowheads="1"/>
          </p:cNvPicPr>
          <p:nvPr/>
        </p:nvPicPr>
        <p:blipFill>
          <a:blip r:embed="rId2">
            <a:clrChange>
              <a:clrFrom>
                <a:srgbClr val="FAFAFA"/>
              </a:clrFrom>
              <a:clrTo>
                <a:srgbClr val="FAFAFA">
                  <a:alpha val="0"/>
                </a:srgbClr>
              </a:clrTo>
            </a:clrChange>
            <a:extLst>
              <a:ext uri="{28A0092B-C50C-407E-A947-70E740481C1C}">
                <a14:useLocalDpi xmlns:a14="http://schemas.microsoft.com/office/drawing/2010/main" val="0"/>
              </a:ext>
            </a:extLst>
          </a:blip>
          <a:srcRect/>
          <a:stretch>
            <a:fillRect/>
          </a:stretch>
        </p:blipFill>
        <p:spPr bwMode="auto">
          <a:xfrm>
            <a:off x="4779252" y="2350945"/>
            <a:ext cx="3490912" cy="315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2079" y="2852936"/>
            <a:ext cx="3691019" cy="2768264"/>
          </a:xfrm>
          <a:prstGeom prst="rect">
            <a:avLst/>
          </a:prstGeom>
        </p:spPr>
      </p:pic>
    </p:spTree>
    <p:extLst>
      <p:ext uri="{BB962C8B-B14F-4D97-AF65-F5344CB8AC3E}">
        <p14:creationId xmlns:p14="http://schemas.microsoft.com/office/powerpoint/2010/main" val="28819454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3186"/>
                                        </p:tgtEl>
                                        <p:attrNameLst>
                                          <p:attrName>style.visibility</p:attrName>
                                        </p:attrNameLst>
                                      </p:cBhvr>
                                      <p:to>
                                        <p:strVal val="visible"/>
                                      </p:to>
                                    </p:set>
                                    <p:animEffect transition="in" filter="blinds(horizontal)">
                                      <p:cBhvr>
                                        <p:cTn id="7" dur="500"/>
                                        <p:tgtEl>
                                          <p:spTgt spid="931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3" presetClass="entr" presetSubtype="32" fill="hold" nodeType="clickEffect">
                                  <p:stCondLst>
                                    <p:cond delay="0"/>
                                  </p:stCondLst>
                                  <p:childTnLst>
                                    <p:set>
                                      <p:cBhvr>
                                        <p:cTn id="16" dur="1" fill="hold">
                                          <p:stCondLst>
                                            <p:cond delay="0"/>
                                          </p:stCondLst>
                                        </p:cTn>
                                        <p:tgtEl>
                                          <p:spTgt spid="93190"/>
                                        </p:tgtEl>
                                        <p:attrNameLst>
                                          <p:attrName>style.visibility</p:attrName>
                                        </p:attrNameLst>
                                      </p:cBhvr>
                                      <p:to>
                                        <p:strVal val="visible"/>
                                      </p:to>
                                    </p:set>
                                    <p:animEffect transition="in" filter="plus(out)">
                                      <p:cBhvr>
                                        <p:cTn id="17" dur="750"/>
                                        <p:tgtEl>
                                          <p:spTgt spid="93190"/>
                                        </p:tgtEl>
                                      </p:cBhvr>
                                    </p:animEffect>
                                  </p:childTnLst>
                                </p:cTn>
                              </p:par>
                            </p:childTnLst>
                          </p:cTn>
                        </p:par>
                      </p:childTnLst>
                    </p:cTn>
                  </p:par>
                  <p:par>
                    <p:cTn id="18" fill="hold">
                      <p:stCondLst>
                        <p:cond delay="indefinite"/>
                      </p:stCondLst>
                      <p:childTnLst>
                        <p:par>
                          <p:cTn id="19" fill="hold">
                            <p:stCondLst>
                              <p:cond delay="0"/>
                            </p:stCondLst>
                            <p:childTnLst>
                              <p:par>
                                <p:cTn id="20" presetID="15" presetClass="entr" presetSubtype="0" fill="hold" grpId="0" nodeType="clickEffect">
                                  <p:stCondLst>
                                    <p:cond delay="0"/>
                                  </p:stCondLst>
                                  <p:childTnLst>
                                    <p:set>
                                      <p:cBhvr>
                                        <p:cTn id="21" dur="1" fill="hold">
                                          <p:stCondLst>
                                            <p:cond delay="0"/>
                                          </p:stCondLst>
                                        </p:cTn>
                                        <p:tgtEl>
                                          <p:spTgt spid="93187"/>
                                        </p:tgtEl>
                                        <p:attrNameLst>
                                          <p:attrName>style.visibility</p:attrName>
                                        </p:attrNameLst>
                                      </p:cBhvr>
                                      <p:to>
                                        <p:strVal val="visible"/>
                                      </p:to>
                                    </p:set>
                                    <p:anim calcmode="lin" valueType="num">
                                      <p:cBhvr>
                                        <p:cTn id="22" dur="1000" fill="hold"/>
                                        <p:tgtEl>
                                          <p:spTgt spid="93187"/>
                                        </p:tgtEl>
                                        <p:attrNameLst>
                                          <p:attrName>ppt_w</p:attrName>
                                        </p:attrNameLst>
                                      </p:cBhvr>
                                      <p:tavLst>
                                        <p:tav tm="0">
                                          <p:val>
                                            <p:fltVal val="0"/>
                                          </p:val>
                                        </p:tav>
                                        <p:tav tm="100000">
                                          <p:val>
                                            <p:strVal val="#ppt_w"/>
                                          </p:val>
                                        </p:tav>
                                      </p:tavLst>
                                    </p:anim>
                                    <p:anim calcmode="lin" valueType="num">
                                      <p:cBhvr>
                                        <p:cTn id="23" dur="1000" fill="hold"/>
                                        <p:tgtEl>
                                          <p:spTgt spid="93187"/>
                                        </p:tgtEl>
                                        <p:attrNameLst>
                                          <p:attrName>ppt_h</p:attrName>
                                        </p:attrNameLst>
                                      </p:cBhvr>
                                      <p:tavLst>
                                        <p:tav tm="0">
                                          <p:val>
                                            <p:fltVal val="0"/>
                                          </p:val>
                                        </p:tav>
                                        <p:tav tm="100000">
                                          <p:val>
                                            <p:strVal val="#ppt_h"/>
                                          </p:val>
                                        </p:tav>
                                      </p:tavLst>
                                    </p:anim>
                                    <p:anim calcmode="lin" valueType="num">
                                      <p:cBhvr>
                                        <p:cTn id="24" dur="1000" fill="hold"/>
                                        <p:tgtEl>
                                          <p:spTgt spid="93187"/>
                                        </p:tgtEl>
                                        <p:attrNameLst>
                                          <p:attrName>ppt_x</p:attrName>
                                        </p:attrNameLst>
                                      </p:cBhvr>
                                      <p:tavLst>
                                        <p:tav tm="0" fmla="#ppt_x+(cos(-2*pi*(1-$))*-#ppt_x-sin(-2*pi*(1-$))*(1-#ppt_y))*(1-$)">
                                          <p:val>
                                            <p:fltVal val="0"/>
                                          </p:val>
                                        </p:tav>
                                        <p:tav tm="100000">
                                          <p:val>
                                            <p:fltVal val="1"/>
                                          </p:val>
                                        </p:tav>
                                      </p:tavLst>
                                    </p:anim>
                                    <p:anim calcmode="lin" valueType="num">
                                      <p:cBhvr>
                                        <p:cTn id="25" dur="1000" fill="hold"/>
                                        <p:tgtEl>
                                          <p:spTgt spid="93187"/>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6" grpId="0" autoUpdateAnimBg="0"/>
      <p:bldP spid="93187"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ext Box 2"/>
          <p:cNvSpPr txBox="1">
            <a:spLocks noChangeArrowheads="1"/>
          </p:cNvSpPr>
          <p:nvPr/>
        </p:nvSpPr>
        <p:spPr bwMode="auto">
          <a:xfrm>
            <a:off x="567391" y="659867"/>
            <a:ext cx="8134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dirty="0">
                <a:latin typeface="Times New Roman" panose="02020603050405020304" pitchFamily="18" charset="0"/>
                <a:ea typeface="宋体" panose="02010600030101010101" pitchFamily="2" charset="-122"/>
              </a:rPr>
              <a:t>(3)  </a:t>
            </a:r>
            <a:r>
              <a:rPr lang="zh-CN" altLang="en-US" dirty="0">
                <a:latin typeface="黑体" panose="02010609060101010101" pitchFamily="49" charset="-122"/>
                <a:ea typeface="黑体" panose="02010609060101010101" pitchFamily="49" charset="-122"/>
              </a:rPr>
              <a:t>玻璃钢（玻璃纤维与热固性树脂粘合而成的复合材料）</a:t>
            </a:r>
          </a:p>
        </p:txBody>
      </p:sp>
      <p:sp>
        <p:nvSpPr>
          <p:cNvPr id="94211" name="Text Box 3"/>
          <p:cNvSpPr txBox="1">
            <a:spLocks noChangeArrowheads="1"/>
          </p:cNvSpPr>
          <p:nvPr/>
        </p:nvSpPr>
        <p:spPr bwMode="auto">
          <a:xfrm>
            <a:off x="5292080" y="1484784"/>
            <a:ext cx="367240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spcBef>
                <a:spcPct val="50000"/>
              </a:spcBef>
            </a:pPr>
            <a:r>
              <a:rPr lang="zh-CN" altLang="en-US" b="1" dirty="0">
                <a:latin typeface="+mn-lt"/>
                <a:ea typeface="楷体" panose="02010609060101010101" pitchFamily="49" charset="-122"/>
              </a:rPr>
              <a:t>纤维单向排列的玻璃钢沿纤维方向拉伸时的</a:t>
            </a:r>
            <a:r>
              <a:rPr lang="el-GR" altLang="zh-CN" i="1" dirty="0">
                <a:latin typeface="+mn-lt"/>
                <a:ea typeface="楷体" panose="02010609060101010101" pitchFamily="49" charset="-122"/>
              </a:rPr>
              <a:t>σ</a:t>
            </a:r>
            <a:r>
              <a:rPr lang="en-US" altLang="zh-CN" i="1" dirty="0">
                <a:latin typeface="+mn-lt"/>
                <a:ea typeface="楷体" panose="02010609060101010101" pitchFamily="49" charset="-122"/>
              </a:rPr>
              <a:t> </a:t>
            </a:r>
            <a:r>
              <a:rPr lang="zh-CN" altLang="en-US" dirty="0">
                <a:latin typeface="+mn-lt"/>
                <a:ea typeface="楷体" panose="02010609060101010101" pitchFamily="49" charset="-122"/>
              </a:rPr>
              <a:t>－</a:t>
            </a:r>
            <a:r>
              <a:rPr lang="el-GR" altLang="zh-CN" i="1" dirty="0">
                <a:latin typeface="+mn-lt"/>
                <a:ea typeface="楷体" panose="02010609060101010101" pitchFamily="49" charset="-122"/>
              </a:rPr>
              <a:t>ε</a:t>
            </a:r>
            <a:r>
              <a:rPr lang="zh-CN" altLang="en-US" b="1" dirty="0">
                <a:latin typeface="+mn-lt"/>
                <a:ea typeface="楷体" panose="02010609060101010101" pitchFamily="49" charset="-122"/>
              </a:rPr>
              <a:t>曲线如图中</a:t>
            </a:r>
            <a:r>
              <a:rPr lang="en-US" altLang="zh-CN" b="1" dirty="0">
                <a:latin typeface="+mn-lt"/>
                <a:ea typeface="楷体" panose="02010609060101010101" pitchFamily="49" charset="-122"/>
              </a:rPr>
              <a:t>(c)</a:t>
            </a:r>
            <a:r>
              <a:rPr lang="zh-CN" altLang="en-US" b="1" dirty="0">
                <a:latin typeface="+mn-lt"/>
                <a:ea typeface="楷体" panose="02010609060101010101" pitchFamily="49" charset="-122"/>
              </a:rPr>
              <a:t>，纤维增强复合材料所用的纤维尚有碳纤维、硼纤维等。</a:t>
            </a:r>
          </a:p>
        </p:txBody>
      </p:sp>
      <p:pic>
        <p:nvPicPr>
          <p:cNvPr id="94213" name="Picture 5" descr="1"/>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r="44987" b="67358"/>
          <a:stretch>
            <a:fillRect/>
          </a:stretch>
        </p:blipFill>
        <p:spPr bwMode="auto">
          <a:xfrm>
            <a:off x="971600" y="3861048"/>
            <a:ext cx="6442075" cy="286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528" y="1484784"/>
            <a:ext cx="4840538" cy="2376264"/>
          </a:xfrm>
          <a:prstGeom prst="rect">
            <a:avLst/>
          </a:prstGeom>
        </p:spPr>
      </p:pic>
    </p:spTree>
    <p:extLst>
      <p:ext uri="{BB962C8B-B14F-4D97-AF65-F5344CB8AC3E}">
        <p14:creationId xmlns:p14="http://schemas.microsoft.com/office/powerpoint/2010/main" val="4173686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4213"/>
                                        </p:tgtEl>
                                        <p:attrNameLst>
                                          <p:attrName>style.visibility</p:attrName>
                                        </p:attrNameLst>
                                      </p:cBhvr>
                                      <p:to>
                                        <p:strVal val="visible"/>
                                      </p:to>
                                    </p:set>
                                    <p:animEffect transition="in" filter="fade">
                                      <p:cBhvr>
                                        <p:cTn id="12" dur="500"/>
                                        <p:tgtEl>
                                          <p:spTgt spid="9421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94211"/>
                                        </p:tgtEl>
                                        <p:attrNameLst>
                                          <p:attrName>style.visibility</p:attrName>
                                        </p:attrNameLst>
                                      </p:cBhvr>
                                      <p:to>
                                        <p:strVal val="visible"/>
                                      </p:to>
                                    </p:set>
                                    <p:animEffect transition="in" filter="barn(outHorizontal)">
                                      <p:cBhvr>
                                        <p:cTn id="17" dur="500"/>
                                        <p:tgtEl>
                                          <p:spTgt spid="942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1"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4" name="Text Box 4"/>
          <p:cNvSpPr txBox="1">
            <a:spLocks noChangeArrowheads="1"/>
          </p:cNvSpPr>
          <p:nvPr/>
        </p:nvSpPr>
        <p:spPr bwMode="auto">
          <a:xfrm>
            <a:off x="343887" y="4002630"/>
            <a:ext cx="7612489"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eaLnBrk="0" hangingPunct="0">
              <a:defRPr/>
            </a:pPr>
            <a:r>
              <a:rPr kumimoji="1" lang="zh-CN" altLang="en-US" sz="2400" b="1" dirty="0">
                <a:latin typeface="Times New Roman" pitchFamily="18" charset="0"/>
                <a:ea typeface="楷体_GB2312" pitchFamily="49" charset="-122"/>
                <a:cs typeface="Times New Roman" pitchFamily="18" charset="0"/>
              </a:rPr>
              <a:t>● </a:t>
            </a:r>
            <a:r>
              <a:rPr kumimoji="1" lang="zh-CN" altLang="en-US" sz="2400" b="1" dirty="0">
                <a:latin typeface="楷体" panose="02010609060101010101" pitchFamily="49" charset="-122"/>
                <a:ea typeface="楷体" panose="02010609060101010101" pitchFamily="49" charset="-122"/>
                <a:cs typeface="Times New Roman" pitchFamily="18" charset="0"/>
              </a:rPr>
              <a:t>为使构件能够正常工作，其最大工作应力应小于材料的极限应力</a:t>
            </a:r>
          </a:p>
        </p:txBody>
      </p:sp>
      <p:grpSp>
        <p:nvGrpSpPr>
          <p:cNvPr id="174113" name="Group 33"/>
          <p:cNvGrpSpPr>
            <a:grpSpLocks/>
          </p:cNvGrpSpPr>
          <p:nvPr/>
        </p:nvGrpSpPr>
        <p:grpSpPr bwMode="auto">
          <a:xfrm>
            <a:off x="35496" y="5079975"/>
            <a:ext cx="5989638" cy="914400"/>
            <a:chOff x="68" y="1754"/>
            <a:chExt cx="3773" cy="576"/>
          </a:xfrm>
        </p:grpSpPr>
        <p:sp>
          <p:nvSpPr>
            <p:cNvPr id="18458" name="Rectangle 6"/>
            <p:cNvSpPr>
              <a:spLocks noChangeArrowheads="1"/>
            </p:cNvSpPr>
            <p:nvPr/>
          </p:nvSpPr>
          <p:spPr bwMode="auto">
            <a:xfrm>
              <a:off x="1640" y="1754"/>
              <a:ext cx="2201" cy="576"/>
            </a:xfrm>
            <a:prstGeom prst="rect">
              <a:avLst/>
            </a:prstGeom>
            <a:noFill/>
            <a:ln w="1587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latin typeface="Times New Roman" panose="02020603050405020304" pitchFamily="18" charset="0"/>
                <a:ea typeface="楷体_GB2312" pitchFamily="49" charset="-122"/>
              </a:endParaRPr>
            </a:p>
          </p:txBody>
        </p:sp>
        <p:sp>
          <p:nvSpPr>
            <p:cNvPr id="174087" name="Rectangle 7"/>
            <p:cNvSpPr>
              <a:spLocks noChangeArrowheads="1"/>
            </p:cNvSpPr>
            <p:nvPr/>
          </p:nvSpPr>
          <p:spPr bwMode="auto">
            <a:xfrm>
              <a:off x="68" y="1799"/>
              <a:ext cx="1769"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kumimoji="1" lang="zh-CN" altLang="en-US" sz="2400" b="1" dirty="0">
                  <a:solidFill>
                    <a:srgbClr val="FF0000"/>
                  </a:solidFill>
                  <a:latin typeface="黑体" panose="02010609060101010101" pitchFamily="49" charset="-122"/>
                  <a:ea typeface="黑体" panose="02010609060101010101" pitchFamily="49" charset="-122"/>
                </a:rPr>
                <a:t>强度条件</a:t>
              </a:r>
            </a:p>
            <a:p>
              <a:pPr algn="ctr"/>
              <a:r>
                <a:rPr kumimoji="1" lang="zh-CN" altLang="en-US" sz="2000" b="1" dirty="0">
                  <a:solidFill>
                    <a:srgbClr val="FF0000"/>
                  </a:solidFill>
                  <a:latin typeface="Times New Roman" panose="02020603050405020304" pitchFamily="18" charset="0"/>
                  <a:ea typeface="楷体_GB2312" pitchFamily="49" charset="-122"/>
                </a:rPr>
                <a:t>（</a:t>
              </a:r>
              <a:r>
                <a:rPr kumimoji="1" lang="en-US" altLang="zh-CN" sz="2000" dirty="0">
                  <a:solidFill>
                    <a:srgbClr val="FF0000"/>
                  </a:solidFill>
                  <a:latin typeface="Times New Roman" panose="02020603050405020304" pitchFamily="18" charset="0"/>
                  <a:ea typeface="楷体_GB2312" pitchFamily="49" charset="-122"/>
                </a:rPr>
                <a:t>Strength Condition</a:t>
              </a:r>
              <a:r>
                <a:rPr kumimoji="1" lang="zh-CN" altLang="en-US" sz="2000" b="1" dirty="0">
                  <a:solidFill>
                    <a:srgbClr val="FF0000"/>
                  </a:solidFill>
                  <a:latin typeface="Times New Roman" panose="02020603050405020304" pitchFamily="18" charset="0"/>
                  <a:ea typeface="楷体_GB2312" pitchFamily="49" charset="-122"/>
                </a:rPr>
                <a:t>）</a:t>
              </a:r>
            </a:p>
          </p:txBody>
        </p:sp>
      </p:grpSp>
      <p:graphicFrame>
        <p:nvGraphicFramePr>
          <p:cNvPr id="174088" name="Object 8"/>
          <p:cNvGraphicFramePr>
            <a:graphicFrameLocks/>
          </p:cNvGraphicFramePr>
          <p:nvPr>
            <p:extLst>
              <p:ext uri="{D42A27DB-BD31-4B8C-83A1-F6EECF244321}">
                <p14:modId xmlns:p14="http://schemas.microsoft.com/office/powerpoint/2010/main" val="103960042"/>
              </p:ext>
            </p:extLst>
          </p:nvPr>
        </p:nvGraphicFramePr>
        <p:xfrm>
          <a:off x="2530786" y="5141598"/>
          <a:ext cx="1363662" cy="774700"/>
        </p:xfrm>
        <a:graphic>
          <a:graphicData uri="http://schemas.openxmlformats.org/presentationml/2006/ole">
            <mc:AlternateContent xmlns:mc="http://schemas.openxmlformats.org/markup-compatibility/2006">
              <mc:Choice xmlns:v="urn:schemas-microsoft-com:vml" Requires="v">
                <p:oleObj name="Equation" r:id="rId2" imgW="685800" imgH="393480" progId="Equation.DSMT4">
                  <p:embed/>
                </p:oleObj>
              </mc:Choice>
              <mc:Fallback>
                <p:oleObj name="Equation" r:id="rId2" imgW="685800" imgH="393480" progId="Equation.DSMT4">
                  <p:embed/>
                  <p:pic>
                    <p:nvPicPr>
                      <p:cNvPr id="0" name=""/>
                      <p:cNvPicPr>
                        <a:picLocks noChangeArrowheads="1"/>
                      </p:cNvPicPr>
                      <p:nvPr/>
                    </p:nvPicPr>
                    <p:blipFill>
                      <a:blip r:embed="rId3"/>
                      <a:srcRect/>
                      <a:stretch>
                        <a:fillRect/>
                      </a:stretch>
                    </p:blipFill>
                    <p:spPr bwMode="auto">
                      <a:xfrm>
                        <a:off x="2530786" y="5141598"/>
                        <a:ext cx="1363662" cy="774700"/>
                      </a:xfrm>
                      <a:prstGeom prst="rect">
                        <a:avLst/>
                      </a:prstGeom>
                      <a:noFill/>
                      <a:ln>
                        <a:noFill/>
                      </a:ln>
                      <a:effectLst/>
                    </p:spPr>
                  </p:pic>
                </p:oleObj>
              </mc:Fallback>
            </mc:AlternateContent>
          </a:graphicData>
        </a:graphic>
      </p:graphicFrame>
      <p:graphicFrame>
        <p:nvGraphicFramePr>
          <p:cNvPr id="174089" name="Object 9"/>
          <p:cNvGraphicFramePr>
            <a:graphicFrameLocks/>
          </p:cNvGraphicFramePr>
          <p:nvPr>
            <p:extLst>
              <p:ext uri="{D42A27DB-BD31-4B8C-83A1-F6EECF244321}">
                <p14:modId xmlns:p14="http://schemas.microsoft.com/office/powerpoint/2010/main" val="2834599385"/>
              </p:ext>
            </p:extLst>
          </p:nvPr>
        </p:nvGraphicFramePr>
        <p:xfrm>
          <a:off x="3744836" y="5308576"/>
          <a:ext cx="735012" cy="455612"/>
        </p:xfrm>
        <a:graphic>
          <a:graphicData uri="http://schemas.openxmlformats.org/presentationml/2006/ole">
            <mc:AlternateContent xmlns:mc="http://schemas.openxmlformats.org/markup-compatibility/2006">
              <mc:Choice xmlns:v="urn:schemas-microsoft-com:vml" Requires="v">
                <p:oleObj name="Equation" r:id="rId4" imgW="342900" imgH="219165" progId="Equation.3">
                  <p:embed/>
                </p:oleObj>
              </mc:Choice>
              <mc:Fallback>
                <p:oleObj name="Equation" r:id="rId4" imgW="342900" imgH="219165" progId="Equation.3">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44836" y="5308576"/>
                        <a:ext cx="735012" cy="455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4090" name="Object 10"/>
          <p:cNvGraphicFramePr>
            <a:graphicFrameLocks/>
          </p:cNvGraphicFramePr>
          <p:nvPr>
            <p:extLst>
              <p:ext uri="{D42A27DB-BD31-4B8C-83A1-F6EECF244321}">
                <p14:modId xmlns:p14="http://schemas.microsoft.com/office/powerpoint/2010/main" val="1389160428"/>
              </p:ext>
            </p:extLst>
          </p:nvPr>
        </p:nvGraphicFramePr>
        <p:xfrm>
          <a:off x="5070147" y="5353818"/>
          <a:ext cx="912813" cy="411163"/>
        </p:xfrm>
        <a:graphic>
          <a:graphicData uri="http://schemas.openxmlformats.org/presentationml/2006/ole">
            <mc:AlternateContent xmlns:mc="http://schemas.openxmlformats.org/markup-compatibility/2006">
              <mc:Choice xmlns:v="urn:schemas-microsoft-com:vml" Requires="v">
                <p:oleObj name="Equation" r:id="rId6" imgW="371520" imgH="209460" progId="Equation.3">
                  <p:embed/>
                </p:oleObj>
              </mc:Choice>
              <mc:Fallback>
                <p:oleObj name="Equation" r:id="rId6" imgW="371520" imgH="209460" progId="Equation.3">
                  <p:embed/>
                  <p:pic>
                    <p:nvPicPr>
                      <p:cNvPr id="0" nam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70147" y="5353818"/>
                        <a:ext cx="912813" cy="41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4091" name="Object 11"/>
          <p:cNvGraphicFramePr>
            <a:graphicFrameLocks/>
          </p:cNvGraphicFramePr>
          <p:nvPr>
            <p:extLst>
              <p:ext uri="{D42A27DB-BD31-4B8C-83A1-F6EECF244321}">
                <p14:modId xmlns:p14="http://schemas.microsoft.com/office/powerpoint/2010/main" val="1269742510"/>
              </p:ext>
            </p:extLst>
          </p:nvPr>
        </p:nvGraphicFramePr>
        <p:xfrm>
          <a:off x="4344974" y="5152058"/>
          <a:ext cx="792681" cy="803275"/>
        </p:xfrm>
        <a:graphic>
          <a:graphicData uri="http://schemas.openxmlformats.org/presentationml/2006/ole">
            <mc:AlternateContent xmlns:mc="http://schemas.openxmlformats.org/markup-compatibility/2006">
              <mc:Choice xmlns:v="urn:schemas-microsoft-com:vml" Requires="v">
                <p:oleObj name="公式" r:id="rId8" imgW="409590" imgH="409485" progId="Equation.3">
                  <p:embed/>
                </p:oleObj>
              </mc:Choice>
              <mc:Fallback>
                <p:oleObj name="公式" r:id="rId8" imgW="409590" imgH="409485" progId="Equation.3">
                  <p:embed/>
                  <p:pic>
                    <p:nvPicPr>
                      <p:cNvPr id="0" name=""/>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44974" y="5152058"/>
                        <a:ext cx="792681" cy="803275"/>
                      </a:xfrm>
                      <a:prstGeom prst="rect">
                        <a:avLst/>
                      </a:prstGeom>
                      <a:noFill/>
                      <a:ln>
                        <a:noFill/>
                      </a:ln>
                      <a:effectLst/>
                    </p:spPr>
                  </p:pic>
                </p:oleObj>
              </mc:Fallback>
            </mc:AlternateContent>
          </a:graphicData>
        </a:graphic>
      </p:graphicFrame>
      <p:sp>
        <p:nvSpPr>
          <p:cNvPr id="18455" name="Rectangle 16"/>
          <p:cNvSpPr>
            <a:spLocks noChangeArrowheads="1"/>
          </p:cNvSpPr>
          <p:nvPr/>
        </p:nvSpPr>
        <p:spPr bwMode="auto">
          <a:xfrm>
            <a:off x="389558" y="1328563"/>
            <a:ext cx="8588375"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dirty="0">
                <a:latin typeface="Times New Roman" panose="02020603050405020304" pitchFamily="18" charset="0"/>
                <a:ea typeface="楷体_GB2312" pitchFamily="49" charset="-122"/>
                <a:cs typeface="Times New Roman" panose="02020603050405020304" pitchFamily="18" charset="0"/>
              </a:rPr>
              <a:t>● </a:t>
            </a:r>
            <a:r>
              <a:rPr kumimoji="1" lang="zh-CN" altLang="en-US" sz="2400" b="1" dirty="0">
                <a:latin typeface="+mn-lt"/>
                <a:ea typeface="黑体" panose="02010609060101010101" pitchFamily="49" charset="-122"/>
                <a:cs typeface="Times New Roman" panose="02020603050405020304" pitchFamily="18" charset="0"/>
              </a:rPr>
              <a:t>使材料发生破坏的最小应力称为</a:t>
            </a:r>
            <a:r>
              <a:rPr kumimoji="1" lang="zh-CN" altLang="en-US" sz="2400" b="1" dirty="0">
                <a:solidFill>
                  <a:srgbClr val="FF0000"/>
                </a:solidFill>
                <a:latin typeface="+mn-lt"/>
                <a:ea typeface="黑体" panose="02010609060101010101" pitchFamily="49" charset="-122"/>
                <a:cs typeface="Times New Roman" panose="02020603050405020304" pitchFamily="18" charset="0"/>
              </a:rPr>
              <a:t>极限应力</a:t>
            </a:r>
            <a:r>
              <a:rPr kumimoji="1" lang="zh-CN" altLang="en-US" sz="2400" b="1" dirty="0">
                <a:latin typeface="+mn-lt"/>
                <a:ea typeface="黑体" panose="02010609060101010101" pitchFamily="49" charset="-122"/>
                <a:cs typeface="Times New Roman" panose="02020603050405020304" pitchFamily="18" charset="0"/>
              </a:rPr>
              <a:t>，用</a:t>
            </a:r>
            <a:r>
              <a:rPr kumimoji="1" lang="el-GR" altLang="zh-CN" sz="2400" b="1" i="1" dirty="0">
                <a:solidFill>
                  <a:srgbClr val="FF0000"/>
                </a:solidFill>
                <a:latin typeface="+mn-lt"/>
                <a:ea typeface="黑体" panose="02010609060101010101" pitchFamily="49" charset="-122"/>
                <a:cs typeface="Times New Roman" panose="02020603050405020304" pitchFamily="18" charset="0"/>
                <a:sym typeface="Symbol" panose="05050102010706020507" pitchFamily="18" charset="2"/>
              </a:rPr>
              <a:t></a:t>
            </a:r>
            <a:r>
              <a:rPr kumimoji="1" lang="el-GR" altLang="zh-CN" sz="2400" dirty="0">
                <a:solidFill>
                  <a:srgbClr val="FF0000"/>
                </a:solidFill>
                <a:latin typeface="+mn-lt"/>
                <a:ea typeface="黑体" panose="02010609060101010101" pitchFamily="49" charset="-122"/>
                <a:cs typeface="Times New Roman" panose="02020603050405020304" pitchFamily="18" charset="0"/>
              </a:rPr>
              <a:t> </a:t>
            </a:r>
            <a:r>
              <a:rPr kumimoji="1" lang="en-US" altLang="zh-CN" sz="2400" baseline="30000" dirty="0">
                <a:solidFill>
                  <a:srgbClr val="FF0000"/>
                </a:solidFill>
                <a:latin typeface="+mn-lt"/>
                <a:ea typeface="黑体" panose="02010609060101010101" pitchFamily="49" charset="-122"/>
                <a:cs typeface="Times New Roman" panose="02020603050405020304" pitchFamily="18" charset="0"/>
              </a:rPr>
              <a:t>0</a:t>
            </a:r>
            <a:r>
              <a:rPr kumimoji="1" lang="zh-CN" altLang="en-US" sz="2400" b="1" dirty="0">
                <a:latin typeface="+mn-lt"/>
                <a:ea typeface="黑体" panose="02010609060101010101" pitchFamily="49" charset="-122"/>
                <a:cs typeface="Times New Roman" panose="02020603050405020304" pitchFamily="18" charset="0"/>
              </a:rPr>
              <a:t>表示。</a:t>
            </a:r>
          </a:p>
        </p:txBody>
      </p:sp>
      <p:sp>
        <p:nvSpPr>
          <p:cNvPr id="174099" name="Text Box 19"/>
          <p:cNvSpPr txBox="1">
            <a:spLocks noChangeArrowheads="1"/>
          </p:cNvSpPr>
          <p:nvPr/>
        </p:nvSpPr>
        <p:spPr bwMode="auto">
          <a:xfrm>
            <a:off x="6401421" y="4706178"/>
            <a:ext cx="2576512"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defRPr/>
            </a:pPr>
            <a:r>
              <a:rPr kumimoji="1" lang="en-US" altLang="zh-CN" sz="2400" i="1" dirty="0">
                <a:solidFill>
                  <a:srgbClr val="0000FF"/>
                </a:solidFill>
                <a:latin typeface="Times New Roman" pitchFamily="18" charset="0"/>
                <a:ea typeface="楷体_GB2312" pitchFamily="49" charset="-122"/>
                <a:cs typeface="Times New Roman" pitchFamily="18" charset="0"/>
              </a:rPr>
              <a:t>n</a:t>
            </a:r>
            <a:r>
              <a:rPr kumimoji="1" lang="zh-CN" altLang="en-US" sz="2400" b="1" dirty="0">
                <a:solidFill>
                  <a:srgbClr val="0000FF"/>
                </a:solidFill>
                <a:latin typeface="Times New Roman" pitchFamily="18" charset="0"/>
                <a:ea typeface="楷体_GB2312" pitchFamily="49" charset="-122"/>
                <a:cs typeface="Times New Roman" pitchFamily="18" charset="0"/>
              </a:rPr>
              <a:t>：</a:t>
            </a:r>
            <a:r>
              <a:rPr kumimoji="1" lang="zh-CN" altLang="en-US" sz="2400" b="1" dirty="0">
                <a:solidFill>
                  <a:srgbClr val="0000FF"/>
                </a:solidFill>
                <a:latin typeface="黑体" panose="02010609060101010101" pitchFamily="49" charset="-122"/>
                <a:ea typeface="黑体" panose="02010609060101010101" pitchFamily="49" charset="-122"/>
                <a:cs typeface="Times New Roman" pitchFamily="18" charset="0"/>
              </a:rPr>
              <a:t>安全因数</a:t>
            </a:r>
          </a:p>
          <a:p>
            <a:pPr eaLnBrk="0" hangingPunct="0">
              <a:defRPr/>
            </a:pPr>
            <a:r>
              <a:rPr kumimoji="1" lang="en-US" altLang="zh-CN" sz="2400" b="1" dirty="0">
                <a:solidFill>
                  <a:srgbClr val="0000FF"/>
                </a:solidFill>
                <a:latin typeface="Times New Roman" pitchFamily="18" charset="0"/>
                <a:ea typeface="楷体_GB2312" pitchFamily="49" charset="-122"/>
                <a:cs typeface="Times New Roman" pitchFamily="18" charset="0"/>
              </a:rPr>
              <a:t>(</a:t>
            </a:r>
            <a:r>
              <a:rPr kumimoji="1" lang="en-US" altLang="zh-CN" sz="2400" dirty="0">
                <a:solidFill>
                  <a:srgbClr val="0000FF"/>
                </a:solidFill>
                <a:latin typeface="Times New Roman" pitchFamily="18" charset="0"/>
                <a:ea typeface="楷体_GB2312" pitchFamily="49" charset="-122"/>
                <a:cs typeface="Times New Roman" pitchFamily="18" charset="0"/>
              </a:rPr>
              <a:t>factor of safety</a:t>
            </a:r>
            <a:r>
              <a:rPr kumimoji="1" lang="en-US" altLang="zh-CN" sz="2400" b="1" dirty="0">
                <a:solidFill>
                  <a:srgbClr val="0000FF"/>
                </a:solidFill>
                <a:latin typeface="Times New Roman" pitchFamily="18" charset="0"/>
                <a:ea typeface="楷体_GB2312" pitchFamily="49" charset="-122"/>
                <a:cs typeface="Times New Roman" pitchFamily="18" charset="0"/>
              </a:rPr>
              <a:t>)</a:t>
            </a:r>
          </a:p>
        </p:txBody>
      </p:sp>
      <p:sp>
        <p:nvSpPr>
          <p:cNvPr id="174100" name="Text Box 20"/>
          <p:cNvSpPr txBox="1">
            <a:spLocks noChangeArrowheads="1"/>
          </p:cNvSpPr>
          <p:nvPr/>
        </p:nvSpPr>
        <p:spPr bwMode="auto">
          <a:xfrm>
            <a:off x="6401421" y="5561252"/>
            <a:ext cx="2711450"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400" b="1" dirty="0">
                <a:solidFill>
                  <a:srgbClr val="0000FF"/>
                </a:solidFill>
                <a:latin typeface="Times New Roman" panose="02020603050405020304" pitchFamily="18" charset="0"/>
                <a:ea typeface="楷体_GB2312" pitchFamily="49" charset="-122"/>
                <a:cs typeface="Times New Roman" panose="02020603050405020304" pitchFamily="18" charset="0"/>
              </a:rPr>
              <a:t>[</a:t>
            </a:r>
            <a:r>
              <a:rPr kumimoji="1" lang="el-GR" altLang="zh-CN" sz="2400" b="1" i="1" dirty="0">
                <a:solidFill>
                  <a:srgbClr val="0000FF"/>
                </a:solidFill>
                <a:ea typeface="楷体_GB2312" pitchFamily="49" charset="-122"/>
                <a:cs typeface="Times New Roman" panose="02020603050405020304" pitchFamily="18" charset="0"/>
                <a:sym typeface="Symbol" panose="05050102010706020507" pitchFamily="18" charset="2"/>
              </a:rPr>
              <a:t></a:t>
            </a:r>
            <a:r>
              <a:rPr kumimoji="1" lang="en-US" altLang="zh-CN" sz="2400" b="1" i="1" dirty="0">
                <a:solidFill>
                  <a:srgbClr val="0000FF"/>
                </a:solidFill>
                <a:latin typeface="Times New Roman" panose="02020603050405020304" pitchFamily="18" charset="0"/>
                <a:ea typeface="楷体_GB2312" pitchFamily="49" charset="-122"/>
                <a:cs typeface="Times New Roman" panose="02020603050405020304" pitchFamily="18" charset="0"/>
              </a:rPr>
              <a:t> </a:t>
            </a:r>
            <a:r>
              <a:rPr kumimoji="1" lang="en-US" altLang="zh-CN" sz="2400" b="1" dirty="0">
                <a:solidFill>
                  <a:srgbClr val="0000FF"/>
                </a:solidFill>
                <a:latin typeface="Times New Roman" panose="02020603050405020304" pitchFamily="18" charset="0"/>
                <a:ea typeface="楷体_GB2312" pitchFamily="49" charset="-122"/>
                <a:cs typeface="Times New Roman" panose="02020603050405020304" pitchFamily="18" charset="0"/>
              </a:rPr>
              <a:t>]</a:t>
            </a:r>
            <a:r>
              <a:rPr kumimoji="1" lang="zh-CN" altLang="en-US" sz="2400" b="1" dirty="0">
                <a:solidFill>
                  <a:srgbClr val="0000FF"/>
                </a:solidFill>
                <a:latin typeface="Times New Roman" panose="02020603050405020304" pitchFamily="18" charset="0"/>
                <a:ea typeface="楷体_GB2312" pitchFamily="49" charset="-122"/>
                <a:cs typeface="Times New Roman" panose="02020603050405020304" pitchFamily="18" charset="0"/>
              </a:rPr>
              <a:t>：</a:t>
            </a:r>
            <a:r>
              <a:rPr kumimoji="1" lang="zh-CN" altLang="en-US" sz="24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许用应力</a:t>
            </a:r>
          </a:p>
          <a:p>
            <a:r>
              <a:rPr kumimoji="1" lang="en-US" altLang="zh-CN" sz="2400" b="1" dirty="0">
                <a:solidFill>
                  <a:srgbClr val="0000FF"/>
                </a:solidFill>
                <a:latin typeface="Times New Roman" panose="02020603050405020304" pitchFamily="18" charset="0"/>
                <a:ea typeface="楷体_GB2312" pitchFamily="49" charset="-122"/>
                <a:cs typeface="Times New Roman" panose="02020603050405020304" pitchFamily="18" charset="0"/>
              </a:rPr>
              <a:t>(</a:t>
            </a:r>
            <a:r>
              <a:rPr kumimoji="1" lang="en-US" altLang="zh-CN" sz="2400" dirty="0">
                <a:solidFill>
                  <a:srgbClr val="0000FF"/>
                </a:solidFill>
                <a:latin typeface="Times New Roman" panose="02020603050405020304" pitchFamily="18" charset="0"/>
                <a:ea typeface="楷体_GB2312" pitchFamily="49" charset="-122"/>
                <a:cs typeface="Times New Roman" panose="02020603050405020304" pitchFamily="18" charset="0"/>
              </a:rPr>
              <a:t>allowable stress)</a:t>
            </a:r>
          </a:p>
        </p:txBody>
      </p:sp>
      <p:sp>
        <p:nvSpPr>
          <p:cNvPr id="171010" name="Text Box 2"/>
          <p:cNvSpPr txBox="1">
            <a:spLocks noChangeArrowheads="1"/>
          </p:cNvSpPr>
          <p:nvPr/>
        </p:nvSpPr>
        <p:spPr bwMode="auto">
          <a:xfrm>
            <a:off x="233983" y="743145"/>
            <a:ext cx="351085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800" b="1" dirty="0">
                <a:solidFill>
                  <a:srgbClr val="FF3300"/>
                </a:solidFill>
                <a:latin typeface="黑体" panose="02010609060101010101" pitchFamily="49" charset="-122"/>
                <a:ea typeface="黑体" panose="02010609060101010101" pitchFamily="49" charset="-122"/>
              </a:rPr>
              <a:t>一、</a:t>
            </a:r>
            <a:r>
              <a:rPr kumimoji="1" lang="zh-CN" altLang="en-US" sz="2800" b="1" dirty="0">
                <a:solidFill>
                  <a:srgbClr val="FF3300"/>
                </a:solidFill>
                <a:latin typeface="黑体" panose="02010609060101010101" pitchFamily="49" charset="-122"/>
                <a:ea typeface="黑体" panose="02010609060101010101" pitchFamily="49" charset="-122"/>
                <a:cs typeface="Times New Roman" panose="02020603050405020304" pitchFamily="18" charset="0"/>
              </a:rPr>
              <a:t> 拉压强度理论</a:t>
            </a:r>
            <a:endParaRPr kumimoji="1" lang="zh-CN" altLang="en-US" sz="2800" b="1" dirty="0">
              <a:solidFill>
                <a:srgbClr val="FF3300"/>
              </a:solidFill>
              <a:latin typeface="黑体" panose="02010609060101010101" pitchFamily="49" charset="-122"/>
              <a:ea typeface="黑体" panose="02010609060101010101" pitchFamily="49" charset="-122"/>
            </a:endParaRPr>
          </a:p>
        </p:txBody>
      </p:sp>
      <p:sp>
        <p:nvSpPr>
          <p:cNvPr id="25" name="Rectangle 32"/>
          <p:cNvSpPr>
            <a:spLocks noChangeArrowheads="1"/>
          </p:cNvSpPr>
          <p:nvPr/>
        </p:nvSpPr>
        <p:spPr bwMode="auto">
          <a:xfrm>
            <a:off x="343887" y="228187"/>
            <a:ext cx="6769100" cy="585418"/>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3200" b="1" dirty="0">
                <a:solidFill>
                  <a:srgbClr val="0000CC"/>
                </a:solidFill>
                <a:latin typeface="Times New Roman" panose="02020603050405020304" pitchFamily="18" charset="0"/>
                <a:ea typeface="隶书" panose="02010509060101010101" pitchFamily="49" charset="-122"/>
              </a:rPr>
              <a:t>6-4  </a:t>
            </a:r>
            <a:r>
              <a:rPr kumimoji="1" lang="zh-CN" altLang="en-US" sz="3200" b="1" dirty="0">
                <a:solidFill>
                  <a:srgbClr val="0000CC"/>
                </a:solidFill>
                <a:latin typeface="Times New Roman" panose="02020603050405020304" pitchFamily="18" charset="0"/>
                <a:ea typeface="隶书" panose="02010509060101010101" pitchFamily="49" charset="-122"/>
              </a:rPr>
              <a:t>强度理论与安全因数</a:t>
            </a:r>
          </a:p>
        </p:txBody>
      </p:sp>
      <p:sp>
        <p:nvSpPr>
          <p:cNvPr id="26" name="Text Box 5"/>
          <p:cNvSpPr txBox="1">
            <a:spLocks noChangeArrowheads="1"/>
          </p:cNvSpPr>
          <p:nvPr/>
        </p:nvSpPr>
        <p:spPr bwMode="auto">
          <a:xfrm>
            <a:off x="512581" y="1865483"/>
            <a:ext cx="7847013"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Clr>
                <a:srgbClr val="080808"/>
              </a:buClr>
              <a:buFont typeface="Wingdings" panose="05000000000000000000" pitchFamily="2" charset="2"/>
              <a:buChar char="n"/>
            </a:pPr>
            <a:r>
              <a:rPr kumimoji="1" lang="zh-CN" altLang="en-US" sz="2400" b="1" dirty="0">
                <a:solidFill>
                  <a:srgbClr val="080808"/>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塑性材料：</a:t>
            </a:r>
            <a:r>
              <a:rPr kumimoji="1" lang="zh-CN" altLang="en-US" sz="2400" b="1" dirty="0">
                <a:solidFill>
                  <a:srgbClr val="080808"/>
                </a:solidFill>
                <a:latin typeface="Times New Roman" panose="02020603050405020304" pitchFamily="18" charset="0"/>
                <a:ea typeface="华文楷体" panose="02010600040101010101" pitchFamily="2" charset="-122"/>
                <a:cs typeface="Times New Roman" panose="02020603050405020304" pitchFamily="18" charset="0"/>
              </a:rPr>
              <a:t>当应力达到屈服极限时，将产生显著的塑性变形，从而导致构件失效，故</a:t>
            </a:r>
          </a:p>
        </p:txBody>
      </p:sp>
      <p:graphicFrame>
        <p:nvGraphicFramePr>
          <p:cNvPr id="27" name="Object 6"/>
          <p:cNvGraphicFramePr>
            <a:graphicFrameLocks/>
          </p:cNvGraphicFramePr>
          <p:nvPr>
            <p:extLst>
              <p:ext uri="{D42A27DB-BD31-4B8C-83A1-F6EECF244321}">
                <p14:modId xmlns:p14="http://schemas.microsoft.com/office/powerpoint/2010/main" val="1111871361"/>
              </p:ext>
            </p:extLst>
          </p:nvPr>
        </p:nvGraphicFramePr>
        <p:xfrm>
          <a:off x="2179930" y="2658385"/>
          <a:ext cx="3097014" cy="547687"/>
        </p:xfrm>
        <a:graphic>
          <a:graphicData uri="http://schemas.openxmlformats.org/presentationml/2006/ole">
            <mc:AlternateContent xmlns:mc="http://schemas.openxmlformats.org/markup-compatibility/2006">
              <mc:Choice xmlns:v="urn:schemas-microsoft-com:vml" Requires="v">
                <p:oleObj name="公式" r:id="rId10" imgW="1314360" imgH="228600" progId="Equation.3">
                  <p:embed/>
                </p:oleObj>
              </mc:Choice>
              <mc:Fallback>
                <p:oleObj name="公式" r:id="rId10" imgW="1314360" imgH="228600" progId="Equation.3">
                  <p:embed/>
                  <p:pic>
                    <p:nvPicPr>
                      <p:cNvPr id="0" name=""/>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79930" y="2658385"/>
                        <a:ext cx="3097014" cy="547687"/>
                      </a:xfrm>
                      <a:prstGeom prst="rect">
                        <a:avLst/>
                      </a:prstGeom>
                      <a:noFill/>
                      <a:ln>
                        <a:noFill/>
                      </a:ln>
                      <a:effectLst/>
                    </p:spPr>
                  </p:pic>
                </p:oleObj>
              </mc:Fallback>
            </mc:AlternateContent>
          </a:graphicData>
        </a:graphic>
      </p:graphicFrame>
      <p:sp>
        <p:nvSpPr>
          <p:cNvPr id="28" name="Text Box 8"/>
          <p:cNvSpPr txBox="1">
            <a:spLocks noChangeArrowheads="1"/>
          </p:cNvSpPr>
          <p:nvPr/>
        </p:nvSpPr>
        <p:spPr bwMode="auto">
          <a:xfrm>
            <a:off x="501906" y="3181465"/>
            <a:ext cx="819626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Clr>
                <a:srgbClr val="080808"/>
              </a:buClr>
              <a:buFont typeface="Wingdings" panose="05000000000000000000" pitchFamily="2" charset="2"/>
              <a:buChar char="n"/>
            </a:pPr>
            <a:r>
              <a:rPr kumimoji="1" lang="zh-CN" altLang="en-US" sz="2400" b="1" dirty="0">
                <a:solidFill>
                  <a:srgbClr val="080808"/>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脆性材料：</a:t>
            </a:r>
            <a:r>
              <a:rPr kumimoji="1" lang="zh-CN" altLang="en-US" sz="2400" b="1" dirty="0">
                <a:solidFill>
                  <a:srgbClr val="080808"/>
                </a:solidFill>
                <a:latin typeface="Times New Roman" panose="02020603050405020304" pitchFamily="18" charset="0"/>
                <a:ea typeface="华文楷体" panose="02010600040101010101" pitchFamily="2" charset="-122"/>
                <a:cs typeface="Times New Roman" panose="02020603050405020304" pitchFamily="18" charset="0"/>
              </a:rPr>
              <a:t>当应力达到强度极限时，将发生破坏，故</a:t>
            </a:r>
          </a:p>
        </p:txBody>
      </p:sp>
      <p:graphicFrame>
        <p:nvGraphicFramePr>
          <p:cNvPr id="29" name="Object 9"/>
          <p:cNvGraphicFramePr>
            <a:graphicFrameLocks/>
          </p:cNvGraphicFramePr>
          <p:nvPr>
            <p:extLst>
              <p:ext uri="{D42A27DB-BD31-4B8C-83A1-F6EECF244321}">
                <p14:modId xmlns:p14="http://schemas.microsoft.com/office/powerpoint/2010/main" val="2214989959"/>
              </p:ext>
            </p:extLst>
          </p:nvPr>
        </p:nvGraphicFramePr>
        <p:xfrm>
          <a:off x="2866289" y="3601831"/>
          <a:ext cx="1403366" cy="572293"/>
        </p:xfrm>
        <a:graphic>
          <a:graphicData uri="http://schemas.openxmlformats.org/presentationml/2006/ole">
            <mc:AlternateContent xmlns:mc="http://schemas.openxmlformats.org/markup-compatibility/2006">
              <mc:Choice xmlns:v="urn:schemas-microsoft-com:vml" Requires="v">
                <p:oleObj name="Equation" r:id="rId12" imgW="514350" imgH="228600" progId="Equation.3">
                  <p:embed/>
                </p:oleObj>
              </mc:Choice>
              <mc:Fallback>
                <p:oleObj name="Equation" r:id="rId12" imgW="514350" imgH="228600" progId="Equation.3">
                  <p:embed/>
                  <p:pic>
                    <p:nvPicPr>
                      <p:cNvPr id="0" name=""/>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66289" y="3601831"/>
                        <a:ext cx="1403366" cy="572293"/>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11725180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1010"/>
                                        </p:tgtEl>
                                        <p:attrNameLst>
                                          <p:attrName>style.visibility</p:attrName>
                                        </p:attrNameLst>
                                      </p:cBhvr>
                                      <p:to>
                                        <p:strVal val="visible"/>
                                      </p:to>
                                    </p:set>
                                    <p:animEffect transition="in" filter="fade">
                                      <p:cBhvr>
                                        <p:cTn id="7" dur="500"/>
                                        <p:tgtEl>
                                          <p:spTgt spid="1710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455"/>
                                        </p:tgtEl>
                                        <p:attrNameLst>
                                          <p:attrName>style.visibility</p:attrName>
                                        </p:attrNameLst>
                                      </p:cBhvr>
                                      <p:to>
                                        <p:strVal val="visible"/>
                                      </p:to>
                                    </p:set>
                                    <p:animEffect transition="in" filter="blinds(horizontal)">
                                      <p:cBhvr>
                                        <p:cTn id="12" dur="500"/>
                                        <p:tgtEl>
                                          <p:spTgt spid="1845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blinds(horizontal)">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blinds(horizontal)">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blinds(horizontal)">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blinds(horizontal)">
                                      <p:cBhvr>
                                        <p:cTn id="32" dur="500"/>
                                        <p:tgtEl>
                                          <p:spTgt spid="2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74084"/>
                                        </p:tgtEl>
                                        <p:attrNameLst>
                                          <p:attrName>style.visibility</p:attrName>
                                        </p:attrNameLst>
                                      </p:cBhvr>
                                      <p:to>
                                        <p:strVal val="visible"/>
                                      </p:to>
                                    </p:set>
                                    <p:animEffect transition="in" filter="dissolve">
                                      <p:cBhvr>
                                        <p:cTn id="37" dur="500"/>
                                        <p:tgtEl>
                                          <p:spTgt spid="174084"/>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nodeType="clickEffect">
                                  <p:stCondLst>
                                    <p:cond delay="0"/>
                                  </p:stCondLst>
                                  <p:childTnLst>
                                    <p:set>
                                      <p:cBhvr>
                                        <p:cTn id="41" dur="1" fill="hold">
                                          <p:stCondLst>
                                            <p:cond delay="0"/>
                                          </p:stCondLst>
                                        </p:cTn>
                                        <p:tgtEl>
                                          <p:spTgt spid="174088"/>
                                        </p:tgtEl>
                                        <p:attrNameLst>
                                          <p:attrName>style.visibility</p:attrName>
                                        </p:attrNameLst>
                                      </p:cBhvr>
                                      <p:to>
                                        <p:strVal val="visible"/>
                                      </p:to>
                                    </p:set>
                                    <p:animEffect transition="in" filter="box(out)">
                                      <p:cBhvr>
                                        <p:cTn id="42" dur="500"/>
                                        <p:tgtEl>
                                          <p:spTgt spid="174088"/>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32" fill="hold" nodeType="clickEffect">
                                  <p:stCondLst>
                                    <p:cond delay="0"/>
                                  </p:stCondLst>
                                  <p:childTnLst>
                                    <p:set>
                                      <p:cBhvr>
                                        <p:cTn id="46" dur="1" fill="hold">
                                          <p:stCondLst>
                                            <p:cond delay="0"/>
                                          </p:stCondLst>
                                        </p:cTn>
                                        <p:tgtEl>
                                          <p:spTgt spid="174089"/>
                                        </p:tgtEl>
                                        <p:attrNameLst>
                                          <p:attrName>style.visibility</p:attrName>
                                        </p:attrNameLst>
                                      </p:cBhvr>
                                      <p:to>
                                        <p:strVal val="visible"/>
                                      </p:to>
                                    </p:set>
                                    <p:animEffect transition="in" filter="box(out)">
                                      <p:cBhvr>
                                        <p:cTn id="47" dur="500"/>
                                        <p:tgtEl>
                                          <p:spTgt spid="174089"/>
                                        </p:tgtEl>
                                      </p:cBhvr>
                                    </p:animEffect>
                                  </p:childTnLst>
                                  <p:subTnLst>
                                    <p:set>
                                      <p:cBhvr override="childStyle">
                                        <p:cTn dur="1" fill="hold" display="0" masterRel="nextClick" afterEffect="1"/>
                                        <p:tgtEl>
                                          <p:spTgt spid="174089"/>
                                        </p:tgtEl>
                                        <p:attrNameLst>
                                          <p:attrName>style.visibility</p:attrName>
                                        </p:attrNameLst>
                                      </p:cBhvr>
                                      <p:to>
                                        <p:strVal val="hidden"/>
                                      </p:to>
                                    </p:set>
                                  </p:subTnLst>
                                </p:cTn>
                              </p:par>
                            </p:childTnLst>
                          </p:cTn>
                        </p:par>
                      </p:childTnLst>
                    </p:cTn>
                  </p:par>
                  <p:par>
                    <p:cTn id="48" fill="hold">
                      <p:stCondLst>
                        <p:cond delay="indefinite"/>
                      </p:stCondLst>
                      <p:childTnLst>
                        <p:par>
                          <p:cTn id="49" fill="hold">
                            <p:stCondLst>
                              <p:cond delay="0"/>
                            </p:stCondLst>
                            <p:childTnLst>
                              <p:par>
                                <p:cTn id="50" presetID="4" presetClass="entr" presetSubtype="32" fill="hold" nodeType="clickEffect">
                                  <p:stCondLst>
                                    <p:cond delay="0"/>
                                  </p:stCondLst>
                                  <p:childTnLst>
                                    <p:set>
                                      <p:cBhvr>
                                        <p:cTn id="51" dur="1" fill="hold">
                                          <p:stCondLst>
                                            <p:cond delay="0"/>
                                          </p:stCondLst>
                                        </p:cTn>
                                        <p:tgtEl>
                                          <p:spTgt spid="174091"/>
                                        </p:tgtEl>
                                        <p:attrNameLst>
                                          <p:attrName>style.visibility</p:attrName>
                                        </p:attrNameLst>
                                      </p:cBhvr>
                                      <p:to>
                                        <p:strVal val="visible"/>
                                      </p:to>
                                    </p:set>
                                    <p:animEffect transition="in" filter="box(out)">
                                      <p:cBhvr>
                                        <p:cTn id="52" dur="500"/>
                                        <p:tgtEl>
                                          <p:spTgt spid="174091"/>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32" fill="hold" nodeType="clickEffect">
                                  <p:stCondLst>
                                    <p:cond delay="0"/>
                                  </p:stCondLst>
                                  <p:childTnLst>
                                    <p:set>
                                      <p:cBhvr>
                                        <p:cTn id="56" dur="1" fill="hold">
                                          <p:stCondLst>
                                            <p:cond delay="0"/>
                                          </p:stCondLst>
                                        </p:cTn>
                                        <p:tgtEl>
                                          <p:spTgt spid="174090"/>
                                        </p:tgtEl>
                                        <p:attrNameLst>
                                          <p:attrName>style.visibility</p:attrName>
                                        </p:attrNameLst>
                                      </p:cBhvr>
                                      <p:to>
                                        <p:strVal val="visible"/>
                                      </p:to>
                                    </p:set>
                                    <p:animEffect transition="in" filter="box(out)">
                                      <p:cBhvr>
                                        <p:cTn id="57" dur="500"/>
                                        <p:tgtEl>
                                          <p:spTgt spid="174090"/>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174113"/>
                                        </p:tgtEl>
                                        <p:attrNameLst>
                                          <p:attrName>style.visibility</p:attrName>
                                        </p:attrNameLst>
                                      </p:cBhvr>
                                      <p:to>
                                        <p:strVal val="visible"/>
                                      </p:to>
                                    </p:set>
                                    <p:animEffect transition="in" filter="blinds(horizontal)">
                                      <p:cBhvr>
                                        <p:cTn id="62" dur="500"/>
                                        <p:tgtEl>
                                          <p:spTgt spid="174113"/>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174099"/>
                                        </p:tgtEl>
                                        <p:attrNameLst>
                                          <p:attrName>style.visibility</p:attrName>
                                        </p:attrNameLst>
                                      </p:cBhvr>
                                      <p:to>
                                        <p:strVal val="visible"/>
                                      </p:to>
                                    </p:set>
                                    <p:animEffect transition="in" filter="dissolve">
                                      <p:cBhvr>
                                        <p:cTn id="67" dur="500"/>
                                        <p:tgtEl>
                                          <p:spTgt spid="174099"/>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174100"/>
                                        </p:tgtEl>
                                        <p:attrNameLst>
                                          <p:attrName>style.visibility</p:attrName>
                                        </p:attrNameLst>
                                      </p:cBhvr>
                                      <p:to>
                                        <p:strVal val="visible"/>
                                      </p:to>
                                    </p:set>
                                    <p:animEffect transition="in" filter="dissolve">
                                      <p:cBhvr>
                                        <p:cTn id="72" dur="500"/>
                                        <p:tgtEl>
                                          <p:spTgt spid="174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4" grpId="0" autoUpdateAnimBg="0"/>
      <p:bldP spid="18455" grpId="0"/>
      <p:bldP spid="174099" grpId="0" autoUpdateAnimBg="0"/>
      <p:bldP spid="174100" grpId="0" autoUpdateAnimBg="0"/>
      <p:bldP spid="171010" grpId="0"/>
      <p:bldP spid="26" grpId="0"/>
      <p:bldP spid="2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2754" name="Object 2"/>
          <p:cNvGraphicFramePr>
            <a:graphicFrameLocks/>
          </p:cNvGraphicFramePr>
          <p:nvPr>
            <p:extLst>
              <p:ext uri="{D42A27DB-BD31-4B8C-83A1-F6EECF244321}">
                <p14:modId xmlns:p14="http://schemas.microsoft.com/office/powerpoint/2010/main" val="3632626149"/>
              </p:ext>
            </p:extLst>
          </p:nvPr>
        </p:nvGraphicFramePr>
        <p:xfrm>
          <a:off x="1054853" y="1279657"/>
          <a:ext cx="1736725" cy="538162"/>
        </p:xfrm>
        <a:graphic>
          <a:graphicData uri="http://schemas.openxmlformats.org/presentationml/2006/ole">
            <mc:AlternateContent xmlns:mc="http://schemas.openxmlformats.org/markup-compatibility/2006">
              <mc:Choice xmlns:v="urn:schemas-microsoft-com:vml" Requires="v">
                <p:oleObj name="Equation" r:id="rId2" imgW="704970" imgH="219165" progId="Equation.DSMT4">
                  <p:embed/>
                </p:oleObj>
              </mc:Choice>
              <mc:Fallback>
                <p:oleObj name="Equation" r:id="rId2" imgW="704970" imgH="219165" progId="Equation.DSMT4">
                  <p:embed/>
                  <p:pic>
                    <p:nvPicPr>
                      <p:cNvPr id="0" nam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4853" y="1279657"/>
                        <a:ext cx="1736725" cy="538162"/>
                      </a:xfrm>
                      <a:prstGeom prst="rect">
                        <a:avLst/>
                      </a:prstGeom>
                      <a:noFill/>
                      <a:ln>
                        <a:noFill/>
                      </a:ln>
                      <a:effectLst/>
                    </p:spPr>
                  </p:pic>
                </p:oleObj>
              </mc:Fallback>
            </mc:AlternateContent>
          </a:graphicData>
        </a:graphic>
      </p:graphicFrame>
      <p:graphicFrame>
        <p:nvGraphicFramePr>
          <p:cNvPr id="202755" name="Object 3"/>
          <p:cNvGraphicFramePr>
            <a:graphicFrameLocks/>
          </p:cNvGraphicFramePr>
          <p:nvPr>
            <p:extLst>
              <p:ext uri="{D42A27DB-BD31-4B8C-83A1-F6EECF244321}">
                <p14:modId xmlns:p14="http://schemas.microsoft.com/office/powerpoint/2010/main" val="1742875412"/>
              </p:ext>
            </p:extLst>
          </p:nvPr>
        </p:nvGraphicFramePr>
        <p:xfrm>
          <a:off x="3495675" y="1301750"/>
          <a:ext cx="3846513" cy="482600"/>
        </p:xfrm>
        <a:graphic>
          <a:graphicData uri="http://schemas.openxmlformats.org/presentationml/2006/ole">
            <mc:AlternateContent xmlns:mc="http://schemas.openxmlformats.org/markup-compatibility/2006">
              <mc:Choice xmlns:v="urn:schemas-microsoft-com:vml" Requires="v">
                <p:oleObj name="Equation" r:id="rId4" imgW="1854000" imgH="228600" progId="Equation.DSMT4">
                  <p:embed/>
                </p:oleObj>
              </mc:Choice>
              <mc:Fallback>
                <p:oleObj name="Equation" r:id="rId4" imgW="1854000" imgH="228600" progId="Equation.DSMT4">
                  <p:embed/>
                  <p:pic>
                    <p:nvPicPr>
                      <p:cNvPr id="0" name=""/>
                      <p:cNvPicPr>
                        <a:picLocks noChangeArrowheads="1"/>
                      </p:cNvPicPr>
                      <p:nvPr/>
                    </p:nvPicPr>
                    <p:blipFill>
                      <a:blip r:embed="rId5"/>
                      <a:srcRect/>
                      <a:stretch>
                        <a:fillRect/>
                      </a:stretch>
                    </p:blipFill>
                    <p:spPr bwMode="auto">
                      <a:xfrm>
                        <a:off x="3495675" y="1301750"/>
                        <a:ext cx="3846513" cy="482600"/>
                      </a:xfrm>
                      <a:prstGeom prst="rect">
                        <a:avLst/>
                      </a:prstGeom>
                      <a:noFill/>
                      <a:ln>
                        <a:noFill/>
                      </a:ln>
                      <a:effectLst/>
                    </p:spPr>
                  </p:pic>
                </p:oleObj>
              </mc:Fallback>
            </mc:AlternateContent>
          </a:graphicData>
        </a:graphic>
      </p:graphicFrame>
      <p:sp>
        <p:nvSpPr>
          <p:cNvPr id="202762" name="Rectangle 10"/>
          <p:cNvSpPr>
            <a:spLocks noChangeArrowheads="1"/>
          </p:cNvSpPr>
          <p:nvPr/>
        </p:nvSpPr>
        <p:spPr bwMode="auto">
          <a:xfrm>
            <a:off x="539552" y="2117626"/>
            <a:ext cx="44688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00"/>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buClr>
                <a:srgbClr val="080808"/>
              </a:buClr>
              <a:buFont typeface="Wingdings" panose="05000000000000000000" pitchFamily="2" charset="2"/>
              <a:buChar char="n"/>
            </a:pPr>
            <a:r>
              <a:rPr kumimoji="1" lang="zh-CN" altLang="en-US" sz="2400" b="1" dirty="0">
                <a:solidFill>
                  <a:srgbClr val="080808"/>
                </a:solidFill>
                <a:latin typeface="Times New Roman" panose="02020603050405020304" pitchFamily="18" charset="0"/>
                <a:ea typeface="华文楷体" panose="02010600040101010101" pitchFamily="2" charset="-122"/>
                <a:cs typeface="Times New Roman" panose="02020603050405020304" pitchFamily="18" charset="0"/>
              </a:rPr>
              <a:t> 为何要引入安全因数</a:t>
            </a:r>
            <a:r>
              <a:rPr kumimoji="1" lang="zh-CN" altLang="en-US" sz="2400" b="1" dirty="0">
                <a:solidFill>
                  <a:srgbClr val="080808"/>
                </a:solidFill>
                <a:latin typeface="楷体" panose="02010609060101010101" pitchFamily="49" charset="-122"/>
                <a:ea typeface="楷体" panose="02010609060101010101" pitchFamily="49" charset="-122"/>
                <a:cs typeface="Times New Roman" panose="02020603050405020304" pitchFamily="18" charset="0"/>
              </a:rPr>
              <a:t>？</a:t>
            </a:r>
          </a:p>
        </p:txBody>
      </p:sp>
      <p:sp>
        <p:nvSpPr>
          <p:cNvPr id="202763" name="Text Box 11"/>
          <p:cNvSpPr txBox="1">
            <a:spLocks noChangeArrowheads="1"/>
          </p:cNvSpPr>
          <p:nvPr/>
        </p:nvSpPr>
        <p:spPr bwMode="auto">
          <a:xfrm>
            <a:off x="969764" y="2625626"/>
            <a:ext cx="363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400" b="1">
                <a:solidFill>
                  <a:srgbClr val="CC3300"/>
                </a:solidFill>
                <a:latin typeface="Times New Roman" panose="02020603050405020304" pitchFamily="18" charset="0"/>
                <a:ea typeface="华文楷体" panose="02010600040101010101" pitchFamily="2" charset="-122"/>
              </a:rPr>
              <a:t>1</a:t>
            </a:r>
            <a:r>
              <a:rPr kumimoji="1" lang="zh-CN" altLang="en-US" sz="2400" b="1">
                <a:solidFill>
                  <a:srgbClr val="CC3300"/>
                </a:solidFill>
                <a:latin typeface="Times New Roman" panose="02020603050405020304" pitchFamily="18" charset="0"/>
                <a:ea typeface="华文楷体" panose="02010600040101010101" pitchFamily="2" charset="-122"/>
              </a:rPr>
              <a:t>、误差和不确定因数</a:t>
            </a:r>
          </a:p>
        </p:txBody>
      </p:sp>
      <p:sp>
        <p:nvSpPr>
          <p:cNvPr id="202764" name="Text Box 12"/>
          <p:cNvSpPr txBox="1">
            <a:spLocks noChangeArrowheads="1"/>
          </p:cNvSpPr>
          <p:nvPr/>
        </p:nvSpPr>
        <p:spPr bwMode="auto">
          <a:xfrm>
            <a:off x="5078214" y="2578001"/>
            <a:ext cx="32019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400" b="1" dirty="0">
                <a:solidFill>
                  <a:srgbClr val="CC3300"/>
                </a:solidFill>
                <a:latin typeface="Times New Roman" panose="02020603050405020304" pitchFamily="18" charset="0"/>
                <a:ea typeface="华文楷体" panose="02010600040101010101" pitchFamily="2" charset="-122"/>
              </a:rPr>
              <a:t>2</a:t>
            </a:r>
            <a:r>
              <a:rPr kumimoji="1" lang="zh-CN" altLang="en-US" sz="2400" b="1" dirty="0">
                <a:solidFill>
                  <a:srgbClr val="CC3300"/>
                </a:solidFill>
                <a:latin typeface="Times New Roman" panose="02020603050405020304" pitchFamily="18" charset="0"/>
                <a:ea typeface="华文楷体" panose="02010600040101010101" pitchFamily="2" charset="-122"/>
              </a:rPr>
              <a:t>、必要的强度储备</a:t>
            </a:r>
          </a:p>
        </p:txBody>
      </p:sp>
      <p:sp>
        <p:nvSpPr>
          <p:cNvPr id="202765" name="Rectangle 13"/>
          <p:cNvSpPr>
            <a:spLocks noChangeArrowheads="1"/>
          </p:cNvSpPr>
          <p:nvPr/>
        </p:nvSpPr>
        <p:spPr bwMode="auto">
          <a:xfrm>
            <a:off x="555427" y="3178076"/>
            <a:ext cx="5089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00"/>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buClr>
                <a:srgbClr val="080808"/>
              </a:buClr>
              <a:buFont typeface="Wingdings" panose="05000000000000000000" pitchFamily="2" charset="2"/>
              <a:buChar char="n"/>
            </a:pPr>
            <a:r>
              <a:rPr kumimoji="1" lang="zh-CN" altLang="en-US" sz="2400" b="1" dirty="0">
                <a:solidFill>
                  <a:srgbClr val="080808"/>
                </a:solidFill>
                <a:latin typeface="Times New Roman" panose="02020603050405020304" pitchFamily="18" charset="0"/>
                <a:ea typeface="华文楷体" panose="02010600040101010101" pitchFamily="2" charset="-122"/>
                <a:cs typeface="Times New Roman" panose="02020603050405020304" pitchFamily="18" charset="0"/>
              </a:rPr>
              <a:t> 安全因数的选取，应考虑：</a:t>
            </a:r>
          </a:p>
        </p:txBody>
      </p:sp>
      <p:sp>
        <p:nvSpPr>
          <p:cNvPr id="202766" name="Rectangle 14"/>
          <p:cNvSpPr>
            <a:spLocks noChangeArrowheads="1"/>
          </p:cNvSpPr>
          <p:nvPr/>
        </p:nvSpPr>
        <p:spPr bwMode="auto">
          <a:xfrm>
            <a:off x="926902" y="3743226"/>
            <a:ext cx="7187865" cy="942438"/>
          </a:xfrm>
          <a:prstGeom prst="rect">
            <a:avLst/>
          </a:prstGeom>
          <a:noFill/>
          <a:ln>
            <a:noFill/>
          </a:ln>
          <a:effectLst/>
          <a:extLst>
            <a:ext uri="{909E8E84-426E-40DD-AFC4-6F175D3DCCD1}">
              <a14:hiddenFill xmlns:a14="http://schemas.microsoft.com/office/drawing/2010/main">
                <a:solidFill>
                  <a:srgbClr val="CC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i="1" dirty="0">
                <a:solidFill>
                  <a:srgbClr val="FF00FF"/>
                </a:solidFill>
                <a:latin typeface="Times New Roman" panose="02020603050405020304" pitchFamily="18" charset="0"/>
                <a:ea typeface="华文楷体" panose="02010600040101010101" pitchFamily="2" charset="-122"/>
              </a:rPr>
              <a:t> </a:t>
            </a:r>
            <a:r>
              <a:rPr kumimoji="1" lang="en-US" altLang="zh-CN" sz="2400" b="1" dirty="0">
                <a:solidFill>
                  <a:srgbClr val="C00000"/>
                </a:solidFill>
                <a:latin typeface="Times New Roman" panose="02020603050405020304" pitchFamily="18" charset="0"/>
                <a:ea typeface="华文楷体" panose="02010600040101010101" pitchFamily="2" charset="-122"/>
              </a:rPr>
              <a:t>1</a:t>
            </a:r>
            <a:r>
              <a:rPr kumimoji="1" lang="zh-CN" altLang="en-US" sz="2400" b="1" dirty="0">
                <a:solidFill>
                  <a:srgbClr val="C00000"/>
                </a:solidFill>
                <a:latin typeface="Times New Roman" panose="02020603050405020304" pitchFamily="18" charset="0"/>
                <a:ea typeface="华文楷体" panose="02010600040101010101" pitchFamily="2" charset="-122"/>
              </a:rPr>
              <a:t>、材质均匀性；</a:t>
            </a:r>
            <a:r>
              <a:rPr kumimoji="1" lang="en-US" altLang="zh-CN" sz="2400" b="1" dirty="0">
                <a:solidFill>
                  <a:srgbClr val="C00000"/>
                </a:solidFill>
                <a:latin typeface="Times New Roman" panose="02020603050405020304" pitchFamily="18" charset="0"/>
                <a:ea typeface="华文楷体" panose="02010600040101010101" pitchFamily="2" charset="-122"/>
              </a:rPr>
              <a:t>2</a:t>
            </a:r>
            <a:r>
              <a:rPr kumimoji="1" lang="zh-CN" altLang="en-US" sz="2400" b="1" dirty="0">
                <a:solidFill>
                  <a:srgbClr val="C00000"/>
                </a:solidFill>
                <a:latin typeface="Times New Roman" panose="02020603050405020304" pitchFamily="18" charset="0"/>
                <a:ea typeface="华文楷体" panose="02010600040101010101" pitchFamily="2" charset="-122"/>
              </a:rPr>
              <a:t>、载荷准确性；</a:t>
            </a:r>
            <a:r>
              <a:rPr kumimoji="1" lang="en-US" altLang="zh-CN" sz="2400" b="1" dirty="0">
                <a:solidFill>
                  <a:srgbClr val="C00000"/>
                </a:solidFill>
                <a:latin typeface="Times New Roman" panose="02020603050405020304" pitchFamily="18" charset="0"/>
                <a:ea typeface="华文楷体" panose="02010600040101010101" pitchFamily="2" charset="-122"/>
              </a:rPr>
              <a:t>3</a:t>
            </a:r>
            <a:r>
              <a:rPr kumimoji="1" lang="zh-CN" altLang="en-US" sz="2400" b="1" dirty="0">
                <a:solidFill>
                  <a:srgbClr val="C00000"/>
                </a:solidFill>
                <a:latin typeface="Times New Roman" panose="02020603050405020304" pitchFamily="18" charset="0"/>
                <a:ea typeface="华文楷体" panose="02010600040101010101" pitchFamily="2" charset="-122"/>
              </a:rPr>
              <a:t>、计算精确性；</a:t>
            </a:r>
          </a:p>
          <a:p>
            <a:pPr>
              <a:lnSpc>
                <a:spcPct val="130000"/>
              </a:lnSpc>
            </a:pPr>
            <a:r>
              <a:rPr kumimoji="1" lang="zh-CN" altLang="en-US" sz="2400" b="1" dirty="0">
                <a:solidFill>
                  <a:srgbClr val="C00000"/>
                </a:solidFill>
                <a:latin typeface="Times New Roman" panose="02020603050405020304" pitchFamily="18" charset="0"/>
                <a:ea typeface="华文楷体" panose="02010600040101010101" pitchFamily="2" charset="-122"/>
              </a:rPr>
              <a:t> </a:t>
            </a:r>
            <a:r>
              <a:rPr kumimoji="1" lang="en-US" altLang="zh-CN" sz="2400" b="1" dirty="0">
                <a:solidFill>
                  <a:srgbClr val="C00000"/>
                </a:solidFill>
                <a:latin typeface="Times New Roman" panose="02020603050405020304" pitchFamily="18" charset="0"/>
                <a:ea typeface="华文楷体" panose="02010600040101010101" pitchFamily="2" charset="-122"/>
              </a:rPr>
              <a:t>4</a:t>
            </a:r>
            <a:r>
              <a:rPr kumimoji="1" lang="zh-CN" altLang="en-US" sz="2400" b="1" dirty="0">
                <a:solidFill>
                  <a:srgbClr val="C00000"/>
                </a:solidFill>
                <a:latin typeface="Times New Roman" panose="02020603050405020304" pitchFamily="18" charset="0"/>
                <a:ea typeface="华文楷体" panose="02010600040101010101" pitchFamily="2" charset="-122"/>
              </a:rPr>
              <a:t>、构件重要性；</a:t>
            </a:r>
            <a:r>
              <a:rPr kumimoji="1" lang="en-US" altLang="zh-CN" sz="2400" b="1" dirty="0">
                <a:solidFill>
                  <a:srgbClr val="C00000"/>
                </a:solidFill>
                <a:latin typeface="Times New Roman" panose="02020603050405020304" pitchFamily="18" charset="0"/>
                <a:ea typeface="华文楷体" panose="02010600040101010101" pitchFamily="2" charset="-122"/>
              </a:rPr>
              <a:t>5</a:t>
            </a:r>
            <a:r>
              <a:rPr kumimoji="1" lang="zh-CN" altLang="en-US" sz="2400" b="1" dirty="0">
                <a:solidFill>
                  <a:srgbClr val="C00000"/>
                </a:solidFill>
                <a:latin typeface="Times New Roman" panose="02020603050405020304" pitchFamily="18" charset="0"/>
                <a:ea typeface="华文楷体" panose="02010600040101010101" pitchFamily="2" charset="-122"/>
              </a:rPr>
              <a:t>、使用时间性；</a:t>
            </a:r>
          </a:p>
        </p:txBody>
      </p:sp>
      <p:sp>
        <p:nvSpPr>
          <p:cNvPr id="14" name="Text Box 2"/>
          <p:cNvSpPr txBox="1">
            <a:spLocks noChangeArrowheads="1"/>
          </p:cNvSpPr>
          <p:nvPr/>
        </p:nvSpPr>
        <p:spPr bwMode="auto">
          <a:xfrm>
            <a:off x="469900" y="443568"/>
            <a:ext cx="351085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800" b="1" dirty="0">
                <a:solidFill>
                  <a:srgbClr val="FF3300"/>
                </a:solidFill>
                <a:latin typeface="黑体" panose="02010609060101010101" pitchFamily="49" charset="-122"/>
                <a:ea typeface="黑体" panose="02010609060101010101" pitchFamily="49" charset="-122"/>
              </a:rPr>
              <a:t>二、</a:t>
            </a:r>
            <a:r>
              <a:rPr kumimoji="1" lang="zh-CN" altLang="en-US" sz="2800" b="1" dirty="0">
                <a:solidFill>
                  <a:srgbClr val="FF3300"/>
                </a:solidFill>
                <a:latin typeface="黑体" panose="02010609060101010101" pitchFamily="49" charset="-122"/>
                <a:ea typeface="黑体" panose="02010609060101010101" pitchFamily="49" charset="-122"/>
                <a:cs typeface="Times New Roman" panose="02020603050405020304" pitchFamily="18" charset="0"/>
              </a:rPr>
              <a:t> 安全因数</a:t>
            </a:r>
            <a:endParaRPr kumimoji="1" lang="zh-CN" altLang="en-US" sz="2800" b="1" dirty="0">
              <a:solidFill>
                <a:srgbClr val="FF3300"/>
              </a:solidFill>
              <a:latin typeface="黑体" panose="02010609060101010101" pitchFamily="49" charset="-122"/>
              <a:ea typeface="黑体" panose="02010609060101010101" pitchFamily="49" charset="-122"/>
            </a:endParaRPr>
          </a:p>
        </p:txBody>
      </p:sp>
      <p:sp>
        <p:nvSpPr>
          <p:cNvPr id="15" name="Text Box 5"/>
          <p:cNvSpPr txBox="1">
            <a:spLocks noChangeArrowheads="1"/>
          </p:cNvSpPr>
          <p:nvPr/>
        </p:nvSpPr>
        <p:spPr bwMode="auto">
          <a:xfrm>
            <a:off x="1043608" y="4723030"/>
            <a:ext cx="6635750" cy="559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50000"/>
              </a:spcBef>
            </a:pPr>
            <a:r>
              <a:rPr lang="zh-CN" altLang="en-US" b="1" dirty="0">
                <a:latin typeface="楷体" panose="02010609060101010101" pitchFamily="49" charset="-122"/>
                <a:ea typeface="楷体" panose="02010609060101010101" pitchFamily="49" charset="-122"/>
              </a:rPr>
              <a:t>安全因数的大致范围：静荷载</a:t>
            </a:r>
            <a:r>
              <a:rPr lang="en-US" altLang="zh-CN" b="1" dirty="0">
                <a:latin typeface="楷体" panose="02010609060101010101" pitchFamily="49" charset="-122"/>
                <a:ea typeface="楷体" panose="02010609060101010101" pitchFamily="49" charset="-122"/>
              </a:rPr>
              <a:t>(</a:t>
            </a:r>
            <a:r>
              <a:rPr lang="zh-CN" altLang="en-US" b="1" dirty="0">
                <a:latin typeface="楷体" panose="02010609060101010101" pitchFamily="49" charset="-122"/>
                <a:ea typeface="楷体" panose="02010609060101010101" pitchFamily="49" charset="-122"/>
              </a:rPr>
              <a:t>徐加荷载</a:t>
            </a:r>
            <a:r>
              <a:rPr lang="en-US" altLang="zh-CN" b="1" dirty="0">
                <a:latin typeface="楷体" panose="02010609060101010101" pitchFamily="49" charset="-122"/>
                <a:ea typeface="楷体" panose="02010609060101010101" pitchFamily="49" charset="-122"/>
              </a:rPr>
              <a:t>)</a:t>
            </a:r>
            <a:r>
              <a:rPr lang="zh-CN" altLang="en-US" b="1" dirty="0">
                <a:latin typeface="楷体" panose="02010609060101010101" pitchFamily="49" charset="-122"/>
                <a:ea typeface="楷体" panose="02010609060101010101" pitchFamily="49" charset="-122"/>
              </a:rPr>
              <a:t>下，</a:t>
            </a:r>
          </a:p>
        </p:txBody>
      </p:sp>
      <p:graphicFrame>
        <p:nvGraphicFramePr>
          <p:cNvPr id="16" name="Object 6"/>
          <p:cNvGraphicFramePr>
            <a:graphicFrameLocks noChangeAspect="1"/>
          </p:cNvGraphicFramePr>
          <p:nvPr>
            <p:extLst>
              <p:ext uri="{D42A27DB-BD31-4B8C-83A1-F6EECF244321}">
                <p14:modId xmlns:p14="http://schemas.microsoft.com/office/powerpoint/2010/main" val="733521226"/>
              </p:ext>
            </p:extLst>
          </p:nvPr>
        </p:nvGraphicFramePr>
        <p:xfrm>
          <a:off x="2205658" y="5515193"/>
          <a:ext cx="3757612" cy="457200"/>
        </p:xfrm>
        <a:graphic>
          <a:graphicData uri="http://schemas.openxmlformats.org/presentationml/2006/ole">
            <mc:AlternateContent xmlns:mc="http://schemas.openxmlformats.org/markup-compatibility/2006">
              <mc:Choice xmlns:v="urn:schemas-microsoft-com:vml" Requires="v">
                <p:oleObj r:id="rId6" imgW="1879917" imgH="228917" progId="Equation.3">
                  <p:embed/>
                </p:oleObj>
              </mc:Choice>
              <mc:Fallback>
                <p:oleObj r:id="rId6" imgW="1879917" imgH="228917"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05658" y="5515193"/>
                        <a:ext cx="375761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553501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02754"/>
                                        </p:tgtEl>
                                        <p:attrNameLst>
                                          <p:attrName>style.visibility</p:attrName>
                                        </p:attrNameLst>
                                      </p:cBhvr>
                                      <p:to>
                                        <p:strVal val="visible"/>
                                      </p:to>
                                    </p:set>
                                    <p:animEffect transition="in" filter="blinds(horizontal)">
                                      <p:cBhvr>
                                        <p:cTn id="7" dur="500"/>
                                        <p:tgtEl>
                                          <p:spTgt spid="2027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02755"/>
                                        </p:tgtEl>
                                        <p:attrNameLst>
                                          <p:attrName>style.visibility</p:attrName>
                                        </p:attrNameLst>
                                      </p:cBhvr>
                                      <p:to>
                                        <p:strVal val="visible"/>
                                      </p:to>
                                    </p:set>
                                    <p:animEffect transition="in" filter="blinds(horizontal)">
                                      <p:cBhvr>
                                        <p:cTn id="12" dur="500"/>
                                        <p:tgtEl>
                                          <p:spTgt spid="20275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02762"/>
                                        </p:tgtEl>
                                        <p:attrNameLst>
                                          <p:attrName>style.visibility</p:attrName>
                                        </p:attrNameLst>
                                      </p:cBhvr>
                                      <p:to>
                                        <p:strVal val="visible"/>
                                      </p:to>
                                    </p:set>
                                    <p:animEffect transition="in" filter="blinds(horizontal)">
                                      <p:cBhvr>
                                        <p:cTn id="17" dur="500"/>
                                        <p:tgtEl>
                                          <p:spTgt spid="20276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02763"/>
                                        </p:tgtEl>
                                        <p:attrNameLst>
                                          <p:attrName>style.visibility</p:attrName>
                                        </p:attrNameLst>
                                      </p:cBhvr>
                                      <p:to>
                                        <p:strVal val="visible"/>
                                      </p:to>
                                    </p:set>
                                    <p:animEffect transition="in" filter="blinds(horizontal)">
                                      <p:cBhvr>
                                        <p:cTn id="22" dur="500"/>
                                        <p:tgtEl>
                                          <p:spTgt spid="20276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02764"/>
                                        </p:tgtEl>
                                        <p:attrNameLst>
                                          <p:attrName>style.visibility</p:attrName>
                                        </p:attrNameLst>
                                      </p:cBhvr>
                                      <p:to>
                                        <p:strVal val="visible"/>
                                      </p:to>
                                    </p:set>
                                    <p:animEffect transition="in" filter="blinds(horizontal)">
                                      <p:cBhvr>
                                        <p:cTn id="27" dur="500"/>
                                        <p:tgtEl>
                                          <p:spTgt spid="20276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02765"/>
                                        </p:tgtEl>
                                        <p:attrNameLst>
                                          <p:attrName>style.visibility</p:attrName>
                                        </p:attrNameLst>
                                      </p:cBhvr>
                                      <p:to>
                                        <p:strVal val="visible"/>
                                      </p:to>
                                    </p:set>
                                    <p:animEffect transition="in" filter="blinds(horizontal)">
                                      <p:cBhvr>
                                        <p:cTn id="32" dur="500"/>
                                        <p:tgtEl>
                                          <p:spTgt spid="20276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02766"/>
                                        </p:tgtEl>
                                        <p:attrNameLst>
                                          <p:attrName>style.visibility</p:attrName>
                                        </p:attrNameLst>
                                      </p:cBhvr>
                                      <p:to>
                                        <p:strVal val="visible"/>
                                      </p:to>
                                    </p:set>
                                    <p:animEffect transition="in" filter="blinds(horizontal)">
                                      <p:cBhvr>
                                        <p:cTn id="37" dur="500"/>
                                        <p:tgtEl>
                                          <p:spTgt spid="202766"/>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42"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barn(outHorizontal)">
                                      <p:cBhvr>
                                        <p:cTn id="42" dur="5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randombar(horizontal)">
                                      <p:cBhvr>
                                        <p:cTn id="4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62" grpId="0" autoUpdateAnimBg="0"/>
      <p:bldP spid="202763" grpId="0" autoUpdateAnimBg="0"/>
      <p:bldP spid="202764" grpId="0" autoUpdateAnimBg="0"/>
      <p:bldP spid="202765" grpId="0" autoUpdateAnimBg="0"/>
      <p:bldP spid="202766" grpId="0"/>
      <p:bldP spid="15"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1"/>
          <p:cNvSpPr>
            <a:spLocks noChangeArrowheads="1"/>
          </p:cNvSpPr>
          <p:nvPr/>
        </p:nvSpPr>
        <p:spPr bwMode="auto">
          <a:xfrm>
            <a:off x="827584" y="598958"/>
            <a:ext cx="3746500"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800" b="1" dirty="0">
                <a:solidFill>
                  <a:srgbClr val="FF0000"/>
                </a:solidFill>
                <a:latin typeface="黑体" panose="02010609060101010101" pitchFamily="49" charset="-122"/>
                <a:ea typeface="黑体" panose="02010609060101010101" pitchFamily="49" charset="-122"/>
              </a:rPr>
              <a:t>三</a:t>
            </a:r>
            <a:r>
              <a:rPr lang="zh-CN" altLang="en-US" sz="2800" b="1" dirty="0">
                <a:solidFill>
                  <a:srgbClr val="FF0000"/>
                </a:solidFill>
                <a:latin typeface="黑体" panose="02010609060101010101" pitchFamily="49" charset="-122"/>
                <a:ea typeface="黑体" panose="02010609060101010101" pitchFamily="49" charset="-122"/>
              </a:rPr>
              <a:t>、</a:t>
            </a:r>
            <a:r>
              <a:rPr kumimoji="1" lang="zh-CN" altLang="en-US" sz="28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强度条件的应用</a:t>
            </a:r>
          </a:p>
        </p:txBody>
      </p:sp>
      <p:sp>
        <p:nvSpPr>
          <p:cNvPr id="3" name="Rectangle 22"/>
          <p:cNvSpPr>
            <a:spLocks noChangeArrowheads="1"/>
          </p:cNvSpPr>
          <p:nvPr/>
        </p:nvSpPr>
        <p:spPr bwMode="auto">
          <a:xfrm>
            <a:off x="1549897" y="3903447"/>
            <a:ext cx="3024187"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b="1" dirty="0">
                <a:solidFill>
                  <a:srgbClr val="0000FF"/>
                </a:solidFill>
                <a:effectLst>
                  <a:outerShdw blurRad="38100" dist="38100" dir="2700000" algn="tl">
                    <a:srgbClr val="C0C0C0"/>
                  </a:outerShdw>
                </a:effectLst>
                <a:latin typeface="楷体" panose="02010609060101010101" pitchFamily="49" charset="-122"/>
                <a:ea typeface="楷体" panose="02010609060101010101" pitchFamily="49" charset="-122"/>
              </a:rPr>
              <a:t>● </a:t>
            </a:r>
            <a:r>
              <a:rPr kumimoji="1" lang="zh-CN" altLang="en-US" sz="2400" b="1" dirty="0">
                <a:solidFill>
                  <a:srgbClr val="0000FF"/>
                </a:solidFill>
                <a:latin typeface="楷体" panose="02010609060101010101" pitchFamily="49" charset="-122"/>
                <a:ea typeface="楷体" panose="02010609060101010101" pitchFamily="49" charset="-122"/>
              </a:rPr>
              <a:t>公式适用范围</a:t>
            </a:r>
          </a:p>
        </p:txBody>
      </p:sp>
      <p:sp>
        <p:nvSpPr>
          <p:cNvPr id="4" name="Rectangle 23"/>
          <p:cNvSpPr>
            <a:spLocks noChangeArrowheads="1"/>
          </p:cNvSpPr>
          <p:nvPr/>
        </p:nvSpPr>
        <p:spPr bwMode="auto">
          <a:xfrm>
            <a:off x="1274826" y="4438927"/>
            <a:ext cx="3330575"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400" b="1" dirty="0">
                <a:solidFill>
                  <a:srgbClr val="0000FF"/>
                </a:solidFill>
                <a:latin typeface="楷体" panose="02010609060101010101" pitchFamily="49" charset="-122"/>
                <a:ea typeface="楷体" panose="02010609060101010101" pitchFamily="49" charset="-122"/>
              </a:rPr>
              <a:t>(1) </a:t>
            </a:r>
            <a:r>
              <a:rPr lang="zh-CN" altLang="en-US" b="1" dirty="0">
                <a:solidFill>
                  <a:srgbClr val="0000FF"/>
                </a:solidFill>
                <a:latin typeface="楷体" panose="02010609060101010101" pitchFamily="49" charset="-122"/>
                <a:ea typeface="楷体" panose="02010609060101010101" pitchFamily="49" charset="-122"/>
              </a:rPr>
              <a:t>精确</a:t>
            </a:r>
            <a:r>
              <a:rPr kumimoji="1" lang="zh-CN" altLang="en-US" sz="2400" b="1" dirty="0">
                <a:solidFill>
                  <a:srgbClr val="0000FF"/>
                </a:solidFill>
                <a:latin typeface="楷体" panose="02010609060101010101" pitchFamily="49" charset="-122"/>
                <a:ea typeface="楷体" panose="02010609060101010101" pitchFamily="49" charset="-122"/>
              </a:rPr>
              <a:t>适用于等直杆</a:t>
            </a:r>
          </a:p>
        </p:txBody>
      </p:sp>
      <p:sp>
        <p:nvSpPr>
          <p:cNvPr id="5" name="Rectangle 25"/>
          <p:cNvSpPr>
            <a:spLocks noChangeArrowheads="1"/>
          </p:cNvSpPr>
          <p:nvPr/>
        </p:nvSpPr>
        <p:spPr bwMode="auto">
          <a:xfrm>
            <a:off x="1291277" y="5311470"/>
            <a:ext cx="3341687"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400" b="1" dirty="0">
                <a:solidFill>
                  <a:srgbClr val="0000FF"/>
                </a:solidFill>
                <a:latin typeface="楷体" panose="02010609060101010101" pitchFamily="49" charset="-122"/>
                <a:ea typeface="楷体" panose="02010609060101010101" pitchFamily="49" charset="-122"/>
              </a:rPr>
              <a:t>(3) </a:t>
            </a:r>
            <a:r>
              <a:rPr kumimoji="1" lang="zh-CN" altLang="en-US" sz="2400" b="1" dirty="0">
                <a:solidFill>
                  <a:srgbClr val="0000FF"/>
                </a:solidFill>
                <a:latin typeface="楷体" panose="02010609060101010101" pitchFamily="49" charset="-122"/>
                <a:ea typeface="楷体" panose="02010609060101010101" pitchFamily="49" charset="-122"/>
              </a:rPr>
              <a:t>推广适用微曲杆</a:t>
            </a:r>
          </a:p>
        </p:txBody>
      </p:sp>
      <p:sp>
        <p:nvSpPr>
          <p:cNvPr id="6" name="Oval 27"/>
          <p:cNvSpPr>
            <a:spLocks noChangeArrowheads="1"/>
          </p:cNvSpPr>
          <p:nvPr/>
        </p:nvSpPr>
        <p:spPr bwMode="auto">
          <a:xfrm>
            <a:off x="5024462" y="5196825"/>
            <a:ext cx="576262" cy="574675"/>
          </a:xfrm>
          <a:prstGeom prst="ellipse">
            <a:avLst/>
          </a:prstGeom>
          <a:noFill/>
          <a:ln w="381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latin typeface="Times New Roman" panose="02020603050405020304" pitchFamily="18" charset="0"/>
              <a:ea typeface="楷体_GB2312" pitchFamily="49" charset="-122"/>
            </a:endParaRPr>
          </a:p>
        </p:txBody>
      </p:sp>
      <p:graphicFrame>
        <p:nvGraphicFramePr>
          <p:cNvPr id="7" name="Object 28"/>
          <p:cNvGraphicFramePr>
            <a:graphicFrameLocks/>
          </p:cNvGraphicFramePr>
          <p:nvPr>
            <p:extLst>
              <p:ext uri="{D42A27DB-BD31-4B8C-83A1-F6EECF244321}">
                <p14:modId xmlns:p14="http://schemas.microsoft.com/office/powerpoint/2010/main" val="2656139842"/>
              </p:ext>
            </p:extLst>
          </p:nvPr>
        </p:nvGraphicFramePr>
        <p:xfrm>
          <a:off x="5705499" y="5273025"/>
          <a:ext cx="1192213" cy="366712"/>
        </p:xfrm>
        <a:graphic>
          <a:graphicData uri="http://schemas.openxmlformats.org/presentationml/2006/ole">
            <mc:AlternateContent xmlns:mc="http://schemas.openxmlformats.org/markup-compatibility/2006">
              <mc:Choice xmlns:v="urn:schemas-microsoft-com:vml" Requires="v">
                <p:oleObj name="公式" r:id="rId2" imgW="523800" imgH="171450" progId="Equation.3">
                  <p:embed/>
                </p:oleObj>
              </mc:Choice>
              <mc:Fallback>
                <p:oleObj name="公式" r:id="rId2" imgW="523800" imgH="171450" progId="Equation.3">
                  <p:embed/>
                  <p:pic>
                    <p:nvPicPr>
                      <p:cNvPr id="0" nam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05499" y="5273025"/>
                        <a:ext cx="11922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Rectangle 29"/>
          <p:cNvSpPr>
            <a:spLocks noChangeArrowheads="1"/>
          </p:cNvSpPr>
          <p:nvPr/>
        </p:nvSpPr>
        <p:spPr bwMode="auto">
          <a:xfrm>
            <a:off x="621249" y="2121797"/>
            <a:ext cx="5553075"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400" b="1" dirty="0">
                <a:solidFill>
                  <a:srgbClr val="080808"/>
                </a:solidFill>
                <a:latin typeface="Times New Roman" panose="02020603050405020304" pitchFamily="18" charset="0"/>
                <a:ea typeface="楷体_GB2312" pitchFamily="49" charset="-122"/>
              </a:rPr>
              <a:t>(1) </a:t>
            </a:r>
            <a:r>
              <a:rPr kumimoji="1" lang="zh-CN" altLang="en-US" sz="2400" b="1" dirty="0">
                <a:solidFill>
                  <a:srgbClr val="080808"/>
                </a:solidFill>
                <a:latin typeface="楷体" panose="02010609060101010101" pitchFamily="49" charset="-122"/>
                <a:ea typeface="楷体" panose="02010609060101010101" pitchFamily="49" charset="-122"/>
              </a:rPr>
              <a:t>校核强度：已知</a:t>
            </a:r>
            <a:r>
              <a:rPr kumimoji="1" lang="en-US" altLang="zh-CN" sz="2400" b="1" i="1" dirty="0">
                <a:solidFill>
                  <a:srgbClr val="080808"/>
                </a:solidFill>
                <a:latin typeface="Times New Roman" panose="02020603050405020304" pitchFamily="18" charset="0"/>
                <a:ea typeface="楷体_GB2312" pitchFamily="49" charset="-122"/>
              </a:rPr>
              <a:t>F</a:t>
            </a:r>
            <a:r>
              <a:rPr kumimoji="1" lang="en-US" altLang="zh-CN" sz="2400" b="1" baseline="-25000" dirty="0">
                <a:solidFill>
                  <a:srgbClr val="080808"/>
                </a:solidFill>
                <a:latin typeface="Times New Roman" panose="02020603050405020304" pitchFamily="18" charset="0"/>
                <a:ea typeface="楷体_GB2312" pitchFamily="49" charset="-122"/>
              </a:rPr>
              <a:t>N</a:t>
            </a:r>
            <a:r>
              <a:rPr kumimoji="1" lang="zh-CN" altLang="en-US" sz="2400" b="1" dirty="0">
                <a:solidFill>
                  <a:srgbClr val="080808"/>
                </a:solidFill>
                <a:latin typeface="楷体" panose="02010609060101010101" pitchFamily="49" charset="-122"/>
                <a:ea typeface="楷体" panose="02010609060101010101" pitchFamily="49" charset="-122"/>
              </a:rPr>
              <a:t>，</a:t>
            </a:r>
            <a:r>
              <a:rPr kumimoji="1" lang="en-US" altLang="zh-CN" sz="2400" i="1" dirty="0">
                <a:solidFill>
                  <a:srgbClr val="080808"/>
                </a:solidFill>
                <a:latin typeface="Times New Roman" panose="02020603050405020304" pitchFamily="18" charset="0"/>
                <a:ea typeface="楷体_GB2312" pitchFamily="49" charset="-122"/>
              </a:rPr>
              <a:t>A</a:t>
            </a:r>
            <a:r>
              <a:rPr kumimoji="1" lang="zh-CN" altLang="en-US" sz="2400" b="1" dirty="0">
                <a:solidFill>
                  <a:srgbClr val="080808"/>
                </a:solidFill>
                <a:latin typeface="楷体" panose="02010609060101010101" pitchFamily="49" charset="-122"/>
                <a:ea typeface="楷体" panose="02010609060101010101" pitchFamily="49" charset="-122"/>
              </a:rPr>
              <a:t>，</a:t>
            </a:r>
            <a:r>
              <a:rPr kumimoji="1" lang="en-US" altLang="zh-CN" sz="2400" b="1" dirty="0">
                <a:solidFill>
                  <a:srgbClr val="080808"/>
                </a:solidFill>
                <a:latin typeface="Times New Roman" panose="02020603050405020304" pitchFamily="18" charset="0"/>
                <a:ea typeface="楷体_GB2312" pitchFamily="49" charset="-122"/>
              </a:rPr>
              <a:t>[</a:t>
            </a:r>
            <a:r>
              <a:rPr kumimoji="1" lang="el-GR" altLang="zh-CN" sz="2400" b="1" i="1" dirty="0">
                <a:solidFill>
                  <a:srgbClr val="080808"/>
                </a:solidFill>
                <a:latin typeface="Times New Roman" panose="02020603050405020304" pitchFamily="18" charset="0"/>
                <a:ea typeface="楷体_GB2312" pitchFamily="49" charset="-122"/>
                <a:sym typeface="Symbol" panose="05050102010706020507" pitchFamily="18" charset="2"/>
              </a:rPr>
              <a:t></a:t>
            </a:r>
            <a:r>
              <a:rPr kumimoji="1" lang="en-US" altLang="zh-CN" sz="2400" b="1" i="1" dirty="0">
                <a:solidFill>
                  <a:srgbClr val="080808"/>
                </a:solidFill>
                <a:latin typeface="Times New Roman" panose="02020603050405020304" pitchFamily="18" charset="0"/>
                <a:ea typeface="楷体_GB2312" pitchFamily="49" charset="-122"/>
                <a:sym typeface="Symbol" panose="05050102010706020507" pitchFamily="18" charset="2"/>
              </a:rPr>
              <a:t> </a:t>
            </a:r>
            <a:r>
              <a:rPr kumimoji="1" lang="en-US" altLang="zh-CN" sz="2400" b="1" dirty="0">
                <a:solidFill>
                  <a:srgbClr val="080808"/>
                </a:solidFill>
                <a:latin typeface="Times New Roman" panose="02020603050405020304" pitchFamily="18" charset="0"/>
                <a:ea typeface="楷体_GB2312" pitchFamily="49" charset="-122"/>
              </a:rPr>
              <a:t>]</a:t>
            </a:r>
            <a:r>
              <a:rPr kumimoji="1" lang="zh-CN" altLang="en-US" sz="2400" b="1" dirty="0">
                <a:solidFill>
                  <a:srgbClr val="080808"/>
                </a:solidFill>
                <a:latin typeface="Times New Roman" panose="02020603050405020304" pitchFamily="18" charset="0"/>
                <a:ea typeface="楷体_GB2312" pitchFamily="49" charset="-122"/>
              </a:rPr>
              <a:t> </a:t>
            </a:r>
            <a:r>
              <a:rPr kumimoji="1" lang="zh-CN" altLang="en-US" sz="2400" b="1" dirty="0">
                <a:solidFill>
                  <a:srgbClr val="080808"/>
                </a:solidFill>
                <a:latin typeface="楷体" panose="02010609060101010101" pitchFamily="49" charset="-122"/>
                <a:ea typeface="楷体" panose="02010609060101010101" pitchFamily="49" charset="-122"/>
              </a:rPr>
              <a:t>；</a:t>
            </a:r>
            <a:r>
              <a:rPr kumimoji="1" lang="zh-CN" altLang="en-US" sz="2400" b="1" dirty="0">
                <a:solidFill>
                  <a:srgbClr val="FF0000"/>
                </a:solidFill>
                <a:latin typeface="黑体" panose="02010609060101010101" pitchFamily="49" charset="-122"/>
                <a:ea typeface="黑体" panose="02010609060101010101" pitchFamily="49" charset="-122"/>
              </a:rPr>
              <a:t>定性</a:t>
            </a:r>
          </a:p>
        </p:txBody>
      </p:sp>
      <p:sp>
        <p:nvSpPr>
          <p:cNvPr id="9" name="Rectangle 30"/>
          <p:cNvSpPr>
            <a:spLocks noChangeArrowheads="1"/>
          </p:cNvSpPr>
          <p:nvPr/>
        </p:nvSpPr>
        <p:spPr bwMode="auto">
          <a:xfrm>
            <a:off x="629584" y="2696472"/>
            <a:ext cx="5337175"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400" b="1" dirty="0">
                <a:solidFill>
                  <a:srgbClr val="080808"/>
                </a:solidFill>
                <a:latin typeface="Times New Roman" panose="02020603050405020304" pitchFamily="18" charset="0"/>
                <a:ea typeface="楷体_GB2312" pitchFamily="49" charset="-122"/>
              </a:rPr>
              <a:t>(2) </a:t>
            </a:r>
            <a:r>
              <a:rPr lang="zh-CN" altLang="en-US" b="1" dirty="0">
                <a:solidFill>
                  <a:srgbClr val="080808"/>
                </a:solidFill>
                <a:latin typeface="楷体" panose="02010609060101010101" pitchFamily="49" charset="-122"/>
                <a:ea typeface="楷体" panose="02010609060101010101" pitchFamily="49" charset="-122"/>
              </a:rPr>
              <a:t>设计截面：已知</a:t>
            </a:r>
            <a:r>
              <a:rPr kumimoji="1" lang="en-US" altLang="zh-CN" sz="2400" b="1" i="1" dirty="0">
                <a:solidFill>
                  <a:srgbClr val="080808"/>
                </a:solidFill>
                <a:latin typeface="Times New Roman" panose="02020603050405020304" pitchFamily="18" charset="0"/>
                <a:ea typeface="楷体_GB2312" pitchFamily="49" charset="-122"/>
              </a:rPr>
              <a:t>F</a:t>
            </a:r>
            <a:r>
              <a:rPr kumimoji="1" lang="en-US" altLang="zh-CN" sz="2400" b="1" baseline="-25000" dirty="0">
                <a:solidFill>
                  <a:srgbClr val="080808"/>
                </a:solidFill>
                <a:latin typeface="Times New Roman" panose="02020603050405020304" pitchFamily="18" charset="0"/>
                <a:ea typeface="楷体_GB2312" pitchFamily="49" charset="-122"/>
              </a:rPr>
              <a:t>N</a:t>
            </a:r>
            <a:r>
              <a:rPr kumimoji="1" lang="zh-CN" altLang="en-US" sz="2400" b="1" dirty="0">
                <a:solidFill>
                  <a:srgbClr val="080808"/>
                </a:solidFill>
                <a:latin typeface="楷体" panose="02010609060101010101" pitchFamily="49" charset="-122"/>
                <a:ea typeface="楷体" panose="02010609060101010101" pitchFamily="49" charset="-122"/>
              </a:rPr>
              <a:t>，</a:t>
            </a:r>
            <a:r>
              <a:rPr kumimoji="1" lang="en-US" altLang="zh-CN" sz="2400" b="1" dirty="0">
                <a:solidFill>
                  <a:srgbClr val="080808"/>
                </a:solidFill>
                <a:latin typeface="Times New Roman" panose="02020603050405020304" pitchFamily="18" charset="0"/>
                <a:ea typeface="楷体_GB2312" pitchFamily="49" charset="-122"/>
              </a:rPr>
              <a:t>[</a:t>
            </a:r>
            <a:r>
              <a:rPr kumimoji="1" lang="el-GR" altLang="zh-CN" sz="2400" b="1" i="1" dirty="0">
                <a:solidFill>
                  <a:srgbClr val="080808"/>
                </a:solidFill>
                <a:latin typeface="Times New Roman" panose="02020603050405020304" pitchFamily="18" charset="0"/>
                <a:ea typeface="楷体_GB2312" pitchFamily="49" charset="-122"/>
                <a:sym typeface="Symbol" panose="05050102010706020507" pitchFamily="18" charset="2"/>
              </a:rPr>
              <a:t></a:t>
            </a:r>
            <a:r>
              <a:rPr kumimoji="1" lang="en-US" altLang="zh-CN" sz="2400" b="1" i="1" dirty="0">
                <a:solidFill>
                  <a:srgbClr val="080808"/>
                </a:solidFill>
                <a:latin typeface="Times New Roman" panose="02020603050405020304" pitchFamily="18" charset="0"/>
                <a:ea typeface="楷体_GB2312" pitchFamily="49" charset="-122"/>
                <a:sym typeface="Symbol" panose="05050102010706020507" pitchFamily="18" charset="2"/>
              </a:rPr>
              <a:t> </a:t>
            </a:r>
            <a:r>
              <a:rPr kumimoji="1" lang="en-US" altLang="zh-CN" sz="2400" b="1" dirty="0">
                <a:solidFill>
                  <a:srgbClr val="080808"/>
                </a:solidFill>
                <a:latin typeface="Times New Roman" panose="02020603050405020304" pitchFamily="18" charset="0"/>
                <a:ea typeface="楷体_GB2312" pitchFamily="49" charset="-122"/>
              </a:rPr>
              <a:t>]</a:t>
            </a:r>
            <a:r>
              <a:rPr kumimoji="1" lang="zh-CN" altLang="en-US" sz="2400" b="1" dirty="0">
                <a:solidFill>
                  <a:srgbClr val="080808"/>
                </a:solidFill>
                <a:latin typeface="楷体" panose="02010609060101010101" pitchFamily="49" charset="-122"/>
                <a:ea typeface="楷体" panose="02010609060101010101" pitchFamily="49" charset="-122"/>
              </a:rPr>
              <a:t>；</a:t>
            </a:r>
            <a:r>
              <a:rPr kumimoji="1" lang="zh-CN" altLang="en-US" sz="2400" b="1" dirty="0">
                <a:solidFill>
                  <a:srgbClr val="080808"/>
                </a:solidFill>
                <a:latin typeface="Times New Roman" panose="02020603050405020304" pitchFamily="18" charset="0"/>
                <a:ea typeface="楷体_GB2312" pitchFamily="49" charset="-122"/>
              </a:rPr>
              <a:t>       </a:t>
            </a:r>
            <a:r>
              <a:rPr kumimoji="1" lang="zh-CN" altLang="en-US" sz="2400" b="1" dirty="0">
                <a:solidFill>
                  <a:srgbClr val="FF0000"/>
                </a:solidFill>
                <a:latin typeface="黑体" panose="02010609060101010101" pitchFamily="49" charset="-122"/>
                <a:ea typeface="黑体" panose="02010609060101010101" pitchFamily="49" charset="-122"/>
              </a:rPr>
              <a:t>定形</a:t>
            </a:r>
          </a:p>
        </p:txBody>
      </p:sp>
      <p:sp>
        <p:nvSpPr>
          <p:cNvPr id="10" name="Rectangle 31"/>
          <p:cNvSpPr>
            <a:spLocks noChangeArrowheads="1"/>
          </p:cNvSpPr>
          <p:nvPr/>
        </p:nvSpPr>
        <p:spPr bwMode="auto">
          <a:xfrm>
            <a:off x="629584" y="3289190"/>
            <a:ext cx="5337175"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400" b="1" dirty="0">
                <a:solidFill>
                  <a:srgbClr val="080808"/>
                </a:solidFill>
                <a:latin typeface="Times New Roman" panose="02020603050405020304" pitchFamily="18" charset="0"/>
                <a:ea typeface="楷体_GB2312" pitchFamily="49" charset="-122"/>
              </a:rPr>
              <a:t>(3) </a:t>
            </a:r>
            <a:r>
              <a:rPr lang="zh-CN" altLang="en-US" b="1" dirty="0">
                <a:solidFill>
                  <a:srgbClr val="080808"/>
                </a:solidFill>
                <a:latin typeface="楷体" panose="02010609060101010101" pitchFamily="49" charset="-122"/>
                <a:ea typeface="楷体" panose="02010609060101010101" pitchFamily="49" charset="-122"/>
              </a:rPr>
              <a:t>确定许可载荷：已知</a:t>
            </a:r>
            <a:r>
              <a:rPr kumimoji="1" lang="en-US" altLang="zh-CN" sz="2400" i="1" dirty="0">
                <a:solidFill>
                  <a:srgbClr val="080808"/>
                </a:solidFill>
                <a:latin typeface="Times New Roman" panose="02020603050405020304" pitchFamily="18" charset="0"/>
                <a:ea typeface="楷体_GB2312" pitchFamily="49" charset="-122"/>
              </a:rPr>
              <a:t>A</a:t>
            </a:r>
            <a:r>
              <a:rPr kumimoji="1" lang="zh-CN" altLang="en-US" sz="2400" b="1" dirty="0">
                <a:solidFill>
                  <a:srgbClr val="080808"/>
                </a:solidFill>
                <a:latin typeface="楷体" panose="02010609060101010101" pitchFamily="49" charset="-122"/>
                <a:ea typeface="楷体" panose="02010609060101010101" pitchFamily="49" charset="-122"/>
              </a:rPr>
              <a:t>，</a:t>
            </a:r>
            <a:r>
              <a:rPr kumimoji="1" lang="en-US" altLang="zh-CN" sz="2400" b="1" dirty="0">
                <a:solidFill>
                  <a:srgbClr val="080808"/>
                </a:solidFill>
                <a:latin typeface="Times New Roman" panose="02020603050405020304" pitchFamily="18" charset="0"/>
                <a:ea typeface="楷体_GB2312" pitchFamily="49" charset="-122"/>
              </a:rPr>
              <a:t>[</a:t>
            </a:r>
            <a:r>
              <a:rPr kumimoji="1" lang="el-GR" altLang="zh-CN" sz="2400" b="1" i="1" dirty="0">
                <a:solidFill>
                  <a:srgbClr val="080808"/>
                </a:solidFill>
                <a:latin typeface="Times New Roman" panose="02020603050405020304" pitchFamily="18" charset="0"/>
                <a:ea typeface="楷体_GB2312" pitchFamily="49" charset="-122"/>
                <a:sym typeface="Symbol" panose="05050102010706020507" pitchFamily="18" charset="2"/>
              </a:rPr>
              <a:t></a:t>
            </a:r>
            <a:r>
              <a:rPr kumimoji="1" lang="en-US" altLang="zh-CN" sz="2400" b="1" i="1" dirty="0">
                <a:solidFill>
                  <a:srgbClr val="080808"/>
                </a:solidFill>
                <a:latin typeface="Times New Roman" panose="02020603050405020304" pitchFamily="18" charset="0"/>
                <a:ea typeface="楷体_GB2312" pitchFamily="49" charset="-122"/>
                <a:sym typeface="Symbol" panose="05050102010706020507" pitchFamily="18" charset="2"/>
              </a:rPr>
              <a:t> </a:t>
            </a:r>
            <a:r>
              <a:rPr kumimoji="1" lang="en-US" altLang="zh-CN" sz="2400" b="1" dirty="0">
                <a:solidFill>
                  <a:srgbClr val="080808"/>
                </a:solidFill>
                <a:latin typeface="Times New Roman" panose="02020603050405020304" pitchFamily="18" charset="0"/>
                <a:ea typeface="楷体_GB2312" pitchFamily="49" charset="-122"/>
              </a:rPr>
              <a:t>]</a:t>
            </a:r>
            <a:r>
              <a:rPr kumimoji="1" lang="zh-CN" altLang="en-US" sz="2400" b="1" dirty="0">
                <a:solidFill>
                  <a:srgbClr val="080808"/>
                </a:solidFill>
                <a:latin typeface="楷体" panose="02010609060101010101" pitchFamily="49" charset="-122"/>
                <a:ea typeface="楷体" panose="02010609060101010101" pitchFamily="49" charset="-122"/>
              </a:rPr>
              <a:t>。</a:t>
            </a:r>
            <a:r>
              <a:rPr kumimoji="1" lang="zh-CN" altLang="en-US" sz="2400" b="1" dirty="0">
                <a:solidFill>
                  <a:srgbClr val="080808"/>
                </a:solidFill>
                <a:latin typeface="Times New Roman" panose="02020603050405020304" pitchFamily="18" charset="0"/>
                <a:ea typeface="楷体_GB2312" pitchFamily="49" charset="-122"/>
              </a:rPr>
              <a:t> </a:t>
            </a:r>
            <a:r>
              <a:rPr kumimoji="1" lang="zh-CN" altLang="en-US" sz="2400" b="1" dirty="0">
                <a:solidFill>
                  <a:srgbClr val="FF0000"/>
                </a:solidFill>
                <a:latin typeface="黑体" panose="02010609060101010101" pitchFamily="49" charset="-122"/>
                <a:ea typeface="黑体" panose="02010609060101010101" pitchFamily="49" charset="-122"/>
              </a:rPr>
              <a:t>定载</a:t>
            </a:r>
          </a:p>
        </p:txBody>
      </p:sp>
      <p:sp>
        <p:nvSpPr>
          <p:cNvPr id="11" name="Rectangle 21"/>
          <p:cNvSpPr>
            <a:spLocks noChangeArrowheads="1"/>
          </p:cNvSpPr>
          <p:nvPr/>
        </p:nvSpPr>
        <p:spPr bwMode="auto">
          <a:xfrm>
            <a:off x="6174324" y="2352950"/>
            <a:ext cx="2520280" cy="1200971"/>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latin typeface="楷体" panose="02010609060101010101" pitchFamily="49" charset="-122"/>
                <a:ea typeface="楷体" panose="02010609060101010101" pitchFamily="49" charset="-122"/>
                <a:cs typeface="Times New Roman" panose="02020603050405020304" pitchFamily="18" charset="0"/>
              </a:rPr>
              <a:t>注意：强度条件中的应力均只考虑应力的数值。</a:t>
            </a:r>
            <a:endParaRPr kumimoji="1" lang="en-US" altLang="zh-CN" sz="2400" b="1" dirty="0">
              <a:latin typeface="楷体" panose="02010609060101010101" pitchFamily="49" charset="-122"/>
              <a:ea typeface="楷体" panose="02010609060101010101" pitchFamily="49" charset="-122"/>
              <a:cs typeface="Times New Roman" panose="02020603050405020304" pitchFamily="18" charset="0"/>
            </a:endParaRPr>
          </a:p>
        </p:txBody>
      </p:sp>
      <p:sp>
        <p:nvSpPr>
          <p:cNvPr id="12" name="Rectangle 24"/>
          <p:cNvSpPr>
            <a:spLocks noChangeArrowheads="1"/>
          </p:cNvSpPr>
          <p:nvPr/>
        </p:nvSpPr>
        <p:spPr bwMode="auto">
          <a:xfrm>
            <a:off x="1274826" y="4883229"/>
            <a:ext cx="3856166" cy="831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400" b="1" dirty="0">
                <a:solidFill>
                  <a:srgbClr val="0000FF"/>
                </a:solidFill>
                <a:latin typeface="楷体" panose="02010609060101010101" pitchFamily="49" charset="-122"/>
                <a:ea typeface="楷体" panose="02010609060101010101" pitchFamily="49" charset="-122"/>
              </a:rPr>
              <a:t>(2) </a:t>
            </a:r>
            <a:r>
              <a:rPr lang="zh-CN" altLang="en-US" b="1" dirty="0">
                <a:solidFill>
                  <a:srgbClr val="0000FF"/>
                </a:solidFill>
                <a:latin typeface="楷体" panose="02010609060101010101" pitchFamily="49" charset="-122"/>
                <a:ea typeface="楷体" panose="02010609060101010101" pitchFamily="49" charset="-122"/>
              </a:rPr>
              <a:t>推广适用变截面杆</a:t>
            </a:r>
          </a:p>
          <a:p>
            <a:endParaRPr kumimoji="1" lang="zh-CN" altLang="en-US" sz="2400" b="1" dirty="0">
              <a:solidFill>
                <a:srgbClr val="0000FF"/>
              </a:solidFill>
              <a:latin typeface="楷体" panose="02010609060101010101" pitchFamily="49" charset="-122"/>
              <a:ea typeface="楷体" panose="02010609060101010101" pitchFamily="49" charset="-122"/>
            </a:endParaRPr>
          </a:p>
        </p:txBody>
      </p:sp>
      <p:graphicFrame>
        <p:nvGraphicFramePr>
          <p:cNvPr id="13" name="Object 5"/>
          <p:cNvGraphicFramePr>
            <a:graphicFrameLocks noChangeAspect="1"/>
          </p:cNvGraphicFramePr>
          <p:nvPr>
            <p:extLst>
              <p:ext uri="{D42A27DB-BD31-4B8C-83A1-F6EECF244321}">
                <p14:modId xmlns:p14="http://schemas.microsoft.com/office/powerpoint/2010/main" val="446589459"/>
              </p:ext>
            </p:extLst>
          </p:nvPr>
        </p:nvGraphicFramePr>
        <p:xfrm>
          <a:off x="5130998" y="768127"/>
          <a:ext cx="2338387" cy="787400"/>
        </p:xfrm>
        <a:graphic>
          <a:graphicData uri="http://schemas.openxmlformats.org/presentationml/2006/ole">
            <mc:AlternateContent xmlns:mc="http://schemas.openxmlformats.org/markup-compatibility/2006">
              <mc:Choice xmlns:v="urn:schemas-microsoft-com:vml" Requires="v">
                <p:oleObj name="Equation" r:id="rId4" imgW="1168200" imgH="393480" progId="Equation.DSMT4">
                  <p:embed/>
                </p:oleObj>
              </mc:Choice>
              <mc:Fallback>
                <p:oleObj name="Equation" r:id="rId4" imgW="1168200" imgH="393480" progId="Equation.DSMT4">
                  <p:embed/>
                  <p:pic>
                    <p:nvPicPr>
                      <p:cNvPr id="0" name=""/>
                      <p:cNvPicPr>
                        <a:picLocks noChangeAspect="1" noChangeArrowheads="1"/>
                      </p:cNvPicPr>
                      <p:nvPr/>
                    </p:nvPicPr>
                    <p:blipFill>
                      <a:blip r:embed="rId5"/>
                      <a:srcRect/>
                      <a:stretch>
                        <a:fillRect/>
                      </a:stretch>
                    </p:blipFill>
                    <p:spPr bwMode="auto">
                      <a:xfrm>
                        <a:off x="5130998" y="768127"/>
                        <a:ext cx="2338387" cy="787400"/>
                      </a:xfrm>
                      <a:prstGeom prst="rect">
                        <a:avLst/>
                      </a:prstGeom>
                      <a:noFill/>
                      <a:ln w="19050">
                        <a:solidFill>
                          <a:srgbClr val="FF0000"/>
                        </a:solidFill>
                      </a:ln>
                      <a:effectLst/>
                    </p:spPr>
                  </p:pic>
                </p:oleObj>
              </mc:Fallback>
            </mc:AlternateContent>
          </a:graphicData>
        </a:graphic>
      </p:graphicFrame>
      <p:sp>
        <p:nvSpPr>
          <p:cNvPr id="15" name="Text Box 2"/>
          <p:cNvSpPr txBox="1">
            <a:spLocks noChangeArrowheads="1"/>
          </p:cNvSpPr>
          <p:nvPr/>
        </p:nvSpPr>
        <p:spPr bwMode="auto">
          <a:xfrm>
            <a:off x="778613" y="1431676"/>
            <a:ext cx="3878263" cy="559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50000"/>
              </a:spcBef>
            </a:pPr>
            <a:r>
              <a:rPr lang="zh-CN" altLang="en-US" b="1" dirty="0">
                <a:latin typeface="黑体" panose="02010609060101010101" pitchFamily="49" charset="-122"/>
                <a:ea typeface="黑体" panose="02010609060101010101" pitchFamily="49" charset="-122"/>
              </a:rPr>
              <a:t>强度计算的三种问题</a:t>
            </a:r>
          </a:p>
        </p:txBody>
      </p:sp>
      <p:sp>
        <p:nvSpPr>
          <p:cNvPr id="16" name="Rectangle 23"/>
          <p:cNvSpPr>
            <a:spLocks noChangeArrowheads="1"/>
          </p:cNvSpPr>
          <p:nvPr/>
        </p:nvSpPr>
        <p:spPr bwMode="auto">
          <a:xfrm>
            <a:off x="1302389" y="5721706"/>
            <a:ext cx="5573867"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400" b="1" dirty="0">
                <a:solidFill>
                  <a:srgbClr val="0000FF"/>
                </a:solidFill>
                <a:latin typeface="楷体" panose="02010609060101010101" pitchFamily="49" charset="-122"/>
                <a:ea typeface="楷体" panose="02010609060101010101" pitchFamily="49" charset="-122"/>
              </a:rPr>
              <a:t>(4) </a:t>
            </a:r>
            <a:r>
              <a:rPr lang="zh-CN" altLang="en-US" b="1" dirty="0">
                <a:solidFill>
                  <a:srgbClr val="0000FF"/>
                </a:solidFill>
                <a:latin typeface="楷体" panose="02010609060101010101" pitchFamily="49" charset="-122"/>
                <a:ea typeface="楷体" panose="02010609060101010101" pitchFamily="49" charset="-122"/>
              </a:rPr>
              <a:t>截面突跳处、集中力作用处不</a:t>
            </a:r>
            <a:r>
              <a:rPr kumimoji="1" lang="zh-CN" altLang="en-US" sz="2400" b="1" dirty="0">
                <a:solidFill>
                  <a:srgbClr val="0000FF"/>
                </a:solidFill>
                <a:latin typeface="楷体" panose="02010609060101010101" pitchFamily="49" charset="-122"/>
                <a:ea typeface="楷体" panose="02010609060101010101" pitchFamily="49" charset="-122"/>
              </a:rPr>
              <a:t>适用</a:t>
            </a:r>
          </a:p>
        </p:txBody>
      </p:sp>
    </p:spTree>
    <p:extLst>
      <p:ext uri="{BB962C8B-B14F-4D97-AF65-F5344CB8AC3E}">
        <p14:creationId xmlns:p14="http://schemas.microsoft.com/office/powerpoint/2010/main" val="419431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heckerboard(across)">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strips(downRigh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7" presetClass="entr" presetSubtype="0" fill="hold" grpId="0" nodeType="clickEffect">
                                  <p:stCondLst>
                                    <p:cond delay="0"/>
                                  </p:stCondLst>
                                  <p:iterate type="lt">
                                    <p:tmPct val="50000"/>
                                  </p:iterate>
                                  <p:childTnLst>
                                    <p:set>
                                      <p:cBhvr>
                                        <p:cTn id="16" dur="1" fill="hold">
                                          <p:stCondLst>
                                            <p:cond delay="0"/>
                                          </p:stCondLst>
                                        </p:cTn>
                                        <p:tgtEl>
                                          <p:spTgt spid="8"/>
                                        </p:tgtEl>
                                        <p:attrNameLst>
                                          <p:attrName>style.visibility</p:attrName>
                                        </p:attrNameLst>
                                      </p:cBhvr>
                                      <p:to>
                                        <p:strVal val="visible"/>
                                      </p:to>
                                    </p:set>
                                    <p:anim calcmode="discrete" valueType="clr">
                                      <p:cBhvr override="childStyle">
                                        <p:cTn id="17" dur="80"/>
                                        <p:tgtEl>
                                          <p:spTgt spid="8"/>
                                        </p:tgtEl>
                                        <p:attrNameLst>
                                          <p:attrName>style.color</p:attrName>
                                        </p:attrNameLst>
                                      </p:cBhvr>
                                      <p:tavLst>
                                        <p:tav tm="0">
                                          <p:val>
                                            <p:clrVal>
                                              <a:schemeClr val="accent2"/>
                                            </p:clrVal>
                                          </p:val>
                                        </p:tav>
                                        <p:tav tm="50000">
                                          <p:val>
                                            <p:clrVal>
                                              <a:schemeClr val="hlink"/>
                                            </p:clrVal>
                                          </p:val>
                                        </p:tav>
                                      </p:tavLst>
                                    </p:anim>
                                    <p:anim calcmode="discrete" valueType="clr">
                                      <p:cBhvr>
                                        <p:cTn id="18" dur="80"/>
                                        <p:tgtEl>
                                          <p:spTgt spid="8"/>
                                        </p:tgtEl>
                                        <p:attrNameLst>
                                          <p:attrName>fillcolor</p:attrName>
                                        </p:attrNameLst>
                                      </p:cBhvr>
                                      <p:tavLst>
                                        <p:tav tm="0">
                                          <p:val>
                                            <p:clrVal>
                                              <a:schemeClr val="accent2"/>
                                            </p:clrVal>
                                          </p:val>
                                        </p:tav>
                                        <p:tav tm="50000">
                                          <p:val>
                                            <p:clrVal>
                                              <a:schemeClr val="hlink"/>
                                            </p:clrVal>
                                          </p:val>
                                        </p:tav>
                                      </p:tavLst>
                                    </p:anim>
                                    <p:set>
                                      <p:cBhvr>
                                        <p:cTn id="19" dur="80"/>
                                        <p:tgtEl>
                                          <p:spTgt spid="8"/>
                                        </p:tgtEl>
                                        <p:attrNameLst>
                                          <p:attrName>fill.type</p:attrName>
                                        </p:attrNameLst>
                                      </p:cBhvr>
                                      <p:to>
                                        <p:strVal val="solid"/>
                                      </p:to>
                                    </p:set>
                                  </p:childTnLst>
                                </p:cTn>
                              </p:par>
                            </p:childTnLst>
                          </p:cTn>
                        </p:par>
                      </p:childTnLst>
                    </p:cTn>
                  </p:par>
                  <p:par>
                    <p:cTn id="20" fill="hold">
                      <p:stCondLst>
                        <p:cond delay="indefinite"/>
                      </p:stCondLst>
                      <p:childTnLst>
                        <p:par>
                          <p:cTn id="21" fill="hold">
                            <p:stCondLst>
                              <p:cond delay="0"/>
                            </p:stCondLst>
                            <p:childTnLst>
                              <p:par>
                                <p:cTn id="22" presetID="27" presetClass="entr" presetSubtype="0" fill="hold" grpId="0" nodeType="clickEffect">
                                  <p:stCondLst>
                                    <p:cond delay="0"/>
                                  </p:stCondLst>
                                  <p:iterate type="lt">
                                    <p:tmPct val="50000"/>
                                  </p:iterate>
                                  <p:childTnLst>
                                    <p:set>
                                      <p:cBhvr>
                                        <p:cTn id="23" dur="1" fill="hold">
                                          <p:stCondLst>
                                            <p:cond delay="0"/>
                                          </p:stCondLst>
                                        </p:cTn>
                                        <p:tgtEl>
                                          <p:spTgt spid="9"/>
                                        </p:tgtEl>
                                        <p:attrNameLst>
                                          <p:attrName>style.visibility</p:attrName>
                                        </p:attrNameLst>
                                      </p:cBhvr>
                                      <p:to>
                                        <p:strVal val="visible"/>
                                      </p:to>
                                    </p:set>
                                    <p:anim calcmode="discrete" valueType="clr">
                                      <p:cBhvr override="childStyle">
                                        <p:cTn id="24" dur="80"/>
                                        <p:tgtEl>
                                          <p:spTgt spid="9"/>
                                        </p:tgtEl>
                                        <p:attrNameLst>
                                          <p:attrName>style.color</p:attrName>
                                        </p:attrNameLst>
                                      </p:cBhvr>
                                      <p:tavLst>
                                        <p:tav tm="0">
                                          <p:val>
                                            <p:clrVal>
                                              <a:schemeClr val="accent2"/>
                                            </p:clrVal>
                                          </p:val>
                                        </p:tav>
                                        <p:tav tm="50000">
                                          <p:val>
                                            <p:clrVal>
                                              <a:schemeClr val="hlink"/>
                                            </p:clrVal>
                                          </p:val>
                                        </p:tav>
                                      </p:tavLst>
                                    </p:anim>
                                    <p:anim calcmode="discrete" valueType="clr">
                                      <p:cBhvr>
                                        <p:cTn id="25" dur="80"/>
                                        <p:tgtEl>
                                          <p:spTgt spid="9"/>
                                        </p:tgtEl>
                                        <p:attrNameLst>
                                          <p:attrName>fillcolor</p:attrName>
                                        </p:attrNameLst>
                                      </p:cBhvr>
                                      <p:tavLst>
                                        <p:tav tm="0">
                                          <p:val>
                                            <p:clrVal>
                                              <a:schemeClr val="accent2"/>
                                            </p:clrVal>
                                          </p:val>
                                        </p:tav>
                                        <p:tav tm="50000">
                                          <p:val>
                                            <p:clrVal>
                                              <a:schemeClr val="hlink"/>
                                            </p:clrVal>
                                          </p:val>
                                        </p:tav>
                                      </p:tavLst>
                                    </p:anim>
                                    <p:set>
                                      <p:cBhvr>
                                        <p:cTn id="26" dur="80"/>
                                        <p:tgtEl>
                                          <p:spTgt spid="9"/>
                                        </p:tgtEl>
                                        <p:attrNameLst>
                                          <p:attrName>fill.type</p:attrName>
                                        </p:attrNameLst>
                                      </p:cBhvr>
                                      <p:to>
                                        <p:strVal val="solid"/>
                                      </p:to>
                                    </p:set>
                                  </p:childTnLst>
                                </p:cTn>
                              </p:par>
                            </p:childTnLst>
                          </p:cTn>
                        </p:par>
                      </p:childTnLst>
                    </p:cTn>
                  </p:par>
                  <p:par>
                    <p:cTn id="27" fill="hold">
                      <p:stCondLst>
                        <p:cond delay="indefinite"/>
                      </p:stCondLst>
                      <p:childTnLst>
                        <p:par>
                          <p:cTn id="28" fill="hold">
                            <p:stCondLst>
                              <p:cond delay="0"/>
                            </p:stCondLst>
                            <p:childTnLst>
                              <p:par>
                                <p:cTn id="29" presetID="27" presetClass="entr" presetSubtype="0" fill="hold" grpId="0" nodeType="clickEffect">
                                  <p:stCondLst>
                                    <p:cond delay="0"/>
                                  </p:stCondLst>
                                  <p:iterate type="lt">
                                    <p:tmPct val="50000"/>
                                  </p:iterate>
                                  <p:childTnLst>
                                    <p:set>
                                      <p:cBhvr>
                                        <p:cTn id="30" dur="1" fill="hold">
                                          <p:stCondLst>
                                            <p:cond delay="0"/>
                                          </p:stCondLst>
                                        </p:cTn>
                                        <p:tgtEl>
                                          <p:spTgt spid="10"/>
                                        </p:tgtEl>
                                        <p:attrNameLst>
                                          <p:attrName>style.visibility</p:attrName>
                                        </p:attrNameLst>
                                      </p:cBhvr>
                                      <p:to>
                                        <p:strVal val="visible"/>
                                      </p:to>
                                    </p:set>
                                    <p:anim calcmode="discrete" valueType="clr">
                                      <p:cBhvr override="childStyle">
                                        <p:cTn id="31" dur="80"/>
                                        <p:tgtEl>
                                          <p:spTgt spid="10"/>
                                        </p:tgtEl>
                                        <p:attrNameLst>
                                          <p:attrName>style.color</p:attrName>
                                        </p:attrNameLst>
                                      </p:cBhvr>
                                      <p:tavLst>
                                        <p:tav tm="0">
                                          <p:val>
                                            <p:clrVal>
                                              <a:schemeClr val="accent2"/>
                                            </p:clrVal>
                                          </p:val>
                                        </p:tav>
                                        <p:tav tm="50000">
                                          <p:val>
                                            <p:clrVal>
                                              <a:schemeClr val="hlink"/>
                                            </p:clrVal>
                                          </p:val>
                                        </p:tav>
                                      </p:tavLst>
                                    </p:anim>
                                    <p:anim calcmode="discrete" valueType="clr">
                                      <p:cBhvr>
                                        <p:cTn id="32" dur="80"/>
                                        <p:tgtEl>
                                          <p:spTgt spid="10"/>
                                        </p:tgtEl>
                                        <p:attrNameLst>
                                          <p:attrName>fillcolor</p:attrName>
                                        </p:attrNameLst>
                                      </p:cBhvr>
                                      <p:tavLst>
                                        <p:tav tm="0">
                                          <p:val>
                                            <p:clrVal>
                                              <a:schemeClr val="accent2"/>
                                            </p:clrVal>
                                          </p:val>
                                        </p:tav>
                                        <p:tav tm="50000">
                                          <p:val>
                                            <p:clrVal>
                                              <a:schemeClr val="hlink"/>
                                            </p:clrVal>
                                          </p:val>
                                        </p:tav>
                                      </p:tavLst>
                                    </p:anim>
                                    <p:set>
                                      <p:cBhvr>
                                        <p:cTn id="33" dur="80"/>
                                        <p:tgtEl>
                                          <p:spTgt spid="10"/>
                                        </p:tgtEl>
                                        <p:attrNameLst>
                                          <p:attrName>fill.type</p:attrName>
                                        </p:attrNameLst>
                                      </p:cBhvr>
                                      <p:to>
                                        <p:strVal val="solid"/>
                                      </p:to>
                                    </p:se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blinds(horizontal)">
                                      <p:cBhvr>
                                        <p:cTn id="38" dur="500"/>
                                        <p:tgtEl>
                                          <p:spTgt spid="11"/>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3">
                                            <p:txEl>
                                              <p:pRg st="0" end="0"/>
                                            </p:txEl>
                                          </p:spTgt>
                                        </p:tgtEl>
                                        <p:attrNameLst>
                                          <p:attrName>style.visibility</p:attrName>
                                        </p:attrNameLst>
                                      </p:cBhvr>
                                      <p:to>
                                        <p:strVal val="visible"/>
                                      </p:to>
                                    </p:set>
                                    <p:animEffect transition="in" filter="wipe(left)">
                                      <p:cBhvr>
                                        <p:cTn id="43" dur="500"/>
                                        <p:tgtEl>
                                          <p:spTgt spid="3">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4">
                                            <p:txEl>
                                              <p:pRg st="0" end="0"/>
                                            </p:txEl>
                                          </p:spTgt>
                                        </p:tgtEl>
                                        <p:attrNameLst>
                                          <p:attrName>style.visibility</p:attrName>
                                        </p:attrNameLst>
                                      </p:cBhvr>
                                      <p:to>
                                        <p:strVal val="visible"/>
                                      </p:to>
                                    </p:set>
                                    <p:animEffect transition="in" filter="wipe(left)">
                                      <p:cBhvr>
                                        <p:cTn id="48" dur="500"/>
                                        <p:tgtEl>
                                          <p:spTgt spid="4">
                                            <p:txEl>
                                              <p:pRg st="0" end="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2">
                                            <p:txEl>
                                              <p:pRg st="0" end="0"/>
                                            </p:txEl>
                                          </p:spTgt>
                                        </p:tgtEl>
                                        <p:attrNameLst>
                                          <p:attrName>style.visibility</p:attrName>
                                        </p:attrNameLst>
                                      </p:cBhvr>
                                      <p:to>
                                        <p:strVal val="visible"/>
                                      </p:to>
                                    </p:set>
                                    <p:animEffect transition="in" filter="wipe(left)">
                                      <p:cBhvr>
                                        <p:cTn id="53" dur="500"/>
                                        <p:tgtEl>
                                          <p:spTgt spid="12">
                                            <p:txEl>
                                              <p:pRg st="0" end="0"/>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5">
                                            <p:txEl>
                                              <p:pRg st="0" end="0"/>
                                            </p:txEl>
                                          </p:spTgt>
                                        </p:tgtEl>
                                        <p:attrNameLst>
                                          <p:attrName>style.visibility</p:attrName>
                                        </p:attrNameLst>
                                      </p:cBhvr>
                                      <p:to>
                                        <p:strVal val="visible"/>
                                      </p:to>
                                    </p:set>
                                    <p:animEffect transition="in" filter="wipe(left)">
                                      <p:cBhvr>
                                        <p:cTn id="58" dur="500"/>
                                        <p:tgtEl>
                                          <p:spTgt spid="5">
                                            <p:txEl>
                                              <p:pRg st="0" end="0"/>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2" presetClass="entr" presetSubtype="4" fill="hold" grpId="0" nodeType="clickEffect">
                                  <p:stCondLst>
                                    <p:cond delay="0"/>
                                  </p:stCondLst>
                                  <p:childTnLst>
                                    <p:set>
                                      <p:cBhvr>
                                        <p:cTn id="62" dur="1" fill="hold">
                                          <p:stCondLst>
                                            <p:cond delay="0"/>
                                          </p:stCondLst>
                                        </p:cTn>
                                        <p:tgtEl>
                                          <p:spTgt spid="6"/>
                                        </p:tgtEl>
                                        <p:attrNameLst>
                                          <p:attrName>style.visibility</p:attrName>
                                        </p:attrNameLst>
                                      </p:cBhvr>
                                      <p:to>
                                        <p:strVal val="visible"/>
                                      </p:to>
                                    </p:set>
                                    <p:animEffect transition="in" filter="slide(fromBottom)">
                                      <p:cBhvr>
                                        <p:cTn id="63" dur="500"/>
                                        <p:tgtEl>
                                          <p:spTgt spid="6"/>
                                        </p:tgtEl>
                                      </p:cBhvr>
                                    </p:animEffect>
                                  </p:childTnLst>
                                </p:cTn>
                              </p:par>
                            </p:childTnLst>
                          </p:cTn>
                        </p:par>
                      </p:childTnLst>
                    </p:cTn>
                  </p:par>
                  <p:par>
                    <p:cTn id="64" fill="hold">
                      <p:stCondLst>
                        <p:cond delay="indefinite"/>
                      </p:stCondLst>
                      <p:childTnLst>
                        <p:par>
                          <p:cTn id="65" fill="hold">
                            <p:stCondLst>
                              <p:cond delay="0"/>
                            </p:stCondLst>
                            <p:childTnLst>
                              <p:par>
                                <p:cTn id="66" presetID="4" presetClass="entr" presetSubtype="32" fill="hold" nodeType="clickEffect">
                                  <p:stCondLst>
                                    <p:cond delay="0"/>
                                  </p:stCondLst>
                                  <p:childTnLst>
                                    <p:set>
                                      <p:cBhvr>
                                        <p:cTn id="67" dur="1" fill="hold">
                                          <p:stCondLst>
                                            <p:cond delay="0"/>
                                          </p:stCondLst>
                                        </p:cTn>
                                        <p:tgtEl>
                                          <p:spTgt spid="7"/>
                                        </p:tgtEl>
                                        <p:attrNameLst>
                                          <p:attrName>style.visibility</p:attrName>
                                        </p:attrNameLst>
                                      </p:cBhvr>
                                      <p:to>
                                        <p:strVal val="visible"/>
                                      </p:to>
                                    </p:set>
                                    <p:animEffect transition="in" filter="box(out)">
                                      <p:cBhvr>
                                        <p:cTn id="68" dur="500"/>
                                        <p:tgtEl>
                                          <p:spTgt spid="7"/>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16">
                                            <p:txEl>
                                              <p:pRg st="0" end="0"/>
                                            </p:txEl>
                                          </p:spTgt>
                                        </p:tgtEl>
                                        <p:attrNameLst>
                                          <p:attrName>style.visibility</p:attrName>
                                        </p:attrNameLst>
                                      </p:cBhvr>
                                      <p:to>
                                        <p:strVal val="visible"/>
                                      </p:to>
                                    </p:set>
                                    <p:animEffect transition="in" filter="wipe(left)">
                                      <p:cBhvr>
                                        <p:cTn id="73" dur="500"/>
                                        <p:tgtEl>
                                          <p:spTgt spid="1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rev="1"/>
      <p:bldP spid="4" grpId="0" build="p" autoUpdateAnimBg="0" rev="1"/>
      <p:bldP spid="5" grpId="0" build="p" autoUpdateAnimBg="0" rev="1"/>
      <p:bldP spid="6" grpId="0" animBg="1"/>
      <p:bldP spid="8" grpId="0"/>
      <p:bldP spid="9" grpId="0"/>
      <p:bldP spid="10" grpId="0"/>
      <p:bldP spid="11" grpId="0" animBg="1"/>
      <p:bldP spid="12" grpId="0" build="p" autoUpdateAnimBg="0" rev="1"/>
      <p:bldP spid="15" grpId="0" autoUpdateAnimBg="0"/>
      <p:bldP spid="16" grpId="0" build="p" autoUpdateAnimBg="0" rev="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88633" y="1003794"/>
            <a:ext cx="2122736" cy="1584578"/>
          </a:xfrm>
          <a:prstGeom prst="rect">
            <a:avLst/>
          </a:prstGeom>
        </p:spPr>
      </p:pic>
      <p:sp>
        <p:nvSpPr>
          <p:cNvPr id="175123" name="Rectangle 19"/>
          <p:cNvSpPr>
            <a:spLocks noChangeArrowheads="1"/>
          </p:cNvSpPr>
          <p:nvPr/>
        </p:nvSpPr>
        <p:spPr bwMode="auto">
          <a:xfrm>
            <a:off x="548076" y="1433234"/>
            <a:ext cx="981075"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solidFill>
                  <a:srgbClr val="FF0000"/>
                </a:solidFill>
                <a:latin typeface="楷体" panose="02010609060101010101" pitchFamily="49" charset="-122"/>
                <a:ea typeface="楷体" panose="02010609060101010101" pitchFamily="49" charset="-122"/>
              </a:rPr>
              <a:t>解：</a:t>
            </a:r>
          </a:p>
        </p:txBody>
      </p:sp>
      <p:sp>
        <p:nvSpPr>
          <p:cNvPr id="175124" name="Rectangle 20"/>
          <p:cNvSpPr>
            <a:spLocks noChangeArrowheads="1"/>
          </p:cNvSpPr>
          <p:nvPr/>
        </p:nvSpPr>
        <p:spPr bwMode="auto">
          <a:xfrm>
            <a:off x="1355144" y="1479504"/>
            <a:ext cx="2309917"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i="1" dirty="0">
                <a:latin typeface="Times New Roman" panose="02020603050405020304" pitchFamily="18" charset="0"/>
              </a:rPr>
              <a:t>F</a:t>
            </a:r>
            <a:r>
              <a:rPr kumimoji="1" lang="en-US" altLang="zh-CN" baseline="-25000" dirty="0">
                <a:latin typeface="Times New Roman" panose="02020603050405020304" pitchFamily="18" charset="0"/>
              </a:rPr>
              <a:t>N</a:t>
            </a:r>
            <a:r>
              <a:rPr kumimoji="1" lang="en-US" altLang="zh-CN" i="1" dirty="0">
                <a:latin typeface="Times New Roman" panose="02020603050405020304" pitchFamily="18" charset="0"/>
              </a:rPr>
              <a:t> </a:t>
            </a:r>
            <a:r>
              <a:rPr kumimoji="1" lang="en-US" altLang="zh-CN" dirty="0">
                <a:latin typeface="Times New Roman" panose="02020603050405020304" pitchFamily="18" charset="0"/>
              </a:rPr>
              <a:t>= </a:t>
            </a:r>
            <a:r>
              <a:rPr kumimoji="1" lang="en-US" altLang="zh-CN" i="1" dirty="0">
                <a:latin typeface="Times New Roman" panose="02020603050405020304" pitchFamily="18" charset="0"/>
              </a:rPr>
              <a:t>W </a:t>
            </a:r>
            <a:r>
              <a:rPr kumimoji="1" lang="en-US" altLang="zh-CN" dirty="0">
                <a:latin typeface="Times New Roman" panose="02020603050405020304" pitchFamily="18" charset="0"/>
              </a:rPr>
              <a:t>= 1.2 </a:t>
            </a:r>
            <a:r>
              <a:rPr kumimoji="1" lang="en-US" altLang="zh-CN" dirty="0" err="1">
                <a:latin typeface="Times New Roman" panose="02020603050405020304" pitchFamily="18" charset="0"/>
              </a:rPr>
              <a:t>kN</a:t>
            </a:r>
            <a:endParaRPr kumimoji="1" lang="en-US" altLang="zh-CN" dirty="0">
              <a:latin typeface="Times New Roman" panose="02020603050405020304" pitchFamily="18" charset="0"/>
              <a:ea typeface="'宋体" pitchFamily="34" charset="-122"/>
            </a:endParaRPr>
          </a:p>
        </p:txBody>
      </p:sp>
      <p:graphicFrame>
        <p:nvGraphicFramePr>
          <p:cNvPr id="175125" name="Object 21"/>
          <p:cNvGraphicFramePr>
            <a:graphicFrameLocks/>
          </p:cNvGraphicFramePr>
          <p:nvPr>
            <p:extLst>
              <p:ext uri="{D42A27DB-BD31-4B8C-83A1-F6EECF244321}">
                <p14:modId xmlns:p14="http://schemas.microsoft.com/office/powerpoint/2010/main" val="1898186063"/>
              </p:ext>
            </p:extLst>
          </p:nvPr>
        </p:nvGraphicFramePr>
        <p:xfrm>
          <a:off x="3997338" y="1286308"/>
          <a:ext cx="1102985" cy="873515"/>
        </p:xfrm>
        <a:graphic>
          <a:graphicData uri="http://schemas.openxmlformats.org/presentationml/2006/ole">
            <mc:AlternateContent xmlns:mc="http://schemas.openxmlformats.org/markup-compatibility/2006">
              <mc:Choice xmlns:v="urn:schemas-microsoft-com:vml" Requires="v">
                <p:oleObj name="Equation" r:id="rId3" imgW="571320" imgH="419040" progId="Equation.DSMT4">
                  <p:embed/>
                </p:oleObj>
              </mc:Choice>
              <mc:Fallback>
                <p:oleObj name="Equation" r:id="rId3" imgW="571320" imgH="419040" progId="Equation.DSMT4">
                  <p:embed/>
                  <p:pic>
                    <p:nvPicPr>
                      <p:cNvPr id="0" name=""/>
                      <p:cNvPicPr>
                        <a:picLocks noChangeArrowheads="1"/>
                      </p:cNvPicPr>
                      <p:nvPr/>
                    </p:nvPicPr>
                    <p:blipFill>
                      <a:blip r:embed="rId4"/>
                      <a:srcRect/>
                      <a:stretch>
                        <a:fillRect/>
                      </a:stretch>
                    </p:blipFill>
                    <p:spPr bwMode="auto">
                      <a:xfrm>
                        <a:off x="3997338" y="1286308"/>
                        <a:ext cx="1102985" cy="873515"/>
                      </a:xfrm>
                      <a:prstGeom prst="rect">
                        <a:avLst/>
                      </a:prstGeom>
                      <a:noFill/>
                      <a:ln>
                        <a:noFill/>
                      </a:ln>
                      <a:effectLst/>
                    </p:spPr>
                  </p:pic>
                </p:oleObj>
              </mc:Fallback>
            </mc:AlternateContent>
          </a:graphicData>
        </a:graphic>
      </p:graphicFrame>
      <p:graphicFrame>
        <p:nvGraphicFramePr>
          <p:cNvPr id="175126" name="Object 22"/>
          <p:cNvGraphicFramePr>
            <a:graphicFrameLocks/>
          </p:cNvGraphicFramePr>
          <p:nvPr>
            <p:extLst>
              <p:ext uri="{D42A27DB-BD31-4B8C-83A1-F6EECF244321}">
                <p14:modId xmlns:p14="http://schemas.microsoft.com/office/powerpoint/2010/main" val="1811607250"/>
              </p:ext>
            </p:extLst>
          </p:nvPr>
        </p:nvGraphicFramePr>
        <p:xfrm>
          <a:off x="993275" y="2007924"/>
          <a:ext cx="1846262" cy="781050"/>
        </p:xfrm>
        <a:graphic>
          <a:graphicData uri="http://schemas.openxmlformats.org/presentationml/2006/ole">
            <mc:AlternateContent xmlns:mc="http://schemas.openxmlformats.org/markup-compatibility/2006">
              <mc:Choice xmlns:v="urn:schemas-microsoft-com:vml" Requires="v">
                <p:oleObj name="Equation" r:id="rId5" imgW="914400" imgH="393480" progId="Equation.DSMT4">
                  <p:embed/>
                </p:oleObj>
              </mc:Choice>
              <mc:Fallback>
                <p:oleObj name="Equation" r:id="rId5" imgW="914400" imgH="393480" progId="Equation.DSMT4">
                  <p:embed/>
                  <p:pic>
                    <p:nvPicPr>
                      <p:cNvPr id="0" name=""/>
                      <p:cNvPicPr>
                        <a:picLocks noChangeArrowheads="1"/>
                      </p:cNvPicPr>
                      <p:nvPr/>
                    </p:nvPicPr>
                    <p:blipFill>
                      <a:blip r:embed="rId6"/>
                      <a:srcRect/>
                      <a:stretch>
                        <a:fillRect/>
                      </a:stretch>
                    </p:blipFill>
                    <p:spPr bwMode="auto">
                      <a:xfrm>
                        <a:off x="993275" y="2007924"/>
                        <a:ext cx="1846262" cy="781050"/>
                      </a:xfrm>
                      <a:prstGeom prst="rect">
                        <a:avLst/>
                      </a:prstGeom>
                      <a:noFill/>
                      <a:ln>
                        <a:noFill/>
                      </a:ln>
                      <a:effectLst/>
                    </p:spPr>
                  </p:pic>
                </p:oleObj>
              </mc:Fallback>
            </mc:AlternateContent>
          </a:graphicData>
        </a:graphic>
      </p:graphicFrame>
      <p:sp>
        <p:nvSpPr>
          <p:cNvPr id="175127" name="Rectangle 23"/>
          <p:cNvSpPr>
            <a:spLocks noChangeArrowheads="1"/>
          </p:cNvSpPr>
          <p:nvPr/>
        </p:nvSpPr>
        <p:spPr bwMode="auto">
          <a:xfrm>
            <a:off x="578184" y="3964121"/>
            <a:ext cx="3211513" cy="462307"/>
          </a:xfrm>
          <a:prstGeom prst="rect">
            <a:avLst/>
          </a:prstGeom>
          <a:noFill/>
          <a:ln>
            <a:noFill/>
          </a:ln>
          <a:effectLst/>
          <a:extLst>
            <a:ext uri="{909E8E84-426E-40DD-AFC4-6F175D3DCCD1}">
              <a14:hiddenFill xmlns:a14="http://schemas.microsoft.com/office/drawing/2010/main">
                <a:solidFill>
                  <a:srgbClr val="00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solidFill>
                  <a:srgbClr val="0000FF"/>
                </a:solidFill>
                <a:latin typeface="华文楷体" panose="02010600040101010101" pitchFamily="2" charset="-122"/>
                <a:ea typeface="华文楷体" panose="02010600040101010101" pitchFamily="2" charset="-122"/>
              </a:rPr>
              <a:t>结论：螺栓强度安全</a:t>
            </a:r>
            <a:r>
              <a:rPr kumimoji="1" lang="en-US" altLang="zh-CN" sz="2400" b="1" dirty="0">
                <a:solidFill>
                  <a:srgbClr val="0000FF"/>
                </a:solidFill>
                <a:latin typeface="华文楷体" panose="02010600040101010101" pitchFamily="2" charset="-122"/>
                <a:ea typeface="华文楷体" panose="02010600040101010101" pitchFamily="2" charset="-122"/>
              </a:rPr>
              <a:t>!</a:t>
            </a:r>
            <a:endParaRPr kumimoji="1" lang="zh-CN" altLang="en-US" sz="2400" b="1" dirty="0">
              <a:solidFill>
                <a:srgbClr val="0000FF"/>
              </a:solidFill>
              <a:latin typeface="华文楷体" panose="02010600040101010101" pitchFamily="2" charset="-122"/>
              <a:ea typeface="华文楷体" panose="02010600040101010101" pitchFamily="2" charset="-122"/>
            </a:endParaRPr>
          </a:p>
        </p:txBody>
      </p:sp>
      <p:sp>
        <p:nvSpPr>
          <p:cNvPr id="175132" name="Rectangle 28"/>
          <p:cNvSpPr>
            <a:spLocks noChangeArrowheads="1"/>
          </p:cNvSpPr>
          <p:nvPr/>
        </p:nvSpPr>
        <p:spPr bwMode="auto">
          <a:xfrm>
            <a:off x="530994" y="465047"/>
            <a:ext cx="8080375" cy="9055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10000"/>
              </a:lnSpc>
            </a:pPr>
            <a:r>
              <a:rPr kumimoji="1" lang="zh-CN" altLang="en-US" sz="2400" b="1" dirty="0">
                <a:solidFill>
                  <a:srgbClr val="FF0000"/>
                </a:solidFill>
                <a:latin typeface="+mn-lt"/>
                <a:ea typeface="楷体" panose="02010609060101010101" pitchFamily="49" charset="-122"/>
              </a:rPr>
              <a:t>例</a:t>
            </a:r>
            <a:r>
              <a:rPr kumimoji="1" lang="zh-CN" altLang="en-US" sz="2400" b="1" dirty="0">
                <a:solidFill>
                  <a:srgbClr val="000000"/>
                </a:solidFill>
                <a:latin typeface="+mn-lt"/>
                <a:ea typeface="楷体" panose="02010609060101010101" pitchFamily="49" charset="-122"/>
              </a:rPr>
              <a:t>  电机重量 </a:t>
            </a:r>
            <a:r>
              <a:rPr kumimoji="1" lang="en-US" altLang="zh-CN" sz="2400" i="1" dirty="0">
                <a:solidFill>
                  <a:srgbClr val="000000"/>
                </a:solidFill>
                <a:latin typeface="+mn-lt"/>
                <a:ea typeface="楷体" panose="02010609060101010101" pitchFamily="49" charset="-122"/>
              </a:rPr>
              <a:t>W</a:t>
            </a:r>
            <a:r>
              <a:rPr kumimoji="1" lang="en-US" altLang="zh-CN" sz="2400" b="1" dirty="0">
                <a:solidFill>
                  <a:srgbClr val="000000"/>
                </a:solidFill>
                <a:latin typeface="+mn-lt"/>
                <a:ea typeface="楷体" panose="02010609060101010101" pitchFamily="49" charset="-122"/>
              </a:rPr>
              <a:t>=</a:t>
            </a:r>
            <a:r>
              <a:rPr kumimoji="1" lang="en-US" altLang="zh-CN" sz="2400" dirty="0">
                <a:solidFill>
                  <a:srgbClr val="000000"/>
                </a:solidFill>
                <a:latin typeface="+mn-lt"/>
                <a:ea typeface="楷体" panose="02010609060101010101" pitchFamily="49" charset="-122"/>
              </a:rPr>
              <a:t>1.2 </a:t>
            </a:r>
            <a:r>
              <a:rPr kumimoji="1" lang="en-US" altLang="zh-CN" sz="2400" dirty="0" err="1">
                <a:solidFill>
                  <a:srgbClr val="000000"/>
                </a:solidFill>
                <a:latin typeface="+mn-lt"/>
                <a:ea typeface="楷体" panose="02010609060101010101" pitchFamily="49" charset="-122"/>
              </a:rPr>
              <a:t>kN</a:t>
            </a:r>
            <a:r>
              <a:rPr kumimoji="1" lang="zh-CN" altLang="en-US" sz="2400" dirty="0">
                <a:solidFill>
                  <a:srgbClr val="000000"/>
                </a:solidFill>
                <a:latin typeface="+mn-lt"/>
                <a:ea typeface="楷体" panose="02010609060101010101" pitchFamily="49" charset="-122"/>
              </a:rPr>
              <a:t>，</a:t>
            </a:r>
            <a:r>
              <a:rPr kumimoji="1" lang="en-US" altLang="zh-CN" sz="2400" dirty="0">
                <a:solidFill>
                  <a:srgbClr val="000000"/>
                </a:solidFill>
                <a:latin typeface="+mn-lt"/>
                <a:ea typeface="楷体" panose="02010609060101010101" pitchFamily="49" charset="-122"/>
              </a:rPr>
              <a:t>M8</a:t>
            </a:r>
            <a:r>
              <a:rPr kumimoji="1" lang="zh-CN" altLang="en-US" sz="2400" b="1" dirty="0">
                <a:solidFill>
                  <a:srgbClr val="000000"/>
                </a:solidFill>
                <a:latin typeface="+mn-lt"/>
                <a:ea typeface="楷体" panose="02010609060101010101" pitchFamily="49" charset="-122"/>
              </a:rPr>
              <a:t>吊环螺栓大径 </a:t>
            </a:r>
            <a:r>
              <a:rPr kumimoji="1" lang="en-US" altLang="zh-CN" sz="2400" i="1" dirty="0">
                <a:solidFill>
                  <a:srgbClr val="000000"/>
                </a:solidFill>
                <a:latin typeface="+mn-lt"/>
                <a:ea typeface="楷体" panose="02010609060101010101" pitchFamily="49" charset="-122"/>
              </a:rPr>
              <a:t>D</a:t>
            </a:r>
            <a:r>
              <a:rPr kumimoji="1" lang="en-US" altLang="zh-CN" sz="2400" b="1" dirty="0">
                <a:solidFill>
                  <a:srgbClr val="000000"/>
                </a:solidFill>
                <a:latin typeface="+mn-lt"/>
                <a:ea typeface="楷体" panose="02010609060101010101" pitchFamily="49" charset="-122"/>
              </a:rPr>
              <a:t>=</a:t>
            </a:r>
            <a:r>
              <a:rPr kumimoji="1" lang="en-US" altLang="zh-CN" sz="2400" dirty="0">
                <a:solidFill>
                  <a:srgbClr val="000000"/>
                </a:solidFill>
                <a:latin typeface="+mn-lt"/>
                <a:ea typeface="楷体" panose="02010609060101010101" pitchFamily="49" charset="-122"/>
              </a:rPr>
              <a:t>8mm</a:t>
            </a:r>
            <a:r>
              <a:rPr kumimoji="1" lang="zh-CN" altLang="en-US" sz="2400" b="1" dirty="0">
                <a:solidFill>
                  <a:srgbClr val="000000"/>
                </a:solidFill>
                <a:latin typeface="+mn-lt"/>
                <a:ea typeface="楷体" panose="02010609060101010101" pitchFamily="49" charset="-122"/>
              </a:rPr>
              <a:t>，小径 </a:t>
            </a:r>
            <a:r>
              <a:rPr kumimoji="1" lang="en-US" altLang="zh-CN" sz="2400" i="1" dirty="0">
                <a:solidFill>
                  <a:srgbClr val="000000"/>
                </a:solidFill>
                <a:latin typeface="+mn-lt"/>
                <a:ea typeface="楷体" panose="02010609060101010101" pitchFamily="49" charset="-122"/>
              </a:rPr>
              <a:t>d</a:t>
            </a:r>
            <a:r>
              <a:rPr kumimoji="1" lang="en-US" altLang="zh-CN" sz="2400" b="1" dirty="0">
                <a:solidFill>
                  <a:srgbClr val="000000"/>
                </a:solidFill>
                <a:latin typeface="+mn-lt"/>
                <a:ea typeface="楷体" panose="02010609060101010101" pitchFamily="49" charset="-122"/>
              </a:rPr>
              <a:t>=</a:t>
            </a:r>
            <a:r>
              <a:rPr kumimoji="1" lang="en-US" altLang="zh-CN" sz="2400" dirty="0">
                <a:solidFill>
                  <a:srgbClr val="000000"/>
                </a:solidFill>
                <a:latin typeface="+mn-lt"/>
                <a:ea typeface="楷体" panose="02010609060101010101" pitchFamily="49" charset="-122"/>
              </a:rPr>
              <a:t>6.4mm </a:t>
            </a:r>
            <a:r>
              <a:rPr kumimoji="1" lang="zh-CN" altLang="en-US" sz="2400" b="1" dirty="0">
                <a:solidFill>
                  <a:srgbClr val="000000"/>
                </a:solidFill>
                <a:latin typeface="+mn-lt"/>
                <a:ea typeface="楷体" panose="02010609060101010101" pitchFamily="49" charset="-122"/>
              </a:rPr>
              <a:t>，</a:t>
            </a:r>
            <a:r>
              <a:rPr kumimoji="1" lang="en-US" altLang="zh-CN" sz="2400" dirty="0">
                <a:solidFill>
                  <a:srgbClr val="000000"/>
                </a:solidFill>
                <a:latin typeface="+mn-lt"/>
                <a:ea typeface="楷体" panose="02010609060101010101" pitchFamily="49" charset="-122"/>
              </a:rPr>
              <a:t>[</a:t>
            </a:r>
            <a:r>
              <a:rPr kumimoji="1" lang="el-GR" altLang="zh-CN" sz="2400" i="1" dirty="0">
                <a:solidFill>
                  <a:srgbClr val="000000"/>
                </a:solidFill>
                <a:latin typeface="+mn-lt"/>
                <a:ea typeface="楷体" panose="02010609060101010101" pitchFamily="49" charset="-122"/>
                <a:cs typeface="Times New Roman" panose="02020603050405020304" pitchFamily="18" charset="0"/>
                <a:sym typeface="Symbol" panose="05050102010706020507" pitchFamily="18" charset="2"/>
              </a:rPr>
              <a:t></a:t>
            </a:r>
            <a:r>
              <a:rPr kumimoji="1" lang="en-US" altLang="zh-CN" sz="2400" dirty="0">
                <a:solidFill>
                  <a:srgbClr val="000000"/>
                </a:solidFill>
                <a:latin typeface="+mn-lt"/>
                <a:ea typeface="楷体" panose="02010609060101010101" pitchFamily="49" charset="-122"/>
              </a:rPr>
              <a:t>] </a:t>
            </a:r>
            <a:r>
              <a:rPr kumimoji="1" lang="en-US" altLang="zh-CN" sz="2400" b="1" dirty="0">
                <a:solidFill>
                  <a:srgbClr val="000000"/>
                </a:solidFill>
                <a:latin typeface="+mn-lt"/>
                <a:ea typeface="楷体" panose="02010609060101010101" pitchFamily="49" charset="-122"/>
              </a:rPr>
              <a:t>=</a:t>
            </a:r>
            <a:r>
              <a:rPr kumimoji="1" lang="en-US" altLang="zh-CN" sz="2400" dirty="0">
                <a:solidFill>
                  <a:srgbClr val="000000"/>
                </a:solidFill>
                <a:latin typeface="+mn-lt"/>
                <a:ea typeface="楷体" panose="02010609060101010101" pitchFamily="49" charset="-122"/>
              </a:rPr>
              <a:t>40MPa</a:t>
            </a:r>
            <a:r>
              <a:rPr kumimoji="1" lang="zh-CN" altLang="en-US" sz="2400" b="1" dirty="0">
                <a:solidFill>
                  <a:srgbClr val="000000"/>
                </a:solidFill>
                <a:latin typeface="+mn-lt"/>
                <a:ea typeface="楷体" panose="02010609060101010101" pitchFamily="49" charset="-122"/>
              </a:rPr>
              <a:t>，校核螺栓强度。</a:t>
            </a:r>
          </a:p>
        </p:txBody>
      </p:sp>
      <p:sp>
        <p:nvSpPr>
          <p:cNvPr id="175133" name="Rectangle 29"/>
          <p:cNvSpPr>
            <a:spLocks noChangeArrowheads="1"/>
          </p:cNvSpPr>
          <p:nvPr/>
        </p:nvSpPr>
        <p:spPr bwMode="auto">
          <a:xfrm>
            <a:off x="578184" y="4658968"/>
            <a:ext cx="1419225"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defRPr/>
            </a:pPr>
            <a:r>
              <a:rPr kumimoji="1" lang="zh-CN" altLang="en-US" sz="2400" b="1" dirty="0">
                <a:solidFill>
                  <a:srgbClr val="FF3300"/>
                </a:solidFill>
                <a:latin typeface="楷体" panose="02010609060101010101" pitchFamily="49" charset="-122"/>
                <a:ea typeface="楷体" panose="02010609060101010101" pitchFamily="49" charset="-122"/>
              </a:rPr>
              <a:t>讨论：</a:t>
            </a:r>
          </a:p>
        </p:txBody>
      </p:sp>
      <p:sp>
        <p:nvSpPr>
          <p:cNvPr id="175134" name="Rectangle 30"/>
          <p:cNvSpPr>
            <a:spLocks noChangeArrowheads="1"/>
          </p:cNvSpPr>
          <p:nvPr/>
        </p:nvSpPr>
        <p:spPr bwMode="auto">
          <a:xfrm>
            <a:off x="681463" y="5447928"/>
            <a:ext cx="7872413" cy="466725"/>
          </a:xfrm>
          <a:prstGeom prst="rect">
            <a:avLst/>
          </a:prstGeom>
          <a:noFill/>
          <a:ln w="9525">
            <a:noFill/>
            <a:miter lim="800000"/>
            <a:headEnd/>
            <a:tailEnd/>
          </a:ln>
          <a:effec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latin typeface="楷体" panose="02010609060101010101" pitchFamily="49" charset="-122"/>
                <a:ea typeface="楷体" panose="02010609060101010101" pitchFamily="49" charset="-122"/>
              </a:rPr>
              <a:t>工程上，通过比较尺寸或载荷得到结论，是不允许的！</a:t>
            </a:r>
          </a:p>
        </p:txBody>
      </p:sp>
      <p:sp>
        <p:nvSpPr>
          <p:cNvPr id="19473" name="Rectangle 34"/>
          <p:cNvSpPr>
            <a:spLocks noChangeArrowheads="1"/>
          </p:cNvSpPr>
          <p:nvPr/>
        </p:nvSpPr>
        <p:spPr bwMode="auto">
          <a:xfrm>
            <a:off x="7003882" y="2392117"/>
            <a:ext cx="667718" cy="648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grpSp>
        <p:nvGrpSpPr>
          <p:cNvPr id="175145" name="Group 41"/>
          <p:cNvGrpSpPr>
            <a:grpSpLocks/>
          </p:cNvGrpSpPr>
          <p:nvPr/>
        </p:nvGrpSpPr>
        <p:grpSpPr bwMode="auto">
          <a:xfrm>
            <a:off x="5468395" y="1447187"/>
            <a:ext cx="652166" cy="712788"/>
            <a:chOff x="4772" y="2238"/>
            <a:chExt cx="315" cy="449"/>
          </a:xfrm>
        </p:grpSpPr>
        <p:sp>
          <p:nvSpPr>
            <p:cNvPr id="19469" name="Line 42"/>
            <p:cNvSpPr>
              <a:spLocks noChangeShapeType="1"/>
            </p:cNvSpPr>
            <p:nvPr/>
          </p:nvSpPr>
          <p:spPr bwMode="auto">
            <a:xfrm flipV="1">
              <a:off x="5031" y="2238"/>
              <a:ext cx="0" cy="449"/>
            </a:xfrm>
            <a:prstGeom prst="line">
              <a:avLst/>
            </a:prstGeom>
            <a:noFill/>
            <a:ln w="38100">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0" name="Rectangle 43"/>
            <p:cNvSpPr>
              <a:spLocks noChangeArrowheads="1"/>
            </p:cNvSpPr>
            <p:nvPr/>
          </p:nvSpPr>
          <p:spPr bwMode="auto">
            <a:xfrm>
              <a:off x="4772" y="2242"/>
              <a:ext cx="31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b="1" i="1" dirty="0">
                  <a:solidFill>
                    <a:srgbClr val="FF0000"/>
                  </a:solidFill>
                  <a:latin typeface="Times New Roman" panose="02020603050405020304" pitchFamily="18" charset="0"/>
                  <a:ea typeface="宋体" panose="02010600030101010101" pitchFamily="2" charset="-122"/>
                </a:rPr>
                <a:t>F</a:t>
              </a:r>
              <a:r>
                <a:rPr kumimoji="1" lang="en-US" altLang="zh-CN" b="1" baseline="-25000" dirty="0">
                  <a:solidFill>
                    <a:srgbClr val="FF0000"/>
                  </a:solidFill>
                  <a:latin typeface="Times New Roman" panose="02020603050405020304" pitchFamily="18" charset="0"/>
                  <a:ea typeface="宋体" panose="02010600030101010101" pitchFamily="2" charset="-122"/>
                </a:rPr>
                <a:t>N</a:t>
              </a:r>
            </a:p>
          </p:txBody>
        </p:sp>
      </p:grpSp>
      <p:sp>
        <p:nvSpPr>
          <p:cNvPr id="2" name="Rectangle 23"/>
          <p:cNvSpPr>
            <a:spLocks noChangeArrowheads="1"/>
          </p:cNvSpPr>
          <p:nvPr/>
        </p:nvSpPr>
        <p:spPr bwMode="auto">
          <a:xfrm>
            <a:off x="3860182" y="3959664"/>
            <a:ext cx="2744788" cy="462307"/>
          </a:xfrm>
          <a:prstGeom prst="rect">
            <a:avLst/>
          </a:prstGeom>
          <a:noFill/>
          <a:ln>
            <a:noFill/>
          </a:ln>
          <a:effec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kumimoji="1" lang="zh-CN" altLang="en-US" sz="2400" b="1" dirty="0">
                <a:solidFill>
                  <a:srgbClr val="FF0000"/>
                </a:solidFill>
                <a:latin typeface="华文楷体" panose="02010600040101010101" pitchFamily="2" charset="-122"/>
                <a:ea typeface="华文楷体" panose="02010600040101010101" pitchFamily="2" charset="-122"/>
              </a:rPr>
              <a:t>（这个不能少！）</a:t>
            </a:r>
          </a:p>
        </p:txBody>
      </p:sp>
      <p:graphicFrame>
        <p:nvGraphicFramePr>
          <p:cNvPr id="3" name="Object 22"/>
          <p:cNvGraphicFramePr>
            <a:graphicFrameLocks/>
          </p:cNvGraphicFramePr>
          <p:nvPr>
            <p:extLst>
              <p:ext uri="{D42A27DB-BD31-4B8C-83A1-F6EECF244321}">
                <p14:modId xmlns:p14="http://schemas.microsoft.com/office/powerpoint/2010/main" val="4165050382"/>
              </p:ext>
            </p:extLst>
          </p:nvPr>
        </p:nvGraphicFramePr>
        <p:xfrm>
          <a:off x="1713272" y="4531357"/>
          <a:ext cx="1889802" cy="886331"/>
        </p:xfrm>
        <a:graphic>
          <a:graphicData uri="http://schemas.openxmlformats.org/presentationml/2006/ole">
            <mc:AlternateContent xmlns:mc="http://schemas.openxmlformats.org/markup-compatibility/2006">
              <mc:Choice xmlns:v="urn:schemas-microsoft-com:vml" Requires="v">
                <p:oleObj name="Equation" r:id="rId7" imgW="863280" imgH="444240" progId="Equation.DSMT4">
                  <p:embed/>
                </p:oleObj>
              </mc:Choice>
              <mc:Fallback>
                <p:oleObj name="Equation" r:id="rId7" imgW="863280" imgH="444240" progId="Equation.DSMT4">
                  <p:embed/>
                  <p:pic>
                    <p:nvPicPr>
                      <p:cNvPr id="0" name=""/>
                      <p:cNvPicPr>
                        <a:picLocks noChangeArrowheads="1"/>
                      </p:cNvPicPr>
                      <p:nvPr/>
                    </p:nvPicPr>
                    <p:blipFill>
                      <a:blip r:embed="rId8"/>
                      <a:srcRect/>
                      <a:stretch>
                        <a:fillRect/>
                      </a:stretch>
                    </p:blipFill>
                    <p:spPr bwMode="auto">
                      <a:xfrm>
                        <a:off x="1713272" y="4531357"/>
                        <a:ext cx="1889802" cy="886331"/>
                      </a:xfrm>
                      <a:prstGeom prst="rect">
                        <a:avLst/>
                      </a:prstGeom>
                      <a:noFill/>
                      <a:ln>
                        <a:noFill/>
                      </a:ln>
                      <a:effectLst/>
                    </p:spPr>
                  </p:pic>
                </p:oleObj>
              </mc:Fallback>
            </mc:AlternateContent>
          </a:graphicData>
        </a:graphic>
      </p:graphicFrame>
      <p:graphicFrame>
        <p:nvGraphicFramePr>
          <p:cNvPr id="4" name="Object 22"/>
          <p:cNvGraphicFramePr>
            <a:graphicFrameLocks/>
          </p:cNvGraphicFramePr>
          <p:nvPr>
            <p:extLst>
              <p:ext uri="{D42A27DB-BD31-4B8C-83A1-F6EECF244321}">
                <p14:modId xmlns:p14="http://schemas.microsoft.com/office/powerpoint/2010/main" val="1975460196"/>
              </p:ext>
            </p:extLst>
          </p:nvPr>
        </p:nvGraphicFramePr>
        <p:xfrm>
          <a:off x="4446142" y="4685574"/>
          <a:ext cx="2158828" cy="533981"/>
        </p:xfrm>
        <a:graphic>
          <a:graphicData uri="http://schemas.openxmlformats.org/presentationml/2006/ole">
            <mc:AlternateContent xmlns:mc="http://schemas.openxmlformats.org/markup-compatibility/2006">
              <mc:Choice xmlns:v="urn:schemas-microsoft-com:vml" Requires="v">
                <p:oleObj name="Equation" r:id="rId9" imgW="1028520" imgH="253800" progId="Equation.DSMT4">
                  <p:embed/>
                </p:oleObj>
              </mc:Choice>
              <mc:Fallback>
                <p:oleObj name="Equation" r:id="rId9" imgW="1028520" imgH="253800" progId="Equation.DSMT4">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46142" y="4685574"/>
                        <a:ext cx="2158828" cy="533981"/>
                      </a:xfrm>
                      <a:prstGeom prst="rect">
                        <a:avLst/>
                      </a:prstGeom>
                      <a:noFill/>
                      <a:ln>
                        <a:noFill/>
                      </a:ln>
                      <a:effectLst/>
                    </p:spPr>
                  </p:pic>
                </p:oleObj>
              </mc:Fallback>
            </mc:AlternateContent>
          </a:graphicData>
        </a:graphic>
      </p:graphicFrame>
      <p:sp>
        <p:nvSpPr>
          <p:cNvPr id="5" name="Rectangle 30"/>
          <p:cNvSpPr>
            <a:spLocks noChangeArrowheads="1"/>
          </p:cNvSpPr>
          <p:nvPr/>
        </p:nvSpPr>
        <p:spPr bwMode="auto">
          <a:xfrm>
            <a:off x="495855" y="6034551"/>
            <a:ext cx="7872412" cy="466725"/>
          </a:xfrm>
          <a:prstGeom prst="rect">
            <a:avLst/>
          </a:prstGeom>
          <a:solidFill>
            <a:srgbClr val="CCCCFF"/>
          </a:solidFill>
          <a:ln w="9525">
            <a:solidFill>
              <a:srgbClr val="CC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solidFill>
                  <a:srgbClr val="FF0000"/>
                </a:solidFill>
                <a:latin typeface="楷体" panose="02010609060101010101" pitchFamily="49" charset="-122"/>
                <a:ea typeface="楷体" panose="02010609060101010101" pitchFamily="49" charset="-122"/>
              </a:rPr>
              <a:t>解题思路：外力</a:t>
            </a:r>
            <a:r>
              <a:rPr kumimoji="1" lang="en-US" altLang="en-US" sz="2400" b="1" dirty="0">
                <a:solidFill>
                  <a:srgbClr val="FF0000"/>
                </a:solidFill>
                <a:latin typeface="楷体" panose="02010609060101010101" pitchFamily="49" charset="-122"/>
                <a:ea typeface="楷体" panose="02010609060101010101" pitchFamily="49" charset="-122"/>
              </a:rPr>
              <a:t>→</a:t>
            </a:r>
            <a:r>
              <a:rPr kumimoji="1" lang="zh-CN" altLang="en-US" sz="2400" b="1" dirty="0">
                <a:solidFill>
                  <a:srgbClr val="FF0000"/>
                </a:solidFill>
                <a:latin typeface="楷体" panose="02010609060101010101" pitchFamily="49" charset="-122"/>
                <a:ea typeface="楷体" panose="02010609060101010101" pitchFamily="49" charset="-122"/>
              </a:rPr>
              <a:t>内力</a:t>
            </a:r>
            <a:r>
              <a:rPr kumimoji="1" lang="en-US" altLang="en-US" sz="2400" b="1" dirty="0">
                <a:solidFill>
                  <a:srgbClr val="FF0000"/>
                </a:solidFill>
                <a:latin typeface="楷体" panose="02010609060101010101" pitchFamily="49" charset="-122"/>
                <a:ea typeface="楷体" panose="02010609060101010101" pitchFamily="49" charset="-122"/>
              </a:rPr>
              <a:t>→</a:t>
            </a:r>
            <a:r>
              <a:rPr kumimoji="1" lang="zh-CN" altLang="en-US" sz="2400" b="1" dirty="0">
                <a:solidFill>
                  <a:srgbClr val="FF0000"/>
                </a:solidFill>
                <a:latin typeface="楷体" panose="02010609060101010101" pitchFamily="49" charset="-122"/>
                <a:ea typeface="楷体" panose="02010609060101010101" pitchFamily="49" charset="-122"/>
              </a:rPr>
              <a:t>应力</a:t>
            </a:r>
            <a:r>
              <a:rPr kumimoji="1" lang="en-US" altLang="en-US" sz="2400" b="1" dirty="0">
                <a:solidFill>
                  <a:srgbClr val="FF0000"/>
                </a:solidFill>
                <a:latin typeface="楷体" panose="02010609060101010101" pitchFamily="49" charset="-122"/>
                <a:ea typeface="楷体" panose="02010609060101010101" pitchFamily="49" charset="-122"/>
              </a:rPr>
              <a:t>→</a:t>
            </a:r>
            <a:r>
              <a:rPr kumimoji="1" lang="zh-CN" altLang="en-US" sz="2400" b="1" dirty="0">
                <a:solidFill>
                  <a:srgbClr val="FF0000"/>
                </a:solidFill>
                <a:latin typeface="楷体" panose="02010609060101010101" pitchFamily="49" charset="-122"/>
                <a:ea typeface="楷体" panose="02010609060101010101" pitchFamily="49" charset="-122"/>
              </a:rPr>
              <a:t>强度条件</a:t>
            </a:r>
            <a:r>
              <a:rPr kumimoji="1" lang="en-US" altLang="en-US" sz="2400" b="1" dirty="0">
                <a:solidFill>
                  <a:srgbClr val="FF0000"/>
                </a:solidFill>
                <a:latin typeface="楷体" panose="02010609060101010101" pitchFamily="49" charset="-122"/>
                <a:ea typeface="楷体" panose="02010609060101010101" pitchFamily="49" charset="-122"/>
              </a:rPr>
              <a:t>→</a:t>
            </a:r>
            <a:r>
              <a:rPr kumimoji="1" lang="zh-CN" altLang="en-US" sz="2400" b="1" dirty="0">
                <a:solidFill>
                  <a:srgbClr val="FF0000"/>
                </a:solidFill>
                <a:latin typeface="楷体" panose="02010609060101010101" pitchFamily="49" charset="-122"/>
                <a:ea typeface="楷体" panose="02010609060101010101" pitchFamily="49" charset="-122"/>
              </a:rPr>
              <a:t>结果或结论</a:t>
            </a:r>
          </a:p>
        </p:txBody>
      </p:sp>
      <p:grpSp>
        <p:nvGrpSpPr>
          <p:cNvPr id="28" name="Group 31"/>
          <p:cNvGrpSpPr>
            <a:grpSpLocks/>
          </p:cNvGrpSpPr>
          <p:nvPr/>
        </p:nvGrpSpPr>
        <p:grpSpPr bwMode="auto">
          <a:xfrm>
            <a:off x="5538434" y="856239"/>
            <a:ext cx="1108183" cy="2903091"/>
            <a:chOff x="4616" y="1488"/>
            <a:chExt cx="952" cy="2514"/>
          </a:xfrm>
        </p:grpSpPr>
        <p:sp>
          <p:nvSpPr>
            <p:cNvPr id="29" name="Rectangle 32"/>
            <p:cNvSpPr>
              <a:spLocks noChangeArrowheads="1"/>
            </p:cNvSpPr>
            <p:nvPr/>
          </p:nvSpPr>
          <p:spPr bwMode="auto">
            <a:xfrm>
              <a:off x="4616" y="3680"/>
              <a:ext cx="317"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b="1" i="1" dirty="0">
                  <a:solidFill>
                    <a:srgbClr val="FF0000"/>
                  </a:solidFill>
                  <a:latin typeface="Times New Roman" panose="02020603050405020304" pitchFamily="18" charset="0"/>
                  <a:ea typeface="宋体" panose="02010600030101010101" pitchFamily="2" charset="-122"/>
                </a:rPr>
                <a:t>W</a:t>
              </a:r>
            </a:p>
          </p:txBody>
        </p:sp>
        <p:sp>
          <p:nvSpPr>
            <p:cNvPr id="30" name="Line 33"/>
            <p:cNvSpPr>
              <a:spLocks noChangeShapeType="1"/>
            </p:cNvSpPr>
            <p:nvPr/>
          </p:nvSpPr>
          <p:spPr bwMode="auto">
            <a:xfrm>
              <a:off x="5034" y="3554"/>
              <a:ext cx="0" cy="448"/>
            </a:xfrm>
            <a:prstGeom prst="line">
              <a:avLst/>
            </a:prstGeom>
            <a:noFill/>
            <a:ln w="38100">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Rectangle 34"/>
            <p:cNvSpPr>
              <a:spLocks noChangeArrowheads="1"/>
            </p:cNvSpPr>
            <p:nvPr/>
          </p:nvSpPr>
          <p:spPr bwMode="auto">
            <a:xfrm>
              <a:off x="4894" y="1488"/>
              <a:ext cx="674" cy="6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34" name="Rectangle 37" descr="沙滩"/>
            <p:cNvSpPr>
              <a:spLocks noChangeArrowheads="1"/>
            </p:cNvSpPr>
            <p:nvPr/>
          </p:nvSpPr>
          <p:spPr bwMode="auto">
            <a:xfrm>
              <a:off x="4848" y="2608"/>
              <a:ext cx="364" cy="892"/>
            </a:xfrm>
            <a:prstGeom prst="rect">
              <a:avLst/>
            </a:prstGeom>
            <a:blipFill dpi="0" rotWithShape="0">
              <a:blip r:embed="rId11"/>
              <a:srcRect/>
              <a:tile tx="0" ty="0" sx="100000" sy="100000" flip="none" algn="tl"/>
            </a:blip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35" name="Line 38"/>
            <p:cNvSpPr>
              <a:spLocks noChangeShapeType="1"/>
            </p:cNvSpPr>
            <p:nvPr/>
          </p:nvSpPr>
          <p:spPr bwMode="auto">
            <a:xfrm>
              <a:off x="4905" y="2626"/>
              <a:ext cx="0" cy="894"/>
            </a:xfrm>
            <a:prstGeom prst="line">
              <a:avLst/>
            </a:prstGeom>
            <a:noFill/>
            <a:ln w="254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Line 39"/>
            <p:cNvSpPr>
              <a:spLocks noChangeShapeType="1"/>
            </p:cNvSpPr>
            <p:nvPr/>
          </p:nvSpPr>
          <p:spPr bwMode="auto">
            <a:xfrm>
              <a:off x="5151" y="2626"/>
              <a:ext cx="0" cy="894"/>
            </a:xfrm>
            <a:prstGeom prst="line">
              <a:avLst/>
            </a:prstGeom>
            <a:noFill/>
            <a:ln w="254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AutoShape 40" descr="沙滩"/>
            <p:cNvSpPr>
              <a:spLocks noChangeArrowheads="1"/>
            </p:cNvSpPr>
            <p:nvPr/>
          </p:nvSpPr>
          <p:spPr bwMode="auto">
            <a:xfrm rot="10800000" flipH="1" flipV="1">
              <a:off x="4838" y="3509"/>
              <a:ext cx="371" cy="104"/>
            </a:xfrm>
            <a:custGeom>
              <a:avLst/>
              <a:gdLst>
                <a:gd name="T0" fmla="*/ 325 w 21600"/>
                <a:gd name="T1" fmla="*/ 52 h 21600"/>
                <a:gd name="T2" fmla="*/ 185 w 21600"/>
                <a:gd name="T3" fmla="*/ 104 h 21600"/>
                <a:gd name="T4" fmla="*/ 46 w 21600"/>
                <a:gd name="T5" fmla="*/ 52 h 21600"/>
                <a:gd name="T6" fmla="*/ 185 w 21600"/>
                <a:gd name="T7" fmla="*/ 0 h 21600"/>
                <a:gd name="T8" fmla="*/ 0 60000 65536"/>
                <a:gd name="T9" fmla="*/ 0 60000 65536"/>
                <a:gd name="T10" fmla="*/ 0 60000 65536"/>
                <a:gd name="T11" fmla="*/ 0 60000 65536"/>
                <a:gd name="T12" fmla="*/ 4483 w 21600"/>
                <a:gd name="T13" fmla="*/ 4569 h 21600"/>
                <a:gd name="T14" fmla="*/ 17117 w 21600"/>
                <a:gd name="T15" fmla="*/ 17031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lnTo>
                    <a:pt x="0" y="0"/>
                  </a:lnTo>
                  <a:close/>
                </a:path>
              </a:pathLst>
            </a:custGeom>
            <a:blipFill dpi="0" rotWithShape="0">
              <a:blip r:embed="rId11"/>
              <a:srcRect/>
              <a:tile tx="0" ty="0" sx="100000" sy="100000" flip="none" algn="tl"/>
            </a:blip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 name="组合 7"/>
          <p:cNvGrpSpPr/>
          <p:nvPr/>
        </p:nvGrpSpPr>
        <p:grpSpPr>
          <a:xfrm>
            <a:off x="7158809" y="4132526"/>
            <a:ext cx="497923" cy="475441"/>
            <a:chOff x="7158809" y="4132526"/>
            <a:chExt cx="497923" cy="475441"/>
          </a:xfrm>
        </p:grpSpPr>
        <p:sp>
          <p:nvSpPr>
            <p:cNvPr id="19471" name="Rectangle 32"/>
            <p:cNvSpPr>
              <a:spLocks noChangeArrowheads="1"/>
            </p:cNvSpPr>
            <p:nvPr/>
          </p:nvSpPr>
          <p:spPr bwMode="auto">
            <a:xfrm>
              <a:off x="7158809" y="4179895"/>
              <a:ext cx="314046" cy="246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b="1" i="1" dirty="0">
                  <a:solidFill>
                    <a:srgbClr val="FF0000"/>
                  </a:solidFill>
                  <a:latin typeface="Times New Roman" panose="02020603050405020304" pitchFamily="18" charset="0"/>
                  <a:ea typeface="宋体" panose="02010600030101010101" pitchFamily="2" charset="-122"/>
                </a:rPr>
                <a:t>W</a:t>
              </a:r>
            </a:p>
          </p:txBody>
        </p:sp>
        <p:sp>
          <p:nvSpPr>
            <p:cNvPr id="19472" name="Line 33"/>
            <p:cNvSpPr>
              <a:spLocks noChangeShapeType="1"/>
            </p:cNvSpPr>
            <p:nvPr/>
          </p:nvSpPr>
          <p:spPr bwMode="auto">
            <a:xfrm>
              <a:off x="7656732" y="4132526"/>
              <a:ext cx="0" cy="475441"/>
            </a:xfrm>
            <a:prstGeom prst="line">
              <a:avLst/>
            </a:prstGeom>
            <a:noFill/>
            <a:ln w="38100">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8" name="object 6"/>
          <p:cNvSpPr/>
          <p:nvPr/>
        </p:nvSpPr>
        <p:spPr>
          <a:xfrm>
            <a:off x="6974932" y="2611907"/>
            <a:ext cx="1393335" cy="1520620"/>
          </a:xfrm>
          <a:prstGeom prst="rect">
            <a:avLst/>
          </a:prstGeom>
          <a:blipFill>
            <a:blip r:embed="rId12" cstate="print"/>
            <a:stretch>
              <a:fillRect/>
            </a:stretch>
          </a:blipFill>
        </p:spPr>
        <p:txBody>
          <a:bodyPr wrap="square" lIns="0" tIns="0" rIns="0" bIns="0" rtlCol="0"/>
          <a:lstStyle/>
          <a:p>
            <a:endParaRPr/>
          </a:p>
        </p:txBody>
      </p:sp>
      <p:graphicFrame>
        <p:nvGraphicFramePr>
          <p:cNvPr id="32" name="Object 22"/>
          <p:cNvGraphicFramePr>
            <a:graphicFrameLocks/>
          </p:cNvGraphicFramePr>
          <p:nvPr>
            <p:extLst>
              <p:ext uri="{D42A27DB-BD31-4B8C-83A1-F6EECF244321}">
                <p14:modId xmlns:p14="http://schemas.microsoft.com/office/powerpoint/2010/main" val="1774408687"/>
              </p:ext>
            </p:extLst>
          </p:nvPr>
        </p:nvGraphicFramePr>
        <p:xfrm>
          <a:off x="691695" y="2866058"/>
          <a:ext cx="3205162" cy="831850"/>
        </p:xfrm>
        <a:graphic>
          <a:graphicData uri="http://schemas.openxmlformats.org/presentationml/2006/ole">
            <mc:AlternateContent xmlns:mc="http://schemas.openxmlformats.org/markup-compatibility/2006">
              <mc:Choice xmlns:v="urn:schemas-microsoft-com:vml" Requires="v">
                <p:oleObj name="Equation" r:id="rId13" imgW="1587240" imgH="419040" progId="Equation.DSMT4">
                  <p:embed/>
                </p:oleObj>
              </mc:Choice>
              <mc:Fallback>
                <p:oleObj name="Equation" r:id="rId13" imgW="1587240" imgH="419040" progId="Equation.DSMT4">
                  <p:embed/>
                  <p:pic>
                    <p:nvPicPr>
                      <p:cNvPr id="0" name=""/>
                      <p:cNvPicPr>
                        <a:picLocks noChangeArrowheads="1"/>
                      </p:cNvPicPr>
                      <p:nvPr/>
                    </p:nvPicPr>
                    <p:blipFill>
                      <a:blip r:embed="rId14"/>
                      <a:srcRect/>
                      <a:stretch>
                        <a:fillRect/>
                      </a:stretch>
                    </p:blipFill>
                    <p:spPr bwMode="auto">
                      <a:xfrm>
                        <a:off x="691695" y="2866058"/>
                        <a:ext cx="3205162" cy="831850"/>
                      </a:xfrm>
                      <a:prstGeom prst="rect">
                        <a:avLst/>
                      </a:prstGeom>
                      <a:noFill/>
                      <a:ln>
                        <a:noFill/>
                      </a:ln>
                      <a:effectLst/>
                    </p:spPr>
                  </p:pic>
                </p:oleObj>
              </mc:Fallback>
            </mc:AlternateContent>
          </a:graphicData>
        </a:graphic>
      </p:graphicFrame>
      <p:graphicFrame>
        <p:nvGraphicFramePr>
          <p:cNvPr id="33" name="Object 22"/>
          <p:cNvGraphicFramePr>
            <a:graphicFrameLocks/>
          </p:cNvGraphicFramePr>
          <p:nvPr>
            <p:extLst>
              <p:ext uri="{D42A27DB-BD31-4B8C-83A1-F6EECF244321}">
                <p14:modId xmlns:p14="http://schemas.microsoft.com/office/powerpoint/2010/main" val="1565685264"/>
              </p:ext>
            </p:extLst>
          </p:nvPr>
        </p:nvGraphicFramePr>
        <p:xfrm>
          <a:off x="3898281" y="3064825"/>
          <a:ext cx="846138" cy="504825"/>
        </p:xfrm>
        <a:graphic>
          <a:graphicData uri="http://schemas.openxmlformats.org/presentationml/2006/ole">
            <mc:AlternateContent xmlns:mc="http://schemas.openxmlformats.org/markup-compatibility/2006">
              <mc:Choice xmlns:v="urn:schemas-microsoft-com:vml" Requires="v">
                <p:oleObj name="Equation" r:id="rId15" imgW="419040" imgH="253800" progId="Equation.DSMT4">
                  <p:embed/>
                </p:oleObj>
              </mc:Choice>
              <mc:Fallback>
                <p:oleObj name="Equation" r:id="rId15" imgW="419040" imgH="253800" progId="Equation.DSMT4">
                  <p:embed/>
                  <p:pic>
                    <p:nvPicPr>
                      <p:cNvPr id="0" name=""/>
                      <p:cNvPicPr>
                        <a:picLocks noChangeArrowheads="1"/>
                      </p:cNvPicPr>
                      <p:nvPr/>
                    </p:nvPicPr>
                    <p:blipFill>
                      <a:blip r:embed="rId16"/>
                      <a:srcRect/>
                      <a:stretch>
                        <a:fillRect/>
                      </a:stretch>
                    </p:blipFill>
                    <p:spPr bwMode="auto">
                      <a:xfrm>
                        <a:off x="3898281" y="3064825"/>
                        <a:ext cx="846138" cy="504825"/>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93969196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75123"/>
                                        </p:tgtEl>
                                        <p:attrNameLst>
                                          <p:attrName>style.visibility</p:attrName>
                                        </p:attrNameLst>
                                      </p:cBhvr>
                                      <p:to>
                                        <p:strVal val="visible"/>
                                      </p:to>
                                    </p:set>
                                    <p:animEffect transition="in" filter="box(out)">
                                      <p:cBhvr>
                                        <p:cTn id="7" dur="500"/>
                                        <p:tgtEl>
                                          <p:spTgt spid="1751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fade">
                                      <p:cBhvr>
                                        <p:cTn id="12" dur="500"/>
                                        <p:tgtEl>
                                          <p:spTgt spid="38"/>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500"/>
                                        <p:tgtEl>
                                          <p:spTgt spid="28"/>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175145"/>
                                        </p:tgtEl>
                                        <p:attrNameLst>
                                          <p:attrName>style.visibility</p:attrName>
                                        </p:attrNameLst>
                                      </p:cBhvr>
                                      <p:to>
                                        <p:strVal val="visible"/>
                                      </p:to>
                                    </p:set>
                                    <p:animEffect transition="in" filter="blinds(horizontal)">
                                      <p:cBhvr>
                                        <p:cTn id="29" dur="500"/>
                                        <p:tgtEl>
                                          <p:spTgt spid="175145"/>
                                        </p:tgtEl>
                                      </p:cBhvr>
                                    </p:animEffect>
                                  </p:childTnLst>
                                </p:cTn>
                              </p:par>
                            </p:childTnLst>
                          </p:cTn>
                        </p:par>
                      </p:childTnLst>
                    </p:cTn>
                  </p:par>
                  <p:par>
                    <p:cTn id="30" fill="hold">
                      <p:stCondLst>
                        <p:cond delay="indefinite"/>
                      </p:stCondLst>
                      <p:childTnLst>
                        <p:par>
                          <p:cTn id="31" fill="hold">
                            <p:stCondLst>
                              <p:cond delay="0"/>
                            </p:stCondLst>
                            <p:childTnLst>
                              <p:par>
                                <p:cTn id="32" presetID="4" presetClass="entr" presetSubtype="32" fill="hold" grpId="0" nodeType="clickEffect">
                                  <p:stCondLst>
                                    <p:cond delay="0"/>
                                  </p:stCondLst>
                                  <p:childTnLst>
                                    <p:set>
                                      <p:cBhvr>
                                        <p:cTn id="33" dur="1" fill="hold">
                                          <p:stCondLst>
                                            <p:cond delay="0"/>
                                          </p:stCondLst>
                                        </p:cTn>
                                        <p:tgtEl>
                                          <p:spTgt spid="175124"/>
                                        </p:tgtEl>
                                        <p:attrNameLst>
                                          <p:attrName>style.visibility</p:attrName>
                                        </p:attrNameLst>
                                      </p:cBhvr>
                                      <p:to>
                                        <p:strVal val="visible"/>
                                      </p:to>
                                    </p:set>
                                    <p:animEffect transition="in" filter="box(out)">
                                      <p:cBhvr>
                                        <p:cTn id="34" dur="500"/>
                                        <p:tgtEl>
                                          <p:spTgt spid="175124"/>
                                        </p:tgtEl>
                                      </p:cBhvr>
                                    </p:animEffect>
                                  </p:childTnLst>
                                </p:cTn>
                              </p:par>
                            </p:childTnLst>
                          </p:cTn>
                        </p:par>
                      </p:childTnLst>
                    </p:cTn>
                  </p:par>
                  <p:par>
                    <p:cTn id="35" fill="hold">
                      <p:stCondLst>
                        <p:cond delay="indefinite"/>
                      </p:stCondLst>
                      <p:childTnLst>
                        <p:par>
                          <p:cTn id="36" fill="hold">
                            <p:stCondLst>
                              <p:cond delay="0"/>
                            </p:stCondLst>
                            <p:childTnLst>
                              <p:par>
                                <p:cTn id="37" presetID="4" presetClass="entr" presetSubtype="32" fill="hold" nodeType="clickEffect">
                                  <p:stCondLst>
                                    <p:cond delay="0"/>
                                  </p:stCondLst>
                                  <p:childTnLst>
                                    <p:set>
                                      <p:cBhvr>
                                        <p:cTn id="38" dur="1" fill="hold">
                                          <p:stCondLst>
                                            <p:cond delay="0"/>
                                          </p:stCondLst>
                                        </p:cTn>
                                        <p:tgtEl>
                                          <p:spTgt spid="175125"/>
                                        </p:tgtEl>
                                        <p:attrNameLst>
                                          <p:attrName>style.visibility</p:attrName>
                                        </p:attrNameLst>
                                      </p:cBhvr>
                                      <p:to>
                                        <p:strVal val="visible"/>
                                      </p:to>
                                    </p:set>
                                    <p:animEffect transition="in" filter="box(out)">
                                      <p:cBhvr>
                                        <p:cTn id="39" dur="500"/>
                                        <p:tgtEl>
                                          <p:spTgt spid="175125"/>
                                        </p:tgtEl>
                                      </p:cBhvr>
                                    </p:animEffect>
                                  </p:childTnLst>
                                </p:cTn>
                              </p:par>
                            </p:childTnLst>
                          </p:cTn>
                        </p:par>
                      </p:childTnLst>
                    </p:cTn>
                  </p:par>
                  <p:par>
                    <p:cTn id="40" fill="hold">
                      <p:stCondLst>
                        <p:cond delay="indefinite"/>
                      </p:stCondLst>
                      <p:childTnLst>
                        <p:par>
                          <p:cTn id="41" fill="hold">
                            <p:stCondLst>
                              <p:cond delay="0"/>
                            </p:stCondLst>
                            <p:childTnLst>
                              <p:par>
                                <p:cTn id="42" presetID="4" presetClass="entr" presetSubtype="32" fill="hold" nodeType="clickEffect">
                                  <p:stCondLst>
                                    <p:cond delay="0"/>
                                  </p:stCondLst>
                                  <p:childTnLst>
                                    <p:set>
                                      <p:cBhvr>
                                        <p:cTn id="43" dur="1" fill="hold">
                                          <p:stCondLst>
                                            <p:cond delay="0"/>
                                          </p:stCondLst>
                                        </p:cTn>
                                        <p:tgtEl>
                                          <p:spTgt spid="175126"/>
                                        </p:tgtEl>
                                        <p:attrNameLst>
                                          <p:attrName>style.visibility</p:attrName>
                                        </p:attrNameLst>
                                      </p:cBhvr>
                                      <p:to>
                                        <p:strVal val="visible"/>
                                      </p:to>
                                    </p:set>
                                    <p:animEffect transition="in" filter="box(out)">
                                      <p:cBhvr>
                                        <p:cTn id="44" dur="500"/>
                                        <p:tgtEl>
                                          <p:spTgt spid="175126"/>
                                        </p:tgtEl>
                                      </p:cBhvr>
                                    </p:animEffect>
                                  </p:childTnLst>
                                </p:cTn>
                              </p:par>
                            </p:childTnLst>
                          </p:cTn>
                        </p:par>
                      </p:childTnLst>
                    </p:cTn>
                  </p:par>
                  <p:par>
                    <p:cTn id="45" fill="hold">
                      <p:stCondLst>
                        <p:cond delay="indefinite"/>
                      </p:stCondLst>
                      <p:childTnLst>
                        <p:par>
                          <p:cTn id="46" fill="hold">
                            <p:stCondLst>
                              <p:cond delay="0"/>
                            </p:stCondLst>
                            <p:childTnLst>
                              <p:par>
                                <p:cTn id="47" presetID="4" presetClass="entr" presetSubtype="32" fill="hold" nodeType="clickEffect">
                                  <p:stCondLst>
                                    <p:cond delay="0"/>
                                  </p:stCondLst>
                                  <p:childTnLst>
                                    <p:set>
                                      <p:cBhvr>
                                        <p:cTn id="48" dur="1" fill="hold">
                                          <p:stCondLst>
                                            <p:cond delay="0"/>
                                          </p:stCondLst>
                                        </p:cTn>
                                        <p:tgtEl>
                                          <p:spTgt spid="32"/>
                                        </p:tgtEl>
                                        <p:attrNameLst>
                                          <p:attrName>style.visibility</p:attrName>
                                        </p:attrNameLst>
                                      </p:cBhvr>
                                      <p:to>
                                        <p:strVal val="visible"/>
                                      </p:to>
                                    </p:set>
                                    <p:animEffect transition="in" filter="box(out)">
                                      <p:cBhvr>
                                        <p:cTn id="49" dur="500"/>
                                        <p:tgtEl>
                                          <p:spTgt spid="32"/>
                                        </p:tgtEl>
                                      </p:cBhvr>
                                    </p:animEffect>
                                  </p:childTnLst>
                                </p:cTn>
                              </p:par>
                            </p:childTnLst>
                          </p:cTn>
                        </p:par>
                      </p:childTnLst>
                    </p:cTn>
                  </p:par>
                  <p:par>
                    <p:cTn id="50" fill="hold">
                      <p:stCondLst>
                        <p:cond delay="indefinite"/>
                      </p:stCondLst>
                      <p:childTnLst>
                        <p:par>
                          <p:cTn id="51" fill="hold">
                            <p:stCondLst>
                              <p:cond delay="0"/>
                            </p:stCondLst>
                            <p:childTnLst>
                              <p:par>
                                <p:cTn id="52" presetID="4" presetClass="entr" presetSubtype="32" fill="hold" nodeType="click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box(out)">
                                      <p:cBhvr>
                                        <p:cTn id="54" dur="500"/>
                                        <p:tgtEl>
                                          <p:spTgt spid="33"/>
                                        </p:tgtEl>
                                      </p:cBhvr>
                                    </p:animEffect>
                                  </p:childTnLst>
                                </p:cTn>
                              </p:par>
                            </p:childTnLst>
                          </p:cTn>
                        </p:par>
                      </p:childTnLst>
                    </p:cTn>
                  </p:par>
                  <p:par>
                    <p:cTn id="55" fill="hold">
                      <p:stCondLst>
                        <p:cond delay="indefinite"/>
                      </p:stCondLst>
                      <p:childTnLst>
                        <p:par>
                          <p:cTn id="56" fill="hold">
                            <p:stCondLst>
                              <p:cond delay="0"/>
                            </p:stCondLst>
                            <p:childTnLst>
                              <p:par>
                                <p:cTn id="57" presetID="19" presetClass="entr" presetSubtype="10" fill="hold" grpId="0" nodeType="clickEffect">
                                  <p:stCondLst>
                                    <p:cond delay="0"/>
                                  </p:stCondLst>
                                  <p:childTnLst>
                                    <p:set>
                                      <p:cBhvr>
                                        <p:cTn id="58" dur="1" fill="hold">
                                          <p:stCondLst>
                                            <p:cond delay="0"/>
                                          </p:stCondLst>
                                        </p:cTn>
                                        <p:tgtEl>
                                          <p:spTgt spid="175127"/>
                                        </p:tgtEl>
                                        <p:attrNameLst>
                                          <p:attrName>style.visibility</p:attrName>
                                        </p:attrNameLst>
                                      </p:cBhvr>
                                      <p:to>
                                        <p:strVal val="visible"/>
                                      </p:to>
                                    </p:set>
                                    <p:anim calcmode="lin" valueType="num">
                                      <p:cBhvr>
                                        <p:cTn id="59" dur="5000" fill="hold"/>
                                        <p:tgtEl>
                                          <p:spTgt spid="175127"/>
                                        </p:tgtEl>
                                        <p:attrNameLst>
                                          <p:attrName>ppt_w</p:attrName>
                                        </p:attrNameLst>
                                      </p:cBhvr>
                                      <p:tavLst>
                                        <p:tav tm="0" fmla="#ppt_w*sin(2.5*pi*$)">
                                          <p:val>
                                            <p:fltVal val="0"/>
                                          </p:val>
                                        </p:tav>
                                        <p:tav tm="100000">
                                          <p:val>
                                            <p:fltVal val="1"/>
                                          </p:val>
                                        </p:tav>
                                      </p:tavLst>
                                    </p:anim>
                                    <p:anim calcmode="lin" valueType="num">
                                      <p:cBhvr>
                                        <p:cTn id="60" dur="5000" fill="hold"/>
                                        <p:tgtEl>
                                          <p:spTgt spid="175127"/>
                                        </p:tgtEl>
                                        <p:attrNameLst>
                                          <p:attrName>ppt_h</p:attrName>
                                        </p:attrNameLst>
                                      </p:cBhvr>
                                      <p:tavLst>
                                        <p:tav tm="0">
                                          <p:val>
                                            <p:strVal val="#ppt_h"/>
                                          </p:val>
                                        </p:tav>
                                        <p:tav tm="100000">
                                          <p:val>
                                            <p:strVal val="#ppt_h"/>
                                          </p:val>
                                        </p:tav>
                                      </p:tavLst>
                                    </p:anim>
                                  </p:childTnLst>
                                </p:cTn>
                              </p:par>
                            </p:childTnLst>
                          </p:cTn>
                        </p:par>
                      </p:childTnLst>
                    </p:cTn>
                  </p:par>
                  <p:par>
                    <p:cTn id="61" fill="hold">
                      <p:stCondLst>
                        <p:cond delay="indefinite"/>
                      </p:stCondLst>
                      <p:childTnLst>
                        <p:par>
                          <p:cTn id="62" fill="hold">
                            <p:stCondLst>
                              <p:cond delay="0"/>
                            </p:stCondLst>
                            <p:childTnLst>
                              <p:par>
                                <p:cTn id="63" presetID="19" presetClass="entr" presetSubtype="10" fill="hold" grpId="0" nodeType="clickEffect">
                                  <p:stCondLst>
                                    <p:cond delay="0"/>
                                  </p:stCondLst>
                                  <p:childTnLst>
                                    <p:set>
                                      <p:cBhvr>
                                        <p:cTn id="64" dur="1" fill="hold">
                                          <p:stCondLst>
                                            <p:cond delay="0"/>
                                          </p:stCondLst>
                                        </p:cTn>
                                        <p:tgtEl>
                                          <p:spTgt spid="2"/>
                                        </p:tgtEl>
                                        <p:attrNameLst>
                                          <p:attrName>style.visibility</p:attrName>
                                        </p:attrNameLst>
                                      </p:cBhvr>
                                      <p:to>
                                        <p:strVal val="visible"/>
                                      </p:to>
                                    </p:set>
                                    <p:anim calcmode="lin" valueType="num">
                                      <p:cBhvr>
                                        <p:cTn id="65" dur="5000" fill="hold"/>
                                        <p:tgtEl>
                                          <p:spTgt spid="2"/>
                                        </p:tgtEl>
                                        <p:attrNameLst>
                                          <p:attrName>ppt_w</p:attrName>
                                        </p:attrNameLst>
                                      </p:cBhvr>
                                      <p:tavLst>
                                        <p:tav tm="0" fmla="#ppt_w*sin(2.5*pi*$)">
                                          <p:val>
                                            <p:fltVal val="0"/>
                                          </p:val>
                                        </p:tav>
                                        <p:tav tm="100000">
                                          <p:val>
                                            <p:fltVal val="1"/>
                                          </p:val>
                                        </p:tav>
                                      </p:tavLst>
                                    </p:anim>
                                    <p:anim calcmode="lin" valueType="num">
                                      <p:cBhvr>
                                        <p:cTn id="66" dur="5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67" fill="hold">
                      <p:stCondLst>
                        <p:cond delay="indefinite"/>
                      </p:stCondLst>
                      <p:childTnLst>
                        <p:par>
                          <p:cTn id="68" fill="hold">
                            <p:stCondLst>
                              <p:cond delay="0"/>
                            </p:stCondLst>
                            <p:childTnLst>
                              <p:par>
                                <p:cTn id="69" presetID="4" presetClass="entr" presetSubtype="32" fill="hold" grpId="0" nodeType="clickEffect">
                                  <p:stCondLst>
                                    <p:cond delay="0"/>
                                  </p:stCondLst>
                                  <p:childTnLst>
                                    <p:set>
                                      <p:cBhvr>
                                        <p:cTn id="70" dur="1" fill="hold">
                                          <p:stCondLst>
                                            <p:cond delay="0"/>
                                          </p:stCondLst>
                                        </p:cTn>
                                        <p:tgtEl>
                                          <p:spTgt spid="175133"/>
                                        </p:tgtEl>
                                        <p:attrNameLst>
                                          <p:attrName>style.visibility</p:attrName>
                                        </p:attrNameLst>
                                      </p:cBhvr>
                                      <p:to>
                                        <p:strVal val="visible"/>
                                      </p:to>
                                    </p:set>
                                    <p:animEffect transition="in" filter="box(out)">
                                      <p:cBhvr>
                                        <p:cTn id="71" dur="500"/>
                                        <p:tgtEl>
                                          <p:spTgt spid="175133"/>
                                        </p:tgtEl>
                                      </p:cBhvr>
                                    </p:animEffect>
                                  </p:childTnLst>
                                </p:cTn>
                              </p:par>
                            </p:childTnLst>
                          </p:cTn>
                        </p:par>
                      </p:childTnLst>
                    </p:cTn>
                  </p:par>
                  <p:par>
                    <p:cTn id="72" fill="hold">
                      <p:stCondLst>
                        <p:cond delay="indefinite"/>
                      </p:stCondLst>
                      <p:childTnLst>
                        <p:par>
                          <p:cTn id="73" fill="hold">
                            <p:stCondLst>
                              <p:cond delay="0"/>
                            </p:stCondLst>
                            <p:childTnLst>
                              <p:par>
                                <p:cTn id="74" presetID="4" presetClass="entr" presetSubtype="32" fill="hold" nodeType="clickEffect">
                                  <p:stCondLst>
                                    <p:cond delay="0"/>
                                  </p:stCondLst>
                                  <p:childTnLst>
                                    <p:set>
                                      <p:cBhvr>
                                        <p:cTn id="75" dur="1" fill="hold">
                                          <p:stCondLst>
                                            <p:cond delay="0"/>
                                          </p:stCondLst>
                                        </p:cTn>
                                        <p:tgtEl>
                                          <p:spTgt spid="3"/>
                                        </p:tgtEl>
                                        <p:attrNameLst>
                                          <p:attrName>style.visibility</p:attrName>
                                        </p:attrNameLst>
                                      </p:cBhvr>
                                      <p:to>
                                        <p:strVal val="visible"/>
                                      </p:to>
                                    </p:set>
                                    <p:animEffect transition="in" filter="box(out)">
                                      <p:cBhvr>
                                        <p:cTn id="76" dur="500"/>
                                        <p:tgtEl>
                                          <p:spTgt spid="3"/>
                                        </p:tgtEl>
                                      </p:cBhvr>
                                    </p:animEffect>
                                  </p:childTnLst>
                                </p:cTn>
                              </p:par>
                            </p:childTnLst>
                          </p:cTn>
                        </p:par>
                      </p:childTnLst>
                    </p:cTn>
                  </p:par>
                  <p:par>
                    <p:cTn id="77" fill="hold">
                      <p:stCondLst>
                        <p:cond delay="indefinite"/>
                      </p:stCondLst>
                      <p:childTnLst>
                        <p:par>
                          <p:cTn id="78" fill="hold">
                            <p:stCondLst>
                              <p:cond delay="0"/>
                            </p:stCondLst>
                            <p:childTnLst>
                              <p:par>
                                <p:cTn id="79" presetID="4" presetClass="entr" presetSubtype="32" fill="hold" nodeType="clickEffect">
                                  <p:stCondLst>
                                    <p:cond delay="0"/>
                                  </p:stCondLst>
                                  <p:childTnLst>
                                    <p:set>
                                      <p:cBhvr>
                                        <p:cTn id="80" dur="1" fill="hold">
                                          <p:stCondLst>
                                            <p:cond delay="0"/>
                                          </p:stCondLst>
                                        </p:cTn>
                                        <p:tgtEl>
                                          <p:spTgt spid="4"/>
                                        </p:tgtEl>
                                        <p:attrNameLst>
                                          <p:attrName>style.visibility</p:attrName>
                                        </p:attrNameLst>
                                      </p:cBhvr>
                                      <p:to>
                                        <p:strVal val="visible"/>
                                      </p:to>
                                    </p:set>
                                    <p:animEffect transition="in" filter="box(out)">
                                      <p:cBhvr>
                                        <p:cTn id="81" dur="500"/>
                                        <p:tgtEl>
                                          <p:spTgt spid="4"/>
                                        </p:tgtEl>
                                      </p:cBhvr>
                                    </p:animEffect>
                                  </p:childTnLst>
                                </p:cTn>
                              </p:par>
                            </p:childTnLst>
                          </p:cTn>
                        </p:par>
                      </p:childTnLst>
                    </p:cTn>
                  </p:par>
                  <p:par>
                    <p:cTn id="82" fill="hold">
                      <p:stCondLst>
                        <p:cond delay="indefinite"/>
                      </p:stCondLst>
                      <p:childTnLst>
                        <p:par>
                          <p:cTn id="83" fill="hold">
                            <p:stCondLst>
                              <p:cond delay="0"/>
                            </p:stCondLst>
                            <p:childTnLst>
                              <p:par>
                                <p:cTn id="84" presetID="4" presetClass="entr" presetSubtype="32" fill="hold" grpId="0" nodeType="clickEffect">
                                  <p:stCondLst>
                                    <p:cond delay="0"/>
                                  </p:stCondLst>
                                  <p:childTnLst>
                                    <p:set>
                                      <p:cBhvr>
                                        <p:cTn id="85" dur="1" fill="hold">
                                          <p:stCondLst>
                                            <p:cond delay="0"/>
                                          </p:stCondLst>
                                        </p:cTn>
                                        <p:tgtEl>
                                          <p:spTgt spid="175134"/>
                                        </p:tgtEl>
                                        <p:attrNameLst>
                                          <p:attrName>style.visibility</p:attrName>
                                        </p:attrNameLst>
                                      </p:cBhvr>
                                      <p:to>
                                        <p:strVal val="visible"/>
                                      </p:to>
                                    </p:set>
                                    <p:animEffect transition="in" filter="box(out)">
                                      <p:cBhvr>
                                        <p:cTn id="86" dur="500"/>
                                        <p:tgtEl>
                                          <p:spTgt spid="175134"/>
                                        </p:tgtEl>
                                      </p:cBhvr>
                                    </p:animEffect>
                                  </p:childTnLst>
                                </p:cTn>
                              </p:par>
                            </p:childTnLst>
                          </p:cTn>
                        </p:par>
                      </p:childTnLst>
                    </p:cTn>
                  </p:par>
                  <p:par>
                    <p:cTn id="87" fill="hold">
                      <p:stCondLst>
                        <p:cond delay="indefinite"/>
                      </p:stCondLst>
                      <p:childTnLst>
                        <p:par>
                          <p:cTn id="88" fill="hold">
                            <p:stCondLst>
                              <p:cond delay="0"/>
                            </p:stCondLst>
                            <p:childTnLst>
                              <p:par>
                                <p:cTn id="89" presetID="4" presetClass="entr" presetSubtype="32" fill="hold" grpId="0" nodeType="clickEffect">
                                  <p:stCondLst>
                                    <p:cond delay="0"/>
                                  </p:stCondLst>
                                  <p:childTnLst>
                                    <p:set>
                                      <p:cBhvr>
                                        <p:cTn id="90" dur="1" fill="hold">
                                          <p:stCondLst>
                                            <p:cond delay="0"/>
                                          </p:stCondLst>
                                        </p:cTn>
                                        <p:tgtEl>
                                          <p:spTgt spid="5"/>
                                        </p:tgtEl>
                                        <p:attrNameLst>
                                          <p:attrName>style.visibility</p:attrName>
                                        </p:attrNameLst>
                                      </p:cBhvr>
                                      <p:to>
                                        <p:strVal val="visible"/>
                                      </p:to>
                                    </p:set>
                                    <p:animEffect transition="in" filter="box(out)">
                                      <p:cBhvr>
                                        <p:cTn id="9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123" grpId="0" autoUpdateAnimBg="0"/>
      <p:bldP spid="175124" grpId="0" autoUpdateAnimBg="0"/>
      <p:bldP spid="175127" grpId="0"/>
      <p:bldP spid="175133" grpId="0"/>
      <p:bldP spid="175134" grpId="0"/>
      <p:bldP spid="2" grpId="0"/>
      <p:bldP spid="5" grpId="0" animBg="1"/>
      <p:bldP spid="3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46" name="Text Box 10"/>
          <p:cNvSpPr txBox="1">
            <a:spLocks noChangeArrowheads="1"/>
          </p:cNvSpPr>
          <p:nvPr/>
        </p:nvSpPr>
        <p:spPr bwMode="auto">
          <a:xfrm>
            <a:off x="543205" y="426573"/>
            <a:ext cx="8143875" cy="1200150"/>
          </a:xfrm>
          <a:prstGeom prst="rect">
            <a:avLst/>
          </a:prstGeom>
          <a:noFill/>
          <a:ln w="12700" cap="sq">
            <a:noFill/>
            <a:miter lim="800000"/>
            <a:headEnd type="none" w="sm" len="sm"/>
            <a:tailEnd type="none" w="sm" len="sm"/>
          </a:ln>
          <a:effectLst/>
        </p:spPr>
        <p:txBody>
          <a:bodyPr>
            <a:spAutoFit/>
          </a:bodyPr>
          <a:lstStyle/>
          <a:p>
            <a:pPr>
              <a:defRPr/>
            </a:pPr>
            <a:r>
              <a:rPr kumimoji="0" lang="zh-CN" altLang="en-US" b="1" dirty="0">
                <a:solidFill>
                  <a:srgbClr val="FF0000"/>
                </a:solidFill>
                <a:latin typeface="楷体" panose="02010609060101010101" pitchFamily="49" charset="-122"/>
                <a:ea typeface="楷体" panose="02010609060101010101" pitchFamily="49" charset="-122"/>
              </a:rPr>
              <a:t>例</a:t>
            </a:r>
            <a:r>
              <a:rPr kumimoji="0" lang="zh-CN" altLang="en-US" dirty="0">
                <a:solidFill>
                  <a:srgbClr val="000000"/>
                </a:solidFill>
                <a:latin typeface="华文中宋" pitchFamily="2" charset="-122"/>
                <a:ea typeface="华文中宋" pitchFamily="2" charset="-122"/>
              </a:rPr>
              <a:t> </a:t>
            </a:r>
            <a:r>
              <a:rPr kumimoji="0" lang="zh-CN" altLang="en-US" b="1" dirty="0">
                <a:latin typeface="+mn-lt"/>
                <a:ea typeface="楷体" panose="02010609060101010101" pitchFamily="49" charset="-122"/>
              </a:rPr>
              <a:t>结构尺寸及受力。设</a:t>
            </a:r>
            <a:r>
              <a:rPr kumimoji="0" lang="en-US" altLang="zh-CN" i="1" dirty="0">
                <a:latin typeface="+mn-lt"/>
                <a:ea typeface="楷体" panose="02010609060101010101" pitchFamily="49" charset="-122"/>
              </a:rPr>
              <a:t>AB</a:t>
            </a:r>
            <a:r>
              <a:rPr kumimoji="0" lang="zh-CN" altLang="en-US" i="1" dirty="0">
                <a:latin typeface="+mn-lt"/>
                <a:ea typeface="楷体" panose="02010609060101010101" pitchFamily="49" charset="-122"/>
              </a:rPr>
              <a:t>、</a:t>
            </a:r>
            <a:r>
              <a:rPr kumimoji="0" lang="en-US" altLang="zh-CN" i="1" dirty="0">
                <a:latin typeface="+mn-lt"/>
                <a:ea typeface="楷体" panose="02010609060101010101" pitchFamily="49" charset="-122"/>
              </a:rPr>
              <a:t>CD</a:t>
            </a:r>
            <a:r>
              <a:rPr kumimoji="0" lang="zh-CN" altLang="en-US" b="1" dirty="0">
                <a:latin typeface="+mn-lt"/>
                <a:ea typeface="楷体" panose="02010609060101010101" pitchFamily="49" charset="-122"/>
              </a:rPr>
              <a:t>均为刚体，</a:t>
            </a:r>
            <a:r>
              <a:rPr kumimoji="0" lang="en-US" altLang="zh-CN" i="1" dirty="0">
                <a:latin typeface="+mn-lt"/>
                <a:ea typeface="楷体" panose="02010609060101010101" pitchFamily="49" charset="-122"/>
              </a:rPr>
              <a:t>BC</a:t>
            </a:r>
            <a:r>
              <a:rPr kumimoji="0" lang="zh-CN" altLang="en-US" b="1" dirty="0">
                <a:latin typeface="+mn-lt"/>
                <a:ea typeface="楷体" panose="02010609060101010101" pitchFamily="49" charset="-122"/>
              </a:rPr>
              <a:t>和</a:t>
            </a:r>
            <a:r>
              <a:rPr kumimoji="0" lang="en-US" altLang="zh-CN" i="1" dirty="0">
                <a:latin typeface="+mn-lt"/>
                <a:ea typeface="楷体" panose="02010609060101010101" pitchFamily="49" charset="-122"/>
              </a:rPr>
              <a:t>EF</a:t>
            </a:r>
            <a:r>
              <a:rPr kumimoji="0" lang="zh-CN" altLang="en-US" b="1" dirty="0">
                <a:latin typeface="+mn-lt"/>
                <a:ea typeface="楷体" panose="02010609060101010101" pitchFamily="49" charset="-122"/>
              </a:rPr>
              <a:t>为圆截面钢杆，直径均为</a:t>
            </a:r>
            <a:r>
              <a:rPr kumimoji="0" lang="en-US" altLang="zh-CN" i="1" dirty="0">
                <a:latin typeface="+mn-lt"/>
                <a:ea typeface="楷体" panose="02010609060101010101" pitchFamily="49" charset="-122"/>
              </a:rPr>
              <a:t>d</a:t>
            </a:r>
            <a:r>
              <a:rPr kumimoji="0" lang="zh-CN" altLang="en-US" b="1" dirty="0">
                <a:latin typeface="+mn-lt"/>
                <a:ea typeface="楷体" panose="02010609060101010101" pitchFamily="49" charset="-122"/>
              </a:rPr>
              <a:t>。若已知载荷</a:t>
            </a:r>
            <a:r>
              <a:rPr kumimoji="0" lang="en-US" altLang="zh-CN" i="1" dirty="0">
                <a:latin typeface="+mn-lt"/>
                <a:ea typeface="楷体" panose="02010609060101010101" pitchFamily="49" charset="-122"/>
              </a:rPr>
              <a:t>F</a:t>
            </a:r>
            <a:r>
              <a:rPr kumimoji="0" lang="en-US" altLang="zh-CN" baseline="-30000" dirty="0">
                <a:latin typeface="+mn-lt"/>
                <a:ea typeface="楷体" panose="02010609060101010101" pitchFamily="49" charset="-122"/>
              </a:rPr>
              <a:t>P</a:t>
            </a:r>
            <a:r>
              <a:rPr kumimoji="0" lang="zh-CN" altLang="en-US" dirty="0">
                <a:latin typeface="+mn-lt"/>
                <a:ea typeface="楷体" panose="02010609060101010101" pitchFamily="49" charset="-122"/>
              </a:rPr>
              <a:t>＝</a:t>
            </a:r>
            <a:r>
              <a:rPr kumimoji="0" lang="en-US" altLang="zh-CN" dirty="0">
                <a:latin typeface="+mn-lt"/>
                <a:ea typeface="楷体" panose="02010609060101010101" pitchFamily="49" charset="-122"/>
              </a:rPr>
              <a:t>39kN</a:t>
            </a:r>
            <a:r>
              <a:rPr kumimoji="0" lang="zh-CN" altLang="en-US" b="1" dirty="0">
                <a:latin typeface="+mn-lt"/>
                <a:ea typeface="楷体" panose="02010609060101010101" pitchFamily="49" charset="-122"/>
              </a:rPr>
              <a:t>，杆的直径</a:t>
            </a:r>
            <a:r>
              <a:rPr kumimoji="0" lang="en-US" altLang="zh-CN" i="1" dirty="0">
                <a:latin typeface="+mn-lt"/>
                <a:ea typeface="楷体" panose="02010609060101010101" pitchFamily="49" charset="-122"/>
              </a:rPr>
              <a:t>d</a:t>
            </a:r>
            <a:r>
              <a:rPr kumimoji="0" lang="zh-CN" altLang="en-US" dirty="0">
                <a:latin typeface="+mn-lt"/>
                <a:ea typeface="楷体" panose="02010609060101010101" pitchFamily="49" charset="-122"/>
              </a:rPr>
              <a:t>＝</a:t>
            </a:r>
            <a:r>
              <a:rPr kumimoji="0" lang="en-US" altLang="zh-CN" dirty="0">
                <a:latin typeface="+mn-lt"/>
                <a:ea typeface="楷体" panose="02010609060101010101" pitchFamily="49" charset="-122"/>
              </a:rPr>
              <a:t>25mm</a:t>
            </a:r>
            <a:r>
              <a:rPr kumimoji="0" lang="zh-CN" altLang="en-US" b="1" dirty="0">
                <a:latin typeface="+mn-lt"/>
                <a:ea typeface="楷体" panose="02010609060101010101" pitchFamily="49" charset="-122"/>
              </a:rPr>
              <a:t>，杆的材料为</a:t>
            </a:r>
            <a:r>
              <a:rPr kumimoji="0" lang="en-US" altLang="zh-CN" dirty="0">
                <a:latin typeface="+mn-lt"/>
                <a:ea typeface="楷体" panose="02010609060101010101" pitchFamily="49" charset="-122"/>
              </a:rPr>
              <a:t>Q235</a:t>
            </a:r>
            <a:r>
              <a:rPr kumimoji="0" lang="zh-CN" altLang="en-US" b="1" dirty="0">
                <a:latin typeface="+mn-lt"/>
                <a:ea typeface="楷体" panose="02010609060101010101" pitchFamily="49" charset="-122"/>
              </a:rPr>
              <a:t>钢，其许用应力</a:t>
            </a:r>
            <a:r>
              <a:rPr kumimoji="0" lang="en-US" altLang="zh-CN" dirty="0">
                <a:latin typeface="+mn-lt"/>
                <a:ea typeface="楷体" panose="02010609060101010101" pitchFamily="49" charset="-122"/>
                <a:cs typeface="Times New Roman" pitchFamily="18" charset="0"/>
              </a:rPr>
              <a:t>[</a:t>
            </a:r>
            <a:r>
              <a:rPr kumimoji="0" lang="en-US" altLang="zh-CN" i="1" dirty="0">
                <a:latin typeface="+mn-lt"/>
                <a:ea typeface="楷体" panose="02010609060101010101" pitchFamily="49" charset="-122"/>
                <a:cs typeface="Times New Roman" pitchFamily="18" charset="0"/>
              </a:rPr>
              <a:t>σ</a:t>
            </a:r>
            <a:r>
              <a:rPr kumimoji="0" lang="en-US" altLang="zh-CN" dirty="0">
                <a:latin typeface="+mn-lt"/>
                <a:ea typeface="楷体" panose="02010609060101010101" pitchFamily="49" charset="-122"/>
                <a:cs typeface="Times New Roman" pitchFamily="18" charset="0"/>
              </a:rPr>
              <a:t>]</a:t>
            </a:r>
            <a:r>
              <a:rPr kumimoji="0" lang="zh-CN" altLang="en-US" dirty="0">
                <a:latin typeface="+mn-lt"/>
                <a:ea typeface="楷体" panose="02010609060101010101" pitchFamily="49" charset="-122"/>
              </a:rPr>
              <a:t>＝</a:t>
            </a:r>
            <a:r>
              <a:rPr kumimoji="0" lang="en-US" altLang="zh-CN" dirty="0">
                <a:latin typeface="+mn-lt"/>
                <a:ea typeface="楷体" panose="02010609060101010101" pitchFamily="49" charset="-122"/>
              </a:rPr>
              <a:t>160MPa</a:t>
            </a:r>
            <a:r>
              <a:rPr kumimoji="0" lang="zh-CN" altLang="en-US" b="1" dirty="0">
                <a:latin typeface="+mn-lt"/>
                <a:ea typeface="楷体" panose="02010609060101010101" pitchFamily="49" charset="-122"/>
              </a:rPr>
              <a:t>。</a:t>
            </a:r>
          </a:p>
        </p:txBody>
      </p:sp>
      <p:pic>
        <p:nvPicPr>
          <p:cNvPr id="92163" name="Picture 11" descr="tu7-18"/>
          <p:cNvPicPr>
            <a:picLocks noChangeAspect="1" noChangeArrowheads="1"/>
          </p:cNvPicPr>
          <p:nvPr/>
        </p:nvPicPr>
        <p:blipFill>
          <a:blip r:embed="rId2">
            <a:lum bright="-6000" contrast="30000"/>
            <a:extLst>
              <a:ext uri="{28A0092B-C50C-407E-A947-70E740481C1C}">
                <a14:useLocalDpi xmlns:a14="http://schemas.microsoft.com/office/drawing/2010/main" val="0"/>
              </a:ext>
            </a:extLst>
          </a:blip>
          <a:srcRect l="3371" t="7480" r="50562" b="12727"/>
          <a:stretch>
            <a:fillRect/>
          </a:stretch>
        </p:blipFill>
        <p:spPr bwMode="auto">
          <a:xfrm>
            <a:off x="5141118" y="1676822"/>
            <a:ext cx="3470275" cy="270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48" name="Text Box 12"/>
          <p:cNvSpPr txBox="1">
            <a:spLocks noChangeArrowheads="1"/>
          </p:cNvSpPr>
          <p:nvPr/>
        </p:nvSpPr>
        <p:spPr bwMode="auto">
          <a:xfrm>
            <a:off x="418708" y="1585332"/>
            <a:ext cx="4945783" cy="461665"/>
          </a:xfrm>
          <a:prstGeom prst="rect">
            <a:avLst/>
          </a:prstGeom>
          <a:noFill/>
          <a:ln w="12700" cap="sq">
            <a:noFill/>
            <a:miter lim="800000"/>
            <a:headEnd type="none" w="sm" len="sm"/>
            <a:tailEnd type="none" w="sm" len="sm"/>
          </a:ln>
          <a:effectLst/>
        </p:spPr>
        <p:txBody>
          <a:bodyPr wrap="square">
            <a:spAutoFit/>
          </a:bodyPr>
          <a:lstStyle/>
          <a:p>
            <a:pPr>
              <a:defRPr/>
            </a:pPr>
            <a:r>
              <a:rPr kumimoji="0" lang="en-US" altLang="zh-CN" sz="2000" dirty="0">
                <a:solidFill>
                  <a:srgbClr val="000000"/>
                </a:solidFill>
                <a:latin typeface="宋体" pitchFamily="2" charset="-122"/>
              </a:rPr>
              <a:t> </a:t>
            </a:r>
            <a:r>
              <a:rPr kumimoji="0" lang="zh-CN" altLang="en-US" b="1" dirty="0">
                <a:solidFill>
                  <a:srgbClr val="000000"/>
                </a:solidFill>
                <a:latin typeface="楷体" panose="02010609060101010101" pitchFamily="49" charset="-122"/>
                <a:ea typeface="楷体" panose="02010609060101010101" pitchFamily="49" charset="-122"/>
              </a:rPr>
              <a:t>试校核：</a:t>
            </a:r>
            <a:r>
              <a:rPr kumimoji="0" lang="zh-CN" altLang="en-US" b="1" dirty="0">
                <a:solidFill>
                  <a:srgbClr val="0000FF"/>
                </a:solidFill>
                <a:latin typeface="楷体" panose="02010609060101010101" pitchFamily="49" charset="-122"/>
                <a:ea typeface="楷体" panose="02010609060101010101" pitchFamily="49" charset="-122"/>
              </a:rPr>
              <a:t>此结构的强度是否安全。</a:t>
            </a:r>
            <a:r>
              <a:rPr kumimoji="0" lang="zh-CN" altLang="en-US" sz="2000" b="1" dirty="0">
                <a:solidFill>
                  <a:srgbClr val="0000FF"/>
                </a:solidFill>
                <a:latin typeface="楷体" panose="02010609060101010101" pitchFamily="49" charset="-122"/>
                <a:ea typeface="楷体" panose="02010609060101010101" pitchFamily="49" charset="-122"/>
              </a:rPr>
              <a:t> </a:t>
            </a:r>
          </a:p>
        </p:txBody>
      </p:sp>
      <p:grpSp>
        <p:nvGrpSpPr>
          <p:cNvPr id="7" name="Group 31"/>
          <p:cNvGrpSpPr>
            <a:grpSpLocks/>
          </p:cNvGrpSpPr>
          <p:nvPr/>
        </p:nvGrpSpPr>
        <p:grpSpPr bwMode="auto">
          <a:xfrm>
            <a:off x="5180649" y="1637815"/>
            <a:ext cx="3754438" cy="2952750"/>
            <a:chOff x="3456" y="1824"/>
            <a:chExt cx="1968" cy="1373"/>
          </a:xfrm>
        </p:grpSpPr>
        <p:pic>
          <p:nvPicPr>
            <p:cNvPr id="8" name="Picture 9" descr="tu7-18"/>
            <p:cNvPicPr>
              <a:picLocks noChangeAspect="1" noChangeArrowheads="1"/>
            </p:cNvPicPr>
            <p:nvPr/>
          </p:nvPicPr>
          <p:blipFill>
            <a:blip r:embed="rId2">
              <a:lum bright="-6000" contrast="30000"/>
              <a:extLst>
                <a:ext uri="{28A0092B-C50C-407E-A947-70E740481C1C}">
                  <a14:useLocalDpi xmlns:a14="http://schemas.microsoft.com/office/drawing/2010/main" val="0"/>
                </a:ext>
              </a:extLst>
            </a:blip>
            <a:srcRect l="48314" t="14961" r="3371" b="10234"/>
            <a:stretch>
              <a:fillRect/>
            </a:stretch>
          </p:blipFill>
          <p:spPr bwMode="auto">
            <a:xfrm>
              <a:off x="3456" y="1824"/>
              <a:ext cx="1968" cy="1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AutoShape 25"/>
            <p:cNvSpPr>
              <a:spLocks noChangeArrowheads="1"/>
            </p:cNvSpPr>
            <p:nvPr/>
          </p:nvSpPr>
          <p:spPr bwMode="auto">
            <a:xfrm>
              <a:off x="5196" y="2031"/>
              <a:ext cx="27" cy="190"/>
            </a:xfrm>
            <a:prstGeom prst="upArrow">
              <a:avLst>
                <a:gd name="adj1" fmla="val 50000"/>
                <a:gd name="adj2" fmla="val 175926"/>
              </a:avLst>
            </a:prstGeom>
            <a:solidFill>
              <a:srgbClr val="0000FF"/>
            </a:solidFill>
            <a:ln w="9525">
              <a:solidFill>
                <a:srgbClr val="0000FF"/>
              </a:solidFill>
              <a:miter lim="800000"/>
              <a:headEnd/>
              <a:tailEnd/>
            </a:ln>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endParaRPr lang="zh-CN" altLang="en-US"/>
            </a:p>
          </p:txBody>
        </p:sp>
        <p:sp>
          <p:nvSpPr>
            <p:cNvPr id="10" name="AutoShape 26"/>
            <p:cNvSpPr>
              <a:spLocks noChangeArrowheads="1"/>
            </p:cNvSpPr>
            <p:nvPr/>
          </p:nvSpPr>
          <p:spPr bwMode="auto">
            <a:xfrm>
              <a:off x="3660" y="2550"/>
              <a:ext cx="27" cy="190"/>
            </a:xfrm>
            <a:prstGeom prst="upArrow">
              <a:avLst>
                <a:gd name="adj1" fmla="val 50000"/>
                <a:gd name="adj2" fmla="val 175926"/>
              </a:avLst>
            </a:prstGeom>
            <a:solidFill>
              <a:srgbClr val="0000FF"/>
            </a:solidFill>
            <a:ln w="9525">
              <a:solidFill>
                <a:srgbClr val="0000FF"/>
              </a:solidFill>
              <a:miter lim="800000"/>
              <a:headEnd/>
              <a:tailEnd/>
            </a:ln>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endParaRPr lang="zh-CN" altLang="en-US"/>
            </a:p>
          </p:txBody>
        </p:sp>
        <p:sp>
          <p:nvSpPr>
            <p:cNvPr id="11" name="AutoShape 27"/>
            <p:cNvSpPr>
              <a:spLocks noChangeArrowheads="1"/>
            </p:cNvSpPr>
            <p:nvPr/>
          </p:nvSpPr>
          <p:spPr bwMode="auto">
            <a:xfrm rot="5400000">
              <a:off x="5307" y="2139"/>
              <a:ext cx="27" cy="190"/>
            </a:xfrm>
            <a:prstGeom prst="upArrow">
              <a:avLst>
                <a:gd name="adj1" fmla="val 50000"/>
                <a:gd name="adj2" fmla="val 175926"/>
              </a:avLst>
            </a:prstGeom>
            <a:solidFill>
              <a:srgbClr val="0000FF"/>
            </a:solidFill>
            <a:ln w="9525">
              <a:solidFill>
                <a:srgbClr val="0000FF"/>
              </a:solidFill>
              <a:miter lim="800000"/>
              <a:headEnd/>
              <a:tailEnd/>
            </a:ln>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endParaRPr lang="zh-CN" altLang="en-US"/>
            </a:p>
          </p:txBody>
        </p:sp>
        <p:sp>
          <p:nvSpPr>
            <p:cNvPr id="12" name="Text Box 28"/>
            <p:cNvSpPr txBox="1">
              <a:spLocks noChangeArrowheads="1"/>
            </p:cNvSpPr>
            <p:nvPr/>
          </p:nvSpPr>
          <p:spPr bwMode="auto">
            <a:xfrm>
              <a:off x="3601" y="2403"/>
              <a:ext cx="154"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18000" bIns="10800">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2000" i="1" dirty="0">
                  <a:solidFill>
                    <a:srgbClr val="C00000"/>
                  </a:solidFill>
                  <a:latin typeface="Times New Roman" panose="02020603050405020304" pitchFamily="18" charset="0"/>
                </a:rPr>
                <a:t>F</a:t>
              </a:r>
              <a:r>
                <a:rPr lang="en-US" altLang="zh-CN" sz="2000" b="0" i="1" baseline="-25000" dirty="0">
                  <a:solidFill>
                    <a:srgbClr val="C00000"/>
                  </a:solidFill>
                  <a:latin typeface="Times New Roman" panose="02020603050405020304" pitchFamily="18" charset="0"/>
                </a:rPr>
                <a:t>A</a:t>
              </a:r>
            </a:p>
          </p:txBody>
        </p:sp>
        <p:sp>
          <p:nvSpPr>
            <p:cNvPr id="13" name="Text Box 29"/>
            <p:cNvSpPr txBox="1">
              <a:spLocks noChangeArrowheads="1"/>
            </p:cNvSpPr>
            <p:nvPr/>
          </p:nvSpPr>
          <p:spPr bwMode="auto">
            <a:xfrm>
              <a:off x="5184" y="1879"/>
              <a:ext cx="220"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18000" bIns="46800">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2000" i="1" dirty="0" err="1">
                  <a:solidFill>
                    <a:srgbClr val="C00000"/>
                  </a:solidFill>
                  <a:latin typeface="Times New Roman" panose="02020603050405020304" pitchFamily="18" charset="0"/>
                </a:rPr>
                <a:t>F</a:t>
              </a:r>
              <a:r>
                <a:rPr lang="en-US" altLang="zh-CN" sz="2000" b="0" i="1" baseline="-25000" dirty="0" err="1">
                  <a:solidFill>
                    <a:srgbClr val="C00000"/>
                  </a:solidFill>
                  <a:latin typeface="Times New Roman" panose="02020603050405020304" pitchFamily="18" charset="0"/>
                </a:rPr>
                <a:t>By</a:t>
              </a:r>
              <a:endParaRPr lang="en-US" altLang="zh-CN" sz="2000" b="0" i="1" baseline="-25000" dirty="0">
                <a:solidFill>
                  <a:srgbClr val="C00000"/>
                </a:solidFill>
                <a:latin typeface="Times New Roman" panose="02020603050405020304" pitchFamily="18" charset="0"/>
              </a:endParaRPr>
            </a:p>
          </p:txBody>
        </p:sp>
        <p:sp>
          <p:nvSpPr>
            <p:cNvPr id="14" name="Text Box 30"/>
            <p:cNvSpPr txBox="1">
              <a:spLocks noChangeArrowheads="1"/>
            </p:cNvSpPr>
            <p:nvPr/>
          </p:nvSpPr>
          <p:spPr bwMode="auto">
            <a:xfrm>
              <a:off x="5216" y="2322"/>
              <a:ext cx="19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18000" bIns="46800">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2000" i="1">
                  <a:solidFill>
                    <a:srgbClr val="C00000"/>
                  </a:solidFill>
                  <a:latin typeface="Times New Roman" panose="02020603050405020304" pitchFamily="18" charset="0"/>
                </a:rPr>
                <a:t>F</a:t>
              </a:r>
              <a:r>
                <a:rPr lang="en-US" altLang="zh-CN" sz="2000" b="0" i="1" baseline="-25000">
                  <a:solidFill>
                    <a:srgbClr val="C00000"/>
                  </a:solidFill>
                  <a:latin typeface="Times New Roman" panose="02020603050405020304" pitchFamily="18" charset="0"/>
                </a:rPr>
                <a:t>Bx</a:t>
              </a:r>
            </a:p>
          </p:txBody>
        </p:sp>
      </p:grpSp>
      <p:graphicFrame>
        <p:nvGraphicFramePr>
          <p:cNvPr id="15" name="Object 15"/>
          <p:cNvGraphicFramePr>
            <a:graphicFrameLocks noChangeAspect="1"/>
          </p:cNvGraphicFramePr>
          <p:nvPr>
            <p:extLst>
              <p:ext uri="{D42A27DB-BD31-4B8C-83A1-F6EECF244321}">
                <p14:modId xmlns:p14="http://schemas.microsoft.com/office/powerpoint/2010/main" val="3262899485"/>
              </p:ext>
            </p:extLst>
          </p:nvPr>
        </p:nvGraphicFramePr>
        <p:xfrm>
          <a:off x="322531" y="2576272"/>
          <a:ext cx="1133475" cy="862012"/>
        </p:xfrm>
        <a:graphic>
          <a:graphicData uri="http://schemas.openxmlformats.org/presentationml/2006/ole">
            <mc:AlternateContent xmlns:mc="http://schemas.openxmlformats.org/markup-compatibility/2006">
              <mc:Choice xmlns:v="urn:schemas-microsoft-com:vml" Requires="v">
                <p:oleObj name="Equation" r:id="rId3" imgW="660400" imgH="508000" progId="Equation.DSMT4">
                  <p:embed/>
                </p:oleObj>
              </mc:Choice>
              <mc:Fallback>
                <p:oleObj name="Equation" r:id="rId3" imgW="660400" imgH="5080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2531" y="2576272"/>
                        <a:ext cx="1133475" cy="862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16"/>
          <p:cNvGraphicFramePr>
            <a:graphicFrameLocks noChangeAspect="1"/>
          </p:cNvGraphicFramePr>
          <p:nvPr>
            <p:extLst>
              <p:ext uri="{D42A27DB-BD31-4B8C-83A1-F6EECF244321}">
                <p14:modId xmlns:p14="http://schemas.microsoft.com/office/powerpoint/2010/main" val="3256502843"/>
              </p:ext>
            </p:extLst>
          </p:nvPr>
        </p:nvGraphicFramePr>
        <p:xfrm>
          <a:off x="1660529" y="2529972"/>
          <a:ext cx="2663825" cy="425450"/>
        </p:xfrm>
        <a:graphic>
          <a:graphicData uri="http://schemas.openxmlformats.org/presentationml/2006/ole">
            <mc:AlternateContent xmlns:mc="http://schemas.openxmlformats.org/markup-compatibility/2006">
              <mc:Choice xmlns:v="urn:schemas-microsoft-com:vml" Requires="v">
                <p:oleObj name="Equation" r:id="rId5" imgW="1397000" imgH="228600" progId="Equation.DSMT4">
                  <p:embed/>
                </p:oleObj>
              </mc:Choice>
              <mc:Fallback>
                <p:oleObj name="Equation" r:id="rId5" imgW="1397000" imgH="2286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60529" y="2529972"/>
                        <a:ext cx="2663825" cy="425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Object 17"/>
          <p:cNvGraphicFramePr>
            <a:graphicFrameLocks noChangeAspect="1"/>
          </p:cNvGraphicFramePr>
          <p:nvPr>
            <p:extLst>
              <p:ext uri="{D42A27DB-BD31-4B8C-83A1-F6EECF244321}">
                <p14:modId xmlns:p14="http://schemas.microsoft.com/office/powerpoint/2010/main" val="828740649"/>
              </p:ext>
            </p:extLst>
          </p:nvPr>
        </p:nvGraphicFramePr>
        <p:xfrm>
          <a:off x="1588774" y="2985304"/>
          <a:ext cx="3634428" cy="452980"/>
        </p:xfrm>
        <a:graphic>
          <a:graphicData uri="http://schemas.openxmlformats.org/presentationml/2006/ole">
            <mc:AlternateContent xmlns:mc="http://schemas.openxmlformats.org/markup-compatibility/2006">
              <mc:Choice xmlns:v="urn:schemas-microsoft-com:vml" Requires="v">
                <p:oleObj name="Equation" r:id="rId7" imgW="2019300" imgH="241300" progId="Equation.DSMT4">
                  <p:embed/>
                </p:oleObj>
              </mc:Choice>
              <mc:Fallback>
                <p:oleObj name="Equation" r:id="rId7" imgW="2019300" imgH="2413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88774" y="2985304"/>
                        <a:ext cx="3634428" cy="452980"/>
                      </a:xfrm>
                      <a:prstGeom prst="rect">
                        <a:avLst/>
                      </a:prstGeom>
                      <a:noFill/>
                    </p:spPr>
                  </p:pic>
                </p:oleObj>
              </mc:Fallback>
            </mc:AlternateContent>
          </a:graphicData>
        </a:graphic>
      </p:graphicFrame>
      <p:graphicFrame>
        <p:nvGraphicFramePr>
          <p:cNvPr id="18" name="Object 19"/>
          <p:cNvGraphicFramePr>
            <a:graphicFrameLocks noChangeAspect="1"/>
          </p:cNvGraphicFramePr>
          <p:nvPr>
            <p:extLst>
              <p:ext uri="{D42A27DB-BD31-4B8C-83A1-F6EECF244321}">
                <p14:modId xmlns:p14="http://schemas.microsoft.com/office/powerpoint/2010/main" val="1115689920"/>
              </p:ext>
            </p:extLst>
          </p:nvPr>
        </p:nvGraphicFramePr>
        <p:xfrm>
          <a:off x="689527" y="3468166"/>
          <a:ext cx="3742594" cy="712733"/>
        </p:xfrm>
        <a:graphic>
          <a:graphicData uri="http://schemas.openxmlformats.org/presentationml/2006/ole">
            <mc:AlternateContent xmlns:mc="http://schemas.openxmlformats.org/markup-compatibility/2006">
              <mc:Choice xmlns:v="urn:schemas-microsoft-com:vml" Requires="v">
                <p:oleObj name="Equation" r:id="rId9" imgW="2209680" imgH="419040" progId="Equation.DSMT4">
                  <p:embed/>
                </p:oleObj>
              </mc:Choice>
              <mc:Fallback>
                <p:oleObj name="Equation" r:id="rId9" imgW="2209680" imgH="419040" progId="Equation.DSMT4">
                  <p:embed/>
                  <p:pic>
                    <p:nvPicPr>
                      <p:cNvPr id="0" name=""/>
                      <p:cNvPicPr>
                        <a:picLocks noChangeAspect="1" noChangeArrowheads="1"/>
                      </p:cNvPicPr>
                      <p:nvPr/>
                    </p:nvPicPr>
                    <p:blipFill>
                      <a:blip r:embed="rId10"/>
                      <a:srcRect/>
                      <a:stretch>
                        <a:fillRect/>
                      </a:stretch>
                    </p:blipFill>
                    <p:spPr bwMode="auto">
                      <a:xfrm>
                        <a:off x="689527" y="3468166"/>
                        <a:ext cx="3742594" cy="712733"/>
                      </a:xfrm>
                      <a:prstGeom prst="rect">
                        <a:avLst/>
                      </a:prstGeom>
                      <a:noFill/>
                    </p:spPr>
                  </p:pic>
                </p:oleObj>
              </mc:Fallback>
            </mc:AlternateContent>
          </a:graphicData>
        </a:graphic>
      </p:graphicFrame>
      <p:graphicFrame>
        <p:nvGraphicFramePr>
          <p:cNvPr id="19" name="Object 20"/>
          <p:cNvGraphicFramePr>
            <a:graphicFrameLocks noChangeAspect="1"/>
          </p:cNvGraphicFramePr>
          <p:nvPr>
            <p:extLst>
              <p:ext uri="{D42A27DB-BD31-4B8C-83A1-F6EECF244321}">
                <p14:modId xmlns:p14="http://schemas.microsoft.com/office/powerpoint/2010/main" val="3774166599"/>
              </p:ext>
            </p:extLst>
          </p:nvPr>
        </p:nvGraphicFramePr>
        <p:xfrm>
          <a:off x="562944" y="4226250"/>
          <a:ext cx="4778375" cy="696912"/>
        </p:xfrm>
        <a:graphic>
          <a:graphicData uri="http://schemas.openxmlformats.org/presentationml/2006/ole">
            <mc:AlternateContent xmlns:mc="http://schemas.openxmlformats.org/markup-compatibility/2006">
              <mc:Choice xmlns:v="urn:schemas-microsoft-com:vml" Requires="v">
                <p:oleObj name="Equation" r:id="rId11" imgW="2869920" imgH="419040" progId="Equation.DSMT4">
                  <p:embed/>
                </p:oleObj>
              </mc:Choice>
              <mc:Fallback>
                <p:oleObj name="Equation" r:id="rId11" imgW="2869920" imgH="419040" progId="Equation.DSMT4">
                  <p:embed/>
                  <p:pic>
                    <p:nvPicPr>
                      <p:cNvPr id="0" name=""/>
                      <p:cNvPicPr>
                        <a:picLocks noChangeAspect="1" noChangeArrowheads="1"/>
                      </p:cNvPicPr>
                      <p:nvPr/>
                    </p:nvPicPr>
                    <p:blipFill>
                      <a:blip r:embed="rId12"/>
                      <a:srcRect/>
                      <a:stretch>
                        <a:fillRect/>
                      </a:stretch>
                    </p:blipFill>
                    <p:spPr bwMode="auto">
                      <a:xfrm>
                        <a:off x="562944" y="4226250"/>
                        <a:ext cx="4778375" cy="696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ext Box 21"/>
          <p:cNvSpPr txBox="1">
            <a:spLocks noChangeArrowheads="1"/>
          </p:cNvSpPr>
          <p:nvPr/>
        </p:nvSpPr>
        <p:spPr bwMode="auto">
          <a:xfrm>
            <a:off x="6111081" y="4452651"/>
            <a:ext cx="2500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dirty="0">
                <a:solidFill>
                  <a:srgbClr val="000000"/>
                </a:solidFill>
                <a:latin typeface="+mn-lt"/>
                <a:ea typeface="楷体" panose="02010609060101010101" pitchFamily="49" charset="-122"/>
              </a:rPr>
              <a:t>杆</a:t>
            </a:r>
            <a:r>
              <a:rPr kumimoji="0" lang="en-US" altLang="zh-CN" b="0" i="1" dirty="0">
                <a:solidFill>
                  <a:srgbClr val="000000"/>
                </a:solidFill>
                <a:latin typeface="+mn-lt"/>
                <a:ea typeface="楷体" panose="02010609060101010101" pitchFamily="49" charset="-122"/>
              </a:rPr>
              <a:t>EF</a:t>
            </a:r>
            <a:r>
              <a:rPr kumimoji="0" lang="zh-CN" altLang="en-US" dirty="0">
                <a:solidFill>
                  <a:srgbClr val="000000"/>
                </a:solidFill>
                <a:latin typeface="+mn-lt"/>
                <a:ea typeface="楷体" panose="02010609060101010101" pitchFamily="49" charset="-122"/>
              </a:rPr>
              <a:t>为危险杆</a:t>
            </a:r>
            <a:endParaRPr kumimoji="0" lang="zh-CN" altLang="en-US" sz="2000" b="0" dirty="0">
              <a:solidFill>
                <a:srgbClr val="0000FF"/>
              </a:solidFill>
              <a:latin typeface="+mn-lt"/>
              <a:ea typeface="楷体" panose="02010609060101010101" pitchFamily="49" charset="-122"/>
            </a:endParaRPr>
          </a:p>
        </p:txBody>
      </p:sp>
      <p:sp>
        <p:nvSpPr>
          <p:cNvPr id="21" name="Text Box 32"/>
          <p:cNvSpPr txBox="1">
            <a:spLocks noChangeArrowheads="1"/>
          </p:cNvSpPr>
          <p:nvPr/>
        </p:nvSpPr>
        <p:spPr bwMode="auto">
          <a:xfrm>
            <a:off x="562944" y="2036907"/>
            <a:ext cx="3352800" cy="457200"/>
          </a:xfrm>
          <a:prstGeom prst="rect">
            <a:avLst/>
          </a:prstGeom>
          <a:noFill/>
          <a:ln w="12700" cap="sq">
            <a:noFill/>
            <a:miter lim="800000"/>
            <a:headEnd type="none" w="sm" len="sm"/>
            <a:tailEnd type="none" w="sm" len="sm"/>
          </a:ln>
          <a:effectLst/>
        </p:spPr>
        <p:txBody>
          <a:bodyPr>
            <a:spAutoFit/>
          </a:bodyPr>
          <a:lstStyle/>
          <a:p>
            <a:pPr>
              <a:defRPr/>
            </a:pPr>
            <a:r>
              <a:rPr kumimoji="0" lang="zh-CN" altLang="en-US" b="1" dirty="0">
                <a:solidFill>
                  <a:srgbClr val="0000FF"/>
                </a:solidFill>
                <a:latin typeface="楷体" panose="02010609060101010101" pitchFamily="49" charset="-122"/>
                <a:ea typeface="楷体" panose="02010609060101010101" pitchFamily="49" charset="-122"/>
              </a:rPr>
              <a:t>解：</a:t>
            </a:r>
            <a:r>
              <a:rPr kumimoji="0" lang="en-US" altLang="zh-CN" b="1" dirty="0">
                <a:solidFill>
                  <a:srgbClr val="0000FF"/>
                </a:solidFill>
                <a:latin typeface="楷体" panose="02010609060101010101" pitchFamily="49" charset="-122"/>
                <a:ea typeface="楷体" panose="02010609060101010101" pitchFamily="49" charset="-122"/>
              </a:rPr>
              <a:t>1</a:t>
            </a:r>
            <a:r>
              <a:rPr kumimoji="0" lang="zh-CN" altLang="en-US" b="1" dirty="0">
                <a:solidFill>
                  <a:srgbClr val="0000FF"/>
                </a:solidFill>
                <a:latin typeface="楷体" panose="02010609060101010101" pitchFamily="49" charset="-122"/>
                <a:ea typeface="楷体" panose="02010609060101010101" pitchFamily="49" charset="-122"/>
              </a:rPr>
              <a:t>．计算内力</a:t>
            </a:r>
          </a:p>
        </p:txBody>
      </p:sp>
      <p:sp>
        <p:nvSpPr>
          <p:cNvPr id="22" name="Text Box 13"/>
          <p:cNvSpPr txBox="1">
            <a:spLocks noChangeArrowheads="1"/>
          </p:cNvSpPr>
          <p:nvPr/>
        </p:nvSpPr>
        <p:spPr bwMode="auto">
          <a:xfrm>
            <a:off x="617045" y="4916021"/>
            <a:ext cx="4464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kumimoji="0" lang="en-US" altLang="zh-CN" dirty="0">
                <a:solidFill>
                  <a:srgbClr val="0000FF"/>
                </a:solidFill>
                <a:latin typeface="楷体" panose="02010609060101010101" pitchFamily="49" charset="-122"/>
                <a:ea typeface="楷体" panose="02010609060101010101" pitchFamily="49" charset="-122"/>
              </a:rPr>
              <a:t>2</a:t>
            </a:r>
            <a:r>
              <a:rPr kumimoji="0" lang="zh-CN" altLang="en-US" dirty="0">
                <a:solidFill>
                  <a:srgbClr val="0000FF"/>
                </a:solidFill>
                <a:latin typeface="楷体" panose="02010609060101010101" pitchFamily="49" charset="-122"/>
                <a:ea typeface="楷体" panose="02010609060101010101" pitchFamily="49" charset="-122"/>
              </a:rPr>
              <a:t>．计算危险构件的应力</a:t>
            </a:r>
          </a:p>
        </p:txBody>
      </p:sp>
      <p:graphicFrame>
        <p:nvGraphicFramePr>
          <p:cNvPr id="23" name="Object 7"/>
          <p:cNvGraphicFramePr>
            <a:graphicFrameLocks noChangeAspect="1"/>
          </p:cNvGraphicFramePr>
          <p:nvPr>
            <p:extLst>
              <p:ext uri="{D42A27DB-BD31-4B8C-83A1-F6EECF244321}">
                <p14:modId xmlns:p14="http://schemas.microsoft.com/office/powerpoint/2010/main" val="2076710716"/>
              </p:ext>
            </p:extLst>
          </p:nvPr>
        </p:nvGraphicFramePr>
        <p:xfrm>
          <a:off x="601713" y="5311528"/>
          <a:ext cx="4578936" cy="1111364"/>
        </p:xfrm>
        <a:graphic>
          <a:graphicData uri="http://schemas.openxmlformats.org/presentationml/2006/ole">
            <mc:AlternateContent xmlns:mc="http://schemas.openxmlformats.org/markup-compatibility/2006">
              <mc:Choice xmlns:v="urn:schemas-microsoft-com:vml" Requires="v">
                <p:oleObj name="Equation" r:id="rId13" imgW="2565360" imgH="622080" progId="Equation.DSMT4">
                  <p:embed/>
                </p:oleObj>
              </mc:Choice>
              <mc:Fallback>
                <p:oleObj name="Equation" r:id="rId13" imgW="2565360" imgH="622080" progId="Equation.DSMT4">
                  <p:embed/>
                  <p:pic>
                    <p:nvPicPr>
                      <p:cNvPr id="0" name=""/>
                      <p:cNvPicPr>
                        <a:picLocks noChangeAspect="1" noChangeArrowheads="1"/>
                      </p:cNvPicPr>
                      <p:nvPr/>
                    </p:nvPicPr>
                    <p:blipFill>
                      <a:blip r:embed="rId14"/>
                      <a:srcRect/>
                      <a:stretch>
                        <a:fillRect/>
                      </a:stretch>
                    </p:blipFill>
                    <p:spPr bwMode="auto">
                      <a:xfrm>
                        <a:off x="601713" y="5311528"/>
                        <a:ext cx="4578936" cy="1111364"/>
                      </a:xfrm>
                      <a:prstGeom prst="rect">
                        <a:avLst/>
                      </a:prstGeom>
                      <a:noFill/>
                    </p:spPr>
                  </p:pic>
                </p:oleObj>
              </mc:Fallback>
            </mc:AlternateContent>
          </a:graphicData>
        </a:graphic>
      </p:graphicFrame>
      <p:graphicFrame>
        <p:nvGraphicFramePr>
          <p:cNvPr id="24" name="Object 31"/>
          <p:cNvGraphicFramePr>
            <a:graphicFrameLocks noGrp="1" noChangeAspect="1"/>
          </p:cNvGraphicFramePr>
          <p:nvPr>
            <p:extLst>
              <p:ext uri="{D42A27DB-BD31-4B8C-83A1-F6EECF244321}">
                <p14:modId xmlns:p14="http://schemas.microsoft.com/office/powerpoint/2010/main" val="4102473197"/>
              </p:ext>
            </p:extLst>
          </p:nvPr>
        </p:nvGraphicFramePr>
        <p:xfrm>
          <a:off x="5787017" y="4991226"/>
          <a:ext cx="2706067" cy="528539"/>
        </p:xfrm>
        <a:graphic>
          <a:graphicData uri="http://schemas.openxmlformats.org/presentationml/2006/ole">
            <mc:AlternateContent xmlns:mc="http://schemas.openxmlformats.org/markup-compatibility/2006">
              <mc:Choice xmlns:v="urn:schemas-microsoft-com:vml" Requires="v">
                <p:oleObj name="Equation" r:id="rId15" imgW="1307880" imgH="253800" progId="Equation.DSMT4">
                  <p:embed/>
                </p:oleObj>
              </mc:Choice>
              <mc:Fallback>
                <p:oleObj name="Equation" r:id="rId15" imgW="1307880" imgH="253800" progId="Equation.DSMT4">
                  <p:embed/>
                  <p:pic>
                    <p:nvPicPr>
                      <p:cNvPr id="0" name=""/>
                      <p:cNvPicPr>
                        <a:picLocks noGrp="1"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787017" y="4991226"/>
                        <a:ext cx="2706067" cy="528539"/>
                      </a:xfrm>
                      <a:prstGeom prst="rect">
                        <a:avLst/>
                      </a:prstGeom>
                      <a:noFill/>
                      <a:ln>
                        <a:noFill/>
                      </a:ln>
                      <a:effectLst/>
                    </p:spPr>
                  </p:pic>
                </p:oleObj>
              </mc:Fallback>
            </mc:AlternateContent>
          </a:graphicData>
        </a:graphic>
      </p:graphicFrame>
      <p:sp>
        <p:nvSpPr>
          <p:cNvPr id="25" name="Text Box 17"/>
          <p:cNvSpPr txBox="1">
            <a:spLocks noChangeArrowheads="1"/>
          </p:cNvSpPr>
          <p:nvPr/>
        </p:nvSpPr>
        <p:spPr bwMode="auto">
          <a:xfrm>
            <a:off x="5246389" y="5554973"/>
            <a:ext cx="392090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kumimoji="0" lang="en-US" altLang="zh-CN" sz="2000" b="0" i="1" dirty="0">
                <a:solidFill>
                  <a:srgbClr val="000000"/>
                </a:solidFill>
                <a:latin typeface="Times New Roman" panose="02020603050405020304" pitchFamily="18" charset="0"/>
                <a:ea typeface="楷体_GB2312" pitchFamily="49" charset="-122"/>
              </a:rPr>
              <a:t>EF</a:t>
            </a:r>
            <a:r>
              <a:rPr kumimoji="0" lang="zh-CN" altLang="en-US" sz="2000" dirty="0">
                <a:solidFill>
                  <a:srgbClr val="000000"/>
                </a:solidFill>
                <a:latin typeface="楷体" panose="02010609060101010101" pitchFamily="49" charset="-122"/>
                <a:ea typeface="楷体" panose="02010609060101010101" pitchFamily="49" charset="-122"/>
              </a:rPr>
              <a:t>杆安全，整个结构强度安全</a:t>
            </a:r>
            <a:r>
              <a:rPr kumimoji="0" lang="zh-CN" altLang="en-US" sz="2000" dirty="0">
                <a:solidFill>
                  <a:srgbClr val="000000"/>
                </a:solidFill>
                <a:latin typeface="楷体_GB2312" pitchFamily="49" charset="-122"/>
                <a:ea typeface="楷体_GB2312" pitchFamily="49" charset="-122"/>
              </a:rPr>
              <a:t>。</a:t>
            </a:r>
            <a:r>
              <a:rPr kumimoji="0" lang="zh-CN" altLang="en-US" sz="2000" b="0" dirty="0">
                <a:solidFill>
                  <a:srgbClr val="0000FF"/>
                </a:solidFill>
                <a:latin typeface="Times New Roman" panose="02020603050405020304" pitchFamily="18" charset="0"/>
              </a:rPr>
              <a:t> </a:t>
            </a:r>
          </a:p>
        </p:txBody>
      </p:sp>
      <p:sp>
        <p:nvSpPr>
          <p:cNvPr id="26" name="Text Box 17"/>
          <p:cNvSpPr txBox="1">
            <a:spLocks noChangeArrowheads="1"/>
          </p:cNvSpPr>
          <p:nvPr/>
        </p:nvSpPr>
        <p:spPr bwMode="auto">
          <a:xfrm>
            <a:off x="5875409" y="5957819"/>
            <a:ext cx="266286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dirty="0">
                <a:solidFill>
                  <a:srgbClr val="FF0000"/>
                </a:solidFill>
                <a:latin typeface="楷体" panose="02010609060101010101" pitchFamily="49" charset="-122"/>
                <a:ea typeface="楷体" panose="02010609060101010101" pitchFamily="49" charset="-122"/>
              </a:rPr>
              <a:t>设计是否合理</a:t>
            </a:r>
            <a:r>
              <a:rPr kumimoji="0" lang="zh-CN" altLang="en-US" dirty="0">
                <a:solidFill>
                  <a:srgbClr val="FF0000"/>
                </a:solidFill>
                <a:latin typeface="楷体_GB2312" pitchFamily="49" charset="-122"/>
                <a:ea typeface="楷体_GB2312" pitchFamily="49" charset="-122"/>
              </a:rPr>
              <a:t>？</a:t>
            </a:r>
            <a:endParaRPr kumimoji="0" lang="zh-CN" altLang="en-US" b="0" dirty="0">
              <a:solidFill>
                <a:srgbClr val="FF0000"/>
              </a:solidFill>
              <a:latin typeface="Times New Roman" panose="02020603050405020304" pitchFamily="18" charset="0"/>
            </a:endParaRPr>
          </a:p>
        </p:txBody>
      </p:sp>
    </p:spTree>
    <p:extLst>
      <p:ext uri="{BB962C8B-B14F-4D97-AF65-F5344CB8AC3E}">
        <p14:creationId xmlns:p14="http://schemas.microsoft.com/office/powerpoint/2010/main" val="591105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91148"/>
                                        </p:tgtEl>
                                        <p:attrNameLst>
                                          <p:attrName>style.visibility</p:attrName>
                                        </p:attrNameLst>
                                      </p:cBhvr>
                                      <p:to>
                                        <p:strVal val="visible"/>
                                      </p:to>
                                    </p:set>
                                    <p:animEffect transition="in" filter="box(out)">
                                      <p:cBhvr>
                                        <p:cTn id="7" dur="500"/>
                                        <p:tgtEl>
                                          <p:spTgt spid="9114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ox(ou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box(out)">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box(out)">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box(out)">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box(out)">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box(out)">
                                      <p:cBhvr>
                                        <p:cTn id="37" dur="500"/>
                                        <p:tgtEl>
                                          <p:spTgt spid="18"/>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box(out)">
                                      <p:cBhvr>
                                        <p:cTn id="42" dur="50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box(out)">
                                      <p:cBhvr>
                                        <p:cTn id="47" dur="500"/>
                                        <p:tgtEl>
                                          <p:spTgt spid="20"/>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box(out)">
                                      <p:cBhvr>
                                        <p:cTn id="52" dur="500"/>
                                        <p:tgtEl>
                                          <p:spTgt spid="22"/>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32" fill="hold" nodeType="click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box(out)">
                                      <p:cBhvr>
                                        <p:cTn id="57" dur="500"/>
                                        <p:tgtEl>
                                          <p:spTgt spid="23"/>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blinds(horizontal)">
                                      <p:cBhvr>
                                        <p:cTn id="62" dur="500"/>
                                        <p:tgtEl>
                                          <p:spTgt spid="24"/>
                                        </p:tgtEl>
                                      </p:cBhvr>
                                    </p:animEffect>
                                  </p:childTnLst>
                                </p:cTn>
                              </p:par>
                            </p:childTnLst>
                          </p:cTn>
                        </p:par>
                      </p:childTnLst>
                    </p:cTn>
                  </p:par>
                  <p:par>
                    <p:cTn id="63" fill="hold">
                      <p:stCondLst>
                        <p:cond delay="indefinite"/>
                      </p:stCondLst>
                      <p:childTnLst>
                        <p:par>
                          <p:cTn id="64" fill="hold">
                            <p:stCondLst>
                              <p:cond delay="0"/>
                            </p:stCondLst>
                            <p:childTnLst>
                              <p:par>
                                <p:cTn id="65" presetID="4" presetClass="entr" presetSubtype="32" fill="hold" grpId="0" nodeType="click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box(out)">
                                      <p:cBhvr>
                                        <p:cTn id="67" dur="500"/>
                                        <p:tgtEl>
                                          <p:spTgt spid="25"/>
                                        </p:tgtEl>
                                      </p:cBhvr>
                                    </p:animEffect>
                                  </p:childTnLst>
                                </p:cTn>
                              </p:par>
                            </p:childTnLst>
                          </p:cTn>
                        </p:par>
                      </p:childTnLst>
                    </p:cTn>
                  </p:par>
                  <p:par>
                    <p:cTn id="68" fill="hold">
                      <p:stCondLst>
                        <p:cond delay="indefinite"/>
                      </p:stCondLst>
                      <p:childTnLst>
                        <p:par>
                          <p:cTn id="69" fill="hold">
                            <p:stCondLst>
                              <p:cond delay="0"/>
                            </p:stCondLst>
                            <p:childTnLst>
                              <p:par>
                                <p:cTn id="70" presetID="4" presetClass="entr" presetSubtype="32" fill="hold" grpId="0" nodeType="click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box(out)">
                                      <p:cBhvr>
                                        <p:cTn id="7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8" grpId="0" autoUpdateAnimBg="0"/>
      <p:bldP spid="20" grpId="0" autoUpdateAnimBg="0"/>
      <p:bldP spid="21" grpId="0" autoUpdateAnimBg="0"/>
      <p:bldP spid="22" grpId="0"/>
      <p:bldP spid="25" grpId="0" autoUpdateAnimBg="0"/>
      <p:bldP spid="26"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1" name="Rectangle 3"/>
          <p:cNvSpPr>
            <a:spLocks noChangeArrowheads="1"/>
          </p:cNvSpPr>
          <p:nvPr/>
        </p:nvSpPr>
        <p:spPr bwMode="auto">
          <a:xfrm>
            <a:off x="372051" y="214296"/>
            <a:ext cx="4641654" cy="23089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solidFill>
                  <a:srgbClr val="FF3300"/>
                </a:solidFill>
                <a:latin typeface="+mn-lt"/>
                <a:ea typeface="楷体" panose="02010609060101010101" pitchFamily="49" charset="-122"/>
              </a:rPr>
              <a:t>例</a:t>
            </a:r>
            <a:r>
              <a:rPr kumimoji="1" lang="zh-CN" altLang="en-US" sz="2400" b="1" dirty="0">
                <a:solidFill>
                  <a:srgbClr val="080808"/>
                </a:solidFill>
                <a:latin typeface="+mn-lt"/>
                <a:ea typeface="楷体" panose="02010609060101010101" pitchFamily="49" charset="-122"/>
              </a:rPr>
              <a:t>  压缩机汽缸直径 </a:t>
            </a:r>
            <a:r>
              <a:rPr kumimoji="1" lang="en-US" altLang="zh-CN" sz="2400" i="1" dirty="0">
                <a:solidFill>
                  <a:srgbClr val="080808"/>
                </a:solidFill>
                <a:latin typeface="+mn-lt"/>
                <a:ea typeface="楷体" panose="02010609060101010101" pitchFamily="49" charset="-122"/>
              </a:rPr>
              <a:t>D</a:t>
            </a:r>
            <a:r>
              <a:rPr kumimoji="1" lang="en-US" altLang="zh-CN" sz="2400" dirty="0">
                <a:solidFill>
                  <a:srgbClr val="080808"/>
                </a:solidFill>
                <a:latin typeface="+mn-lt"/>
                <a:ea typeface="楷体" panose="02010609060101010101" pitchFamily="49" charset="-122"/>
              </a:rPr>
              <a:t>= 400mm</a:t>
            </a:r>
            <a:r>
              <a:rPr kumimoji="1" lang="zh-CN" altLang="en-US" sz="2400" b="1" dirty="0">
                <a:solidFill>
                  <a:srgbClr val="080808"/>
                </a:solidFill>
                <a:latin typeface="+mn-lt"/>
                <a:ea typeface="楷体" panose="02010609060101010101" pitchFamily="49" charset="-122"/>
              </a:rPr>
              <a:t>，气压 </a:t>
            </a:r>
            <a:r>
              <a:rPr kumimoji="1" lang="en-US" altLang="zh-CN" sz="2400" i="1" dirty="0">
                <a:solidFill>
                  <a:srgbClr val="080808"/>
                </a:solidFill>
                <a:latin typeface="+mn-lt"/>
                <a:ea typeface="楷体" panose="02010609060101010101" pitchFamily="49" charset="-122"/>
              </a:rPr>
              <a:t>q</a:t>
            </a:r>
            <a:r>
              <a:rPr kumimoji="1" lang="en-US" altLang="zh-CN" sz="2400" dirty="0">
                <a:solidFill>
                  <a:srgbClr val="080808"/>
                </a:solidFill>
                <a:latin typeface="+mn-lt"/>
                <a:ea typeface="楷体" panose="02010609060101010101" pitchFamily="49" charset="-122"/>
              </a:rPr>
              <a:t>=1.2 </a:t>
            </a:r>
            <a:r>
              <a:rPr kumimoji="1" lang="en-US" altLang="zh-CN" sz="2400" dirty="0" err="1">
                <a:solidFill>
                  <a:srgbClr val="080808"/>
                </a:solidFill>
                <a:latin typeface="+mn-lt"/>
                <a:ea typeface="楷体" panose="02010609060101010101" pitchFamily="49" charset="-122"/>
              </a:rPr>
              <a:t>MPa</a:t>
            </a:r>
            <a:r>
              <a:rPr kumimoji="1" lang="zh-CN" altLang="en-US" sz="2400" b="1" dirty="0">
                <a:solidFill>
                  <a:srgbClr val="080808"/>
                </a:solidFill>
                <a:latin typeface="+mn-lt"/>
                <a:ea typeface="楷体" panose="02010609060101010101" pitchFamily="49" charset="-122"/>
              </a:rPr>
              <a:t>，缸盖用 </a:t>
            </a:r>
            <a:r>
              <a:rPr kumimoji="1" lang="en-US" altLang="zh-CN" sz="2400" dirty="0">
                <a:solidFill>
                  <a:srgbClr val="080808"/>
                </a:solidFill>
                <a:latin typeface="+mn-lt"/>
                <a:ea typeface="楷体" panose="02010609060101010101" pitchFamily="49" charset="-122"/>
              </a:rPr>
              <a:t>M20</a:t>
            </a:r>
            <a:r>
              <a:rPr kumimoji="1" lang="en-US" altLang="zh-CN" sz="2400" b="1" dirty="0">
                <a:solidFill>
                  <a:srgbClr val="080808"/>
                </a:solidFill>
                <a:latin typeface="+mn-lt"/>
                <a:ea typeface="楷体" panose="02010609060101010101" pitchFamily="49" charset="-122"/>
              </a:rPr>
              <a:t> </a:t>
            </a:r>
            <a:r>
              <a:rPr kumimoji="1" lang="zh-CN" altLang="en-US" sz="2400" b="1" dirty="0">
                <a:solidFill>
                  <a:srgbClr val="080808"/>
                </a:solidFill>
                <a:latin typeface="+mn-lt"/>
                <a:ea typeface="楷体" panose="02010609060101010101" pitchFamily="49" charset="-122"/>
              </a:rPr>
              <a:t>螺栓（</a:t>
            </a:r>
            <a:r>
              <a:rPr kumimoji="1" lang="en-US" altLang="zh-CN" sz="2400" i="1" dirty="0">
                <a:solidFill>
                  <a:srgbClr val="080808"/>
                </a:solidFill>
                <a:latin typeface="+mn-lt"/>
                <a:ea typeface="楷体" panose="02010609060101010101" pitchFamily="49" charset="-122"/>
              </a:rPr>
              <a:t>d</a:t>
            </a:r>
            <a:r>
              <a:rPr kumimoji="1" lang="en-US" altLang="zh-CN" sz="2400" b="1" baseline="-25000" dirty="0">
                <a:solidFill>
                  <a:srgbClr val="080808"/>
                </a:solidFill>
                <a:latin typeface="+mn-lt"/>
                <a:ea typeface="楷体" panose="02010609060101010101" pitchFamily="49" charset="-122"/>
              </a:rPr>
              <a:t>2</a:t>
            </a:r>
            <a:r>
              <a:rPr kumimoji="1" lang="en-US" altLang="zh-CN" sz="2400" b="1" dirty="0">
                <a:solidFill>
                  <a:srgbClr val="080808"/>
                </a:solidFill>
                <a:latin typeface="+mn-lt"/>
                <a:ea typeface="楷体" panose="02010609060101010101" pitchFamily="49" charset="-122"/>
              </a:rPr>
              <a:t> =</a:t>
            </a:r>
            <a:r>
              <a:rPr kumimoji="1" lang="en-US" altLang="zh-CN" sz="2400" dirty="0">
                <a:solidFill>
                  <a:srgbClr val="080808"/>
                </a:solidFill>
                <a:latin typeface="+mn-lt"/>
                <a:ea typeface="楷体" panose="02010609060101010101" pitchFamily="49" charset="-122"/>
              </a:rPr>
              <a:t>18 mm</a:t>
            </a:r>
            <a:r>
              <a:rPr kumimoji="1" lang="zh-CN" altLang="en-US" sz="2400" b="1" dirty="0">
                <a:solidFill>
                  <a:srgbClr val="080808"/>
                </a:solidFill>
                <a:latin typeface="+mn-lt"/>
                <a:ea typeface="楷体" panose="02010609060101010101" pitchFamily="49" charset="-122"/>
              </a:rPr>
              <a:t>）与汽缸联接</a:t>
            </a:r>
            <a:r>
              <a:rPr lang="zh-CN" altLang="en-US" b="1" dirty="0">
                <a:solidFill>
                  <a:srgbClr val="080808"/>
                </a:solidFill>
                <a:latin typeface="+mn-lt"/>
                <a:ea typeface="楷体" panose="02010609060101010101" pitchFamily="49" charset="-122"/>
              </a:rPr>
              <a:t>，活塞杆</a:t>
            </a:r>
            <a:r>
              <a:rPr lang="en-US" altLang="zh-CN" dirty="0">
                <a:solidFill>
                  <a:srgbClr val="080808"/>
                </a:solidFill>
                <a:latin typeface="+mn-lt"/>
                <a:ea typeface="楷体" panose="02010609060101010101" pitchFamily="49" charset="-122"/>
              </a:rPr>
              <a:t>[</a:t>
            </a:r>
            <a:r>
              <a:rPr lang="en-US" altLang="zh-CN" i="1" dirty="0">
                <a:solidFill>
                  <a:srgbClr val="080808"/>
                </a:solidFill>
                <a:latin typeface="+mn-lt"/>
                <a:ea typeface="楷体" panose="02010609060101010101" pitchFamily="49" charset="-122"/>
              </a:rPr>
              <a:t>σ</a:t>
            </a:r>
            <a:r>
              <a:rPr lang="en-US" altLang="zh-CN" dirty="0">
                <a:solidFill>
                  <a:srgbClr val="080808"/>
                </a:solidFill>
                <a:latin typeface="+mn-lt"/>
                <a:ea typeface="楷体" panose="02010609060101010101" pitchFamily="49" charset="-122"/>
              </a:rPr>
              <a:t>]</a:t>
            </a:r>
            <a:r>
              <a:rPr lang="en-US" altLang="zh-CN" baseline="-25000" dirty="0">
                <a:solidFill>
                  <a:srgbClr val="080808"/>
                </a:solidFill>
                <a:latin typeface="+mn-lt"/>
                <a:ea typeface="楷体" panose="02010609060101010101" pitchFamily="49" charset="-122"/>
              </a:rPr>
              <a:t>1</a:t>
            </a:r>
            <a:r>
              <a:rPr lang="en-US" altLang="zh-CN" dirty="0">
                <a:solidFill>
                  <a:srgbClr val="080808"/>
                </a:solidFill>
                <a:latin typeface="+mn-lt"/>
                <a:ea typeface="楷体" panose="02010609060101010101" pitchFamily="49" charset="-122"/>
              </a:rPr>
              <a:t>=50MPa</a:t>
            </a:r>
            <a:r>
              <a:rPr lang="zh-CN" altLang="en-US" b="1" dirty="0">
                <a:solidFill>
                  <a:srgbClr val="080808"/>
                </a:solidFill>
                <a:latin typeface="+mn-lt"/>
                <a:ea typeface="楷体" panose="02010609060101010101" pitchFamily="49" charset="-122"/>
              </a:rPr>
              <a:t>，螺栓 </a:t>
            </a:r>
            <a:r>
              <a:rPr kumimoji="1" lang="en-US" altLang="zh-CN" sz="2400" dirty="0">
                <a:solidFill>
                  <a:srgbClr val="080808"/>
                </a:solidFill>
                <a:latin typeface="+mn-lt"/>
                <a:ea typeface="楷体" panose="02010609060101010101" pitchFamily="49" charset="-122"/>
              </a:rPr>
              <a:t>[</a:t>
            </a:r>
            <a:r>
              <a:rPr kumimoji="1" lang="en-US" altLang="zh-CN" sz="2400" i="1" dirty="0">
                <a:solidFill>
                  <a:srgbClr val="080808"/>
                </a:solidFill>
                <a:latin typeface="+mn-lt"/>
                <a:ea typeface="楷体" panose="02010609060101010101" pitchFamily="49" charset="-122"/>
              </a:rPr>
              <a:t>σ</a:t>
            </a:r>
            <a:r>
              <a:rPr kumimoji="1" lang="en-US" altLang="zh-CN" sz="2400" dirty="0">
                <a:solidFill>
                  <a:srgbClr val="080808"/>
                </a:solidFill>
                <a:latin typeface="+mn-lt"/>
                <a:ea typeface="楷体" panose="02010609060101010101" pitchFamily="49" charset="-122"/>
              </a:rPr>
              <a:t>]</a:t>
            </a:r>
            <a:r>
              <a:rPr kumimoji="1" lang="en-US" altLang="zh-CN" sz="2400" baseline="-25000" dirty="0">
                <a:solidFill>
                  <a:srgbClr val="080808"/>
                </a:solidFill>
                <a:latin typeface="+mn-lt"/>
                <a:ea typeface="楷体" panose="02010609060101010101" pitchFamily="49" charset="-122"/>
              </a:rPr>
              <a:t>2</a:t>
            </a:r>
            <a:r>
              <a:rPr kumimoji="1" lang="en-US" altLang="zh-CN" sz="2400" dirty="0">
                <a:solidFill>
                  <a:srgbClr val="080808"/>
                </a:solidFill>
                <a:latin typeface="+mn-lt"/>
                <a:ea typeface="楷体" panose="02010609060101010101" pitchFamily="49" charset="-122"/>
              </a:rPr>
              <a:t> </a:t>
            </a:r>
            <a:r>
              <a:rPr kumimoji="1" lang="en-US" altLang="zh-CN" sz="2400" b="1" dirty="0">
                <a:solidFill>
                  <a:srgbClr val="080808"/>
                </a:solidFill>
                <a:latin typeface="+mn-lt"/>
                <a:ea typeface="楷体" panose="02010609060101010101" pitchFamily="49" charset="-122"/>
              </a:rPr>
              <a:t>= </a:t>
            </a:r>
            <a:r>
              <a:rPr kumimoji="1" lang="en-US" altLang="zh-CN" sz="2400" dirty="0">
                <a:solidFill>
                  <a:srgbClr val="080808"/>
                </a:solidFill>
                <a:latin typeface="+mn-lt"/>
                <a:ea typeface="楷体" panose="02010609060101010101" pitchFamily="49" charset="-122"/>
              </a:rPr>
              <a:t>40 </a:t>
            </a:r>
            <a:r>
              <a:rPr kumimoji="1" lang="en-US" altLang="zh-CN" sz="2400" dirty="0" err="1">
                <a:solidFill>
                  <a:srgbClr val="080808"/>
                </a:solidFill>
                <a:latin typeface="+mn-lt"/>
                <a:ea typeface="楷体" panose="02010609060101010101" pitchFamily="49" charset="-122"/>
              </a:rPr>
              <a:t>MPa</a:t>
            </a:r>
            <a:r>
              <a:rPr kumimoji="1" lang="zh-CN" altLang="en-US" sz="2400" b="1" dirty="0">
                <a:solidFill>
                  <a:srgbClr val="080808"/>
                </a:solidFill>
                <a:latin typeface="+mn-lt"/>
                <a:ea typeface="楷体" panose="02010609060101010101" pitchFamily="49" charset="-122"/>
              </a:rPr>
              <a:t>。求：活塞杆直径 </a:t>
            </a:r>
            <a:r>
              <a:rPr kumimoji="1" lang="en-US" altLang="zh-CN" sz="2400" i="1" dirty="0">
                <a:solidFill>
                  <a:srgbClr val="080808"/>
                </a:solidFill>
                <a:latin typeface="+mn-lt"/>
                <a:ea typeface="楷体" panose="02010609060101010101" pitchFamily="49" charset="-122"/>
              </a:rPr>
              <a:t>d</a:t>
            </a:r>
            <a:r>
              <a:rPr kumimoji="1" lang="en-US" altLang="zh-CN" sz="2400" baseline="-25000" dirty="0">
                <a:solidFill>
                  <a:srgbClr val="080808"/>
                </a:solidFill>
                <a:latin typeface="+mn-lt"/>
                <a:ea typeface="楷体" panose="02010609060101010101" pitchFamily="49" charset="-122"/>
              </a:rPr>
              <a:t>1</a:t>
            </a:r>
            <a:r>
              <a:rPr kumimoji="1" lang="en-US" altLang="zh-CN" sz="2400" b="1" dirty="0">
                <a:solidFill>
                  <a:srgbClr val="080808"/>
                </a:solidFill>
                <a:latin typeface="+mn-lt"/>
                <a:ea typeface="楷体" panose="02010609060101010101" pitchFamily="49" charset="-122"/>
              </a:rPr>
              <a:t> </a:t>
            </a:r>
            <a:r>
              <a:rPr kumimoji="1" lang="zh-CN" altLang="en-US" sz="2400" b="1" dirty="0">
                <a:solidFill>
                  <a:srgbClr val="080808"/>
                </a:solidFill>
                <a:latin typeface="+mn-lt"/>
                <a:ea typeface="楷体" panose="02010609060101010101" pitchFamily="49" charset="-122"/>
              </a:rPr>
              <a:t>和螺栓个数 </a:t>
            </a:r>
            <a:r>
              <a:rPr kumimoji="1" lang="en-US" altLang="zh-CN" sz="2400" i="1" dirty="0">
                <a:solidFill>
                  <a:srgbClr val="080808"/>
                </a:solidFill>
                <a:latin typeface="+mn-lt"/>
                <a:ea typeface="楷体" panose="02010609060101010101" pitchFamily="49" charset="-122"/>
              </a:rPr>
              <a:t>n</a:t>
            </a:r>
            <a:r>
              <a:rPr kumimoji="1" lang="zh-CN" altLang="en-US" sz="2400" b="1" dirty="0">
                <a:solidFill>
                  <a:srgbClr val="080808"/>
                </a:solidFill>
                <a:latin typeface="+mn-lt"/>
                <a:ea typeface="楷体" panose="02010609060101010101" pitchFamily="49" charset="-122"/>
              </a:rPr>
              <a:t>。</a:t>
            </a:r>
          </a:p>
        </p:txBody>
      </p:sp>
      <p:grpSp>
        <p:nvGrpSpPr>
          <p:cNvPr id="176171" name="Group 43"/>
          <p:cNvGrpSpPr>
            <a:grpSpLocks/>
          </p:cNvGrpSpPr>
          <p:nvPr/>
        </p:nvGrpSpPr>
        <p:grpSpPr bwMode="auto">
          <a:xfrm>
            <a:off x="7278175" y="2305749"/>
            <a:ext cx="1629495" cy="1507801"/>
            <a:chOff x="3984" y="1008"/>
            <a:chExt cx="1392" cy="1200"/>
          </a:xfrm>
        </p:grpSpPr>
        <p:sp>
          <p:nvSpPr>
            <p:cNvPr id="20497" name="Line 44"/>
            <p:cNvSpPr>
              <a:spLocks noChangeShapeType="1"/>
            </p:cNvSpPr>
            <p:nvPr/>
          </p:nvSpPr>
          <p:spPr bwMode="auto">
            <a:xfrm>
              <a:off x="4656" y="1008"/>
              <a:ext cx="0" cy="1200"/>
            </a:xfrm>
            <a:prstGeom prst="line">
              <a:avLst/>
            </a:prstGeom>
            <a:noFill/>
            <a:ln w="25400">
              <a:solidFill>
                <a:schemeClr val="tx1"/>
              </a:solidFill>
              <a:prstDash val="dash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98" name="Oval 45"/>
            <p:cNvSpPr>
              <a:spLocks noChangeArrowheads="1"/>
            </p:cNvSpPr>
            <p:nvPr/>
          </p:nvSpPr>
          <p:spPr bwMode="auto">
            <a:xfrm>
              <a:off x="4084" y="1060"/>
              <a:ext cx="1144" cy="1066"/>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20499" name="Line 46"/>
            <p:cNvSpPr>
              <a:spLocks noChangeShapeType="1"/>
            </p:cNvSpPr>
            <p:nvPr/>
          </p:nvSpPr>
          <p:spPr bwMode="auto">
            <a:xfrm>
              <a:off x="3984" y="1584"/>
              <a:ext cx="1392" cy="0"/>
            </a:xfrm>
            <a:prstGeom prst="line">
              <a:avLst/>
            </a:prstGeom>
            <a:noFill/>
            <a:ln w="25400">
              <a:solidFill>
                <a:schemeClr val="tx1"/>
              </a:solidFill>
              <a:prstDash val="dash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0" name="Oval 47"/>
            <p:cNvSpPr>
              <a:spLocks noChangeArrowheads="1"/>
            </p:cNvSpPr>
            <p:nvPr/>
          </p:nvSpPr>
          <p:spPr bwMode="auto">
            <a:xfrm>
              <a:off x="4612" y="1156"/>
              <a:ext cx="88" cy="88"/>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20501" name="Oval 48"/>
            <p:cNvSpPr>
              <a:spLocks noChangeArrowheads="1"/>
            </p:cNvSpPr>
            <p:nvPr/>
          </p:nvSpPr>
          <p:spPr bwMode="auto">
            <a:xfrm>
              <a:off x="4612" y="1972"/>
              <a:ext cx="88" cy="88"/>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20502" name="Oval 49"/>
            <p:cNvSpPr>
              <a:spLocks noChangeArrowheads="1"/>
            </p:cNvSpPr>
            <p:nvPr/>
          </p:nvSpPr>
          <p:spPr bwMode="auto">
            <a:xfrm>
              <a:off x="4180" y="1540"/>
              <a:ext cx="88" cy="88"/>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20503" name="Oval 50"/>
            <p:cNvSpPr>
              <a:spLocks noChangeArrowheads="1"/>
            </p:cNvSpPr>
            <p:nvPr/>
          </p:nvSpPr>
          <p:spPr bwMode="auto">
            <a:xfrm>
              <a:off x="5044" y="1540"/>
              <a:ext cx="88" cy="88"/>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20504" name="Oval 51"/>
            <p:cNvSpPr>
              <a:spLocks noChangeArrowheads="1"/>
            </p:cNvSpPr>
            <p:nvPr/>
          </p:nvSpPr>
          <p:spPr bwMode="auto">
            <a:xfrm>
              <a:off x="4948" y="1252"/>
              <a:ext cx="88" cy="88"/>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20505" name="Oval 52"/>
            <p:cNvSpPr>
              <a:spLocks noChangeArrowheads="1"/>
            </p:cNvSpPr>
            <p:nvPr/>
          </p:nvSpPr>
          <p:spPr bwMode="auto">
            <a:xfrm>
              <a:off x="4276" y="1252"/>
              <a:ext cx="88" cy="88"/>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20506" name="Oval 53"/>
            <p:cNvSpPr>
              <a:spLocks noChangeArrowheads="1"/>
            </p:cNvSpPr>
            <p:nvPr/>
          </p:nvSpPr>
          <p:spPr bwMode="auto">
            <a:xfrm>
              <a:off x="4276" y="1828"/>
              <a:ext cx="88" cy="88"/>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20507" name="Oval 54"/>
            <p:cNvSpPr>
              <a:spLocks noChangeArrowheads="1"/>
            </p:cNvSpPr>
            <p:nvPr/>
          </p:nvSpPr>
          <p:spPr bwMode="auto">
            <a:xfrm>
              <a:off x="4948" y="1828"/>
              <a:ext cx="88" cy="88"/>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grpSp>
      <p:sp>
        <p:nvSpPr>
          <p:cNvPr id="176183" name="Rectangle 55"/>
          <p:cNvSpPr>
            <a:spLocks noChangeArrowheads="1"/>
          </p:cNvSpPr>
          <p:nvPr/>
        </p:nvSpPr>
        <p:spPr bwMode="auto">
          <a:xfrm>
            <a:off x="383596" y="2497414"/>
            <a:ext cx="99060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defRPr/>
            </a:pPr>
            <a:r>
              <a:rPr kumimoji="1" lang="zh-CN" altLang="en-US" sz="2400" b="1" dirty="0">
                <a:solidFill>
                  <a:srgbClr val="FF0000"/>
                </a:solidFill>
                <a:latin typeface="楷体" panose="02010609060101010101" pitchFamily="49" charset="-122"/>
                <a:ea typeface="楷体" panose="02010609060101010101" pitchFamily="49" charset="-122"/>
              </a:rPr>
              <a:t>解：</a:t>
            </a:r>
          </a:p>
        </p:txBody>
      </p:sp>
      <p:graphicFrame>
        <p:nvGraphicFramePr>
          <p:cNvPr id="176184" name="Object 56"/>
          <p:cNvGraphicFramePr>
            <a:graphicFrameLocks/>
          </p:cNvGraphicFramePr>
          <p:nvPr>
            <p:extLst>
              <p:ext uri="{D42A27DB-BD31-4B8C-83A1-F6EECF244321}">
                <p14:modId xmlns:p14="http://schemas.microsoft.com/office/powerpoint/2010/main" val="4171906159"/>
              </p:ext>
            </p:extLst>
          </p:nvPr>
        </p:nvGraphicFramePr>
        <p:xfrm>
          <a:off x="1081185" y="2411221"/>
          <a:ext cx="2470768" cy="763293"/>
        </p:xfrm>
        <a:graphic>
          <a:graphicData uri="http://schemas.openxmlformats.org/presentationml/2006/ole">
            <mc:AlternateContent xmlns:mc="http://schemas.openxmlformats.org/markup-compatibility/2006">
              <mc:Choice xmlns:v="urn:schemas-microsoft-com:vml" Requires="v">
                <p:oleObj name="Equation" r:id="rId2" imgW="1358640" imgH="419040" progId="Equation.DSMT4">
                  <p:embed/>
                </p:oleObj>
              </mc:Choice>
              <mc:Fallback>
                <p:oleObj name="Equation" r:id="rId2" imgW="1358640" imgH="419040" progId="Equation.DSMT4">
                  <p:embed/>
                  <p:pic>
                    <p:nvPicPr>
                      <p:cNvPr id="0" name=""/>
                      <p:cNvPicPr>
                        <a:picLocks noChangeArrowheads="1"/>
                      </p:cNvPicPr>
                      <p:nvPr/>
                    </p:nvPicPr>
                    <p:blipFill>
                      <a:blip r:embed="rId3"/>
                      <a:srcRect/>
                      <a:stretch>
                        <a:fillRect/>
                      </a:stretch>
                    </p:blipFill>
                    <p:spPr bwMode="auto">
                      <a:xfrm>
                        <a:off x="1081185" y="2411221"/>
                        <a:ext cx="2470768" cy="763293"/>
                      </a:xfrm>
                      <a:prstGeom prst="rect">
                        <a:avLst/>
                      </a:prstGeom>
                      <a:noFill/>
                      <a:ln>
                        <a:noFill/>
                      </a:ln>
                      <a:effectLst/>
                    </p:spPr>
                  </p:pic>
                </p:oleObj>
              </mc:Fallback>
            </mc:AlternateContent>
          </a:graphicData>
        </a:graphic>
      </p:graphicFrame>
      <p:graphicFrame>
        <p:nvGraphicFramePr>
          <p:cNvPr id="176187" name="Object 59"/>
          <p:cNvGraphicFramePr>
            <a:graphicFrameLocks/>
          </p:cNvGraphicFramePr>
          <p:nvPr>
            <p:extLst>
              <p:ext uri="{D42A27DB-BD31-4B8C-83A1-F6EECF244321}">
                <p14:modId xmlns:p14="http://schemas.microsoft.com/office/powerpoint/2010/main" val="3382170784"/>
              </p:ext>
            </p:extLst>
          </p:nvPr>
        </p:nvGraphicFramePr>
        <p:xfrm>
          <a:off x="4623565" y="4923231"/>
          <a:ext cx="3794033" cy="930453"/>
        </p:xfrm>
        <a:graphic>
          <a:graphicData uri="http://schemas.openxmlformats.org/presentationml/2006/ole">
            <mc:AlternateContent xmlns:mc="http://schemas.openxmlformats.org/markup-compatibility/2006">
              <mc:Choice xmlns:v="urn:schemas-microsoft-com:vml" Requires="v">
                <p:oleObj name="Equation" r:id="rId4" imgW="1803240" imgH="469800" progId="Equation.DSMT4">
                  <p:embed/>
                </p:oleObj>
              </mc:Choice>
              <mc:Fallback>
                <p:oleObj name="Equation" r:id="rId4" imgW="1803240" imgH="469800" progId="Equation.DSMT4">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23565" y="4923231"/>
                        <a:ext cx="3794033" cy="930453"/>
                      </a:xfrm>
                      <a:prstGeom prst="rect">
                        <a:avLst/>
                      </a:prstGeom>
                      <a:noFill/>
                      <a:ln>
                        <a:noFill/>
                      </a:ln>
                      <a:effectLst/>
                    </p:spPr>
                  </p:pic>
                </p:oleObj>
              </mc:Fallback>
            </mc:AlternateContent>
          </a:graphicData>
        </a:graphic>
      </p:graphicFrame>
      <p:sp>
        <p:nvSpPr>
          <p:cNvPr id="176188" name="Rectangle 60"/>
          <p:cNvSpPr>
            <a:spLocks noChangeArrowheads="1"/>
          </p:cNvSpPr>
          <p:nvPr/>
        </p:nvSpPr>
        <p:spPr bwMode="auto">
          <a:xfrm>
            <a:off x="772537" y="5389101"/>
            <a:ext cx="3741409"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solidFill>
                  <a:srgbClr val="0000FF"/>
                </a:solidFill>
                <a:latin typeface="+mn-lt"/>
                <a:ea typeface="楷体" panose="02010609060101010101" pitchFamily="49" charset="-122"/>
              </a:rPr>
              <a:t>考虑加工方便应取 </a:t>
            </a:r>
            <a:r>
              <a:rPr kumimoji="1" lang="en-US" altLang="zh-CN" sz="2400" i="1" dirty="0">
                <a:solidFill>
                  <a:srgbClr val="0000FF"/>
                </a:solidFill>
                <a:latin typeface="+mn-lt"/>
                <a:ea typeface="楷体" panose="02010609060101010101" pitchFamily="49" charset="-122"/>
              </a:rPr>
              <a:t>n</a:t>
            </a:r>
            <a:r>
              <a:rPr kumimoji="1" lang="en-US" altLang="zh-CN" sz="2400" dirty="0">
                <a:solidFill>
                  <a:srgbClr val="0000FF"/>
                </a:solidFill>
                <a:latin typeface="+mn-lt"/>
                <a:ea typeface="楷体" panose="02010609060101010101" pitchFamily="49" charset="-122"/>
              </a:rPr>
              <a:t>=16</a:t>
            </a:r>
            <a:r>
              <a:rPr kumimoji="1" lang="zh-CN" altLang="en-US" sz="2400" b="1" dirty="0">
                <a:solidFill>
                  <a:srgbClr val="0000FF"/>
                </a:solidFill>
                <a:latin typeface="+mn-lt"/>
                <a:ea typeface="楷体" panose="02010609060101010101" pitchFamily="49" charset="-122"/>
              </a:rPr>
              <a:t>。</a:t>
            </a:r>
          </a:p>
        </p:txBody>
      </p:sp>
      <p:graphicFrame>
        <p:nvGraphicFramePr>
          <p:cNvPr id="176189" name="Object 61"/>
          <p:cNvGraphicFramePr>
            <a:graphicFrameLocks/>
          </p:cNvGraphicFramePr>
          <p:nvPr>
            <p:extLst>
              <p:ext uri="{D42A27DB-BD31-4B8C-83A1-F6EECF244321}">
                <p14:modId xmlns:p14="http://schemas.microsoft.com/office/powerpoint/2010/main" val="3609337535"/>
              </p:ext>
            </p:extLst>
          </p:nvPr>
        </p:nvGraphicFramePr>
        <p:xfrm>
          <a:off x="807776" y="4059057"/>
          <a:ext cx="3670929" cy="918113"/>
        </p:xfrm>
        <a:graphic>
          <a:graphicData uri="http://schemas.openxmlformats.org/presentationml/2006/ole">
            <mc:AlternateContent xmlns:mc="http://schemas.openxmlformats.org/markup-compatibility/2006">
              <mc:Choice xmlns:v="urn:schemas-microsoft-com:vml" Requires="v">
                <p:oleObj name="Equation" r:id="rId6" imgW="1879560" imgH="507960" progId="Equation.DSMT4">
                  <p:embed/>
                </p:oleObj>
              </mc:Choice>
              <mc:Fallback>
                <p:oleObj name="Equation" r:id="rId6" imgW="1879560" imgH="507960" progId="Equation.DSMT4">
                  <p:embed/>
                  <p:pic>
                    <p:nvPicPr>
                      <p:cNvPr id="0" name=""/>
                      <p:cNvPicPr>
                        <a:picLocks noChangeArrowheads="1"/>
                      </p:cNvPicPr>
                      <p:nvPr/>
                    </p:nvPicPr>
                    <p:blipFill>
                      <a:blip r:embed="rId7"/>
                      <a:srcRect/>
                      <a:stretch>
                        <a:fillRect/>
                      </a:stretch>
                    </p:blipFill>
                    <p:spPr bwMode="auto">
                      <a:xfrm>
                        <a:off x="807776" y="4059057"/>
                        <a:ext cx="3670929" cy="918113"/>
                      </a:xfrm>
                      <a:prstGeom prst="rect">
                        <a:avLst/>
                      </a:prstGeom>
                      <a:noFill/>
                      <a:ln>
                        <a:noFill/>
                      </a:ln>
                      <a:effectLst/>
                    </p:spPr>
                  </p:pic>
                </p:oleObj>
              </mc:Fallback>
            </mc:AlternateContent>
          </a:graphicData>
        </a:graphic>
      </p:graphicFrame>
      <p:graphicFrame>
        <p:nvGraphicFramePr>
          <p:cNvPr id="20492" name="Object 63"/>
          <p:cNvGraphicFramePr>
            <a:graphicFrameLocks/>
          </p:cNvGraphicFramePr>
          <p:nvPr>
            <p:extLst>
              <p:ext uri="{D42A27DB-BD31-4B8C-83A1-F6EECF244321}">
                <p14:modId xmlns:p14="http://schemas.microsoft.com/office/powerpoint/2010/main" val="1693853734"/>
              </p:ext>
            </p:extLst>
          </p:nvPr>
        </p:nvGraphicFramePr>
        <p:xfrm>
          <a:off x="784315" y="3237923"/>
          <a:ext cx="2268787" cy="824785"/>
        </p:xfrm>
        <a:graphic>
          <a:graphicData uri="http://schemas.openxmlformats.org/presentationml/2006/ole">
            <mc:AlternateContent xmlns:mc="http://schemas.openxmlformats.org/markup-compatibility/2006">
              <mc:Choice xmlns:v="urn:schemas-microsoft-com:vml" Requires="v">
                <p:oleObj name="Equation" r:id="rId8" imgW="1054080" imgH="431640" progId="Equation.DSMT4">
                  <p:embed/>
                </p:oleObj>
              </mc:Choice>
              <mc:Fallback>
                <p:oleObj name="Equation" r:id="rId8" imgW="1054080" imgH="431640" progId="Equation.DSMT4">
                  <p:embed/>
                  <p:pic>
                    <p:nvPicPr>
                      <p:cNvPr id="0" name=""/>
                      <p:cNvPicPr>
                        <a:picLocks noChangeArrowheads="1"/>
                      </p:cNvPicPr>
                      <p:nvPr/>
                    </p:nvPicPr>
                    <p:blipFill>
                      <a:blip r:embed="rId9"/>
                      <a:srcRect/>
                      <a:stretch>
                        <a:fillRect/>
                      </a:stretch>
                    </p:blipFill>
                    <p:spPr bwMode="auto">
                      <a:xfrm>
                        <a:off x="784315" y="3237923"/>
                        <a:ext cx="2268787" cy="824785"/>
                      </a:xfrm>
                      <a:prstGeom prst="rect">
                        <a:avLst/>
                      </a:prstGeom>
                      <a:noFill/>
                      <a:ln>
                        <a:noFill/>
                      </a:ln>
                      <a:effectLst/>
                    </p:spPr>
                  </p:pic>
                </p:oleObj>
              </mc:Fallback>
            </mc:AlternateContent>
          </a:graphicData>
        </a:graphic>
      </p:graphicFrame>
      <p:sp>
        <p:nvSpPr>
          <p:cNvPr id="20493" name="Text Box 64"/>
          <p:cNvSpPr txBox="1">
            <a:spLocks noChangeArrowheads="1"/>
          </p:cNvSpPr>
          <p:nvPr/>
        </p:nvSpPr>
        <p:spPr bwMode="auto">
          <a:xfrm>
            <a:off x="2958196" y="3357391"/>
            <a:ext cx="15557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kumimoji="1" lang="en-US" altLang="zh-CN" sz="2400" b="1" dirty="0">
                <a:latin typeface="楷体" panose="02010609060101010101" pitchFamily="49" charset="-122"/>
                <a:ea typeface="楷体" panose="02010609060101010101" pitchFamily="49" charset="-122"/>
              </a:rPr>
              <a:t>(</a:t>
            </a:r>
            <a:r>
              <a:rPr kumimoji="1" lang="zh-CN" altLang="en-US" sz="2400" b="1" dirty="0">
                <a:latin typeface="楷体" panose="02010609060101010101" pitchFamily="49" charset="-122"/>
                <a:ea typeface="楷体" panose="02010609060101010101" pitchFamily="49" charset="-122"/>
              </a:rPr>
              <a:t>压应力</a:t>
            </a:r>
            <a:r>
              <a:rPr kumimoji="1" lang="en-US" altLang="zh-CN" sz="2400" b="1" dirty="0">
                <a:latin typeface="楷体" panose="02010609060101010101" pitchFamily="49" charset="-122"/>
                <a:ea typeface="楷体" panose="02010609060101010101" pitchFamily="49" charset="-122"/>
              </a:rPr>
              <a:t>)</a:t>
            </a:r>
          </a:p>
        </p:txBody>
      </p:sp>
      <p:graphicFrame>
        <p:nvGraphicFramePr>
          <p:cNvPr id="20494" name="Object 66"/>
          <p:cNvGraphicFramePr>
            <a:graphicFrameLocks/>
          </p:cNvGraphicFramePr>
          <p:nvPr>
            <p:extLst>
              <p:ext uri="{D42A27DB-BD31-4B8C-83A1-F6EECF244321}">
                <p14:modId xmlns:p14="http://schemas.microsoft.com/office/powerpoint/2010/main" val="84496059"/>
              </p:ext>
            </p:extLst>
          </p:nvPr>
        </p:nvGraphicFramePr>
        <p:xfrm>
          <a:off x="4689504" y="3956975"/>
          <a:ext cx="2116822" cy="830537"/>
        </p:xfrm>
        <a:graphic>
          <a:graphicData uri="http://schemas.openxmlformats.org/presentationml/2006/ole">
            <mc:AlternateContent xmlns:mc="http://schemas.openxmlformats.org/markup-compatibility/2006">
              <mc:Choice xmlns:v="urn:schemas-microsoft-com:vml" Requires="v">
                <p:oleObj name="Equation" r:id="rId10" imgW="1104840" imgH="431640" progId="Equation.DSMT4">
                  <p:embed/>
                </p:oleObj>
              </mc:Choice>
              <mc:Fallback>
                <p:oleObj name="Equation" r:id="rId10" imgW="1104840" imgH="431640" progId="Equation.DSMT4">
                  <p:embed/>
                  <p:pic>
                    <p:nvPicPr>
                      <p:cNvPr id="0" name=""/>
                      <p:cNvPicPr>
                        <a:picLocks noChangeArrowheads="1"/>
                      </p:cNvPicPr>
                      <p:nvPr/>
                    </p:nvPicPr>
                    <p:blipFill>
                      <a:blip r:embed="rId11"/>
                      <a:srcRect/>
                      <a:stretch>
                        <a:fillRect/>
                      </a:stretch>
                    </p:blipFill>
                    <p:spPr bwMode="auto">
                      <a:xfrm>
                        <a:off x="4689504" y="3956975"/>
                        <a:ext cx="2116822" cy="830537"/>
                      </a:xfrm>
                      <a:prstGeom prst="rect">
                        <a:avLst/>
                      </a:prstGeom>
                      <a:noFill/>
                      <a:ln>
                        <a:noFill/>
                      </a:ln>
                      <a:effectLst/>
                    </p:spPr>
                  </p:pic>
                </p:oleObj>
              </mc:Fallback>
            </mc:AlternateContent>
          </a:graphicData>
        </a:graphic>
      </p:graphicFrame>
      <p:sp>
        <p:nvSpPr>
          <p:cNvPr id="20495" name="Text Box 67"/>
          <p:cNvSpPr txBox="1">
            <a:spLocks noChangeArrowheads="1"/>
          </p:cNvSpPr>
          <p:nvPr/>
        </p:nvSpPr>
        <p:spPr bwMode="auto">
          <a:xfrm>
            <a:off x="6908620" y="4029827"/>
            <a:ext cx="1628775"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400" b="1" dirty="0">
                <a:latin typeface="楷体" panose="02010609060101010101" pitchFamily="49" charset="-122"/>
                <a:ea typeface="楷体" panose="02010609060101010101" pitchFamily="49" charset="-122"/>
              </a:rPr>
              <a:t>(</a:t>
            </a:r>
            <a:r>
              <a:rPr kumimoji="1" lang="zh-CN" altLang="en-US" sz="2400" b="1" dirty="0">
                <a:latin typeface="楷体" panose="02010609060101010101" pitchFamily="49" charset="-122"/>
                <a:ea typeface="楷体" panose="02010609060101010101" pitchFamily="49" charset="-122"/>
              </a:rPr>
              <a:t>拉应力</a:t>
            </a:r>
            <a:r>
              <a:rPr kumimoji="1" lang="en-US" altLang="zh-CN" sz="2400" b="1" dirty="0">
                <a:latin typeface="楷体" panose="02010609060101010101" pitchFamily="49" charset="-122"/>
                <a:ea typeface="楷体" panose="02010609060101010101" pitchFamily="49" charset="-122"/>
              </a:rPr>
              <a:t>)</a:t>
            </a:r>
          </a:p>
        </p:txBody>
      </p:sp>
      <p:sp>
        <p:nvSpPr>
          <p:cNvPr id="175134" name="Rectangle 30"/>
          <p:cNvSpPr>
            <a:spLocks noChangeArrowheads="1"/>
          </p:cNvSpPr>
          <p:nvPr/>
        </p:nvSpPr>
        <p:spPr bwMode="auto">
          <a:xfrm>
            <a:off x="835015" y="6092652"/>
            <a:ext cx="7593747" cy="466725"/>
          </a:xfrm>
          <a:prstGeom prst="rect">
            <a:avLst/>
          </a:prstGeom>
          <a:solidFill>
            <a:srgbClr val="CCCCFF"/>
          </a:solidFill>
          <a:ln w="9525">
            <a:solidFill>
              <a:srgbClr val="CC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solidFill>
                  <a:srgbClr val="FF0000"/>
                </a:solidFill>
                <a:latin typeface="楷体" panose="02010609060101010101" pitchFamily="49" charset="-122"/>
                <a:ea typeface="楷体" panose="02010609060101010101" pitchFamily="49" charset="-122"/>
              </a:rPr>
              <a:t>解题思路：外力</a:t>
            </a:r>
            <a:r>
              <a:rPr kumimoji="1" lang="en-US" altLang="en-US" sz="2400" b="1" dirty="0">
                <a:solidFill>
                  <a:srgbClr val="FF0000"/>
                </a:solidFill>
                <a:latin typeface="楷体" panose="02010609060101010101" pitchFamily="49" charset="-122"/>
                <a:ea typeface="楷体" panose="02010609060101010101" pitchFamily="49" charset="-122"/>
              </a:rPr>
              <a:t>→</a:t>
            </a:r>
            <a:r>
              <a:rPr kumimoji="1" lang="zh-CN" altLang="en-US" sz="2400" b="1" dirty="0">
                <a:solidFill>
                  <a:srgbClr val="FF0000"/>
                </a:solidFill>
                <a:latin typeface="楷体" panose="02010609060101010101" pitchFamily="49" charset="-122"/>
                <a:ea typeface="楷体" panose="02010609060101010101" pitchFamily="49" charset="-122"/>
              </a:rPr>
              <a:t>内力</a:t>
            </a:r>
            <a:r>
              <a:rPr kumimoji="1" lang="en-US" altLang="en-US" sz="2400" b="1" dirty="0">
                <a:solidFill>
                  <a:srgbClr val="FF0000"/>
                </a:solidFill>
                <a:latin typeface="楷体" panose="02010609060101010101" pitchFamily="49" charset="-122"/>
                <a:ea typeface="楷体" panose="02010609060101010101" pitchFamily="49" charset="-122"/>
              </a:rPr>
              <a:t>→</a:t>
            </a:r>
            <a:r>
              <a:rPr kumimoji="1" lang="zh-CN" altLang="en-US" sz="2400" b="1" dirty="0">
                <a:solidFill>
                  <a:srgbClr val="FF0000"/>
                </a:solidFill>
                <a:latin typeface="楷体" panose="02010609060101010101" pitchFamily="49" charset="-122"/>
                <a:ea typeface="楷体" panose="02010609060101010101" pitchFamily="49" charset="-122"/>
              </a:rPr>
              <a:t>应力</a:t>
            </a:r>
            <a:r>
              <a:rPr kumimoji="1" lang="en-US" altLang="en-US" sz="2400" b="1" dirty="0">
                <a:solidFill>
                  <a:srgbClr val="FF0000"/>
                </a:solidFill>
                <a:latin typeface="楷体" panose="02010609060101010101" pitchFamily="49" charset="-122"/>
                <a:ea typeface="楷体" panose="02010609060101010101" pitchFamily="49" charset="-122"/>
              </a:rPr>
              <a:t>→</a:t>
            </a:r>
            <a:r>
              <a:rPr kumimoji="1" lang="zh-CN" altLang="en-US" sz="2400" b="1" dirty="0">
                <a:solidFill>
                  <a:srgbClr val="FF0000"/>
                </a:solidFill>
                <a:latin typeface="楷体" panose="02010609060101010101" pitchFamily="49" charset="-122"/>
                <a:ea typeface="楷体" panose="02010609060101010101" pitchFamily="49" charset="-122"/>
              </a:rPr>
              <a:t>强度条件</a:t>
            </a:r>
            <a:r>
              <a:rPr kumimoji="1" lang="en-US" altLang="en-US" sz="2400" b="1" dirty="0">
                <a:solidFill>
                  <a:srgbClr val="FF0000"/>
                </a:solidFill>
                <a:latin typeface="楷体" panose="02010609060101010101" pitchFamily="49" charset="-122"/>
                <a:ea typeface="楷体" panose="02010609060101010101" pitchFamily="49" charset="-122"/>
              </a:rPr>
              <a:t>→</a:t>
            </a:r>
            <a:r>
              <a:rPr kumimoji="1" lang="zh-CN" altLang="en-US" sz="2400" b="1" dirty="0">
                <a:solidFill>
                  <a:srgbClr val="FF0000"/>
                </a:solidFill>
                <a:latin typeface="楷体" panose="02010609060101010101" pitchFamily="49" charset="-122"/>
                <a:ea typeface="楷体" panose="02010609060101010101" pitchFamily="49" charset="-122"/>
              </a:rPr>
              <a:t>结果或结论</a:t>
            </a:r>
          </a:p>
        </p:txBody>
      </p:sp>
      <p:grpSp>
        <p:nvGrpSpPr>
          <p:cNvPr id="2" name="组合 1"/>
          <p:cNvGrpSpPr/>
          <p:nvPr/>
        </p:nvGrpSpPr>
        <p:grpSpPr>
          <a:xfrm>
            <a:off x="4079355" y="2290174"/>
            <a:ext cx="936114" cy="1236342"/>
            <a:chOff x="5544174" y="2229878"/>
            <a:chExt cx="936114" cy="1236342"/>
          </a:xfrm>
        </p:grpSpPr>
        <p:sp>
          <p:nvSpPr>
            <p:cNvPr id="66" name="Rectangle 10"/>
            <p:cNvSpPr>
              <a:spLocks noChangeArrowheads="1"/>
            </p:cNvSpPr>
            <p:nvPr/>
          </p:nvSpPr>
          <p:spPr bwMode="auto">
            <a:xfrm>
              <a:off x="5900239" y="2494670"/>
              <a:ext cx="223838" cy="971550"/>
            </a:xfrm>
            <a:prstGeom prst="rect">
              <a:avLst/>
            </a:prstGeom>
            <a:solidFill>
              <a:srgbClr val="00B0F0"/>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67" name="Line 16"/>
            <p:cNvSpPr>
              <a:spLocks noChangeShapeType="1"/>
            </p:cNvSpPr>
            <p:nvPr/>
          </p:nvSpPr>
          <p:spPr bwMode="auto">
            <a:xfrm>
              <a:off x="5628262" y="2728567"/>
              <a:ext cx="234950" cy="0"/>
            </a:xfrm>
            <a:prstGeom prst="line">
              <a:avLst/>
            </a:prstGeom>
            <a:noFill/>
            <a:ln w="25400">
              <a:solidFill>
                <a:srgbClr val="FF0000"/>
              </a:solidFill>
              <a:round/>
              <a:headEnd type="none"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Line 16"/>
            <p:cNvSpPr>
              <a:spLocks noChangeShapeType="1"/>
            </p:cNvSpPr>
            <p:nvPr/>
          </p:nvSpPr>
          <p:spPr bwMode="auto">
            <a:xfrm>
              <a:off x="5628262" y="2959721"/>
              <a:ext cx="234950" cy="0"/>
            </a:xfrm>
            <a:prstGeom prst="line">
              <a:avLst/>
            </a:prstGeom>
            <a:noFill/>
            <a:ln w="25400">
              <a:solidFill>
                <a:srgbClr val="FF0000"/>
              </a:solidFill>
              <a:round/>
              <a:headEnd type="none"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 name="Line 16"/>
            <p:cNvSpPr>
              <a:spLocks noChangeShapeType="1"/>
            </p:cNvSpPr>
            <p:nvPr/>
          </p:nvSpPr>
          <p:spPr bwMode="auto">
            <a:xfrm>
              <a:off x="5626259" y="3184030"/>
              <a:ext cx="234950" cy="0"/>
            </a:xfrm>
            <a:prstGeom prst="line">
              <a:avLst/>
            </a:prstGeom>
            <a:noFill/>
            <a:ln w="25400">
              <a:solidFill>
                <a:srgbClr val="FF0000"/>
              </a:solidFill>
              <a:round/>
              <a:headEnd type="none"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 name="Rectangle 24"/>
            <p:cNvSpPr>
              <a:spLocks noChangeArrowheads="1"/>
            </p:cNvSpPr>
            <p:nvPr/>
          </p:nvSpPr>
          <p:spPr bwMode="auto">
            <a:xfrm>
              <a:off x="5544174" y="2229878"/>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400" b="1" i="1" dirty="0">
                  <a:solidFill>
                    <a:srgbClr val="FF0000"/>
                  </a:solidFill>
                  <a:latin typeface="Times New Roman" panose="02020603050405020304" pitchFamily="18" charset="0"/>
                  <a:ea typeface="宋体" panose="02010600030101010101" pitchFamily="2" charset="-122"/>
                </a:rPr>
                <a:t>q</a:t>
              </a:r>
              <a:endParaRPr kumimoji="1" lang="en-US" altLang="zh-CN" sz="2400" b="1" i="1" dirty="0">
                <a:solidFill>
                  <a:srgbClr val="FF0000"/>
                </a:solidFill>
                <a:latin typeface="Times New Roman" panose="02020603050405020304" pitchFamily="18" charset="0"/>
                <a:ea typeface="'宋体" pitchFamily="34" charset="-122"/>
              </a:endParaRPr>
            </a:p>
          </p:txBody>
        </p:sp>
        <p:sp>
          <p:nvSpPr>
            <p:cNvPr id="71" name="Rectangle 11"/>
            <p:cNvSpPr>
              <a:spLocks noChangeArrowheads="1"/>
            </p:cNvSpPr>
            <p:nvPr/>
          </p:nvSpPr>
          <p:spPr bwMode="auto">
            <a:xfrm>
              <a:off x="6120288" y="2878842"/>
              <a:ext cx="360000" cy="231775"/>
            </a:xfrm>
            <a:prstGeom prst="rect">
              <a:avLst/>
            </a:prstGeom>
            <a:solidFill>
              <a:srgbClr val="92D050"/>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grpSp>
      <p:grpSp>
        <p:nvGrpSpPr>
          <p:cNvPr id="72" name="Group 41"/>
          <p:cNvGrpSpPr>
            <a:grpSpLocks/>
          </p:cNvGrpSpPr>
          <p:nvPr/>
        </p:nvGrpSpPr>
        <p:grpSpPr bwMode="auto">
          <a:xfrm>
            <a:off x="5014467" y="2487677"/>
            <a:ext cx="652166" cy="558802"/>
            <a:chOff x="4772" y="2242"/>
            <a:chExt cx="315" cy="352"/>
          </a:xfrm>
        </p:grpSpPr>
        <p:sp>
          <p:nvSpPr>
            <p:cNvPr id="73" name="Line 42"/>
            <p:cNvSpPr>
              <a:spLocks noChangeShapeType="1"/>
            </p:cNvSpPr>
            <p:nvPr/>
          </p:nvSpPr>
          <p:spPr bwMode="auto">
            <a:xfrm rot="5400000" flipV="1">
              <a:off x="4911" y="2463"/>
              <a:ext cx="0" cy="261"/>
            </a:xfrm>
            <a:prstGeom prst="line">
              <a:avLst/>
            </a:prstGeom>
            <a:noFill/>
            <a:ln w="38100">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 name="Rectangle 43"/>
            <p:cNvSpPr>
              <a:spLocks noChangeArrowheads="1"/>
            </p:cNvSpPr>
            <p:nvPr/>
          </p:nvSpPr>
          <p:spPr bwMode="auto">
            <a:xfrm>
              <a:off x="4772" y="2242"/>
              <a:ext cx="31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b="1" i="1" dirty="0">
                  <a:solidFill>
                    <a:srgbClr val="FF0000"/>
                  </a:solidFill>
                  <a:latin typeface="Times New Roman" panose="02020603050405020304" pitchFamily="18" charset="0"/>
                  <a:ea typeface="宋体" panose="02010600030101010101" pitchFamily="2" charset="-122"/>
                </a:rPr>
                <a:t>F</a:t>
              </a:r>
              <a:r>
                <a:rPr kumimoji="1" lang="en-US" altLang="zh-CN" b="1" baseline="-25000" dirty="0">
                  <a:solidFill>
                    <a:srgbClr val="FF0000"/>
                  </a:solidFill>
                  <a:latin typeface="Times New Roman" panose="02020603050405020304" pitchFamily="18" charset="0"/>
                  <a:ea typeface="宋体" panose="02010600030101010101" pitchFamily="2" charset="-122"/>
                </a:rPr>
                <a:t>N</a:t>
              </a:r>
            </a:p>
          </p:txBody>
        </p:sp>
      </p:grpSp>
      <p:grpSp>
        <p:nvGrpSpPr>
          <p:cNvPr id="3" name="组合 2"/>
          <p:cNvGrpSpPr/>
          <p:nvPr/>
        </p:nvGrpSpPr>
        <p:grpSpPr>
          <a:xfrm>
            <a:off x="5885846" y="2536537"/>
            <a:ext cx="581233" cy="1260000"/>
            <a:chOff x="4387206" y="2517587"/>
            <a:chExt cx="581233" cy="1260000"/>
          </a:xfrm>
        </p:grpSpPr>
        <p:sp>
          <p:nvSpPr>
            <p:cNvPr id="76" name="Line 5"/>
            <p:cNvSpPr>
              <a:spLocks noChangeShapeType="1"/>
            </p:cNvSpPr>
            <p:nvPr/>
          </p:nvSpPr>
          <p:spPr bwMode="auto">
            <a:xfrm>
              <a:off x="4387206" y="2517587"/>
              <a:ext cx="0" cy="1260000"/>
            </a:xfrm>
            <a:prstGeom prst="line">
              <a:avLst/>
            </a:prstGeom>
            <a:noFill/>
            <a:ln w="444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Line 19"/>
            <p:cNvSpPr>
              <a:spLocks noChangeShapeType="1"/>
            </p:cNvSpPr>
            <p:nvPr/>
          </p:nvSpPr>
          <p:spPr bwMode="auto">
            <a:xfrm flipH="1">
              <a:off x="4431250" y="2843623"/>
              <a:ext cx="236538" cy="0"/>
            </a:xfrm>
            <a:prstGeom prst="line">
              <a:avLst/>
            </a:prstGeom>
            <a:noFill/>
            <a:ln w="25400">
              <a:solidFill>
                <a:srgbClr val="FF0000"/>
              </a:solidFill>
              <a:round/>
              <a:headEnd type="none"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 name="Line 19"/>
            <p:cNvSpPr>
              <a:spLocks noChangeShapeType="1"/>
            </p:cNvSpPr>
            <p:nvPr/>
          </p:nvSpPr>
          <p:spPr bwMode="auto">
            <a:xfrm flipH="1">
              <a:off x="4431250" y="3074401"/>
              <a:ext cx="236538" cy="0"/>
            </a:xfrm>
            <a:prstGeom prst="line">
              <a:avLst/>
            </a:prstGeom>
            <a:noFill/>
            <a:ln w="25400">
              <a:solidFill>
                <a:srgbClr val="FF0000"/>
              </a:solidFill>
              <a:round/>
              <a:headEnd type="none"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 name="Line 19"/>
            <p:cNvSpPr>
              <a:spLocks noChangeShapeType="1"/>
            </p:cNvSpPr>
            <p:nvPr/>
          </p:nvSpPr>
          <p:spPr bwMode="auto">
            <a:xfrm flipH="1">
              <a:off x="4431250" y="3269622"/>
              <a:ext cx="236538" cy="0"/>
            </a:xfrm>
            <a:prstGeom prst="line">
              <a:avLst/>
            </a:prstGeom>
            <a:noFill/>
            <a:ln w="25400">
              <a:solidFill>
                <a:srgbClr val="FF0000"/>
              </a:solidFill>
              <a:round/>
              <a:headEnd type="none"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 name="Line 19"/>
            <p:cNvSpPr>
              <a:spLocks noChangeShapeType="1"/>
            </p:cNvSpPr>
            <p:nvPr/>
          </p:nvSpPr>
          <p:spPr bwMode="auto">
            <a:xfrm flipH="1">
              <a:off x="4431250" y="3476113"/>
              <a:ext cx="236538" cy="0"/>
            </a:xfrm>
            <a:prstGeom prst="line">
              <a:avLst/>
            </a:prstGeom>
            <a:noFill/>
            <a:ln w="25400">
              <a:solidFill>
                <a:srgbClr val="FF0000"/>
              </a:solidFill>
              <a:round/>
              <a:headEnd type="none"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Rectangle 24"/>
            <p:cNvSpPr>
              <a:spLocks noChangeArrowheads="1"/>
            </p:cNvSpPr>
            <p:nvPr/>
          </p:nvSpPr>
          <p:spPr bwMode="auto">
            <a:xfrm>
              <a:off x="4631889" y="2855831"/>
              <a:ext cx="33655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400" b="1" i="1" dirty="0">
                  <a:solidFill>
                    <a:srgbClr val="FF0000"/>
                  </a:solidFill>
                  <a:latin typeface="Times New Roman" panose="02020603050405020304" pitchFamily="18" charset="0"/>
                  <a:ea typeface="宋体" panose="02010600030101010101" pitchFamily="2" charset="-122"/>
                </a:rPr>
                <a:t>q</a:t>
              </a:r>
              <a:endParaRPr kumimoji="1" lang="en-US" altLang="zh-CN" sz="2400" b="1" i="1" dirty="0">
                <a:solidFill>
                  <a:srgbClr val="FF0000"/>
                </a:solidFill>
                <a:latin typeface="Times New Roman" panose="02020603050405020304" pitchFamily="18" charset="0"/>
                <a:ea typeface="'宋体" pitchFamily="34" charset="-122"/>
              </a:endParaRPr>
            </a:p>
          </p:txBody>
        </p:sp>
      </p:grpSp>
      <p:grpSp>
        <p:nvGrpSpPr>
          <p:cNvPr id="82" name="Group 41"/>
          <p:cNvGrpSpPr>
            <a:grpSpLocks/>
          </p:cNvGrpSpPr>
          <p:nvPr/>
        </p:nvGrpSpPr>
        <p:grpSpPr bwMode="auto">
          <a:xfrm>
            <a:off x="5907887" y="2310388"/>
            <a:ext cx="1277416" cy="461964"/>
            <a:chOff x="4780" y="2438"/>
            <a:chExt cx="617" cy="291"/>
          </a:xfrm>
        </p:grpSpPr>
        <p:sp>
          <p:nvSpPr>
            <p:cNvPr id="83" name="Line 42"/>
            <p:cNvSpPr>
              <a:spLocks noChangeShapeType="1"/>
            </p:cNvSpPr>
            <p:nvPr/>
          </p:nvSpPr>
          <p:spPr bwMode="auto">
            <a:xfrm rot="5400000" flipV="1">
              <a:off x="4911" y="2463"/>
              <a:ext cx="0" cy="261"/>
            </a:xfrm>
            <a:prstGeom prst="line">
              <a:avLst/>
            </a:prstGeom>
            <a:noFill/>
            <a:ln w="38100">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 name="Rectangle 43"/>
            <p:cNvSpPr>
              <a:spLocks noChangeArrowheads="1"/>
            </p:cNvSpPr>
            <p:nvPr/>
          </p:nvSpPr>
          <p:spPr bwMode="auto">
            <a:xfrm>
              <a:off x="5010" y="2438"/>
              <a:ext cx="38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b="1" i="1" dirty="0">
                  <a:solidFill>
                    <a:srgbClr val="FF0000"/>
                  </a:solidFill>
                  <a:latin typeface="Times New Roman" panose="02020603050405020304" pitchFamily="18" charset="0"/>
                  <a:ea typeface="宋体" panose="02010600030101010101" pitchFamily="2" charset="-122"/>
                </a:rPr>
                <a:t>F</a:t>
              </a:r>
              <a:r>
                <a:rPr kumimoji="1" lang="en-US" altLang="zh-CN" b="1" baseline="-25000" dirty="0">
                  <a:solidFill>
                    <a:srgbClr val="FF0000"/>
                  </a:solidFill>
                  <a:latin typeface="Times New Roman" panose="02020603050405020304" pitchFamily="18" charset="0"/>
                  <a:ea typeface="宋体" panose="02010600030101010101" pitchFamily="2" charset="-122"/>
                </a:rPr>
                <a:t>N</a:t>
              </a:r>
              <a:r>
                <a:rPr kumimoji="1" lang="en-US" altLang="zh-CN" b="1" dirty="0">
                  <a:solidFill>
                    <a:srgbClr val="FF0000"/>
                  </a:solidFill>
                  <a:latin typeface="Times New Roman" panose="02020603050405020304" pitchFamily="18" charset="0"/>
                  <a:ea typeface="宋体" panose="02010600030101010101" pitchFamily="2" charset="-122"/>
                </a:rPr>
                <a:t>/</a:t>
              </a:r>
              <a:r>
                <a:rPr kumimoji="1" lang="en-US" altLang="zh-CN" i="1" dirty="0">
                  <a:solidFill>
                    <a:srgbClr val="FF0000"/>
                  </a:solidFill>
                  <a:latin typeface="Times New Roman" panose="02020603050405020304" pitchFamily="18" charset="0"/>
                  <a:ea typeface="宋体" panose="02010600030101010101" pitchFamily="2" charset="-122"/>
                </a:rPr>
                <a:t>n</a:t>
              </a:r>
              <a:endParaRPr kumimoji="1" lang="en-US" altLang="zh-CN" i="1" baseline="-25000" dirty="0">
                <a:solidFill>
                  <a:srgbClr val="FF0000"/>
                </a:solidFill>
                <a:latin typeface="Times New Roman" panose="02020603050405020304" pitchFamily="18" charset="0"/>
                <a:ea typeface="宋体" panose="02010600030101010101" pitchFamily="2" charset="-122"/>
              </a:endParaRPr>
            </a:p>
          </p:txBody>
        </p:sp>
      </p:grpSp>
      <p:grpSp>
        <p:nvGrpSpPr>
          <p:cNvPr id="85" name="Group 41"/>
          <p:cNvGrpSpPr>
            <a:grpSpLocks/>
          </p:cNvGrpSpPr>
          <p:nvPr/>
        </p:nvGrpSpPr>
        <p:grpSpPr bwMode="auto">
          <a:xfrm>
            <a:off x="5907057" y="3462949"/>
            <a:ext cx="1358161" cy="461964"/>
            <a:chOff x="4780" y="2391"/>
            <a:chExt cx="656" cy="291"/>
          </a:xfrm>
        </p:grpSpPr>
        <p:sp>
          <p:nvSpPr>
            <p:cNvPr id="86" name="Line 42"/>
            <p:cNvSpPr>
              <a:spLocks noChangeShapeType="1"/>
            </p:cNvSpPr>
            <p:nvPr/>
          </p:nvSpPr>
          <p:spPr bwMode="auto">
            <a:xfrm rot="5400000" flipV="1">
              <a:off x="4911" y="2463"/>
              <a:ext cx="0" cy="261"/>
            </a:xfrm>
            <a:prstGeom prst="line">
              <a:avLst/>
            </a:prstGeom>
            <a:noFill/>
            <a:ln w="38100">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 name="Rectangle 43"/>
            <p:cNvSpPr>
              <a:spLocks noChangeArrowheads="1"/>
            </p:cNvSpPr>
            <p:nvPr/>
          </p:nvSpPr>
          <p:spPr bwMode="auto">
            <a:xfrm>
              <a:off x="5014" y="2391"/>
              <a:ext cx="42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b="1" i="1" dirty="0">
                  <a:solidFill>
                    <a:srgbClr val="FF0000"/>
                  </a:solidFill>
                  <a:latin typeface="Times New Roman" panose="02020603050405020304" pitchFamily="18" charset="0"/>
                  <a:ea typeface="宋体" panose="02010600030101010101" pitchFamily="2" charset="-122"/>
                </a:rPr>
                <a:t>F</a:t>
              </a:r>
              <a:r>
                <a:rPr kumimoji="1" lang="en-US" altLang="zh-CN" b="1" baseline="-25000" dirty="0">
                  <a:solidFill>
                    <a:srgbClr val="FF0000"/>
                  </a:solidFill>
                  <a:latin typeface="Times New Roman" panose="02020603050405020304" pitchFamily="18" charset="0"/>
                  <a:ea typeface="宋体" panose="02010600030101010101" pitchFamily="2" charset="-122"/>
                </a:rPr>
                <a:t>N</a:t>
              </a:r>
              <a:r>
                <a:rPr kumimoji="1" lang="en-US" altLang="zh-CN" b="1" dirty="0">
                  <a:solidFill>
                    <a:srgbClr val="FF0000"/>
                  </a:solidFill>
                  <a:latin typeface="Times New Roman" panose="02020603050405020304" pitchFamily="18" charset="0"/>
                  <a:ea typeface="宋体" panose="02010600030101010101" pitchFamily="2" charset="-122"/>
                </a:rPr>
                <a:t>/</a:t>
              </a:r>
              <a:r>
                <a:rPr kumimoji="1" lang="en-US" altLang="zh-CN" i="1" dirty="0">
                  <a:solidFill>
                    <a:srgbClr val="FF0000"/>
                  </a:solidFill>
                  <a:latin typeface="Times New Roman" panose="02020603050405020304" pitchFamily="18" charset="0"/>
                  <a:ea typeface="宋体" panose="02010600030101010101" pitchFamily="2" charset="-122"/>
                </a:rPr>
                <a:t>n</a:t>
              </a:r>
              <a:endParaRPr kumimoji="1" lang="en-US" altLang="zh-CN" i="1" baseline="-25000" dirty="0">
                <a:solidFill>
                  <a:srgbClr val="FF0000"/>
                </a:solidFill>
                <a:latin typeface="Times New Roman" panose="02020603050405020304" pitchFamily="18" charset="0"/>
                <a:ea typeface="宋体" panose="02010600030101010101" pitchFamily="2" charset="-122"/>
              </a:endParaRPr>
            </a:p>
          </p:txBody>
        </p:sp>
      </p:grpSp>
      <p:grpSp>
        <p:nvGrpSpPr>
          <p:cNvPr id="88" name="组合 87"/>
          <p:cNvGrpSpPr/>
          <p:nvPr/>
        </p:nvGrpSpPr>
        <p:grpSpPr>
          <a:xfrm>
            <a:off x="5054101" y="195521"/>
            <a:ext cx="3505594" cy="2160270"/>
            <a:chOff x="6379336" y="1060703"/>
            <a:chExt cx="3505594" cy="2160270"/>
          </a:xfrm>
        </p:grpSpPr>
        <p:sp>
          <p:nvSpPr>
            <p:cNvPr id="89" name="object 95"/>
            <p:cNvSpPr/>
            <p:nvPr/>
          </p:nvSpPr>
          <p:spPr>
            <a:xfrm>
              <a:off x="6799974" y="1060703"/>
              <a:ext cx="64769" cy="2160270"/>
            </a:xfrm>
            <a:custGeom>
              <a:avLst/>
              <a:gdLst/>
              <a:ahLst/>
              <a:cxnLst/>
              <a:rect l="l" t="t" r="r" b="b"/>
              <a:pathLst>
                <a:path w="64770" h="2160270">
                  <a:moveTo>
                    <a:pt x="64770" y="2160270"/>
                  </a:moveTo>
                  <a:lnTo>
                    <a:pt x="50292" y="0"/>
                  </a:lnTo>
                  <a:lnTo>
                    <a:pt x="0" y="0"/>
                  </a:lnTo>
                  <a:lnTo>
                    <a:pt x="13716" y="2160270"/>
                  </a:lnTo>
                  <a:lnTo>
                    <a:pt x="64770" y="2160270"/>
                  </a:lnTo>
                  <a:close/>
                </a:path>
              </a:pathLst>
            </a:custGeom>
            <a:solidFill>
              <a:srgbClr val="0F1A81"/>
            </a:solidFill>
          </p:spPr>
          <p:txBody>
            <a:bodyPr wrap="square" lIns="0" tIns="0" rIns="0" bIns="0" rtlCol="0"/>
            <a:lstStyle/>
            <a:p>
              <a:endParaRPr/>
            </a:p>
          </p:txBody>
        </p:sp>
        <p:sp>
          <p:nvSpPr>
            <p:cNvPr id="90" name="object 96"/>
            <p:cNvSpPr/>
            <p:nvPr/>
          </p:nvSpPr>
          <p:spPr>
            <a:xfrm>
              <a:off x="6887223" y="1076705"/>
              <a:ext cx="0" cy="55244"/>
            </a:xfrm>
            <a:custGeom>
              <a:avLst/>
              <a:gdLst/>
              <a:ahLst/>
              <a:cxnLst/>
              <a:rect l="l" t="t" r="r" b="b"/>
              <a:pathLst>
                <a:path h="55244">
                  <a:moveTo>
                    <a:pt x="0" y="0"/>
                  </a:moveTo>
                  <a:lnTo>
                    <a:pt x="0" y="54863"/>
                  </a:lnTo>
                </a:path>
              </a:pathLst>
            </a:custGeom>
            <a:ln w="51053">
              <a:solidFill>
                <a:srgbClr val="0F1A81"/>
              </a:solidFill>
            </a:ln>
          </p:spPr>
          <p:txBody>
            <a:bodyPr wrap="square" lIns="0" tIns="0" rIns="0" bIns="0" rtlCol="0"/>
            <a:lstStyle/>
            <a:p>
              <a:endParaRPr/>
            </a:p>
          </p:txBody>
        </p:sp>
        <p:sp>
          <p:nvSpPr>
            <p:cNvPr id="91" name="object 97"/>
            <p:cNvSpPr/>
            <p:nvPr/>
          </p:nvSpPr>
          <p:spPr>
            <a:xfrm>
              <a:off x="6887223" y="1184910"/>
              <a:ext cx="0" cy="107950"/>
            </a:xfrm>
            <a:custGeom>
              <a:avLst/>
              <a:gdLst/>
              <a:ahLst/>
              <a:cxnLst/>
              <a:rect l="l" t="t" r="r" b="b"/>
              <a:pathLst>
                <a:path h="107950">
                  <a:moveTo>
                    <a:pt x="0" y="0"/>
                  </a:moveTo>
                  <a:lnTo>
                    <a:pt x="0" y="107442"/>
                  </a:lnTo>
                </a:path>
              </a:pathLst>
            </a:custGeom>
            <a:ln w="51053">
              <a:solidFill>
                <a:srgbClr val="0F1A81"/>
              </a:solidFill>
            </a:ln>
          </p:spPr>
          <p:txBody>
            <a:bodyPr wrap="square" lIns="0" tIns="0" rIns="0" bIns="0" rtlCol="0"/>
            <a:lstStyle/>
            <a:p>
              <a:endParaRPr/>
            </a:p>
          </p:txBody>
        </p:sp>
        <p:sp>
          <p:nvSpPr>
            <p:cNvPr id="92" name="object 98"/>
            <p:cNvSpPr/>
            <p:nvPr/>
          </p:nvSpPr>
          <p:spPr>
            <a:xfrm>
              <a:off x="6880745" y="1271777"/>
              <a:ext cx="2590800" cy="0"/>
            </a:xfrm>
            <a:custGeom>
              <a:avLst/>
              <a:gdLst/>
              <a:ahLst/>
              <a:cxnLst/>
              <a:rect l="l" t="t" r="r" b="b"/>
              <a:pathLst>
                <a:path w="2590800">
                  <a:moveTo>
                    <a:pt x="0" y="0"/>
                  </a:moveTo>
                  <a:lnTo>
                    <a:pt x="2590800" y="0"/>
                  </a:lnTo>
                </a:path>
              </a:pathLst>
            </a:custGeom>
            <a:ln w="50291">
              <a:solidFill>
                <a:srgbClr val="0F1A81"/>
              </a:solidFill>
            </a:ln>
          </p:spPr>
          <p:txBody>
            <a:bodyPr wrap="square" lIns="0" tIns="0" rIns="0" bIns="0" rtlCol="0"/>
            <a:lstStyle/>
            <a:p>
              <a:endParaRPr/>
            </a:p>
          </p:txBody>
        </p:sp>
        <p:sp>
          <p:nvSpPr>
            <p:cNvPr id="93" name="object 99"/>
            <p:cNvSpPr/>
            <p:nvPr/>
          </p:nvSpPr>
          <p:spPr>
            <a:xfrm>
              <a:off x="6876160" y="3008376"/>
              <a:ext cx="2590800" cy="0"/>
            </a:xfrm>
            <a:custGeom>
              <a:avLst/>
              <a:gdLst/>
              <a:ahLst/>
              <a:cxnLst/>
              <a:rect l="l" t="t" r="r" b="b"/>
              <a:pathLst>
                <a:path w="2590800">
                  <a:moveTo>
                    <a:pt x="0" y="0"/>
                  </a:moveTo>
                  <a:lnTo>
                    <a:pt x="2590800" y="0"/>
                  </a:lnTo>
                </a:path>
              </a:pathLst>
            </a:custGeom>
            <a:ln w="50292">
              <a:solidFill>
                <a:srgbClr val="0F1A81"/>
              </a:solidFill>
            </a:ln>
          </p:spPr>
          <p:txBody>
            <a:bodyPr wrap="square" lIns="0" tIns="0" rIns="0" bIns="0" rtlCol="0"/>
            <a:lstStyle/>
            <a:p>
              <a:endParaRPr/>
            </a:p>
          </p:txBody>
        </p:sp>
        <p:sp>
          <p:nvSpPr>
            <p:cNvPr id="94" name="object 100"/>
            <p:cNvSpPr/>
            <p:nvPr/>
          </p:nvSpPr>
          <p:spPr>
            <a:xfrm>
              <a:off x="6901306" y="2986277"/>
              <a:ext cx="0" cy="115570"/>
            </a:xfrm>
            <a:custGeom>
              <a:avLst/>
              <a:gdLst/>
              <a:ahLst/>
              <a:cxnLst/>
              <a:rect l="l" t="t" r="r" b="b"/>
              <a:pathLst>
                <a:path h="115569">
                  <a:moveTo>
                    <a:pt x="0" y="0"/>
                  </a:moveTo>
                  <a:lnTo>
                    <a:pt x="0" y="115061"/>
                  </a:lnTo>
                </a:path>
              </a:pathLst>
            </a:custGeom>
            <a:ln w="46482">
              <a:solidFill>
                <a:srgbClr val="0F1A81"/>
              </a:solidFill>
            </a:ln>
          </p:spPr>
          <p:txBody>
            <a:bodyPr wrap="square" lIns="0" tIns="0" rIns="0" bIns="0" rtlCol="0"/>
            <a:lstStyle/>
            <a:p>
              <a:endParaRPr/>
            </a:p>
          </p:txBody>
        </p:sp>
        <p:sp>
          <p:nvSpPr>
            <p:cNvPr id="95" name="object 101"/>
            <p:cNvSpPr/>
            <p:nvPr/>
          </p:nvSpPr>
          <p:spPr>
            <a:xfrm>
              <a:off x="6876160" y="3178682"/>
              <a:ext cx="50800" cy="0"/>
            </a:xfrm>
            <a:custGeom>
              <a:avLst/>
              <a:gdLst/>
              <a:ahLst/>
              <a:cxnLst/>
              <a:rect l="l" t="t" r="r" b="b"/>
              <a:pathLst>
                <a:path w="50800">
                  <a:moveTo>
                    <a:pt x="0" y="0"/>
                  </a:moveTo>
                  <a:lnTo>
                    <a:pt x="50292" y="0"/>
                  </a:lnTo>
                </a:path>
              </a:pathLst>
            </a:custGeom>
            <a:ln w="46482">
              <a:solidFill>
                <a:srgbClr val="0F1A81"/>
              </a:solidFill>
            </a:ln>
          </p:spPr>
          <p:txBody>
            <a:bodyPr wrap="square" lIns="0" tIns="0" rIns="0" bIns="0" rtlCol="0"/>
            <a:lstStyle/>
            <a:p>
              <a:endParaRPr/>
            </a:p>
          </p:txBody>
        </p:sp>
        <p:sp>
          <p:nvSpPr>
            <p:cNvPr id="96" name="object 102"/>
            <p:cNvSpPr/>
            <p:nvPr/>
          </p:nvSpPr>
          <p:spPr>
            <a:xfrm>
              <a:off x="7725041" y="1319022"/>
              <a:ext cx="216535" cy="1637030"/>
            </a:xfrm>
            <a:custGeom>
              <a:avLst/>
              <a:gdLst/>
              <a:ahLst/>
              <a:cxnLst/>
              <a:rect l="l" t="t" r="r" b="b"/>
              <a:pathLst>
                <a:path w="216534" h="1637030">
                  <a:moveTo>
                    <a:pt x="0" y="0"/>
                  </a:moveTo>
                  <a:lnTo>
                    <a:pt x="0" y="1636776"/>
                  </a:lnTo>
                  <a:lnTo>
                    <a:pt x="216407" y="1636776"/>
                  </a:lnTo>
                  <a:lnTo>
                    <a:pt x="216407" y="0"/>
                  </a:lnTo>
                  <a:lnTo>
                    <a:pt x="0" y="0"/>
                  </a:lnTo>
                  <a:close/>
                </a:path>
              </a:pathLst>
            </a:custGeom>
            <a:solidFill>
              <a:srgbClr val="00CCFF"/>
            </a:solidFill>
          </p:spPr>
          <p:txBody>
            <a:bodyPr wrap="square" lIns="0" tIns="0" rIns="0" bIns="0" rtlCol="0"/>
            <a:lstStyle/>
            <a:p>
              <a:endParaRPr/>
            </a:p>
          </p:txBody>
        </p:sp>
        <p:sp>
          <p:nvSpPr>
            <p:cNvPr id="97" name="object 103"/>
            <p:cNvSpPr/>
            <p:nvPr/>
          </p:nvSpPr>
          <p:spPr>
            <a:xfrm>
              <a:off x="7712836" y="1306830"/>
              <a:ext cx="241300" cy="1662430"/>
            </a:xfrm>
            <a:custGeom>
              <a:avLst/>
              <a:gdLst/>
              <a:ahLst/>
              <a:cxnLst/>
              <a:rect l="l" t="t" r="r" b="b"/>
              <a:pathLst>
                <a:path w="241300" h="1662430">
                  <a:moveTo>
                    <a:pt x="240792" y="1661922"/>
                  </a:moveTo>
                  <a:lnTo>
                    <a:pt x="240792" y="0"/>
                  </a:lnTo>
                  <a:lnTo>
                    <a:pt x="0" y="0"/>
                  </a:lnTo>
                  <a:lnTo>
                    <a:pt x="0" y="1661922"/>
                  </a:lnTo>
                  <a:lnTo>
                    <a:pt x="12204" y="1661922"/>
                  </a:lnTo>
                  <a:lnTo>
                    <a:pt x="12204" y="25146"/>
                  </a:lnTo>
                  <a:lnTo>
                    <a:pt x="25158" y="12192"/>
                  </a:lnTo>
                  <a:lnTo>
                    <a:pt x="25158" y="25146"/>
                  </a:lnTo>
                  <a:lnTo>
                    <a:pt x="215658" y="25146"/>
                  </a:lnTo>
                  <a:lnTo>
                    <a:pt x="215658" y="12192"/>
                  </a:lnTo>
                  <a:lnTo>
                    <a:pt x="228600" y="25146"/>
                  </a:lnTo>
                  <a:lnTo>
                    <a:pt x="228600" y="1661922"/>
                  </a:lnTo>
                  <a:lnTo>
                    <a:pt x="240792" y="1661922"/>
                  </a:lnTo>
                  <a:close/>
                </a:path>
                <a:path w="241300" h="1662430">
                  <a:moveTo>
                    <a:pt x="25158" y="25146"/>
                  </a:moveTo>
                  <a:lnTo>
                    <a:pt x="25158" y="12192"/>
                  </a:lnTo>
                  <a:lnTo>
                    <a:pt x="12204" y="25146"/>
                  </a:lnTo>
                  <a:lnTo>
                    <a:pt x="25158" y="25146"/>
                  </a:lnTo>
                  <a:close/>
                </a:path>
                <a:path w="241300" h="1662430">
                  <a:moveTo>
                    <a:pt x="25158" y="1636776"/>
                  </a:moveTo>
                  <a:lnTo>
                    <a:pt x="25158" y="25146"/>
                  </a:lnTo>
                  <a:lnTo>
                    <a:pt x="12204" y="25146"/>
                  </a:lnTo>
                  <a:lnTo>
                    <a:pt x="12204" y="1636776"/>
                  </a:lnTo>
                  <a:lnTo>
                    <a:pt x="25158" y="1636776"/>
                  </a:lnTo>
                  <a:close/>
                </a:path>
                <a:path w="241300" h="1662430">
                  <a:moveTo>
                    <a:pt x="228600" y="1636776"/>
                  </a:moveTo>
                  <a:lnTo>
                    <a:pt x="12204" y="1636776"/>
                  </a:lnTo>
                  <a:lnTo>
                    <a:pt x="25158" y="1648968"/>
                  </a:lnTo>
                  <a:lnTo>
                    <a:pt x="25158" y="1661922"/>
                  </a:lnTo>
                  <a:lnTo>
                    <a:pt x="215658" y="1661922"/>
                  </a:lnTo>
                  <a:lnTo>
                    <a:pt x="215658" y="1648968"/>
                  </a:lnTo>
                  <a:lnTo>
                    <a:pt x="228600" y="1636776"/>
                  </a:lnTo>
                  <a:close/>
                </a:path>
                <a:path w="241300" h="1662430">
                  <a:moveTo>
                    <a:pt x="25158" y="1661922"/>
                  </a:moveTo>
                  <a:lnTo>
                    <a:pt x="25158" y="1648968"/>
                  </a:lnTo>
                  <a:lnTo>
                    <a:pt x="12204" y="1636776"/>
                  </a:lnTo>
                  <a:lnTo>
                    <a:pt x="12204" y="1661922"/>
                  </a:lnTo>
                  <a:lnTo>
                    <a:pt x="25158" y="1661922"/>
                  </a:lnTo>
                  <a:close/>
                </a:path>
                <a:path w="241300" h="1662430">
                  <a:moveTo>
                    <a:pt x="228600" y="25146"/>
                  </a:moveTo>
                  <a:lnTo>
                    <a:pt x="215658" y="12192"/>
                  </a:lnTo>
                  <a:lnTo>
                    <a:pt x="215658" y="25146"/>
                  </a:lnTo>
                  <a:lnTo>
                    <a:pt x="228600" y="25146"/>
                  </a:lnTo>
                  <a:close/>
                </a:path>
                <a:path w="241300" h="1662430">
                  <a:moveTo>
                    <a:pt x="228600" y="1636776"/>
                  </a:moveTo>
                  <a:lnTo>
                    <a:pt x="228600" y="25146"/>
                  </a:lnTo>
                  <a:lnTo>
                    <a:pt x="215658" y="25146"/>
                  </a:lnTo>
                  <a:lnTo>
                    <a:pt x="215658" y="1636776"/>
                  </a:lnTo>
                  <a:lnTo>
                    <a:pt x="228600" y="1636776"/>
                  </a:lnTo>
                  <a:close/>
                </a:path>
                <a:path w="241300" h="1662430">
                  <a:moveTo>
                    <a:pt x="228600" y="1661922"/>
                  </a:moveTo>
                  <a:lnTo>
                    <a:pt x="228600" y="1636776"/>
                  </a:lnTo>
                  <a:lnTo>
                    <a:pt x="215658" y="1648968"/>
                  </a:lnTo>
                  <a:lnTo>
                    <a:pt x="215658" y="1661922"/>
                  </a:lnTo>
                  <a:lnTo>
                    <a:pt x="228600" y="1661922"/>
                  </a:lnTo>
                  <a:close/>
                </a:path>
              </a:pathLst>
            </a:custGeom>
            <a:solidFill>
              <a:srgbClr val="000000"/>
            </a:solidFill>
          </p:spPr>
          <p:txBody>
            <a:bodyPr wrap="square" lIns="0" tIns="0" rIns="0" bIns="0" rtlCol="0"/>
            <a:lstStyle/>
            <a:p>
              <a:endParaRPr/>
            </a:p>
          </p:txBody>
        </p:sp>
        <p:sp>
          <p:nvSpPr>
            <p:cNvPr id="98" name="object 104"/>
            <p:cNvSpPr/>
            <p:nvPr/>
          </p:nvSpPr>
          <p:spPr>
            <a:xfrm>
              <a:off x="7939913" y="1987295"/>
              <a:ext cx="1403350" cy="232410"/>
            </a:xfrm>
            <a:custGeom>
              <a:avLst/>
              <a:gdLst/>
              <a:ahLst/>
              <a:cxnLst/>
              <a:rect l="l" t="t" r="r" b="b"/>
              <a:pathLst>
                <a:path w="1403350" h="232410">
                  <a:moveTo>
                    <a:pt x="0" y="0"/>
                  </a:moveTo>
                  <a:lnTo>
                    <a:pt x="0" y="232410"/>
                  </a:lnTo>
                  <a:lnTo>
                    <a:pt x="1402842" y="232410"/>
                  </a:lnTo>
                  <a:lnTo>
                    <a:pt x="1402842" y="0"/>
                  </a:lnTo>
                  <a:lnTo>
                    <a:pt x="0" y="0"/>
                  </a:lnTo>
                  <a:close/>
                </a:path>
              </a:pathLst>
            </a:custGeom>
            <a:solidFill>
              <a:srgbClr val="A4C226"/>
            </a:solidFill>
          </p:spPr>
          <p:txBody>
            <a:bodyPr wrap="square" lIns="0" tIns="0" rIns="0" bIns="0" rtlCol="0"/>
            <a:lstStyle/>
            <a:p>
              <a:endParaRPr/>
            </a:p>
          </p:txBody>
        </p:sp>
        <p:sp>
          <p:nvSpPr>
            <p:cNvPr id="99" name="object 105"/>
            <p:cNvSpPr/>
            <p:nvPr/>
          </p:nvSpPr>
          <p:spPr>
            <a:xfrm>
              <a:off x="7926971" y="1975104"/>
              <a:ext cx="1428750" cy="257175"/>
            </a:xfrm>
            <a:custGeom>
              <a:avLst/>
              <a:gdLst/>
              <a:ahLst/>
              <a:cxnLst/>
              <a:rect l="l" t="t" r="r" b="b"/>
              <a:pathLst>
                <a:path w="1428750" h="257175">
                  <a:moveTo>
                    <a:pt x="1428750" y="256793"/>
                  </a:moveTo>
                  <a:lnTo>
                    <a:pt x="1428750" y="0"/>
                  </a:lnTo>
                  <a:lnTo>
                    <a:pt x="0" y="0"/>
                  </a:lnTo>
                  <a:lnTo>
                    <a:pt x="0" y="256794"/>
                  </a:lnTo>
                  <a:lnTo>
                    <a:pt x="12941" y="256794"/>
                  </a:lnTo>
                  <a:lnTo>
                    <a:pt x="12941" y="25145"/>
                  </a:lnTo>
                  <a:lnTo>
                    <a:pt x="25145" y="12191"/>
                  </a:lnTo>
                  <a:lnTo>
                    <a:pt x="25145" y="25145"/>
                  </a:lnTo>
                  <a:lnTo>
                    <a:pt x="1403603" y="25145"/>
                  </a:lnTo>
                  <a:lnTo>
                    <a:pt x="1403603" y="12191"/>
                  </a:lnTo>
                  <a:lnTo>
                    <a:pt x="1415795" y="25145"/>
                  </a:lnTo>
                  <a:lnTo>
                    <a:pt x="1415795" y="256793"/>
                  </a:lnTo>
                  <a:lnTo>
                    <a:pt x="1428750" y="256793"/>
                  </a:lnTo>
                  <a:close/>
                </a:path>
                <a:path w="1428750" h="257175">
                  <a:moveTo>
                    <a:pt x="25145" y="25145"/>
                  </a:moveTo>
                  <a:lnTo>
                    <a:pt x="25145" y="12191"/>
                  </a:lnTo>
                  <a:lnTo>
                    <a:pt x="12941" y="25145"/>
                  </a:lnTo>
                  <a:lnTo>
                    <a:pt x="25145" y="25145"/>
                  </a:lnTo>
                  <a:close/>
                </a:path>
                <a:path w="1428750" h="257175">
                  <a:moveTo>
                    <a:pt x="25145" y="231647"/>
                  </a:moveTo>
                  <a:lnTo>
                    <a:pt x="25145" y="25145"/>
                  </a:lnTo>
                  <a:lnTo>
                    <a:pt x="12941" y="25145"/>
                  </a:lnTo>
                  <a:lnTo>
                    <a:pt x="12941" y="231647"/>
                  </a:lnTo>
                  <a:lnTo>
                    <a:pt x="25145" y="231647"/>
                  </a:lnTo>
                  <a:close/>
                </a:path>
                <a:path w="1428750" h="257175">
                  <a:moveTo>
                    <a:pt x="1415795" y="231647"/>
                  </a:moveTo>
                  <a:lnTo>
                    <a:pt x="12941" y="231647"/>
                  </a:lnTo>
                  <a:lnTo>
                    <a:pt x="25145" y="244601"/>
                  </a:lnTo>
                  <a:lnTo>
                    <a:pt x="25145" y="256794"/>
                  </a:lnTo>
                  <a:lnTo>
                    <a:pt x="1403603" y="256793"/>
                  </a:lnTo>
                  <a:lnTo>
                    <a:pt x="1403603" y="244601"/>
                  </a:lnTo>
                  <a:lnTo>
                    <a:pt x="1415795" y="231647"/>
                  </a:lnTo>
                  <a:close/>
                </a:path>
                <a:path w="1428750" h="257175">
                  <a:moveTo>
                    <a:pt x="25145" y="256794"/>
                  </a:moveTo>
                  <a:lnTo>
                    <a:pt x="25145" y="244601"/>
                  </a:lnTo>
                  <a:lnTo>
                    <a:pt x="12941" y="231647"/>
                  </a:lnTo>
                  <a:lnTo>
                    <a:pt x="12941" y="256794"/>
                  </a:lnTo>
                  <a:lnTo>
                    <a:pt x="25145" y="256794"/>
                  </a:lnTo>
                  <a:close/>
                </a:path>
                <a:path w="1428750" h="257175">
                  <a:moveTo>
                    <a:pt x="1415795" y="25145"/>
                  </a:moveTo>
                  <a:lnTo>
                    <a:pt x="1403603" y="12191"/>
                  </a:lnTo>
                  <a:lnTo>
                    <a:pt x="1403603" y="25145"/>
                  </a:lnTo>
                  <a:lnTo>
                    <a:pt x="1415795" y="25145"/>
                  </a:lnTo>
                  <a:close/>
                </a:path>
                <a:path w="1428750" h="257175">
                  <a:moveTo>
                    <a:pt x="1415795" y="231647"/>
                  </a:moveTo>
                  <a:lnTo>
                    <a:pt x="1415795" y="25145"/>
                  </a:lnTo>
                  <a:lnTo>
                    <a:pt x="1403603" y="25145"/>
                  </a:lnTo>
                  <a:lnTo>
                    <a:pt x="1403603" y="231647"/>
                  </a:lnTo>
                  <a:lnTo>
                    <a:pt x="1415795" y="231647"/>
                  </a:lnTo>
                  <a:close/>
                </a:path>
                <a:path w="1428750" h="257175">
                  <a:moveTo>
                    <a:pt x="1415795" y="256793"/>
                  </a:moveTo>
                  <a:lnTo>
                    <a:pt x="1415795" y="231647"/>
                  </a:lnTo>
                  <a:lnTo>
                    <a:pt x="1403603" y="244601"/>
                  </a:lnTo>
                  <a:lnTo>
                    <a:pt x="1403603" y="256793"/>
                  </a:lnTo>
                  <a:lnTo>
                    <a:pt x="1415795" y="256793"/>
                  </a:lnTo>
                  <a:close/>
                </a:path>
              </a:pathLst>
            </a:custGeom>
            <a:solidFill>
              <a:srgbClr val="000000"/>
            </a:solidFill>
          </p:spPr>
          <p:txBody>
            <a:bodyPr wrap="square" lIns="0" tIns="0" rIns="0" bIns="0" rtlCol="0"/>
            <a:lstStyle/>
            <a:p>
              <a:endParaRPr/>
            </a:p>
          </p:txBody>
        </p:sp>
        <p:sp>
          <p:nvSpPr>
            <p:cNvPr id="100" name="object 106"/>
            <p:cNvSpPr/>
            <p:nvPr/>
          </p:nvSpPr>
          <p:spPr>
            <a:xfrm>
              <a:off x="7257174" y="2718054"/>
              <a:ext cx="50800" cy="247650"/>
            </a:xfrm>
            <a:custGeom>
              <a:avLst/>
              <a:gdLst/>
              <a:ahLst/>
              <a:cxnLst/>
              <a:rect l="l" t="t" r="r" b="b"/>
              <a:pathLst>
                <a:path w="50800" h="247650">
                  <a:moveTo>
                    <a:pt x="50291" y="120395"/>
                  </a:moveTo>
                  <a:lnTo>
                    <a:pt x="0" y="120395"/>
                  </a:lnTo>
                  <a:lnTo>
                    <a:pt x="12192" y="182094"/>
                  </a:lnTo>
                  <a:lnTo>
                    <a:pt x="12192" y="133350"/>
                  </a:lnTo>
                  <a:lnTo>
                    <a:pt x="38100" y="133350"/>
                  </a:lnTo>
                  <a:lnTo>
                    <a:pt x="38100" y="182094"/>
                  </a:lnTo>
                  <a:lnTo>
                    <a:pt x="50291" y="120395"/>
                  </a:lnTo>
                  <a:close/>
                </a:path>
                <a:path w="50800" h="247650">
                  <a:moveTo>
                    <a:pt x="38100" y="120395"/>
                  </a:moveTo>
                  <a:lnTo>
                    <a:pt x="38100" y="0"/>
                  </a:lnTo>
                  <a:lnTo>
                    <a:pt x="12192" y="0"/>
                  </a:lnTo>
                  <a:lnTo>
                    <a:pt x="12192" y="120395"/>
                  </a:lnTo>
                  <a:lnTo>
                    <a:pt x="38100" y="120395"/>
                  </a:lnTo>
                  <a:close/>
                </a:path>
                <a:path w="50800" h="247650">
                  <a:moveTo>
                    <a:pt x="38100" y="182094"/>
                  </a:moveTo>
                  <a:lnTo>
                    <a:pt x="38100" y="133350"/>
                  </a:lnTo>
                  <a:lnTo>
                    <a:pt x="12192" y="133350"/>
                  </a:lnTo>
                  <a:lnTo>
                    <a:pt x="12192" y="182094"/>
                  </a:lnTo>
                  <a:lnTo>
                    <a:pt x="25145" y="247650"/>
                  </a:lnTo>
                  <a:lnTo>
                    <a:pt x="38100" y="182094"/>
                  </a:lnTo>
                  <a:close/>
                </a:path>
              </a:pathLst>
            </a:custGeom>
            <a:solidFill>
              <a:srgbClr val="FF0000"/>
            </a:solidFill>
          </p:spPr>
          <p:txBody>
            <a:bodyPr wrap="square" lIns="0" tIns="0" rIns="0" bIns="0" rtlCol="0"/>
            <a:lstStyle/>
            <a:p>
              <a:endParaRPr/>
            </a:p>
          </p:txBody>
        </p:sp>
        <p:sp>
          <p:nvSpPr>
            <p:cNvPr id="101" name="object 107"/>
            <p:cNvSpPr/>
            <p:nvPr/>
          </p:nvSpPr>
          <p:spPr>
            <a:xfrm>
              <a:off x="7493393" y="1296924"/>
              <a:ext cx="51435" cy="246379"/>
            </a:xfrm>
            <a:custGeom>
              <a:avLst/>
              <a:gdLst/>
              <a:ahLst/>
              <a:cxnLst/>
              <a:rect l="l" t="t" r="r" b="b"/>
              <a:pathLst>
                <a:path w="51434" h="246380">
                  <a:moveTo>
                    <a:pt x="51054" y="127254"/>
                  </a:moveTo>
                  <a:lnTo>
                    <a:pt x="25133" y="0"/>
                  </a:lnTo>
                  <a:lnTo>
                    <a:pt x="0" y="127254"/>
                  </a:lnTo>
                  <a:lnTo>
                    <a:pt x="12953" y="127254"/>
                  </a:lnTo>
                  <a:lnTo>
                    <a:pt x="12953" y="114300"/>
                  </a:lnTo>
                  <a:lnTo>
                    <a:pt x="38100" y="114300"/>
                  </a:lnTo>
                  <a:lnTo>
                    <a:pt x="38100" y="127254"/>
                  </a:lnTo>
                  <a:lnTo>
                    <a:pt x="51054" y="127254"/>
                  </a:lnTo>
                  <a:close/>
                </a:path>
                <a:path w="51434" h="246380">
                  <a:moveTo>
                    <a:pt x="38100" y="127254"/>
                  </a:moveTo>
                  <a:lnTo>
                    <a:pt x="38100" y="114300"/>
                  </a:lnTo>
                  <a:lnTo>
                    <a:pt x="12953" y="114300"/>
                  </a:lnTo>
                  <a:lnTo>
                    <a:pt x="12953" y="127254"/>
                  </a:lnTo>
                  <a:lnTo>
                    <a:pt x="38100" y="127254"/>
                  </a:lnTo>
                  <a:close/>
                </a:path>
                <a:path w="51434" h="246380">
                  <a:moveTo>
                    <a:pt x="38100" y="246126"/>
                  </a:moveTo>
                  <a:lnTo>
                    <a:pt x="38100" y="127254"/>
                  </a:lnTo>
                  <a:lnTo>
                    <a:pt x="12953" y="127254"/>
                  </a:lnTo>
                  <a:lnTo>
                    <a:pt x="12953" y="246126"/>
                  </a:lnTo>
                  <a:lnTo>
                    <a:pt x="38100" y="246126"/>
                  </a:lnTo>
                  <a:close/>
                </a:path>
              </a:pathLst>
            </a:custGeom>
            <a:solidFill>
              <a:srgbClr val="FF0000"/>
            </a:solidFill>
          </p:spPr>
          <p:txBody>
            <a:bodyPr wrap="square" lIns="0" tIns="0" rIns="0" bIns="0" rtlCol="0"/>
            <a:lstStyle/>
            <a:p>
              <a:endParaRPr/>
            </a:p>
          </p:txBody>
        </p:sp>
        <p:sp>
          <p:nvSpPr>
            <p:cNvPr id="102" name="object 108"/>
            <p:cNvSpPr/>
            <p:nvPr/>
          </p:nvSpPr>
          <p:spPr>
            <a:xfrm>
              <a:off x="7257174" y="1296924"/>
              <a:ext cx="50800" cy="246379"/>
            </a:xfrm>
            <a:custGeom>
              <a:avLst/>
              <a:gdLst/>
              <a:ahLst/>
              <a:cxnLst/>
              <a:rect l="l" t="t" r="r" b="b"/>
              <a:pathLst>
                <a:path w="50800" h="246380">
                  <a:moveTo>
                    <a:pt x="50291" y="127253"/>
                  </a:moveTo>
                  <a:lnTo>
                    <a:pt x="25145" y="0"/>
                  </a:lnTo>
                  <a:lnTo>
                    <a:pt x="0" y="127253"/>
                  </a:lnTo>
                  <a:lnTo>
                    <a:pt x="12192" y="127253"/>
                  </a:lnTo>
                  <a:lnTo>
                    <a:pt x="12192" y="114299"/>
                  </a:lnTo>
                  <a:lnTo>
                    <a:pt x="38100" y="114299"/>
                  </a:lnTo>
                  <a:lnTo>
                    <a:pt x="38100" y="127253"/>
                  </a:lnTo>
                  <a:lnTo>
                    <a:pt x="50291" y="127253"/>
                  </a:lnTo>
                  <a:close/>
                </a:path>
                <a:path w="50800" h="246380">
                  <a:moveTo>
                    <a:pt x="38100" y="127253"/>
                  </a:moveTo>
                  <a:lnTo>
                    <a:pt x="38100" y="114299"/>
                  </a:lnTo>
                  <a:lnTo>
                    <a:pt x="12192" y="114299"/>
                  </a:lnTo>
                  <a:lnTo>
                    <a:pt x="12192" y="127253"/>
                  </a:lnTo>
                  <a:lnTo>
                    <a:pt x="38100" y="127253"/>
                  </a:lnTo>
                  <a:close/>
                </a:path>
                <a:path w="50800" h="246380">
                  <a:moveTo>
                    <a:pt x="38100" y="246125"/>
                  </a:moveTo>
                  <a:lnTo>
                    <a:pt x="38100" y="127253"/>
                  </a:lnTo>
                  <a:lnTo>
                    <a:pt x="12192" y="127253"/>
                  </a:lnTo>
                  <a:lnTo>
                    <a:pt x="12192" y="246125"/>
                  </a:lnTo>
                  <a:lnTo>
                    <a:pt x="38100" y="246125"/>
                  </a:lnTo>
                  <a:close/>
                </a:path>
              </a:pathLst>
            </a:custGeom>
            <a:solidFill>
              <a:srgbClr val="FF0000"/>
            </a:solidFill>
          </p:spPr>
          <p:txBody>
            <a:bodyPr wrap="square" lIns="0" tIns="0" rIns="0" bIns="0" rtlCol="0"/>
            <a:lstStyle/>
            <a:p>
              <a:endParaRPr/>
            </a:p>
          </p:txBody>
        </p:sp>
        <p:sp>
          <p:nvSpPr>
            <p:cNvPr id="103" name="object 109"/>
            <p:cNvSpPr/>
            <p:nvPr/>
          </p:nvSpPr>
          <p:spPr>
            <a:xfrm>
              <a:off x="7021715" y="1296924"/>
              <a:ext cx="51435" cy="246379"/>
            </a:xfrm>
            <a:custGeom>
              <a:avLst/>
              <a:gdLst/>
              <a:ahLst/>
              <a:cxnLst/>
              <a:rect l="l" t="t" r="r" b="b"/>
              <a:pathLst>
                <a:path w="51434" h="246380">
                  <a:moveTo>
                    <a:pt x="51053" y="127253"/>
                  </a:moveTo>
                  <a:lnTo>
                    <a:pt x="25895" y="0"/>
                  </a:lnTo>
                  <a:lnTo>
                    <a:pt x="0" y="127253"/>
                  </a:lnTo>
                  <a:lnTo>
                    <a:pt x="12953" y="127253"/>
                  </a:lnTo>
                  <a:lnTo>
                    <a:pt x="12953" y="114299"/>
                  </a:lnTo>
                  <a:lnTo>
                    <a:pt x="38100" y="114299"/>
                  </a:lnTo>
                  <a:lnTo>
                    <a:pt x="38100" y="127253"/>
                  </a:lnTo>
                  <a:lnTo>
                    <a:pt x="51053" y="127253"/>
                  </a:lnTo>
                  <a:close/>
                </a:path>
                <a:path w="51434" h="246380">
                  <a:moveTo>
                    <a:pt x="38100" y="127253"/>
                  </a:moveTo>
                  <a:lnTo>
                    <a:pt x="38100" y="114299"/>
                  </a:lnTo>
                  <a:lnTo>
                    <a:pt x="12953" y="114299"/>
                  </a:lnTo>
                  <a:lnTo>
                    <a:pt x="12953" y="127253"/>
                  </a:lnTo>
                  <a:lnTo>
                    <a:pt x="38100" y="127253"/>
                  </a:lnTo>
                  <a:close/>
                </a:path>
                <a:path w="51434" h="246380">
                  <a:moveTo>
                    <a:pt x="38100" y="246125"/>
                  </a:moveTo>
                  <a:lnTo>
                    <a:pt x="38100" y="127253"/>
                  </a:lnTo>
                  <a:lnTo>
                    <a:pt x="12953" y="127253"/>
                  </a:lnTo>
                  <a:lnTo>
                    <a:pt x="12953" y="246125"/>
                  </a:lnTo>
                  <a:lnTo>
                    <a:pt x="38100" y="246125"/>
                  </a:lnTo>
                  <a:close/>
                </a:path>
              </a:pathLst>
            </a:custGeom>
            <a:solidFill>
              <a:srgbClr val="FF0000"/>
            </a:solidFill>
          </p:spPr>
          <p:txBody>
            <a:bodyPr wrap="square" lIns="0" tIns="0" rIns="0" bIns="0" rtlCol="0"/>
            <a:lstStyle/>
            <a:p>
              <a:endParaRPr/>
            </a:p>
          </p:txBody>
        </p:sp>
        <p:sp>
          <p:nvSpPr>
            <p:cNvPr id="104" name="object 110"/>
            <p:cNvSpPr/>
            <p:nvPr/>
          </p:nvSpPr>
          <p:spPr>
            <a:xfrm>
              <a:off x="6851777" y="2103882"/>
              <a:ext cx="237490" cy="50800"/>
            </a:xfrm>
            <a:custGeom>
              <a:avLst/>
              <a:gdLst/>
              <a:ahLst/>
              <a:cxnLst/>
              <a:rect l="l" t="t" r="r" b="b"/>
              <a:pathLst>
                <a:path w="237490" h="50800">
                  <a:moveTo>
                    <a:pt x="127266" y="12192"/>
                  </a:moveTo>
                  <a:lnTo>
                    <a:pt x="127266" y="0"/>
                  </a:lnTo>
                  <a:lnTo>
                    <a:pt x="0" y="25145"/>
                  </a:lnTo>
                  <a:lnTo>
                    <a:pt x="114312" y="47732"/>
                  </a:lnTo>
                  <a:lnTo>
                    <a:pt x="114312" y="12192"/>
                  </a:lnTo>
                  <a:lnTo>
                    <a:pt x="127266" y="12192"/>
                  </a:lnTo>
                  <a:close/>
                </a:path>
                <a:path w="237490" h="50800">
                  <a:moveTo>
                    <a:pt x="236994" y="38100"/>
                  </a:moveTo>
                  <a:lnTo>
                    <a:pt x="236994" y="12192"/>
                  </a:lnTo>
                  <a:lnTo>
                    <a:pt x="114312" y="12192"/>
                  </a:lnTo>
                  <a:lnTo>
                    <a:pt x="114312" y="38100"/>
                  </a:lnTo>
                  <a:lnTo>
                    <a:pt x="236994" y="38100"/>
                  </a:lnTo>
                  <a:close/>
                </a:path>
                <a:path w="237490" h="50800">
                  <a:moveTo>
                    <a:pt x="127266" y="50292"/>
                  </a:moveTo>
                  <a:lnTo>
                    <a:pt x="127266" y="38100"/>
                  </a:lnTo>
                  <a:lnTo>
                    <a:pt x="114312" y="38100"/>
                  </a:lnTo>
                  <a:lnTo>
                    <a:pt x="114312" y="47732"/>
                  </a:lnTo>
                  <a:lnTo>
                    <a:pt x="127266" y="50292"/>
                  </a:lnTo>
                  <a:close/>
                </a:path>
              </a:pathLst>
            </a:custGeom>
            <a:solidFill>
              <a:srgbClr val="FF0000"/>
            </a:solidFill>
          </p:spPr>
          <p:txBody>
            <a:bodyPr wrap="square" lIns="0" tIns="0" rIns="0" bIns="0" rtlCol="0"/>
            <a:lstStyle/>
            <a:p>
              <a:endParaRPr/>
            </a:p>
          </p:txBody>
        </p:sp>
        <p:sp>
          <p:nvSpPr>
            <p:cNvPr id="105" name="object 111"/>
            <p:cNvSpPr/>
            <p:nvPr/>
          </p:nvSpPr>
          <p:spPr>
            <a:xfrm>
              <a:off x="6851777" y="2516123"/>
              <a:ext cx="237490" cy="51435"/>
            </a:xfrm>
            <a:custGeom>
              <a:avLst/>
              <a:gdLst/>
              <a:ahLst/>
              <a:cxnLst/>
              <a:rect l="l" t="t" r="r" b="b"/>
              <a:pathLst>
                <a:path w="237490" h="51435">
                  <a:moveTo>
                    <a:pt x="127266" y="12953"/>
                  </a:moveTo>
                  <a:lnTo>
                    <a:pt x="127266" y="0"/>
                  </a:lnTo>
                  <a:lnTo>
                    <a:pt x="0" y="25907"/>
                  </a:lnTo>
                  <a:lnTo>
                    <a:pt x="114312" y="48494"/>
                  </a:lnTo>
                  <a:lnTo>
                    <a:pt x="114312" y="12953"/>
                  </a:lnTo>
                  <a:lnTo>
                    <a:pt x="127266" y="12953"/>
                  </a:lnTo>
                  <a:close/>
                </a:path>
                <a:path w="237490" h="51435">
                  <a:moveTo>
                    <a:pt x="236994" y="38099"/>
                  </a:moveTo>
                  <a:lnTo>
                    <a:pt x="236994" y="12953"/>
                  </a:lnTo>
                  <a:lnTo>
                    <a:pt x="114312" y="12953"/>
                  </a:lnTo>
                  <a:lnTo>
                    <a:pt x="114312" y="38099"/>
                  </a:lnTo>
                  <a:lnTo>
                    <a:pt x="236994" y="38099"/>
                  </a:lnTo>
                  <a:close/>
                </a:path>
                <a:path w="237490" h="51435">
                  <a:moveTo>
                    <a:pt x="127266" y="51053"/>
                  </a:moveTo>
                  <a:lnTo>
                    <a:pt x="127266" y="38099"/>
                  </a:lnTo>
                  <a:lnTo>
                    <a:pt x="114312" y="38099"/>
                  </a:lnTo>
                  <a:lnTo>
                    <a:pt x="114312" y="48494"/>
                  </a:lnTo>
                  <a:lnTo>
                    <a:pt x="127266" y="51053"/>
                  </a:lnTo>
                  <a:close/>
                </a:path>
              </a:pathLst>
            </a:custGeom>
            <a:solidFill>
              <a:srgbClr val="FF0000"/>
            </a:solidFill>
          </p:spPr>
          <p:txBody>
            <a:bodyPr wrap="square" lIns="0" tIns="0" rIns="0" bIns="0" rtlCol="0"/>
            <a:lstStyle/>
            <a:p>
              <a:endParaRPr/>
            </a:p>
          </p:txBody>
        </p:sp>
        <p:sp>
          <p:nvSpPr>
            <p:cNvPr id="106" name="object 112"/>
            <p:cNvSpPr/>
            <p:nvPr/>
          </p:nvSpPr>
          <p:spPr>
            <a:xfrm>
              <a:off x="6851777" y="2309622"/>
              <a:ext cx="237490" cy="51435"/>
            </a:xfrm>
            <a:custGeom>
              <a:avLst/>
              <a:gdLst/>
              <a:ahLst/>
              <a:cxnLst/>
              <a:rect l="l" t="t" r="r" b="b"/>
              <a:pathLst>
                <a:path w="237490" h="51435">
                  <a:moveTo>
                    <a:pt x="127266" y="12953"/>
                  </a:moveTo>
                  <a:lnTo>
                    <a:pt x="127266" y="0"/>
                  </a:lnTo>
                  <a:lnTo>
                    <a:pt x="0" y="25907"/>
                  </a:lnTo>
                  <a:lnTo>
                    <a:pt x="114312" y="48494"/>
                  </a:lnTo>
                  <a:lnTo>
                    <a:pt x="114312" y="12953"/>
                  </a:lnTo>
                  <a:lnTo>
                    <a:pt x="127266" y="12953"/>
                  </a:lnTo>
                  <a:close/>
                </a:path>
                <a:path w="237490" h="51435">
                  <a:moveTo>
                    <a:pt x="236994" y="38099"/>
                  </a:moveTo>
                  <a:lnTo>
                    <a:pt x="236994" y="12953"/>
                  </a:lnTo>
                  <a:lnTo>
                    <a:pt x="114312" y="12953"/>
                  </a:lnTo>
                  <a:lnTo>
                    <a:pt x="114312" y="38099"/>
                  </a:lnTo>
                  <a:lnTo>
                    <a:pt x="236994" y="38099"/>
                  </a:lnTo>
                  <a:close/>
                </a:path>
                <a:path w="237490" h="51435">
                  <a:moveTo>
                    <a:pt x="127266" y="51053"/>
                  </a:moveTo>
                  <a:lnTo>
                    <a:pt x="127266" y="38099"/>
                  </a:lnTo>
                  <a:lnTo>
                    <a:pt x="114312" y="38099"/>
                  </a:lnTo>
                  <a:lnTo>
                    <a:pt x="114312" y="48494"/>
                  </a:lnTo>
                  <a:lnTo>
                    <a:pt x="127266" y="51053"/>
                  </a:lnTo>
                  <a:close/>
                </a:path>
              </a:pathLst>
            </a:custGeom>
            <a:solidFill>
              <a:srgbClr val="FF0000"/>
            </a:solidFill>
          </p:spPr>
          <p:txBody>
            <a:bodyPr wrap="square" lIns="0" tIns="0" rIns="0" bIns="0" rtlCol="0"/>
            <a:lstStyle/>
            <a:p>
              <a:endParaRPr/>
            </a:p>
          </p:txBody>
        </p:sp>
        <p:sp>
          <p:nvSpPr>
            <p:cNvPr id="107" name="object 113"/>
            <p:cNvSpPr/>
            <p:nvPr/>
          </p:nvSpPr>
          <p:spPr>
            <a:xfrm>
              <a:off x="7021715" y="2718054"/>
              <a:ext cx="51435" cy="247650"/>
            </a:xfrm>
            <a:custGeom>
              <a:avLst/>
              <a:gdLst/>
              <a:ahLst/>
              <a:cxnLst/>
              <a:rect l="l" t="t" r="r" b="b"/>
              <a:pathLst>
                <a:path w="51434" h="247650">
                  <a:moveTo>
                    <a:pt x="51053" y="120395"/>
                  </a:moveTo>
                  <a:lnTo>
                    <a:pt x="0" y="120395"/>
                  </a:lnTo>
                  <a:lnTo>
                    <a:pt x="12953" y="184054"/>
                  </a:lnTo>
                  <a:lnTo>
                    <a:pt x="12953" y="133350"/>
                  </a:lnTo>
                  <a:lnTo>
                    <a:pt x="38100" y="133350"/>
                  </a:lnTo>
                  <a:lnTo>
                    <a:pt x="38100" y="185917"/>
                  </a:lnTo>
                  <a:lnTo>
                    <a:pt x="51053" y="120395"/>
                  </a:lnTo>
                  <a:close/>
                </a:path>
                <a:path w="51434" h="247650">
                  <a:moveTo>
                    <a:pt x="38100" y="120395"/>
                  </a:moveTo>
                  <a:lnTo>
                    <a:pt x="38100" y="0"/>
                  </a:lnTo>
                  <a:lnTo>
                    <a:pt x="12953" y="0"/>
                  </a:lnTo>
                  <a:lnTo>
                    <a:pt x="12953" y="120395"/>
                  </a:lnTo>
                  <a:lnTo>
                    <a:pt x="38100" y="120395"/>
                  </a:lnTo>
                  <a:close/>
                </a:path>
                <a:path w="51434" h="247650">
                  <a:moveTo>
                    <a:pt x="38100" y="185917"/>
                  </a:moveTo>
                  <a:lnTo>
                    <a:pt x="38100" y="133350"/>
                  </a:lnTo>
                  <a:lnTo>
                    <a:pt x="12953" y="133350"/>
                  </a:lnTo>
                  <a:lnTo>
                    <a:pt x="12953" y="184054"/>
                  </a:lnTo>
                  <a:lnTo>
                    <a:pt x="25895" y="247650"/>
                  </a:lnTo>
                  <a:lnTo>
                    <a:pt x="38100" y="185917"/>
                  </a:lnTo>
                  <a:close/>
                </a:path>
              </a:pathLst>
            </a:custGeom>
            <a:solidFill>
              <a:srgbClr val="FF0000"/>
            </a:solidFill>
          </p:spPr>
          <p:txBody>
            <a:bodyPr wrap="square" lIns="0" tIns="0" rIns="0" bIns="0" rtlCol="0"/>
            <a:lstStyle/>
            <a:p>
              <a:endParaRPr/>
            </a:p>
          </p:txBody>
        </p:sp>
        <p:sp>
          <p:nvSpPr>
            <p:cNvPr id="108" name="object 114"/>
            <p:cNvSpPr/>
            <p:nvPr/>
          </p:nvSpPr>
          <p:spPr>
            <a:xfrm>
              <a:off x="7493393" y="2718054"/>
              <a:ext cx="51435" cy="247650"/>
            </a:xfrm>
            <a:custGeom>
              <a:avLst/>
              <a:gdLst/>
              <a:ahLst/>
              <a:cxnLst/>
              <a:rect l="l" t="t" r="r" b="b"/>
              <a:pathLst>
                <a:path w="51434" h="247650">
                  <a:moveTo>
                    <a:pt x="51054" y="120395"/>
                  </a:moveTo>
                  <a:lnTo>
                    <a:pt x="0" y="120395"/>
                  </a:lnTo>
                  <a:lnTo>
                    <a:pt x="12953" y="185984"/>
                  </a:lnTo>
                  <a:lnTo>
                    <a:pt x="12953" y="133350"/>
                  </a:lnTo>
                  <a:lnTo>
                    <a:pt x="38100" y="133350"/>
                  </a:lnTo>
                  <a:lnTo>
                    <a:pt x="38100" y="183991"/>
                  </a:lnTo>
                  <a:lnTo>
                    <a:pt x="51054" y="120395"/>
                  </a:lnTo>
                  <a:close/>
                </a:path>
                <a:path w="51434" h="247650">
                  <a:moveTo>
                    <a:pt x="38100" y="120395"/>
                  </a:moveTo>
                  <a:lnTo>
                    <a:pt x="38100" y="0"/>
                  </a:lnTo>
                  <a:lnTo>
                    <a:pt x="12953" y="0"/>
                  </a:lnTo>
                  <a:lnTo>
                    <a:pt x="12953" y="120395"/>
                  </a:lnTo>
                  <a:lnTo>
                    <a:pt x="38100" y="120395"/>
                  </a:lnTo>
                  <a:close/>
                </a:path>
                <a:path w="51434" h="247650">
                  <a:moveTo>
                    <a:pt x="38100" y="183991"/>
                  </a:moveTo>
                  <a:lnTo>
                    <a:pt x="38100" y="133350"/>
                  </a:lnTo>
                  <a:lnTo>
                    <a:pt x="12953" y="133350"/>
                  </a:lnTo>
                  <a:lnTo>
                    <a:pt x="12953" y="185984"/>
                  </a:lnTo>
                  <a:lnTo>
                    <a:pt x="25133" y="247650"/>
                  </a:lnTo>
                  <a:lnTo>
                    <a:pt x="38100" y="183991"/>
                  </a:lnTo>
                  <a:close/>
                </a:path>
              </a:pathLst>
            </a:custGeom>
            <a:solidFill>
              <a:srgbClr val="FF0000"/>
            </a:solidFill>
          </p:spPr>
          <p:txBody>
            <a:bodyPr wrap="square" lIns="0" tIns="0" rIns="0" bIns="0" rtlCol="0"/>
            <a:lstStyle/>
            <a:p>
              <a:endParaRPr/>
            </a:p>
          </p:txBody>
        </p:sp>
        <p:sp>
          <p:nvSpPr>
            <p:cNvPr id="109" name="object 115"/>
            <p:cNvSpPr txBox="1"/>
            <p:nvPr/>
          </p:nvSpPr>
          <p:spPr>
            <a:xfrm>
              <a:off x="7213987" y="1836673"/>
              <a:ext cx="177800" cy="391160"/>
            </a:xfrm>
            <a:prstGeom prst="rect">
              <a:avLst/>
            </a:prstGeom>
          </p:spPr>
          <p:txBody>
            <a:bodyPr vert="horz" wrap="square" lIns="0" tIns="12700" rIns="0" bIns="0" rtlCol="0">
              <a:spAutoFit/>
            </a:bodyPr>
            <a:lstStyle/>
            <a:p>
              <a:pPr marL="12700">
                <a:lnSpc>
                  <a:spcPct val="100000"/>
                </a:lnSpc>
                <a:spcBef>
                  <a:spcPts val="100"/>
                </a:spcBef>
              </a:pPr>
              <a:r>
                <a:rPr sz="2400" b="1" i="1" dirty="0">
                  <a:solidFill>
                    <a:srgbClr val="FF0000"/>
                  </a:solidFill>
                  <a:latin typeface="Times New Roman"/>
                  <a:cs typeface="Times New Roman"/>
                </a:rPr>
                <a:t>q</a:t>
              </a:r>
              <a:endParaRPr sz="2400">
                <a:latin typeface="Times New Roman"/>
                <a:cs typeface="Times New Roman"/>
              </a:endParaRPr>
            </a:p>
          </p:txBody>
        </p:sp>
        <p:sp>
          <p:nvSpPr>
            <p:cNvPr id="110" name="object 116"/>
            <p:cNvSpPr/>
            <p:nvPr/>
          </p:nvSpPr>
          <p:spPr>
            <a:xfrm>
              <a:off x="6379336" y="1282827"/>
              <a:ext cx="314325" cy="0"/>
            </a:xfrm>
            <a:custGeom>
              <a:avLst/>
              <a:gdLst/>
              <a:ahLst/>
              <a:cxnLst/>
              <a:rect l="l" t="t" r="r" b="b"/>
              <a:pathLst>
                <a:path w="314325">
                  <a:moveTo>
                    <a:pt x="0" y="0"/>
                  </a:moveTo>
                  <a:lnTo>
                    <a:pt x="313943" y="0"/>
                  </a:lnTo>
                </a:path>
              </a:pathLst>
            </a:custGeom>
            <a:ln w="25146">
              <a:solidFill>
                <a:srgbClr val="0F1A81"/>
              </a:solidFill>
            </a:ln>
          </p:spPr>
          <p:txBody>
            <a:bodyPr wrap="square" lIns="0" tIns="0" rIns="0" bIns="0" rtlCol="0"/>
            <a:lstStyle/>
            <a:p>
              <a:endParaRPr/>
            </a:p>
          </p:txBody>
        </p:sp>
        <p:sp>
          <p:nvSpPr>
            <p:cNvPr id="111" name="object 117"/>
            <p:cNvSpPr/>
            <p:nvPr/>
          </p:nvSpPr>
          <p:spPr>
            <a:xfrm>
              <a:off x="6379336" y="2982848"/>
              <a:ext cx="314325" cy="0"/>
            </a:xfrm>
            <a:custGeom>
              <a:avLst/>
              <a:gdLst/>
              <a:ahLst/>
              <a:cxnLst/>
              <a:rect l="l" t="t" r="r" b="b"/>
              <a:pathLst>
                <a:path w="314325">
                  <a:moveTo>
                    <a:pt x="0" y="0"/>
                  </a:moveTo>
                  <a:lnTo>
                    <a:pt x="313943" y="0"/>
                  </a:lnTo>
                </a:path>
              </a:pathLst>
            </a:custGeom>
            <a:ln w="25145">
              <a:solidFill>
                <a:srgbClr val="0F1A81"/>
              </a:solidFill>
            </a:ln>
          </p:spPr>
          <p:txBody>
            <a:bodyPr wrap="square" lIns="0" tIns="0" rIns="0" bIns="0" rtlCol="0"/>
            <a:lstStyle/>
            <a:p>
              <a:endParaRPr/>
            </a:p>
          </p:txBody>
        </p:sp>
        <p:sp>
          <p:nvSpPr>
            <p:cNvPr id="112" name="object 118"/>
            <p:cNvSpPr/>
            <p:nvPr/>
          </p:nvSpPr>
          <p:spPr>
            <a:xfrm>
              <a:off x="6514210" y="1267205"/>
              <a:ext cx="50800" cy="1727200"/>
            </a:xfrm>
            <a:custGeom>
              <a:avLst/>
              <a:gdLst/>
              <a:ahLst/>
              <a:cxnLst/>
              <a:rect l="l" t="t" r="r" b="b"/>
              <a:pathLst>
                <a:path w="50800" h="1727200">
                  <a:moveTo>
                    <a:pt x="50304" y="126491"/>
                  </a:moveTo>
                  <a:lnTo>
                    <a:pt x="25158" y="0"/>
                  </a:lnTo>
                  <a:lnTo>
                    <a:pt x="0" y="126491"/>
                  </a:lnTo>
                  <a:lnTo>
                    <a:pt x="12192" y="126491"/>
                  </a:lnTo>
                  <a:lnTo>
                    <a:pt x="12192" y="114300"/>
                  </a:lnTo>
                  <a:lnTo>
                    <a:pt x="38100" y="114300"/>
                  </a:lnTo>
                  <a:lnTo>
                    <a:pt x="38100" y="126491"/>
                  </a:lnTo>
                  <a:lnTo>
                    <a:pt x="50304" y="126491"/>
                  </a:lnTo>
                  <a:close/>
                </a:path>
                <a:path w="50800" h="1727200">
                  <a:moveTo>
                    <a:pt x="50304" y="1600200"/>
                  </a:moveTo>
                  <a:lnTo>
                    <a:pt x="0" y="1600200"/>
                  </a:lnTo>
                  <a:lnTo>
                    <a:pt x="12192" y="1661498"/>
                  </a:lnTo>
                  <a:lnTo>
                    <a:pt x="12192" y="1612392"/>
                  </a:lnTo>
                  <a:lnTo>
                    <a:pt x="38100" y="1612392"/>
                  </a:lnTo>
                  <a:lnTo>
                    <a:pt x="38100" y="1661593"/>
                  </a:lnTo>
                  <a:lnTo>
                    <a:pt x="50304" y="1600200"/>
                  </a:lnTo>
                  <a:close/>
                </a:path>
                <a:path w="50800" h="1727200">
                  <a:moveTo>
                    <a:pt x="38100" y="126491"/>
                  </a:moveTo>
                  <a:lnTo>
                    <a:pt x="38100" y="114300"/>
                  </a:lnTo>
                  <a:lnTo>
                    <a:pt x="12192" y="114300"/>
                  </a:lnTo>
                  <a:lnTo>
                    <a:pt x="12192" y="126491"/>
                  </a:lnTo>
                  <a:lnTo>
                    <a:pt x="38100" y="126491"/>
                  </a:lnTo>
                  <a:close/>
                </a:path>
                <a:path w="50800" h="1727200">
                  <a:moveTo>
                    <a:pt x="38100" y="1600200"/>
                  </a:moveTo>
                  <a:lnTo>
                    <a:pt x="38100" y="126491"/>
                  </a:lnTo>
                  <a:lnTo>
                    <a:pt x="12192" y="126491"/>
                  </a:lnTo>
                  <a:lnTo>
                    <a:pt x="12192" y="1600200"/>
                  </a:lnTo>
                  <a:lnTo>
                    <a:pt x="38100" y="1600200"/>
                  </a:lnTo>
                  <a:close/>
                </a:path>
                <a:path w="50800" h="1727200">
                  <a:moveTo>
                    <a:pt x="38100" y="1661593"/>
                  </a:moveTo>
                  <a:lnTo>
                    <a:pt x="38100" y="1612392"/>
                  </a:lnTo>
                  <a:lnTo>
                    <a:pt x="12192" y="1612392"/>
                  </a:lnTo>
                  <a:lnTo>
                    <a:pt x="12192" y="1661498"/>
                  </a:lnTo>
                  <a:lnTo>
                    <a:pt x="25158" y="1726692"/>
                  </a:lnTo>
                  <a:lnTo>
                    <a:pt x="38100" y="1661593"/>
                  </a:lnTo>
                  <a:close/>
                </a:path>
              </a:pathLst>
            </a:custGeom>
            <a:solidFill>
              <a:srgbClr val="0F1A81"/>
            </a:solidFill>
          </p:spPr>
          <p:txBody>
            <a:bodyPr wrap="square" lIns="0" tIns="0" rIns="0" bIns="0" rtlCol="0"/>
            <a:lstStyle/>
            <a:p>
              <a:endParaRPr/>
            </a:p>
          </p:txBody>
        </p:sp>
        <p:sp>
          <p:nvSpPr>
            <p:cNvPr id="113" name="object 120"/>
            <p:cNvSpPr/>
            <p:nvPr/>
          </p:nvSpPr>
          <p:spPr>
            <a:xfrm>
              <a:off x="9212465" y="1987295"/>
              <a:ext cx="224027" cy="232410"/>
            </a:xfrm>
            <a:prstGeom prst="rect">
              <a:avLst/>
            </a:prstGeom>
            <a:blipFill>
              <a:blip r:embed="rId12" cstate="print"/>
              <a:stretch>
                <a:fillRect/>
              </a:stretch>
            </a:blipFill>
          </p:spPr>
          <p:txBody>
            <a:bodyPr wrap="square" lIns="0" tIns="0" rIns="0" bIns="0" rtlCol="0"/>
            <a:lstStyle/>
            <a:p>
              <a:endParaRPr/>
            </a:p>
          </p:txBody>
        </p:sp>
        <p:sp>
          <p:nvSpPr>
            <p:cNvPr id="114" name="object 121"/>
            <p:cNvSpPr/>
            <p:nvPr/>
          </p:nvSpPr>
          <p:spPr>
            <a:xfrm>
              <a:off x="9200274" y="1975246"/>
              <a:ext cx="249554" cy="255904"/>
            </a:xfrm>
            <a:custGeom>
              <a:avLst/>
              <a:gdLst/>
              <a:ahLst/>
              <a:cxnLst/>
              <a:rect l="l" t="t" r="r" b="b"/>
              <a:pathLst>
                <a:path w="249554" h="255905">
                  <a:moveTo>
                    <a:pt x="249174" y="127873"/>
                  </a:moveTo>
                  <a:lnTo>
                    <a:pt x="249174" y="121777"/>
                  </a:lnTo>
                  <a:lnTo>
                    <a:pt x="248411" y="114919"/>
                  </a:lnTo>
                  <a:lnTo>
                    <a:pt x="236943" y="73432"/>
                  </a:lnTo>
                  <a:lnTo>
                    <a:pt x="216501" y="41206"/>
                  </a:lnTo>
                  <a:lnTo>
                    <a:pt x="157726" y="4499"/>
                  </a:lnTo>
                  <a:lnTo>
                    <a:pt x="123905" y="0"/>
                  </a:lnTo>
                  <a:lnTo>
                    <a:pt x="90140" y="4724"/>
                  </a:lnTo>
                  <a:lnTo>
                    <a:pt x="31800" y="41809"/>
                  </a:lnTo>
                  <a:lnTo>
                    <a:pt x="761" y="115681"/>
                  </a:lnTo>
                  <a:lnTo>
                    <a:pt x="0" y="121777"/>
                  </a:lnTo>
                  <a:lnTo>
                    <a:pt x="0" y="135493"/>
                  </a:lnTo>
                  <a:lnTo>
                    <a:pt x="762" y="142351"/>
                  </a:lnTo>
                  <a:lnTo>
                    <a:pt x="2286" y="154543"/>
                  </a:lnTo>
                  <a:lnTo>
                    <a:pt x="17991" y="194670"/>
                  </a:lnTo>
                  <a:lnTo>
                    <a:pt x="25146" y="203746"/>
                  </a:lnTo>
                  <a:lnTo>
                    <a:pt x="25146" y="122539"/>
                  </a:lnTo>
                  <a:lnTo>
                    <a:pt x="25908" y="117205"/>
                  </a:lnTo>
                  <a:lnTo>
                    <a:pt x="38886" y="76063"/>
                  </a:lnTo>
                  <a:lnTo>
                    <a:pt x="62617" y="47120"/>
                  </a:lnTo>
                  <a:lnTo>
                    <a:pt x="93394" y="30261"/>
                  </a:lnTo>
                  <a:lnTo>
                    <a:pt x="127511" y="25374"/>
                  </a:lnTo>
                  <a:lnTo>
                    <a:pt x="161262" y="32347"/>
                  </a:lnTo>
                  <a:lnTo>
                    <a:pt x="190942" y="51068"/>
                  </a:lnTo>
                  <a:lnTo>
                    <a:pt x="212845" y="81423"/>
                  </a:lnTo>
                  <a:lnTo>
                    <a:pt x="223265" y="123301"/>
                  </a:lnTo>
                  <a:lnTo>
                    <a:pt x="223265" y="206442"/>
                  </a:lnTo>
                  <a:lnTo>
                    <a:pt x="225098" y="204510"/>
                  </a:lnTo>
                  <a:lnTo>
                    <a:pt x="242034" y="170264"/>
                  </a:lnTo>
                  <a:lnTo>
                    <a:pt x="249174" y="127873"/>
                  </a:lnTo>
                  <a:close/>
                </a:path>
                <a:path w="249554" h="255905">
                  <a:moveTo>
                    <a:pt x="223265" y="206442"/>
                  </a:moveTo>
                  <a:lnTo>
                    <a:pt x="223265" y="133969"/>
                  </a:lnTo>
                  <a:lnTo>
                    <a:pt x="213318" y="174110"/>
                  </a:lnTo>
                  <a:lnTo>
                    <a:pt x="192475" y="203846"/>
                  </a:lnTo>
                  <a:lnTo>
                    <a:pt x="164110" y="222904"/>
                  </a:lnTo>
                  <a:lnTo>
                    <a:pt x="131592" y="231009"/>
                  </a:lnTo>
                  <a:lnTo>
                    <a:pt x="98294" y="227890"/>
                  </a:lnTo>
                  <a:lnTo>
                    <a:pt x="42842" y="186881"/>
                  </a:lnTo>
                  <a:lnTo>
                    <a:pt x="27432" y="148447"/>
                  </a:lnTo>
                  <a:lnTo>
                    <a:pt x="25146" y="133207"/>
                  </a:lnTo>
                  <a:lnTo>
                    <a:pt x="25146" y="203746"/>
                  </a:lnTo>
                  <a:lnTo>
                    <a:pt x="41589" y="224605"/>
                  </a:lnTo>
                  <a:lnTo>
                    <a:pt x="70868" y="244604"/>
                  </a:lnTo>
                  <a:lnTo>
                    <a:pt x="103617" y="254923"/>
                  </a:lnTo>
                  <a:lnTo>
                    <a:pt x="137626" y="255817"/>
                  </a:lnTo>
                  <a:lnTo>
                    <a:pt x="170683" y="247543"/>
                  </a:lnTo>
                  <a:lnTo>
                    <a:pt x="200577" y="230355"/>
                  </a:lnTo>
                  <a:lnTo>
                    <a:pt x="223265" y="206442"/>
                  </a:lnTo>
                  <a:close/>
                </a:path>
              </a:pathLst>
            </a:custGeom>
            <a:solidFill>
              <a:srgbClr val="0F1A81"/>
            </a:solidFill>
          </p:spPr>
          <p:txBody>
            <a:bodyPr wrap="square" lIns="0" tIns="0" rIns="0" bIns="0" rtlCol="0"/>
            <a:lstStyle/>
            <a:p>
              <a:endParaRPr/>
            </a:p>
          </p:txBody>
        </p:sp>
        <p:sp>
          <p:nvSpPr>
            <p:cNvPr id="115" name="object 122"/>
            <p:cNvSpPr/>
            <p:nvPr/>
          </p:nvSpPr>
          <p:spPr>
            <a:xfrm>
              <a:off x="9357245" y="1681733"/>
              <a:ext cx="527685" cy="320040"/>
            </a:xfrm>
            <a:custGeom>
              <a:avLst/>
              <a:gdLst/>
              <a:ahLst/>
              <a:cxnLst/>
              <a:rect l="l" t="t" r="r" b="b"/>
              <a:pathLst>
                <a:path w="527684" h="320039">
                  <a:moveTo>
                    <a:pt x="527303" y="21335"/>
                  </a:moveTo>
                  <a:lnTo>
                    <a:pt x="514349" y="0"/>
                  </a:lnTo>
                  <a:lnTo>
                    <a:pt x="0" y="297941"/>
                  </a:lnTo>
                  <a:lnTo>
                    <a:pt x="12953" y="320039"/>
                  </a:lnTo>
                  <a:lnTo>
                    <a:pt x="527303" y="21335"/>
                  </a:lnTo>
                  <a:close/>
                </a:path>
              </a:pathLst>
            </a:custGeom>
            <a:solidFill>
              <a:srgbClr val="0F1A81"/>
            </a:solidFill>
          </p:spPr>
          <p:txBody>
            <a:bodyPr wrap="square" lIns="0" tIns="0" rIns="0" bIns="0" rtlCol="0"/>
            <a:lstStyle/>
            <a:p>
              <a:endParaRPr/>
            </a:p>
          </p:txBody>
        </p:sp>
        <p:sp>
          <p:nvSpPr>
            <p:cNvPr id="116" name="object 123"/>
            <p:cNvSpPr/>
            <p:nvPr/>
          </p:nvSpPr>
          <p:spPr>
            <a:xfrm>
              <a:off x="9357245" y="1917954"/>
              <a:ext cx="527685" cy="320040"/>
            </a:xfrm>
            <a:custGeom>
              <a:avLst/>
              <a:gdLst/>
              <a:ahLst/>
              <a:cxnLst/>
              <a:rect l="l" t="t" r="r" b="b"/>
              <a:pathLst>
                <a:path w="527684" h="320039">
                  <a:moveTo>
                    <a:pt x="527303" y="22097"/>
                  </a:moveTo>
                  <a:lnTo>
                    <a:pt x="514349" y="0"/>
                  </a:lnTo>
                  <a:lnTo>
                    <a:pt x="0" y="298703"/>
                  </a:lnTo>
                  <a:lnTo>
                    <a:pt x="12953" y="320039"/>
                  </a:lnTo>
                  <a:lnTo>
                    <a:pt x="527303" y="22097"/>
                  </a:lnTo>
                  <a:close/>
                </a:path>
              </a:pathLst>
            </a:custGeom>
            <a:solidFill>
              <a:srgbClr val="0F1A81"/>
            </a:solidFill>
          </p:spPr>
          <p:txBody>
            <a:bodyPr wrap="square" lIns="0" tIns="0" rIns="0" bIns="0" rtlCol="0"/>
            <a:lstStyle/>
            <a:p>
              <a:endParaRPr/>
            </a:p>
          </p:txBody>
        </p:sp>
        <p:sp>
          <p:nvSpPr>
            <p:cNvPr id="117" name="object 124"/>
            <p:cNvSpPr/>
            <p:nvPr/>
          </p:nvSpPr>
          <p:spPr>
            <a:xfrm>
              <a:off x="9117203" y="2221992"/>
              <a:ext cx="180340" cy="339090"/>
            </a:xfrm>
            <a:custGeom>
              <a:avLst/>
              <a:gdLst/>
              <a:ahLst/>
              <a:cxnLst/>
              <a:rect l="l" t="t" r="r" b="b"/>
              <a:pathLst>
                <a:path w="180340" h="339089">
                  <a:moveTo>
                    <a:pt x="179832" y="10667"/>
                  </a:moveTo>
                  <a:lnTo>
                    <a:pt x="156972" y="0"/>
                  </a:lnTo>
                  <a:lnTo>
                    <a:pt x="0" y="328422"/>
                  </a:lnTo>
                  <a:lnTo>
                    <a:pt x="22860" y="339090"/>
                  </a:lnTo>
                  <a:lnTo>
                    <a:pt x="179832" y="10667"/>
                  </a:lnTo>
                  <a:close/>
                </a:path>
              </a:pathLst>
            </a:custGeom>
            <a:solidFill>
              <a:srgbClr val="0F1A81"/>
            </a:solidFill>
          </p:spPr>
          <p:txBody>
            <a:bodyPr wrap="square" lIns="0" tIns="0" rIns="0" bIns="0" rtlCol="0"/>
            <a:lstStyle/>
            <a:p>
              <a:endParaRPr/>
            </a:p>
          </p:txBody>
        </p:sp>
        <p:sp>
          <p:nvSpPr>
            <p:cNvPr id="118" name="object 125"/>
            <p:cNvSpPr/>
            <p:nvPr/>
          </p:nvSpPr>
          <p:spPr>
            <a:xfrm>
              <a:off x="9351911" y="2221992"/>
              <a:ext cx="182245" cy="340360"/>
            </a:xfrm>
            <a:custGeom>
              <a:avLst/>
              <a:gdLst/>
              <a:ahLst/>
              <a:cxnLst/>
              <a:rect l="l" t="t" r="r" b="b"/>
              <a:pathLst>
                <a:path w="182245" h="340360">
                  <a:moveTo>
                    <a:pt x="182117" y="328422"/>
                  </a:moveTo>
                  <a:lnTo>
                    <a:pt x="22859" y="0"/>
                  </a:lnTo>
                  <a:lnTo>
                    <a:pt x="0" y="10668"/>
                  </a:lnTo>
                  <a:lnTo>
                    <a:pt x="159257" y="339852"/>
                  </a:lnTo>
                  <a:lnTo>
                    <a:pt x="182117" y="328422"/>
                  </a:lnTo>
                  <a:close/>
                </a:path>
              </a:pathLst>
            </a:custGeom>
            <a:solidFill>
              <a:srgbClr val="0F1A81"/>
            </a:solidFill>
          </p:spPr>
          <p:txBody>
            <a:bodyPr wrap="square" lIns="0" tIns="0" rIns="0" bIns="0" rtlCol="0"/>
            <a:lstStyle/>
            <a:p>
              <a:endParaRPr/>
            </a:p>
          </p:txBody>
        </p:sp>
        <p:sp>
          <p:nvSpPr>
            <p:cNvPr id="119" name="object 126"/>
            <p:cNvSpPr/>
            <p:nvPr/>
          </p:nvSpPr>
          <p:spPr>
            <a:xfrm>
              <a:off x="9128645" y="2556129"/>
              <a:ext cx="394335" cy="0"/>
            </a:xfrm>
            <a:custGeom>
              <a:avLst/>
              <a:gdLst/>
              <a:ahLst/>
              <a:cxnLst/>
              <a:rect l="l" t="t" r="r" b="b"/>
              <a:pathLst>
                <a:path w="394334">
                  <a:moveTo>
                    <a:pt x="0" y="0"/>
                  </a:moveTo>
                  <a:lnTo>
                    <a:pt x="393953" y="0"/>
                  </a:lnTo>
                </a:path>
              </a:pathLst>
            </a:custGeom>
            <a:ln w="25145">
              <a:solidFill>
                <a:srgbClr val="0F1A81"/>
              </a:solidFill>
            </a:ln>
          </p:spPr>
          <p:txBody>
            <a:bodyPr wrap="square" lIns="0" tIns="0" rIns="0" bIns="0" rtlCol="0"/>
            <a:lstStyle/>
            <a:p>
              <a:endParaRPr/>
            </a:p>
          </p:txBody>
        </p:sp>
        <p:sp>
          <p:nvSpPr>
            <p:cNvPr id="120" name="object 127"/>
            <p:cNvSpPr/>
            <p:nvPr/>
          </p:nvSpPr>
          <p:spPr>
            <a:xfrm>
              <a:off x="9351911" y="1647444"/>
              <a:ext cx="182245" cy="339090"/>
            </a:xfrm>
            <a:custGeom>
              <a:avLst/>
              <a:gdLst/>
              <a:ahLst/>
              <a:cxnLst/>
              <a:rect l="l" t="t" r="r" b="b"/>
              <a:pathLst>
                <a:path w="182245" h="339089">
                  <a:moveTo>
                    <a:pt x="182117" y="10667"/>
                  </a:moveTo>
                  <a:lnTo>
                    <a:pt x="159257" y="0"/>
                  </a:lnTo>
                  <a:lnTo>
                    <a:pt x="0" y="328421"/>
                  </a:lnTo>
                  <a:lnTo>
                    <a:pt x="22859" y="339089"/>
                  </a:lnTo>
                  <a:lnTo>
                    <a:pt x="182117" y="10667"/>
                  </a:lnTo>
                  <a:close/>
                </a:path>
              </a:pathLst>
            </a:custGeom>
            <a:solidFill>
              <a:srgbClr val="0F1A81"/>
            </a:solidFill>
          </p:spPr>
          <p:txBody>
            <a:bodyPr wrap="square" lIns="0" tIns="0" rIns="0" bIns="0" rtlCol="0"/>
            <a:lstStyle/>
            <a:p>
              <a:endParaRPr/>
            </a:p>
          </p:txBody>
        </p:sp>
        <p:sp>
          <p:nvSpPr>
            <p:cNvPr id="121" name="object 128"/>
            <p:cNvSpPr/>
            <p:nvPr/>
          </p:nvSpPr>
          <p:spPr>
            <a:xfrm>
              <a:off x="9117203" y="1647444"/>
              <a:ext cx="180340" cy="339090"/>
            </a:xfrm>
            <a:custGeom>
              <a:avLst/>
              <a:gdLst/>
              <a:ahLst/>
              <a:cxnLst/>
              <a:rect l="l" t="t" r="r" b="b"/>
              <a:pathLst>
                <a:path w="180340" h="339089">
                  <a:moveTo>
                    <a:pt x="179832" y="328421"/>
                  </a:moveTo>
                  <a:lnTo>
                    <a:pt x="22860" y="0"/>
                  </a:lnTo>
                  <a:lnTo>
                    <a:pt x="0" y="10667"/>
                  </a:lnTo>
                  <a:lnTo>
                    <a:pt x="156972" y="339089"/>
                  </a:lnTo>
                  <a:lnTo>
                    <a:pt x="179832" y="328421"/>
                  </a:lnTo>
                  <a:close/>
                </a:path>
              </a:pathLst>
            </a:custGeom>
            <a:solidFill>
              <a:srgbClr val="0F1A81"/>
            </a:solidFill>
          </p:spPr>
          <p:txBody>
            <a:bodyPr wrap="square" lIns="0" tIns="0" rIns="0" bIns="0" rtlCol="0"/>
            <a:lstStyle/>
            <a:p>
              <a:endParaRPr/>
            </a:p>
          </p:txBody>
        </p:sp>
        <p:sp>
          <p:nvSpPr>
            <p:cNvPr id="122" name="object 129"/>
            <p:cNvSpPr/>
            <p:nvPr/>
          </p:nvSpPr>
          <p:spPr>
            <a:xfrm>
              <a:off x="9128645" y="1652777"/>
              <a:ext cx="394335" cy="0"/>
            </a:xfrm>
            <a:custGeom>
              <a:avLst/>
              <a:gdLst/>
              <a:ahLst/>
              <a:cxnLst/>
              <a:rect l="l" t="t" r="r" b="b"/>
              <a:pathLst>
                <a:path w="394334">
                  <a:moveTo>
                    <a:pt x="0" y="0"/>
                  </a:moveTo>
                  <a:lnTo>
                    <a:pt x="393953" y="0"/>
                  </a:lnTo>
                </a:path>
              </a:pathLst>
            </a:custGeom>
            <a:ln w="25908">
              <a:solidFill>
                <a:srgbClr val="0F1A81"/>
              </a:solidFill>
            </a:ln>
          </p:spPr>
          <p:txBody>
            <a:bodyPr wrap="square" lIns="0" tIns="0" rIns="0" bIns="0" rtlCol="0"/>
            <a:lstStyle/>
            <a:p>
              <a:endParaRPr/>
            </a:p>
          </p:txBody>
        </p:sp>
        <p:sp>
          <p:nvSpPr>
            <p:cNvPr id="123" name="object 130"/>
            <p:cNvSpPr/>
            <p:nvPr/>
          </p:nvSpPr>
          <p:spPr>
            <a:xfrm>
              <a:off x="8315591" y="1652777"/>
              <a:ext cx="51435" cy="328930"/>
            </a:xfrm>
            <a:custGeom>
              <a:avLst/>
              <a:gdLst/>
              <a:ahLst/>
              <a:cxnLst/>
              <a:rect l="l" t="t" r="r" b="b"/>
              <a:pathLst>
                <a:path w="51434" h="328930">
                  <a:moveTo>
                    <a:pt x="51054" y="201167"/>
                  </a:moveTo>
                  <a:lnTo>
                    <a:pt x="0" y="201167"/>
                  </a:lnTo>
                  <a:lnTo>
                    <a:pt x="12953" y="264826"/>
                  </a:lnTo>
                  <a:lnTo>
                    <a:pt x="12953" y="214121"/>
                  </a:lnTo>
                  <a:lnTo>
                    <a:pt x="38100" y="214121"/>
                  </a:lnTo>
                  <a:lnTo>
                    <a:pt x="38100" y="266689"/>
                  </a:lnTo>
                  <a:lnTo>
                    <a:pt x="51054" y="201167"/>
                  </a:lnTo>
                  <a:close/>
                </a:path>
                <a:path w="51434" h="328930">
                  <a:moveTo>
                    <a:pt x="38100" y="201167"/>
                  </a:moveTo>
                  <a:lnTo>
                    <a:pt x="38100" y="0"/>
                  </a:lnTo>
                  <a:lnTo>
                    <a:pt x="12953" y="0"/>
                  </a:lnTo>
                  <a:lnTo>
                    <a:pt x="12953" y="201167"/>
                  </a:lnTo>
                  <a:lnTo>
                    <a:pt x="38100" y="201167"/>
                  </a:lnTo>
                  <a:close/>
                </a:path>
                <a:path w="51434" h="328930">
                  <a:moveTo>
                    <a:pt x="38100" y="266689"/>
                  </a:moveTo>
                  <a:lnTo>
                    <a:pt x="38100" y="214121"/>
                  </a:lnTo>
                  <a:lnTo>
                    <a:pt x="12953" y="214121"/>
                  </a:lnTo>
                  <a:lnTo>
                    <a:pt x="12953" y="264826"/>
                  </a:lnTo>
                  <a:lnTo>
                    <a:pt x="25895" y="328421"/>
                  </a:lnTo>
                  <a:lnTo>
                    <a:pt x="38100" y="266689"/>
                  </a:lnTo>
                  <a:close/>
                </a:path>
              </a:pathLst>
            </a:custGeom>
            <a:solidFill>
              <a:srgbClr val="0F1A81"/>
            </a:solidFill>
          </p:spPr>
          <p:txBody>
            <a:bodyPr wrap="square" lIns="0" tIns="0" rIns="0" bIns="0" rtlCol="0"/>
            <a:lstStyle/>
            <a:p>
              <a:endParaRPr/>
            </a:p>
          </p:txBody>
        </p:sp>
        <p:sp>
          <p:nvSpPr>
            <p:cNvPr id="124" name="object 131"/>
            <p:cNvSpPr/>
            <p:nvPr/>
          </p:nvSpPr>
          <p:spPr>
            <a:xfrm>
              <a:off x="8315591" y="2224277"/>
              <a:ext cx="51435" cy="328930"/>
            </a:xfrm>
            <a:custGeom>
              <a:avLst/>
              <a:gdLst/>
              <a:ahLst/>
              <a:cxnLst/>
              <a:rect l="l" t="t" r="r" b="b"/>
              <a:pathLst>
                <a:path w="51434" h="328930">
                  <a:moveTo>
                    <a:pt x="51054" y="127253"/>
                  </a:moveTo>
                  <a:lnTo>
                    <a:pt x="25895" y="0"/>
                  </a:lnTo>
                  <a:lnTo>
                    <a:pt x="0" y="127253"/>
                  </a:lnTo>
                  <a:lnTo>
                    <a:pt x="12953" y="127253"/>
                  </a:lnTo>
                  <a:lnTo>
                    <a:pt x="12953" y="114299"/>
                  </a:lnTo>
                  <a:lnTo>
                    <a:pt x="38100" y="114299"/>
                  </a:lnTo>
                  <a:lnTo>
                    <a:pt x="38100" y="127253"/>
                  </a:lnTo>
                  <a:lnTo>
                    <a:pt x="51054" y="127253"/>
                  </a:lnTo>
                  <a:close/>
                </a:path>
                <a:path w="51434" h="328930">
                  <a:moveTo>
                    <a:pt x="38100" y="127253"/>
                  </a:moveTo>
                  <a:lnTo>
                    <a:pt x="38100" y="114299"/>
                  </a:lnTo>
                  <a:lnTo>
                    <a:pt x="12953" y="114299"/>
                  </a:lnTo>
                  <a:lnTo>
                    <a:pt x="12953" y="127253"/>
                  </a:lnTo>
                  <a:lnTo>
                    <a:pt x="38100" y="127253"/>
                  </a:lnTo>
                  <a:close/>
                </a:path>
                <a:path w="51434" h="328930">
                  <a:moveTo>
                    <a:pt x="38100" y="328421"/>
                  </a:moveTo>
                  <a:lnTo>
                    <a:pt x="38100" y="127253"/>
                  </a:lnTo>
                  <a:lnTo>
                    <a:pt x="12953" y="127253"/>
                  </a:lnTo>
                  <a:lnTo>
                    <a:pt x="12953" y="328421"/>
                  </a:lnTo>
                  <a:lnTo>
                    <a:pt x="38100" y="328421"/>
                  </a:lnTo>
                  <a:close/>
                </a:path>
              </a:pathLst>
            </a:custGeom>
            <a:solidFill>
              <a:srgbClr val="0F1A81"/>
            </a:solidFill>
          </p:spPr>
          <p:txBody>
            <a:bodyPr wrap="square" lIns="0" tIns="0" rIns="0" bIns="0" rtlCol="0"/>
            <a:lstStyle/>
            <a:p>
              <a:endParaRPr/>
            </a:p>
          </p:txBody>
        </p:sp>
        <p:sp>
          <p:nvSpPr>
            <p:cNvPr id="125" name="object 132"/>
            <p:cNvSpPr txBox="1"/>
            <p:nvPr/>
          </p:nvSpPr>
          <p:spPr>
            <a:xfrm>
              <a:off x="8418709" y="1528826"/>
              <a:ext cx="280035" cy="391160"/>
            </a:xfrm>
            <a:prstGeom prst="rect">
              <a:avLst/>
            </a:prstGeom>
          </p:spPr>
          <p:txBody>
            <a:bodyPr vert="horz" wrap="square" lIns="0" tIns="12700" rIns="0" bIns="0" rtlCol="0">
              <a:spAutoFit/>
            </a:bodyPr>
            <a:lstStyle/>
            <a:p>
              <a:pPr marL="12700">
                <a:lnSpc>
                  <a:spcPct val="100000"/>
                </a:lnSpc>
                <a:spcBef>
                  <a:spcPts val="100"/>
                </a:spcBef>
              </a:pPr>
              <a:r>
                <a:rPr sz="2400" b="1" i="1" dirty="0">
                  <a:solidFill>
                    <a:srgbClr val="0F1A82"/>
                  </a:solidFill>
                  <a:latin typeface="Times New Roman"/>
                  <a:cs typeface="Times New Roman"/>
                </a:rPr>
                <a:t>d</a:t>
              </a:r>
              <a:r>
                <a:rPr sz="2400" b="1" baseline="-20833" dirty="0">
                  <a:solidFill>
                    <a:srgbClr val="0F1A82"/>
                  </a:solidFill>
                  <a:latin typeface="Times New Roman"/>
                  <a:cs typeface="Times New Roman"/>
                </a:rPr>
                <a:t>1</a:t>
              </a:r>
              <a:endParaRPr sz="2400" baseline="-20833">
                <a:latin typeface="Times New Roman"/>
                <a:cs typeface="Times New Roman"/>
              </a:endParaRPr>
            </a:p>
          </p:txBody>
        </p:sp>
        <p:sp>
          <p:nvSpPr>
            <p:cNvPr id="126" name="object 133"/>
            <p:cNvSpPr/>
            <p:nvPr/>
          </p:nvSpPr>
          <p:spPr>
            <a:xfrm>
              <a:off x="6851777" y="1692401"/>
              <a:ext cx="237490" cy="51435"/>
            </a:xfrm>
            <a:custGeom>
              <a:avLst/>
              <a:gdLst/>
              <a:ahLst/>
              <a:cxnLst/>
              <a:rect l="l" t="t" r="r" b="b"/>
              <a:pathLst>
                <a:path w="237490" h="51435">
                  <a:moveTo>
                    <a:pt x="127266" y="12953"/>
                  </a:moveTo>
                  <a:lnTo>
                    <a:pt x="127266" y="0"/>
                  </a:lnTo>
                  <a:lnTo>
                    <a:pt x="0" y="25145"/>
                  </a:lnTo>
                  <a:lnTo>
                    <a:pt x="114312" y="48416"/>
                  </a:lnTo>
                  <a:lnTo>
                    <a:pt x="114312" y="12953"/>
                  </a:lnTo>
                  <a:lnTo>
                    <a:pt x="127266" y="12953"/>
                  </a:lnTo>
                  <a:close/>
                </a:path>
                <a:path w="237490" h="51435">
                  <a:moveTo>
                    <a:pt x="236994" y="38099"/>
                  </a:moveTo>
                  <a:lnTo>
                    <a:pt x="236994" y="12953"/>
                  </a:lnTo>
                  <a:lnTo>
                    <a:pt x="114312" y="12953"/>
                  </a:lnTo>
                  <a:lnTo>
                    <a:pt x="114312" y="38099"/>
                  </a:lnTo>
                  <a:lnTo>
                    <a:pt x="236994" y="38099"/>
                  </a:lnTo>
                  <a:close/>
                </a:path>
                <a:path w="237490" h="51435">
                  <a:moveTo>
                    <a:pt x="127266" y="51053"/>
                  </a:moveTo>
                  <a:lnTo>
                    <a:pt x="127266" y="38099"/>
                  </a:lnTo>
                  <a:lnTo>
                    <a:pt x="114312" y="38099"/>
                  </a:lnTo>
                  <a:lnTo>
                    <a:pt x="114312" y="48416"/>
                  </a:lnTo>
                  <a:lnTo>
                    <a:pt x="127266" y="51053"/>
                  </a:lnTo>
                  <a:close/>
                </a:path>
              </a:pathLst>
            </a:custGeom>
            <a:solidFill>
              <a:srgbClr val="FF0000"/>
            </a:solidFill>
          </p:spPr>
          <p:txBody>
            <a:bodyPr wrap="square" lIns="0" tIns="0" rIns="0" bIns="0" rtlCol="0"/>
            <a:lstStyle/>
            <a:p>
              <a:endParaRPr/>
            </a:p>
          </p:txBody>
        </p:sp>
        <p:sp>
          <p:nvSpPr>
            <p:cNvPr id="127" name="object 134"/>
            <p:cNvSpPr/>
            <p:nvPr/>
          </p:nvSpPr>
          <p:spPr>
            <a:xfrm>
              <a:off x="6851777" y="1897379"/>
              <a:ext cx="237490" cy="50800"/>
            </a:xfrm>
            <a:custGeom>
              <a:avLst/>
              <a:gdLst/>
              <a:ahLst/>
              <a:cxnLst/>
              <a:rect l="l" t="t" r="r" b="b"/>
              <a:pathLst>
                <a:path w="237490" h="50800">
                  <a:moveTo>
                    <a:pt x="127266" y="12192"/>
                  </a:moveTo>
                  <a:lnTo>
                    <a:pt x="127266" y="0"/>
                  </a:lnTo>
                  <a:lnTo>
                    <a:pt x="0" y="25145"/>
                  </a:lnTo>
                  <a:lnTo>
                    <a:pt x="114312" y="47732"/>
                  </a:lnTo>
                  <a:lnTo>
                    <a:pt x="114312" y="12192"/>
                  </a:lnTo>
                  <a:lnTo>
                    <a:pt x="127266" y="12192"/>
                  </a:lnTo>
                  <a:close/>
                </a:path>
                <a:path w="237490" h="50800">
                  <a:moveTo>
                    <a:pt x="236994" y="38100"/>
                  </a:moveTo>
                  <a:lnTo>
                    <a:pt x="236994" y="12192"/>
                  </a:lnTo>
                  <a:lnTo>
                    <a:pt x="114312" y="12192"/>
                  </a:lnTo>
                  <a:lnTo>
                    <a:pt x="114312" y="38100"/>
                  </a:lnTo>
                  <a:lnTo>
                    <a:pt x="236994" y="38100"/>
                  </a:lnTo>
                  <a:close/>
                </a:path>
                <a:path w="237490" h="50800">
                  <a:moveTo>
                    <a:pt x="127266" y="50292"/>
                  </a:moveTo>
                  <a:lnTo>
                    <a:pt x="127266" y="38100"/>
                  </a:lnTo>
                  <a:lnTo>
                    <a:pt x="114312" y="38100"/>
                  </a:lnTo>
                  <a:lnTo>
                    <a:pt x="114312" y="47732"/>
                  </a:lnTo>
                  <a:lnTo>
                    <a:pt x="127266" y="50292"/>
                  </a:lnTo>
                  <a:close/>
                </a:path>
              </a:pathLst>
            </a:custGeom>
            <a:solidFill>
              <a:srgbClr val="FF0000"/>
            </a:solidFill>
          </p:spPr>
          <p:txBody>
            <a:bodyPr wrap="square" lIns="0" tIns="0" rIns="0" bIns="0" rtlCol="0"/>
            <a:lstStyle/>
            <a:p>
              <a:endParaRPr/>
            </a:p>
          </p:txBody>
        </p:sp>
        <p:sp>
          <p:nvSpPr>
            <p:cNvPr id="128" name="object 135"/>
            <p:cNvSpPr/>
            <p:nvPr/>
          </p:nvSpPr>
          <p:spPr>
            <a:xfrm>
              <a:off x="7477391" y="2105405"/>
              <a:ext cx="237490" cy="50800"/>
            </a:xfrm>
            <a:custGeom>
              <a:avLst/>
              <a:gdLst/>
              <a:ahLst/>
              <a:cxnLst/>
              <a:rect l="l" t="t" r="r" b="b"/>
              <a:pathLst>
                <a:path w="237490" h="50800">
                  <a:moveTo>
                    <a:pt x="122681" y="38100"/>
                  </a:moveTo>
                  <a:lnTo>
                    <a:pt x="122681" y="12192"/>
                  </a:lnTo>
                  <a:lnTo>
                    <a:pt x="0" y="12192"/>
                  </a:lnTo>
                  <a:lnTo>
                    <a:pt x="0" y="38100"/>
                  </a:lnTo>
                  <a:lnTo>
                    <a:pt x="122681" y="38100"/>
                  </a:lnTo>
                  <a:close/>
                </a:path>
                <a:path w="237490" h="50800">
                  <a:moveTo>
                    <a:pt x="236982" y="25145"/>
                  </a:moveTo>
                  <a:lnTo>
                    <a:pt x="109727" y="0"/>
                  </a:lnTo>
                  <a:lnTo>
                    <a:pt x="109727" y="12192"/>
                  </a:lnTo>
                  <a:lnTo>
                    <a:pt x="122681" y="12192"/>
                  </a:lnTo>
                  <a:lnTo>
                    <a:pt x="122681" y="47732"/>
                  </a:lnTo>
                  <a:lnTo>
                    <a:pt x="236982" y="25145"/>
                  </a:lnTo>
                  <a:close/>
                </a:path>
                <a:path w="237490" h="50800">
                  <a:moveTo>
                    <a:pt x="122681" y="47732"/>
                  </a:moveTo>
                  <a:lnTo>
                    <a:pt x="122681" y="38100"/>
                  </a:lnTo>
                  <a:lnTo>
                    <a:pt x="109727" y="38100"/>
                  </a:lnTo>
                  <a:lnTo>
                    <a:pt x="109727" y="50292"/>
                  </a:lnTo>
                  <a:lnTo>
                    <a:pt x="122681" y="47732"/>
                  </a:lnTo>
                  <a:close/>
                </a:path>
              </a:pathLst>
            </a:custGeom>
            <a:solidFill>
              <a:srgbClr val="FF0000"/>
            </a:solidFill>
          </p:spPr>
          <p:txBody>
            <a:bodyPr wrap="square" lIns="0" tIns="0" rIns="0" bIns="0" rtlCol="0"/>
            <a:lstStyle/>
            <a:p>
              <a:endParaRPr/>
            </a:p>
          </p:txBody>
        </p:sp>
        <p:sp>
          <p:nvSpPr>
            <p:cNvPr id="129" name="object 136"/>
            <p:cNvSpPr/>
            <p:nvPr/>
          </p:nvSpPr>
          <p:spPr>
            <a:xfrm>
              <a:off x="7477391" y="2517648"/>
              <a:ext cx="237490" cy="51435"/>
            </a:xfrm>
            <a:custGeom>
              <a:avLst/>
              <a:gdLst/>
              <a:ahLst/>
              <a:cxnLst/>
              <a:rect l="l" t="t" r="r" b="b"/>
              <a:pathLst>
                <a:path w="237490" h="51435">
                  <a:moveTo>
                    <a:pt x="122681" y="38099"/>
                  </a:moveTo>
                  <a:lnTo>
                    <a:pt x="122681" y="12953"/>
                  </a:lnTo>
                  <a:lnTo>
                    <a:pt x="0" y="12953"/>
                  </a:lnTo>
                  <a:lnTo>
                    <a:pt x="0" y="38099"/>
                  </a:lnTo>
                  <a:lnTo>
                    <a:pt x="122681" y="38099"/>
                  </a:lnTo>
                  <a:close/>
                </a:path>
                <a:path w="237490" h="51435">
                  <a:moveTo>
                    <a:pt x="236982" y="25907"/>
                  </a:moveTo>
                  <a:lnTo>
                    <a:pt x="109727" y="0"/>
                  </a:lnTo>
                  <a:lnTo>
                    <a:pt x="109727" y="12953"/>
                  </a:lnTo>
                  <a:lnTo>
                    <a:pt x="122681" y="12953"/>
                  </a:lnTo>
                  <a:lnTo>
                    <a:pt x="122681" y="48494"/>
                  </a:lnTo>
                  <a:lnTo>
                    <a:pt x="236982" y="25907"/>
                  </a:lnTo>
                  <a:close/>
                </a:path>
                <a:path w="237490" h="51435">
                  <a:moveTo>
                    <a:pt x="122681" y="48494"/>
                  </a:moveTo>
                  <a:lnTo>
                    <a:pt x="122681" y="38099"/>
                  </a:lnTo>
                  <a:lnTo>
                    <a:pt x="109727" y="38099"/>
                  </a:lnTo>
                  <a:lnTo>
                    <a:pt x="109727" y="51053"/>
                  </a:lnTo>
                  <a:lnTo>
                    <a:pt x="122681" y="48494"/>
                  </a:lnTo>
                  <a:close/>
                </a:path>
              </a:pathLst>
            </a:custGeom>
            <a:solidFill>
              <a:srgbClr val="FF0000"/>
            </a:solidFill>
          </p:spPr>
          <p:txBody>
            <a:bodyPr wrap="square" lIns="0" tIns="0" rIns="0" bIns="0" rtlCol="0"/>
            <a:lstStyle/>
            <a:p>
              <a:endParaRPr/>
            </a:p>
          </p:txBody>
        </p:sp>
        <p:sp>
          <p:nvSpPr>
            <p:cNvPr id="130" name="object 137"/>
            <p:cNvSpPr/>
            <p:nvPr/>
          </p:nvSpPr>
          <p:spPr>
            <a:xfrm>
              <a:off x="7477391" y="2311145"/>
              <a:ext cx="237490" cy="51435"/>
            </a:xfrm>
            <a:custGeom>
              <a:avLst/>
              <a:gdLst/>
              <a:ahLst/>
              <a:cxnLst/>
              <a:rect l="l" t="t" r="r" b="b"/>
              <a:pathLst>
                <a:path w="237490" h="51435">
                  <a:moveTo>
                    <a:pt x="122681" y="38100"/>
                  </a:moveTo>
                  <a:lnTo>
                    <a:pt x="122681" y="12954"/>
                  </a:lnTo>
                  <a:lnTo>
                    <a:pt x="0" y="12954"/>
                  </a:lnTo>
                  <a:lnTo>
                    <a:pt x="0" y="38100"/>
                  </a:lnTo>
                  <a:lnTo>
                    <a:pt x="122681" y="38100"/>
                  </a:lnTo>
                  <a:close/>
                </a:path>
                <a:path w="237490" h="51435">
                  <a:moveTo>
                    <a:pt x="236982" y="25908"/>
                  </a:moveTo>
                  <a:lnTo>
                    <a:pt x="109727" y="0"/>
                  </a:lnTo>
                  <a:lnTo>
                    <a:pt x="109727" y="12954"/>
                  </a:lnTo>
                  <a:lnTo>
                    <a:pt x="122681" y="12954"/>
                  </a:lnTo>
                  <a:lnTo>
                    <a:pt x="122681" y="48494"/>
                  </a:lnTo>
                  <a:lnTo>
                    <a:pt x="236982" y="25908"/>
                  </a:lnTo>
                  <a:close/>
                </a:path>
                <a:path w="237490" h="51435">
                  <a:moveTo>
                    <a:pt x="122681" y="48494"/>
                  </a:moveTo>
                  <a:lnTo>
                    <a:pt x="122681" y="38100"/>
                  </a:lnTo>
                  <a:lnTo>
                    <a:pt x="109727" y="38100"/>
                  </a:lnTo>
                  <a:lnTo>
                    <a:pt x="109727" y="51054"/>
                  </a:lnTo>
                  <a:lnTo>
                    <a:pt x="122681" y="48494"/>
                  </a:lnTo>
                  <a:close/>
                </a:path>
              </a:pathLst>
            </a:custGeom>
            <a:solidFill>
              <a:srgbClr val="FF0000"/>
            </a:solidFill>
          </p:spPr>
          <p:txBody>
            <a:bodyPr wrap="square" lIns="0" tIns="0" rIns="0" bIns="0" rtlCol="0"/>
            <a:lstStyle/>
            <a:p>
              <a:endParaRPr/>
            </a:p>
          </p:txBody>
        </p:sp>
        <p:sp>
          <p:nvSpPr>
            <p:cNvPr id="131" name="object 138"/>
            <p:cNvSpPr/>
            <p:nvPr/>
          </p:nvSpPr>
          <p:spPr>
            <a:xfrm>
              <a:off x="7477391" y="1693926"/>
              <a:ext cx="237490" cy="51435"/>
            </a:xfrm>
            <a:custGeom>
              <a:avLst/>
              <a:gdLst/>
              <a:ahLst/>
              <a:cxnLst/>
              <a:rect l="l" t="t" r="r" b="b"/>
              <a:pathLst>
                <a:path w="237490" h="51435">
                  <a:moveTo>
                    <a:pt x="122681" y="38099"/>
                  </a:moveTo>
                  <a:lnTo>
                    <a:pt x="122681" y="12953"/>
                  </a:lnTo>
                  <a:lnTo>
                    <a:pt x="0" y="12953"/>
                  </a:lnTo>
                  <a:lnTo>
                    <a:pt x="0" y="38099"/>
                  </a:lnTo>
                  <a:lnTo>
                    <a:pt x="122681" y="38099"/>
                  </a:lnTo>
                  <a:close/>
                </a:path>
                <a:path w="237490" h="51435">
                  <a:moveTo>
                    <a:pt x="236982" y="25145"/>
                  </a:moveTo>
                  <a:lnTo>
                    <a:pt x="109727" y="0"/>
                  </a:lnTo>
                  <a:lnTo>
                    <a:pt x="109727" y="12953"/>
                  </a:lnTo>
                  <a:lnTo>
                    <a:pt x="122681" y="12953"/>
                  </a:lnTo>
                  <a:lnTo>
                    <a:pt x="122681" y="48416"/>
                  </a:lnTo>
                  <a:lnTo>
                    <a:pt x="236982" y="25145"/>
                  </a:lnTo>
                  <a:close/>
                </a:path>
                <a:path w="237490" h="51435">
                  <a:moveTo>
                    <a:pt x="122681" y="48416"/>
                  </a:moveTo>
                  <a:lnTo>
                    <a:pt x="122681" y="38099"/>
                  </a:lnTo>
                  <a:lnTo>
                    <a:pt x="109727" y="38099"/>
                  </a:lnTo>
                  <a:lnTo>
                    <a:pt x="109727" y="51053"/>
                  </a:lnTo>
                  <a:lnTo>
                    <a:pt x="122681" y="48416"/>
                  </a:lnTo>
                  <a:close/>
                </a:path>
              </a:pathLst>
            </a:custGeom>
            <a:solidFill>
              <a:srgbClr val="FF0000"/>
            </a:solidFill>
          </p:spPr>
          <p:txBody>
            <a:bodyPr wrap="square" lIns="0" tIns="0" rIns="0" bIns="0" rtlCol="0"/>
            <a:lstStyle/>
            <a:p>
              <a:endParaRPr/>
            </a:p>
          </p:txBody>
        </p:sp>
        <p:sp>
          <p:nvSpPr>
            <p:cNvPr id="132" name="object 139"/>
            <p:cNvSpPr/>
            <p:nvPr/>
          </p:nvSpPr>
          <p:spPr>
            <a:xfrm>
              <a:off x="7477391" y="1898904"/>
              <a:ext cx="237490" cy="50800"/>
            </a:xfrm>
            <a:custGeom>
              <a:avLst/>
              <a:gdLst/>
              <a:ahLst/>
              <a:cxnLst/>
              <a:rect l="l" t="t" r="r" b="b"/>
              <a:pathLst>
                <a:path w="237490" h="50800">
                  <a:moveTo>
                    <a:pt x="122681" y="38100"/>
                  </a:moveTo>
                  <a:lnTo>
                    <a:pt x="122681" y="12192"/>
                  </a:lnTo>
                  <a:lnTo>
                    <a:pt x="0" y="12192"/>
                  </a:lnTo>
                  <a:lnTo>
                    <a:pt x="0" y="38100"/>
                  </a:lnTo>
                  <a:lnTo>
                    <a:pt x="122681" y="38100"/>
                  </a:lnTo>
                  <a:close/>
                </a:path>
                <a:path w="237490" h="50800">
                  <a:moveTo>
                    <a:pt x="236982" y="25145"/>
                  </a:moveTo>
                  <a:lnTo>
                    <a:pt x="109727" y="0"/>
                  </a:lnTo>
                  <a:lnTo>
                    <a:pt x="109727" y="12192"/>
                  </a:lnTo>
                  <a:lnTo>
                    <a:pt x="122681" y="12192"/>
                  </a:lnTo>
                  <a:lnTo>
                    <a:pt x="122681" y="47732"/>
                  </a:lnTo>
                  <a:lnTo>
                    <a:pt x="236982" y="25145"/>
                  </a:lnTo>
                  <a:close/>
                </a:path>
                <a:path w="237490" h="50800">
                  <a:moveTo>
                    <a:pt x="122681" y="47732"/>
                  </a:moveTo>
                  <a:lnTo>
                    <a:pt x="122681" y="38100"/>
                  </a:lnTo>
                  <a:lnTo>
                    <a:pt x="109727" y="38100"/>
                  </a:lnTo>
                  <a:lnTo>
                    <a:pt x="109727" y="50291"/>
                  </a:lnTo>
                  <a:lnTo>
                    <a:pt x="122681" y="47732"/>
                  </a:lnTo>
                  <a:close/>
                </a:path>
              </a:pathLst>
            </a:custGeom>
            <a:solidFill>
              <a:srgbClr val="FF0000"/>
            </a:solidFill>
          </p:spPr>
          <p:txBody>
            <a:bodyPr wrap="square" lIns="0" tIns="0" rIns="0" bIns="0" rtlCol="0"/>
            <a:lstStyle/>
            <a:p>
              <a:endParaRPr/>
            </a:p>
          </p:txBody>
        </p:sp>
        <p:sp>
          <p:nvSpPr>
            <p:cNvPr id="133" name="object 140"/>
            <p:cNvSpPr/>
            <p:nvPr/>
          </p:nvSpPr>
          <p:spPr>
            <a:xfrm>
              <a:off x="6716915" y="1075182"/>
              <a:ext cx="320027" cy="169163"/>
            </a:xfrm>
            <a:prstGeom prst="rect">
              <a:avLst/>
            </a:prstGeom>
            <a:blipFill>
              <a:blip r:embed="rId13" cstate="print"/>
              <a:stretch>
                <a:fillRect/>
              </a:stretch>
            </a:blipFill>
          </p:spPr>
          <p:txBody>
            <a:bodyPr wrap="square" lIns="0" tIns="0" rIns="0" bIns="0" rtlCol="0"/>
            <a:lstStyle/>
            <a:p>
              <a:endParaRPr/>
            </a:p>
          </p:txBody>
        </p:sp>
        <p:sp>
          <p:nvSpPr>
            <p:cNvPr id="134" name="object 141"/>
            <p:cNvSpPr/>
            <p:nvPr/>
          </p:nvSpPr>
          <p:spPr>
            <a:xfrm>
              <a:off x="6784720" y="1158239"/>
              <a:ext cx="143510" cy="0"/>
            </a:xfrm>
            <a:custGeom>
              <a:avLst/>
              <a:gdLst/>
              <a:ahLst/>
              <a:cxnLst/>
              <a:rect l="l" t="t" r="r" b="b"/>
              <a:pathLst>
                <a:path w="143509">
                  <a:moveTo>
                    <a:pt x="0" y="0"/>
                  </a:moveTo>
                  <a:lnTo>
                    <a:pt x="143255" y="0"/>
                  </a:lnTo>
                </a:path>
              </a:pathLst>
            </a:custGeom>
            <a:ln w="53340">
              <a:solidFill>
                <a:srgbClr val="FF00FF"/>
              </a:solidFill>
            </a:ln>
          </p:spPr>
          <p:txBody>
            <a:bodyPr wrap="square" lIns="0" tIns="0" rIns="0" bIns="0" rtlCol="0"/>
            <a:lstStyle/>
            <a:p>
              <a:endParaRPr/>
            </a:p>
          </p:txBody>
        </p:sp>
        <p:sp>
          <p:nvSpPr>
            <p:cNvPr id="135" name="object 142"/>
            <p:cNvSpPr/>
            <p:nvPr/>
          </p:nvSpPr>
          <p:spPr>
            <a:xfrm>
              <a:off x="6774827" y="1121663"/>
              <a:ext cx="272415" cy="73660"/>
            </a:xfrm>
            <a:custGeom>
              <a:avLst/>
              <a:gdLst/>
              <a:ahLst/>
              <a:cxnLst/>
              <a:rect l="l" t="t" r="r" b="b"/>
              <a:pathLst>
                <a:path w="272415" h="73659">
                  <a:moveTo>
                    <a:pt x="272033" y="73152"/>
                  </a:moveTo>
                  <a:lnTo>
                    <a:pt x="272033" y="0"/>
                  </a:lnTo>
                  <a:lnTo>
                    <a:pt x="0" y="0"/>
                  </a:lnTo>
                  <a:lnTo>
                    <a:pt x="0" y="73152"/>
                  </a:lnTo>
                  <a:lnTo>
                    <a:pt x="9893" y="73152"/>
                  </a:lnTo>
                  <a:lnTo>
                    <a:pt x="9893" y="19050"/>
                  </a:lnTo>
                  <a:lnTo>
                    <a:pt x="19050" y="9906"/>
                  </a:lnTo>
                  <a:lnTo>
                    <a:pt x="19050" y="19050"/>
                  </a:lnTo>
                  <a:lnTo>
                    <a:pt x="252971" y="19050"/>
                  </a:lnTo>
                  <a:lnTo>
                    <a:pt x="252971" y="9906"/>
                  </a:lnTo>
                  <a:lnTo>
                    <a:pt x="262127" y="19050"/>
                  </a:lnTo>
                  <a:lnTo>
                    <a:pt x="262127" y="73152"/>
                  </a:lnTo>
                  <a:lnTo>
                    <a:pt x="272033" y="73152"/>
                  </a:lnTo>
                  <a:close/>
                </a:path>
                <a:path w="272415" h="73659">
                  <a:moveTo>
                    <a:pt x="19050" y="19050"/>
                  </a:moveTo>
                  <a:lnTo>
                    <a:pt x="19050" y="9906"/>
                  </a:lnTo>
                  <a:lnTo>
                    <a:pt x="9893" y="19050"/>
                  </a:lnTo>
                  <a:lnTo>
                    <a:pt x="19050" y="19050"/>
                  </a:lnTo>
                  <a:close/>
                </a:path>
                <a:path w="272415" h="73659">
                  <a:moveTo>
                    <a:pt x="19050" y="54102"/>
                  </a:moveTo>
                  <a:lnTo>
                    <a:pt x="19050" y="19050"/>
                  </a:lnTo>
                  <a:lnTo>
                    <a:pt x="9893" y="19050"/>
                  </a:lnTo>
                  <a:lnTo>
                    <a:pt x="9893" y="54102"/>
                  </a:lnTo>
                  <a:lnTo>
                    <a:pt x="19050" y="54102"/>
                  </a:lnTo>
                  <a:close/>
                </a:path>
                <a:path w="272415" h="73659">
                  <a:moveTo>
                    <a:pt x="262127" y="54102"/>
                  </a:moveTo>
                  <a:lnTo>
                    <a:pt x="9893" y="54102"/>
                  </a:lnTo>
                  <a:lnTo>
                    <a:pt x="19050" y="63246"/>
                  </a:lnTo>
                  <a:lnTo>
                    <a:pt x="19050" y="73152"/>
                  </a:lnTo>
                  <a:lnTo>
                    <a:pt x="252971" y="73152"/>
                  </a:lnTo>
                  <a:lnTo>
                    <a:pt x="252971" y="63246"/>
                  </a:lnTo>
                  <a:lnTo>
                    <a:pt x="262127" y="54102"/>
                  </a:lnTo>
                  <a:close/>
                </a:path>
                <a:path w="272415" h="73659">
                  <a:moveTo>
                    <a:pt x="19050" y="73152"/>
                  </a:moveTo>
                  <a:lnTo>
                    <a:pt x="19050" y="63246"/>
                  </a:lnTo>
                  <a:lnTo>
                    <a:pt x="9893" y="54102"/>
                  </a:lnTo>
                  <a:lnTo>
                    <a:pt x="9893" y="73152"/>
                  </a:lnTo>
                  <a:lnTo>
                    <a:pt x="19050" y="73152"/>
                  </a:lnTo>
                  <a:close/>
                </a:path>
                <a:path w="272415" h="73659">
                  <a:moveTo>
                    <a:pt x="262127" y="19050"/>
                  </a:moveTo>
                  <a:lnTo>
                    <a:pt x="252971" y="9906"/>
                  </a:lnTo>
                  <a:lnTo>
                    <a:pt x="252971" y="19050"/>
                  </a:lnTo>
                  <a:lnTo>
                    <a:pt x="262127" y="19050"/>
                  </a:lnTo>
                  <a:close/>
                </a:path>
                <a:path w="272415" h="73659">
                  <a:moveTo>
                    <a:pt x="262127" y="54102"/>
                  </a:moveTo>
                  <a:lnTo>
                    <a:pt x="262127" y="19050"/>
                  </a:lnTo>
                  <a:lnTo>
                    <a:pt x="252971" y="19050"/>
                  </a:lnTo>
                  <a:lnTo>
                    <a:pt x="252971" y="54102"/>
                  </a:lnTo>
                  <a:lnTo>
                    <a:pt x="262127" y="54102"/>
                  </a:lnTo>
                  <a:close/>
                </a:path>
                <a:path w="272415" h="73659">
                  <a:moveTo>
                    <a:pt x="262127" y="73152"/>
                  </a:moveTo>
                  <a:lnTo>
                    <a:pt x="262127" y="54102"/>
                  </a:lnTo>
                  <a:lnTo>
                    <a:pt x="252971" y="63246"/>
                  </a:lnTo>
                  <a:lnTo>
                    <a:pt x="252971" y="73152"/>
                  </a:lnTo>
                  <a:lnTo>
                    <a:pt x="262127" y="73152"/>
                  </a:lnTo>
                  <a:close/>
                </a:path>
              </a:pathLst>
            </a:custGeom>
            <a:solidFill>
              <a:srgbClr val="000000"/>
            </a:solidFill>
          </p:spPr>
          <p:txBody>
            <a:bodyPr wrap="square" lIns="0" tIns="0" rIns="0" bIns="0" rtlCol="0"/>
            <a:lstStyle/>
            <a:p>
              <a:endParaRPr/>
            </a:p>
          </p:txBody>
        </p:sp>
        <p:sp>
          <p:nvSpPr>
            <p:cNvPr id="136" name="object 143"/>
            <p:cNvSpPr/>
            <p:nvPr/>
          </p:nvSpPr>
          <p:spPr>
            <a:xfrm>
              <a:off x="6918845" y="1069847"/>
              <a:ext cx="76200" cy="169925"/>
            </a:xfrm>
            <a:prstGeom prst="rect">
              <a:avLst/>
            </a:prstGeom>
            <a:blipFill>
              <a:blip r:embed="rId14" cstate="print"/>
              <a:stretch>
                <a:fillRect/>
              </a:stretch>
            </a:blipFill>
          </p:spPr>
          <p:txBody>
            <a:bodyPr wrap="square" lIns="0" tIns="0" rIns="0" bIns="0" rtlCol="0"/>
            <a:lstStyle/>
            <a:p>
              <a:endParaRPr/>
            </a:p>
          </p:txBody>
        </p:sp>
        <p:sp>
          <p:nvSpPr>
            <p:cNvPr id="137" name="object 144"/>
            <p:cNvSpPr/>
            <p:nvPr/>
          </p:nvSpPr>
          <p:spPr>
            <a:xfrm>
              <a:off x="6731393" y="3044951"/>
              <a:ext cx="320027" cy="169925"/>
            </a:xfrm>
            <a:prstGeom prst="rect">
              <a:avLst/>
            </a:prstGeom>
            <a:blipFill>
              <a:blip r:embed="rId15" cstate="print"/>
              <a:stretch>
                <a:fillRect/>
              </a:stretch>
            </a:blipFill>
          </p:spPr>
          <p:txBody>
            <a:bodyPr wrap="square" lIns="0" tIns="0" rIns="0" bIns="0" rtlCol="0"/>
            <a:lstStyle/>
            <a:p>
              <a:endParaRPr/>
            </a:p>
          </p:txBody>
        </p:sp>
        <p:sp>
          <p:nvSpPr>
            <p:cNvPr id="138" name="object 145"/>
            <p:cNvSpPr/>
            <p:nvPr/>
          </p:nvSpPr>
          <p:spPr>
            <a:xfrm>
              <a:off x="6799198" y="3128391"/>
              <a:ext cx="143510" cy="0"/>
            </a:xfrm>
            <a:custGeom>
              <a:avLst/>
              <a:gdLst/>
              <a:ahLst/>
              <a:cxnLst/>
              <a:rect l="l" t="t" r="r" b="b"/>
              <a:pathLst>
                <a:path w="143509">
                  <a:moveTo>
                    <a:pt x="0" y="0"/>
                  </a:moveTo>
                  <a:lnTo>
                    <a:pt x="143268" y="0"/>
                  </a:lnTo>
                </a:path>
              </a:pathLst>
            </a:custGeom>
            <a:ln w="54101">
              <a:solidFill>
                <a:srgbClr val="FF00FF"/>
              </a:solidFill>
            </a:ln>
          </p:spPr>
          <p:txBody>
            <a:bodyPr wrap="square" lIns="0" tIns="0" rIns="0" bIns="0" rtlCol="0"/>
            <a:lstStyle/>
            <a:p>
              <a:endParaRPr/>
            </a:p>
          </p:txBody>
        </p:sp>
        <p:sp>
          <p:nvSpPr>
            <p:cNvPr id="139" name="object 146"/>
            <p:cNvSpPr/>
            <p:nvPr/>
          </p:nvSpPr>
          <p:spPr>
            <a:xfrm>
              <a:off x="6789305" y="3091433"/>
              <a:ext cx="271780" cy="73660"/>
            </a:xfrm>
            <a:custGeom>
              <a:avLst/>
              <a:gdLst/>
              <a:ahLst/>
              <a:cxnLst/>
              <a:rect l="l" t="t" r="r" b="b"/>
              <a:pathLst>
                <a:path w="271779" h="73660">
                  <a:moveTo>
                    <a:pt x="271272" y="73152"/>
                  </a:moveTo>
                  <a:lnTo>
                    <a:pt x="271272" y="0"/>
                  </a:lnTo>
                  <a:lnTo>
                    <a:pt x="0" y="0"/>
                  </a:lnTo>
                  <a:lnTo>
                    <a:pt x="0" y="73152"/>
                  </a:lnTo>
                  <a:lnTo>
                    <a:pt x="9893" y="73152"/>
                  </a:lnTo>
                  <a:lnTo>
                    <a:pt x="9893" y="19050"/>
                  </a:lnTo>
                  <a:lnTo>
                    <a:pt x="19050" y="9906"/>
                  </a:lnTo>
                  <a:lnTo>
                    <a:pt x="19050" y="19050"/>
                  </a:lnTo>
                  <a:lnTo>
                    <a:pt x="252222" y="19050"/>
                  </a:lnTo>
                  <a:lnTo>
                    <a:pt x="252222" y="9906"/>
                  </a:lnTo>
                  <a:lnTo>
                    <a:pt x="262115" y="19050"/>
                  </a:lnTo>
                  <a:lnTo>
                    <a:pt x="262115" y="73152"/>
                  </a:lnTo>
                  <a:lnTo>
                    <a:pt x="271272" y="73152"/>
                  </a:lnTo>
                  <a:close/>
                </a:path>
                <a:path w="271779" h="73660">
                  <a:moveTo>
                    <a:pt x="19050" y="19050"/>
                  </a:moveTo>
                  <a:lnTo>
                    <a:pt x="19050" y="9906"/>
                  </a:lnTo>
                  <a:lnTo>
                    <a:pt x="9893" y="19050"/>
                  </a:lnTo>
                  <a:lnTo>
                    <a:pt x="19050" y="19050"/>
                  </a:lnTo>
                  <a:close/>
                </a:path>
                <a:path w="271779" h="73660">
                  <a:moveTo>
                    <a:pt x="19050" y="54102"/>
                  </a:moveTo>
                  <a:lnTo>
                    <a:pt x="19050" y="19050"/>
                  </a:lnTo>
                  <a:lnTo>
                    <a:pt x="9893" y="19050"/>
                  </a:lnTo>
                  <a:lnTo>
                    <a:pt x="9893" y="54102"/>
                  </a:lnTo>
                  <a:lnTo>
                    <a:pt x="19050" y="54102"/>
                  </a:lnTo>
                  <a:close/>
                </a:path>
                <a:path w="271779" h="73660">
                  <a:moveTo>
                    <a:pt x="262115" y="54102"/>
                  </a:moveTo>
                  <a:lnTo>
                    <a:pt x="9893" y="54102"/>
                  </a:lnTo>
                  <a:lnTo>
                    <a:pt x="19050" y="64008"/>
                  </a:lnTo>
                  <a:lnTo>
                    <a:pt x="19050" y="73152"/>
                  </a:lnTo>
                  <a:lnTo>
                    <a:pt x="252222" y="73152"/>
                  </a:lnTo>
                  <a:lnTo>
                    <a:pt x="252222" y="64008"/>
                  </a:lnTo>
                  <a:lnTo>
                    <a:pt x="262115" y="54102"/>
                  </a:lnTo>
                  <a:close/>
                </a:path>
                <a:path w="271779" h="73660">
                  <a:moveTo>
                    <a:pt x="19050" y="73152"/>
                  </a:moveTo>
                  <a:lnTo>
                    <a:pt x="19050" y="64008"/>
                  </a:lnTo>
                  <a:lnTo>
                    <a:pt x="9893" y="54102"/>
                  </a:lnTo>
                  <a:lnTo>
                    <a:pt x="9893" y="73152"/>
                  </a:lnTo>
                  <a:lnTo>
                    <a:pt x="19050" y="73152"/>
                  </a:lnTo>
                  <a:close/>
                </a:path>
                <a:path w="271779" h="73660">
                  <a:moveTo>
                    <a:pt x="262115" y="19050"/>
                  </a:moveTo>
                  <a:lnTo>
                    <a:pt x="252222" y="9906"/>
                  </a:lnTo>
                  <a:lnTo>
                    <a:pt x="252222" y="19050"/>
                  </a:lnTo>
                  <a:lnTo>
                    <a:pt x="262115" y="19050"/>
                  </a:lnTo>
                  <a:close/>
                </a:path>
                <a:path w="271779" h="73660">
                  <a:moveTo>
                    <a:pt x="262115" y="54102"/>
                  </a:moveTo>
                  <a:lnTo>
                    <a:pt x="262115" y="19050"/>
                  </a:lnTo>
                  <a:lnTo>
                    <a:pt x="252222" y="19050"/>
                  </a:lnTo>
                  <a:lnTo>
                    <a:pt x="252222" y="54102"/>
                  </a:lnTo>
                  <a:lnTo>
                    <a:pt x="262115" y="54102"/>
                  </a:lnTo>
                  <a:close/>
                </a:path>
                <a:path w="271779" h="73660">
                  <a:moveTo>
                    <a:pt x="262115" y="73152"/>
                  </a:moveTo>
                  <a:lnTo>
                    <a:pt x="262115" y="54102"/>
                  </a:lnTo>
                  <a:lnTo>
                    <a:pt x="252222" y="64008"/>
                  </a:lnTo>
                  <a:lnTo>
                    <a:pt x="252222" y="73152"/>
                  </a:lnTo>
                  <a:lnTo>
                    <a:pt x="262115" y="73152"/>
                  </a:lnTo>
                  <a:close/>
                </a:path>
              </a:pathLst>
            </a:custGeom>
            <a:solidFill>
              <a:srgbClr val="000000"/>
            </a:solidFill>
          </p:spPr>
          <p:txBody>
            <a:bodyPr wrap="square" lIns="0" tIns="0" rIns="0" bIns="0" rtlCol="0"/>
            <a:lstStyle/>
            <a:p>
              <a:endParaRPr/>
            </a:p>
          </p:txBody>
        </p:sp>
        <p:sp>
          <p:nvSpPr>
            <p:cNvPr id="140" name="object 147"/>
            <p:cNvSpPr/>
            <p:nvPr/>
          </p:nvSpPr>
          <p:spPr>
            <a:xfrm>
              <a:off x="6933310" y="3040379"/>
              <a:ext cx="76200" cy="169925"/>
            </a:xfrm>
            <a:prstGeom prst="rect">
              <a:avLst/>
            </a:prstGeom>
            <a:blipFill>
              <a:blip r:embed="rId14" cstate="print"/>
              <a:stretch>
                <a:fillRect/>
              </a:stretch>
            </a:blipFill>
          </p:spPr>
          <p:txBody>
            <a:bodyPr wrap="square" lIns="0" tIns="0" rIns="0" bIns="0" rtlCol="0"/>
            <a:lstStyle/>
            <a:p>
              <a:endParaRPr/>
            </a:p>
          </p:txBody>
        </p:sp>
      </p:grpSp>
      <p:sp>
        <p:nvSpPr>
          <p:cNvPr id="4" name="矩形 3"/>
          <p:cNvSpPr/>
          <p:nvPr/>
        </p:nvSpPr>
        <p:spPr>
          <a:xfrm>
            <a:off x="5139660" y="939965"/>
            <a:ext cx="407484" cy="461665"/>
          </a:xfrm>
          <a:prstGeom prst="rect">
            <a:avLst/>
          </a:prstGeom>
        </p:spPr>
        <p:txBody>
          <a:bodyPr wrap="none">
            <a:spAutoFit/>
          </a:bodyPr>
          <a:lstStyle/>
          <a:p>
            <a:r>
              <a:rPr lang="en-US" altLang="zh-CN" i="1" dirty="0">
                <a:solidFill>
                  <a:srgbClr val="080808"/>
                </a:solidFill>
                <a:ea typeface="楷体" panose="02010609060101010101" pitchFamily="49" charset="-122"/>
              </a:rPr>
              <a:t>D</a:t>
            </a:r>
            <a:endParaRPr lang="zh-CN" altLang="en-US" dirty="0"/>
          </a:p>
        </p:txBody>
      </p:sp>
    </p:spTree>
    <p:extLst>
      <p:ext uri="{BB962C8B-B14F-4D97-AF65-F5344CB8AC3E}">
        <p14:creationId xmlns:p14="http://schemas.microsoft.com/office/powerpoint/2010/main" val="342117616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6183"/>
                                        </p:tgtEl>
                                        <p:attrNameLst>
                                          <p:attrName>style.visibility</p:attrName>
                                        </p:attrNameLst>
                                      </p:cBhvr>
                                      <p:to>
                                        <p:strVal val="visible"/>
                                      </p:to>
                                    </p:set>
                                    <p:anim calcmode="lin" valueType="num">
                                      <p:cBhvr additive="base">
                                        <p:cTn id="7" dur="500" fill="hold"/>
                                        <p:tgtEl>
                                          <p:spTgt spid="176183"/>
                                        </p:tgtEl>
                                        <p:attrNameLst>
                                          <p:attrName>ppt_x</p:attrName>
                                        </p:attrNameLst>
                                      </p:cBhvr>
                                      <p:tavLst>
                                        <p:tav tm="0">
                                          <p:val>
                                            <p:strVal val="0-#ppt_w/2"/>
                                          </p:val>
                                        </p:tav>
                                        <p:tav tm="100000">
                                          <p:val>
                                            <p:strVal val="#ppt_x"/>
                                          </p:val>
                                        </p:tav>
                                      </p:tavLst>
                                    </p:anim>
                                    <p:anim calcmode="lin" valueType="num">
                                      <p:cBhvr additive="base">
                                        <p:cTn id="8" dur="500" fill="hold"/>
                                        <p:tgtEl>
                                          <p:spTgt spid="17618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0"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72"/>
                                        </p:tgtEl>
                                        <p:attrNameLst>
                                          <p:attrName>style.visibility</p:attrName>
                                        </p:attrNameLst>
                                      </p:cBhvr>
                                      <p:to>
                                        <p:strVal val="visible"/>
                                      </p:to>
                                    </p:set>
                                    <p:animEffect transition="in" filter="blinds(horizontal)">
                                      <p:cBhvr>
                                        <p:cTn id="18" dur="500"/>
                                        <p:tgtEl>
                                          <p:spTgt spid="72"/>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8" fill="hold" nodeType="clickEffect">
                                  <p:stCondLst>
                                    <p:cond delay="0"/>
                                  </p:stCondLst>
                                  <p:childTnLst>
                                    <p:set>
                                      <p:cBhvr>
                                        <p:cTn id="22" dur="1" fill="hold">
                                          <p:stCondLst>
                                            <p:cond delay="0"/>
                                          </p:stCondLst>
                                        </p:cTn>
                                        <p:tgtEl>
                                          <p:spTgt spid="176184"/>
                                        </p:tgtEl>
                                        <p:attrNameLst>
                                          <p:attrName>style.visibility</p:attrName>
                                        </p:attrNameLst>
                                      </p:cBhvr>
                                      <p:to>
                                        <p:strVal val="visible"/>
                                      </p:to>
                                    </p:set>
                                    <p:anim calcmode="lin" valueType="num">
                                      <p:cBhvr additive="base">
                                        <p:cTn id="23" dur="500"/>
                                        <p:tgtEl>
                                          <p:spTgt spid="176184"/>
                                        </p:tgtEl>
                                        <p:attrNameLst>
                                          <p:attrName>ppt_x</p:attrName>
                                        </p:attrNameLst>
                                      </p:cBhvr>
                                      <p:tavLst>
                                        <p:tav tm="0">
                                          <p:val>
                                            <p:strVal val="#ppt_x-#ppt_w*1.125000"/>
                                          </p:val>
                                        </p:tav>
                                        <p:tav tm="100000">
                                          <p:val>
                                            <p:strVal val="#ppt_x"/>
                                          </p:val>
                                        </p:tav>
                                      </p:tavLst>
                                    </p:anim>
                                    <p:animEffect transition="in" filter="wipe(right)">
                                      <p:cBhvr>
                                        <p:cTn id="24" dur="500"/>
                                        <p:tgtEl>
                                          <p:spTgt spid="176184"/>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20492"/>
                                        </p:tgtEl>
                                        <p:attrNameLst>
                                          <p:attrName>style.visibility</p:attrName>
                                        </p:attrNameLst>
                                      </p:cBhvr>
                                      <p:to>
                                        <p:strVal val="visible"/>
                                      </p:to>
                                    </p:set>
                                    <p:animEffect transition="in" filter="blinds(horizontal)">
                                      <p:cBhvr>
                                        <p:cTn id="29" dur="500"/>
                                        <p:tgtEl>
                                          <p:spTgt spid="20492"/>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20493"/>
                                        </p:tgtEl>
                                        <p:attrNameLst>
                                          <p:attrName>style.visibility</p:attrName>
                                        </p:attrNameLst>
                                      </p:cBhvr>
                                      <p:to>
                                        <p:strVal val="visible"/>
                                      </p:to>
                                    </p:set>
                                    <p:animEffect transition="in" filter="blinds(horizontal)">
                                      <p:cBhvr>
                                        <p:cTn id="34" dur="500"/>
                                        <p:tgtEl>
                                          <p:spTgt spid="20493"/>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8" fill="hold" nodeType="clickEffect">
                                  <p:stCondLst>
                                    <p:cond delay="0"/>
                                  </p:stCondLst>
                                  <p:childTnLst>
                                    <p:set>
                                      <p:cBhvr>
                                        <p:cTn id="38" dur="1" fill="hold">
                                          <p:stCondLst>
                                            <p:cond delay="0"/>
                                          </p:stCondLst>
                                        </p:cTn>
                                        <p:tgtEl>
                                          <p:spTgt spid="176189"/>
                                        </p:tgtEl>
                                        <p:attrNameLst>
                                          <p:attrName>style.visibility</p:attrName>
                                        </p:attrNameLst>
                                      </p:cBhvr>
                                      <p:to>
                                        <p:strVal val="visible"/>
                                      </p:to>
                                    </p:set>
                                    <p:anim calcmode="lin" valueType="num">
                                      <p:cBhvr additive="base">
                                        <p:cTn id="39" dur="500"/>
                                        <p:tgtEl>
                                          <p:spTgt spid="176189"/>
                                        </p:tgtEl>
                                        <p:attrNameLst>
                                          <p:attrName>ppt_x</p:attrName>
                                        </p:attrNameLst>
                                      </p:cBhvr>
                                      <p:tavLst>
                                        <p:tav tm="0">
                                          <p:val>
                                            <p:strVal val="#ppt_x-#ppt_w*1.125000"/>
                                          </p:val>
                                        </p:tav>
                                        <p:tav tm="100000">
                                          <p:val>
                                            <p:strVal val="#ppt_x"/>
                                          </p:val>
                                        </p:tav>
                                      </p:tavLst>
                                    </p:anim>
                                    <p:animEffect transition="in" filter="wipe(right)">
                                      <p:cBhvr>
                                        <p:cTn id="40" dur="500"/>
                                        <p:tgtEl>
                                          <p:spTgt spid="176189"/>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3"/>
                                        </p:tgtEl>
                                        <p:attrNameLst>
                                          <p:attrName>style.visibility</p:attrName>
                                        </p:attrNameLst>
                                      </p:cBhvr>
                                      <p:to>
                                        <p:strVal val="visible"/>
                                      </p:to>
                                    </p:set>
                                    <p:animEffect transition="in" filter="fade">
                                      <p:cBhvr>
                                        <p:cTn id="45" dur="500"/>
                                        <p:tgtEl>
                                          <p:spTgt spid="3"/>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82"/>
                                        </p:tgtEl>
                                        <p:attrNameLst>
                                          <p:attrName>style.visibility</p:attrName>
                                        </p:attrNameLst>
                                      </p:cBhvr>
                                      <p:to>
                                        <p:strVal val="visible"/>
                                      </p:to>
                                    </p:set>
                                    <p:animEffect transition="in" filter="blinds(horizontal)">
                                      <p:cBhvr>
                                        <p:cTn id="50" dur="500"/>
                                        <p:tgtEl>
                                          <p:spTgt spid="82"/>
                                        </p:tgtEl>
                                      </p:cBhvr>
                                    </p:animEffect>
                                  </p:childTnLst>
                                </p:cTn>
                              </p:par>
                            </p:childTnLst>
                          </p:cTn>
                        </p:par>
                        <p:par>
                          <p:cTn id="51" fill="hold">
                            <p:stCondLst>
                              <p:cond delay="500"/>
                            </p:stCondLst>
                            <p:childTnLst>
                              <p:par>
                                <p:cTn id="52" presetID="3" presetClass="entr" presetSubtype="10" fill="hold" nodeType="afterEffect">
                                  <p:stCondLst>
                                    <p:cond delay="0"/>
                                  </p:stCondLst>
                                  <p:childTnLst>
                                    <p:set>
                                      <p:cBhvr>
                                        <p:cTn id="53" dur="1" fill="hold">
                                          <p:stCondLst>
                                            <p:cond delay="0"/>
                                          </p:stCondLst>
                                        </p:cTn>
                                        <p:tgtEl>
                                          <p:spTgt spid="85"/>
                                        </p:tgtEl>
                                        <p:attrNameLst>
                                          <p:attrName>style.visibility</p:attrName>
                                        </p:attrNameLst>
                                      </p:cBhvr>
                                      <p:to>
                                        <p:strVal val="visible"/>
                                      </p:to>
                                    </p:set>
                                    <p:animEffect transition="in" filter="blinds(horizontal)">
                                      <p:cBhvr>
                                        <p:cTn id="54" dur="500"/>
                                        <p:tgtEl>
                                          <p:spTgt spid="85"/>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nodeType="clickEffect">
                                  <p:stCondLst>
                                    <p:cond delay="0"/>
                                  </p:stCondLst>
                                  <p:childTnLst>
                                    <p:set>
                                      <p:cBhvr>
                                        <p:cTn id="58" dur="1" fill="hold">
                                          <p:stCondLst>
                                            <p:cond delay="0"/>
                                          </p:stCondLst>
                                        </p:cTn>
                                        <p:tgtEl>
                                          <p:spTgt spid="20494"/>
                                        </p:tgtEl>
                                        <p:attrNameLst>
                                          <p:attrName>style.visibility</p:attrName>
                                        </p:attrNameLst>
                                      </p:cBhvr>
                                      <p:to>
                                        <p:strVal val="visible"/>
                                      </p:to>
                                    </p:set>
                                    <p:animEffect transition="in" filter="blinds(horizontal)">
                                      <p:cBhvr>
                                        <p:cTn id="59" dur="500"/>
                                        <p:tgtEl>
                                          <p:spTgt spid="20494"/>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20495"/>
                                        </p:tgtEl>
                                        <p:attrNameLst>
                                          <p:attrName>style.visibility</p:attrName>
                                        </p:attrNameLst>
                                      </p:cBhvr>
                                      <p:to>
                                        <p:strVal val="visible"/>
                                      </p:to>
                                    </p:set>
                                    <p:animEffect transition="in" filter="blinds(horizontal)">
                                      <p:cBhvr>
                                        <p:cTn id="64" dur="500"/>
                                        <p:tgtEl>
                                          <p:spTgt spid="20495"/>
                                        </p:tgtEl>
                                      </p:cBhvr>
                                    </p:animEffect>
                                  </p:childTnLst>
                                </p:cTn>
                              </p:par>
                            </p:childTnLst>
                          </p:cTn>
                        </p:par>
                      </p:childTnLst>
                    </p:cTn>
                  </p:par>
                  <p:par>
                    <p:cTn id="65" fill="hold">
                      <p:stCondLst>
                        <p:cond delay="indefinite"/>
                      </p:stCondLst>
                      <p:childTnLst>
                        <p:par>
                          <p:cTn id="66" fill="hold">
                            <p:stCondLst>
                              <p:cond delay="0"/>
                            </p:stCondLst>
                            <p:childTnLst>
                              <p:par>
                                <p:cTn id="67" presetID="12" presetClass="entr" presetSubtype="8" fill="hold" nodeType="clickEffect">
                                  <p:stCondLst>
                                    <p:cond delay="0"/>
                                  </p:stCondLst>
                                  <p:childTnLst>
                                    <p:set>
                                      <p:cBhvr>
                                        <p:cTn id="68" dur="1" fill="hold">
                                          <p:stCondLst>
                                            <p:cond delay="0"/>
                                          </p:stCondLst>
                                        </p:cTn>
                                        <p:tgtEl>
                                          <p:spTgt spid="176187"/>
                                        </p:tgtEl>
                                        <p:attrNameLst>
                                          <p:attrName>style.visibility</p:attrName>
                                        </p:attrNameLst>
                                      </p:cBhvr>
                                      <p:to>
                                        <p:strVal val="visible"/>
                                      </p:to>
                                    </p:set>
                                    <p:animEffect transition="in" filter="slide(fromLeft)">
                                      <p:cBhvr>
                                        <p:cTn id="69" dur="500"/>
                                        <p:tgtEl>
                                          <p:spTgt spid="176187"/>
                                        </p:tgtEl>
                                      </p:cBhvr>
                                    </p:animEffect>
                                  </p:childTnLst>
                                </p:cTn>
                              </p:par>
                            </p:childTnLst>
                          </p:cTn>
                        </p:par>
                      </p:childTnLst>
                    </p:cTn>
                  </p:par>
                  <p:par>
                    <p:cTn id="70" fill="hold">
                      <p:stCondLst>
                        <p:cond delay="indefinite"/>
                      </p:stCondLst>
                      <p:childTnLst>
                        <p:par>
                          <p:cTn id="71" fill="hold">
                            <p:stCondLst>
                              <p:cond delay="0"/>
                            </p:stCondLst>
                            <p:childTnLst>
                              <p:par>
                                <p:cTn id="72" presetID="7" presetClass="entr" presetSubtype="8" fill="hold" grpId="0" nodeType="clickEffect">
                                  <p:stCondLst>
                                    <p:cond delay="0"/>
                                  </p:stCondLst>
                                  <p:childTnLst>
                                    <p:set>
                                      <p:cBhvr>
                                        <p:cTn id="73" dur="1" fill="hold">
                                          <p:stCondLst>
                                            <p:cond delay="0"/>
                                          </p:stCondLst>
                                        </p:cTn>
                                        <p:tgtEl>
                                          <p:spTgt spid="176188"/>
                                        </p:tgtEl>
                                        <p:attrNameLst>
                                          <p:attrName>style.visibility</p:attrName>
                                        </p:attrNameLst>
                                      </p:cBhvr>
                                      <p:to>
                                        <p:strVal val="visible"/>
                                      </p:to>
                                    </p:set>
                                    <p:anim calcmode="lin" valueType="num">
                                      <p:cBhvr additive="base">
                                        <p:cTn id="74" dur="750" fill="hold"/>
                                        <p:tgtEl>
                                          <p:spTgt spid="176188"/>
                                        </p:tgtEl>
                                        <p:attrNameLst>
                                          <p:attrName>ppt_x</p:attrName>
                                        </p:attrNameLst>
                                      </p:cBhvr>
                                      <p:tavLst>
                                        <p:tav tm="0">
                                          <p:val>
                                            <p:strVal val="0-#ppt_w/2"/>
                                          </p:val>
                                        </p:tav>
                                        <p:tav tm="100000">
                                          <p:val>
                                            <p:strVal val="#ppt_x"/>
                                          </p:val>
                                        </p:tav>
                                      </p:tavLst>
                                    </p:anim>
                                    <p:anim calcmode="lin" valueType="num">
                                      <p:cBhvr additive="base">
                                        <p:cTn id="75" dur="750" fill="hold"/>
                                        <p:tgtEl>
                                          <p:spTgt spid="17618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83" grpId="0" autoUpdateAnimBg="0"/>
      <p:bldP spid="176188" grpId="0" autoUpdateAnimBg="0"/>
      <p:bldP spid="20493" grpId="0"/>
      <p:bldP spid="2049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7154" name="Object 2"/>
          <p:cNvGraphicFramePr>
            <a:graphicFrameLocks/>
          </p:cNvGraphicFramePr>
          <p:nvPr>
            <p:extLst>
              <p:ext uri="{D42A27DB-BD31-4B8C-83A1-F6EECF244321}">
                <p14:modId xmlns:p14="http://schemas.microsoft.com/office/powerpoint/2010/main" val="2111637432"/>
              </p:ext>
            </p:extLst>
          </p:nvPr>
        </p:nvGraphicFramePr>
        <p:xfrm>
          <a:off x="7332238" y="2671269"/>
          <a:ext cx="1541463" cy="1146175"/>
        </p:xfrm>
        <a:graphic>
          <a:graphicData uri="http://schemas.openxmlformats.org/presentationml/2006/ole">
            <mc:AlternateContent xmlns:mc="http://schemas.openxmlformats.org/markup-compatibility/2006">
              <mc:Choice xmlns:v="urn:schemas-microsoft-com:vml" Requires="v">
                <p:oleObj name="Equation" r:id="rId2" imgW="825480" imgH="660240" progId="Equation.DSMT4">
                  <p:embed/>
                </p:oleObj>
              </mc:Choice>
              <mc:Fallback>
                <p:oleObj name="Equation" r:id="rId2" imgW="825480" imgH="660240" progId="Equation.DSMT4">
                  <p:embed/>
                  <p:pic>
                    <p:nvPicPr>
                      <p:cNvPr id="0" name=""/>
                      <p:cNvPicPr>
                        <a:picLocks noChangeArrowheads="1"/>
                      </p:cNvPicPr>
                      <p:nvPr/>
                    </p:nvPicPr>
                    <p:blipFill>
                      <a:blip r:embed="rId3"/>
                      <a:srcRect/>
                      <a:stretch>
                        <a:fillRect/>
                      </a:stretch>
                    </p:blipFill>
                    <p:spPr bwMode="auto">
                      <a:xfrm>
                        <a:off x="7332238" y="2671269"/>
                        <a:ext cx="1541463" cy="1146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7155" name="Object 3"/>
          <p:cNvGraphicFramePr>
            <a:graphicFrameLocks noChangeAspect="1"/>
          </p:cNvGraphicFramePr>
          <p:nvPr>
            <p:extLst>
              <p:ext uri="{D42A27DB-BD31-4B8C-83A1-F6EECF244321}">
                <p14:modId xmlns:p14="http://schemas.microsoft.com/office/powerpoint/2010/main" val="3384697705"/>
              </p:ext>
            </p:extLst>
          </p:nvPr>
        </p:nvGraphicFramePr>
        <p:xfrm>
          <a:off x="3611563" y="2916238"/>
          <a:ext cx="1027112" cy="430212"/>
        </p:xfrm>
        <a:graphic>
          <a:graphicData uri="http://schemas.openxmlformats.org/presentationml/2006/ole">
            <mc:AlternateContent xmlns:mc="http://schemas.openxmlformats.org/markup-compatibility/2006">
              <mc:Choice xmlns:v="urn:schemas-microsoft-com:vml" Requires="v">
                <p:oleObj name="Equation" r:id="rId4" imgW="545760" imgH="228600" progId="Equation.DSMT4">
                  <p:embed/>
                </p:oleObj>
              </mc:Choice>
              <mc:Fallback>
                <p:oleObj name="Equation" r:id="rId4" imgW="545760" imgH="228600" progId="Equation.DSMT4">
                  <p:embed/>
                  <p:pic>
                    <p:nvPicPr>
                      <p:cNvPr id="0" name=""/>
                      <p:cNvPicPr>
                        <a:picLocks noChangeAspect="1" noChangeArrowheads="1"/>
                      </p:cNvPicPr>
                      <p:nvPr/>
                    </p:nvPicPr>
                    <p:blipFill>
                      <a:blip r:embed="rId5"/>
                      <a:srcRect/>
                      <a:stretch>
                        <a:fillRect/>
                      </a:stretch>
                    </p:blipFill>
                    <p:spPr bwMode="auto">
                      <a:xfrm>
                        <a:off x="3611563" y="2916238"/>
                        <a:ext cx="1027112" cy="430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7156" name="Object 4"/>
          <p:cNvGraphicFramePr>
            <a:graphicFrameLocks noChangeAspect="1"/>
          </p:cNvGraphicFramePr>
          <p:nvPr>
            <p:extLst>
              <p:ext uri="{D42A27DB-BD31-4B8C-83A1-F6EECF244321}">
                <p14:modId xmlns:p14="http://schemas.microsoft.com/office/powerpoint/2010/main" val="954506481"/>
              </p:ext>
            </p:extLst>
          </p:nvPr>
        </p:nvGraphicFramePr>
        <p:xfrm>
          <a:off x="3598863" y="3465513"/>
          <a:ext cx="1050925" cy="455612"/>
        </p:xfrm>
        <a:graphic>
          <a:graphicData uri="http://schemas.openxmlformats.org/presentationml/2006/ole">
            <mc:AlternateContent xmlns:mc="http://schemas.openxmlformats.org/markup-compatibility/2006">
              <mc:Choice xmlns:v="urn:schemas-microsoft-com:vml" Requires="v">
                <p:oleObj name="Equation" r:id="rId6" imgW="558720" imgH="241200" progId="Equation.DSMT4">
                  <p:embed/>
                </p:oleObj>
              </mc:Choice>
              <mc:Fallback>
                <p:oleObj name="Equation" r:id="rId6" imgW="558720" imgH="241200" progId="Equation.DSMT4">
                  <p:embed/>
                  <p:pic>
                    <p:nvPicPr>
                      <p:cNvPr id="0" name=""/>
                      <p:cNvPicPr>
                        <a:picLocks noChangeAspect="1" noChangeArrowheads="1"/>
                      </p:cNvPicPr>
                      <p:nvPr/>
                    </p:nvPicPr>
                    <p:blipFill>
                      <a:blip r:embed="rId7"/>
                      <a:srcRect/>
                      <a:stretch>
                        <a:fillRect/>
                      </a:stretch>
                    </p:blipFill>
                    <p:spPr bwMode="auto">
                      <a:xfrm>
                        <a:off x="3598863" y="3465513"/>
                        <a:ext cx="1050925"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7157" name="Object 5"/>
          <p:cNvGraphicFramePr>
            <a:graphicFrameLocks noChangeAspect="1"/>
          </p:cNvGraphicFramePr>
          <p:nvPr>
            <p:extLst>
              <p:ext uri="{D42A27DB-BD31-4B8C-83A1-F6EECF244321}">
                <p14:modId xmlns:p14="http://schemas.microsoft.com/office/powerpoint/2010/main" val="803945619"/>
              </p:ext>
            </p:extLst>
          </p:nvPr>
        </p:nvGraphicFramePr>
        <p:xfrm>
          <a:off x="4792238" y="2888756"/>
          <a:ext cx="2359025" cy="433388"/>
        </p:xfrm>
        <a:graphic>
          <a:graphicData uri="http://schemas.openxmlformats.org/presentationml/2006/ole">
            <mc:AlternateContent xmlns:mc="http://schemas.openxmlformats.org/markup-compatibility/2006">
              <mc:Choice xmlns:v="urn:schemas-microsoft-com:vml" Requires="v">
                <p:oleObj name="Equation" r:id="rId8" imgW="1257120" imgH="228600" progId="Equation.DSMT4">
                  <p:embed/>
                </p:oleObj>
              </mc:Choice>
              <mc:Fallback>
                <p:oleObj name="Equation" r:id="rId8" imgW="1257120" imgH="228600" progId="Equation.DSMT4">
                  <p:embed/>
                  <p:pic>
                    <p:nvPicPr>
                      <p:cNvPr id="0" name=""/>
                      <p:cNvPicPr>
                        <a:picLocks noChangeAspect="1" noChangeArrowheads="1"/>
                      </p:cNvPicPr>
                      <p:nvPr/>
                    </p:nvPicPr>
                    <p:blipFill>
                      <a:blip r:embed="rId9"/>
                      <a:srcRect/>
                      <a:stretch>
                        <a:fillRect/>
                      </a:stretch>
                    </p:blipFill>
                    <p:spPr bwMode="auto">
                      <a:xfrm>
                        <a:off x="4792238" y="2888756"/>
                        <a:ext cx="2359025" cy="433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7158" name="Object 6"/>
          <p:cNvGraphicFramePr>
            <a:graphicFrameLocks noChangeAspect="1"/>
          </p:cNvGraphicFramePr>
          <p:nvPr>
            <p:extLst>
              <p:ext uri="{D42A27DB-BD31-4B8C-83A1-F6EECF244321}">
                <p14:modId xmlns:p14="http://schemas.microsoft.com/office/powerpoint/2010/main" val="177194111"/>
              </p:ext>
            </p:extLst>
          </p:nvPr>
        </p:nvGraphicFramePr>
        <p:xfrm>
          <a:off x="4833513" y="3431681"/>
          <a:ext cx="2319338" cy="433388"/>
        </p:xfrm>
        <a:graphic>
          <a:graphicData uri="http://schemas.openxmlformats.org/presentationml/2006/ole">
            <mc:AlternateContent xmlns:mc="http://schemas.openxmlformats.org/markup-compatibility/2006">
              <mc:Choice xmlns:v="urn:schemas-microsoft-com:vml" Requires="v">
                <p:oleObj name="Equation" r:id="rId10" imgW="1244520" imgH="228600" progId="Equation.DSMT4">
                  <p:embed/>
                </p:oleObj>
              </mc:Choice>
              <mc:Fallback>
                <p:oleObj name="Equation" r:id="rId10" imgW="1244520" imgH="228600" progId="Equation.DSMT4">
                  <p:embed/>
                  <p:pic>
                    <p:nvPicPr>
                      <p:cNvPr id="0" name=""/>
                      <p:cNvPicPr>
                        <a:picLocks noChangeAspect="1" noChangeArrowheads="1"/>
                      </p:cNvPicPr>
                      <p:nvPr/>
                    </p:nvPicPr>
                    <p:blipFill>
                      <a:blip r:embed="rId11"/>
                      <a:srcRect/>
                      <a:stretch>
                        <a:fillRect/>
                      </a:stretch>
                    </p:blipFill>
                    <p:spPr bwMode="auto">
                      <a:xfrm>
                        <a:off x="4833513" y="3431681"/>
                        <a:ext cx="2319338" cy="433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11" name="Object 9"/>
          <p:cNvGraphicFramePr>
            <a:graphicFrameLocks/>
          </p:cNvGraphicFramePr>
          <p:nvPr>
            <p:extLst>
              <p:ext uri="{D42A27DB-BD31-4B8C-83A1-F6EECF244321}">
                <p14:modId xmlns:p14="http://schemas.microsoft.com/office/powerpoint/2010/main" val="1168400875"/>
              </p:ext>
            </p:extLst>
          </p:nvPr>
        </p:nvGraphicFramePr>
        <p:xfrm>
          <a:off x="4741863" y="458788"/>
          <a:ext cx="3427412" cy="436562"/>
        </p:xfrm>
        <a:graphic>
          <a:graphicData uri="http://schemas.openxmlformats.org/presentationml/2006/ole">
            <mc:AlternateContent xmlns:mc="http://schemas.openxmlformats.org/markup-compatibility/2006">
              <mc:Choice xmlns:v="urn:schemas-microsoft-com:vml" Requires="v">
                <p:oleObj name="Equation" r:id="rId12" imgW="1803240" imgH="253800" progId="Equation.DSMT4">
                  <p:embed/>
                </p:oleObj>
              </mc:Choice>
              <mc:Fallback>
                <p:oleObj name="Equation" r:id="rId12" imgW="1803240" imgH="253800" progId="Equation.DSMT4">
                  <p:embed/>
                  <p:pic>
                    <p:nvPicPr>
                      <p:cNvPr id="0" name=""/>
                      <p:cNvPicPr>
                        <a:picLocks noChangeArrowheads="1"/>
                      </p:cNvPicPr>
                      <p:nvPr/>
                    </p:nvPicPr>
                    <p:blipFill>
                      <a:blip r:embed="rId13"/>
                      <a:srcRect/>
                      <a:stretch>
                        <a:fillRect/>
                      </a:stretch>
                    </p:blipFill>
                    <p:spPr bwMode="auto">
                      <a:xfrm>
                        <a:off x="4741863" y="458788"/>
                        <a:ext cx="3427412" cy="436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512" name="Rectangle 10"/>
          <p:cNvSpPr>
            <a:spLocks noChangeArrowheads="1"/>
          </p:cNvSpPr>
          <p:nvPr/>
        </p:nvSpPr>
        <p:spPr bwMode="auto">
          <a:xfrm>
            <a:off x="4196557" y="440786"/>
            <a:ext cx="1414462"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solidFill>
                  <a:srgbClr val="FF3300"/>
                </a:solidFill>
                <a:latin typeface="楷体" panose="02010609060101010101" pitchFamily="49" charset="-122"/>
                <a:ea typeface="楷体" panose="02010609060101010101" pitchFamily="49" charset="-122"/>
              </a:rPr>
              <a:t>例</a:t>
            </a:r>
            <a:r>
              <a:rPr kumimoji="1" lang="zh-CN" altLang="en-US" sz="2400" b="1" dirty="0">
                <a:latin typeface="Times New Roman" panose="02020603050405020304" pitchFamily="18" charset="0"/>
                <a:ea typeface="楷体_GB2312" pitchFamily="49" charset="-122"/>
              </a:rPr>
              <a:t>  </a:t>
            </a:r>
          </a:p>
        </p:txBody>
      </p:sp>
      <p:graphicFrame>
        <p:nvGraphicFramePr>
          <p:cNvPr id="21513" name="Object 11"/>
          <p:cNvGraphicFramePr>
            <a:graphicFrameLocks/>
          </p:cNvGraphicFramePr>
          <p:nvPr>
            <p:extLst>
              <p:ext uri="{D42A27DB-BD31-4B8C-83A1-F6EECF244321}">
                <p14:modId xmlns:p14="http://schemas.microsoft.com/office/powerpoint/2010/main" val="2370736764"/>
              </p:ext>
            </p:extLst>
          </p:nvPr>
        </p:nvGraphicFramePr>
        <p:xfrm>
          <a:off x="4733925" y="915988"/>
          <a:ext cx="3444875" cy="436562"/>
        </p:xfrm>
        <a:graphic>
          <a:graphicData uri="http://schemas.openxmlformats.org/presentationml/2006/ole">
            <mc:AlternateContent xmlns:mc="http://schemas.openxmlformats.org/markup-compatibility/2006">
              <mc:Choice xmlns:v="urn:schemas-microsoft-com:vml" Requires="v">
                <p:oleObj name="Equation" r:id="rId14" imgW="1752480" imgH="253800" progId="Equation.DSMT4">
                  <p:embed/>
                </p:oleObj>
              </mc:Choice>
              <mc:Fallback>
                <p:oleObj name="Equation" r:id="rId14" imgW="1752480" imgH="253800" progId="Equation.DSMT4">
                  <p:embed/>
                  <p:pic>
                    <p:nvPicPr>
                      <p:cNvPr id="0" name=""/>
                      <p:cNvPicPr>
                        <a:picLocks noChangeArrowheads="1"/>
                      </p:cNvPicPr>
                      <p:nvPr/>
                    </p:nvPicPr>
                    <p:blipFill>
                      <a:blip r:embed="rId15"/>
                      <a:srcRect/>
                      <a:stretch>
                        <a:fillRect/>
                      </a:stretch>
                    </p:blipFill>
                    <p:spPr bwMode="auto">
                      <a:xfrm>
                        <a:off x="4733925" y="915988"/>
                        <a:ext cx="3444875" cy="436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514" name="Rectangle 12"/>
          <p:cNvSpPr>
            <a:spLocks noChangeArrowheads="1"/>
          </p:cNvSpPr>
          <p:nvPr/>
        </p:nvSpPr>
        <p:spPr bwMode="auto">
          <a:xfrm>
            <a:off x="4595576" y="1356819"/>
            <a:ext cx="224741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latin typeface="楷体" panose="02010609060101010101" pitchFamily="49" charset="-122"/>
                <a:ea typeface="楷体" panose="02010609060101010101" pitchFamily="49" charset="-122"/>
              </a:rPr>
              <a:t>求许可吊重</a:t>
            </a:r>
            <a:r>
              <a:rPr kumimoji="1" lang="en-US" altLang="zh-CN" sz="2400" b="1" i="1" dirty="0">
                <a:latin typeface="Times New Roman" panose="02020603050405020304" pitchFamily="18" charset="0"/>
                <a:ea typeface="楷体_GB2312" pitchFamily="49" charset="-122"/>
              </a:rPr>
              <a:t>F</a:t>
            </a:r>
            <a:r>
              <a:rPr kumimoji="1" lang="zh-CN" altLang="en-US" sz="2400" b="1" dirty="0">
                <a:latin typeface="Times New Roman" panose="02020603050405020304" pitchFamily="18" charset="0"/>
                <a:ea typeface="楷体_GB2312" pitchFamily="49" charset="-122"/>
              </a:rPr>
              <a:t>。</a:t>
            </a:r>
          </a:p>
        </p:txBody>
      </p:sp>
      <p:grpSp>
        <p:nvGrpSpPr>
          <p:cNvPr id="177165" name="Group 13"/>
          <p:cNvGrpSpPr>
            <a:grpSpLocks/>
          </p:cNvGrpSpPr>
          <p:nvPr/>
        </p:nvGrpSpPr>
        <p:grpSpPr bwMode="auto">
          <a:xfrm>
            <a:off x="557213" y="518320"/>
            <a:ext cx="3352800" cy="2411412"/>
            <a:chOff x="480" y="480"/>
            <a:chExt cx="2016" cy="1519"/>
          </a:xfrm>
        </p:grpSpPr>
        <p:sp>
          <p:nvSpPr>
            <p:cNvPr id="21562" name="Line 14"/>
            <p:cNvSpPr>
              <a:spLocks noChangeShapeType="1"/>
            </p:cNvSpPr>
            <p:nvPr/>
          </p:nvSpPr>
          <p:spPr bwMode="auto">
            <a:xfrm flipV="1">
              <a:off x="480" y="480"/>
              <a:ext cx="783" cy="2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63" name="Line 15"/>
            <p:cNvSpPr>
              <a:spLocks noChangeShapeType="1"/>
            </p:cNvSpPr>
            <p:nvPr/>
          </p:nvSpPr>
          <p:spPr bwMode="auto">
            <a:xfrm>
              <a:off x="1263" y="480"/>
              <a:ext cx="0" cy="96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64" name="Line 16"/>
            <p:cNvSpPr>
              <a:spLocks noChangeShapeType="1"/>
            </p:cNvSpPr>
            <p:nvPr/>
          </p:nvSpPr>
          <p:spPr bwMode="auto">
            <a:xfrm flipV="1">
              <a:off x="480" y="1440"/>
              <a:ext cx="783" cy="2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65" name="Line 17"/>
            <p:cNvSpPr>
              <a:spLocks noChangeShapeType="1"/>
            </p:cNvSpPr>
            <p:nvPr/>
          </p:nvSpPr>
          <p:spPr bwMode="auto">
            <a:xfrm>
              <a:off x="480" y="767"/>
              <a:ext cx="0" cy="961"/>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66" name="Line 18"/>
            <p:cNvSpPr>
              <a:spLocks noChangeShapeType="1"/>
            </p:cNvSpPr>
            <p:nvPr/>
          </p:nvSpPr>
          <p:spPr bwMode="auto">
            <a:xfrm flipV="1">
              <a:off x="927" y="575"/>
              <a:ext cx="262" cy="9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1567" name="Group 19"/>
            <p:cNvGrpSpPr>
              <a:grpSpLocks/>
            </p:cNvGrpSpPr>
            <p:nvPr/>
          </p:nvGrpSpPr>
          <p:grpSpPr bwMode="auto">
            <a:xfrm>
              <a:off x="927" y="864"/>
              <a:ext cx="262" cy="319"/>
              <a:chOff x="927" y="864"/>
              <a:chExt cx="262" cy="319"/>
            </a:xfrm>
          </p:grpSpPr>
          <p:sp>
            <p:nvSpPr>
              <p:cNvPr id="21602" name="Line 20"/>
              <p:cNvSpPr>
                <a:spLocks noChangeShapeType="1"/>
              </p:cNvSpPr>
              <p:nvPr/>
            </p:nvSpPr>
            <p:spPr bwMode="auto">
              <a:xfrm flipV="1">
                <a:off x="927" y="864"/>
                <a:ext cx="262" cy="96"/>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03" name="Line 21"/>
              <p:cNvSpPr>
                <a:spLocks noChangeShapeType="1"/>
              </p:cNvSpPr>
              <p:nvPr/>
            </p:nvSpPr>
            <p:spPr bwMode="auto">
              <a:xfrm flipV="1">
                <a:off x="927" y="1088"/>
                <a:ext cx="262" cy="95"/>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04" name="Line 22"/>
              <p:cNvSpPr>
                <a:spLocks noChangeShapeType="1"/>
              </p:cNvSpPr>
              <p:nvPr/>
            </p:nvSpPr>
            <p:spPr bwMode="auto">
              <a:xfrm>
                <a:off x="927" y="960"/>
                <a:ext cx="0" cy="223"/>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05" name="Line 23"/>
              <p:cNvSpPr>
                <a:spLocks noChangeShapeType="1"/>
              </p:cNvSpPr>
              <p:nvPr/>
            </p:nvSpPr>
            <p:spPr bwMode="auto">
              <a:xfrm>
                <a:off x="1189" y="864"/>
                <a:ext cx="0" cy="224"/>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568" name="Line 24"/>
            <p:cNvSpPr>
              <a:spLocks noChangeShapeType="1"/>
            </p:cNvSpPr>
            <p:nvPr/>
          </p:nvSpPr>
          <p:spPr bwMode="auto">
            <a:xfrm>
              <a:off x="927" y="672"/>
              <a:ext cx="0" cy="224"/>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69" name="Line 25"/>
            <p:cNvSpPr>
              <a:spLocks noChangeShapeType="1"/>
            </p:cNvSpPr>
            <p:nvPr/>
          </p:nvSpPr>
          <p:spPr bwMode="auto">
            <a:xfrm>
              <a:off x="1189" y="575"/>
              <a:ext cx="0" cy="226"/>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70" name="Line 26"/>
            <p:cNvSpPr>
              <a:spLocks noChangeShapeType="1"/>
            </p:cNvSpPr>
            <p:nvPr/>
          </p:nvSpPr>
          <p:spPr bwMode="auto">
            <a:xfrm flipV="1">
              <a:off x="927" y="801"/>
              <a:ext cx="262" cy="95"/>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1571" name="Group 27"/>
            <p:cNvGrpSpPr>
              <a:grpSpLocks/>
            </p:cNvGrpSpPr>
            <p:nvPr/>
          </p:nvGrpSpPr>
          <p:grpSpPr bwMode="auto">
            <a:xfrm>
              <a:off x="556" y="1024"/>
              <a:ext cx="260" cy="319"/>
              <a:chOff x="556" y="1024"/>
              <a:chExt cx="260" cy="319"/>
            </a:xfrm>
          </p:grpSpPr>
          <p:sp>
            <p:nvSpPr>
              <p:cNvPr id="21598" name="Line 28"/>
              <p:cNvSpPr>
                <a:spLocks noChangeShapeType="1"/>
              </p:cNvSpPr>
              <p:nvPr/>
            </p:nvSpPr>
            <p:spPr bwMode="auto">
              <a:xfrm flipV="1">
                <a:off x="556" y="1024"/>
                <a:ext cx="260" cy="96"/>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99" name="Line 29"/>
              <p:cNvSpPr>
                <a:spLocks noChangeShapeType="1"/>
              </p:cNvSpPr>
              <p:nvPr/>
            </p:nvSpPr>
            <p:spPr bwMode="auto">
              <a:xfrm flipV="1">
                <a:off x="556" y="1248"/>
                <a:ext cx="260" cy="95"/>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00" name="Line 30"/>
              <p:cNvSpPr>
                <a:spLocks noChangeShapeType="1"/>
              </p:cNvSpPr>
              <p:nvPr/>
            </p:nvSpPr>
            <p:spPr bwMode="auto">
              <a:xfrm>
                <a:off x="556" y="1120"/>
                <a:ext cx="0" cy="223"/>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01" name="Line 31"/>
              <p:cNvSpPr>
                <a:spLocks noChangeShapeType="1"/>
              </p:cNvSpPr>
              <p:nvPr/>
            </p:nvSpPr>
            <p:spPr bwMode="auto">
              <a:xfrm>
                <a:off x="816" y="1024"/>
                <a:ext cx="0" cy="224"/>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1572" name="Group 32"/>
            <p:cNvGrpSpPr>
              <a:grpSpLocks/>
            </p:cNvGrpSpPr>
            <p:nvPr/>
          </p:nvGrpSpPr>
          <p:grpSpPr bwMode="auto">
            <a:xfrm>
              <a:off x="556" y="704"/>
              <a:ext cx="260" cy="320"/>
              <a:chOff x="556" y="704"/>
              <a:chExt cx="260" cy="320"/>
            </a:xfrm>
          </p:grpSpPr>
          <p:sp>
            <p:nvSpPr>
              <p:cNvPr id="21594" name="Line 33"/>
              <p:cNvSpPr>
                <a:spLocks noChangeShapeType="1"/>
              </p:cNvSpPr>
              <p:nvPr/>
            </p:nvSpPr>
            <p:spPr bwMode="auto">
              <a:xfrm flipV="1">
                <a:off x="556" y="704"/>
                <a:ext cx="260" cy="9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95" name="Line 34"/>
              <p:cNvSpPr>
                <a:spLocks noChangeShapeType="1"/>
              </p:cNvSpPr>
              <p:nvPr/>
            </p:nvSpPr>
            <p:spPr bwMode="auto">
              <a:xfrm flipV="1">
                <a:off x="556" y="927"/>
                <a:ext cx="260" cy="9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96" name="Line 35"/>
              <p:cNvSpPr>
                <a:spLocks noChangeShapeType="1"/>
              </p:cNvSpPr>
              <p:nvPr/>
            </p:nvSpPr>
            <p:spPr bwMode="auto">
              <a:xfrm>
                <a:off x="556" y="801"/>
                <a:ext cx="0" cy="223"/>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97" name="Line 36"/>
              <p:cNvSpPr>
                <a:spLocks noChangeShapeType="1"/>
              </p:cNvSpPr>
              <p:nvPr/>
            </p:nvSpPr>
            <p:spPr bwMode="auto">
              <a:xfrm>
                <a:off x="816" y="704"/>
                <a:ext cx="0" cy="223"/>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1573" name="Group 37"/>
            <p:cNvGrpSpPr>
              <a:grpSpLocks/>
            </p:cNvGrpSpPr>
            <p:nvPr/>
          </p:nvGrpSpPr>
          <p:grpSpPr bwMode="auto">
            <a:xfrm>
              <a:off x="556" y="1312"/>
              <a:ext cx="260" cy="321"/>
              <a:chOff x="556" y="1312"/>
              <a:chExt cx="260" cy="321"/>
            </a:xfrm>
          </p:grpSpPr>
          <p:sp>
            <p:nvSpPr>
              <p:cNvPr id="21590" name="Line 38"/>
              <p:cNvSpPr>
                <a:spLocks noChangeShapeType="1"/>
              </p:cNvSpPr>
              <p:nvPr/>
            </p:nvSpPr>
            <p:spPr bwMode="auto">
              <a:xfrm flipV="1">
                <a:off x="556" y="1312"/>
                <a:ext cx="260" cy="95"/>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91" name="Line 39"/>
              <p:cNvSpPr>
                <a:spLocks noChangeShapeType="1"/>
              </p:cNvSpPr>
              <p:nvPr/>
            </p:nvSpPr>
            <p:spPr bwMode="auto">
              <a:xfrm flipV="1">
                <a:off x="556" y="1536"/>
                <a:ext cx="260" cy="9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92" name="Line 40"/>
              <p:cNvSpPr>
                <a:spLocks noChangeShapeType="1"/>
              </p:cNvSpPr>
              <p:nvPr/>
            </p:nvSpPr>
            <p:spPr bwMode="auto">
              <a:xfrm>
                <a:off x="556" y="1407"/>
                <a:ext cx="0" cy="226"/>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93" name="Line 41"/>
              <p:cNvSpPr>
                <a:spLocks noChangeShapeType="1"/>
              </p:cNvSpPr>
              <p:nvPr/>
            </p:nvSpPr>
            <p:spPr bwMode="auto">
              <a:xfrm>
                <a:off x="816" y="1312"/>
                <a:ext cx="0" cy="224"/>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1574" name="Group 42"/>
            <p:cNvGrpSpPr>
              <a:grpSpLocks/>
            </p:cNvGrpSpPr>
            <p:nvPr/>
          </p:nvGrpSpPr>
          <p:grpSpPr bwMode="auto">
            <a:xfrm>
              <a:off x="927" y="1183"/>
              <a:ext cx="262" cy="321"/>
              <a:chOff x="927" y="1183"/>
              <a:chExt cx="262" cy="321"/>
            </a:xfrm>
          </p:grpSpPr>
          <p:sp>
            <p:nvSpPr>
              <p:cNvPr id="21586" name="Line 43"/>
              <p:cNvSpPr>
                <a:spLocks noChangeShapeType="1"/>
              </p:cNvSpPr>
              <p:nvPr/>
            </p:nvSpPr>
            <p:spPr bwMode="auto">
              <a:xfrm flipV="1">
                <a:off x="927" y="1183"/>
                <a:ext cx="262" cy="9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87" name="Line 44"/>
              <p:cNvSpPr>
                <a:spLocks noChangeShapeType="1"/>
              </p:cNvSpPr>
              <p:nvPr/>
            </p:nvSpPr>
            <p:spPr bwMode="auto">
              <a:xfrm flipV="1">
                <a:off x="927" y="1407"/>
                <a:ext cx="262" cy="9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88" name="Line 45"/>
              <p:cNvSpPr>
                <a:spLocks noChangeShapeType="1"/>
              </p:cNvSpPr>
              <p:nvPr/>
            </p:nvSpPr>
            <p:spPr bwMode="auto">
              <a:xfrm>
                <a:off x="927" y="1280"/>
                <a:ext cx="0" cy="224"/>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89" name="Line 46"/>
              <p:cNvSpPr>
                <a:spLocks noChangeShapeType="1"/>
              </p:cNvSpPr>
              <p:nvPr/>
            </p:nvSpPr>
            <p:spPr bwMode="auto">
              <a:xfrm>
                <a:off x="1189" y="1183"/>
                <a:ext cx="0" cy="224"/>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575" name="Line 47"/>
            <p:cNvSpPr>
              <a:spLocks noChangeShapeType="1"/>
            </p:cNvSpPr>
            <p:nvPr/>
          </p:nvSpPr>
          <p:spPr bwMode="auto">
            <a:xfrm>
              <a:off x="1263" y="832"/>
              <a:ext cx="1233" cy="608"/>
            </a:xfrm>
            <a:prstGeom prst="line">
              <a:avLst/>
            </a:prstGeom>
            <a:noFill/>
            <a:ln w="28575">
              <a:solidFill>
                <a:srgbClr val="008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76" name="Line 48"/>
            <p:cNvSpPr>
              <a:spLocks noChangeShapeType="1"/>
            </p:cNvSpPr>
            <p:nvPr/>
          </p:nvSpPr>
          <p:spPr bwMode="auto">
            <a:xfrm>
              <a:off x="1278" y="1440"/>
              <a:ext cx="1185" cy="0"/>
            </a:xfrm>
            <a:prstGeom prst="line">
              <a:avLst/>
            </a:prstGeom>
            <a:noFill/>
            <a:ln w="28575">
              <a:solidFill>
                <a:srgbClr val="FF33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77" name="Line 49"/>
            <p:cNvSpPr>
              <a:spLocks noChangeShapeType="1"/>
            </p:cNvSpPr>
            <p:nvPr/>
          </p:nvSpPr>
          <p:spPr bwMode="auto">
            <a:xfrm>
              <a:off x="480" y="1120"/>
              <a:ext cx="1233" cy="608"/>
            </a:xfrm>
            <a:prstGeom prst="line">
              <a:avLst/>
            </a:prstGeom>
            <a:noFill/>
            <a:ln w="28575">
              <a:solidFill>
                <a:srgbClr val="008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78" name="Line 50"/>
            <p:cNvSpPr>
              <a:spLocks noChangeShapeType="1"/>
            </p:cNvSpPr>
            <p:nvPr/>
          </p:nvSpPr>
          <p:spPr bwMode="auto">
            <a:xfrm>
              <a:off x="502" y="1733"/>
              <a:ext cx="1211" cy="0"/>
            </a:xfrm>
            <a:prstGeom prst="line">
              <a:avLst/>
            </a:prstGeom>
            <a:noFill/>
            <a:ln w="28575">
              <a:solidFill>
                <a:srgbClr val="FF33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79" name="Line 51"/>
            <p:cNvSpPr>
              <a:spLocks noChangeShapeType="1"/>
            </p:cNvSpPr>
            <p:nvPr/>
          </p:nvSpPr>
          <p:spPr bwMode="auto">
            <a:xfrm flipH="1">
              <a:off x="1713" y="1440"/>
              <a:ext cx="783" cy="2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80" name="Line 52"/>
            <p:cNvSpPr>
              <a:spLocks noChangeShapeType="1"/>
            </p:cNvSpPr>
            <p:nvPr/>
          </p:nvSpPr>
          <p:spPr bwMode="auto">
            <a:xfrm>
              <a:off x="2112" y="1584"/>
              <a:ext cx="0" cy="336"/>
            </a:xfrm>
            <a:prstGeom prst="line">
              <a:avLst/>
            </a:prstGeom>
            <a:noFill/>
            <a:ln w="28575">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81" name="Rectangle 53"/>
            <p:cNvSpPr>
              <a:spLocks noChangeArrowheads="1"/>
            </p:cNvSpPr>
            <p:nvPr/>
          </p:nvSpPr>
          <p:spPr bwMode="auto">
            <a:xfrm>
              <a:off x="2102" y="1747"/>
              <a:ext cx="21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dirty="0">
                  <a:solidFill>
                    <a:srgbClr val="FF0000"/>
                  </a:solidFill>
                  <a:latin typeface="+mn-lt"/>
                </a:rPr>
                <a:t>F</a:t>
              </a:r>
              <a:endParaRPr kumimoji="1" lang="en-US" altLang="zh-CN" sz="2000" b="1" i="1" dirty="0">
                <a:solidFill>
                  <a:srgbClr val="FF0000"/>
                </a:solidFill>
                <a:latin typeface="+mn-lt"/>
                <a:ea typeface="'宋体" pitchFamily="34" charset="-122"/>
              </a:endParaRPr>
            </a:p>
          </p:txBody>
        </p:sp>
        <p:sp>
          <p:nvSpPr>
            <p:cNvPr id="21582" name="Arc 54"/>
            <p:cNvSpPr>
              <a:spLocks/>
            </p:cNvSpPr>
            <p:nvPr/>
          </p:nvSpPr>
          <p:spPr bwMode="auto">
            <a:xfrm>
              <a:off x="2113" y="1297"/>
              <a:ext cx="48" cy="144"/>
            </a:xfrm>
            <a:custGeom>
              <a:avLst/>
              <a:gdLst>
                <a:gd name="T0" fmla="*/ 0 w 21600"/>
                <a:gd name="T1" fmla="*/ 144 h 21595"/>
                <a:gd name="T2" fmla="*/ 47 w 21600"/>
                <a:gd name="T3" fmla="*/ 0 h 21595"/>
                <a:gd name="T4" fmla="*/ 48 w 21600"/>
                <a:gd name="T5" fmla="*/ 144 h 21595"/>
                <a:gd name="T6" fmla="*/ 0 60000 65536"/>
                <a:gd name="T7" fmla="*/ 0 60000 65536"/>
                <a:gd name="T8" fmla="*/ 0 60000 65536"/>
              </a:gdLst>
              <a:ahLst/>
              <a:cxnLst>
                <a:cxn ang="T6">
                  <a:pos x="T0" y="T1"/>
                </a:cxn>
                <a:cxn ang="T7">
                  <a:pos x="T2" y="T3"/>
                </a:cxn>
                <a:cxn ang="T8">
                  <a:pos x="T4" y="T5"/>
                </a:cxn>
              </a:cxnLst>
              <a:rect l="0" t="0" r="r" b="b"/>
              <a:pathLst>
                <a:path w="21600" h="21595" fill="none" extrusionOk="0">
                  <a:moveTo>
                    <a:pt x="0" y="21594"/>
                  </a:moveTo>
                  <a:cubicBezTo>
                    <a:pt x="0" y="9841"/>
                    <a:pt x="9398" y="244"/>
                    <a:pt x="21149" y="-1"/>
                  </a:cubicBezTo>
                </a:path>
                <a:path w="21600" h="21595" stroke="0" extrusionOk="0">
                  <a:moveTo>
                    <a:pt x="0" y="21594"/>
                  </a:moveTo>
                  <a:cubicBezTo>
                    <a:pt x="0" y="9841"/>
                    <a:pt x="9398" y="244"/>
                    <a:pt x="21149" y="-1"/>
                  </a:cubicBezTo>
                  <a:lnTo>
                    <a:pt x="21600" y="21595"/>
                  </a:lnTo>
                  <a:lnTo>
                    <a:pt x="0" y="21594"/>
                  </a:lnTo>
                  <a:close/>
                </a:path>
              </a:pathLst>
            </a:custGeom>
            <a:noFill/>
            <a:ln w="28575"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1583" name="Object 55"/>
            <p:cNvGraphicFramePr>
              <a:graphicFrameLocks/>
            </p:cNvGraphicFramePr>
            <p:nvPr>
              <p:extLst>
                <p:ext uri="{D42A27DB-BD31-4B8C-83A1-F6EECF244321}">
                  <p14:modId xmlns:p14="http://schemas.microsoft.com/office/powerpoint/2010/main" val="977859357"/>
                </p:ext>
              </p:extLst>
            </p:nvPr>
          </p:nvGraphicFramePr>
          <p:xfrm>
            <a:off x="1570" y="1174"/>
            <a:ext cx="540" cy="231"/>
          </p:xfrm>
          <a:graphic>
            <a:graphicData uri="http://schemas.openxmlformats.org/presentationml/2006/ole">
              <mc:AlternateContent xmlns:mc="http://schemas.openxmlformats.org/markup-compatibility/2006">
                <mc:Choice xmlns:v="urn:schemas-microsoft-com:vml" Requires="v">
                  <p:oleObj name="Equation" r:id="rId16" imgW="482400" imgH="203040" progId="Equation.DSMT4">
                    <p:embed/>
                  </p:oleObj>
                </mc:Choice>
                <mc:Fallback>
                  <p:oleObj name="Equation" r:id="rId16" imgW="482400" imgH="203040" progId="Equation.DSMT4">
                    <p:embed/>
                    <p:pic>
                      <p:nvPicPr>
                        <p:cNvPr id="0" name=""/>
                        <p:cNvPicPr>
                          <a:picLocks noChangeArrowheads="1"/>
                        </p:cNvPicPr>
                        <p:nvPr/>
                      </p:nvPicPr>
                      <p:blipFill>
                        <a:blip r:embed="rId17"/>
                        <a:srcRect/>
                        <a:stretch>
                          <a:fillRect/>
                        </a:stretch>
                      </p:blipFill>
                      <p:spPr bwMode="auto">
                        <a:xfrm>
                          <a:off x="1570" y="1174"/>
                          <a:ext cx="5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584" name="Rectangle 56"/>
            <p:cNvSpPr>
              <a:spLocks noChangeArrowheads="1"/>
            </p:cNvSpPr>
            <p:nvPr/>
          </p:nvSpPr>
          <p:spPr bwMode="auto">
            <a:xfrm>
              <a:off x="967" y="1497"/>
              <a:ext cx="34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000" b="1" dirty="0">
                  <a:latin typeface="Times New Roman" panose="02020603050405020304" pitchFamily="18" charset="0"/>
                  <a:ea typeface="华文楷体" panose="02010600040101010101" pitchFamily="2" charset="-122"/>
                </a:rPr>
                <a:t>杆</a:t>
              </a:r>
              <a:r>
                <a:rPr kumimoji="1" lang="en-US" altLang="zh-CN" sz="2000" b="1" dirty="0">
                  <a:latin typeface="Times New Roman" panose="02020603050405020304" pitchFamily="18" charset="0"/>
                  <a:ea typeface="华文楷体" panose="02010600040101010101" pitchFamily="2" charset="-122"/>
                </a:rPr>
                <a:t>1</a:t>
              </a:r>
            </a:p>
          </p:txBody>
        </p:sp>
        <p:sp>
          <p:nvSpPr>
            <p:cNvPr id="21585" name="Rectangle 57"/>
            <p:cNvSpPr>
              <a:spLocks noChangeArrowheads="1"/>
            </p:cNvSpPr>
            <p:nvPr/>
          </p:nvSpPr>
          <p:spPr bwMode="auto">
            <a:xfrm>
              <a:off x="1689" y="835"/>
              <a:ext cx="34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000" b="1" dirty="0">
                  <a:latin typeface="Times New Roman" panose="02020603050405020304" pitchFamily="18" charset="0"/>
                  <a:ea typeface="华文楷体" panose="02010600040101010101" pitchFamily="2" charset="-122"/>
                </a:rPr>
                <a:t>杆</a:t>
              </a:r>
              <a:r>
                <a:rPr kumimoji="1" lang="en-US" altLang="zh-CN" sz="2000" b="1" dirty="0">
                  <a:latin typeface="Times New Roman" panose="02020603050405020304" pitchFamily="18" charset="0"/>
                  <a:ea typeface="华文楷体" panose="02010600040101010101" pitchFamily="2" charset="-122"/>
                </a:rPr>
                <a:t>2</a:t>
              </a:r>
            </a:p>
          </p:txBody>
        </p:sp>
      </p:grpSp>
      <p:sp>
        <p:nvSpPr>
          <p:cNvPr id="177210" name="Rectangle 58"/>
          <p:cNvSpPr>
            <a:spLocks noChangeArrowheads="1"/>
          </p:cNvSpPr>
          <p:nvPr/>
        </p:nvSpPr>
        <p:spPr bwMode="auto">
          <a:xfrm>
            <a:off x="4289425" y="1893394"/>
            <a:ext cx="1025525"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solidFill>
                  <a:srgbClr val="FF0000"/>
                </a:solidFill>
                <a:latin typeface="楷体" panose="02010609060101010101" pitchFamily="49" charset="-122"/>
                <a:ea typeface="楷体" panose="02010609060101010101" pitchFamily="49" charset="-122"/>
              </a:rPr>
              <a:t>解：</a:t>
            </a:r>
          </a:p>
        </p:txBody>
      </p:sp>
      <p:grpSp>
        <p:nvGrpSpPr>
          <p:cNvPr id="177211" name="Group 59"/>
          <p:cNvGrpSpPr>
            <a:grpSpLocks/>
          </p:cNvGrpSpPr>
          <p:nvPr/>
        </p:nvGrpSpPr>
        <p:grpSpPr bwMode="auto">
          <a:xfrm>
            <a:off x="812459" y="4479923"/>
            <a:ext cx="1677988" cy="1466850"/>
            <a:chOff x="464" y="2630"/>
            <a:chExt cx="1057" cy="924"/>
          </a:xfrm>
        </p:grpSpPr>
        <p:sp>
          <p:nvSpPr>
            <p:cNvPr id="21554" name="Line 60"/>
            <p:cNvSpPr>
              <a:spLocks noChangeShapeType="1"/>
            </p:cNvSpPr>
            <p:nvPr/>
          </p:nvSpPr>
          <p:spPr bwMode="auto">
            <a:xfrm>
              <a:off x="768" y="2755"/>
              <a:ext cx="720" cy="288"/>
            </a:xfrm>
            <a:prstGeom prst="line">
              <a:avLst/>
            </a:prstGeom>
            <a:noFill/>
            <a:ln w="28575">
              <a:solidFill>
                <a:srgbClr val="FF0000"/>
              </a:solidFill>
              <a:round/>
              <a:headEnd type="triangle"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55" name="Line 61"/>
            <p:cNvSpPr>
              <a:spLocks noChangeShapeType="1"/>
            </p:cNvSpPr>
            <p:nvPr/>
          </p:nvSpPr>
          <p:spPr bwMode="auto">
            <a:xfrm>
              <a:off x="768" y="3043"/>
              <a:ext cx="720" cy="0"/>
            </a:xfrm>
            <a:prstGeom prst="line">
              <a:avLst/>
            </a:prstGeom>
            <a:noFill/>
            <a:ln w="28575">
              <a:solidFill>
                <a:srgbClr val="FF0000"/>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56" name="Line 62"/>
            <p:cNvSpPr>
              <a:spLocks noChangeShapeType="1"/>
            </p:cNvSpPr>
            <p:nvPr/>
          </p:nvSpPr>
          <p:spPr bwMode="auto">
            <a:xfrm>
              <a:off x="1488" y="3043"/>
              <a:ext cx="0" cy="288"/>
            </a:xfrm>
            <a:prstGeom prst="line">
              <a:avLst/>
            </a:prstGeom>
            <a:noFill/>
            <a:ln w="28575">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57" name="Rectangle 63"/>
            <p:cNvSpPr>
              <a:spLocks noChangeArrowheads="1"/>
            </p:cNvSpPr>
            <p:nvPr/>
          </p:nvSpPr>
          <p:spPr bwMode="auto">
            <a:xfrm>
              <a:off x="902" y="2630"/>
              <a:ext cx="35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a:latin typeface="Times New Roman" panose="02020603050405020304" pitchFamily="18" charset="0"/>
                  <a:ea typeface="楷体_GB2312" pitchFamily="49" charset="-122"/>
                </a:rPr>
                <a:t>F</a:t>
              </a:r>
              <a:r>
                <a:rPr kumimoji="1" lang="en-US" altLang="zh-CN" sz="2000" b="1" baseline="-25000">
                  <a:latin typeface="Times New Roman" panose="02020603050405020304" pitchFamily="18" charset="0"/>
                  <a:ea typeface="楷体_GB2312" pitchFamily="49" charset="-122"/>
                </a:rPr>
                <a:t>N2</a:t>
              </a:r>
            </a:p>
          </p:txBody>
        </p:sp>
        <p:sp>
          <p:nvSpPr>
            <p:cNvPr id="21558" name="Rectangle 64"/>
            <p:cNvSpPr>
              <a:spLocks noChangeArrowheads="1"/>
            </p:cNvSpPr>
            <p:nvPr/>
          </p:nvSpPr>
          <p:spPr bwMode="auto">
            <a:xfrm>
              <a:off x="865" y="3014"/>
              <a:ext cx="35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a:latin typeface="Times New Roman" panose="02020603050405020304" pitchFamily="18" charset="0"/>
                  <a:ea typeface="楷体_GB2312" pitchFamily="49" charset="-122"/>
                </a:rPr>
                <a:t>F</a:t>
              </a:r>
              <a:r>
                <a:rPr kumimoji="1" lang="en-US" altLang="zh-CN" sz="2000" b="1" baseline="-25000">
                  <a:latin typeface="Times New Roman" panose="02020603050405020304" pitchFamily="18" charset="0"/>
                  <a:ea typeface="楷体_GB2312" pitchFamily="49" charset="-122"/>
                </a:rPr>
                <a:t>N1</a:t>
              </a:r>
            </a:p>
          </p:txBody>
        </p:sp>
        <p:sp>
          <p:nvSpPr>
            <p:cNvPr id="21559" name="Rectangle 65"/>
            <p:cNvSpPr>
              <a:spLocks noChangeArrowheads="1"/>
            </p:cNvSpPr>
            <p:nvPr/>
          </p:nvSpPr>
          <p:spPr bwMode="auto">
            <a:xfrm>
              <a:off x="1094" y="3302"/>
              <a:ext cx="42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dirty="0">
                  <a:solidFill>
                    <a:srgbClr val="FF3300"/>
                  </a:solidFill>
                  <a:latin typeface="Times New Roman" panose="02020603050405020304" pitchFamily="18" charset="0"/>
                  <a:ea typeface="楷体_GB2312" pitchFamily="49" charset="-122"/>
                </a:rPr>
                <a:t>0.5</a:t>
              </a:r>
              <a:r>
                <a:rPr kumimoji="1" lang="en-US" altLang="zh-CN" sz="2000" b="1" i="1" dirty="0">
                  <a:solidFill>
                    <a:srgbClr val="FF3300"/>
                  </a:solidFill>
                  <a:latin typeface="Times New Roman" panose="02020603050405020304" pitchFamily="18" charset="0"/>
                  <a:ea typeface="楷体_GB2312" pitchFamily="49" charset="-122"/>
                </a:rPr>
                <a:t>F</a:t>
              </a:r>
            </a:p>
          </p:txBody>
        </p:sp>
        <p:sp>
          <p:nvSpPr>
            <p:cNvPr id="21560" name="Arc 66"/>
            <p:cNvSpPr>
              <a:spLocks/>
            </p:cNvSpPr>
            <p:nvPr/>
          </p:nvSpPr>
          <p:spPr bwMode="auto">
            <a:xfrm>
              <a:off x="1057" y="2900"/>
              <a:ext cx="48" cy="144"/>
            </a:xfrm>
            <a:custGeom>
              <a:avLst/>
              <a:gdLst>
                <a:gd name="T0" fmla="*/ 0 w 21600"/>
                <a:gd name="T1" fmla="*/ 144 h 21595"/>
                <a:gd name="T2" fmla="*/ 47 w 21600"/>
                <a:gd name="T3" fmla="*/ 0 h 21595"/>
                <a:gd name="T4" fmla="*/ 48 w 21600"/>
                <a:gd name="T5" fmla="*/ 144 h 21595"/>
                <a:gd name="T6" fmla="*/ 0 60000 65536"/>
                <a:gd name="T7" fmla="*/ 0 60000 65536"/>
                <a:gd name="T8" fmla="*/ 0 60000 65536"/>
              </a:gdLst>
              <a:ahLst/>
              <a:cxnLst>
                <a:cxn ang="T6">
                  <a:pos x="T0" y="T1"/>
                </a:cxn>
                <a:cxn ang="T7">
                  <a:pos x="T2" y="T3"/>
                </a:cxn>
                <a:cxn ang="T8">
                  <a:pos x="T4" y="T5"/>
                </a:cxn>
              </a:cxnLst>
              <a:rect l="0" t="0" r="r" b="b"/>
              <a:pathLst>
                <a:path w="21600" h="21595" fill="none" extrusionOk="0">
                  <a:moveTo>
                    <a:pt x="0" y="21594"/>
                  </a:moveTo>
                  <a:cubicBezTo>
                    <a:pt x="0" y="9841"/>
                    <a:pt x="9398" y="244"/>
                    <a:pt x="21149" y="-1"/>
                  </a:cubicBezTo>
                </a:path>
                <a:path w="21600" h="21595" stroke="0" extrusionOk="0">
                  <a:moveTo>
                    <a:pt x="0" y="21594"/>
                  </a:moveTo>
                  <a:cubicBezTo>
                    <a:pt x="0" y="9841"/>
                    <a:pt x="9398" y="244"/>
                    <a:pt x="21149" y="-1"/>
                  </a:cubicBezTo>
                  <a:lnTo>
                    <a:pt x="21600" y="21595"/>
                  </a:lnTo>
                  <a:lnTo>
                    <a:pt x="0" y="21594"/>
                  </a:lnTo>
                  <a:close/>
                </a:path>
              </a:pathLst>
            </a:custGeom>
            <a:noFill/>
            <a:ln w="28575"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1561" name="Object 67"/>
            <p:cNvGraphicFramePr>
              <a:graphicFrameLocks/>
            </p:cNvGraphicFramePr>
            <p:nvPr>
              <p:extLst>
                <p:ext uri="{D42A27DB-BD31-4B8C-83A1-F6EECF244321}">
                  <p14:modId xmlns:p14="http://schemas.microsoft.com/office/powerpoint/2010/main" val="826736501"/>
                </p:ext>
              </p:extLst>
            </p:nvPr>
          </p:nvGraphicFramePr>
          <p:xfrm>
            <a:off x="464" y="2804"/>
            <a:ext cx="539" cy="232"/>
          </p:xfrm>
          <a:graphic>
            <a:graphicData uri="http://schemas.openxmlformats.org/presentationml/2006/ole">
              <mc:AlternateContent xmlns:mc="http://schemas.openxmlformats.org/markup-compatibility/2006">
                <mc:Choice xmlns:v="urn:schemas-microsoft-com:vml" Requires="v">
                  <p:oleObj name="Equation" r:id="rId18" imgW="482400" imgH="203040" progId="Equation.DSMT4">
                    <p:embed/>
                  </p:oleObj>
                </mc:Choice>
                <mc:Fallback>
                  <p:oleObj name="Equation" r:id="rId18" imgW="482400" imgH="203040" progId="Equation.DSMT4">
                    <p:embed/>
                    <p:pic>
                      <p:nvPicPr>
                        <p:cNvPr id="0" name=""/>
                        <p:cNvPicPr>
                          <a:picLocks noChangeArrowheads="1"/>
                        </p:cNvPicPr>
                        <p:nvPr/>
                      </p:nvPicPr>
                      <p:blipFill>
                        <a:blip r:embed="rId19"/>
                        <a:srcRect/>
                        <a:stretch>
                          <a:fillRect/>
                        </a:stretch>
                      </p:blipFill>
                      <p:spPr bwMode="auto">
                        <a:xfrm>
                          <a:off x="464" y="2804"/>
                          <a:ext cx="539"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177220" name="Object 68"/>
          <p:cNvGraphicFramePr>
            <a:graphicFrameLocks/>
          </p:cNvGraphicFramePr>
          <p:nvPr>
            <p:extLst>
              <p:ext uri="{D42A27DB-BD31-4B8C-83A1-F6EECF244321}">
                <p14:modId xmlns:p14="http://schemas.microsoft.com/office/powerpoint/2010/main" val="1553589269"/>
              </p:ext>
            </p:extLst>
          </p:nvPr>
        </p:nvGraphicFramePr>
        <p:xfrm>
          <a:off x="3095625" y="4473575"/>
          <a:ext cx="2133600" cy="857250"/>
        </p:xfrm>
        <a:graphic>
          <a:graphicData uri="http://schemas.openxmlformats.org/presentationml/2006/ole">
            <mc:AlternateContent xmlns:mc="http://schemas.openxmlformats.org/markup-compatibility/2006">
              <mc:Choice xmlns:v="urn:schemas-microsoft-com:vml" Requires="v">
                <p:oleObj name="Equation" r:id="rId20" imgW="1117440" imgH="457200" progId="Equation.DSMT4">
                  <p:embed/>
                </p:oleObj>
              </mc:Choice>
              <mc:Fallback>
                <p:oleObj name="Equation" r:id="rId20" imgW="1117440" imgH="457200" progId="Equation.DSMT4">
                  <p:embed/>
                  <p:pic>
                    <p:nvPicPr>
                      <p:cNvPr id="0" name=""/>
                      <p:cNvPicPr>
                        <a:picLocks noChangeArrowheads="1"/>
                      </p:cNvPicPr>
                      <p:nvPr/>
                    </p:nvPicPr>
                    <p:blipFill>
                      <a:blip r:embed="rId21"/>
                      <a:srcRect/>
                      <a:stretch>
                        <a:fillRect/>
                      </a:stretch>
                    </p:blipFill>
                    <p:spPr bwMode="auto">
                      <a:xfrm>
                        <a:off x="3095625" y="4473575"/>
                        <a:ext cx="2133600"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7221" name="Object 69"/>
          <p:cNvGraphicFramePr>
            <a:graphicFrameLocks/>
          </p:cNvGraphicFramePr>
          <p:nvPr>
            <p:extLst>
              <p:ext uri="{D42A27DB-BD31-4B8C-83A1-F6EECF244321}">
                <p14:modId xmlns:p14="http://schemas.microsoft.com/office/powerpoint/2010/main" val="3323106838"/>
              </p:ext>
            </p:extLst>
          </p:nvPr>
        </p:nvGraphicFramePr>
        <p:xfrm>
          <a:off x="5397500" y="4549775"/>
          <a:ext cx="3132138" cy="735013"/>
        </p:xfrm>
        <a:graphic>
          <a:graphicData uri="http://schemas.openxmlformats.org/presentationml/2006/ole">
            <mc:AlternateContent xmlns:mc="http://schemas.openxmlformats.org/markup-compatibility/2006">
              <mc:Choice xmlns:v="urn:schemas-microsoft-com:vml" Requires="v">
                <p:oleObj name="Equation" r:id="rId22" imgW="1600200" imgH="419040" progId="Equation.DSMT4">
                  <p:embed/>
                </p:oleObj>
              </mc:Choice>
              <mc:Fallback>
                <p:oleObj name="Equation" r:id="rId22" imgW="1600200" imgH="419040" progId="Equation.DSMT4">
                  <p:embed/>
                  <p:pic>
                    <p:nvPicPr>
                      <p:cNvPr id="0" name=""/>
                      <p:cNvPicPr>
                        <a:picLocks noChangeArrowheads="1"/>
                      </p:cNvPicPr>
                      <p:nvPr/>
                    </p:nvPicPr>
                    <p:blipFill>
                      <a:blip r:embed="rId23"/>
                      <a:srcRect/>
                      <a:stretch>
                        <a:fillRect/>
                      </a:stretch>
                    </p:blipFill>
                    <p:spPr bwMode="auto">
                      <a:xfrm>
                        <a:off x="5397500" y="4549775"/>
                        <a:ext cx="3132138" cy="735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7222" name="Object 70"/>
          <p:cNvGraphicFramePr>
            <a:graphicFrameLocks/>
          </p:cNvGraphicFramePr>
          <p:nvPr>
            <p:extLst>
              <p:ext uri="{D42A27DB-BD31-4B8C-83A1-F6EECF244321}">
                <p14:modId xmlns:p14="http://schemas.microsoft.com/office/powerpoint/2010/main" val="2887905086"/>
              </p:ext>
            </p:extLst>
          </p:nvPr>
        </p:nvGraphicFramePr>
        <p:xfrm>
          <a:off x="6699250" y="6008688"/>
          <a:ext cx="1919288" cy="492125"/>
        </p:xfrm>
        <a:graphic>
          <a:graphicData uri="http://schemas.openxmlformats.org/presentationml/2006/ole">
            <mc:AlternateContent xmlns:mc="http://schemas.openxmlformats.org/markup-compatibility/2006">
              <mc:Choice xmlns:v="urn:schemas-microsoft-com:vml" Requires="v">
                <p:oleObj name="Equation" r:id="rId24" imgW="850680" imgH="253800" progId="Equation.DSMT4">
                  <p:embed/>
                </p:oleObj>
              </mc:Choice>
              <mc:Fallback>
                <p:oleObj name="Equation" r:id="rId24" imgW="850680" imgH="253800" progId="Equation.DSMT4">
                  <p:embed/>
                  <p:pic>
                    <p:nvPicPr>
                      <p:cNvPr id="0" name=""/>
                      <p:cNvPicPr>
                        <a:picLocks noChangeArrowheads="1"/>
                      </p:cNvPicPr>
                      <p:nvPr/>
                    </p:nvPicPr>
                    <p:blipFill>
                      <a:blip r:embed="rId25"/>
                      <a:srcRect/>
                      <a:stretch>
                        <a:fillRect/>
                      </a:stretch>
                    </p:blipFill>
                    <p:spPr bwMode="auto">
                      <a:xfrm>
                        <a:off x="6699250" y="6008688"/>
                        <a:ext cx="1919288" cy="492125"/>
                      </a:xfrm>
                      <a:prstGeom prst="rect">
                        <a:avLst/>
                      </a:prstGeom>
                      <a:noFill/>
                      <a:ln>
                        <a:noFill/>
                      </a:ln>
                      <a:effectLst/>
                      <a:extLst>
                        <a:ext uri="{909E8E84-426E-40DD-AFC4-6F175D3DCCD1}">
                          <a14:hiddenFill xmlns:a14="http://schemas.microsoft.com/office/drawing/2010/main">
                            <a:solidFill>
                              <a:srgbClr val="00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77223" name="Group 71"/>
          <p:cNvGrpSpPr>
            <a:grpSpLocks/>
          </p:cNvGrpSpPr>
          <p:nvPr/>
        </p:nvGrpSpPr>
        <p:grpSpPr bwMode="auto">
          <a:xfrm>
            <a:off x="576667" y="2782344"/>
            <a:ext cx="2520121" cy="1697038"/>
            <a:chOff x="260" y="1650"/>
            <a:chExt cx="1503" cy="1069"/>
          </a:xfrm>
        </p:grpSpPr>
        <p:sp>
          <p:nvSpPr>
            <p:cNvPr id="21533" name="Line 72"/>
            <p:cNvSpPr>
              <a:spLocks noChangeShapeType="1"/>
            </p:cNvSpPr>
            <p:nvPr/>
          </p:nvSpPr>
          <p:spPr bwMode="auto">
            <a:xfrm>
              <a:off x="354" y="1690"/>
              <a:ext cx="1233" cy="608"/>
            </a:xfrm>
            <a:prstGeom prst="line">
              <a:avLst/>
            </a:prstGeom>
            <a:noFill/>
            <a:ln w="28575">
              <a:solidFill>
                <a:srgbClr val="008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34" name="Line 73"/>
            <p:cNvSpPr>
              <a:spLocks noChangeShapeType="1"/>
            </p:cNvSpPr>
            <p:nvPr/>
          </p:nvSpPr>
          <p:spPr bwMode="auto">
            <a:xfrm>
              <a:off x="360" y="2304"/>
              <a:ext cx="1221" cy="0"/>
            </a:xfrm>
            <a:prstGeom prst="line">
              <a:avLst/>
            </a:prstGeom>
            <a:noFill/>
            <a:ln w="28575">
              <a:solidFill>
                <a:srgbClr val="FF33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35" name="Line 74"/>
            <p:cNvSpPr>
              <a:spLocks noChangeShapeType="1"/>
            </p:cNvSpPr>
            <p:nvPr/>
          </p:nvSpPr>
          <p:spPr bwMode="auto">
            <a:xfrm>
              <a:off x="1584" y="2304"/>
              <a:ext cx="0" cy="336"/>
            </a:xfrm>
            <a:prstGeom prst="line">
              <a:avLst/>
            </a:prstGeom>
            <a:noFill/>
            <a:ln w="28575">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36" name="Rectangle 75"/>
            <p:cNvSpPr>
              <a:spLocks noChangeArrowheads="1"/>
            </p:cNvSpPr>
            <p:nvPr/>
          </p:nvSpPr>
          <p:spPr bwMode="auto">
            <a:xfrm>
              <a:off x="1171" y="2467"/>
              <a:ext cx="59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dirty="0">
                  <a:solidFill>
                    <a:srgbClr val="FF0000"/>
                  </a:solidFill>
                  <a:latin typeface="Times New Roman" panose="02020603050405020304" pitchFamily="18" charset="0"/>
                  <a:ea typeface="宋体" panose="02010600030101010101" pitchFamily="2" charset="-122"/>
                </a:rPr>
                <a:t>0.5</a:t>
              </a:r>
              <a:r>
                <a:rPr kumimoji="1" lang="en-US" altLang="zh-CN" sz="2000" b="1" i="1" dirty="0">
                  <a:solidFill>
                    <a:srgbClr val="FF0000"/>
                  </a:solidFill>
                  <a:latin typeface="Times New Roman" panose="02020603050405020304" pitchFamily="18" charset="0"/>
                  <a:ea typeface="宋体" panose="02010600030101010101" pitchFamily="2" charset="-122"/>
                </a:rPr>
                <a:t>F</a:t>
              </a:r>
            </a:p>
          </p:txBody>
        </p:sp>
        <p:sp>
          <p:nvSpPr>
            <p:cNvPr id="21537" name="Arc 76"/>
            <p:cNvSpPr>
              <a:spLocks/>
            </p:cNvSpPr>
            <p:nvPr/>
          </p:nvSpPr>
          <p:spPr bwMode="auto">
            <a:xfrm>
              <a:off x="1264" y="2160"/>
              <a:ext cx="48" cy="144"/>
            </a:xfrm>
            <a:custGeom>
              <a:avLst/>
              <a:gdLst>
                <a:gd name="T0" fmla="*/ 0 w 21600"/>
                <a:gd name="T1" fmla="*/ 144 h 21595"/>
                <a:gd name="T2" fmla="*/ 47 w 21600"/>
                <a:gd name="T3" fmla="*/ 0 h 21595"/>
                <a:gd name="T4" fmla="*/ 48 w 21600"/>
                <a:gd name="T5" fmla="*/ 144 h 21595"/>
                <a:gd name="T6" fmla="*/ 0 60000 65536"/>
                <a:gd name="T7" fmla="*/ 0 60000 65536"/>
                <a:gd name="T8" fmla="*/ 0 60000 65536"/>
              </a:gdLst>
              <a:ahLst/>
              <a:cxnLst>
                <a:cxn ang="T6">
                  <a:pos x="T0" y="T1"/>
                </a:cxn>
                <a:cxn ang="T7">
                  <a:pos x="T2" y="T3"/>
                </a:cxn>
                <a:cxn ang="T8">
                  <a:pos x="T4" y="T5"/>
                </a:cxn>
              </a:cxnLst>
              <a:rect l="0" t="0" r="r" b="b"/>
              <a:pathLst>
                <a:path w="21600" h="21595" fill="none" extrusionOk="0">
                  <a:moveTo>
                    <a:pt x="0" y="21594"/>
                  </a:moveTo>
                  <a:cubicBezTo>
                    <a:pt x="0" y="9841"/>
                    <a:pt x="9398" y="244"/>
                    <a:pt x="21149" y="-1"/>
                  </a:cubicBezTo>
                </a:path>
                <a:path w="21600" h="21595" stroke="0" extrusionOk="0">
                  <a:moveTo>
                    <a:pt x="0" y="21594"/>
                  </a:moveTo>
                  <a:cubicBezTo>
                    <a:pt x="0" y="9841"/>
                    <a:pt x="9398" y="244"/>
                    <a:pt x="21149" y="-1"/>
                  </a:cubicBezTo>
                  <a:lnTo>
                    <a:pt x="21600" y="21595"/>
                  </a:lnTo>
                  <a:lnTo>
                    <a:pt x="0" y="21594"/>
                  </a:lnTo>
                  <a:close/>
                </a:path>
              </a:pathLst>
            </a:custGeom>
            <a:noFill/>
            <a:ln w="28575"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1538" name="Object 77"/>
            <p:cNvGraphicFramePr>
              <a:graphicFrameLocks/>
            </p:cNvGraphicFramePr>
            <p:nvPr>
              <p:extLst>
                <p:ext uri="{D42A27DB-BD31-4B8C-83A1-F6EECF244321}">
                  <p14:modId xmlns:p14="http://schemas.microsoft.com/office/powerpoint/2010/main" val="767389667"/>
                </p:ext>
              </p:extLst>
            </p:nvPr>
          </p:nvGraphicFramePr>
          <p:xfrm>
            <a:off x="721" y="2067"/>
            <a:ext cx="541" cy="232"/>
          </p:xfrm>
          <a:graphic>
            <a:graphicData uri="http://schemas.openxmlformats.org/presentationml/2006/ole">
              <mc:AlternateContent xmlns:mc="http://schemas.openxmlformats.org/markup-compatibility/2006">
                <mc:Choice xmlns:v="urn:schemas-microsoft-com:vml" Requires="v">
                  <p:oleObj name="Equation" r:id="rId26" imgW="482400" imgH="203040" progId="Equation.DSMT4">
                    <p:embed/>
                  </p:oleObj>
                </mc:Choice>
                <mc:Fallback>
                  <p:oleObj name="Equation" r:id="rId26" imgW="482400" imgH="203040" progId="Equation.DSMT4">
                    <p:embed/>
                    <p:pic>
                      <p:nvPicPr>
                        <p:cNvPr id="0" name=""/>
                        <p:cNvPicPr>
                          <a:picLocks noChangeArrowheads="1"/>
                        </p:cNvPicPr>
                        <p:nvPr/>
                      </p:nvPicPr>
                      <p:blipFill>
                        <a:blip r:embed="rId27"/>
                        <a:srcRect/>
                        <a:stretch>
                          <a:fillRect/>
                        </a:stretch>
                      </p:blipFill>
                      <p:spPr bwMode="auto">
                        <a:xfrm>
                          <a:off x="721" y="2067"/>
                          <a:ext cx="541"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539" name="Rectangle 78"/>
            <p:cNvSpPr>
              <a:spLocks noChangeArrowheads="1"/>
            </p:cNvSpPr>
            <p:nvPr/>
          </p:nvSpPr>
          <p:spPr bwMode="auto">
            <a:xfrm>
              <a:off x="566" y="2294"/>
              <a:ext cx="33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000" b="1">
                  <a:latin typeface="Times New Roman" panose="02020603050405020304" pitchFamily="18" charset="0"/>
                  <a:ea typeface="华文楷体" panose="02010600040101010101" pitchFamily="2" charset="-122"/>
                </a:rPr>
                <a:t>杆</a:t>
              </a:r>
              <a:r>
                <a:rPr kumimoji="1" lang="en-US" altLang="zh-CN" sz="2000" b="1">
                  <a:latin typeface="Times New Roman" panose="02020603050405020304" pitchFamily="18" charset="0"/>
                  <a:ea typeface="华文楷体" panose="02010600040101010101" pitchFamily="2" charset="-122"/>
                </a:rPr>
                <a:t>1</a:t>
              </a:r>
            </a:p>
          </p:txBody>
        </p:sp>
        <p:sp>
          <p:nvSpPr>
            <p:cNvPr id="21540" name="Oval 79"/>
            <p:cNvSpPr>
              <a:spLocks noChangeArrowheads="1"/>
            </p:cNvSpPr>
            <p:nvPr/>
          </p:nvSpPr>
          <p:spPr bwMode="auto">
            <a:xfrm>
              <a:off x="1566" y="2286"/>
              <a:ext cx="23" cy="23"/>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21541" name="Oval 80"/>
            <p:cNvSpPr>
              <a:spLocks noChangeArrowheads="1"/>
            </p:cNvSpPr>
            <p:nvPr/>
          </p:nvSpPr>
          <p:spPr bwMode="auto">
            <a:xfrm>
              <a:off x="336" y="1680"/>
              <a:ext cx="23" cy="23"/>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21542" name="Oval 81"/>
            <p:cNvSpPr>
              <a:spLocks noChangeArrowheads="1"/>
            </p:cNvSpPr>
            <p:nvPr/>
          </p:nvSpPr>
          <p:spPr bwMode="auto">
            <a:xfrm>
              <a:off x="336" y="2292"/>
              <a:ext cx="23" cy="23"/>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grpSp>
          <p:nvGrpSpPr>
            <p:cNvPr id="21543" name="Group 82"/>
            <p:cNvGrpSpPr>
              <a:grpSpLocks/>
            </p:cNvGrpSpPr>
            <p:nvPr/>
          </p:nvGrpSpPr>
          <p:grpSpPr bwMode="auto">
            <a:xfrm>
              <a:off x="260" y="1650"/>
              <a:ext cx="70" cy="750"/>
              <a:chOff x="260" y="1650"/>
              <a:chExt cx="70" cy="750"/>
            </a:xfrm>
          </p:grpSpPr>
          <p:sp>
            <p:nvSpPr>
              <p:cNvPr id="21545" name="Line 83"/>
              <p:cNvSpPr>
                <a:spLocks noChangeShapeType="1"/>
              </p:cNvSpPr>
              <p:nvPr/>
            </p:nvSpPr>
            <p:spPr bwMode="auto">
              <a:xfrm rot="16200000" flipH="1">
                <a:off x="-24" y="2008"/>
                <a:ext cx="707"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46" name="Line 84"/>
              <p:cNvSpPr>
                <a:spLocks noChangeShapeType="1"/>
              </p:cNvSpPr>
              <p:nvPr/>
            </p:nvSpPr>
            <p:spPr bwMode="auto">
              <a:xfrm rot="5400000" flipH="1" flipV="1">
                <a:off x="252" y="1658"/>
                <a:ext cx="86" cy="7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47" name="Line 85"/>
              <p:cNvSpPr>
                <a:spLocks noChangeShapeType="1"/>
              </p:cNvSpPr>
              <p:nvPr/>
            </p:nvSpPr>
            <p:spPr bwMode="auto">
              <a:xfrm rot="5400000" flipH="1" flipV="1">
                <a:off x="252" y="1754"/>
                <a:ext cx="86" cy="7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48" name="Line 86"/>
              <p:cNvSpPr>
                <a:spLocks noChangeShapeType="1"/>
              </p:cNvSpPr>
              <p:nvPr/>
            </p:nvSpPr>
            <p:spPr bwMode="auto">
              <a:xfrm rot="5400000" flipH="1" flipV="1">
                <a:off x="252" y="1850"/>
                <a:ext cx="86" cy="7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49" name="Line 87"/>
              <p:cNvSpPr>
                <a:spLocks noChangeShapeType="1"/>
              </p:cNvSpPr>
              <p:nvPr/>
            </p:nvSpPr>
            <p:spPr bwMode="auto">
              <a:xfrm rot="5400000" flipH="1" flipV="1">
                <a:off x="252" y="1946"/>
                <a:ext cx="86" cy="7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50" name="Line 88"/>
              <p:cNvSpPr>
                <a:spLocks noChangeShapeType="1"/>
              </p:cNvSpPr>
              <p:nvPr/>
            </p:nvSpPr>
            <p:spPr bwMode="auto">
              <a:xfrm rot="5400000" flipH="1" flipV="1">
                <a:off x="252" y="2042"/>
                <a:ext cx="86" cy="7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51" name="Line 89"/>
              <p:cNvSpPr>
                <a:spLocks noChangeShapeType="1"/>
              </p:cNvSpPr>
              <p:nvPr/>
            </p:nvSpPr>
            <p:spPr bwMode="auto">
              <a:xfrm rot="5400000" flipH="1" flipV="1">
                <a:off x="252" y="2130"/>
                <a:ext cx="86" cy="7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52" name="Line 90"/>
              <p:cNvSpPr>
                <a:spLocks noChangeShapeType="1"/>
              </p:cNvSpPr>
              <p:nvPr/>
            </p:nvSpPr>
            <p:spPr bwMode="auto">
              <a:xfrm rot="5400000" flipH="1" flipV="1">
                <a:off x="252" y="2226"/>
                <a:ext cx="86" cy="7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53" name="Line 91"/>
              <p:cNvSpPr>
                <a:spLocks noChangeShapeType="1"/>
              </p:cNvSpPr>
              <p:nvPr/>
            </p:nvSpPr>
            <p:spPr bwMode="auto">
              <a:xfrm rot="5400000" flipH="1" flipV="1">
                <a:off x="252" y="2322"/>
                <a:ext cx="86" cy="7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544" name="Rectangle 92"/>
            <p:cNvSpPr>
              <a:spLocks noChangeArrowheads="1"/>
            </p:cNvSpPr>
            <p:nvPr/>
          </p:nvSpPr>
          <p:spPr bwMode="auto">
            <a:xfrm>
              <a:off x="816" y="1776"/>
              <a:ext cx="33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000" b="1">
                  <a:latin typeface="Times New Roman" panose="02020603050405020304" pitchFamily="18" charset="0"/>
                  <a:ea typeface="华文楷体" panose="02010600040101010101" pitchFamily="2" charset="-122"/>
                </a:rPr>
                <a:t>杆</a:t>
              </a:r>
              <a:r>
                <a:rPr kumimoji="1" lang="en-US" altLang="zh-CN" sz="2000" b="1">
                  <a:latin typeface="Times New Roman" panose="02020603050405020304" pitchFamily="18" charset="0"/>
                  <a:ea typeface="华文楷体" panose="02010600040101010101" pitchFamily="2" charset="-122"/>
                </a:rPr>
                <a:t>2</a:t>
              </a:r>
            </a:p>
          </p:txBody>
        </p:sp>
      </p:grpSp>
      <p:sp>
        <p:nvSpPr>
          <p:cNvPr id="177245" name="Text Box 93"/>
          <p:cNvSpPr txBox="1">
            <a:spLocks noChangeArrowheads="1"/>
          </p:cNvSpPr>
          <p:nvPr/>
        </p:nvSpPr>
        <p:spPr bwMode="auto">
          <a:xfrm>
            <a:off x="4903788" y="1893394"/>
            <a:ext cx="36512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400" b="1" dirty="0">
                <a:solidFill>
                  <a:srgbClr val="0000FF"/>
                </a:solidFill>
                <a:latin typeface="Times New Roman" panose="02020603050405020304" pitchFamily="18" charset="0"/>
                <a:ea typeface="楷体_GB2312" pitchFamily="49" charset="-122"/>
              </a:rPr>
              <a:t>1</a:t>
            </a:r>
            <a:r>
              <a:rPr kumimoji="1" lang="en-US" altLang="zh-CN" sz="2400" b="1" dirty="0">
                <a:solidFill>
                  <a:srgbClr val="0000FF"/>
                </a:solidFill>
                <a:latin typeface="楷体" panose="02010609060101010101" pitchFamily="49" charset="-122"/>
                <a:ea typeface="楷体" panose="02010609060101010101" pitchFamily="49" charset="-122"/>
              </a:rPr>
              <a:t>) </a:t>
            </a:r>
            <a:r>
              <a:rPr kumimoji="1" lang="zh-CN" altLang="en-US" sz="2400" b="1" dirty="0">
                <a:solidFill>
                  <a:srgbClr val="0000FF"/>
                </a:solidFill>
                <a:latin typeface="楷体" panose="02010609060101010101" pitchFamily="49" charset="-122"/>
                <a:ea typeface="楷体" panose="02010609060101010101" pitchFamily="49" charset="-122"/>
              </a:rPr>
              <a:t>建立计算的力学模型</a:t>
            </a:r>
          </a:p>
        </p:txBody>
      </p:sp>
      <p:sp>
        <p:nvSpPr>
          <p:cNvPr id="177246" name="Text Box 94"/>
          <p:cNvSpPr txBox="1">
            <a:spLocks noChangeArrowheads="1"/>
          </p:cNvSpPr>
          <p:nvPr/>
        </p:nvSpPr>
        <p:spPr bwMode="auto">
          <a:xfrm>
            <a:off x="4908641" y="2353020"/>
            <a:ext cx="28035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400" b="1" dirty="0">
                <a:solidFill>
                  <a:srgbClr val="0000FF"/>
                </a:solidFill>
                <a:latin typeface="Times New Roman" panose="02020603050405020304" pitchFamily="18" charset="0"/>
                <a:ea typeface="楷体_GB2312" pitchFamily="49" charset="-122"/>
              </a:rPr>
              <a:t>2)  </a:t>
            </a:r>
            <a:r>
              <a:rPr kumimoji="1" lang="zh-CN" altLang="en-US" sz="2400" b="1" dirty="0">
                <a:solidFill>
                  <a:srgbClr val="0000FF"/>
                </a:solidFill>
                <a:latin typeface="楷体" panose="02010609060101010101" pitchFamily="49" charset="-122"/>
                <a:ea typeface="楷体" panose="02010609060101010101" pitchFamily="49" charset="-122"/>
              </a:rPr>
              <a:t>求内力（轴力）</a:t>
            </a:r>
          </a:p>
        </p:txBody>
      </p:sp>
      <p:graphicFrame>
        <p:nvGraphicFramePr>
          <p:cNvPr id="177252" name="Object 100"/>
          <p:cNvGraphicFramePr>
            <a:graphicFrameLocks/>
          </p:cNvGraphicFramePr>
          <p:nvPr>
            <p:extLst>
              <p:ext uri="{D42A27DB-BD31-4B8C-83A1-F6EECF244321}">
                <p14:modId xmlns:p14="http://schemas.microsoft.com/office/powerpoint/2010/main" val="1848911394"/>
              </p:ext>
            </p:extLst>
          </p:nvPr>
        </p:nvGraphicFramePr>
        <p:xfrm>
          <a:off x="3095625" y="5254237"/>
          <a:ext cx="2133600" cy="785813"/>
        </p:xfrm>
        <a:graphic>
          <a:graphicData uri="http://schemas.openxmlformats.org/presentationml/2006/ole">
            <mc:AlternateContent xmlns:mc="http://schemas.openxmlformats.org/markup-compatibility/2006">
              <mc:Choice xmlns:v="urn:schemas-microsoft-com:vml" Requires="v">
                <p:oleObj name="Equation" r:id="rId28" imgW="1066680" imgH="431640" progId="Equation.DSMT4">
                  <p:embed/>
                </p:oleObj>
              </mc:Choice>
              <mc:Fallback>
                <p:oleObj name="Equation" r:id="rId28" imgW="1066680" imgH="431640" progId="Equation.DSMT4">
                  <p:embed/>
                  <p:pic>
                    <p:nvPicPr>
                      <p:cNvPr id="0" name=""/>
                      <p:cNvPicPr>
                        <a:picLocks noChangeArrowheads="1"/>
                      </p:cNvPicPr>
                      <p:nvPr/>
                    </p:nvPicPr>
                    <p:blipFill>
                      <a:blip r:embed="rId29"/>
                      <a:srcRect/>
                      <a:stretch>
                        <a:fillRect/>
                      </a:stretch>
                    </p:blipFill>
                    <p:spPr bwMode="auto">
                      <a:xfrm>
                        <a:off x="3095625" y="5254237"/>
                        <a:ext cx="2133600" cy="785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7253" name="Object 101"/>
          <p:cNvGraphicFramePr>
            <a:graphicFrameLocks/>
          </p:cNvGraphicFramePr>
          <p:nvPr>
            <p:extLst>
              <p:ext uri="{D42A27DB-BD31-4B8C-83A1-F6EECF244321}">
                <p14:modId xmlns:p14="http://schemas.microsoft.com/office/powerpoint/2010/main" val="2135305965"/>
              </p:ext>
            </p:extLst>
          </p:nvPr>
        </p:nvGraphicFramePr>
        <p:xfrm>
          <a:off x="5402263" y="5353050"/>
          <a:ext cx="2971800" cy="455613"/>
        </p:xfrm>
        <a:graphic>
          <a:graphicData uri="http://schemas.openxmlformats.org/presentationml/2006/ole">
            <mc:AlternateContent xmlns:mc="http://schemas.openxmlformats.org/markup-compatibility/2006">
              <mc:Choice xmlns:v="urn:schemas-microsoft-com:vml" Requires="v">
                <p:oleObj name="Equation" r:id="rId30" imgW="1485720" imgH="253800" progId="Equation.DSMT4">
                  <p:embed/>
                </p:oleObj>
              </mc:Choice>
              <mc:Fallback>
                <p:oleObj name="Equation" r:id="rId30" imgW="1485720" imgH="253800" progId="Equation.DSMT4">
                  <p:embed/>
                  <p:pic>
                    <p:nvPicPr>
                      <p:cNvPr id="0" name=""/>
                      <p:cNvPicPr>
                        <a:picLocks noChangeArrowheads="1"/>
                      </p:cNvPicPr>
                      <p:nvPr/>
                    </p:nvPicPr>
                    <p:blipFill>
                      <a:blip r:embed="rId31"/>
                      <a:srcRect/>
                      <a:stretch>
                        <a:fillRect/>
                      </a:stretch>
                    </p:blipFill>
                    <p:spPr bwMode="auto">
                      <a:xfrm>
                        <a:off x="5402263" y="5353050"/>
                        <a:ext cx="297180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7254" name="Text Box 102"/>
          <p:cNvSpPr txBox="1">
            <a:spLocks noChangeArrowheads="1"/>
          </p:cNvSpPr>
          <p:nvPr/>
        </p:nvSpPr>
        <p:spPr bwMode="auto">
          <a:xfrm>
            <a:off x="3277763" y="4019056"/>
            <a:ext cx="463708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400" b="1" dirty="0">
                <a:solidFill>
                  <a:srgbClr val="0000FF"/>
                </a:solidFill>
                <a:latin typeface="Times New Roman" panose="02020603050405020304" pitchFamily="18" charset="0"/>
                <a:ea typeface="楷体_GB2312" pitchFamily="49" charset="-122"/>
              </a:rPr>
              <a:t>3) </a:t>
            </a:r>
            <a:r>
              <a:rPr kumimoji="1" lang="zh-CN" altLang="en-US" sz="2400" b="1" dirty="0">
                <a:solidFill>
                  <a:srgbClr val="0000FF"/>
                </a:solidFill>
                <a:latin typeface="楷体" panose="02010609060101010101" pitchFamily="49" charset="-122"/>
                <a:ea typeface="楷体" panose="02010609060101010101" pitchFamily="49" charset="-122"/>
              </a:rPr>
              <a:t>按强度条件确定许可吊重</a:t>
            </a:r>
            <a:r>
              <a:rPr kumimoji="1" lang="en-US" altLang="zh-CN" sz="2400" b="1" i="1" dirty="0">
                <a:solidFill>
                  <a:srgbClr val="0000FF"/>
                </a:solidFill>
                <a:latin typeface="Times New Roman" panose="02020603050405020304" pitchFamily="18" charset="0"/>
                <a:ea typeface="楷体_GB2312" pitchFamily="49" charset="-122"/>
              </a:rPr>
              <a:t>F</a:t>
            </a:r>
          </a:p>
        </p:txBody>
      </p:sp>
      <p:sp>
        <p:nvSpPr>
          <p:cNvPr id="175134" name="Rectangle 30"/>
          <p:cNvSpPr>
            <a:spLocks noChangeArrowheads="1"/>
          </p:cNvSpPr>
          <p:nvPr/>
        </p:nvSpPr>
        <p:spPr bwMode="auto">
          <a:xfrm>
            <a:off x="179388" y="6302375"/>
            <a:ext cx="6408737" cy="406400"/>
          </a:xfrm>
          <a:prstGeom prst="rect">
            <a:avLst/>
          </a:prstGeom>
          <a:solidFill>
            <a:srgbClr val="CCCCFF"/>
          </a:solidFill>
          <a:ln w="9525">
            <a:solidFill>
              <a:srgbClr val="CC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000" b="1" dirty="0">
                <a:solidFill>
                  <a:srgbClr val="FF0000"/>
                </a:solidFill>
                <a:latin typeface="楷体" panose="02010609060101010101" pitchFamily="49" charset="-122"/>
                <a:ea typeface="楷体" panose="02010609060101010101" pitchFamily="49" charset="-122"/>
              </a:rPr>
              <a:t>解题思路：外力</a:t>
            </a:r>
            <a:r>
              <a:rPr kumimoji="1" lang="en-US" altLang="en-US" sz="2000" b="1" dirty="0">
                <a:solidFill>
                  <a:srgbClr val="FF0000"/>
                </a:solidFill>
                <a:latin typeface="楷体" panose="02010609060101010101" pitchFamily="49" charset="-122"/>
                <a:ea typeface="楷体" panose="02010609060101010101" pitchFamily="49" charset="-122"/>
              </a:rPr>
              <a:t>→</a:t>
            </a:r>
            <a:r>
              <a:rPr kumimoji="1" lang="zh-CN" altLang="en-US" sz="2000" b="1" dirty="0">
                <a:solidFill>
                  <a:srgbClr val="FF0000"/>
                </a:solidFill>
                <a:latin typeface="楷体" panose="02010609060101010101" pitchFamily="49" charset="-122"/>
                <a:ea typeface="楷体" panose="02010609060101010101" pitchFamily="49" charset="-122"/>
              </a:rPr>
              <a:t>内力</a:t>
            </a:r>
            <a:r>
              <a:rPr kumimoji="1" lang="en-US" altLang="en-US" sz="2000" b="1" dirty="0">
                <a:solidFill>
                  <a:srgbClr val="FF0000"/>
                </a:solidFill>
                <a:latin typeface="楷体" panose="02010609060101010101" pitchFamily="49" charset="-122"/>
                <a:ea typeface="楷体" panose="02010609060101010101" pitchFamily="49" charset="-122"/>
              </a:rPr>
              <a:t>→</a:t>
            </a:r>
            <a:r>
              <a:rPr kumimoji="1" lang="zh-CN" altLang="en-US" sz="2000" b="1" dirty="0">
                <a:solidFill>
                  <a:srgbClr val="FF0000"/>
                </a:solidFill>
                <a:latin typeface="楷体" panose="02010609060101010101" pitchFamily="49" charset="-122"/>
                <a:ea typeface="楷体" panose="02010609060101010101" pitchFamily="49" charset="-122"/>
              </a:rPr>
              <a:t>应力</a:t>
            </a:r>
            <a:r>
              <a:rPr kumimoji="1" lang="en-US" altLang="en-US" sz="2000" b="1" dirty="0">
                <a:solidFill>
                  <a:srgbClr val="FF0000"/>
                </a:solidFill>
                <a:latin typeface="楷体" panose="02010609060101010101" pitchFamily="49" charset="-122"/>
                <a:ea typeface="楷体" panose="02010609060101010101" pitchFamily="49" charset="-122"/>
              </a:rPr>
              <a:t>→</a:t>
            </a:r>
            <a:r>
              <a:rPr kumimoji="1" lang="zh-CN" altLang="en-US" sz="2000" b="1" dirty="0">
                <a:solidFill>
                  <a:srgbClr val="FF0000"/>
                </a:solidFill>
                <a:latin typeface="楷体" panose="02010609060101010101" pitchFamily="49" charset="-122"/>
                <a:ea typeface="楷体" panose="02010609060101010101" pitchFamily="49" charset="-122"/>
              </a:rPr>
              <a:t>强度条件</a:t>
            </a:r>
            <a:r>
              <a:rPr kumimoji="1" lang="en-US" altLang="en-US" sz="2000" b="1" dirty="0">
                <a:solidFill>
                  <a:srgbClr val="FF0000"/>
                </a:solidFill>
                <a:latin typeface="楷体" panose="02010609060101010101" pitchFamily="49" charset="-122"/>
                <a:ea typeface="楷体" panose="02010609060101010101" pitchFamily="49" charset="-122"/>
              </a:rPr>
              <a:t>→</a:t>
            </a:r>
            <a:r>
              <a:rPr kumimoji="1" lang="zh-CN" altLang="en-US" sz="2000" b="1" dirty="0">
                <a:solidFill>
                  <a:srgbClr val="FF0000"/>
                </a:solidFill>
                <a:latin typeface="楷体" panose="02010609060101010101" pitchFamily="49" charset="-122"/>
                <a:ea typeface="楷体" panose="02010609060101010101" pitchFamily="49" charset="-122"/>
              </a:rPr>
              <a:t>结果或结论</a:t>
            </a:r>
          </a:p>
        </p:txBody>
      </p:sp>
    </p:spTree>
    <p:extLst>
      <p:ext uri="{BB962C8B-B14F-4D97-AF65-F5344CB8AC3E}">
        <p14:creationId xmlns:p14="http://schemas.microsoft.com/office/powerpoint/2010/main" val="7323354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7210"/>
                                        </p:tgtEl>
                                        <p:attrNameLst>
                                          <p:attrName>style.visibility</p:attrName>
                                        </p:attrNameLst>
                                      </p:cBhvr>
                                      <p:to>
                                        <p:strVal val="visible"/>
                                      </p:to>
                                    </p:set>
                                    <p:animEffect transition="in" filter="fade">
                                      <p:cBhvr>
                                        <p:cTn id="7" dur="500"/>
                                        <p:tgtEl>
                                          <p:spTgt spid="177210"/>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2" fill="hold" grpId="0" nodeType="clickEffect">
                                  <p:stCondLst>
                                    <p:cond delay="0"/>
                                  </p:stCondLst>
                                  <p:childTnLst>
                                    <p:set>
                                      <p:cBhvr>
                                        <p:cTn id="11" dur="1" fill="hold">
                                          <p:stCondLst>
                                            <p:cond delay="0"/>
                                          </p:stCondLst>
                                        </p:cTn>
                                        <p:tgtEl>
                                          <p:spTgt spid="177245"/>
                                        </p:tgtEl>
                                        <p:attrNameLst>
                                          <p:attrName>style.visibility</p:attrName>
                                        </p:attrNameLst>
                                      </p:cBhvr>
                                      <p:to>
                                        <p:strVal val="visible"/>
                                      </p:to>
                                    </p:set>
                                    <p:anim calcmode="lin" valueType="num">
                                      <p:cBhvr additive="base">
                                        <p:cTn id="12" dur="500"/>
                                        <p:tgtEl>
                                          <p:spTgt spid="177245"/>
                                        </p:tgtEl>
                                        <p:attrNameLst>
                                          <p:attrName>ppt_x</p:attrName>
                                        </p:attrNameLst>
                                      </p:cBhvr>
                                      <p:tavLst>
                                        <p:tav tm="0">
                                          <p:val>
                                            <p:strVal val="#ppt_x+#ppt_w*1.125000"/>
                                          </p:val>
                                        </p:tav>
                                        <p:tav tm="100000">
                                          <p:val>
                                            <p:strVal val="#ppt_x"/>
                                          </p:val>
                                        </p:tav>
                                      </p:tavLst>
                                    </p:anim>
                                    <p:animEffect transition="in" filter="wipe(left)">
                                      <p:cBhvr>
                                        <p:cTn id="13" dur="500"/>
                                        <p:tgtEl>
                                          <p:spTgt spid="177245"/>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1" fill="hold" nodeType="clickEffect">
                                  <p:stCondLst>
                                    <p:cond delay="0"/>
                                  </p:stCondLst>
                                  <p:childTnLst>
                                    <p:set>
                                      <p:cBhvr>
                                        <p:cTn id="17" dur="1" fill="hold">
                                          <p:stCondLst>
                                            <p:cond delay="0"/>
                                          </p:stCondLst>
                                        </p:cTn>
                                        <p:tgtEl>
                                          <p:spTgt spid="177223"/>
                                        </p:tgtEl>
                                        <p:attrNameLst>
                                          <p:attrName>style.visibility</p:attrName>
                                        </p:attrNameLst>
                                      </p:cBhvr>
                                      <p:to>
                                        <p:strVal val="visible"/>
                                      </p:to>
                                    </p:set>
                                    <p:animEffect transition="in" filter="slide(fromTop)">
                                      <p:cBhvr>
                                        <p:cTn id="18" dur="500"/>
                                        <p:tgtEl>
                                          <p:spTgt spid="177223"/>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2" fill="hold" grpId="0" nodeType="clickEffect">
                                  <p:stCondLst>
                                    <p:cond delay="0"/>
                                  </p:stCondLst>
                                  <p:childTnLst>
                                    <p:set>
                                      <p:cBhvr>
                                        <p:cTn id="22" dur="1" fill="hold">
                                          <p:stCondLst>
                                            <p:cond delay="0"/>
                                          </p:stCondLst>
                                        </p:cTn>
                                        <p:tgtEl>
                                          <p:spTgt spid="177246"/>
                                        </p:tgtEl>
                                        <p:attrNameLst>
                                          <p:attrName>style.visibility</p:attrName>
                                        </p:attrNameLst>
                                      </p:cBhvr>
                                      <p:to>
                                        <p:strVal val="visible"/>
                                      </p:to>
                                    </p:set>
                                    <p:anim calcmode="lin" valueType="num">
                                      <p:cBhvr additive="base">
                                        <p:cTn id="23" dur="500"/>
                                        <p:tgtEl>
                                          <p:spTgt spid="177246"/>
                                        </p:tgtEl>
                                        <p:attrNameLst>
                                          <p:attrName>ppt_x</p:attrName>
                                        </p:attrNameLst>
                                      </p:cBhvr>
                                      <p:tavLst>
                                        <p:tav tm="0">
                                          <p:val>
                                            <p:strVal val="#ppt_x+#ppt_w*1.125000"/>
                                          </p:val>
                                        </p:tav>
                                        <p:tav tm="100000">
                                          <p:val>
                                            <p:strVal val="#ppt_x"/>
                                          </p:val>
                                        </p:tav>
                                      </p:tavLst>
                                    </p:anim>
                                    <p:animEffect transition="in" filter="wipe(left)">
                                      <p:cBhvr>
                                        <p:cTn id="24" dur="500"/>
                                        <p:tgtEl>
                                          <p:spTgt spid="177246"/>
                                        </p:tgtEl>
                                      </p:cBhvr>
                                    </p:animEffect>
                                  </p:childTnLst>
                                </p:cTn>
                              </p:par>
                            </p:childTnLst>
                          </p:cTn>
                        </p:par>
                      </p:childTnLst>
                    </p:cTn>
                  </p:par>
                  <p:par>
                    <p:cTn id="25" fill="hold">
                      <p:stCondLst>
                        <p:cond delay="indefinite"/>
                      </p:stCondLst>
                      <p:childTnLst>
                        <p:par>
                          <p:cTn id="26" fill="hold">
                            <p:stCondLst>
                              <p:cond delay="0"/>
                            </p:stCondLst>
                            <p:childTnLst>
                              <p:par>
                                <p:cTn id="27" presetID="17" presetClass="entr" presetSubtype="10" fill="hold" nodeType="clickEffect">
                                  <p:stCondLst>
                                    <p:cond delay="0"/>
                                  </p:stCondLst>
                                  <p:childTnLst>
                                    <p:set>
                                      <p:cBhvr>
                                        <p:cTn id="28" dur="1" fill="hold">
                                          <p:stCondLst>
                                            <p:cond delay="0"/>
                                          </p:stCondLst>
                                        </p:cTn>
                                        <p:tgtEl>
                                          <p:spTgt spid="177211"/>
                                        </p:tgtEl>
                                        <p:attrNameLst>
                                          <p:attrName>style.visibility</p:attrName>
                                        </p:attrNameLst>
                                      </p:cBhvr>
                                      <p:to>
                                        <p:strVal val="visible"/>
                                      </p:to>
                                    </p:set>
                                    <p:anim calcmode="lin" valueType="num">
                                      <p:cBhvr>
                                        <p:cTn id="29" dur="500" fill="hold"/>
                                        <p:tgtEl>
                                          <p:spTgt spid="177211"/>
                                        </p:tgtEl>
                                        <p:attrNameLst>
                                          <p:attrName>ppt_w</p:attrName>
                                        </p:attrNameLst>
                                      </p:cBhvr>
                                      <p:tavLst>
                                        <p:tav tm="0">
                                          <p:val>
                                            <p:fltVal val="0"/>
                                          </p:val>
                                        </p:tav>
                                        <p:tav tm="100000">
                                          <p:val>
                                            <p:strVal val="#ppt_w"/>
                                          </p:val>
                                        </p:tav>
                                      </p:tavLst>
                                    </p:anim>
                                    <p:anim calcmode="lin" valueType="num">
                                      <p:cBhvr>
                                        <p:cTn id="30" dur="500" fill="hold"/>
                                        <p:tgtEl>
                                          <p:spTgt spid="177211"/>
                                        </p:tgtEl>
                                        <p:attrNameLst>
                                          <p:attrName>ppt_h</p:attrName>
                                        </p:attrNameLst>
                                      </p:cBhvr>
                                      <p:tavLst>
                                        <p:tav tm="0">
                                          <p:val>
                                            <p:strVal val="#ppt_h"/>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77155"/>
                                        </p:tgtEl>
                                        <p:attrNameLst>
                                          <p:attrName>style.visibility</p:attrName>
                                        </p:attrNameLst>
                                      </p:cBhvr>
                                      <p:to>
                                        <p:strVal val="visible"/>
                                      </p:to>
                                    </p:set>
                                    <p:animEffect transition="in" filter="wipe(left)">
                                      <p:cBhvr>
                                        <p:cTn id="35" dur="500"/>
                                        <p:tgtEl>
                                          <p:spTgt spid="177155"/>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177157"/>
                                        </p:tgtEl>
                                        <p:attrNameLst>
                                          <p:attrName>style.visibility</p:attrName>
                                        </p:attrNameLst>
                                      </p:cBhvr>
                                      <p:to>
                                        <p:strVal val="visible"/>
                                      </p:to>
                                    </p:set>
                                    <p:animEffect transition="in" filter="wipe(left)">
                                      <p:cBhvr>
                                        <p:cTn id="40" dur="500"/>
                                        <p:tgtEl>
                                          <p:spTgt spid="177157"/>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177156"/>
                                        </p:tgtEl>
                                        <p:attrNameLst>
                                          <p:attrName>style.visibility</p:attrName>
                                        </p:attrNameLst>
                                      </p:cBhvr>
                                      <p:to>
                                        <p:strVal val="visible"/>
                                      </p:to>
                                    </p:set>
                                    <p:animEffect transition="in" filter="wipe(left)">
                                      <p:cBhvr>
                                        <p:cTn id="45" dur="500"/>
                                        <p:tgtEl>
                                          <p:spTgt spid="177156"/>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177158"/>
                                        </p:tgtEl>
                                        <p:attrNameLst>
                                          <p:attrName>style.visibility</p:attrName>
                                        </p:attrNameLst>
                                      </p:cBhvr>
                                      <p:to>
                                        <p:strVal val="visible"/>
                                      </p:to>
                                    </p:set>
                                    <p:animEffect transition="in" filter="wipe(left)">
                                      <p:cBhvr>
                                        <p:cTn id="50" dur="500"/>
                                        <p:tgtEl>
                                          <p:spTgt spid="177158"/>
                                        </p:tgtEl>
                                      </p:cBhvr>
                                    </p:animEffect>
                                  </p:childTnLst>
                                </p:cTn>
                              </p:par>
                            </p:childTnLst>
                          </p:cTn>
                        </p:par>
                      </p:childTnLst>
                    </p:cTn>
                  </p:par>
                  <p:par>
                    <p:cTn id="51" fill="hold">
                      <p:stCondLst>
                        <p:cond delay="indefinite"/>
                      </p:stCondLst>
                      <p:childTnLst>
                        <p:par>
                          <p:cTn id="52" fill="hold">
                            <p:stCondLst>
                              <p:cond delay="0"/>
                            </p:stCondLst>
                            <p:childTnLst>
                              <p:par>
                                <p:cTn id="53" presetID="4" presetClass="entr" presetSubtype="32" fill="hold" nodeType="clickEffect">
                                  <p:stCondLst>
                                    <p:cond delay="0"/>
                                  </p:stCondLst>
                                  <p:childTnLst>
                                    <p:set>
                                      <p:cBhvr>
                                        <p:cTn id="54" dur="1" fill="hold">
                                          <p:stCondLst>
                                            <p:cond delay="0"/>
                                          </p:stCondLst>
                                        </p:cTn>
                                        <p:tgtEl>
                                          <p:spTgt spid="177154"/>
                                        </p:tgtEl>
                                        <p:attrNameLst>
                                          <p:attrName>style.visibility</p:attrName>
                                        </p:attrNameLst>
                                      </p:cBhvr>
                                      <p:to>
                                        <p:strVal val="visible"/>
                                      </p:to>
                                    </p:set>
                                    <p:animEffect transition="in" filter="box(out)">
                                      <p:cBhvr>
                                        <p:cTn id="55" dur="500"/>
                                        <p:tgtEl>
                                          <p:spTgt spid="177154"/>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grpId="0" nodeType="clickEffect">
                                  <p:stCondLst>
                                    <p:cond delay="0"/>
                                  </p:stCondLst>
                                  <p:childTnLst>
                                    <p:set>
                                      <p:cBhvr>
                                        <p:cTn id="59" dur="1" fill="hold">
                                          <p:stCondLst>
                                            <p:cond delay="0"/>
                                          </p:stCondLst>
                                        </p:cTn>
                                        <p:tgtEl>
                                          <p:spTgt spid="177254"/>
                                        </p:tgtEl>
                                        <p:attrNameLst>
                                          <p:attrName>style.visibility</p:attrName>
                                        </p:attrNameLst>
                                      </p:cBhvr>
                                      <p:to>
                                        <p:strVal val="visible"/>
                                      </p:to>
                                    </p:set>
                                    <p:animEffect transition="in" filter="dissolve">
                                      <p:cBhvr>
                                        <p:cTn id="60" dur="500"/>
                                        <p:tgtEl>
                                          <p:spTgt spid="177254"/>
                                        </p:tgtEl>
                                      </p:cBhvr>
                                    </p:animEffect>
                                  </p:childTnLst>
                                </p:cTn>
                              </p:par>
                            </p:childTnLst>
                          </p:cTn>
                        </p:par>
                      </p:childTnLst>
                    </p:cTn>
                  </p:par>
                  <p:par>
                    <p:cTn id="61" fill="hold">
                      <p:stCondLst>
                        <p:cond delay="indefinite"/>
                      </p:stCondLst>
                      <p:childTnLst>
                        <p:par>
                          <p:cTn id="62" fill="hold">
                            <p:stCondLst>
                              <p:cond delay="0"/>
                            </p:stCondLst>
                            <p:childTnLst>
                              <p:par>
                                <p:cTn id="63" presetID="4" presetClass="entr" presetSubtype="32" fill="hold" nodeType="clickEffect">
                                  <p:stCondLst>
                                    <p:cond delay="0"/>
                                  </p:stCondLst>
                                  <p:childTnLst>
                                    <p:set>
                                      <p:cBhvr>
                                        <p:cTn id="64" dur="1" fill="hold">
                                          <p:stCondLst>
                                            <p:cond delay="0"/>
                                          </p:stCondLst>
                                        </p:cTn>
                                        <p:tgtEl>
                                          <p:spTgt spid="177220"/>
                                        </p:tgtEl>
                                        <p:attrNameLst>
                                          <p:attrName>style.visibility</p:attrName>
                                        </p:attrNameLst>
                                      </p:cBhvr>
                                      <p:to>
                                        <p:strVal val="visible"/>
                                      </p:to>
                                    </p:set>
                                    <p:animEffect transition="in" filter="box(out)">
                                      <p:cBhvr>
                                        <p:cTn id="65" dur="500"/>
                                        <p:tgtEl>
                                          <p:spTgt spid="177220"/>
                                        </p:tgtEl>
                                      </p:cBhvr>
                                    </p:animEffect>
                                  </p:childTnLst>
                                </p:cTn>
                              </p:par>
                            </p:childTnLst>
                          </p:cTn>
                        </p:par>
                      </p:childTnLst>
                    </p:cTn>
                  </p:par>
                  <p:par>
                    <p:cTn id="66" fill="hold">
                      <p:stCondLst>
                        <p:cond delay="indefinite"/>
                      </p:stCondLst>
                      <p:childTnLst>
                        <p:par>
                          <p:cTn id="67" fill="hold">
                            <p:stCondLst>
                              <p:cond delay="0"/>
                            </p:stCondLst>
                            <p:childTnLst>
                              <p:par>
                                <p:cTn id="68" presetID="4" presetClass="entr" presetSubtype="32" fill="hold" nodeType="clickEffect">
                                  <p:stCondLst>
                                    <p:cond delay="0"/>
                                  </p:stCondLst>
                                  <p:childTnLst>
                                    <p:set>
                                      <p:cBhvr>
                                        <p:cTn id="69" dur="1" fill="hold">
                                          <p:stCondLst>
                                            <p:cond delay="0"/>
                                          </p:stCondLst>
                                        </p:cTn>
                                        <p:tgtEl>
                                          <p:spTgt spid="177221"/>
                                        </p:tgtEl>
                                        <p:attrNameLst>
                                          <p:attrName>style.visibility</p:attrName>
                                        </p:attrNameLst>
                                      </p:cBhvr>
                                      <p:to>
                                        <p:strVal val="visible"/>
                                      </p:to>
                                    </p:set>
                                    <p:animEffect transition="in" filter="box(out)">
                                      <p:cBhvr>
                                        <p:cTn id="70" dur="500"/>
                                        <p:tgtEl>
                                          <p:spTgt spid="177221"/>
                                        </p:tgtEl>
                                      </p:cBhvr>
                                    </p:animEffect>
                                  </p:childTnLst>
                                </p:cTn>
                              </p:par>
                            </p:childTnLst>
                          </p:cTn>
                        </p:par>
                      </p:childTnLst>
                    </p:cTn>
                  </p:par>
                  <p:par>
                    <p:cTn id="71" fill="hold">
                      <p:stCondLst>
                        <p:cond delay="indefinite"/>
                      </p:stCondLst>
                      <p:childTnLst>
                        <p:par>
                          <p:cTn id="72" fill="hold">
                            <p:stCondLst>
                              <p:cond delay="0"/>
                            </p:stCondLst>
                            <p:childTnLst>
                              <p:par>
                                <p:cTn id="73" presetID="4" presetClass="entr" presetSubtype="32" fill="hold" nodeType="clickEffect">
                                  <p:stCondLst>
                                    <p:cond delay="0"/>
                                  </p:stCondLst>
                                  <p:childTnLst>
                                    <p:set>
                                      <p:cBhvr>
                                        <p:cTn id="74" dur="1" fill="hold">
                                          <p:stCondLst>
                                            <p:cond delay="0"/>
                                          </p:stCondLst>
                                        </p:cTn>
                                        <p:tgtEl>
                                          <p:spTgt spid="177252"/>
                                        </p:tgtEl>
                                        <p:attrNameLst>
                                          <p:attrName>style.visibility</p:attrName>
                                        </p:attrNameLst>
                                      </p:cBhvr>
                                      <p:to>
                                        <p:strVal val="visible"/>
                                      </p:to>
                                    </p:set>
                                    <p:animEffect transition="in" filter="box(out)">
                                      <p:cBhvr>
                                        <p:cTn id="75" dur="500"/>
                                        <p:tgtEl>
                                          <p:spTgt spid="177252"/>
                                        </p:tgtEl>
                                      </p:cBhvr>
                                    </p:animEffect>
                                  </p:childTnLst>
                                </p:cTn>
                              </p:par>
                            </p:childTnLst>
                          </p:cTn>
                        </p:par>
                      </p:childTnLst>
                    </p:cTn>
                  </p:par>
                  <p:par>
                    <p:cTn id="76" fill="hold">
                      <p:stCondLst>
                        <p:cond delay="indefinite"/>
                      </p:stCondLst>
                      <p:childTnLst>
                        <p:par>
                          <p:cTn id="77" fill="hold">
                            <p:stCondLst>
                              <p:cond delay="0"/>
                            </p:stCondLst>
                            <p:childTnLst>
                              <p:par>
                                <p:cTn id="78" presetID="4" presetClass="entr" presetSubtype="32" fill="hold" nodeType="clickEffect">
                                  <p:stCondLst>
                                    <p:cond delay="0"/>
                                  </p:stCondLst>
                                  <p:childTnLst>
                                    <p:set>
                                      <p:cBhvr>
                                        <p:cTn id="79" dur="1" fill="hold">
                                          <p:stCondLst>
                                            <p:cond delay="0"/>
                                          </p:stCondLst>
                                        </p:cTn>
                                        <p:tgtEl>
                                          <p:spTgt spid="177253"/>
                                        </p:tgtEl>
                                        <p:attrNameLst>
                                          <p:attrName>style.visibility</p:attrName>
                                        </p:attrNameLst>
                                      </p:cBhvr>
                                      <p:to>
                                        <p:strVal val="visible"/>
                                      </p:to>
                                    </p:set>
                                    <p:animEffect transition="in" filter="box(out)">
                                      <p:cBhvr>
                                        <p:cTn id="80" dur="500"/>
                                        <p:tgtEl>
                                          <p:spTgt spid="177253"/>
                                        </p:tgtEl>
                                      </p:cBhvr>
                                    </p:animEffect>
                                  </p:childTnLst>
                                </p:cTn>
                              </p:par>
                            </p:childTnLst>
                          </p:cTn>
                        </p:par>
                      </p:childTnLst>
                    </p:cTn>
                  </p:par>
                  <p:par>
                    <p:cTn id="81" fill="hold">
                      <p:stCondLst>
                        <p:cond delay="indefinite"/>
                      </p:stCondLst>
                      <p:childTnLst>
                        <p:par>
                          <p:cTn id="82" fill="hold">
                            <p:stCondLst>
                              <p:cond delay="0"/>
                            </p:stCondLst>
                            <p:childTnLst>
                              <p:par>
                                <p:cTn id="83" presetID="4" presetClass="entr" presetSubtype="32" fill="hold" nodeType="clickEffect">
                                  <p:stCondLst>
                                    <p:cond delay="0"/>
                                  </p:stCondLst>
                                  <p:childTnLst>
                                    <p:set>
                                      <p:cBhvr>
                                        <p:cTn id="84" dur="1" fill="hold">
                                          <p:stCondLst>
                                            <p:cond delay="0"/>
                                          </p:stCondLst>
                                        </p:cTn>
                                        <p:tgtEl>
                                          <p:spTgt spid="177222"/>
                                        </p:tgtEl>
                                        <p:attrNameLst>
                                          <p:attrName>style.visibility</p:attrName>
                                        </p:attrNameLst>
                                      </p:cBhvr>
                                      <p:to>
                                        <p:strVal val="visible"/>
                                      </p:to>
                                    </p:set>
                                    <p:animEffect transition="in" filter="box(out)">
                                      <p:cBhvr>
                                        <p:cTn id="85" dur="500"/>
                                        <p:tgtEl>
                                          <p:spTgt spid="177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210" grpId="0"/>
      <p:bldP spid="177245" grpId="0" autoUpdateAnimBg="0"/>
      <p:bldP spid="177246" grpId="0" autoUpdateAnimBg="0"/>
      <p:bldP spid="177254"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6" name="Rectangle 4"/>
          <p:cNvSpPr>
            <a:spLocks noChangeArrowheads="1"/>
          </p:cNvSpPr>
          <p:nvPr/>
        </p:nvSpPr>
        <p:spPr bwMode="auto">
          <a:xfrm>
            <a:off x="226219" y="828676"/>
            <a:ext cx="2108995" cy="457200"/>
          </a:xfrm>
          <a:prstGeom prst="rect">
            <a:avLst/>
          </a:prstGeom>
          <a:noFill/>
          <a:ln>
            <a:noFill/>
          </a:ln>
          <a:effec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400" b="1" dirty="0">
                <a:latin typeface="黑体" panose="02010609060101010101" pitchFamily="49" charset="-122"/>
                <a:ea typeface="黑体" panose="02010609060101010101" pitchFamily="49" charset="-122"/>
                <a:cs typeface="Times New Roman" panose="02020603050405020304" pitchFamily="18" charset="0"/>
              </a:rPr>
              <a:t>一、纵向变形</a:t>
            </a:r>
          </a:p>
        </p:txBody>
      </p:sp>
      <p:grpSp>
        <p:nvGrpSpPr>
          <p:cNvPr id="182277" name="Group 5"/>
          <p:cNvGrpSpPr>
            <a:grpSpLocks/>
          </p:cNvGrpSpPr>
          <p:nvPr/>
        </p:nvGrpSpPr>
        <p:grpSpPr bwMode="auto">
          <a:xfrm>
            <a:off x="5206207" y="790575"/>
            <a:ext cx="3438525" cy="1254125"/>
            <a:chOff x="330" y="1020"/>
            <a:chExt cx="2166" cy="790"/>
          </a:xfrm>
        </p:grpSpPr>
        <p:grpSp>
          <p:nvGrpSpPr>
            <p:cNvPr id="26661" name="Group 6"/>
            <p:cNvGrpSpPr>
              <a:grpSpLocks/>
            </p:cNvGrpSpPr>
            <p:nvPr/>
          </p:nvGrpSpPr>
          <p:grpSpPr bwMode="auto">
            <a:xfrm>
              <a:off x="330" y="1020"/>
              <a:ext cx="2166" cy="468"/>
              <a:chOff x="330" y="1020"/>
              <a:chExt cx="2166" cy="468"/>
            </a:xfrm>
          </p:grpSpPr>
          <p:grpSp>
            <p:nvGrpSpPr>
              <p:cNvPr id="26668" name="Group 7"/>
              <p:cNvGrpSpPr>
                <a:grpSpLocks/>
              </p:cNvGrpSpPr>
              <p:nvPr/>
            </p:nvGrpSpPr>
            <p:grpSpPr bwMode="auto">
              <a:xfrm>
                <a:off x="384" y="1104"/>
                <a:ext cx="2112" cy="384"/>
                <a:chOff x="384" y="1104"/>
                <a:chExt cx="2112" cy="384"/>
              </a:xfrm>
            </p:grpSpPr>
            <p:sp>
              <p:nvSpPr>
                <p:cNvPr id="26671" name="Line 8"/>
                <p:cNvSpPr>
                  <a:spLocks noChangeShapeType="1"/>
                </p:cNvSpPr>
                <p:nvPr/>
              </p:nvSpPr>
              <p:spPr bwMode="auto">
                <a:xfrm>
                  <a:off x="720" y="1104"/>
                  <a:ext cx="144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72" name="Line 9"/>
                <p:cNvSpPr>
                  <a:spLocks noChangeShapeType="1"/>
                </p:cNvSpPr>
                <p:nvPr/>
              </p:nvSpPr>
              <p:spPr bwMode="auto">
                <a:xfrm>
                  <a:off x="2160" y="1104"/>
                  <a:ext cx="0" cy="38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73" name="Line 10"/>
                <p:cNvSpPr>
                  <a:spLocks noChangeShapeType="1"/>
                </p:cNvSpPr>
                <p:nvPr/>
              </p:nvSpPr>
              <p:spPr bwMode="auto">
                <a:xfrm>
                  <a:off x="720" y="1488"/>
                  <a:ext cx="144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74" name="Line 11"/>
                <p:cNvSpPr>
                  <a:spLocks noChangeShapeType="1"/>
                </p:cNvSpPr>
                <p:nvPr/>
              </p:nvSpPr>
              <p:spPr bwMode="auto">
                <a:xfrm>
                  <a:off x="720" y="1104"/>
                  <a:ext cx="0" cy="38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75" name="Line 12"/>
                <p:cNvSpPr>
                  <a:spLocks noChangeShapeType="1"/>
                </p:cNvSpPr>
                <p:nvPr/>
              </p:nvSpPr>
              <p:spPr bwMode="auto">
                <a:xfrm>
                  <a:off x="720" y="1296"/>
                  <a:ext cx="1440" cy="0"/>
                </a:xfrm>
                <a:prstGeom prst="line">
                  <a:avLst/>
                </a:prstGeom>
                <a:noFill/>
                <a:ln w="12700">
                  <a:solidFill>
                    <a:schemeClr val="tx1"/>
                  </a:solidFill>
                  <a:prstDash val="dash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76" name="Line 13"/>
                <p:cNvSpPr>
                  <a:spLocks noChangeShapeType="1"/>
                </p:cNvSpPr>
                <p:nvPr/>
              </p:nvSpPr>
              <p:spPr bwMode="auto">
                <a:xfrm flipH="1">
                  <a:off x="384" y="1296"/>
                  <a:ext cx="336" cy="0"/>
                </a:xfrm>
                <a:prstGeom prst="line">
                  <a:avLst/>
                </a:prstGeom>
                <a:noFill/>
                <a:ln w="25400">
                  <a:solidFill>
                    <a:srgbClr val="FF33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77" name="Line 14"/>
                <p:cNvSpPr>
                  <a:spLocks noChangeShapeType="1"/>
                </p:cNvSpPr>
                <p:nvPr/>
              </p:nvSpPr>
              <p:spPr bwMode="auto">
                <a:xfrm>
                  <a:off x="2160" y="1296"/>
                  <a:ext cx="336" cy="0"/>
                </a:xfrm>
                <a:prstGeom prst="line">
                  <a:avLst/>
                </a:prstGeom>
                <a:noFill/>
                <a:ln w="25400">
                  <a:solidFill>
                    <a:srgbClr val="FF33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6669" name="Rectangle 15"/>
              <p:cNvSpPr>
                <a:spLocks noChangeArrowheads="1"/>
              </p:cNvSpPr>
              <p:nvPr/>
            </p:nvSpPr>
            <p:spPr bwMode="auto">
              <a:xfrm>
                <a:off x="330" y="1020"/>
                <a:ext cx="24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400" b="1" i="1" dirty="0">
                    <a:solidFill>
                      <a:srgbClr val="FF3300"/>
                    </a:solidFill>
                    <a:latin typeface="+mn-lt"/>
                    <a:ea typeface="Segoe UI Symbol" panose="020B0502040204020203" pitchFamily="34" charset="0"/>
                  </a:rPr>
                  <a:t>F</a:t>
                </a:r>
              </a:p>
            </p:txBody>
          </p:sp>
          <p:sp>
            <p:nvSpPr>
              <p:cNvPr id="26670" name="Rectangle 16"/>
              <p:cNvSpPr>
                <a:spLocks noChangeArrowheads="1"/>
              </p:cNvSpPr>
              <p:nvPr/>
            </p:nvSpPr>
            <p:spPr bwMode="auto">
              <a:xfrm>
                <a:off x="2250" y="1022"/>
                <a:ext cx="24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400" b="1" i="1" dirty="0">
                    <a:solidFill>
                      <a:srgbClr val="FF3300"/>
                    </a:solidFill>
                    <a:latin typeface="+mn-lt"/>
                  </a:rPr>
                  <a:t>F</a:t>
                </a:r>
                <a:endParaRPr kumimoji="1" lang="en-US" altLang="zh-CN" sz="2400" b="1" i="1" dirty="0">
                  <a:solidFill>
                    <a:srgbClr val="FF3300"/>
                  </a:solidFill>
                  <a:latin typeface="+mn-lt"/>
                  <a:ea typeface="'宋体" pitchFamily="34" charset="-122"/>
                </a:endParaRPr>
              </a:p>
            </p:txBody>
          </p:sp>
        </p:grpSp>
        <p:sp>
          <p:nvSpPr>
            <p:cNvPr id="26662" name="Line 17"/>
            <p:cNvSpPr>
              <a:spLocks noChangeShapeType="1"/>
            </p:cNvSpPr>
            <p:nvPr/>
          </p:nvSpPr>
          <p:spPr bwMode="auto">
            <a:xfrm>
              <a:off x="720" y="1536"/>
              <a:ext cx="0" cy="19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63" name="Line 18"/>
            <p:cNvSpPr>
              <a:spLocks noChangeShapeType="1"/>
            </p:cNvSpPr>
            <p:nvPr/>
          </p:nvSpPr>
          <p:spPr bwMode="auto">
            <a:xfrm>
              <a:off x="2160" y="1536"/>
              <a:ext cx="0" cy="19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64" name="Line 19"/>
            <p:cNvSpPr>
              <a:spLocks noChangeShapeType="1"/>
            </p:cNvSpPr>
            <p:nvPr/>
          </p:nvSpPr>
          <p:spPr bwMode="auto">
            <a:xfrm>
              <a:off x="720" y="1632"/>
              <a:ext cx="1440" cy="0"/>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6665" name="Object 20"/>
            <p:cNvGraphicFramePr>
              <a:graphicFrameLocks/>
            </p:cNvGraphicFramePr>
            <p:nvPr>
              <p:extLst>
                <p:ext uri="{D42A27DB-BD31-4B8C-83A1-F6EECF244321}">
                  <p14:modId xmlns:p14="http://schemas.microsoft.com/office/powerpoint/2010/main" val="324240635"/>
                </p:ext>
              </p:extLst>
            </p:nvPr>
          </p:nvGraphicFramePr>
          <p:xfrm>
            <a:off x="1425" y="1631"/>
            <a:ext cx="82" cy="179"/>
          </p:xfrm>
          <a:graphic>
            <a:graphicData uri="http://schemas.openxmlformats.org/presentationml/2006/ole">
              <mc:AlternateContent xmlns:mc="http://schemas.openxmlformats.org/markup-compatibility/2006">
                <mc:Choice xmlns:v="urn:schemas-microsoft-com:vml" Requires="v">
                  <p:oleObj name="Equation" r:id="rId2" imgW="76140" imgH="152310" progId="Equation.2">
                    <p:embed/>
                  </p:oleObj>
                </mc:Choice>
                <mc:Fallback>
                  <p:oleObj name="Equation" r:id="rId2" imgW="76140" imgH="152310" progId="Equation.2">
                    <p:embed/>
                    <p:pic>
                      <p:nvPicPr>
                        <p:cNvPr id="0" nam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5" y="1631"/>
                          <a:ext cx="82" cy="179"/>
                        </a:xfrm>
                        <a:prstGeom prst="rect">
                          <a:avLst/>
                        </a:prstGeom>
                        <a:noFill/>
                        <a:ln>
                          <a:noFill/>
                        </a:ln>
                        <a:effectLst/>
                      </p:spPr>
                    </p:pic>
                  </p:oleObj>
                </mc:Fallback>
              </mc:AlternateContent>
            </a:graphicData>
          </a:graphic>
        </p:graphicFrame>
        <p:sp>
          <p:nvSpPr>
            <p:cNvPr id="26666" name="Line 21"/>
            <p:cNvSpPr>
              <a:spLocks noChangeShapeType="1"/>
            </p:cNvSpPr>
            <p:nvPr/>
          </p:nvSpPr>
          <p:spPr bwMode="auto">
            <a:xfrm>
              <a:off x="1008" y="1104"/>
              <a:ext cx="0" cy="384"/>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6667" name="Object 22"/>
            <p:cNvGraphicFramePr>
              <a:graphicFrameLocks/>
            </p:cNvGraphicFramePr>
            <p:nvPr>
              <p:extLst>
                <p:ext uri="{D42A27DB-BD31-4B8C-83A1-F6EECF244321}">
                  <p14:modId xmlns:p14="http://schemas.microsoft.com/office/powerpoint/2010/main" val="1225451941"/>
                </p:ext>
              </p:extLst>
            </p:nvPr>
          </p:nvGraphicFramePr>
          <p:xfrm>
            <a:off x="1031" y="1181"/>
            <a:ext cx="134" cy="197"/>
          </p:xfrm>
          <a:graphic>
            <a:graphicData uri="http://schemas.openxmlformats.org/presentationml/2006/ole">
              <mc:AlternateContent xmlns:mc="http://schemas.openxmlformats.org/markup-compatibility/2006">
                <mc:Choice xmlns:v="urn:schemas-microsoft-com:vml" Requires="v">
                  <p:oleObj name="Equation" r:id="rId4" imgW="104760" imgH="152310" progId="Equation.2">
                    <p:embed/>
                  </p:oleObj>
                </mc:Choice>
                <mc:Fallback>
                  <p:oleObj name="Equation" r:id="rId4" imgW="104760" imgH="152310" progId="Equation.2">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1" y="1181"/>
                          <a:ext cx="134"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82295" name="Group 23"/>
          <p:cNvGrpSpPr>
            <a:grpSpLocks/>
          </p:cNvGrpSpPr>
          <p:nvPr/>
        </p:nvGrpSpPr>
        <p:grpSpPr bwMode="auto">
          <a:xfrm>
            <a:off x="5720557" y="1000125"/>
            <a:ext cx="2514600" cy="1624013"/>
            <a:chOff x="624" y="1152"/>
            <a:chExt cx="1584" cy="1023"/>
          </a:xfrm>
        </p:grpSpPr>
        <p:grpSp>
          <p:nvGrpSpPr>
            <p:cNvPr id="26650" name="Group 24"/>
            <p:cNvGrpSpPr>
              <a:grpSpLocks/>
            </p:cNvGrpSpPr>
            <p:nvPr/>
          </p:nvGrpSpPr>
          <p:grpSpPr bwMode="auto">
            <a:xfrm>
              <a:off x="624" y="1152"/>
              <a:ext cx="1584" cy="288"/>
              <a:chOff x="624" y="1152"/>
              <a:chExt cx="1584" cy="288"/>
            </a:xfrm>
          </p:grpSpPr>
          <p:sp>
            <p:nvSpPr>
              <p:cNvPr id="26657" name="Line 25"/>
              <p:cNvSpPr>
                <a:spLocks noChangeShapeType="1"/>
              </p:cNvSpPr>
              <p:nvPr/>
            </p:nvSpPr>
            <p:spPr bwMode="auto">
              <a:xfrm>
                <a:off x="624" y="1440"/>
                <a:ext cx="1584" cy="0"/>
              </a:xfrm>
              <a:prstGeom prst="line">
                <a:avLst/>
              </a:prstGeom>
              <a:noFill/>
              <a:ln w="19050">
                <a:solidFill>
                  <a:srgbClr val="FF00FF"/>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58" name="Line 26"/>
              <p:cNvSpPr>
                <a:spLocks noChangeShapeType="1"/>
              </p:cNvSpPr>
              <p:nvPr/>
            </p:nvSpPr>
            <p:spPr bwMode="auto">
              <a:xfrm>
                <a:off x="2208" y="1152"/>
                <a:ext cx="0" cy="288"/>
              </a:xfrm>
              <a:prstGeom prst="line">
                <a:avLst/>
              </a:prstGeom>
              <a:noFill/>
              <a:ln w="19050">
                <a:solidFill>
                  <a:srgbClr val="FF00FF"/>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59" name="Line 27"/>
              <p:cNvSpPr>
                <a:spLocks noChangeShapeType="1"/>
              </p:cNvSpPr>
              <p:nvPr/>
            </p:nvSpPr>
            <p:spPr bwMode="auto">
              <a:xfrm>
                <a:off x="624" y="1152"/>
                <a:ext cx="0" cy="288"/>
              </a:xfrm>
              <a:prstGeom prst="line">
                <a:avLst/>
              </a:prstGeom>
              <a:noFill/>
              <a:ln w="19050">
                <a:solidFill>
                  <a:srgbClr val="FF00FF"/>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60" name="Line 28"/>
              <p:cNvSpPr>
                <a:spLocks noChangeShapeType="1"/>
              </p:cNvSpPr>
              <p:nvPr/>
            </p:nvSpPr>
            <p:spPr bwMode="auto">
              <a:xfrm>
                <a:off x="624" y="1152"/>
                <a:ext cx="1584" cy="0"/>
              </a:xfrm>
              <a:prstGeom prst="line">
                <a:avLst/>
              </a:prstGeom>
              <a:noFill/>
              <a:ln w="19050">
                <a:solidFill>
                  <a:srgbClr val="FF00FF"/>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6651" name="Line 29"/>
            <p:cNvSpPr>
              <a:spLocks noChangeShapeType="1"/>
            </p:cNvSpPr>
            <p:nvPr/>
          </p:nvSpPr>
          <p:spPr bwMode="auto">
            <a:xfrm>
              <a:off x="624" y="1536"/>
              <a:ext cx="0" cy="528"/>
            </a:xfrm>
            <a:prstGeom prst="line">
              <a:avLst/>
            </a:prstGeom>
            <a:noFill/>
            <a:ln w="19050">
              <a:solidFill>
                <a:srgbClr val="FF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52" name="Line 30"/>
            <p:cNvSpPr>
              <a:spLocks noChangeShapeType="1"/>
            </p:cNvSpPr>
            <p:nvPr/>
          </p:nvSpPr>
          <p:spPr bwMode="auto">
            <a:xfrm>
              <a:off x="2208" y="1536"/>
              <a:ext cx="0" cy="528"/>
            </a:xfrm>
            <a:prstGeom prst="line">
              <a:avLst/>
            </a:prstGeom>
            <a:noFill/>
            <a:ln w="19050">
              <a:solidFill>
                <a:srgbClr val="FF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53" name="Line 31"/>
            <p:cNvSpPr>
              <a:spLocks noChangeShapeType="1"/>
            </p:cNvSpPr>
            <p:nvPr/>
          </p:nvSpPr>
          <p:spPr bwMode="auto">
            <a:xfrm>
              <a:off x="624" y="1920"/>
              <a:ext cx="1584" cy="0"/>
            </a:xfrm>
            <a:prstGeom prst="line">
              <a:avLst/>
            </a:prstGeom>
            <a:noFill/>
            <a:ln w="19050">
              <a:solidFill>
                <a:srgbClr val="FF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6654" name="Object 32"/>
            <p:cNvGraphicFramePr>
              <a:graphicFrameLocks/>
            </p:cNvGraphicFramePr>
            <p:nvPr>
              <p:extLst>
                <p:ext uri="{D42A27DB-BD31-4B8C-83A1-F6EECF244321}">
                  <p14:modId xmlns:p14="http://schemas.microsoft.com/office/powerpoint/2010/main" val="3494409997"/>
                </p:ext>
              </p:extLst>
            </p:nvPr>
          </p:nvGraphicFramePr>
          <p:xfrm>
            <a:off x="1344" y="1925"/>
            <a:ext cx="138" cy="250"/>
          </p:xfrm>
          <a:graphic>
            <a:graphicData uri="http://schemas.openxmlformats.org/presentationml/2006/ole">
              <mc:AlternateContent xmlns:mc="http://schemas.openxmlformats.org/markup-compatibility/2006">
                <mc:Choice xmlns:v="urn:schemas-microsoft-com:vml" Requires="v">
                  <p:oleObj name="公式" r:id="rId6" imgW="104760" imgH="190590" progId="Equation.3">
                    <p:embed/>
                  </p:oleObj>
                </mc:Choice>
                <mc:Fallback>
                  <p:oleObj name="公式" r:id="rId6" imgW="104760" imgH="190590" progId="Equation.3">
                    <p:embed/>
                    <p:pic>
                      <p:nvPicPr>
                        <p:cNvPr id="0" nam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44" y="1925"/>
                          <a:ext cx="13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655" name="Line 33"/>
            <p:cNvSpPr>
              <a:spLocks noChangeShapeType="1"/>
            </p:cNvSpPr>
            <p:nvPr/>
          </p:nvSpPr>
          <p:spPr bwMode="auto">
            <a:xfrm>
              <a:off x="1344" y="1152"/>
              <a:ext cx="0" cy="288"/>
            </a:xfrm>
            <a:prstGeom prst="line">
              <a:avLst/>
            </a:prstGeom>
            <a:noFill/>
            <a:ln w="12700">
              <a:solidFill>
                <a:srgbClr val="FF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6656" name="Object 34"/>
            <p:cNvGraphicFramePr>
              <a:graphicFrameLocks/>
            </p:cNvGraphicFramePr>
            <p:nvPr>
              <p:extLst>
                <p:ext uri="{D42A27DB-BD31-4B8C-83A1-F6EECF244321}">
                  <p14:modId xmlns:p14="http://schemas.microsoft.com/office/powerpoint/2010/main" val="2977926497"/>
                </p:ext>
              </p:extLst>
            </p:nvPr>
          </p:nvGraphicFramePr>
          <p:xfrm>
            <a:off x="1380" y="1158"/>
            <a:ext cx="165" cy="244"/>
          </p:xfrm>
          <a:graphic>
            <a:graphicData uri="http://schemas.openxmlformats.org/presentationml/2006/ole">
              <mc:AlternateContent xmlns:mc="http://schemas.openxmlformats.org/markup-compatibility/2006">
                <mc:Choice xmlns:v="urn:schemas-microsoft-com:vml" Requires="v">
                  <p:oleObj name="公式" r:id="rId8" imgW="133380" imgH="190590" progId="Equation.3">
                    <p:embed/>
                  </p:oleObj>
                </mc:Choice>
                <mc:Fallback>
                  <p:oleObj name="公式" r:id="rId8" imgW="133380" imgH="190590" progId="Equation.3">
                    <p:embed/>
                    <p:pic>
                      <p:nvPicPr>
                        <p:cNvPr id="0" name=""/>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80" y="1158"/>
                          <a:ext cx="165" cy="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182307" name="Object 35"/>
          <p:cNvGraphicFramePr>
            <a:graphicFrameLocks/>
          </p:cNvGraphicFramePr>
          <p:nvPr/>
        </p:nvGraphicFramePr>
        <p:xfrm>
          <a:off x="395288" y="1389063"/>
          <a:ext cx="1584325" cy="473075"/>
        </p:xfrm>
        <a:graphic>
          <a:graphicData uri="http://schemas.openxmlformats.org/presentationml/2006/ole">
            <mc:AlternateContent xmlns:mc="http://schemas.openxmlformats.org/markup-compatibility/2006">
              <mc:Choice xmlns:v="urn:schemas-microsoft-com:vml" Requires="v">
                <p:oleObj name="公式" r:id="rId10" imgW="609660" imgH="190590" progId="Equation.3">
                  <p:embed/>
                </p:oleObj>
              </mc:Choice>
              <mc:Fallback>
                <p:oleObj name="公式" r:id="rId10" imgW="609660" imgH="190590" progId="Equation.3">
                  <p:embed/>
                  <p:pic>
                    <p:nvPicPr>
                      <p:cNvPr id="0" name=""/>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5288" y="1389063"/>
                        <a:ext cx="1584325"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2308" name="Object 36"/>
          <p:cNvGraphicFramePr>
            <a:graphicFrameLocks/>
          </p:cNvGraphicFramePr>
          <p:nvPr>
            <p:extLst>
              <p:ext uri="{D42A27DB-BD31-4B8C-83A1-F6EECF244321}">
                <p14:modId xmlns:p14="http://schemas.microsoft.com/office/powerpoint/2010/main" val="2143857267"/>
              </p:ext>
            </p:extLst>
          </p:nvPr>
        </p:nvGraphicFramePr>
        <p:xfrm>
          <a:off x="2906713" y="1004888"/>
          <a:ext cx="955675" cy="814387"/>
        </p:xfrm>
        <a:graphic>
          <a:graphicData uri="http://schemas.openxmlformats.org/presentationml/2006/ole">
            <mc:AlternateContent xmlns:mc="http://schemas.openxmlformats.org/markup-compatibility/2006">
              <mc:Choice xmlns:v="urn:schemas-microsoft-com:vml" Requires="v">
                <p:oleObj name="Equation" r:id="rId12" imgW="419040" imgH="406080" progId="Equation.DSMT4">
                  <p:embed/>
                </p:oleObj>
              </mc:Choice>
              <mc:Fallback>
                <p:oleObj name="Equation" r:id="rId12" imgW="419040" imgH="406080" progId="Equation.DSMT4">
                  <p:embed/>
                  <p:pic>
                    <p:nvPicPr>
                      <p:cNvPr id="0" name=""/>
                      <p:cNvPicPr>
                        <a:picLocks noChangeArrowheads="1"/>
                      </p:cNvPicPr>
                      <p:nvPr/>
                    </p:nvPicPr>
                    <p:blipFill>
                      <a:blip r:embed="rId13"/>
                      <a:srcRect/>
                      <a:stretch>
                        <a:fillRect/>
                      </a:stretch>
                    </p:blipFill>
                    <p:spPr bwMode="auto">
                      <a:xfrm>
                        <a:off x="2906713" y="1004888"/>
                        <a:ext cx="955675" cy="814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2311" name="Rectangle 39"/>
          <p:cNvSpPr>
            <a:spLocks noChangeArrowheads="1"/>
          </p:cNvSpPr>
          <p:nvPr/>
        </p:nvSpPr>
        <p:spPr bwMode="auto">
          <a:xfrm>
            <a:off x="6732240" y="2792414"/>
            <a:ext cx="2070895"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400" i="1" dirty="0">
                <a:latin typeface="Times New Roman" panose="02020603050405020304" pitchFamily="18" charset="0"/>
                <a:ea typeface="华文楷体" panose="02010600040101010101" pitchFamily="2" charset="-122"/>
              </a:rPr>
              <a:t>E</a:t>
            </a:r>
            <a:r>
              <a:rPr kumimoji="1" lang="zh-CN" altLang="en-US" sz="2400" b="1" dirty="0">
                <a:latin typeface="Times New Roman" panose="02020603050405020304" pitchFamily="18" charset="0"/>
                <a:ea typeface="华文楷体" panose="02010600040101010101" pitchFamily="2" charset="-122"/>
              </a:rPr>
              <a:t>：弹性模量</a:t>
            </a:r>
          </a:p>
        </p:txBody>
      </p:sp>
      <p:graphicFrame>
        <p:nvGraphicFramePr>
          <p:cNvPr id="182312" name="Object 40"/>
          <p:cNvGraphicFramePr>
            <a:graphicFrameLocks/>
          </p:cNvGraphicFramePr>
          <p:nvPr>
            <p:extLst>
              <p:ext uri="{D42A27DB-BD31-4B8C-83A1-F6EECF244321}">
                <p14:modId xmlns:p14="http://schemas.microsoft.com/office/powerpoint/2010/main" val="1881420583"/>
              </p:ext>
            </p:extLst>
          </p:nvPr>
        </p:nvGraphicFramePr>
        <p:xfrm>
          <a:off x="5123393" y="2768599"/>
          <a:ext cx="1335088" cy="992187"/>
        </p:xfrm>
        <a:graphic>
          <a:graphicData uri="http://schemas.openxmlformats.org/presentationml/2006/ole">
            <mc:AlternateContent xmlns:mc="http://schemas.openxmlformats.org/markup-compatibility/2006">
              <mc:Choice xmlns:v="urn:schemas-microsoft-com:vml" Requires="v">
                <p:oleObj name="Equation" r:id="rId14" imgW="583920" imgH="431640" progId="Equation.DSMT4">
                  <p:embed/>
                </p:oleObj>
              </mc:Choice>
              <mc:Fallback>
                <p:oleObj name="Equation" r:id="rId14" imgW="583920" imgH="431640" progId="Equation.DSMT4">
                  <p:embed/>
                  <p:pic>
                    <p:nvPicPr>
                      <p:cNvPr id="0" name=""/>
                      <p:cNvPicPr>
                        <a:picLocks noChangeArrowheads="1"/>
                      </p:cNvPicPr>
                      <p:nvPr/>
                    </p:nvPicPr>
                    <p:blipFill>
                      <a:blip r:embed="rId15"/>
                      <a:srcRect/>
                      <a:stretch>
                        <a:fillRect/>
                      </a:stretch>
                    </p:blipFill>
                    <p:spPr bwMode="auto">
                      <a:xfrm>
                        <a:off x="5123393" y="2768599"/>
                        <a:ext cx="1335088" cy="992187"/>
                      </a:xfrm>
                      <a:prstGeom prst="rect">
                        <a:avLst/>
                      </a:prstGeom>
                      <a:solidFill>
                        <a:srgbClr val="FF7C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2313" name="Object 41"/>
          <p:cNvGraphicFramePr>
            <a:graphicFrameLocks/>
          </p:cNvGraphicFramePr>
          <p:nvPr>
            <p:extLst>
              <p:ext uri="{D42A27DB-BD31-4B8C-83A1-F6EECF244321}">
                <p14:modId xmlns:p14="http://schemas.microsoft.com/office/powerpoint/2010/main" val="1421599750"/>
              </p:ext>
            </p:extLst>
          </p:nvPr>
        </p:nvGraphicFramePr>
        <p:xfrm>
          <a:off x="1901825" y="2787991"/>
          <a:ext cx="1014413" cy="919162"/>
        </p:xfrm>
        <a:graphic>
          <a:graphicData uri="http://schemas.openxmlformats.org/presentationml/2006/ole">
            <mc:AlternateContent xmlns:mc="http://schemas.openxmlformats.org/markup-compatibility/2006">
              <mc:Choice xmlns:v="urn:schemas-microsoft-com:vml" Requires="v">
                <p:oleObj name="Equation" r:id="rId16" imgW="444240" imgH="393480" progId="Equation.DSMT4">
                  <p:embed/>
                </p:oleObj>
              </mc:Choice>
              <mc:Fallback>
                <p:oleObj name="Equation" r:id="rId16" imgW="444240" imgH="393480" progId="Equation.DSMT4">
                  <p:embed/>
                  <p:pic>
                    <p:nvPicPr>
                      <p:cNvPr id="0" name=""/>
                      <p:cNvPicPr>
                        <a:picLocks noChangeArrowheads="1"/>
                      </p:cNvPicPr>
                      <p:nvPr/>
                    </p:nvPicPr>
                    <p:blipFill>
                      <a:blip r:embed="rId17"/>
                      <a:srcRect/>
                      <a:stretch>
                        <a:fillRect/>
                      </a:stretch>
                    </p:blipFill>
                    <p:spPr bwMode="auto">
                      <a:xfrm>
                        <a:off x="1901825" y="2787991"/>
                        <a:ext cx="1014413" cy="919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2314" name="Object 42"/>
          <p:cNvGraphicFramePr>
            <a:graphicFrameLocks/>
          </p:cNvGraphicFramePr>
          <p:nvPr>
            <p:extLst>
              <p:ext uri="{D42A27DB-BD31-4B8C-83A1-F6EECF244321}">
                <p14:modId xmlns:p14="http://schemas.microsoft.com/office/powerpoint/2010/main" val="3332908969"/>
              </p:ext>
            </p:extLst>
          </p:nvPr>
        </p:nvGraphicFramePr>
        <p:xfrm>
          <a:off x="3444347" y="1983507"/>
          <a:ext cx="1412875" cy="633412"/>
        </p:xfrm>
        <a:graphic>
          <a:graphicData uri="http://schemas.openxmlformats.org/presentationml/2006/ole">
            <mc:AlternateContent xmlns:mc="http://schemas.openxmlformats.org/markup-compatibility/2006">
              <mc:Choice xmlns:v="urn:schemas-microsoft-com:vml" Requires="v">
                <p:oleObj name="公式" r:id="rId18" imgW="476280" imgH="190590" progId="Equation.3">
                  <p:embed/>
                </p:oleObj>
              </mc:Choice>
              <mc:Fallback>
                <p:oleObj name="公式" r:id="rId18" imgW="476280" imgH="190590" progId="Equation.3">
                  <p:embed/>
                  <p:pic>
                    <p:nvPicPr>
                      <p:cNvPr id="0" name=""/>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444347" y="1983507"/>
                        <a:ext cx="1412875" cy="633412"/>
                      </a:xfrm>
                      <a:prstGeom prst="rect">
                        <a:avLst/>
                      </a:prstGeom>
                      <a:solidFill>
                        <a:srgbClr val="FF7C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2315" name="Rectangle 43"/>
          <p:cNvSpPr>
            <a:spLocks noChangeArrowheads="1"/>
          </p:cNvSpPr>
          <p:nvPr/>
        </p:nvSpPr>
        <p:spPr bwMode="auto">
          <a:xfrm>
            <a:off x="848519" y="1912408"/>
            <a:ext cx="2262188" cy="867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kumimoji="1" lang="zh-CN" altLang="en-US" sz="24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胡克定律</a:t>
            </a:r>
          </a:p>
          <a:p>
            <a:pPr algn="ctr" eaLnBrk="1" hangingPunct="1">
              <a:spcBef>
                <a:spcPct val="10000"/>
              </a:spcBef>
            </a:pPr>
            <a:r>
              <a:rPr kumimoji="1" lang="en-US" altLang="zh-CN" sz="2400"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Hooke’s Law</a:t>
            </a:r>
            <a:r>
              <a:rPr kumimoji="1" lang="en-US" altLang="zh-CN" sz="2400"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a:t>
            </a:r>
            <a:endParaRPr kumimoji="1" lang="zh-CN" altLang="en-US" sz="2400"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82316" name="Rectangle 44"/>
          <p:cNvSpPr>
            <a:spLocks noChangeArrowheads="1"/>
          </p:cNvSpPr>
          <p:nvPr/>
        </p:nvSpPr>
        <p:spPr bwMode="auto">
          <a:xfrm>
            <a:off x="242888" y="3803935"/>
            <a:ext cx="2092326" cy="457200"/>
          </a:xfrm>
          <a:prstGeom prst="rect">
            <a:avLst/>
          </a:prstGeom>
          <a:noFill/>
          <a:ln>
            <a:noFill/>
          </a:ln>
          <a:effec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400" b="1" dirty="0">
                <a:latin typeface="黑体" panose="02010609060101010101" pitchFamily="49" charset="-122"/>
                <a:ea typeface="黑体" panose="02010609060101010101" pitchFamily="49" charset="-122"/>
                <a:cs typeface="Times New Roman" panose="02020603050405020304" pitchFamily="18" charset="0"/>
              </a:rPr>
              <a:t>二、横向变形</a:t>
            </a:r>
          </a:p>
        </p:txBody>
      </p:sp>
      <p:graphicFrame>
        <p:nvGraphicFramePr>
          <p:cNvPr id="182317" name="Object 45"/>
          <p:cNvGraphicFramePr>
            <a:graphicFrameLocks/>
          </p:cNvGraphicFramePr>
          <p:nvPr>
            <p:extLst>
              <p:ext uri="{D42A27DB-BD31-4B8C-83A1-F6EECF244321}">
                <p14:modId xmlns:p14="http://schemas.microsoft.com/office/powerpoint/2010/main" val="61598221"/>
              </p:ext>
            </p:extLst>
          </p:nvPr>
        </p:nvGraphicFramePr>
        <p:xfrm>
          <a:off x="2771775" y="3873500"/>
          <a:ext cx="1427163" cy="512763"/>
        </p:xfrm>
        <a:graphic>
          <a:graphicData uri="http://schemas.openxmlformats.org/presentationml/2006/ole">
            <mc:AlternateContent xmlns:mc="http://schemas.openxmlformats.org/markup-compatibility/2006">
              <mc:Choice xmlns:v="urn:schemas-microsoft-com:vml" Requires="v">
                <p:oleObj name="Equation" r:id="rId20" imgW="685800" imgH="228600" progId="Equation.DSMT4">
                  <p:embed/>
                </p:oleObj>
              </mc:Choice>
              <mc:Fallback>
                <p:oleObj name="Equation" r:id="rId20" imgW="685800" imgH="228600" progId="Equation.DSMT4">
                  <p:embed/>
                  <p:pic>
                    <p:nvPicPr>
                      <p:cNvPr id="0" name=""/>
                      <p:cNvPicPr>
                        <a:picLocks noChangeArrowheads="1"/>
                      </p:cNvPicPr>
                      <p:nvPr/>
                    </p:nvPicPr>
                    <p:blipFill>
                      <a:blip r:embed="rId21"/>
                      <a:srcRect/>
                      <a:stretch>
                        <a:fillRect/>
                      </a:stretch>
                    </p:blipFill>
                    <p:spPr bwMode="auto">
                      <a:xfrm>
                        <a:off x="2771775" y="3873500"/>
                        <a:ext cx="1427163" cy="512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2318" name="Object 46"/>
          <p:cNvGraphicFramePr>
            <a:graphicFrameLocks/>
          </p:cNvGraphicFramePr>
          <p:nvPr>
            <p:extLst>
              <p:ext uri="{D42A27DB-BD31-4B8C-83A1-F6EECF244321}">
                <p14:modId xmlns:p14="http://schemas.microsoft.com/office/powerpoint/2010/main" val="2217631280"/>
              </p:ext>
            </p:extLst>
          </p:nvPr>
        </p:nvGraphicFramePr>
        <p:xfrm>
          <a:off x="4451350" y="3911600"/>
          <a:ext cx="2581275" cy="446088"/>
        </p:xfrm>
        <a:graphic>
          <a:graphicData uri="http://schemas.openxmlformats.org/presentationml/2006/ole">
            <mc:AlternateContent xmlns:mc="http://schemas.openxmlformats.org/markup-compatibility/2006">
              <mc:Choice xmlns:v="urn:schemas-microsoft-com:vml" Requires="v">
                <p:oleObj name="Equation" r:id="rId22" imgW="1091880" imgH="215640" progId="Equation.DSMT4">
                  <p:embed/>
                </p:oleObj>
              </mc:Choice>
              <mc:Fallback>
                <p:oleObj name="Equation" r:id="rId22" imgW="1091880" imgH="215640" progId="Equation.DSMT4">
                  <p:embed/>
                  <p:pic>
                    <p:nvPicPr>
                      <p:cNvPr id="0" name=""/>
                      <p:cNvPicPr>
                        <a:picLocks noChangeArrowheads="1"/>
                      </p:cNvPicPr>
                      <p:nvPr/>
                    </p:nvPicPr>
                    <p:blipFill>
                      <a:blip r:embed="rId23"/>
                      <a:srcRect/>
                      <a:stretch>
                        <a:fillRect/>
                      </a:stretch>
                    </p:blipFill>
                    <p:spPr bwMode="auto">
                      <a:xfrm>
                        <a:off x="4451350" y="3911600"/>
                        <a:ext cx="2581275" cy="446088"/>
                      </a:xfrm>
                      <a:prstGeom prst="rect">
                        <a:avLst/>
                      </a:prstGeom>
                      <a:noFill/>
                      <a:ln>
                        <a:noFill/>
                      </a:ln>
                      <a:effectLst/>
                    </p:spPr>
                  </p:pic>
                </p:oleObj>
              </mc:Fallback>
            </mc:AlternateContent>
          </a:graphicData>
        </a:graphic>
      </p:graphicFrame>
      <p:graphicFrame>
        <p:nvGraphicFramePr>
          <p:cNvPr id="182320" name="Object 48"/>
          <p:cNvGraphicFramePr>
            <a:graphicFrameLocks/>
          </p:cNvGraphicFramePr>
          <p:nvPr>
            <p:extLst>
              <p:ext uri="{D42A27DB-BD31-4B8C-83A1-F6EECF244321}">
                <p14:modId xmlns:p14="http://schemas.microsoft.com/office/powerpoint/2010/main" val="661764572"/>
              </p:ext>
            </p:extLst>
          </p:nvPr>
        </p:nvGraphicFramePr>
        <p:xfrm>
          <a:off x="2765425" y="4368800"/>
          <a:ext cx="1230511" cy="822251"/>
        </p:xfrm>
        <a:graphic>
          <a:graphicData uri="http://schemas.openxmlformats.org/presentationml/2006/ole">
            <mc:AlternateContent xmlns:mc="http://schemas.openxmlformats.org/markup-compatibility/2006">
              <mc:Choice xmlns:v="urn:schemas-microsoft-com:vml" Requires="v">
                <p:oleObj name="Equation" r:id="rId24" imgW="507960" imgH="393480" progId="Equation.DSMT4">
                  <p:embed/>
                </p:oleObj>
              </mc:Choice>
              <mc:Fallback>
                <p:oleObj name="Equation" r:id="rId24" imgW="507960" imgH="393480" progId="Equation.DSMT4">
                  <p:embed/>
                  <p:pic>
                    <p:nvPicPr>
                      <p:cNvPr id="0" name=""/>
                      <p:cNvPicPr>
                        <a:picLocks noChangeArrowheads="1"/>
                      </p:cNvPicPr>
                      <p:nvPr/>
                    </p:nvPicPr>
                    <p:blipFill>
                      <a:blip r:embed="rId25"/>
                      <a:srcRect/>
                      <a:stretch>
                        <a:fillRect/>
                      </a:stretch>
                    </p:blipFill>
                    <p:spPr bwMode="auto">
                      <a:xfrm>
                        <a:off x="2765425" y="4368800"/>
                        <a:ext cx="1230511" cy="822251"/>
                      </a:xfrm>
                      <a:prstGeom prst="rect">
                        <a:avLst/>
                      </a:prstGeom>
                      <a:noFill/>
                      <a:ln>
                        <a:noFill/>
                      </a:ln>
                      <a:effectLst/>
                    </p:spPr>
                  </p:pic>
                </p:oleObj>
              </mc:Fallback>
            </mc:AlternateContent>
          </a:graphicData>
        </a:graphic>
      </p:graphicFrame>
      <p:sp>
        <p:nvSpPr>
          <p:cNvPr id="182321" name="Rectangle 49"/>
          <p:cNvSpPr>
            <a:spLocks noChangeArrowheads="1"/>
          </p:cNvSpPr>
          <p:nvPr/>
        </p:nvSpPr>
        <p:spPr bwMode="auto">
          <a:xfrm>
            <a:off x="709215" y="4567238"/>
            <a:ext cx="17986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横向应变</a:t>
            </a:r>
          </a:p>
        </p:txBody>
      </p:sp>
      <p:graphicFrame>
        <p:nvGraphicFramePr>
          <p:cNvPr id="182322" name="Object 50"/>
          <p:cNvGraphicFramePr>
            <a:graphicFrameLocks/>
          </p:cNvGraphicFramePr>
          <p:nvPr>
            <p:extLst>
              <p:ext uri="{D42A27DB-BD31-4B8C-83A1-F6EECF244321}">
                <p14:modId xmlns:p14="http://schemas.microsoft.com/office/powerpoint/2010/main" val="2878743220"/>
              </p:ext>
            </p:extLst>
          </p:nvPr>
        </p:nvGraphicFramePr>
        <p:xfrm>
          <a:off x="4459288" y="4570413"/>
          <a:ext cx="2201862" cy="452437"/>
        </p:xfrm>
        <a:graphic>
          <a:graphicData uri="http://schemas.openxmlformats.org/presentationml/2006/ole">
            <mc:AlternateContent xmlns:mc="http://schemas.openxmlformats.org/markup-compatibility/2006">
              <mc:Choice xmlns:v="urn:schemas-microsoft-com:vml" Requires="v">
                <p:oleObj name="Equation" r:id="rId26" imgW="977760" imgH="215640" progId="Equation.DSMT4">
                  <p:embed/>
                </p:oleObj>
              </mc:Choice>
              <mc:Fallback>
                <p:oleObj name="Equation" r:id="rId26" imgW="977760" imgH="215640" progId="Equation.DSMT4">
                  <p:embed/>
                  <p:pic>
                    <p:nvPicPr>
                      <p:cNvPr id="0" name=""/>
                      <p:cNvPicPr>
                        <a:picLocks noChangeArrowheads="1"/>
                      </p:cNvPicPr>
                      <p:nvPr/>
                    </p:nvPicPr>
                    <p:blipFill>
                      <a:blip r:embed="rId27"/>
                      <a:srcRect/>
                      <a:stretch>
                        <a:fillRect/>
                      </a:stretch>
                    </p:blipFill>
                    <p:spPr bwMode="auto">
                      <a:xfrm>
                        <a:off x="4459288" y="4570413"/>
                        <a:ext cx="2201862" cy="452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2323" name="Rectangle 51"/>
          <p:cNvSpPr>
            <a:spLocks noChangeArrowheads="1"/>
          </p:cNvSpPr>
          <p:nvPr/>
        </p:nvSpPr>
        <p:spPr bwMode="auto">
          <a:xfrm>
            <a:off x="452438" y="5182602"/>
            <a:ext cx="3975100" cy="831639"/>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solidFill>
                  <a:srgbClr val="0000FF"/>
                </a:solidFill>
                <a:latin typeface="Times New Roman" panose="02020603050405020304" pitchFamily="18" charset="0"/>
                <a:ea typeface="华文楷体" panose="02010600040101010101" pitchFamily="2" charset="-122"/>
              </a:rPr>
              <a:t>泊松比（横向变形系数）</a:t>
            </a:r>
          </a:p>
          <a:p>
            <a:r>
              <a:rPr kumimoji="1" lang="en-US" altLang="zh-CN" sz="2400" dirty="0">
                <a:solidFill>
                  <a:srgbClr val="0000FF"/>
                </a:solidFill>
                <a:latin typeface="Times New Roman" panose="02020603050405020304" pitchFamily="18" charset="0"/>
                <a:ea typeface="华文楷体" panose="02010600040101010101" pitchFamily="2" charset="-122"/>
              </a:rPr>
              <a:t>Poisson’s ratio</a:t>
            </a:r>
            <a:endParaRPr kumimoji="1" lang="zh-CN" altLang="en-US" sz="2400" dirty="0">
              <a:solidFill>
                <a:srgbClr val="0000FF"/>
              </a:solidFill>
              <a:latin typeface="Times New Roman" panose="02020603050405020304" pitchFamily="18" charset="0"/>
              <a:ea typeface="华文楷体" panose="02010600040101010101" pitchFamily="2" charset="-122"/>
            </a:endParaRPr>
          </a:p>
        </p:txBody>
      </p:sp>
      <p:graphicFrame>
        <p:nvGraphicFramePr>
          <p:cNvPr id="182325" name="Object 53"/>
          <p:cNvGraphicFramePr>
            <a:graphicFrameLocks/>
          </p:cNvGraphicFramePr>
          <p:nvPr>
            <p:extLst>
              <p:ext uri="{D42A27DB-BD31-4B8C-83A1-F6EECF244321}">
                <p14:modId xmlns:p14="http://schemas.microsoft.com/office/powerpoint/2010/main" val="3954929519"/>
              </p:ext>
            </p:extLst>
          </p:nvPr>
        </p:nvGraphicFramePr>
        <p:xfrm>
          <a:off x="4398046" y="5226864"/>
          <a:ext cx="1608138" cy="533400"/>
        </p:xfrm>
        <a:graphic>
          <a:graphicData uri="http://schemas.openxmlformats.org/presentationml/2006/ole">
            <mc:AlternateContent xmlns:mc="http://schemas.openxmlformats.org/markup-compatibility/2006">
              <mc:Choice xmlns:v="urn:schemas-microsoft-com:vml" Requires="v">
                <p:oleObj name="公式" r:id="rId28" imgW="571590" imgH="190590" progId="Equation.3">
                  <p:embed/>
                </p:oleObj>
              </mc:Choice>
              <mc:Fallback>
                <p:oleObj name="公式" r:id="rId28" imgW="571590" imgH="190590" progId="Equation.3">
                  <p:embed/>
                  <p:pic>
                    <p:nvPicPr>
                      <p:cNvPr id="0" name=""/>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398046" y="5226864"/>
                        <a:ext cx="1608138" cy="533400"/>
                      </a:xfrm>
                      <a:prstGeom prst="rect">
                        <a:avLst/>
                      </a:prstGeom>
                      <a:solidFill>
                        <a:srgbClr val="FF7C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2326" name="Rectangle 54"/>
          <p:cNvSpPr>
            <a:spLocks noChangeArrowheads="1"/>
          </p:cNvSpPr>
          <p:nvPr/>
        </p:nvSpPr>
        <p:spPr bwMode="auto">
          <a:xfrm>
            <a:off x="6689379" y="3277741"/>
            <a:ext cx="2235993"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400" i="1" dirty="0">
                <a:latin typeface="Times New Roman" panose="02020603050405020304" pitchFamily="18" charset="0"/>
                <a:ea typeface="华文楷体" panose="02010600040101010101" pitchFamily="2" charset="-122"/>
              </a:rPr>
              <a:t>EA</a:t>
            </a:r>
            <a:r>
              <a:rPr kumimoji="1" lang="zh-CN" altLang="en-US" sz="2400" b="1" dirty="0">
                <a:latin typeface="Times New Roman" panose="02020603050405020304" pitchFamily="18" charset="0"/>
                <a:ea typeface="华文楷体" panose="02010600040101010101" pitchFamily="2" charset="-122"/>
              </a:rPr>
              <a:t>：抗拉刚度</a:t>
            </a:r>
          </a:p>
        </p:txBody>
      </p:sp>
      <p:sp>
        <p:nvSpPr>
          <p:cNvPr id="26647" name="Rectangle 57"/>
          <p:cNvSpPr>
            <a:spLocks noChangeArrowheads="1"/>
          </p:cNvSpPr>
          <p:nvPr/>
        </p:nvSpPr>
        <p:spPr bwMode="auto">
          <a:xfrm>
            <a:off x="495846" y="205157"/>
            <a:ext cx="4177208" cy="585418"/>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3200" b="1" dirty="0">
                <a:solidFill>
                  <a:srgbClr val="0000CC"/>
                </a:solidFill>
                <a:latin typeface="Times New Roman" panose="02020603050405020304" pitchFamily="18" charset="0"/>
                <a:ea typeface="隶书" panose="02010509060101010101" pitchFamily="49" charset="-122"/>
              </a:rPr>
              <a:t>6-5  </a:t>
            </a:r>
            <a:r>
              <a:rPr kumimoji="1" lang="zh-CN" altLang="en-US" sz="3200" b="1" dirty="0">
                <a:solidFill>
                  <a:srgbClr val="0000CC"/>
                </a:solidFill>
                <a:latin typeface="Times New Roman" panose="02020603050405020304" pitchFamily="18" charset="0"/>
                <a:ea typeface="隶书" panose="02010509060101010101" pitchFamily="49" charset="-122"/>
              </a:rPr>
              <a:t>轴向拉压的变形</a:t>
            </a:r>
          </a:p>
        </p:txBody>
      </p:sp>
      <p:sp>
        <p:nvSpPr>
          <p:cNvPr id="182330" name="Rectangle 58"/>
          <p:cNvSpPr>
            <a:spLocks noChangeArrowheads="1"/>
          </p:cNvSpPr>
          <p:nvPr/>
        </p:nvSpPr>
        <p:spPr bwMode="auto">
          <a:xfrm>
            <a:off x="421225" y="2986088"/>
            <a:ext cx="1522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纵向应变</a:t>
            </a:r>
          </a:p>
        </p:txBody>
      </p:sp>
      <p:sp>
        <p:nvSpPr>
          <p:cNvPr id="182331" name="Rectangle 59"/>
          <p:cNvSpPr>
            <a:spLocks noChangeArrowheads="1"/>
          </p:cNvSpPr>
          <p:nvPr/>
        </p:nvSpPr>
        <p:spPr bwMode="auto">
          <a:xfrm>
            <a:off x="3843338" y="900113"/>
            <a:ext cx="1089025" cy="979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20000"/>
              </a:lnSpc>
            </a:pPr>
            <a:r>
              <a:rPr kumimoji="1" lang="zh-CN" altLang="en-US" sz="2400" b="1" dirty="0">
                <a:latin typeface="Times New Roman" panose="02020603050405020304" pitchFamily="18" charset="0"/>
                <a:ea typeface="华文楷体" panose="02010600040101010101" pitchFamily="2" charset="-122"/>
              </a:rPr>
              <a:t>拉伸</a:t>
            </a:r>
          </a:p>
          <a:p>
            <a:pPr>
              <a:lnSpc>
                <a:spcPct val="120000"/>
              </a:lnSpc>
            </a:pPr>
            <a:r>
              <a:rPr kumimoji="1" lang="zh-CN" altLang="en-US" sz="2400" b="1" dirty="0">
                <a:latin typeface="Times New Roman" panose="02020603050405020304" pitchFamily="18" charset="0"/>
                <a:ea typeface="华文楷体" panose="02010600040101010101" pitchFamily="2" charset="-122"/>
              </a:rPr>
              <a:t>压缩</a:t>
            </a:r>
          </a:p>
        </p:txBody>
      </p:sp>
      <p:sp>
        <p:nvSpPr>
          <p:cNvPr id="2" name="Rectangle 44"/>
          <p:cNvSpPr>
            <a:spLocks noChangeArrowheads="1"/>
          </p:cNvSpPr>
          <p:nvPr/>
        </p:nvSpPr>
        <p:spPr bwMode="auto">
          <a:xfrm>
            <a:off x="339378" y="6008971"/>
            <a:ext cx="2069653" cy="461665"/>
          </a:xfrm>
          <a:prstGeom prst="rect">
            <a:avLst/>
          </a:prstGeom>
          <a:noFill/>
          <a:ln>
            <a:noFill/>
          </a:ln>
          <a:effec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400" b="1" dirty="0">
                <a:latin typeface="黑体" panose="02010609060101010101" pitchFamily="49" charset="-122"/>
                <a:ea typeface="黑体" panose="02010609060101010101" pitchFamily="49" charset="-122"/>
                <a:cs typeface="Times New Roman" panose="02020603050405020304" pitchFamily="18" charset="0"/>
              </a:rPr>
              <a:t>三、刚度条件</a:t>
            </a:r>
          </a:p>
        </p:txBody>
      </p:sp>
      <p:graphicFrame>
        <p:nvGraphicFramePr>
          <p:cNvPr id="3" name="Object 35"/>
          <p:cNvGraphicFramePr>
            <a:graphicFrameLocks/>
          </p:cNvGraphicFramePr>
          <p:nvPr>
            <p:extLst>
              <p:ext uri="{D42A27DB-BD31-4B8C-83A1-F6EECF244321}">
                <p14:modId xmlns:p14="http://schemas.microsoft.com/office/powerpoint/2010/main" val="1254913056"/>
              </p:ext>
            </p:extLst>
          </p:nvPr>
        </p:nvGraphicFramePr>
        <p:xfrm>
          <a:off x="2846900" y="5987390"/>
          <a:ext cx="1444625" cy="504825"/>
        </p:xfrm>
        <a:graphic>
          <a:graphicData uri="http://schemas.openxmlformats.org/presentationml/2006/ole">
            <mc:AlternateContent xmlns:mc="http://schemas.openxmlformats.org/markup-compatibility/2006">
              <mc:Choice xmlns:v="urn:schemas-microsoft-com:vml" Requires="v">
                <p:oleObj name="Equation" r:id="rId30" imgW="571320" imgH="203040" progId="Equation.DSMT4">
                  <p:embed/>
                </p:oleObj>
              </mc:Choice>
              <mc:Fallback>
                <p:oleObj name="Equation" r:id="rId30" imgW="571320" imgH="203040" progId="Equation.DSMT4">
                  <p:embed/>
                  <p:pic>
                    <p:nvPicPr>
                      <p:cNvPr id="0" name=""/>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846900" y="5987390"/>
                        <a:ext cx="1444625"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Rectangle 44"/>
          <p:cNvSpPr>
            <a:spLocks noChangeArrowheads="1"/>
          </p:cNvSpPr>
          <p:nvPr/>
        </p:nvSpPr>
        <p:spPr bwMode="auto">
          <a:xfrm>
            <a:off x="4502481" y="6008971"/>
            <a:ext cx="2952750" cy="457200"/>
          </a:xfrm>
          <a:prstGeom prst="rect">
            <a:avLst/>
          </a:prstGeom>
          <a:noFill/>
          <a:ln>
            <a:noFill/>
          </a:ln>
          <a:effec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400" b="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（不重要、不出现）</a:t>
            </a:r>
            <a:endParaRPr kumimoji="1" lang="en-US" altLang="zh-CN" sz="2400" b="1">
              <a:solidFill>
                <a:srgbClr val="0000FF"/>
              </a:solidFill>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57" name="Object 41"/>
          <p:cNvGraphicFramePr>
            <a:graphicFrameLocks/>
          </p:cNvGraphicFramePr>
          <p:nvPr>
            <p:extLst>
              <p:ext uri="{D42A27DB-BD31-4B8C-83A1-F6EECF244321}">
                <p14:modId xmlns:p14="http://schemas.microsoft.com/office/powerpoint/2010/main" val="326199616"/>
              </p:ext>
            </p:extLst>
          </p:nvPr>
        </p:nvGraphicFramePr>
        <p:xfrm>
          <a:off x="2846900" y="2762610"/>
          <a:ext cx="1508125" cy="1008063"/>
        </p:xfrm>
        <a:graphic>
          <a:graphicData uri="http://schemas.openxmlformats.org/presentationml/2006/ole">
            <mc:AlternateContent xmlns:mc="http://schemas.openxmlformats.org/markup-compatibility/2006">
              <mc:Choice xmlns:v="urn:schemas-microsoft-com:vml" Requires="v">
                <p:oleObj name="Equation" r:id="rId32" imgW="660240" imgH="431640" progId="Equation.DSMT4">
                  <p:embed/>
                </p:oleObj>
              </mc:Choice>
              <mc:Fallback>
                <p:oleObj name="Equation" r:id="rId32" imgW="660240" imgH="431640" progId="Equation.DSMT4">
                  <p:embed/>
                  <p:pic>
                    <p:nvPicPr>
                      <p:cNvPr id="0" name=""/>
                      <p:cNvPicPr>
                        <a:picLocks noChangeArrowheads="1"/>
                      </p:cNvPicPr>
                      <p:nvPr/>
                    </p:nvPicPr>
                    <p:blipFill>
                      <a:blip r:embed="rId33"/>
                      <a:srcRect/>
                      <a:stretch>
                        <a:fillRect/>
                      </a:stretch>
                    </p:blipFill>
                    <p:spPr bwMode="auto">
                      <a:xfrm>
                        <a:off x="2846900" y="2762610"/>
                        <a:ext cx="1508125" cy="1008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405814842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182276"/>
                                        </p:tgtEl>
                                        <p:attrNameLst>
                                          <p:attrName>style.visibility</p:attrName>
                                        </p:attrNameLst>
                                      </p:cBhvr>
                                      <p:to>
                                        <p:strVal val="visible"/>
                                      </p:to>
                                    </p:set>
                                    <p:animEffect transition="in" filter="barn(outHorizontal)">
                                      <p:cBhvr>
                                        <p:cTn id="7" dur="500"/>
                                        <p:tgtEl>
                                          <p:spTgt spid="18227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nodeType="clickEffect">
                                  <p:stCondLst>
                                    <p:cond delay="0"/>
                                  </p:stCondLst>
                                  <p:childTnLst>
                                    <p:set>
                                      <p:cBhvr>
                                        <p:cTn id="11" dur="1" fill="hold">
                                          <p:stCondLst>
                                            <p:cond delay="0"/>
                                          </p:stCondLst>
                                        </p:cTn>
                                        <p:tgtEl>
                                          <p:spTgt spid="182277"/>
                                        </p:tgtEl>
                                        <p:attrNameLst>
                                          <p:attrName>style.visibility</p:attrName>
                                        </p:attrNameLst>
                                      </p:cBhvr>
                                      <p:to>
                                        <p:strVal val="visible"/>
                                      </p:to>
                                    </p:set>
                                    <p:animEffect transition="in" filter="barn(outHorizontal)">
                                      <p:cBhvr>
                                        <p:cTn id="12" dur="500"/>
                                        <p:tgtEl>
                                          <p:spTgt spid="18227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42" fill="hold" nodeType="clickEffect">
                                  <p:stCondLst>
                                    <p:cond delay="0"/>
                                  </p:stCondLst>
                                  <p:childTnLst>
                                    <p:set>
                                      <p:cBhvr>
                                        <p:cTn id="16" dur="1" fill="hold">
                                          <p:stCondLst>
                                            <p:cond delay="0"/>
                                          </p:stCondLst>
                                        </p:cTn>
                                        <p:tgtEl>
                                          <p:spTgt spid="182295"/>
                                        </p:tgtEl>
                                        <p:attrNameLst>
                                          <p:attrName>style.visibility</p:attrName>
                                        </p:attrNameLst>
                                      </p:cBhvr>
                                      <p:to>
                                        <p:strVal val="visible"/>
                                      </p:to>
                                    </p:set>
                                    <p:animEffect transition="in" filter="barn(outHorizontal)">
                                      <p:cBhvr>
                                        <p:cTn id="17" dur="500"/>
                                        <p:tgtEl>
                                          <p:spTgt spid="18229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42" fill="hold" nodeType="clickEffect">
                                  <p:stCondLst>
                                    <p:cond delay="0"/>
                                  </p:stCondLst>
                                  <p:childTnLst>
                                    <p:set>
                                      <p:cBhvr>
                                        <p:cTn id="21" dur="1" fill="hold">
                                          <p:stCondLst>
                                            <p:cond delay="0"/>
                                          </p:stCondLst>
                                        </p:cTn>
                                        <p:tgtEl>
                                          <p:spTgt spid="182307"/>
                                        </p:tgtEl>
                                        <p:attrNameLst>
                                          <p:attrName>style.visibility</p:attrName>
                                        </p:attrNameLst>
                                      </p:cBhvr>
                                      <p:to>
                                        <p:strVal val="visible"/>
                                      </p:to>
                                    </p:set>
                                    <p:animEffect transition="in" filter="barn(outHorizontal)">
                                      <p:cBhvr>
                                        <p:cTn id="22" dur="500"/>
                                        <p:tgtEl>
                                          <p:spTgt spid="18230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82308"/>
                                        </p:tgtEl>
                                        <p:attrNameLst>
                                          <p:attrName>style.visibility</p:attrName>
                                        </p:attrNameLst>
                                      </p:cBhvr>
                                      <p:to>
                                        <p:strVal val="visible"/>
                                      </p:to>
                                    </p:set>
                                    <p:animEffect transition="in" filter="blinds(horizontal)">
                                      <p:cBhvr>
                                        <p:cTn id="27" dur="500"/>
                                        <p:tgtEl>
                                          <p:spTgt spid="182308"/>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182331"/>
                                        </p:tgtEl>
                                        <p:attrNameLst>
                                          <p:attrName>style.visibility</p:attrName>
                                        </p:attrNameLst>
                                      </p:cBhvr>
                                      <p:to>
                                        <p:strVal val="visible"/>
                                      </p:to>
                                    </p:set>
                                    <p:animEffect transition="in" filter="blinds(horizontal)">
                                      <p:cBhvr>
                                        <p:cTn id="30" dur="500"/>
                                        <p:tgtEl>
                                          <p:spTgt spid="182331"/>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42" fill="hold" grpId="0" nodeType="clickEffect">
                                  <p:stCondLst>
                                    <p:cond delay="0"/>
                                  </p:stCondLst>
                                  <p:childTnLst>
                                    <p:set>
                                      <p:cBhvr>
                                        <p:cTn id="34" dur="1" fill="hold">
                                          <p:stCondLst>
                                            <p:cond delay="0"/>
                                          </p:stCondLst>
                                        </p:cTn>
                                        <p:tgtEl>
                                          <p:spTgt spid="182315"/>
                                        </p:tgtEl>
                                        <p:attrNameLst>
                                          <p:attrName>style.visibility</p:attrName>
                                        </p:attrNameLst>
                                      </p:cBhvr>
                                      <p:to>
                                        <p:strVal val="visible"/>
                                      </p:to>
                                    </p:set>
                                    <p:animEffect transition="in" filter="barn(outHorizontal)">
                                      <p:cBhvr>
                                        <p:cTn id="35" dur="500"/>
                                        <p:tgtEl>
                                          <p:spTgt spid="182315"/>
                                        </p:tgtEl>
                                      </p:cBhvr>
                                    </p:animEffect>
                                  </p:childTnLst>
                                </p:cTn>
                              </p:par>
                            </p:childTnLst>
                          </p:cTn>
                        </p:par>
                        <p:par>
                          <p:cTn id="36" fill="hold">
                            <p:stCondLst>
                              <p:cond delay="500"/>
                            </p:stCondLst>
                            <p:childTnLst>
                              <p:par>
                                <p:cTn id="37" presetID="16" presetClass="entr" presetSubtype="42" fill="hold" nodeType="afterEffect">
                                  <p:stCondLst>
                                    <p:cond delay="0"/>
                                  </p:stCondLst>
                                  <p:childTnLst>
                                    <p:set>
                                      <p:cBhvr>
                                        <p:cTn id="38" dur="1" fill="hold">
                                          <p:stCondLst>
                                            <p:cond delay="0"/>
                                          </p:stCondLst>
                                        </p:cTn>
                                        <p:tgtEl>
                                          <p:spTgt spid="182314"/>
                                        </p:tgtEl>
                                        <p:attrNameLst>
                                          <p:attrName>style.visibility</p:attrName>
                                        </p:attrNameLst>
                                      </p:cBhvr>
                                      <p:to>
                                        <p:strVal val="visible"/>
                                      </p:to>
                                    </p:set>
                                    <p:animEffect transition="in" filter="barn(outHorizontal)">
                                      <p:cBhvr>
                                        <p:cTn id="39" dur="500"/>
                                        <p:tgtEl>
                                          <p:spTgt spid="182314"/>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182330"/>
                                        </p:tgtEl>
                                        <p:attrNameLst>
                                          <p:attrName>style.visibility</p:attrName>
                                        </p:attrNameLst>
                                      </p:cBhvr>
                                      <p:to>
                                        <p:strVal val="visible"/>
                                      </p:to>
                                    </p:set>
                                    <p:animEffect transition="in" filter="blinds(horizontal)">
                                      <p:cBhvr>
                                        <p:cTn id="44" dur="500"/>
                                        <p:tgtEl>
                                          <p:spTgt spid="182330"/>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42" fill="hold" nodeType="clickEffect">
                                  <p:stCondLst>
                                    <p:cond delay="0"/>
                                  </p:stCondLst>
                                  <p:childTnLst>
                                    <p:set>
                                      <p:cBhvr>
                                        <p:cTn id="48" dur="1" fill="hold">
                                          <p:stCondLst>
                                            <p:cond delay="0"/>
                                          </p:stCondLst>
                                        </p:cTn>
                                        <p:tgtEl>
                                          <p:spTgt spid="182313"/>
                                        </p:tgtEl>
                                        <p:attrNameLst>
                                          <p:attrName>style.visibility</p:attrName>
                                        </p:attrNameLst>
                                      </p:cBhvr>
                                      <p:to>
                                        <p:strVal val="visible"/>
                                      </p:to>
                                    </p:set>
                                    <p:animEffect transition="in" filter="barn(outHorizontal)">
                                      <p:cBhvr>
                                        <p:cTn id="49" dur="500"/>
                                        <p:tgtEl>
                                          <p:spTgt spid="182313"/>
                                        </p:tgtEl>
                                      </p:cBhvr>
                                    </p:animEffect>
                                  </p:childTnLst>
                                </p:cTn>
                              </p:par>
                            </p:childTnLst>
                          </p:cTn>
                        </p:par>
                      </p:childTnLst>
                    </p:cTn>
                  </p:par>
                  <p:par>
                    <p:cTn id="50" fill="hold">
                      <p:stCondLst>
                        <p:cond delay="indefinite"/>
                      </p:stCondLst>
                      <p:childTnLst>
                        <p:par>
                          <p:cTn id="51" fill="hold">
                            <p:stCondLst>
                              <p:cond delay="0"/>
                            </p:stCondLst>
                            <p:childTnLst>
                              <p:par>
                                <p:cTn id="52" presetID="16" presetClass="entr" presetSubtype="42" fill="hold" nodeType="clickEffect">
                                  <p:stCondLst>
                                    <p:cond delay="0"/>
                                  </p:stCondLst>
                                  <p:childTnLst>
                                    <p:set>
                                      <p:cBhvr>
                                        <p:cTn id="53" dur="1" fill="hold">
                                          <p:stCondLst>
                                            <p:cond delay="0"/>
                                          </p:stCondLst>
                                        </p:cTn>
                                        <p:tgtEl>
                                          <p:spTgt spid="57"/>
                                        </p:tgtEl>
                                        <p:attrNameLst>
                                          <p:attrName>style.visibility</p:attrName>
                                        </p:attrNameLst>
                                      </p:cBhvr>
                                      <p:to>
                                        <p:strVal val="visible"/>
                                      </p:to>
                                    </p:set>
                                    <p:animEffect transition="in" filter="barn(outHorizontal)">
                                      <p:cBhvr>
                                        <p:cTn id="54" dur="500"/>
                                        <p:tgtEl>
                                          <p:spTgt spid="57"/>
                                        </p:tgtEl>
                                      </p:cBhvr>
                                    </p:animEffect>
                                  </p:childTnLst>
                                </p:cTn>
                              </p:par>
                            </p:childTnLst>
                          </p:cTn>
                        </p:par>
                      </p:childTnLst>
                    </p:cTn>
                  </p:par>
                  <p:par>
                    <p:cTn id="55" fill="hold">
                      <p:stCondLst>
                        <p:cond delay="indefinite"/>
                      </p:stCondLst>
                      <p:childTnLst>
                        <p:par>
                          <p:cTn id="56" fill="hold">
                            <p:stCondLst>
                              <p:cond delay="0"/>
                            </p:stCondLst>
                            <p:childTnLst>
                              <p:par>
                                <p:cTn id="57" presetID="16" presetClass="entr" presetSubtype="42" fill="hold" nodeType="clickEffect">
                                  <p:stCondLst>
                                    <p:cond delay="0"/>
                                  </p:stCondLst>
                                  <p:childTnLst>
                                    <p:set>
                                      <p:cBhvr>
                                        <p:cTn id="58" dur="1" fill="hold">
                                          <p:stCondLst>
                                            <p:cond delay="0"/>
                                          </p:stCondLst>
                                        </p:cTn>
                                        <p:tgtEl>
                                          <p:spTgt spid="182312"/>
                                        </p:tgtEl>
                                        <p:attrNameLst>
                                          <p:attrName>style.visibility</p:attrName>
                                        </p:attrNameLst>
                                      </p:cBhvr>
                                      <p:to>
                                        <p:strVal val="visible"/>
                                      </p:to>
                                    </p:set>
                                    <p:animEffect transition="in" filter="barn(outHorizontal)">
                                      <p:cBhvr>
                                        <p:cTn id="59" dur="500"/>
                                        <p:tgtEl>
                                          <p:spTgt spid="182312"/>
                                        </p:tgtEl>
                                      </p:cBhvr>
                                    </p:animEffect>
                                  </p:childTnLst>
                                </p:cTn>
                              </p:par>
                            </p:childTnLst>
                          </p:cTn>
                        </p:par>
                      </p:childTnLst>
                    </p:cTn>
                  </p:par>
                  <p:par>
                    <p:cTn id="60" fill="hold">
                      <p:stCondLst>
                        <p:cond delay="indefinite"/>
                      </p:stCondLst>
                      <p:childTnLst>
                        <p:par>
                          <p:cTn id="61" fill="hold">
                            <p:stCondLst>
                              <p:cond delay="0"/>
                            </p:stCondLst>
                            <p:childTnLst>
                              <p:par>
                                <p:cTn id="62" presetID="16" presetClass="entr" presetSubtype="42" fill="hold" grpId="0" nodeType="clickEffect">
                                  <p:stCondLst>
                                    <p:cond delay="0"/>
                                  </p:stCondLst>
                                  <p:childTnLst>
                                    <p:set>
                                      <p:cBhvr>
                                        <p:cTn id="63" dur="1" fill="hold">
                                          <p:stCondLst>
                                            <p:cond delay="0"/>
                                          </p:stCondLst>
                                        </p:cTn>
                                        <p:tgtEl>
                                          <p:spTgt spid="182311"/>
                                        </p:tgtEl>
                                        <p:attrNameLst>
                                          <p:attrName>style.visibility</p:attrName>
                                        </p:attrNameLst>
                                      </p:cBhvr>
                                      <p:to>
                                        <p:strVal val="visible"/>
                                      </p:to>
                                    </p:set>
                                    <p:animEffect transition="in" filter="barn(outHorizontal)">
                                      <p:cBhvr>
                                        <p:cTn id="64" dur="500"/>
                                        <p:tgtEl>
                                          <p:spTgt spid="182311"/>
                                        </p:tgtEl>
                                      </p:cBhvr>
                                    </p:animEffect>
                                  </p:childTnLst>
                                </p:cTn>
                              </p:par>
                            </p:childTnLst>
                          </p:cTn>
                        </p:par>
                      </p:childTnLst>
                    </p:cTn>
                  </p:par>
                  <p:par>
                    <p:cTn id="65" fill="hold">
                      <p:stCondLst>
                        <p:cond delay="indefinite"/>
                      </p:stCondLst>
                      <p:childTnLst>
                        <p:par>
                          <p:cTn id="66" fill="hold">
                            <p:stCondLst>
                              <p:cond delay="0"/>
                            </p:stCondLst>
                            <p:childTnLst>
                              <p:par>
                                <p:cTn id="67" presetID="16" presetClass="entr" presetSubtype="42" fill="hold" grpId="0" nodeType="clickEffect">
                                  <p:stCondLst>
                                    <p:cond delay="0"/>
                                  </p:stCondLst>
                                  <p:childTnLst>
                                    <p:set>
                                      <p:cBhvr>
                                        <p:cTn id="68" dur="1" fill="hold">
                                          <p:stCondLst>
                                            <p:cond delay="0"/>
                                          </p:stCondLst>
                                        </p:cTn>
                                        <p:tgtEl>
                                          <p:spTgt spid="182326"/>
                                        </p:tgtEl>
                                        <p:attrNameLst>
                                          <p:attrName>style.visibility</p:attrName>
                                        </p:attrNameLst>
                                      </p:cBhvr>
                                      <p:to>
                                        <p:strVal val="visible"/>
                                      </p:to>
                                    </p:set>
                                    <p:animEffect transition="in" filter="barn(outHorizontal)">
                                      <p:cBhvr>
                                        <p:cTn id="69" dur="500"/>
                                        <p:tgtEl>
                                          <p:spTgt spid="182326"/>
                                        </p:tgtEl>
                                      </p:cBhvr>
                                    </p:animEffect>
                                  </p:childTnLst>
                                </p:cTn>
                              </p:par>
                            </p:childTnLst>
                          </p:cTn>
                        </p:par>
                      </p:childTnLst>
                    </p:cTn>
                  </p:par>
                  <p:par>
                    <p:cTn id="70" fill="hold">
                      <p:stCondLst>
                        <p:cond delay="indefinite"/>
                      </p:stCondLst>
                      <p:childTnLst>
                        <p:par>
                          <p:cTn id="71" fill="hold">
                            <p:stCondLst>
                              <p:cond delay="0"/>
                            </p:stCondLst>
                            <p:childTnLst>
                              <p:par>
                                <p:cTn id="72" presetID="16" presetClass="entr" presetSubtype="42" fill="hold" grpId="0" nodeType="clickEffect">
                                  <p:stCondLst>
                                    <p:cond delay="0"/>
                                  </p:stCondLst>
                                  <p:childTnLst>
                                    <p:set>
                                      <p:cBhvr>
                                        <p:cTn id="73" dur="1" fill="hold">
                                          <p:stCondLst>
                                            <p:cond delay="0"/>
                                          </p:stCondLst>
                                        </p:cTn>
                                        <p:tgtEl>
                                          <p:spTgt spid="182316"/>
                                        </p:tgtEl>
                                        <p:attrNameLst>
                                          <p:attrName>style.visibility</p:attrName>
                                        </p:attrNameLst>
                                      </p:cBhvr>
                                      <p:to>
                                        <p:strVal val="visible"/>
                                      </p:to>
                                    </p:set>
                                    <p:animEffect transition="in" filter="barn(outHorizontal)">
                                      <p:cBhvr>
                                        <p:cTn id="74" dur="500"/>
                                        <p:tgtEl>
                                          <p:spTgt spid="182316"/>
                                        </p:tgtEl>
                                      </p:cBhvr>
                                    </p:animEffect>
                                  </p:childTnLst>
                                </p:cTn>
                              </p:par>
                            </p:childTnLst>
                          </p:cTn>
                        </p:par>
                      </p:childTnLst>
                    </p:cTn>
                  </p:par>
                  <p:par>
                    <p:cTn id="75" fill="hold">
                      <p:stCondLst>
                        <p:cond delay="indefinite"/>
                      </p:stCondLst>
                      <p:childTnLst>
                        <p:par>
                          <p:cTn id="76" fill="hold">
                            <p:stCondLst>
                              <p:cond delay="0"/>
                            </p:stCondLst>
                            <p:childTnLst>
                              <p:par>
                                <p:cTn id="77" presetID="16" presetClass="entr" presetSubtype="42" fill="hold" nodeType="clickEffect">
                                  <p:stCondLst>
                                    <p:cond delay="0"/>
                                  </p:stCondLst>
                                  <p:childTnLst>
                                    <p:set>
                                      <p:cBhvr>
                                        <p:cTn id="78" dur="1" fill="hold">
                                          <p:stCondLst>
                                            <p:cond delay="0"/>
                                          </p:stCondLst>
                                        </p:cTn>
                                        <p:tgtEl>
                                          <p:spTgt spid="182317"/>
                                        </p:tgtEl>
                                        <p:attrNameLst>
                                          <p:attrName>style.visibility</p:attrName>
                                        </p:attrNameLst>
                                      </p:cBhvr>
                                      <p:to>
                                        <p:strVal val="visible"/>
                                      </p:to>
                                    </p:set>
                                    <p:animEffect transition="in" filter="barn(outHorizontal)">
                                      <p:cBhvr>
                                        <p:cTn id="79" dur="500"/>
                                        <p:tgtEl>
                                          <p:spTgt spid="182317"/>
                                        </p:tgtEl>
                                      </p:cBhvr>
                                    </p:animEffect>
                                  </p:childTnLst>
                                </p:cTn>
                              </p:par>
                            </p:childTnLst>
                          </p:cTn>
                        </p:par>
                      </p:childTnLst>
                    </p:cTn>
                  </p:par>
                  <p:par>
                    <p:cTn id="80" fill="hold">
                      <p:stCondLst>
                        <p:cond delay="indefinite"/>
                      </p:stCondLst>
                      <p:childTnLst>
                        <p:par>
                          <p:cTn id="81" fill="hold">
                            <p:stCondLst>
                              <p:cond delay="0"/>
                            </p:stCondLst>
                            <p:childTnLst>
                              <p:par>
                                <p:cTn id="82" presetID="16" presetClass="entr" presetSubtype="42" fill="hold" nodeType="clickEffect">
                                  <p:stCondLst>
                                    <p:cond delay="0"/>
                                  </p:stCondLst>
                                  <p:childTnLst>
                                    <p:set>
                                      <p:cBhvr>
                                        <p:cTn id="83" dur="1" fill="hold">
                                          <p:stCondLst>
                                            <p:cond delay="0"/>
                                          </p:stCondLst>
                                        </p:cTn>
                                        <p:tgtEl>
                                          <p:spTgt spid="182318"/>
                                        </p:tgtEl>
                                        <p:attrNameLst>
                                          <p:attrName>style.visibility</p:attrName>
                                        </p:attrNameLst>
                                      </p:cBhvr>
                                      <p:to>
                                        <p:strVal val="visible"/>
                                      </p:to>
                                    </p:set>
                                    <p:animEffect transition="in" filter="barn(outHorizontal)">
                                      <p:cBhvr>
                                        <p:cTn id="84" dur="500"/>
                                        <p:tgtEl>
                                          <p:spTgt spid="182318"/>
                                        </p:tgtEl>
                                      </p:cBhvr>
                                    </p:animEffect>
                                  </p:childTnLst>
                                </p:cTn>
                              </p:par>
                            </p:childTnLst>
                          </p:cTn>
                        </p:par>
                      </p:childTnLst>
                    </p:cTn>
                  </p:par>
                  <p:par>
                    <p:cTn id="85" fill="hold">
                      <p:stCondLst>
                        <p:cond delay="indefinite"/>
                      </p:stCondLst>
                      <p:childTnLst>
                        <p:par>
                          <p:cTn id="86" fill="hold">
                            <p:stCondLst>
                              <p:cond delay="0"/>
                            </p:stCondLst>
                            <p:childTnLst>
                              <p:par>
                                <p:cTn id="87" presetID="3" presetClass="entr" presetSubtype="10" fill="hold" grpId="0" nodeType="clickEffect">
                                  <p:stCondLst>
                                    <p:cond delay="0"/>
                                  </p:stCondLst>
                                  <p:childTnLst>
                                    <p:set>
                                      <p:cBhvr>
                                        <p:cTn id="88" dur="1" fill="hold">
                                          <p:stCondLst>
                                            <p:cond delay="0"/>
                                          </p:stCondLst>
                                        </p:cTn>
                                        <p:tgtEl>
                                          <p:spTgt spid="182321"/>
                                        </p:tgtEl>
                                        <p:attrNameLst>
                                          <p:attrName>style.visibility</p:attrName>
                                        </p:attrNameLst>
                                      </p:cBhvr>
                                      <p:to>
                                        <p:strVal val="visible"/>
                                      </p:to>
                                    </p:set>
                                    <p:animEffect transition="in" filter="blinds(horizontal)">
                                      <p:cBhvr>
                                        <p:cTn id="89" dur="500"/>
                                        <p:tgtEl>
                                          <p:spTgt spid="182321"/>
                                        </p:tgtEl>
                                      </p:cBhvr>
                                    </p:animEffect>
                                  </p:childTnLst>
                                </p:cTn>
                              </p:par>
                            </p:childTnLst>
                          </p:cTn>
                        </p:par>
                      </p:childTnLst>
                    </p:cTn>
                  </p:par>
                  <p:par>
                    <p:cTn id="90" fill="hold">
                      <p:stCondLst>
                        <p:cond delay="indefinite"/>
                      </p:stCondLst>
                      <p:childTnLst>
                        <p:par>
                          <p:cTn id="91" fill="hold">
                            <p:stCondLst>
                              <p:cond delay="0"/>
                            </p:stCondLst>
                            <p:childTnLst>
                              <p:par>
                                <p:cTn id="92" presetID="3" presetClass="entr" presetSubtype="10" fill="hold" nodeType="clickEffect">
                                  <p:stCondLst>
                                    <p:cond delay="0"/>
                                  </p:stCondLst>
                                  <p:childTnLst>
                                    <p:set>
                                      <p:cBhvr>
                                        <p:cTn id="93" dur="1" fill="hold">
                                          <p:stCondLst>
                                            <p:cond delay="0"/>
                                          </p:stCondLst>
                                        </p:cTn>
                                        <p:tgtEl>
                                          <p:spTgt spid="182320"/>
                                        </p:tgtEl>
                                        <p:attrNameLst>
                                          <p:attrName>style.visibility</p:attrName>
                                        </p:attrNameLst>
                                      </p:cBhvr>
                                      <p:to>
                                        <p:strVal val="visible"/>
                                      </p:to>
                                    </p:set>
                                    <p:animEffect transition="in" filter="blinds(horizontal)">
                                      <p:cBhvr>
                                        <p:cTn id="94" dur="500"/>
                                        <p:tgtEl>
                                          <p:spTgt spid="182320"/>
                                        </p:tgtEl>
                                      </p:cBhvr>
                                    </p:animEffect>
                                  </p:childTnLst>
                                </p:cTn>
                              </p:par>
                            </p:childTnLst>
                          </p:cTn>
                        </p:par>
                      </p:childTnLst>
                    </p:cTn>
                  </p:par>
                  <p:par>
                    <p:cTn id="95" fill="hold">
                      <p:stCondLst>
                        <p:cond delay="indefinite"/>
                      </p:stCondLst>
                      <p:childTnLst>
                        <p:par>
                          <p:cTn id="96" fill="hold">
                            <p:stCondLst>
                              <p:cond delay="0"/>
                            </p:stCondLst>
                            <p:childTnLst>
                              <p:par>
                                <p:cTn id="97" presetID="16" presetClass="entr" presetSubtype="42" fill="hold" nodeType="clickEffect">
                                  <p:stCondLst>
                                    <p:cond delay="0"/>
                                  </p:stCondLst>
                                  <p:childTnLst>
                                    <p:set>
                                      <p:cBhvr>
                                        <p:cTn id="98" dur="1" fill="hold">
                                          <p:stCondLst>
                                            <p:cond delay="0"/>
                                          </p:stCondLst>
                                        </p:cTn>
                                        <p:tgtEl>
                                          <p:spTgt spid="182322"/>
                                        </p:tgtEl>
                                        <p:attrNameLst>
                                          <p:attrName>style.visibility</p:attrName>
                                        </p:attrNameLst>
                                      </p:cBhvr>
                                      <p:to>
                                        <p:strVal val="visible"/>
                                      </p:to>
                                    </p:set>
                                    <p:animEffect transition="in" filter="barn(outHorizontal)">
                                      <p:cBhvr>
                                        <p:cTn id="99" dur="500"/>
                                        <p:tgtEl>
                                          <p:spTgt spid="182322"/>
                                        </p:tgtEl>
                                      </p:cBhvr>
                                    </p:animEffect>
                                  </p:childTnLst>
                                </p:cTn>
                              </p:par>
                            </p:childTnLst>
                          </p:cTn>
                        </p:par>
                      </p:childTnLst>
                    </p:cTn>
                  </p:par>
                  <p:par>
                    <p:cTn id="100" fill="hold">
                      <p:stCondLst>
                        <p:cond delay="indefinite"/>
                      </p:stCondLst>
                      <p:childTnLst>
                        <p:par>
                          <p:cTn id="101" fill="hold">
                            <p:stCondLst>
                              <p:cond delay="0"/>
                            </p:stCondLst>
                            <p:childTnLst>
                              <p:par>
                                <p:cTn id="102" presetID="16" presetClass="entr" presetSubtype="42" fill="hold" grpId="0" nodeType="clickEffect">
                                  <p:stCondLst>
                                    <p:cond delay="0"/>
                                  </p:stCondLst>
                                  <p:childTnLst>
                                    <p:set>
                                      <p:cBhvr>
                                        <p:cTn id="103" dur="1" fill="hold">
                                          <p:stCondLst>
                                            <p:cond delay="0"/>
                                          </p:stCondLst>
                                        </p:cTn>
                                        <p:tgtEl>
                                          <p:spTgt spid="182323"/>
                                        </p:tgtEl>
                                        <p:attrNameLst>
                                          <p:attrName>style.visibility</p:attrName>
                                        </p:attrNameLst>
                                      </p:cBhvr>
                                      <p:to>
                                        <p:strVal val="visible"/>
                                      </p:to>
                                    </p:set>
                                    <p:animEffect transition="in" filter="barn(outHorizontal)">
                                      <p:cBhvr>
                                        <p:cTn id="104" dur="500"/>
                                        <p:tgtEl>
                                          <p:spTgt spid="182323"/>
                                        </p:tgtEl>
                                      </p:cBhvr>
                                    </p:animEffect>
                                  </p:childTnLst>
                                </p:cTn>
                              </p:par>
                            </p:childTnLst>
                          </p:cTn>
                        </p:par>
                      </p:childTnLst>
                    </p:cTn>
                  </p:par>
                  <p:par>
                    <p:cTn id="105" fill="hold">
                      <p:stCondLst>
                        <p:cond delay="indefinite"/>
                      </p:stCondLst>
                      <p:childTnLst>
                        <p:par>
                          <p:cTn id="106" fill="hold">
                            <p:stCondLst>
                              <p:cond delay="0"/>
                            </p:stCondLst>
                            <p:childTnLst>
                              <p:par>
                                <p:cTn id="107" presetID="16" presetClass="entr" presetSubtype="42" fill="hold" nodeType="clickEffect">
                                  <p:stCondLst>
                                    <p:cond delay="0"/>
                                  </p:stCondLst>
                                  <p:childTnLst>
                                    <p:set>
                                      <p:cBhvr>
                                        <p:cTn id="108" dur="1" fill="hold">
                                          <p:stCondLst>
                                            <p:cond delay="0"/>
                                          </p:stCondLst>
                                        </p:cTn>
                                        <p:tgtEl>
                                          <p:spTgt spid="182325"/>
                                        </p:tgtEl>
                                        <p:attrNameLst>
                                          <p:attrName>style.visibility</p:attrName>
                                        </p:attrNameLst>
                                      </p:cBhvr>
                                      <p:to>
                                        <p:strVal val="visible"/>
                                      </p:to>
                                    </p:set>
                                    <p:animEffect transition="in" filter="barn(outHorizontal)">
                                      <p:cBhvr>
                                        <p:cTn id="109" dur="500"/>
                                        <p:tgtEl>
                                          <p:spTgt spid="182325"/>
                                        </p:tgtEl>
                                      </p:cBhvr>
                                    </p:animEffect>
                                  </p:childTnLst>
                                </p:cTn>
                              </p:par>
                            </p:childTnLst>
                          </p:cTn>
                        </p:par>
                      </p:childTnLst>
                    </p:cTn>
                  </p:par>
                  <p:par>
                    <p:cTn id="110" fill="hold">
                      <p:stCondLst>
                        <p:cond delay="indefinite"/>
                      </p:stCondLst>
                      <p:childTnLst>
                        <p:par>
                          <p:cTn id="111" fill="hold">
                            <p:stCondLst>
                              <p:cond delay="0"/>
                            </p:stCondLst>
                            <p:childTnLst>
                              <p:par>
                                <p:cTn id="112" presetID="16" presetClass="entr" presetSubtype="42" fill="hold" grpId="0" nodeType="clickEffect">
                                  <p:stCondLst>
                                    <p:cond delay="0"/>
                                  </p:stCondLst>
                                  <p:childTnLst>
                                    <p:set>
                                      <p:cBhvr>
                                        <p:cTn id="113" dur="1" fill="hold">
                                          <p:stCondLst>
                                            <p:cond delay="0"/>
                                          </p:stCondLst>
                                        </p:cTn>
                                        <p:tgtEl>
                                          <p:spTgt spid="2"/>
                                        </p:tgtEl>
                                        <p:attrNameLst>
                                          <p:attrName>style.visibility</p:attrName>
                                        </p:attrNameLst>
                                      </p:cBhvr>
                                      <p:to>
                                        <p:strVal val="visible"/>
                                      </p:to>
                                    </p:set>
                                    <p:animEffect transition="in" filter="barn(outHorizontal)">
                                      <p:cBhvr>
                                        <p:cTn id="114" dur="500"/>
                                        <p:tgtEl>
                                          <p:spTgt spid="2"/>
                                        </p:tgtEl>
                                      </p:cBhvr>
                                    </p:animEffect>
                                  </p:childTnLst>
                                </p:cTn>
                              </p:par>
                            </p:childTnLst>
                          </p:cTn>
                        </p:par>
                      </p:childTnLst>
                    </p:cTn>
                  </p:par>
                  <p:par>
                    <p:cTn id="115" fill="hold">
                      <p:stCondLst>
                        <p:cond delay="indefinite"/>
                      </p:stCondLst>
                      <p:childTnLst>
                        <p:par>
                          <p:cTn id="116" fill="hold">
                            <p:stCondLst>
                              <p:cond delay="0"/>
                            </p:stCondLst>
                            <p:childTnLst>
                              <p:par>
                                <p:cTn id="117" presetID="16" presetClass="entr" presetSubtype="42" fill="hold" nodeType="clickEffect">
                                  <p:stCondLst>
                                    <p:cond delay="0"/>
                                  </p:stCondLst>
                                  <p:childTnLst>
                                    <p:set>
                                      <p:cBhvr>
                                        <p:cTn id="118" dur="1" fill="hold">
                                          <p:stCondLst>
                                            <p:cond delay="0"/>
                                          </p:stCondLst>
                                        </p:cTn>
                                        <p:tgtEl>
                                          <p:spTgt spid="3"/>
                                        </p:tgtEl>
                                        <p:attrNameLst>
                                          <p:attrName>style.visibility</p:attrName>
                                        </p:attrNameLst>
                                      </p:cBhvr>
                                      <p:to>
                                        <p:strVal val="visible"/>
                                      </p:to>
                                    </p:set>
                                    <p:animEffect transition="in" filter="barn(outHorizontal)">
                                      <p:cBhvr>
                                        <p:cTn id="119" dur="500"/>
                                        <p:tgtEl>
                                          <p:spTgt spid="3"/>
                                        </p:tgtEl>
                                      </p:cBhvr>
                                    </p:animEffect>
                                  </p:childTnLst>
                                </p:cTn>
                              </p:par>
                            </p:childTnLst>
                          </p:cTn>
                        </p:par>
                      </p:childTnLst>
                    </p:cTn>
                  </p:par>
                  <p:par>
                    <p:cTn id="120" fill="hold">
                      <p:stCondLst>
                        <p:cond delay="indefinite"/>
                      </p:stCondLst>
                      <p:childTnLst>
                        <p:par>
                          <p:cTn id="121" fill="hold">
                            <p:stCondLst>
                              <p:cond delay="0"/>
                            </p:stCondLst>
                            <p:childTnLst>
                              <p:par>
                                <p:cTn id="122" presetID="16" presetClass="entr" presetSubtype="42" fill="hold" grpId="0" nodeType="clickEffect">
                                  <p:stCondLst>
                                    <p:cond delay="0"/>
                                  </p:stCondLst>
                                  <p:childTnLst>
                                    <p:set>
                                      <p:cBhvr>
                                        <p:cTn id="123" dur="1" fill="hold">
                                          <p:stCondLst>
                                            <p:cond delay="0"/>
                                          </p:stCondLst>
                                        </p:cTn>
                                        <p:tgtEl>
                                          <p:spTgt spid="4"/>
                                        </p:tgtEl>
                                        <p:attrNameLst>
                                          <p:attrName>style.visibility</p:attrName>
                                        </p:attrNameLst>
                                      </p:cBhvr>
                                      <p:to>
                                        <p:strVal val="visible"/>
                                      </p:to>
                                    </p:set>
                                    <p:animEffect transition="in" filter="barn(outHorizontal)">
                                      <p:cBhvr>
                                        <p:cTn id="12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6" grpId="0"/>
      <p:bldP spid="182311" grpId="0" autoUpdateAnimBg="0" rev="1"/>
      <p:bldP spid="182315" grpId="0"/>
      <p:bldP spid="182316" grpId="0"/>
      <p:bldP spid="182321" grpId="0"/>
      <p:bldP spid="182323" grpId="0"/>
      <p:bldP spid="182326" grpId="0" autoUpdateAnimBg="0" rev="1"/>
      <p:bldP spid="182330" grpId="0"/>
      <p:bldP spid="182331" grpId="0"/>
      <p:bldP spid="2" grpId="0"/>
      <p:bldP spid="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3301" name="Group 5"/>
          <p:cNvGrpSpPr>
            <a:grpSpLocks/>
          </p:cNvGrpSpPr>
          <p:nvPr/>
        </p:nvGrpSpPr>
        <p:grpSpPr bwMode="auto">
          <a:xfrm>
            <a:off x="596901" y="892977"/>
            <a:ext cx="3505200" cy="2027238"/>
            <a:chOff x="180" y="855"/>
            <a:chExt cx="2208" cy="1277"/>
          </a:xfrm>
        </p:grpSpPr>
        <p:sp>
          <p:nvSpPr>
            <p:cNvPr id="29733" name="Rectangle 6" descr="窄横线"/>
            <p:cNvSpPr>
              <a:spLocks noChangeArrowheads="1"/>
            </p:cNvSpPr>
            <p:nvPr/>
          </p:nvSpPr>
          <p:spPr bwMode="auto">
            <a:xfrm>
              <a:off x="184" y="1080"/>
              <a:ext cx="1864" cy="376"/>
            </a:xfrm>
            <a:prstGeom prst="rect">
              <a:avLst/>
            </a:prstGeom>
            <a:pattFill prst="narHorz">
              <a:fgClr>
                <a:srgbClr val="003366"/>
              </a:fgClr>
              <a:bgClr>
                <a:schemeClr val="accent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29734" name="Rectangle 7"/>
            <p:cNvSpPr>
              <a:spLocks noChangeArrowheads="1"/>
            </p:cNvSpPr>
            <p:nvPr/>
          </p:nvSpPr>
          <p:spPr bwMode="auto">
            <a:xfrm>
              <a:off x="568" y="1176"/>
              <a:ext cx="1096" cy="18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29735" name="Line 8"/>
            <p:cNvSpPr>
              <a:spLocks noChangeShapeType="1"/>
            </p:cNvSpPr>
            <p:nvPr/>
          </p:nvSpPr>
          <p:spPr bwMode="auto">
            <a:xfrm>
              <a:off x="180" y="932"/>
              <a:ext cx="0" cy="672"/>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36" name="Line 9"/>
            <p:cNvSpPr>
              <a:spLocks noChangeShapeType="1"/>
            </p:cNvSpPr>
            <p:nvPr/>
          </p:nvSpPr>
          <p:spPr bwMode="auto">
            <a:xfrm>
              <a:off x="2052" y="1268"/>
              <a:ext cx="336" cy="0"/>
            </a:xfrm>
            <a:prstGeom prst="line">
              <a:avLst/>
            </a:prstGeom>
            <a:noFill/>
            <a:ln w="25400">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37" name="Rectangle 10"/>
            <p:cNvSpPr>
              <a:spLocks noChangeArrowheads="1"/>
            </p:cNvSpPr>
            <p:nvPr/>
          </p:nvSpPr>
          <p:spPr bwMode="auto">
            <a:xfrm>
              <a:off x="2138" y="1047"/>
              <a:ext cx="22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dirty="0">
                  <a:solidFill>
                    <a:srgbClr val="FF0000"/>
                  </a:solidFill>
                  <a:latin typeface="Times New Roman" panose="02020603050405020304" pitchFamily="18" charset="0"/>
                  <a:ea typeface="宋体" panose="02010600030101010101" pitchFamily="2" charset="-122"/>
                </a:rPr>
                <a:t>F</a:t>
              </a:r>
            </a:p>
          </p:txBody>
        </p:sp>
        <p:sp>
          <p:nvSpPr>
            <p:cNvPr id="29738" name="Line 11"/>
            <p:cNvSpPr>
              <a:spLocks noChangeShapeType="1"/>
            </p:cNvSpPr>
            <p:nvPr/>
          </p:nvSpPr>
          <p:spPr bwMode="auto">
            <a:xfrm>
              <a:off x="180" y="1700"/>
              <a:ext cx="0" cy="38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39" name="Line 12"/>
            <p:cNvSpPr>
              <a:spLocks noChangeShapeType="1"/>
            </p:cNvSpPr>
            <p:nvPr/>
          </p:nvSpPr>
          <p:spPr bwMode="auto">
            <a:xfrm>
              <a:off x="2052" y="1508"/>
              <a:ext cx="0" cy="62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40" name="Line 13"/>
            <p:cNvSpPr>
              <a:spLocks noChangeShapeType="1"/>
            </p:cNvSpPr>
            <p:nvPr/>
          </p:nvSpPr>
          <p:spPr bwMode="auto">
            <a:xfrm>
              <a:off x="564" y="1508"/>
              <a:ext cx="0" cy="38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41" name="Line 14"/>
            <p:cNvSpPr>
              <a:spLocks noChangeShapeType="1"/>
            </p:cNvSpPr>
            <p:nvPr/>
          </p:nvSpPr>
          <p:spPr bwMode="auto">
            <a:xfrm>
              <a:off x="1668" y="1508"/>
              <a:ext cx="0" cy="38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42" name="Line 15"/>
            <p:cNvSpPr>
              <a:spLocks noChangeShapeType="1"/>
            </p:cNvSpPr>
            <p:nvPr/>
          </p:nvSpPr>
          <p:spPr bwMode="auto">
            <a:xfrm>
              <a:off x="180" y="1844"/>
              <a:ext cx="384" cy="0"/>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43" name="Line 16"/>
            <p:cNvSpPr>
              <a:spLocks noChangeShapeType="1"/>
            </p:cNvSpPr>
            <p:nvPr/>
          </p:nvSpPr>
          <p:spPr bwMode="auto">
            <a:xfrm>
              <a:off x="1668" y="1844"/>
              <a:ext cx="384" cy="0"/>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9744" name="Object 17"/>
            <p:cNvGraphicFramePr>
              <a:graphicFrameLocks/>
            </p:cNvGraphicFramePr>
            <p:nvPr/>
          </p:nvGraphicFramePr>
          <p:xfrm>
            <a:off x="282" y="1540"/>
            <a:ext cx="198" cy="256"/>
          </p:xfrm>
          <a:graphic>
            <a:graphicData uri="http://schemas.openxmlformats.org/presentationml/2006/ole">
              <mc:AlternateContent xmlns:mc="http://schemas.openxmlformats.org/markup-compatibility/2006">
                <mc:Choice xmlns:v="urn:schemas-microsoft-com:vml" Requires="v">
                  <p:oleObj name="Equation" r:id="rId2" imgW="218970" imgH="285750" progId="Equation.2">
                    <p:embed/>
                  </p:oleObj>
                </mc:Choice>
                <mc:Fallback>
                  <p:oleObj name="Equation" r:id="rId2" imgW="218970" imgH="285750" progId="Equation.2">
                    <p:embed/>
                    <p:pic>
                      <p:nvPicPr>
                        <p:cNvPr id="0" nam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 y="1540"/>
                          <a:ext cx="198" cy="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45" name="Object 18"/>
            <p:cNvGraphicFramePr>
              <a:graphicFrameLocks/>
            </p:cNvGraphicFramePr>
            <p:nvPr/>
          </p:nvGraphicFramePr>
          <p:xfrm>
            <a:off x="1770" y="1540"/>
            <a:ext cx="198" cy="256"/>
          </p:xfrm>
          <a:graphic>
            <a:graphicData uri="http://schemas.openxmlformats.org/presentationml/2006/ole">
              <mc:AlternateContent xmlns:mc="http://schemas.openxmlformats.org/markup-compatibility/2006">
                <mc:Choice xmlns:v="urn:schemas-microsoft-com:vml" Requires="v">
                  <p:oleObj name="Equation" r:id="rId4" imgW="218970" imgH="285750" progId="Equation.2">
                    <p:embed/>
                  </p:oleObj>
                </mc:Choice>
                <mc:Fallback>
                  <p:oleObj name="Equation" r:id="rId4" imgW="218970" imgH="285750" progId="Equation.2">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70" y="1540"/>
                          <a:ext cx="198" cy="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746" name="Line 19"/>
            <p:cNvSpPr>
              <a:spLocks noChangeShapeType="1"/>
            </p:cNvSpPr>
            <p:nvPr/>
          </p:nvSpPr>
          <p:spPr bwMode="auto">
            <a:xfrm>
              <a:off x="180" y="1988"/>
              <a:ext cx="1872" cy="0"/>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9747" name="Object 20"/>
            <p:cNvGraphicFramePr>
              <a:graphicFrameLocks/>
            </p:cNvGraphicFramePr>
            <p:nvPr>
              <p:extLst>
                <p:ext uri="{D42A27DB-BD31-4B8C-83A1-F6EECF244321}">
                  <p14:modId xmlns:p14="http://schemas.microsoft.com/office/powerpoint/2010/main" val="1355330140"/>
                </p:ext>
              </p:extLst>
            </p:nvPr>
          </p:nvGraphicFramePr>
          <p:xfrm>
            <a:off x="1044" y="1823"/>
            <a:ext cx="169" cy="147"/>
          </p:xfrm>
          <a:graphic>
            <a:graphicData uri="http://schemas.openxmlformats.org/presentationml/2006/ole">
              <mc:AlternateContent xmlns:mc="http://schemas.openxmlformats.org/markup-compatibility/2006">
                <mc:Choice xmlns:v="urn:schemas-microsoft-com:vml" Requires="v">
                  <p:oleObj name="Equation" r:id="rId6" imgW="171450" imgH="152310" progId="Equation.2">
                    <p:embed/>
                  </p:oleObj>
                </mc:Choice>
                <mc:Fallback>
                  <p:oleObj name="Equation" r:id="rId6" imgW="171450" imgH="152310" progId="Equation.2">
                    <p:embed/>
                    <p:pic>
                      <p:nvPicPr>
                        <p:cNvPr id="0" nam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44" y="1823"/>
                          <a:ext cx="169" cy="147"/>
                        </a:xfrm>
                        <a:prstGeom prst="rect">
                          <a:avLst/>
                        </a:prstGeom>
                        <a:noFill/>
                        <a:ln>
                          <a:noFill/>
                        </a:ln>
                        <a:effectLst/>
                      </p:spPr>
                    </p:pic>
                  </p:oleObj>
                </mc:Fallback>
              </mc:AlternateContent>
            </a:graphicData>
          </a:graphic>
        </p:graphicFrame>
        <p:sp>
          <p:nvSpPr>
            <p:cNvPr id="29748" name="Line 21"/>
            <p:cNvSpPr>
              <a:spLocks noChangeShapeType="1"/>
            </p:cNvSpPr>
            <p:nvPr/>
          </p:nvSpPr>
          <p:spPr bwMode="auto">
            <a:xfrm>
              <a:off x="468" y="1028"/>
              <a:ext cx="0" cy="480"/>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49" name="Rectangle 22"/>
            <p:cNvSpPr>
              <a:spLocks noChangeArrowheads="1"/>
            </p:cNvSpPr>
            <p:nvPr/>
          </p:nvSpPr>
          <p:spPr bwMode="auto">
            <a:xfrm>
              <a:off x="458" y="855"/>
              <a:ext cx="32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a:latin typeface="Times New Roman" panose="02020603050405020304" pitchFamily="18" charset="0"/>
                  <a:ea typeface="宋体" panose="02010600030101010101" pitchFamily="2" charset="-122"/>
                </a:rPr>
                <a:t>1-1</a:t>
              </a:r>
            </a:p>
          </p:txBody>
        </p:sp>
        <p:sp>
          <p:nvSpPr>
            <p:cNvPr id="29750" name="Line 23"/>
            <p:cNvSpPr>
              <a:spLocks noChangeShapeType="1"/>
            </p:cNvSpPr>
            <p:nvPr/>
          </p:nvSpPr>
          <p:spPr bwMode="auto">
            <a:xfrm>
              <a:off x="804" y="1028"/>
              <a:ext cx="0" cy="480"/>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51" name="Rectangle 24"/>
            <p:cNvSpPr>
              <a:spLocks noChangeArrowheads="1"/>
            </p:cNvSpPr>
            <p:nvPr/>
          </p:nvSpPr>
          <p:spPr bwMode="auto">
            <a:xfrm>
              <a:off x="794" y="855"/>
              <a:ext cx="32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a:latin typeface="Times New Roman" panose="02020603050405020304" pitchFamily="18" charset="0"/>
                  <a:ea typeface="宋体" panose="02010600030101010101" pitchFamily="2" charset="-122"/>
                </a:rPr>
                <a:t>2-2</a:t>
              </a:r>
            </a:p>
          </p:txBody>
        </p:sp>
        <p:sp>
          <p:nvSpPr>
            <p:cNvPr id="29752" name="Line 25"/>
            <p:cNvSpPr>
              <a:spLocks noChangeShapeType="1"/>
            </p:cNvSpPr>
            <p:nvPr/>
          </p:nvSpPr>
          <p:spPr bwMode="auto">
            <a:xfrm>
              <a:off x="1812" y="1028"/>
              <a:ext cx="0" cy="480"/>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53" name="Rectangle 26"/>
            <p:cNvSpPr>
              <a:spLocks noChangeArrowheads="1"/>
            </p:cNvSpPr>
            <p:nvPr/>
          </p:nvSpPr>
          <p:spPr bwMode="auto">
            <a:xfrm>
              <a:off x="1802" y="855"/>
              <a:ext cx="32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a:latin typeface="Times New Roman" panose="02020603050405020304" pitchFamily="18" charset="0"/>
                  <a:ea typeface="宋体" panose="02010600030101010101" pitchFamily="2" charset="-122"/>
                </a:rPr>
                <a:t>3-3</a:t>
              </a:r>
            </a:p>
          </p:txBody>
        </p:sp>
        <p:sp>
          <p:nvSpPr>
            <p:cNvPr id="29754" name="Line 27"/>
            <p:cNvSpPr>
              <a:spLocks noChangeShapeType="1"/>
            </p:cNvSpPr>
            <p:nvPr/>
          </p:nvSpPr>
          <p:spPr bwMode="auto">
            <a:xfrm flipH="1">
              <a:off x="1284" y="1268"/>
              <a:ext cx="384" cy="0"/>
            </a:xfrm>
            <a:prstGeom prst="line">
              <a:avLst/>
            </a:prstGeom>
            <a:noFill/>
            <a:ln w="25400">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55" name="Rectangle 28"/>
            <p:cNvSpPr>
              <a:spLocks noChangeArrowheads="1"/>
            </p:cNvSpPr>
            <p:nvPr/>
          </p:nvSpPr>
          <p:spPr bwMode="auto">
            <a:xfrm>
              <a:off x="1026" y="1127"/>
              <a:ext cx="30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dirty="0">
                  <a:solidFill>
                    <a:srgbClr val="FF0000"/>
                  </a:solidFill>
                  <a:latin typeface="Times New Roman" panose="02020603050405020304" pitchFamily="18" charset="0"/>
                  <a:ea typeface="宋体" panose="02010600030101010101" pitchFamily="2" charset="-122"/>
                </a:rPr>
                <a:t>3</a:t>
              </a:r>
              <a:r>
                <a:rPr kumimoji="1" lang="en-US" altLang="zh-CN" sz="2000" b="1" i="1" dirty="0">
                  <a:solidFill>
                    <a:srgbClr val="FF0000"/>
                  </a:solidFill>
                  <a:latin typeface="Times New Roman" panose="02020603050405020304" pitchFamily="18" charset="0"/>
                  <a:ea typeface="宋体" panose="02010600030101010101" pitchFamily="2" charset="-122"/>
                </a:rPr>
                <a:t>F</a:t>
              </a:r>
            </a:p>
          </p:txBody>
        </p:sp>
      </p:grpSp>
      <p:grpSp>
        <p:nvGrpSpPr>
          <p:cNvPr id="183362" name="Group 66"/>
          <p:cNvGrpSpPr>
            <a:grpSpLocks/>
          </p:cNvGrpSpPr>
          <p:nvPr/>
        </p:nvGrpSpPr>
        <p:grpSpPr bwMode="auto">
          <a:xfrm>
            <a:off x="4098927" y="946158"/>
            <a:ext cx="1206500" cy="1503363"/>
            <a:chOff x="2392" y="891"/>
            <a:chExt cx="760" cy="947"/>
          </a:xfrm>
        </p:grpSpPr>
        <p:sp>
          <p:nvSpPr>
            <p:cNvPr id="29729" name="Rectangle 30" descr="斜纹布"/>
            <p:cNvSpPr>
              <a:spLocks noChangeArrowheads="1"/>
            </p:cNvSpPr>
            <p:nvPr/>
          </p:nvSpPr>
          <p:spPr bwMode="auto">
            <a:xfrm>
              <a:off x="2481" y="891"/>
              <a:ext cx="350" cy="384"/>
            </a:xfrm>
            <a:prstGeom prst="rect">
              <a:avLst/>
            </a:prstGeom>
            <a:blipFill dpi="0" rotWithShape="0">
              <a:blip r:embed="rId8"/>
              <a:srcRect/>
              <a:tile tx="0" ty="0" sx="100000" sy="100000" flip="none" algn="tl"/>
            </a:bli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29730" name="Rectangle 31"/>
            <p:cNvSpPr>
              <a:spLocks noChangeArrowheads="1"/>
            </p:cNvSpPr>
            <p:nvPr/>
          </p:nvSpPr>
          <p:spPr bwMode="auto">
            <a:xfrm>
              <a:off x="2810" y="928"/>
              <a:ext cx="30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i="1" dirty="0">
                  <a:latin typeface="Times New Roman" panose="02020603050405020304" pitchFamily="18" charset="0"/>
                  <a:ea typeface="宋体" panose="02010600030101010101" pitchFamily="2" charset="-122"/>
                </a:rPr>
                <a:t>a</a:t>
              </a:r>
            </a:p>
          </p:txBody>
        </p:sp>
        <p:sp>
          <p:nvSpPr>
            <p:cNvPr id="29731" name="Rectangle 32"/>
            <p:cNvSpPr>
              <a:spLocks noChangeArrowheads="1"/>
            </p:cNvSpPr>
            <p:nvPr/>
          </p:nvSpPr>
          <p:spPr bwMode="auto">
            <a:xfrm>
              <a:off x="2563" y="1189"/>
              <a:ext cx="27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i="1" dirty="0">
                  <a:latin typeface="Times New Roman" panose="02020603050405020304" pitchFamily="18" charset="0"/>
                  <a:ea typeface="宋体" panose="02010600030101010101" pitchFamily="2" charset="-122"/>
                </a:rPr>
                <a:t>a</a:t>
              </a:r>
            </a:p>
          </p:txBody>
        </p:sp>
        <p:sp>
          <p:nvSpPr>
            <p:cNvPr id="29732" name="Rectangle 33"/>
            <p:cNvSpPr>
              <a:spLocks noChangeArrowheads="1"/>
            </p:cNvSpPr>
            <p:nvPr/>
          </p:nvSpPr>
          <p:spPr bwMode="auto">
            <a:xfrm>
              <a:off x="2392" y="1392"/>
              <a:ext cx="760"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dirty="0">
                  <a:latin typeface="Times New Roman" panose="02020603050405020304" pitchFamily="18" charset="0"/>
                  <a:ea typeface="楷体_GB2312" pitchFamily="49" charset="-122"/>
                </a:rPr>
                <a:t>1</a:t>
              </a:r>
              <a:r>
                <a:rPr kumimoji="1" lang="en-US" altLang="zh-CN" sz="2000" b="1" dirty="0">
                  <a:latin typeface="Times New Roman" panose="02020603050405020304" pitchFamily="18" charset="0"/>
                  <a:ea typeface="楷体_GB2312" pitchFamily="49" charset="-122"/>
                </a:rPr>
                <a:t>-</a:t>
              </a:r>
              <a:r>
                <a:rPr kumimoji="1" lang="en-US" altLang="zh-CN" sz="2000" dirty="0">
                  <a:latin typeface="Times New Roman" panose="02020603050405020304" pitchFamily="18" charset="0"/>
                  <a:ea typeface="楷体_GB2312" pitchFamily="49" charset="-122"/>
                </a:rPr>
                <a:t>1</a:t>
              </a:r>
              <a:r>
                <a:rPr kumimoji="1" lang="zh-CN" altLang="en-US" sz="2000" b="1" dirty="0">
                  <a:latin typeface="楷体" panose="02010609060101010101" pitchFamily="49" charset="-122"/>
                  <a:ea typeface="楷体" panose="02010609060101010101" pitchFamily="49" charset="-122"/>
                </a:rPr>
                <a:t>截面</a:t>
              </a:r>
            </a:p>
            <a:p>
              <a:r>
                <a:rPr kumimoji="1" lang="en-US" altLang="zh-CN" sz="2000" dirty="0">
                  <a:latin typeface="Times New Roman" panose="02020603050405020304" pitchFamily="18" charset="0"/>
                  <a:ea typeface="楷体_GB2312" pitchFamily="49" charset="-122"/>
                </a:rPr>
                <a:t>3</a:t>
              </a:r>
              <a:r>
                <a:rPr kumimoji="1" lang="en-US" altLang="zh-CN" sz="2000" b="1" dirty="0">
                  <a:latin typeface="Times New Roman" panose="02020603050405020304" pitchFamily="18" charset="0"/>
                  <a:ea typeface="楷体_GB2312" pitchFamily="49" charset="-122"/>
                </a:rPr>
                <a:t>-</a:t>
              </a:r>
              <a:r>
                <a:rPr kumimoji="1" lang="en-US" altLang="zh-CN" sz="2000" dirty="0">
                  <a:latin typeface="Times New Roman" panose="02020603050405020304" pitchFamily="18" charset="0"/>
                  <a:ea typeface="楷体_GB2312" pitchFamily="49" charset="-122"/>
                </a:rPr>
                <a:t>3</a:t>
              </a:r>
              <a:r>
                <a:rPr kumimoji="1" lang="zh-CN" altLang="en-US" sz="2000" b="1" dirty="0">
                  <a:latin typeface="楷体" panose="02010609060101010101" pitchFamily="49" charset="-122"/>
                  <a:ea typeface="楷体" panose="02010609060101010101" pitchFamily="49" charset="-122"/>
                </a:rPr>
                <a:t>截面</a:t>
              </a:r>
            </a:p>
          </p:txBody>
        </p:sp>
      </p:grpSp>
      <p:grpSp>
        <p:nvGrpSpPr>
          <p:cNvPr id="183361" name="Group 65"/>
          <p:cNvGrpSpPr>
            <a:grpSpLocks/>
          </p:cNvGrpSpPr>
          <p:nvPr/>
        </p:nvGrpSpPr>
        <p:grpSpPr bwMode="auto">
          <a:xfrm>
            <a:off x="4054723" y="2582434"/>
            <a:ext cx="1309688" cy="1187450"/>
            <a:chOff x="2400" y="2064"/>
            <a:chExt cx="825" cy="748"/>
          </a:xfrm>
        </p:grpSpPr>
        <p:sp>
          <p:nvSpPr>
            <p:cNvPr id="29723" name="Rectangle 35"/>
            <p:cNvSpPr>
              <a:spLocks noChangeArrowheads="1"/>
            </p:cNvSpPr>
            <p:nvPr/>
          </p:nvSpPr>
          <p:spPr bwMode="auto">
            <a:xfrm>
              <a:off x="2585" y="2380"/>
              <a:ext cx="26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i="1" dirty="0">
                  <a:latin typeface="Times New Roman" panose="02020603050405020304" pitchFamily="18" charset="0"/>
                  <a:ea typeface="宋体" panose="02010600030101010101" pitchFamily="2" charset="-122"/>
                </a:rPr>
                <a:t>a</a:t>
              </a:r>
            </a:p>
          </p:txBody>
        </p:sp>
        <p:grpSp>
          <p:nvGrpSpPr>
            <p:cNvPr id="29724" name="Group 36"/>
            <p:cNvGrpSpPr>
              <a:grpSpLocks/>
            </p:cNvGrpSpPr>
            <p:nvPr/>
          </p:nvGrpSpPr>
          <p:grpSpPr bwMode="auto">
            <a:xfrm>
              <a:off x="2517" y="2064"/>
              <a:ext cx="358" cy="384"/>
              <a:chOff x="2480" y="2008"/>
              <a:chExt cx="419" cy="384"/>
            </a:xfrm>
          </p:grpSpPr>
          <p:sp>
            <p:nvSpPr>
              <p:cNvPr id="29727" name="Rectangle 37" descr="斜纹布"/>
              <p:cNvSpPr>
                <a:spLocks noChangeArrowheads="1"/>
              </p:cNvSpPr>
              <p:nvPr/>
            </p:nvSpPr>
            <p:spPr bwMode="auto">
              <a:xfrm>
                <a:off x="2480" y="2008"/>
                <a:ext cx="419" cy="384"/>
              </a:xfrm>
              <a:prstGeom prst="rect">
                <a:avLst/>
              </a:prstGeom>
              <a:blipFill dpi="0" rotWithShape="0">
                <a:blip r:embed="rId8"/>
                <a:srcRect/>
                <a:tile tx="0" ty="0" sx="100000" sy="100000" flip="none" algn="tl"/>
              </a:bli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useBgFill="1">
            <p:nvSpPr>
              <p:cNvPr id="29728" name="Rectangle 38"/>
              <p:cNvSpPr>
                <a:spLocks noChangeArrowheads="1"/>
              </p:cNvSpPr>
              <p:nvPr/>
            </p:nvSpPr>
            <p:spPr bwMode="auto">
              <a:xfrm>
                <a:off x="2480" y="2106"/>
                <a:ext cx="419" cy="188"/>
              </a:xfrm>
              <a:prstGeom prst="rect">
                <a:avLst/>
              </a:prstGeom>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grpSp>
        <p:sp>
          <p:nvSpPr>
            <p:cNvPr id="29725" name="Rectangle 39"/>
            <p:cNvSpPr>
              <a:spLocks noChangeArrowheads="1"/>
            </p:cNvSpPr>
            <p:nvPr/>
          </p:nvSpPr>
          <p:spPr bwMode="auto">
            <a:xfrm>
              <a:off x="2854" y="2110"/>
              <a:ext cx="37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i="1" dirty="0">
                  <a:latin typeface="Times New Roman" panose="02020603050405020304" pitchFamily="18" charset="0"/>
                  <a:ea typeface="宋体" panose="02010600030101010101" pitchFamily="2" charset="-122"/>
                </a:rPr>
                <a:t>a</a:t>
              </a:r>
              <a:r>
                <a:rPr kumimoji="1" lang="en-US" altLang="zh-CN" sz="2000" dirty="0">
                  <a:latin typeface="Times New Roman" panose="02020603050405020304" pitchFamily="18" charset="0"/>
                  <a:ea typeface="宋体" panose="02010600030101010101" pitchFamily="2" charset="-122"/>
                </a:rPr>
                <a:t>/2</a:t>
              </a:r>
            </a:p>
          </p:txBody>
        </p:sp>
        <p:sp>
          <p:nvSpPr>
            <p:cNvPr id="29726" name="Rectangle 40"/>
            <p:cNvSpPr>
              <a:spLocks noChangeArrowheads="1"/>
            </p:cNvSpPr>
            <p:nvPr/>
          </p:nvSpPr>
          <p:spPr bwMode="auto">
            <a:xfrm>
              <a:off x="2400" y="2560"/>
              <a:ext cx="75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dirty="0">
                  <a:latin typeface="Times New Roman" panose="02020603050405020304" pitchFamily="18" charset="0"/>
                  <a:ea typeface="楷体_GB2312" pitchFamily="49" charset="-122"/>
                </a:rPr>
                <a:t>2</a:t>
              </a:r>
              <a:r>
                <a:rPr kumimoji="1" lang="en-US" altLang="zh-CN" sz="2000" b="1" dirty="0">
                  <a:latin typeface="Times New Roman" panose="02020603050405020304" pitchFamily="18" charset="0"/>
                  <a:ea typeface="楷体_GB2312" pitchFamily="49" charset="-122"/>
                </a:rPr>
                <a:t>-</a:t>
              </a:r>
              <a:r>
                <a:rPr kumimoji="1" lang="en-US" altLang="zh-CN" sz="2000" dirty="0">
                  <a:latin typeface="Times New Roman" panose="02020603050405020304" pitchFamily="18" charset="0"/>
                  <a:ea typeface="楷体_GB2312" pitchFamily="49" charset="-122"/>
                </a:rPr>
                <a:t>2</a:t>
              </a:r>
              <a:r>
                <a:rPr kumimoji="1" lang="zh-CN" altLang="en-US" sz="2000" b="1" dirty="0">
                  <a:latin typeface="楷体" panose="02010609060101010101" pitchFamily="49" charset="-122"/>
                  <a:ea typeface="楷体" panose="02010609060101010101" pitchFamily="49" charset="-122"/>
                </a:rPr>
                <a:t>截面</a:t>
              </a:r>
            </a:p>
          </p:txBody>
        </p:sp>
      </p:grpSp>
      <p:sp>
        <p:nvSpPr>
          <p:cNvPr id="29701" name="Rectangle 42"/>
          <p:cNvSpPr>
            <a:spLocks noChangeArrowheads="1"/>
          </p:cNvSpPr>
          <p:nvPr/>
        </p:nvSpPr>
        <p:spPr bwMode="auto">
          <a:xfrm>
            <a:off x="5645745" y="751148"/>
            <a:ext cx="2931749" cy="12009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solidFill>
                  <a:srgbClr val="FF0000"/>
                </a:solidFill>
                <a:latin typeface="Times New Roman" panose="02020603050405020304" pitchFamily="18" charset="0"/>
                <a:ea typeface="华文楷体" panose="02010600040101010101" pitchFamily="2" charset="-122"/>
              </a:rPr>
              <a:t>例</a:t>
            </a:r>
            <a:r>
              <a:rPr kumimoji="1" lang="en-US" altLang="zh-CN" sz="2400" b="1" dirty="0">
                <a:latin typeface="Times New Roman" panose="02020603050405020304" pitchFamily="18" charset="0"/>
                <a:ea typeface="华文楷体" panose="02010600040101010101" pitchFamily="2" charset="-122"/>
              </a:rPr>
              <a:t>  </a:t>
            </a:r>
            <a:r>
              <a:rPr kumimoji="1" lang="en-US" altLang="zh-CN" sz="2400" i="1" dirty="0">
                <a:latin typeface="Times New Roman" panose="02020603050405020304" pitchFamily="18" charset="0"/>
                <a:ea typeface="华文楷体" panose="02010600040101010101" pitchFamily="2" charset="-122"/>
              </a:rPr>
              <a:t>F</a:t>
            </a:r>
            <a:r>
              <a:rPr kumimoji="1" lang="en-US" altLang="zh-CN" sz="2400" dirty="0">
                <a:latin typeface="Times New Roman" panose="02020603050405020304" pitchFamily="18" charset="0"/>
                <a:ea typeface="华文楷体" panose="02010600040101010101" pitchFamily="2" charset="-122"/>
              </a:rPr>
              <a:t>=15kN</a:t>
            </a:r>
            <a:r>
              <a:rPr kumimoji="1" lang="zh-CN" altLang="en-US" sz="2400" dirty="0">
                <a:latin typeface="Times New Roman" panose="02020603050405020304" pitchFamily="18" charset="0"/>
                <a:ea typeface="华文楷体" panose="02010600040101010101" pitchFamily="2" charset="-122"/>
              </a:rPr>
              <a:t>，</a:t>
            </a:r>
            <a:r>
              <a:rPr kumimoji="1" lang="en-US" altLang="zh-CN" sz="2400" i="1" dirty="0">
                <a:latin typeface="Times New Roman" panose="02020603050405020304" pitchFamily="18" charset="0"/>
                <a:ea typeface="华文楷体" panose="02010600040101010101" pitchFamily="2" charset="-122"/>
              </a:rPr>
              <a:t>l</a:t>
            </a:r>
            <a:r>
              <a:rPr kumimoji="1" lang="en-US" altLang="zh-CN" sz="2400" dirty="0">
                <a:latin typeface="Times New Roman" panose="02020603050405020304" pitchFamily="18" charset="0"/>
                <a:ea typeface="华文楷体" panose="02010600040101010101" pitchFamily="2" charset="-122"/>
              </a:rPr>
              <a:t>=1m</a:t>
            </a:r>
            <a:r>
              <a:rPr kumimoji="1" lang="zh-CN" altLang="en-US" sz="2400" dirty="0">
                <a:latin typeface="Times New Roman" panose="02020603050405020304" pitchFamily="18" charset="0"/>
                <a:ea typeface="华文楷体" panose="02010600040101010101" pitchFamily="2" charset="-122"/>
              </a:rPr>
              <a:t>，</a:t>
            </a:r>
          </a:p>
          <a:p>
            <a:r>
              <a:rPr kumimoji="1" lang="en-US" altLang="zh-CN" sz="2400" i="1" dirty="0">
                <a:latin typeface="Times New Roman" panose="02020603050405020304" pitchFamily="18" charset="0"/>
                <a:ea typeface="华文楷体" panose="02010600040101010101" pitchFamily="2" charset="-122"/>
              </a:rPr>
              <a:t>a</a:t>
            </a:r>
            <a:r>
              <a:rPr kumimoji="1" lang="en-US" altLang="zh-CN" sz="2400" dirty="0">
                <a:latin typeface="Times New Roman" panose="02020603050405020304" pitchFamily="18" charset="0"/>
                <a:ea typeface="华文楷体" panose="02010600040101010101" pitchFamily="2" charset="-122"/>
              </a:rPr>
              <a:t>=20mm, </a:t>
            </a:r>
            <a:r>
              <a:rPr kumimoji="1" lang="en-US" altLang="zh-CN" sz="2400" i="1" dirty="0">
                <a:latin typeface="Times New Roman" panose="02020603050405020304" pitchFamily="18" charset="0"/>
                <a:ea typeface="华文楷体" panose="02010600040101010101" pitchFamily="2" charset="-122"/>
              </a:rPr>
              <a:t>E</a:t>
            </a:r>
            <a:r>
              <a:rPr kumimoji="1" lang="en-US" altLang="zh-CN" sz="2400" dirty="0">
                <a:latin typeface="Times New Roman" panose="02020603050405020304" pitchFamily="18" charset="0"/>
                <a:ea typeface="华文楷体" panose="02010600040101010101" pitchFamily="2" charset="-122"/>
              </a:rPr>
              <a:t>=200GPa</a:t>
            </a:r>
          </a:p>
          <a:p>
            <a:r>
              <a:rPr kumimoji="1" lang="zh-CN" altLang="en-US" sz="2400" b="1" dirty="0">
                <a:latin typeface="Times New Roman" panose="02020603050405020304" pitchFamily="18" charset="0"/>
                <a:ea typeface="华文楷体" panose="02010600040101010101" pitchFamily="2" charset="-122"/>
              </a:rPr>
              <a:t>求：</a:t>
            </a:r>
            <a:r>
              <a:rPr kumimoji="1" lang="el-GR" altLang="zh-CN" sz="2400" dirty="0">
                <a:latin typeface="Times New Roman" panose="02020603050405020304" pitchFamily="18" charset="0"/>
                <a:ea typeface="华文楷体" panose="02010600040101010101" pitchFamily="2" charset="-122"/>
              </a:rPr>
              <a:t>Δ</a:t>
            </a:r>
            <a:r>
              <a:rPr kumimoji="1" lang="en-US" altLang="zh-CN" sz="2400" i="1" dirty="0">
                <a:latin typeface="Times New Roman" panose="02020603050405020304" pitchFamily="18" charset="0"/>
                <a:ea typeface="华文楷体" panose="02010600040101010101" pitchFamily="2" charset="-122"/>
              </a:rPr>
              <a:t>l</a:t>
            </a:r>
            <a:endParaRPr kumimoji="1" lang="zh-CN" altLang="en-US" sz="2400" i="1" dirty="0">
              <a:latin typeface="Times New Roman" panose="02020603050405020304" pitchFamily="18" charset="0"/>
              <a:ea typeface="华文楷体" panose="02010600040101010101" pitchFamily="2" charset="-122"/>
            </a:endParaRPr>
          </a:p>
        </p:txBody>
      </p:sp>
      <p:sp>
        <p:nvSpPr>
          <p:cNvPr id="183340" name="Rectangle 44"/>
          <p:cNvSpPr>
            <a:spLocks noChangeArrowheads="1"/>
          </p:cNvSpPr>
          <p:nvPr/>
        </p:nvSpPr>
        <p:spPr bwMode="auto">
          <a:xfrm>
            <a:off x="5190067" y="1907490"/>
            <a:ext cx="1085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solidFill>
                  <a:srgbClr val="FF0000"/>
                </a:solidFill>
                <a:latin typeface="华文楷体" panose="02010600040101010101" pitchFamily="2" charset="-122"/>
                <a:ea typeface="华文楷体" panose="02010600040101010101" pitchFamily="2" charset="-122"/>
              </a:rPr>
              <a:t>解：</a:t>
            </a:r>
          </a:p>
        </p:txBody>
      </p:sp>
      <p:graphicFrame>
        <p:nvGraphicFramePr>
          <p:cNvPr id="183341" name="Object 45"/>
          <p:cNvGraphicFramePr>
            <a:graphicFrameLocks/>
          </p:cNvGraphicFramePr>
          <p:nvPr>
            <p:extLst>
              <p:ext uri="{D42A27DB-BD31-4B8C-83A1-F6EECF244321}">
                <p14:modId xmlns:p14="http://schemas.microsoft.com/office/powerpoint/2010/main" val="3020220846"/>
              </p:ext>
            </p:extLst>
          </p:nvPr>
        </p:nvGraphicFramePr>
        <p:xfrm>
          <a:off x="5322210" y="3032336"/>
          <a:ext cx="3508375" cy="476250"/>
        </p:xfrm>
        <a:graphic>
          <a:graphicData uri="http://schemas.openxmlformats.org/presentationml/2006/ole">
            <mc:AlternateContent xmlns:mc="http://schemas.openxmlformats.org/markup-compatibility/2006">
              <mc:Choice xmlns:v="urn:schemas-microsoft-com:vml" Requires="v">
                <p:oleObj name="Equation" r:id="rId9" imgW="1625400" imgH="228600" progId="Equation.DSMT4">
                  <p:embed/>
                </p:oleObj>
              </mc:Choice>
              <mc:Fallback>
                <p:oleObj name="Equation" r:id="rId9" imgW="1625400" imgH="228600" progId="Equation.DSMT4">
                  <p:embed/>
                  <p:pic>
                    <p:nvPicPr>
                      <p:cNvPr id="0" name=""/>
                      <p:cNvPicPr>
                        <a:picLocks noChangeArrowheads="1"/>
                      </p:cNvPicPr>
                      <p:nvPr/>
                    </p:nvPicPr>
                    <p:blipFill>
                      <a:blip r:embed="rId10"/>
                      <a:srcRect/>
                      <a:stretch>
                        <a:fillRect/>
                      </a:stretch>
                    </p:blipFill>
                    <p:spPr bwMode="auto">
                      <a:xfrm>
                        <a:off x="5322210" y="3032336"/>
                        <a:ext cx="35083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3342" name="Object 46"/>
          <p:cNvGraphicFramePr>
            <a:graphicFrameLocks/>
          </p:cNvGraphicFramePr>
          <p:nvPr>
            <p:extLst>
              <p:ext uri="{D42A27DB-BD31-4B8C-83A1-F6EECF244321}">
                <p14:modId xmlns:p14="http://schemas.microsoft.com/office/powerpoint/2010/main" val="1963472260"/>
              </p:ext>
            </p:extLst>
          </p:nvPr>
        </p:nvGraphicFramePr>
        <p:xfrm>
          <a:off x="5611133" y="2550333"/>
          <a:ext cx="2138363" cy="484188"/>
        </p:xfrm>
        <a:graphic>
          <a:graphicData uri="http://schemas.openxmlformats.org/presentationml/2006/ole">
            <mc:AlternateContent xmlns:mc="http://schemas.openxmlformats.org/markup-compatibility/2006">
              <mc:Choice xmlns:v="urn:schemas-microsoft-com:vml" Requires="v">
                <p:oleObj name="Equation" r:id="rId11" imgW="1002960" imgH="228600" progId="Equation.DSMT4">
                  <p:embed/>
                </p:oleObj>
              </mc:Choice>
              <mc:Fallback>
                <p:oleObj name="Equation" r:id="rId11" imgW="1002960" imgH="228600" progId="Equation.DSMT4">
                  <p:embed/>
                  <p:pic>
                    <p:nvPicPr>
                      <p:cNvPr id="0" name=""/>
                      <p:cNvPicPr>
                        <a:picLocks noChangeArrowheads="1"/>
                      </p:cNvPicPr>
                      <p:nvPr/>
                    </p:nvPicPr>
                    <p:blipFill>
                      <a:blip r:embed="rId12"/>
                      <a:srcRect/>
                      <a:stretch>
                        <a:fillRect/>
                      </a:stretch>
                    </p:blipFill>
                    <p:spPr bwMode="auto">
                      <a:xfrm>
                        <a:off x="5611133" y="2550333"/>
                        <a:ext cx="2138363" cy="484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9758" name="Group 62"/>
          <p:cNvGrpSpPr>
            <a:grpSpLocks/>
          </p:cNvGrpSpPr>
          <p:nvPr/>
        </p:nvGrpSpPr>
        <p:grpSpPr bwMode="auto">
          <a:xfrm>
            <a:off x="604425" y="2918826"/>
            <a:ext cx="3308350" cy="1611313"/>
            <a:chOff x="180" y="1952"/>
            <a:chExt cx="2084" cy="1015"/>
          </a:xfrm>
        </p:grpSpPr>
        <p:sp>
          <p:nvSpPr>
            <p:cNvPr id="29715" name="Line 48"/>
            <p:cNvSpPr>
              <a:spLocks noChangeShapeType="1"/>
            </p:cNvSpPr>
            <p:nvPr/>
          </p:nvSpPr>
          <p:spPr bwMode="auto">
            <a:xfrm>
              <a:off x="180" y="2117"/>
              <a:ext cx="0" cy="720"/>
            </a:xfrm>
            <a:prstGeom prst="line">
              <a:avLst/>
            </a:prstGeom>
            <a:noFill/>
            <a:ln w="12700">
              <a:solidFill>
                <a:schemeClr val="tx1"/>
              </a:solidFill>
              <a:round/>
              <a:headEnd type="triangle"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16" name="Line 49"/>
            <p:cNvSpPr>
              <a:spLocks noChangeShapeType="1"/>
            </p:cNvSpPr>
            <p:nvPr/>
          </p:nvSpPr>
          <p:spPr bwMode="auto">
            <a:xfrm>
              <a:off x="180" y="2357"/>
              <a:ext cx="2064" cy="0"/>
            </a:xfrm>
            <a:prstGeom prst="line">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17" name="Rectangle 50"/>
            <p:cNvSpPr>
              <a:spLocks noChangeArrowheads="1"/>
            </p:cNvSpPr>
            <p:nvPr/>
          </p:nvSpPr>
          <p:spPr bwMode="auto">
            <a:xfrm>
              <a:off x="180" y="1999"/>
              <a:ext cx="38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i="1" dirty="0">
                  <a:latin typeface="Times New Roman" panose="02020603050405020304" pitchFamily="18" charset="0"/>
                  <a:ea typeface="宋体" panose="02010600030101010101" pitchFamily="2" charset="-122"/>
                </a:rPr>
                <a:t>F</a:t>
              </a:r>
              <a:r>
                <a:rPr kumimoji="1" lang="en-US" altLang="zh-CN" sz="2000" b="1" baseline="-25000" dirty="0">
                  <a:latin typeface="Times New Roman" panose="02020603050405020304" pitchFamily="18" charset="0"/>
                  <a:ea typeface="宋体" panose="02010600030101010101" pitchFamily="2" charset="-122"/>
                </a:rPr>
                <a:t>N</a:t>
              </a:r>
            </a:p>
          </p:txBody>
        </p:sp>
        <p:sp>
          <p:nvSpPr>
            <p:cNvPr id="29718" name="Rectangle 51"/>
            <p:cNvSpPr>
              <a:spLocks noChangeArrowheads="1"/>
            </p:cNvSpPr>
            <p:nvPr/>
          </p:nvSpPr>
          <p:spPr bwMode="auto">
            <a:xfrm>
              <a:off x="2077" y="2313"/>
              <a:ext cx="18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i="1" dirty="0">
                  <a:latin typeface="Times New Roman" panose="02020603050405020304" pitchFamily="18" charset="0"/>
                  <a:ea typeface="宋体" panose="02010600030101010101" pitchFamily="2" charset="-122"/>
                </a:rPr>
                <a:t>x</a:t>
              </a:r>
            </a:p>
          </p:txBody>
        </p:sp>
        <p:sp>
          <p:nvSpPr>
            <p:cNvPr id="183348" name="Rectangle 52"/>
            <p:cNvSpPr>
              <a:spLocks noChangeArrowheads="1"/>
            </p:cNvSpPr>
            <p:nvPr/>
          </p:nvSpPr>
          <p:spPr bwMode="auto">
            <a:xfrm>
              <a:off x="184" y="2357"/>
              <a:ext cx="1480" cy="380"/>
            </a:xfrm>
            <a:prstGeom prst="rect">
              <a:avLst/>
            </a:prstGeom>
            <a:gradFill rotWithShape="0">
              <a:gsLst>
                <a:gs pos="0">
                  <a:schemeClr val="accent1">
                    <a:gamma/>
                    <a:shade val="69804"/>
                    <a:invGamma/>
                  </a:schemeClr>
                </a:gs>
                <a:gs pos="50000">
                  <a:schemeClr val="accent1"/>
                </a:gs>
                <a:gs pos="100000">
                  <a:schemeClr val="accent1">
                    <a:gamma/>
                    <a:shade val="69804"/>
                    <a:invGamma/>
                  </a:schemeClr>
                </a:gs>
              </a:gsLst>
              <a:lin ang="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83349" name="Rectangle 53"/>
            <p:cNvSpPr>
              <a:spLocks noChangeArrowheads="1"/>
            </p:cNvSpPr>
            <p:nvPr/>
          </p:nvSpPr>
          <p:spPr bwMode="auto">
            <a:xfrm>
              <a:off x="1668" y="2174"/>
              <a:ext cx="376" cy="184"/>
            </a:xfrm>
            <a:prstGeom prst="rect">
              <a:avLst/>
            </a:prstGeom>
            <a:gradFill rotWithShape="0">
              <a:gsLst>
                <a:gs pos="0">
                  <a:schemeClr val="accent1">
                    <a:gamma/>
                    <a:shade val="69804"/>
                    <a:invGamma/>
                  </a:schemeClr>
                </a:gs>
                <a:gs pos="50000">
                  <a:schemeClr val="accent1"/>
                </a:gs>
                <a:gs pos="100000">
                  <a:schemeClr val="accent1">
                    <a:gamma/>
                    <a:shade val="69804"/>
                    <a:invGamma/>
                  </a:schemeClr>
                </a:gs>
              </a:gsLst>
              <a:lin ang="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29721" name="Rectangle 54"/>
            <p:cNvSpPr>
              <a:spLocks noChangeArrowheads="1"/>
            </p:cNvSpPr>
            <p:nvPr/>
          </p:nvSpPr>
          <p:spPr bwMode="auto">
            <a:xfrm>
              <a:off x="554" y="2715"/>
              <a:ext cx="60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dirty="0">
                  <a:latin typeface="Times New Roman" panose="02020603050405020304" pitchFamily="18" charset="0"/>
                  <a:cs typeface="Times New Roman" panose="02020603050405020304" pitchFamily="18" charset="0"/>
                </a:rPr>
                <a:t>−</a:t>
              </a:r>
              <a:r>
                <a:rPr kumimoji="1" lang="en-US" altLang="zh-CN" sz="2000" dirty="0">
                  <a:latin typeface="Times New Roman" panose="02020603050405020304" pitchFamily="18" charset="0"/>
                  <a:ea typeface="宋体" panose="02010600030101010101" pitchFamily="2" charset="-122"/>
                </a:rPr>
                <a:t>30 </a:t>
              </a:r>
              <a:r>
                <a:rPr kumimoji="1" lang="en-US" altLang="zh-CN" sz="2000" dirty="0" err="1">
                  <a:latin typeface="Times New Roman" panose="02020603050405020304" pitchFamily="18" charset="0"/>
                  <a:ea typeface="宋体" panose="02010600030101010101" pitchFamily="2" charset="-122"/>
                </a:rPr>
                <a:t>kN</a:t>
              </a:r>
              <a:endParaRPr kumimoji="1" lang="en-US" altLang="zh-CN" sz="2000" dirty="0">
                <a:latin typeface="Times New Roman" panose="02020603050405020304" pitchFamily="18" charset="0"/>
                <a:ea typeface="宋体" panose="02010600030101010101" pitchFamily="2" charset="-122"/>
              </a:endParaRPr>
            </a:p>
          </p:txBody>
        </p:sp>
        <p:sp>
          <p:nvSpPr>
            <p:cNvPr id="29722" name="Rectangle 55"/>
            <p:cNvSpPr>
              <a:spLocks noChangeArrowheads="1"/>
            </p:cNvSpPr>
            <p:nvPr/>
          </p:nvSpPr>
          <p:spPr bwMode="auto">
            <a:xfrm>
              <a:off x="1587" y="1952"/>
              <a:ext cx="51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dirty="0">
                  <a:latin typeface="Times New Roman" panose="02020603050405020304" pitchFamily="18" charset="0"/>
                  <a:ea typeface="宋体" panose="02010600030101010101" pitchFamily="2" charset="-122"/>
                </a:rPr>
                <a:t>15 </a:t>
              </a:r>
              <a:r>
                <a:rPr kumimoji="1" lang="en-US" altLang="zh-CN" sz="2000" dirty="0" err="1">
                  <a:latin typeface="Times New Roman" panose="02020603050405020304" pitchFamily="18" charset="0"/>
                  <a:ea typeface="宋体" panose="02010600030101010101" pitchFamily="2" charset="-122"/>
                </a:rPr>
                <a:t>kN</a:t>
              </a:r>
              <a:endParaRPr kumimoji="1" lang="en-US" altLang="zh-CN" sz="2000" dirty="0">
                <a:latin typeface="Times New Roman" panose="02020603050405020304" pitchFamily="18" charset="0"/>
                <a:ea typeface="宋体" panose="02010600030101010101" pitchFamily="2" charset="-122"/>
              </a:endParaRPr>
            </a:p>
          </p:txBody>
        </p:sp>
      </p:grpSp>
      <p:grpSp>
        <p:nvGrpSpPr>
          <p:cNvPr id="183352" name="Group 56"/>
          <p:cNvGrpSpPr>
            <a:grpSpLocks/>
          </p:cNvGrpSpPr>
          <p:nvPr/>
        </p:nvGrpSpPr>
        <p:grpSpPr bwMode="auto">
          <a:xfrm>
            <a:off x="427164" y="4504684"/>
            <a:ext cx="8321873" cy="531161"/>
            <a:chOff x="285" y="2957"/>
            <a:chExt cx="4596" cy="279"/>
          </a:xfrm>
        </p:grpSpPr>
        <p:graphicFrame>
          <p:nvGraphicFramePr>
            <p:cNvPr id="29713" name="Object 57"/>
            <p:cNvGraphicFramePr>
              <a:graphicFrameLocks/>
            </p:cNvGraphicFramePr>
            <p:nvPr>
              <p:extLst>
                <p:ext uri="{D42A27DB-BD31-4B8C-83A1-F6EECF244321}">
                  <p14:modId xmlns:p14="http://schemas.microsoft.com/office/powerpoint/2010/main" val="4271083731"/>
                </p:ext>
              </p:extLst>
            </p:nvPr>
          </p:nvGraphicFramePr>
          <p:xfrm>
            <a:off x="285" y="2963"/>
            <a:ext cx="2836" cy="273"/>
          </p:xfrm>
          <a:graphic>
            <a:graphicData uri="http://schemas.openxmlformats.org/presentationml/2006/ole">
              <mc:AlternateContent xmlns:mc="http://schemas.openxmlformats.org/markup-compatibility/2006">
                <mc:Choice xmlns:v="urn:schemas-microsoft-com:vml" Requires="v">
                  <p:oleObj name="Equation" r:id="rId13" imgW="2349360" imgH="241200" progId="Equation.DSMT4">
                    <p:embed/>
                  </p:oleObj>
                </mc:Choice>
                <mc:Fallback>
                  <p:oleObj name="Equation" r:id="rId13" imgW="2349360" imgH="241200" progId="Equation.DSMT4">
                    <p:embed/>
                    <p:pic>
                      <p:nvPicPr>
                        <p:cNvPr id="0" name=""/>
                        <p:cNvPicPr>
                          <a:picLocks noChangeArrowheads="1"/>
                        </p:cNvPicPr>
                        <p:nvPr/>
                      </p:nvPicPr>
                      <p:blipFill>
                        <a:blip r:embed="rId14"/>
                        <a:srcRect/>
                        <a:stretch>
                          <a:fillRect/>
                        </a:stretch>
                      </p:blipFill>
                      <p:spPr bwMode="auto">
                        <a:xfrm>
                          <a:off x="285" y="2963"/>
                          <a:ext cx="2836" cy="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14" name="Object 58"/>
            <p:cNvGraphicFramePr>
              <a:graphicFrameLocks/>
            </p:cNvGraphicFramePr>
            <p:nvPr>
              <p:extLst>
                <p:ext uri="{D42A27DB-BD31-4B8C-83A1-F6EECF244321}">
                  <p14:modId xmlns:p14="http://schemas.microsoft.com/office/powerpoint/2010/main" val="1402395913"/>
                </p:ext>
              </p:extLst>
            </p:nvPr>
          </p:nvGraphicFramePr>
          <p:xfrm>
            <a:off x="3188" y="2957"/>
            <a:ext cx="1693" cy="274"/>
          </p:xfrm>
          <a:graphic>
            <a:graphicData uri="http://schemas.openxmlformats.org/presentationml/2006/ole">
              <mc:AlternateContent xmlns:mc="http://schemas.openxmlformats.org/markup-compatibility/2006">
                <mc:Choice xmlns:v="urn:schemas-microsoft-com:vml" Requires="v">
                  <p:oleObj name="Equation" r:id="rId15" imgW="1320480" imgH="228600" progId="Equation.DSMT4">
                    <p:embed/>
                  </p:oleObj>
                </mc:Choice>
                <mc:Fallback>
                  <p:oleObj name="Equation" r:id="rId15" imgW="1320480" imgH="228600" progId="Equation.DSMT4">
                    <p:embed/>
                    <p:pic>
                      <p:nvPicPr>
                        <p:cNvPr id="0" name=""/>
                        <p:cNvPicPr>
                          <a:picLocks noChangeArrowheads="1"/>
                        </p:cNvPicPr>
                        <p:nvPr/>
                      </p:nvPicPr>
                      <p:blipFill>
                        <a:blip r:embed="rId16"/>
                        <a:srcRect/>
                        <a:stretch>
                          <a:fillRect/>
                        </a:stretch>
                      </p:blipFill>
                      <p:spPr bwMode="auto">
                        <a:xfrm>
                          <a:off x="3188" y="2957"/>
                          <a:ext cx="1693"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183355" name="Object 59"/>
          <p:cNvGraphicFramePr>
            <a:graphicFrameLocks/>
          </p:cNvGraphicFramePr>
          <p:nvPr>
            <p:extLst>
              <p:ext uri="{D42A27DB-BD31-4B8C-83A1-F6EECF244321}">
                <p14:modId xmlns:p14="http://schemas.microsoft.com/office/powerpoint/2010/main" val="1964703026"/>
              </p:ext>
            </p:extLst>
          </p:nvPr>
        </p:nvGraphicFramePr>
        <p:xfrm>
          <a:off x="563811" y="5062562"/>
          <a:ext cx="7569200" cy="941388"/>
        </p:xfrm>
        <a:graphic>
          <a:graphicData uri="http://schemas.openxmlformats.org/presentationml/2006/ole">
            <mc:AlternateContent xmlns:mc="http://schemas.openxmlformats.org/markup-compatibility/2006">
              <mc:Choice xmlns:v="urn:schemas-microsoft-com:vml" Requires="v">
                <p:oleObj name="Equation" r:id="rId17" imgW="2984400" imgH="431640" progId="Equation.DSMT4">
                  <p:embed/>
                </p:oleObj>
              </mc:Choice>
              <mc:Fallback>
                <p:oleObj name="Equation" r:id="rId17" imgW="2984400" imgH="431640" progId="Equation.DSMT4">
                  <p:embed/>
                  <p:pic>
                    <p:nvPicPr>
                      <p:cNvPr id="0" name=""/>
                      <p:cNvPicPr>
                        <a:picLocks noChangeArrowheads="1"/>
                      </p:cNvPicPr>
                      <p:nvPr/>
                    </p:nvPicPr>
                    <p:blipFill>
                      <a:blip r:embed="rId18"/>
                      <a:srcRect/>
                      <a:stretch>
                        <a:fillRect/>
                      </a:stretch>
                    </p:blipFill>
                    <p:spPr bwMode="auto">
                      <a:xfrm>
                        <a:off x="563811" y="5062562"/>
                        <a:ext cx="7569200" cy="941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3356" name="Object 60"/>
          <p:cNvGraphicFramePr>
            <a:graphicFrameLocks/>
          </p:cNvGraphicFramePr>
          <p:nvPr>
            <p:extLst>
              <p:ext uri="{D42A27DB-BD31-4B8C-83A1-F6EECF244321}">
                <p14:modId xmlns:p14="http://schemas.microsoft.com/office/powerpoint/2010/main" val="1697115497"/>
              </p:ext>
            </p:extLst>
          </p:nvPr>
        </p:nvGraphicFramePr>
        <p:xfrm>
          <a:off x="741807" y="5987844"/>
          <a:ext cx="5120431" cy="425913"/>
        </p:xfrm>
        <a:graphic>
          <a:graphicData uri="http://schemas.openxmlformats.org/presentationml/2006/ole">
            <mc:AlternateContent xmlns:mc="http://schemas.openxmlformats.org/markup-compatibility/2006">
              <mc:Choice xmlns:v="urn:schemas-microsoft-com:vml" Requires="v">
                <p:oleObj name="Equation" r:id="rId19" imgW="2514600" imgH="203040" progId="Equation.DSMT4">
                  <p:embed/>
                </p:oleObj>
              </mc:Choice>
              <mc:Fallback>
                <p:oleObj name="Equation" r:id="rId19" imgW="2514600" imgH="203040" progId="Equation.DSMT4">
                  <p:embed/>
                  <p:pic>
                    <p:nvPicPr>
                      <p:cNvPr id="0" name=""/>
                      <p:cNvPicPr>
                        <a:picLocks noChangeArrowheads="1"/>
                      </p:cNvPicPr>
                      <p:nvPr/>
                    </p:nvPicPr>
                    <p:blipFill>
                      <a:blip r:embed="rId20"/>
                      <a:srcRect/>
                      <a:stretch>
                        <a:fillRect/>
                      </a:stretch>
                    </p:blipFill>
                    <p:spPr bwMode="auto">
                      <a:xfrm>
                        <a:off x="741807" y="5987844"/>
                        <a:ext cx="5120431" cy="425913"/>
                      </a:xfrm>
                      <a:prstGeom prst="rect">
                        <a:avLst/>
                      </a:prstGeom>
                      <a:noFill/>
                      <a:ln>
                        <a:noFill/>
                      </a:ln>
                      <a:effectLst/>
                    </p:spPr>
                  </p:pic>
                </p:oleObj>
              </mc:Fallback>
            </mc:AlternateContent>
          </a:graphicData>
        </a:graphic>
      </p:graphicFrame>
      <p:sp>
        <p:nvSpPr>
          <p:cNvPr id="183357" name="Rectangle 61"/>
          <p:cNvSpPr>
            <a:spLocks noChangeArrowheads="1"/>
          </p:cNvSpPr>
          <p:nvPr/>
        </p:nvSpPr>
        <p:spPr bwMode="auto">
          <a:xfrm>
            <a:off x="5792788" y="1907490"/>
            <a:ext cx="3073994"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400" b="1" dirty="0">
                <a:solidFill>
                  <a:srgbClr val="0000FF"/>
                </a:solidFill>
                <a:latin typeface="Times New Roman" panose="02020603050405020304" pitchFamily="18" charset="0"/>
                <a:ea typeface="华文楷体" panose="02010600040101010101" pitchFamily="2" charset="-122"/>
              </a:rPr>
              <a:t>1) </a:t>
            </a:r>
            <a:r>
              <a:rPr kumimoji="1" lang="zh-CN" altLang="en-US" sz="2400" b="1" dirty="0">
                <a:solidFill>
                  <a:srgbClr val="0000FF"/>
                </a:solidFill>
                <a:latin typeface="Times New Roman" panose="02020603050405020304" pitchFamily="18" charset="0"/>
                <a:ea typeface="华文楷体" panose="02010600040101010101" pitchFamily="2" charset="-122"/>
              </a:rPr>
              <a:t>求内力并作轴力图</a:t>
            </a:r>
          </a:p>
        </p:txBody>
      </p:sp>
      <p:sp>
        <p:nvSpPr>
          <p:cNvPr id="183358" name="Rectangle 62"/>
          <p:cNvSpPr>
            <a:spLocks noChangeArrowheads="1"/>
          </p:cNvSpPr>
          <p:nvPr/>
        </p:nvSpPr>
        <p:spPr bwMode="auto">
          <a:xfrm>
            <a:off x="5478844" y="3780006"/>
            <a:ext cx="2135187"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400" b="1" dirty="0">
                <a:solidFill>
                  <a:srgbClr val="0000FF"/>
                </a:solidFill>
                <a:latin typeface="Times New Roman" panose="02020603050405020304" pitchFamily="18" charset="0"/>
                <a:ea typeface="华文楷体" panose="02010600040101010101" pitchFamily="2" charset="-122"/>
              </a:rPr>
              <a:t>2) </a:t>
            </a:r>
            <a:r>
              <a:rPr kumimoji="1" lang="zh-CN" altLang="en-US" sz="2400" b="1" dirty="0">
                <a:solidFill>
                  <a:srgbClr val="0000FF"/>
                </a:solidFill>
                <a:latin typeface="Times New Roman" panose="02020603050405020304" pitchFamily="18" charset="0"/>
                <a:ea typeface="华文楷体" panose="02010600040101010101" pitchFamily="2" charset="-122"/>
              </a:rPr>
              <a:t>杆的变形</a:t>
            </a:r>
          </a:p>
        </p:txBody>
      </p:sp>
      <p:sp>
        <p:nvSpPr>
          <p:cNvPr id="29759" name="Rectangle 57"/>
          <p:cNvSpPr>
            <a:spLocks noChangeArrowheads="1"/>
          </p:cNvSpPr>
          <p:nvPr/>
        </p:nvSpPr>
        <p:spPr bwMode="auto">
          <a:xfrm>
            <a:off x="361950" y="240092"/>
            <a:ext cx="4314825" cy="585418"/>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3200" b="1" dirty="0">
                <a:solidFill>
                  <a:srgbClr val="0000CC"/>
                </a:solidFill>
                <a:latin typeface="Times New Roman" panose="02020603050405020304" pitchFamily="18" charset="0"/>
                <a:ea typeface="隶书" panose="02010509060101010101" pitchFamily="49" charset="-122"/>
              </a:rPr>
              <a:t>6-5  </a:t>
            </a:r>
            <a:r>
              <a:rPr kumimoji="1" lang="zh-CN" altLang="en-US" sz="3200" b="1" dirty="0">
                <a:solidFill>
                  <a:srgbClr val="0000CC"/>
                </a:solidFill>
                <a:latin typeface="Times New Roman" panose="02020603050405020304" pitchFamily="18" charset="0"/>
                <a:ea typeface="隶书" panose="02010509060101010101" pitchFamily="49" charset="-122"/>
              </a:rPr>
              <a:t>轴向拉压的变形</a:t>
            </a:r>
          </a:p>
        </p:txBody>
      </p:sp>
    </p:spTree>
    <p:extLst>
      <p:ext uri="{BB962C8B-B14F-4D97-AF65-F5344CB8AC3E}">
        <p14:creationId xmlns:p14="http://schemas.microsoft.com/office/powerpoint/2010/main" val="306912997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3340"/>
                                        </p:tgtEl>
                                        <p:attrNameLst>
                                          <p:attrName>style.visibility</p:attrName>
                                        </p:attrNameLst>
                                      </p:cBhvr>
                                      <p:to>
                                        <p:strVal val="visible"/>
                                      </p:to>
                                    </p:set>
                                    <p:animEffect transition="in" filter="blinds(horizontal)">
                                      <p:cBhvr>
                                        <p:cTn id="7" dur="500"/>
                                        <p:tgtEl>
                                          <p:spTgt spid="18334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3357"/>
                                        </p:tgtEl>
                                        <p:attrNameLst>
                                          <p:attrName>style.visibility</p:attrName>
                                        </p:attrNameLst>
                                      </p:cBhvr>
                                      <p:to>
                                        <p:strVal val="visible"/>
                                      </p:to>
                                    </p:set>
                                    <p:animEffect transition="in" filter="blinds(horizontal)">
                                      <p:cBhvr>
                                        <p:cTn id="12" dur="500"/>
                                        <p:tgtEl>
                                          <p:spTgt spid="18335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83342"/>
                                        </p:tgtEl>
                                        <p:attrNameLst>
                                          <p:attrName>style.visibility</p:attrName>
                                        </p:attrNameLst>
                                      </p:cBhvr>
                                      <p:to>
                                        <p:strVal val="visible"/>
                                      </p:to>
                                    </p:set>
                                    <p:animEffect transition="in" filter="blinds(horizontal)">
                                      <p:cBhvr>
                                        <p:cTn id="17" dur="500"/>
                                        <p:tgtEl>
                                          <p:spTgt spid="18334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83341"/>
                                        </p:tgtEl>
                                        <p:attrNameLst>
                                          <p:attrName>style.visibility</p:attrName>
                                        </p:attrNameLst>
                                      </p:cBhvr>
                                      <p:to>
                                        <p:strVal val="visible"/>
                                      </p:to>
                                    </p:set>
                                    <p:animEffect transition="in" filter="blinds(horizontal)">
                                      <p:cBhvr>
                                        <p:cTn id="22" dur="500"/>
                                        <p:tgtEl>
                                          <p:spTgt spid="18334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9758"/>
                                        </p:tgtEl>
                                        <p:attrNameLst>
                                          <p:attrName>style.visibility</p:attrName>
                                        </p:attrNameLst>
                                      </p:cBhvr>
                                      <p:to>
                                        <p:strVal val="visible"/>
                                      </p:to>
                                    </p:set>
                                    <p:animEffect transition="in" filter="blinds(horizontal)">
                                      <p:cBhvr>
                                        <p:cTn id="27" dur="500"/>
                                        <p:tgtEl>
                                          <p:spTgt spid="2975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83358"/>
                                        </p:tgtEl>
                                        <p:attrNameLst>
                                          <p:attrName>style.visibility</p:attrName>
                                        </p:attrNameLst>
                                      </p:cBhvr>
                                      <p:to>
                                        <p:strVal val="visible"/>
                                      </p:to>
                                    </p:set>
                                    <p:animEffect transition="in" filter="blinds(horizontal)">
                                      <p:cBhvr>
                                        <p:cTn id="32" dur="500"/>
                                        <p:tgtEl>
                                          <p:spTgt spid="18335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183352"/>
                                        </p:tgtEl>
                                        <p:attrNameLst>
                                          <p:attrName>style.visibility</p:attrName>
                                        </p:attrNameLst>
                                      </p:cBhvr>
                                      <p:to>
                                        <p:strVal val="visible"/>
                                      </p:to>
                                    </p:set>
                                    <p:animEffect transition="in" filter="blinds(horizontal)">
                                      <p:cBhvr>
                                        <p:cTn id="37" dur="500"/>
                                        <p:tgtEl>
                                          <p:spTgt spid="18335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183355"/>
                                        </p:tgtEl>
                                        <p:attrNameLst>
                                          <p:attrName>style.visibility</p:attrName>
                                        </p:attrNameLst>
                                      </p:cBhvr>
                                      <p:to>
                                        <p:strVal val="visible"/>
                                      </p:to>
                                    </p:set>
                                    <p:animEffect transition="in" filter="blinds(horizontal)">
                                      <p:cBhvr>
                                        <p:cTn id="42" dur="500"/>
                                        <p:tgtEl>
                                          <p:spTgt spid="18335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183356"/>
                                        </p:tgtEl>
                                        <p:attrNameLst>
                                          <p:attrName>style.visibility</p:attrName>
                                        </p:attrNameLst>
                                      </p:cBhvr>
                                      <p:to>
                                        <p:strVal val="visible"/>
                                      </p:to>
                                    </p:set>
                                    <p:animEffect transition="in" filter="blinds(horizontal)">
                                      <p:cBhvr>
                                        <p:cTn id="47" dur="500"/>
                                        <p:tgtEl>
                                          <p:spTgt spid="1833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340" grpId="0" autoUpdateAnimBg="0"/>
      <p:bldP spid="183357" grpId="0" autoUpdateAnimBg="0"/>
      <p:bldP spid="183358"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9721" name="Rectangle 89"/>
          <p:cNvSpPr>
            <a:spLocks noChangeArrowheads="1"/>
          </p:cNvSpPr>
          <p:nvPr/>
        </p:nvSpPr>
        <p:spPr bwMode="auto">
          <a:xfrm>
            <a:off x="515144" y="459776"/>
            <a:ext cx="4802188" cy="461962"/>
          </a:xfrm>
          <a:prstGeom prst="rect">
            <a:avLst/>
          </a:prstGeom>
          <a:noFill/>
          <a:ln w="9525">
            <a:noFill/>
            <a:miter lim="800000"/>
            <a:headEnd/>
            <a:tailEnd/>
          </a:ln>
        </p:spPr>
        <p:txBody>
          <a:bodyPr wrap="none" lIns="92075" tIns="46038" rIns="92075" bIns="46038">
            <a:spAutoFit/>
          </a:bodyPr>
          <a:lstStyle/>
          <a:p>
            <a:pPr eaLnBrk="0" hangingPunct="0">
              <a:defRPr/>
            </a:pPr>
            <a:r>
              <a:rPr kumimoji="1" lang="zh-CN" altLang="en-US" sz="2400" b="1" dirty="0">
                <a:solidFill>
                  <a:srgbClr val="FF0000"/>
                </a:solidFill>
                <a:latin typeface="楷体" panose="02010609060101010101" pitchFamily="49" charset="-122"/>
                <a:ea typeface="楷体" panose="02010609060101010101" pitchFamily="49" charset="-122"/>
                <a:cs typeface="Times New Roman" pitchFamily="18" charset="0"/>
              </a:rPr>
              <a:t>例</a:t>
            </a:r>
            <a:r>
              <a:rPr kumimoji="1" lang="zh-CN" altLang="en-US" sz="2400" b="1" dirty="0">
                <a:latin typeface="楷体" panose="02010609060101010101" pitchFamily="49" charset="-122"/>
                <a:ea typeface="楷体" panose="02010609060101010101" pitchFamily="49" charset="-122"/>
                <a:cs typeface="Times New Roman" pitchFamily="18" charset="0"/>
              </a:rPr>
              <a:t>：计算图示变截面杆的轴向变形</a:t>
            </a:r>
          </a:p>
        </p:txBody>
      </p:sp>
      <p:sp>
        <p:nvSpPr>
          <p:cNvPr id="69740" name="Rectangle 108"/>
          <p:cNvSpPr>
            <a:spLocks noChangeArrowheads="1"/>
          </p:cNvSpPr>
          <p:nvPr/>
        </p:nvSpPr>
        <p:spPr bwMode="auto">
          <a:xfrm>
            <a:off x="3671820" y="1032113"/>
            <a:ext cx="4968875" cy="831850"/>
          </a:xfrm>
          <a:prstGeom prst="rect">
            <a:avLst/>
          </a:prstGeom>
          <a:noFill/>
          <a:ln w="9525">
            <a:noFill/>
            <a:miter lim="800000"/>
            <a:headEnd/>
            <a:tailEnd/>
          </a:ln>
        </p:spPr>
        <p:txBody>
          <a:bodyPr lIns="92075" tIns="46038" rIns="92075" bIns="46038">
            <a:spAutoFit/>
          </a:bodyPr>
          <a:lstStyle/>
          <a:p>
            <a:pPr eaLnBrk="0" hangingPunct="0">
              <a:defRPr/>
            </a:pPr>
            <a:r>
              <a:rPr kumimoji="1" lang="zh-CN" altLang="en-US" sz="2400" b="1" dirty="0">
                <a:latin typeface="Times New Roman" pitchFamily="18" charset="0"/>
                <a:ea typeface="华文楷体" pitchFamily="2" charset="-122"/>
                <a:cs typeface="Times New Roman" pitchFamily="18" charset="0"/>
              </a:rPr>
              <a:t>已知：弹性模量</a:t>
            </a:r>
            <a:r>
              <a:rPr kumimoji="1" lang="en-US" altLang="zh-CN" sz="2400" i="1" dirty="0">
                <a:latin typeface="Times New Roman" pitchFamily="18" charset="0"/>
                <a:ea typeface="华文楷体" pitchFamily="2" charset="-122"/>
                <a:cs typeface="Times New Roman" pitchFamily="18" charset="0"/>
              </a:rPr>
              <a:t>E</a:t>
            </a:r>
            <a:r>
              <a:rPr kumimoji="1" lang="zh-CN" altLang="en-US" sz="2400" b="1" dirty="0">
                <a:latin typeface="Times New Roman" pitchFamily="18" charset="0"/>
                <a:ea typeface="华文楷体" pitchFamily="2" charset="-122"/>
                <a:cs typeface="Times New Roman" pitchFamily="18" charset="0"/>
              </a:rPr>
              <a:t>，下表面面积</a:t>
            </a:r>
            <a:r>
              <a:rPr kumimoji="1" lang="en-US" altLang="zh-CN" sz="2400" i="1" dirty="0">
                <a:latin typeface="Times New Roman" pitchFamily="18" charset="0"/>
                <a:ea typeface="华文楷体" pitchFamily="2" charset="-122"/>
                <a:cs typeface="Times New Roman" pitchFamily="18" charset="0"/>
              </a:rPr>
              <a:t>A</a:t>
            </a:r>
            <a:r>
              <a:rPr kumimoji="1" lang="en-US" altLang="zh-CN" sz="1600" b="1" dirty="0">
                <a:latin typeface="Times New Roman" pitchFamily="18" charset="0"/>
                <a:ea typeface="华文楷体" pitchFamily="2" charset="-122"/>
                <a:cs typeface="Times New Roman" pitchFamily="18" charset="0"/>
              </a:rPr>
              <a:t>0</a:t>
            </a:r>
            <a:r>
              <a:rPr kumimoji="1" lang="zh-CN" altLang="en-US" sz="2400" b="1" dirty="0">
                <a:latin typeface="Times New Roman" pitchFamily="18" charset="0"/>
                <a:ea typeface="华文楷体" pitchFamily="2" charset="-122"/>
                <a:cs typeface="Times New Roman" pitchFamily="18" charset="0"/>
              </a:rPr>
              <a:t>，上表面面积</a:t>
            </a:r>
            <a:r>
              <a:rPr kumimoji="1" lang="en-US" altLang="zh-CN" sz="2400" i="1" dirty="0">
                <a:latin typeface="Times New Roman" pitchFamily="18" charset="0"/>
                <a:ea typeface="华文楷体" pitchFamily="2" charset="-122"/>
                <a:cs typeface="Times New Roman" pitchFamily="18" charset="0"/>
              </a:rPr>
              <a:t>A</a:t>
            </a:r>
            <a:r>
              <a:rPr kumimoji="1" lang="en-US" altLang="zh-CN" sz="1600" b="1" dirty="0">
                <a:latin typeface="Times New Roman" pitchFamily="18" charset="0"/>
                <a:ea typeface="华文楷体" pitchFamily="2" charset="-122"/>
                <a:cs typeface="Times New Roman" pitchFamily="18" charset="0"/>
              </a:rPr>
              <a:t>1</a:t>
            </a:r>
            <a:r>
              <a:rPr kumimoji="1" lang="zh-CN" altLang="en-US" sz="2400" b="1" dirty="0">
                <a:latin typeface="Times New Roman" pitchFamily="18" charset="0"/>
                <a:ea typeface="华文楷体" pitchFamily="2" charset="-122"/>
                <a:cs typeface="Times New Roman" pitchFamily="18" charset="0"/>
              </a:rPr>
              <a:t>，高</a:t>
            </a:r>
            <a:r>
              <a:rPr kumimoji="1" lang="en-US" altLang="zh-CN" sz="2400" i="1" dirty="0">
                <a:latin typeface="Times New Roman" pitchFamily="18" charset="0"/>
                <a:ea typeface="华文楷体" pitchFamily="2" charset="-122"/>
                <a:cs typeface="Times New Roman" pitchFamily="18" charset="0"/>
              </a:rPr>
              <a:t>L</a:t>
            </a:r>
            <a:r>
              <a:rPr kumimoji="1" lang="zh-CN" altLang="en-US" sz="2400" b="1" dirty="0">
                <a:latin typeface="Times New Roman" pitchFamily="18" charset="0"/>
                <a:ea typeface="华文楷体" pitchFamily="2" charset="-122"/>
                <a:cs typeface="Times New Roman" pitchFamily="18" charset="0"/>
              </a:rPr>
              <a:t>和载荷</a:t>
            </a:r>
            <a:r>
              <a:rPr kumimoji="1" lang="en-US" altLang="zh-CN" sz="2400" b="1" i="1" dirty="0">
                <a:latin typeface="Times New Roman" pitchFamily="18" charset="0"/>
                <a:ea typeface="华文楷体" pitchFamily="2" charset="-122"/>
                <a:cs typeface="Times New Roman" pitchFamily="18" charset="0"/>
              </a:rPr>
              <a:t>F</a:t>
            </a:r>
          </a:p>
        </p:txBody>
      </p:sp>
      <p:graphicFrame>
        <p:nvGraphicFramePr>
          <p:cNvPr id="69752" name="Object 120"/>
          <p:cNvGraphicFramePr>
            <a:graphicFrameLocks noGrp="1" noChangeAspect="1"/>
          </p:cNvGraphicFramePr>
          <p:nvPr>
            <p:ph sz="half" idx="4294967295"/>
          </p:nvPr>
        </p:nvGraphicFramePr>
        <p:xfrm>
          <a:off x="5830888" y="5422900"/>
          <a:ext cx="3313112" cy="781050"/>
        </p:xfrm>
        <a:graphic>
          <a:graphicData uri="http://schemas.openxmlformats.org/presentationml/2006/ole">
            <mc:AlternateContent xmlns:mc="http://schemas.openxmlformats.org/markup-compatibility/2006">
              <mc:Choice xmlns:v="urn:schemas-microsoft-com:vml" Requires="v">
                <p:oleObj name="Equation" r:id="rId2" imgW="1790700" imgH="431800" progId="Equation.DSMT4">
                  <p:embed/>
                </p:oleObj>
              </mc:Choice>
              <mc:Fallback>
                <p:oleObj name="Equation" r:id="rId2" imgW="1790700" imgH="431800"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0888" y="5422900"/>
                        <a:ext cx="3313112" cy="781050"/>
                      </a:xfrm>
                      <a:prstGeom prst="rect">
                        <a:avLst/>
                      </a:prstGeom>
                      <a:noFill/>
                      <a:ln>
                        <a:noFill/>
                      </a:ln>
                      <a:effectLst/>
                    </p:spPr>
                  </p:pic>
                </p:oleObj>
              </mc:Fallback>
            </mc:AlternateContent>
          </a:graphicData>
        </a:graphic>
      </p:graphicFrame>
      <p:graphicFrame>
        <p:nvGraphicFramePr>
          <p:cNvPr id="69746" name="Object 114"/>
          <p:cNvGraphicFramePr>
            <a:graphicFrameLocks noGrp="1" noChangeAspect="1"/>
          </p:cNvGraphicFramePr>
          <p:nvPr>
            <p:ph sz="quarter" idx="4294967295"/>
            <p:extLst>
              <p:ext uri="{D42A27DB-BD31-4B8C-83A1-F6EECF244321}">
                <p14:modId xmlns:p14="http://schemas.microsoft.com/office/powerpoint/2010/main" val="4213744443"/>
              </p:ext>
            </p:extLst>
          </p:nvPr>
        </p:nvGraphicFramePr>
        <p:xfrm>
          <a:off x="6012160" y="2510707"/>
          <a:ext cx="876300" cy="477838"/>
        </p:xfrm>
        <a:graphic>
          <a:graphicData uri="http://schemas.openxmlformats.org/presentationml/2006/ole">
            <mc:AlternateContent xmlns:mc="http://schemas.openxmlformats.org/markup-compatibility/2006">
              <mc:Choice xmlns:v="urn:schemas-microsoft-com:vml" Requires="v">
                <p:oleObj name="Equation" r:id="rId4" imgW="419040" imgH="228600" progId="Equation.DSMT4">
                  <p:embed/>
                </p:oleObj>
              </mc:Choice>
              <mc:Fallback>
                <p:oleObj name="Equation" r:id="rId4" imgW="419040" imgH="228600" progId="Equation.DSMT4">
                  <p:embed/>
                  <p:pic>
                    <p:nvPicPr>
                      <p:cNvPr id="0" name=""/>
                      <p:cNvPicPr>
                        <a:picLocks noChangeAspect="1" noChangeArrowheads="1"/>
                      </p:cNvPicPr>
                      <p:nvPr/>
                    </p:nvPicPr>
                    <p:blipFill>
                      <a:blip r:embed="rId5"/>
                      <a:srcRect/>
                      <a:stretch>
                        <a:fillRect/>
                      </a:stretch>
                    </p:blipFill>
                    <p:spPr bwMode="auto">
                      <a:xfrm>
                        <a:off x="6012160" y="2510707"/>
                        <a:ext cx="876300" cy="477838"/>
                      </a:xfrm>
                      <a:prstGeom prst="rect">
                        <a:avLst/>
                      </a:prstGeom>
                      <a:noFill/>
                      <a:ln>
                        <a:noFill/>
                      </a:ln>
                      <a:effectLst/>
                    </p:spPr>
                  </p:pic>
                </p:oleObj>
              </mc:Fallback>
            </mc:AlternateContent>
          </a:graphicData>
        </a:graphic>
      </p:graphicFrame>
      <p:sp>
        <p:nvSpPr>
          <p:cNvPr id="69745" name="Rectangle 113"/>
          <p:cNvSpPr>
            <a:spLocks noChangeArrowheads="1"/>
          </p:cNvSpPr>
          <p:nvPr/>
        </p:nvSpPr>
        <p:spPr bwMode="auto">
          <a:xfrm>
            <a:off x="5375179" y="2007658"/>
            <a:ext cx="2663825" cy="461963"/>
          </a:xfrm>
          <a:prstGeom prst="rect">
            <a:avLst/>
          </a:prstGeom>
          <a:noFill/>
          <a:ln w="9525">
            <a:noFill/>
            <a:miter lim="800000"/>
            <a:headEnd/>
            <a:tailEnd/>
          </a:ln>
        </p:spPr>
        <p:txBody>
          <a:bodyPr lIns="92075" tIns="46038" rIns="92075" bIns="46038">
            <a:spAutoFit/>
          </a:bodyPr>
          <a:lstStyle/>
          <a:p>
            <a:pPr eaLnBrk="0" hangingPunct="0">
              <a:defRPr/>
            </a:pPr>
            <a:r>
              <a:rPr kumimoji="1" lang="en-US" altLang="zh-CN" sz="2400" b="1" dirty="0">
                <a:solidFill>
                  <a:srgbClr val="0000FF"/>
                </a:solidFill>
                <a:latin typeface="楷体" panose="02010609060101010101" pitchFamily="49" charset="-122"/>
                <a:ea typeface="楷体" panose="02010609060101010101" pitchFamily="49" charset="-122"/>
                <a:cs typeface="Times New Roman" pitchFamily="18" charset="0"/>
              </a:rPr>
              <a:t>1</a:t>
            </a:r>
            <a:r>
              <a:rPr kumimoji="1" lang="zh-CN" altLang="en-US" sz="2400" b="1" dirty="0">
                <a:solidFill>
                  <a:srgbClr val="0000FF"/>
                </a:solidFill>
                <a:latin typeface="楷体" panose="02010609060101010101" pitchFamily="49" charset="-122"/>
                <a:ea typeface="楷体" panose="02010609060101010101" pitchFamily="49" charset="-122"/>
                <a:cs typeface="Times New Roman" pitchFamily="18" charset="0"/>
              </a:rPr>
              <a:t>、内力分析</a:t>
            </a:r>
          </a:p>
        </p:txBody>
      </p:sp>
      <p:graphicFrame>
        <p:nvGraphicFramePr>
          <p:cNvPr id="69756" name="Object 124"/>
          <p:cNvGraphicFramePr>
            <a:graphicFrameLocks noChangeAspect="1"/>
          </p:cNvGraphicFramePr>
          <p:nvPr/>
        </p:nvGraphicFramePr>
        <p:xfrm>
          <a:off x="5091395" y="3501130"/>
          <a:ext cx="2016125" cy="801688"/>
        </p:xfrm>
        <a:graphic>
          <a:graphicData uri="http://schemas.openxmlformats.org/presentationml/2006/ole">
            <mc:AlternateContent xmlns:mc="http://schemas.openxmlformats.org/markup-compatibility/2006">
              <mc:Choice xmlns:v="urn:schemas-microsoft-com:vml" Requires="v">
                <p:oleObj name="Equation" r:id="rId6" imgW="952200" imgH="431640" progId="Equation.DSMT4">
                  <p:embed/>
                </p:oleObj>
              </mc:Choice>
              <mc:Fallback>
                <p:oleObj name="Equation" r:id="rId6" imgW="952200" imgH="431640" progId="Equation.DSMT4">
                  <p:embed/>
                  <p:pic>
                    <p:nvPicPr>
                      <p:cNvPr id="0" name=""/>
                      <p:cNvPicPr>
                        <a:picLocks noChangeAspect="1" noChangeArrowheads="1"/>
                      </p:cNvPicPr>
                      <p:nvPr/>
                    </p:nvPicPr>
                    <p:blipFill>
                      <a:blip r:embed="rId7"/>
                      <a:srcRect/>
                      <a:stretch>
                        <a:fillRect/>
                      </a:stretch>
                    </p:blipFill>
                    <p:spPr bwMode="auto">
                      <a:xfrm>
                        <a:off x="5091395" y="3501130"/>
                        <a:ext cx="2016125" cy="801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757" name="Object 125"/>
          <p:cNvGraphicFramePr>
            <a:graphicFrameLocks noChangeAspect="1"/>
          </p:cNvGraphicFramePr>
          <p:nvPr/>
        </p:nvGraphicFramePr>
        <p:xfrm>
          <a:off x="4354444" y="4476428"/>
          <a:ext cx="3603625" cy="773113"/>
        </p:xfrm>
        <a:graphic>
          <a:graphicData uri="http://schemas.openxmlformats.org/presentationml/2006/ole">
            <mc:AlternateContent xmlns:mc="http://schemas.openxmlformats.org/markup-compatibility/2006">
              <mc:Choice xmlns:v="urn:schemas-microsoft-com:vml" Requires="v">
                <p:oleObj name="Equation" r:id="rId8" imgW="1612800" imgH="419040" progId="Equation.DSMT4">
                  <p:embed/>
                </p:oleObj>
              </mc:Choice>
              <mc:Fallback>
                <p:oleObj name="Equation" r:id="rId8" imgW="1612800" imgH="419040" progId="Equation.DSMT4">
                  <p:embed/>
                  <p:pic>
                    <p:nvPicPr>
                      <p:cNvPr id="0" name=""/>
                      <p:cNvPicPr>
                        <a:picLocks noChangeAspect="1" noChangeArrowheads="1"/>
                      </p:cNvPicPr>
                      <p:nvPr/>
                    </p:nvPicPr>
                    <p:blipFill>
                      <a:blip r:embed="rId9"/>
                      <a:srcRect/>
                      <a:stretch>
                        <a:fillRect/>
                      </a:stretch>
                    </p:blipFill>
                    <p:spPr bwMode="auto">
                      <a:xfrm>
                        <a:off x="4354444" y="4476428"/>
                        <a:ext cx="3603625" cy="773113"/>
                      </a:xfrm>
                      <a:prstGeom prst="rect">
                        <a:avLst/>
                      </a:prstGeom>
                      <a:noFill/>
                      <a:ln>
                        <a:noFill/>
                      </a:ln>
                      <a:effectLst/>
                    </p:spPr>
                  </p:pic>
                </p:oleObj>
              </mc:Fallback>
            </mc:AlternateContent>
          </a:graphicData>
        </a:graphic>
      </p:graphicFrame>
      <p:graphicFrame>
        <p:nvGraphicFramePr>
          <p:cNvPr id="69758" name="Object 126"/>
          <p:cNvGraphicFramePr>
            <a:graphicFrameLocks noChangeAspect="1"/>
          </p:cNvGraphicFramePr>
          <p:nvPr/>
        </p:nvGraphicFramePr>
        <p:xfrm>
          <a:off x="939525" y="4493202"/>
          <a:ext cx="2931623" cy="716221"/>
        </p:xfrm>
        <a:graphic>
          <a:graphicData uri="http://schemas.openxmlformats.org/presentationml/2006/ole">
            <mc:AlternateContent xmlns:mc="http://schemas.openxmlformats.org/markup-compatibility/2006">
              <mc:Choice xmlns:v="urn:schemas-microsoft-com:vml" Requires="v">
                <p:oleObj name="公式" r:id="rId10" imgW="1333500" imgH="393700" progId="Equation.3">
                  <p:embed/>
                </p:oleObj>
              </mc:Choice>
              <mc:Fallback>
                <p:oleObj name="公式" r:id="rId10" imgW="1333500" imgH="3937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39525" y="4493202"/>
                        <a:ext cx="2931623" cy="716221"/>
                      </a:xfrm>
                      <a:prstGeom prst="rect">
                        <a:avLst/>
                      </a:prstGeom>
                      <a:noFill/>
                      <a:ln>
                        <a:noFill/>
                      </a:ln>
                      <a:effectLst/>
                    </p:spPr>
                  </p:pic>
                </p:oleObj>
              </mc:Fallback>
            </mc:AlternateContent>
          </a:graphicData>
        </a:graphic>
      </p:graphicFrame>
      <p:sp>
        <p:nvSpPr>
          <p:cNvPr id="69766" name="Rectangle 134"/>
          <p:cNvSpPr>
            <a:spLocks noChangeArrowheads="1"/>
          </p:cNvSpPr>
          <p:nvPr/>
        </p:nvSpPr>
        <p:spPr bwMode="auto">
          <a:xfrm>
            <a:off x="4505142" y="2004054"/>
            <a:ext cx="865188" cy="461962"/>
          </a:xfrm>
          <a:prstGeom prst="rect">
            <a:avLst/>
          </a:prstGeom>
          <a:noFill/>
          <a:ln w="9525">
            <a:noFill/>
            <a:miter lim="800000"/>
            <a:headEnd/>
            <a:tailEnd/>
          </a:ln>
        </p:spPr>
        <p:txBody>
          <a:bodyPr lIns="92075" tIns="46038" rIns="92075" bIns="46038">
            <a:spAutoFit/>
          </a:bodyPr>
          <a:lstStyle/>
          <a:p>
            <a:pPr eaLnBrk="0" hangingPunct="0">
              <a:defRPr/>
            </a:pPr>
            <a:r>
              <a:rPr kumimoji="1" lang="zh-CN" altLang="en-US" sz="2400" b="1" dirty="0">
                <a:solidFill>
                  <a:srgbClr val="0000FF"/>
                </a:solidFill>
                <a:latin typeface="楷体" panose="02010609060101010101" pitchFamily="49" charset="-122"/>
                <a:ea typeface="楷体" panose="02010609060101010101" pitchFamily="49" charset="-122"/>
                <a:cs typeface="Times New Roman" pitchFamily="18" charset="0"/>
              </a:rPr>
              <a:t>解：</a:t>
            </a:r>
          </a:p>
        </p:txBody>
      </p:sp>
      <p:sp>
        <p:nvSpPr>
          <p:cNvPr id="69767" name="Rectangle 135"/>
          <p:cNvSpPr>
            <a:spLocks noChangeArrowheads="1"/>
          </p:cNvSpPr>
          <p:nvPr/>
        </p:nvSpPr>
        <p:spPr bwMode="auto">
          <a:xfrm>
            <a:off x="5384175" y="3032624"/>
            <a:ext cx="2663825" cy="461962"/>
          </a:xfrm>
          <a:prstGeom prst="rect">
            <a:avLst/>
          </a:prstGeom>
          <a:noFill/>
          <a:ln w="9525">
            <a:noFill/>
            <a:miter lim="800000"/>
            <a:headEnd/>
            <a:tailEnd/>
          </a:ln>
        </p:spPr>
        <p:txBody>
          <a:bodyPr lIns="92075" tIns="46038" rIns="92075" bIns="46038">
            <a:spAutoFit/>
          </a:bodyPr>
          <a:lstStyle/>
          <a:p>
            <a:pPr eaLnBrk="0" hangingPunct="0">
              <a:defRPr/>
            </a:pPr>
            <a:r>
              <a:rPr kumimoji="1" lang="en-US" altLang="zh-CN" sz="2400" b="1" dirty="0">
                <a:solidFill>
                  <a:srgbClr val="0000FF"/>
                </a:solidFill>
                <a:latin typeface="Times New Roman" pitchFamily="18" charset="0"/>
                <a:ea typeface="华文楷体" pitchFamily="2" charset="-122"/>
                <a:cs typeface="Times New Roman" pitchFamily="18" charset="0"/>
              </a:rPr>
              <a:t>2</a:t>
            </a:r>
            <a:r>
              <a:rPr kumimoji="1" lang="zh-CN" altLang="en-US" sz="2400" b="1" dirty="0">
                <a:solidFill>
                  <a:srgbClr val="0000FF"/>
                </a:solidFill>
                <a:latin typeface="Times New Roman" pitchFamily="18" charset="0"/>
                <a:ea typeface="华文楷体" pitchFamily="2" charset="-122"/>
                <a:cs typeface="Times New Roman" pitchFamily="18" charset="0"/>
              </a:rPr>
              <a:t>、变形计算</a:t>
            </a:r>
          </a:p>
        </p:txBody>
      </p:sp>
      <p:sp>
        <p:nvSpPr>
          <p:cNvPr id="4114" name="Rectangle 138"/>
          <p:cNvSpPr>
            <a:spLocks noChangeArrowheads="1"/>
          </p:cNvSpPr>
          <p:nvPr/>
        </p:nvSpPr>
        <p:spPr bwMode="auto">
          <a:xfrm>
            <a:off x="851954" y="5605923"/>
            <a:ext cx="3125326" cy="462307"/>
          </a:xfrm>
          <a:prstGeom prst="rect">
            <a:avLst/>
          </a:prstGeom>
          <a:noFill/>
          <a:ln w="9525">
            <a:noFill/>
            <a:miter lim="800000"/>
            <a:headEnd/>
            <a:tailEnd/>
          </a:ln>
        </p:spPr>
        <p:txBody>
          <a:bodyPr wrap="square" lIns="92075" tIns="46038" rIns="92075" bIns="46038">
            <a:spAutoFit/>
          </a:bodyPr>
          <a:lstStyle/>
          <a:p>
            <a:pPr eaLnBrk="0" hangingPunct="0">
              <a:defRPr/>
            </a:pPr>
            <a:r>
              <a:rPr kumimoji="1" lang="zh-CN" altLang="en-US" sz="2400" b="1" dirty="0">
                <a:solidFill>
                  <a:srgbClr val="0000FF"/>
                </a:solidFill>
                <a:latin typeface="楷体" panose="02010609060101010101" pitchFamily="49" charset="-122"/>
                <a:ea typeface="楷体" panose="02010609060101010101" pitchFamily="49" charset="-122"/>
                <a:cs typeface="Times New Roman" pitchFamily="18" charset="0"/>
              </a:rPr>
              <a:t>若考虑自重（自练）</a:t>
            </a:r>
          </a:p>
        </p:txBody>
      </p:sp>
      <p:grpSp>
        <p:nvGrpSpPr>
          <p:cNvPr id="3" name="组合 2"/>
          <p:cNvGrpSpPr/>
          <p:nvPr/>
        </p:nvGrpSpPr>
        <p:grpSpPr>
          <a:xfrm>
            <a:off x="3389630" y="2307055"/>
            <a:ext cx="1100292" cy="2044543"/>
            <a:chOff x="3297877" y="2171858"/>
            <a:chExt cx="1100292" cy="2044543"/>
          </a:xfrm>
        </p:grpSpPr>
        <p:sp>
          <p:nvSpPr>
            <p:cNvPr id="43" name="AutoShape 101" descr="花岗岩"/>
            <p:cNvSpPr>
              <a:spLocks noChangeArrowheads="1"/>
            </p:cNvSpPr>
            <p:nvPr/>
          </p:nvSpPr>
          <p:spPr bwMode="auto">
            <a:xfrm>
              <a:off x="3297877" y="2732606"/>
              <a:ext cx="1100292" cy="93979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11 w 21600"/>
                <a:gd name="T13" fmla="*/ 4507 h 21600"/>
                <a:gd name="T14" fmla="*/ 17089 w 21600"/>
                <a:gd name="T15" fmla="*/ 17093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blipFill dpi="0" rotWithShape="1">
              <a:blip r:embed="rId12"/>
              <a:srcRect/>
              <a:tile tx="0" ty="0" sx="100000" sy="100000" flip="none" algn="tl"/>
            </a:blipFill>
            <a:ln w="9525">
              <a:solidFill>
                <a:srgbClr val="808080"/>
              </a:solidFill>
              <a:miter lim="800000"/>
              <a:headEnd/>
              <a:tailEnd/>
            </a:ln>
          </p:spPr>
          <p:txBody>
            <a:bodyPr wrap="none" anchor="ct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44" name="Line 105"/>
            <p:cNvSpPr>
              <a:spLocks noChangeShapeType="1"/>
            </p:cNvSpPr>
            <p:nvPr/>
          </p:nvSpPr>
          <p:spPr bwMode="auto">
            <a:xfrm>
              <a:off x="3848023" y="3672404"/>
              <a:ext cx="0" cy="504825"/>
            </a:xfrm>
            <a:prstGeom prst="line">
              <a:avLst/>
            </a:prstGeom>
            <a:noFill/>
            <a:ln w="41275">
              <a:solidFill>
                <a:srgbClr val="FF0000"/>
              </a:solidFill>
              <a:round/>
              <a:headEnd/>
              <a:tailEnd type="triangle" w="med" len="me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45" name="Text Box 106"/>
            <p:cNvSpPr txBox="1">
              <a:spLocks noChangeArrowheads="1"/>
            </p:cNvSpPr>
            <p:nvPr/>
          </p:nvSpPr>
          <p:spPr bwMode="auto">
            <a:xfrm>
              <a:off x="3419032" y="3759201"/>
              <a:ext cx="360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i="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F</a:t>
              </a:r>
            </a:p>
          </p:txBody>
        </p:sp>
        <p:sp>
          <p:nvSpPr>
            <p:cNvPr id="46" name="Line 105"/>
            <p:cNvSpPr>
              <a:spLocks noChangeShapeType="1"/>
            </p:cNvSpPr>
            <p:nvPr/>
          </p:nvSpPr>
          <p:spPr bwMode="auto">
            <a:xfrm flipV="1">
              <a:off x="3848023" y="2239962"/>
              <a:ext cx="0" cy="504825"/>
            </a:xfrm>
            <a:prstGeom prst="line">
              <a:avLst/>
            </a:prstGeom>
            <a:noFill/>
            <a:ln w="41275">
              <a:solidFill>
                <a:srgbClr val="FF0000"/>
              </a:solidFill>
              <a:round/>
              <a:headEnd/>
              <a:tailEnd type="triangle" w="med" len="me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47" name="Text Box 106"/>
            <p:cNvSpPr txBox="1">
              <a:spLocks noChangeArrowheads="1"/>
            </p:cNvSpPr>
            <p:nvPr/>
          </p:nvSpPr>
          <p:spPr bwMode="auto">
            <a:xfrm>
              <a:off x="3356139" y="2171858"/>
              <a:ext cx="8983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i="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F</a:t>
              </a:r>
              <a:r>
                <a:rPr lang="en-US" altLang="zh-CN" sz="2400" b="1" baseline="-250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N</a:t>
              </a:r>
            </a:p>
          </p:txBody>
        </p:sp>
      </p:grpSp>
      <p:grpSp>
        <p:nvGrpSpPr>
          <p:cNvPr id="4" name="组合 3"/>
          <p:cNvGrpSpPr/>
          <p:nvPr/>
        </p:nvGrpSpPr>
        <p:grpSpPr>
          <a:xfrm>
            <a:off x="554038" y="1209075"/>
            <a:ext cx="2465388" cy="2805113"/>
            <a:chOff x="554038" y="1209075"/>
            <a:chExt cx="2465388" cy="2805113"/>
          </a:xfrm>
        </p:grpSpPr>
        <p:grpSp>
          <p:nvGrpSpPr>
            <p:cNvPr id="2" name="Group 107"/>
            <p:cNvGrpSpPr>
              <a:grpSpLocks/>
            </p:cNvGrpSpPr>
            <p:nvPr/>
          </p:nvGrpSpPr>
          <p:grpSpPr bwMode="auto">
            <a:xfrm>
              <a:off x="554038" y="1209075"/>
              <a:ext cx="2465388" cy="2805113"/>
              <a:chOff x="349" y="772"/>
              <a:chExt cx="1553" cy="1767"/>
            </a:xfrm>
          </p:grpSpPr>
          <p:grpSp>
            <p:nvGrpSpPr>
              <p:cNvPr id="26650" name="Group 100"/>
              <p:cNvGrpSpPr>
                <a:grpSpLocks/>
              </p:cNvGrpSpPr>
              <p:nvPr/>
            </p:nvGrpSpPr>
            <p:grpSpPr bwMode="auto">
              <a:xfrm>
                <a:off x="406" y="772"/>
                <a:ext cx="1496" cy="118"/>
                <a:chOff x="406" y="772"/>
                <a:chExt cx="1496" cy="118"/>
              </a:xfrm>
            </p:grpSpPr>
            <p:sp>
              <p:nvSpPr>
                <p:cNvPr id="4129" name="Line 90"/>
                <p:cNvSpPr>
                  <a:spLocks noChangeShapeType="1"/>
                </p:cNvSpPr>
                <p:nvPr/>
              </p:nvSpPr>
              <p:spPr bwMode="auto">
                <a:xfrm>
                  <a:off x="406" y="890"/>
                  <a:ext cx="1496" cy="0"/>
                </a:xfrm>
                <a:prstGeom prst="line">
                  <a:avLst/>
                </a:prstGeom>
                <a:noFill/>
                <a:ln w="38100">
                  <a:solidFill>
                    <a:srgbClr val="000000"/>
                  </a:solidFill>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4130" name="Line 91"/>
                <p:cNvSpPr>
                  <a:spLocks noChangeAspect="1" noChangeShapeType="1"/>
                </p:cNvSpPr>
                <p:nvPr/>
              </p:nvSpPr>
              <p:spPr bwMode="auto">
                <a:xfrm flipH="1">
                  <a:off x="1683" y="772"/>
                  <a:ext cx="86" cy="110"/>
                </a:xfrm>
                <a:prstGeom prst="line">
                  <a:avLst/>
                </a:prstGeom>
                <a:noFill/>
                <a:ln w="25400">
                  <a:solidFill>
                    <a:srgbClr val="000000"/>
                  </a:solidFill>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grpSp>
          <p:sp>
            <p:nvSpPr>
              <p:cNvPr id="4123" name="AutoShape 101" descr="花岗岩"/>
              <p:cNvSpPr>
                <a:spLocks noChangeArrowheads="1"/>
              </p:cNvSpPr>
              <p:nvPr/>
            </p:nvSpPr>
            <p:spPr bwMode="auto">
              <a:xfrm>
                <a:off x="721" y="902"/>
                <a:ext cx="771" cy="127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11 w 21600"/>
                  <a:gd name="T13" fmla="*/ 4507 h 21600"/>
                  <a:gd name="T14" fmla="*/ 17089 w 21600"/>
                  <a:gd name="T15" fmla="*/ 17093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blipFill dpi="0" rotWithShape="1">
                <a:blip r:embed="rId12"/>
                <a:srcRect/>
                <a:tile tx="0" ty="0" sx="100000" sy="100000" flip="none" algn="tl"/>
              </a:blipFill>
              <a:ln w="9525">
                <a:solidFill>
                  <a:srgbClr val="808080"/>
                </a:solidFill>
                <a:miter lim="800000"/>
                <a:headEnd/>
                <a:tailEnd/>
              </a:ln>
            </p:spPr>
            <p:txBody>
              <a:bodyPr wrap="none" anchor="ct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4124" name="Line 102"/>
              <p:cNvSpPr>
                <a:spLocks noChangeShapeType="1"/>
              </p:cNvSpPr>
              <p:nvPr/>
            </p:nvSpPr>
            <p:spPr bwMode="auto">
              <a:xfrm>
                <a:off x="385" y="2170"/>
                <a:ext cx="590" cy="0"/>
              </a:xfrm>
              <a:prstGeom prst="line">
                <a:avLst/>
              </a:prstGeom>
              <a:noFill/>
              <a:ln w="9525">
                <a:solidFill>
                  <a:srgbClr val="000000"/>
                </a:solidFill>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4125" name="Line 103"/>
              <p:cNvSpPr>
                <a:spLocks noChangeShapeType="1"/>
              </p:cNvSpPr>
              <p:nvPr/>
            </p:nvSpPr>
            <p:spPr bwMode="auto">
              <a:xfrm>
                <a:off x="567" y="890"/>
                <a:ext cx="0" cy="1270"/>
              </a:xfrm>
              <a:prstGeom prst="line">
                <a:avLst/>
              </a:prstGeom>
              <a:noFill/>
              <a:ln w="9525">
                <a:solidFill>
                  <a:srgbClr val="000000"/>
                </a:solidFill>
                <a:round/>
                <a:headEnd type="triangle" w="med" len="med"/>
                <a:tailEnd type="triangle" w="med" len="me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26654" name="Text Box 104"/>
              <p:cNvSpPr txBox="1">
                <a:spLocks noChangeArrowheads="1"/>
              </p:cNvSpPr>
              <p:nvPr/>
            </p:nvSpPr>
            <p:spPr bwMode="auto">
              <a:xfrm>
                <a:off x="349" y="1218"/>
                <a:ext cx="22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i="1" dirty="0">
                    <a:latin typeface="Times New Roman" panose="02020603050405020304" pitchFamily="18" charset="0"/>
                    <a:ea typeface="华文楷体" panose="02010600040101010101" pitchFamily="2" charset="-122"/>
                    <a:cs typeface="Times New Roman" panose="02020603050405020304" pitchFamily="18" charset="0"/>
                  </a:rPr>
                  <a:t>L</a:t>
                </a:r>
              </a:p>
            </p:txBody>
          </p:sp>
          <p:sp>
            <p:nvSpPr>
              <p:cNvPr id="4127" name="Line 105"/>
              <p:cNvSpPr>
                <a:spLocks noChangeShapeType="1"/>
              </p:cNvSpPr>
              <p:nvPr/>
            </p:nvSpPr>
            <p:spPr bwMode="auto">
              <a:xfrm>
                <a:off x="1102" y="2160"/>
                <a:ext cx="0" cy="318"/>
              </a:xfrm>
              <a:prstGeom prst="line">
                <a:avLst/>
              </a:prstGeom>
              <a:noFill/>
              <a:ln w="41275">
                <a:solidFill>
                  <a:srgbClr val="FF0000"/>
                </a:solidFill>
                <a:round/>
                <a:headEnd/>
                <a:tailEnd type="triangle" w="med" len="me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26656" name="Text Box 106"/>
              <p:cNvSpPr txBox="1">
                <a:spLocks noChangeArrowheads="1"/>
              </p:cNvSpPr>
              <p:nvPr/>
            </p:nvSpPr>
            <p:spPr bwMode="auto">
              <a:xfrm>
                <a:off x="839" y="2251"/>
                <a:ext cx="22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i="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F</a:t>
                </a:r>
              </a:p>
            </p:txBody>
          </p:sp>
        </p:grpSp>
        <p:sp>
          <p:nvSpPr>
            <p:cNvPr id="49" name="Line 91"/>
            <p:cNvSpPr>
              <a:spLocks noChangeAspect="1" noChangeShapeType="1"/>
            </p:cNvSpPr>
            <p:nvPr/>
          </p:nvSpPr>
          <p:spPr bwMode="auto">
            <a:xfrm flipH="1">
              <a:off x="865188" y="1226453"/>
              <a:ext cx="136525" cy="174625"/>
            </a:xfrm>
            <a:prstGeom prst="line">
              <a:avLst/>
            </a:prstGeom>
            <a:noFill/>
            <a:ln w="25400">
              <a:solidFill>
                <a:srgbClr val="000000"/>
              </a:solidFill>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50" name="Line 91"/>
            <p:cNvSpPr>
              <a:spLocks noChangeAspect="1" noChangeShapeType="1"/>
            </p:cNvSpPr>
            <p:nvPr/>
          </p:nvSpPr>
          <p:spPr bwMode="auto">
            <a:xfrm flipH="1">
              <a:off x="1002485" y="1226960"/>
              <a:ext cx="136525" cy="174625"/>
            </a:xfrm>
            <a:prstGeom prst="line">
              <a:avLst/>
            </a:prstGeom>
            <a:noFill/>
            <a:ln w="25400">
              <a:solidFill>
                <a:srgbClr val="000000"/>
              </a:solidFill>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51" name="Line 91"/>
            <p:cNvSpPr>
              <a:spLocks noChangeAspect="1" noChangeShapeType="1"/>
            </p:cNvSpPr>
            <p:nvPr/>
          </p:nvSpPr>
          <p:spPr bwMode="auto">
            <a:xfrm flipH="1">
              <a:off x="1139010" y="1222061"/>
              <a:ext cx="136525" cy="174625"/>
            </a:xfrm>
            <a:prstGeom prst="line">
              <a:avLst/>
            </a:prstGeom>
            <a:noFill/>
            <a:ln w="25400">
              <a:solidFill>
                <a:srgbClr val="000000"/>
              </a:solidFill>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52" name="Line 91"/>
            <p:cNvSpPr>
              <a:spLocks noChangeAspect="1" noChangeShapeType="1"/>
            </p:cNvSpPr>
            <p:nvPr/>
          </p:nvSpPr>
          <p:spPr bwMode="auto">
            <a:xfrm flipH="1">
              <a:off x="1275535" y="1217984"/>
              <a:ext cx="136525" cy="174625"/>
            </a:xfrm>
            <a:prstGeom prst="line">
              <a:avLst/>
            </a:prstGeom>
            <a:noFill/>
            <a:ln w="25400">
              <a:solidFill>
                <a:srgbClr val="000000"/>
              </a:solidFill>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53" name="Line 91"/>
            <p:cNvSpPr>
              <a:spLocks noChangeAspect="1" noChangeShapeType="1"/>
            </p:cNvSpPr>
            <p:nvPr/>
          </p:nvSpPr>
          <p:spPr bwMode="auto">
            <a:xfrm flipH="1">
              <a:off x="1422669" y="1220688"/>
              <a:ext cx="136525" cy="174625"/>
            </a:xfrm>
            <a:prstGeom prst="line">
              <a:avLst/>
            </a:prstGeom>
            <a:noFill/>
            <a:ln w="25400">
              <a:solidFill>
                <a:srgbClr val="000000"/>
              </a:solidFill>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54" name="Line 91"/>
            <p:cNvSpPr>
              <a:spLocks noChangeAspect="1" noChangeShapeType="1"/>
            </p:cNvSpPr>
            <p:nvPr/>
          </p:nvSpPr>
          <p:spPr bwMode="auto">
            <a:xfrm flipH="1">
              <a:off x="1559194" y="1219058"/>
              <a:ext cx="136525" cy="174625"/>
            </a:xfrm>
            <a:prstGeom prst="line">
              <a:avLst/>
            </a:prstGeom>
            <a:noFill/>
            <a:ln w="25400">
              <a:solidFill>
                <a:srgbClr val="000000"/>
              </a:solidFill>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55" name="Line 91"/>
            <p:cNvSpPr>
              <a:spLocks noChangeAspect="1" noChangeShapeType="1"/>
            </p:cNvSpPr>
            <p:nvPr/>
          </p:nvSpPr>
          <p:spPr bwMode="auto">
            <a:xfrm flipH="1">
              <a:off x="1689155" y="1223361"/>
              <a:ext cx="136525" cy="174625"/>
            </a:xfrm>
            <a:prstGeom prst="line">
              <a:avLst/>
            </a:prstGeom>
            <a:noFill/>
            <a:ln w="25400">
              <a:solidFill>
                <a:srgbClr val="000000"/>
              </a:solidFill>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56" name="Line 91"/>
            <p:cNvSpPr>
              <a:spLocks noChangeAspect="1" noChangeShapeType="1"/>
            </p:cNvSpPr>
            <p:nvPr/>
          </p:nvSpPr>
          <p:spPr bwMode="auto">
            <a:xfrm flipH="1">
              <a:off x="1836225" y="1226222"/>
              <a:ext cx="136525" cy="174625"/>
            </a:xfrm>
            <a:prstGeom prst="line">
              <a:avLst/>
            </a:prstGeom>
            <a:noFill/>
            <a:ln w="25400">
              <a:solidFill>
                <a:srgbClr val="000000"/>
              </a:solidFill>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57" name="Line 91"/>
            <p:cNvSpPr>
              <a:spLocks noChangeAspect="1" noChangeShapeType="1"/>
            </p:cNvSpPr>
            <p:nvPr/>
          </p:nvSpPr>
          <p:spPr bwMode="auto">
            <a:xfrm flipH="1">
              <a:off x="1972117" y="1215123"/>
              <a:ext cx="136525" cy="174625"/>
            </a:xfrm>
            <a:prstGeom prst="line">
              <a:avLst/>
            </a:prstGeom>
            <a:noFill/>
            <a:ln w="25400">
              <a:solidFill>
                <a:srgbClr val="000000"/>
              </a:solidFill>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58" name="Line 91"/>
            <p:cNvSpPr>
              <a:spLocks noChangeAspect="1" noChangeShapeType="1"/>
            </p:cNvSpPr>
            <p:nvPr/>
          </p:nvSpPr>
          <p:spPr bwMode="auto">
            <a:xfrm flipH="1">
              <a:off x="2106273" y="1226960"/>
              <a:ext cx="136525" cy="174625"/>
            </a:xfrm>
            <a:prstGeom prst="line">
              <a:avLst/>
            </a:prstGeom>
            <a:noFill/>
            <a:ln w="25400">
              <a:solidFill>
                <a:srgbClr val="000000"/>
              </a:solidFill>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59" name="Line 91"/>
            <p:cNvSpPr>
              <a:spLocks noChangeAspect="1" noChangeShapeType="1"/>
            </p:cNvSpPr>
            <p:nvPr/>
          </p:nvSpPr>
          <p:spPr bwMode="auto">
            <a:xfrm flipH="1">
              <a:off x="2242550" y="1223362"/>
              <a:ext cx="136525" cy="174625"/>
            </a:xfrm>
            <a:prstGeom prst="line">
              <a:avLst/>
            </a:prstGeom>
            <a:noFill/>
            <a:ln w="25400">
              <a:solidFill>
                <a:srgbClr val="000000"/>
              </a:solidFill>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60" name="Line 91"/>
            <p:cNvSpPr>
              <a:spLocks noChangeAspect="1" noChangeShapeType="1"/>
            </p:cNvSpPr>
            <p:nvPr/>
          </p:nvSpPr>
          <p:spPr bwMode="auto">
            <a:xfrm flipH="1">
              <a:off x="2377463" y="1219057"/>
              <a:ext cx="136525" cy="174625"/>
            </a:xfrm>
            <a:prstGeom prst="line">
              <a:avLst/>
            </a:prstGeom>
            <a:noFill/>
            <a:ln w="25400">
              <a:solidFill>
                <a:srgbClr val="000000"/>
              </a:solidFill>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61" name="Line 91"/>
            <p:cNvSpPr>
              <a:spLocks noChangeAspect="1" noChangeShapeType="1"/>
            </p:cNvSpPr>
            <p:nvPr/>
          </p:nvSpPr>
          <p:spPr bwMode="auto">
            <a:xfrm flipH="1">
              <a:off x="2522293" y="1215424"/>
              <a:ext cx="136525" cy="174625"/>
            </a:xfrm>
            <a:prstGeom prst="line">
              <a:avLst/>
            </a:prstGeom>
            <a:noFill/>
            <a:ln w="25400">
              <a:solidFill>
                <a:srgbClr val="000000"/>
              </a:solidFill>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grpSp>
      <p:grpSp>
        <p:nvGrpSpPr>
          <p:cNvPr id="5" name="Group 133"/>
          <p:cNvGrpSpPr>
            <a:grpSpLocks/>
          </p:cNvGrpSpPr>
          <p:nvPr/>
        </p:nvGrpSpPr>
        <p:grpSpPr bwMode="auto">
          <a:xfrm>
            <a:off x="1219838" y="2048744"/>
            <a:ext cx="2374900" cy="1382713"/>
            <a:chOff x="703" y="1298"/>
            <a:chExt cx="1496" cy="871"/>
          </a:xfrm>
        </p:grpSpPr>
        <p:sp>
          <p:nvSpPr>
            <p:cNvPr id="4115" name="Line 127"/>
            <p:cNvSpPr>
              <a:spLocks noChangeShapeType="1"/>
            </p:cNvSpPr>
            <p:nvPr/>
          </p:nvSpPr>
          <p:spPr bwMode="auto">
            <a:xfrm>
              <a:off x="1292" y="2169"/>
              <a:ext cx="545" cy="0"/>
            </a:xfrm>
            <a:prstGeom prst="line">
              <a:avLst/>
            </a:prstGeom>
            <a:noFill/>
            <a:ln w="12700">
              <a:solidFill>
                <a:srgbClr val="000000"/>
              </a:solidFill>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4116" name="Line 128"/>
            <p:cNvSpPr>
              <a:spLocks noChangeAspect="1" noChangeShapeType="1"/>
            </p:cNvSpPr>
            <p:nvPr/>
          </p:nvSpPr>
          <p:spPr bwMode="auto">
            <a:xfrm>
              <a:off x="703" y="1570"/>
              <a:ext cx="1134" cy="0"/>
            </a:xfrm>
            <a:prstGeom prst="line">
              <a:avLst/>
            </a:prstGeom>
            <a:noFill/>
            <a:ln w="12700">
              <a:solidFill>
                <a:srgbClr val="000000"/>
              </a:solidFill>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4117" name="Line 129"/>
            <p:cNvSpPr>
              <a:spLocks noChangeAspect="1" noChangeShapeType="1"/>
            </p:cNvSpPr>
            <p:nvPr/>
          </p:nvSpPr>
          <p:spPr bwMode="auto">
            <a:xfrm>
              <a:off x="703" y="1434"/>
              <a:ext cx="1134" cy="0"/>
            </a:xfrm>
            <a:prstGeom prst="line">
              <a:avLst/>
            </a:prstGeom>
            <a:noFill/>
            <a:ln w="12700">
              <a:solidFill>
                <a:srgbClr val="000000"/>
              </a:solidFill>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4118" name="Line 130"/>
            <p:cNvSpPr>
              <a:spLocks noChangeShapeType="1"/>
            </p:cNvSpPr>
            <p:nvPr/>
          </p:nvSpPr>
          <p:spPr bwMode="auto">
            <a:xfrm flipV="1">
              <a:off x="1565" y="1570"/>
              <a:ext cx="0" cy="590"/>
            </a:xfrm>
            <a:prstGeom prst="line">
              <a:avLst/>
            </a:prstGeom>
            <a:noFill/>
            <a:ln w="12700">
              <a:solidFill>
                <a:srgbClr val="000000"/>
              </a:solidFill>
              <a:round/>
              <a:headEnd type="triangle" w="med" len="med"/>
              <a:tailEnd type="triangle" w="med" len="me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26646" name="Rectangle 131"/>
            <p:cNvSpPr>
              <a:spLocks noChangeArrowheads="1"/>
            </p:cNvSpPr>
            <p:nvPr/>
          </p:nvSpPr>
          <p:spPr bwMode="auto">
            <a:xfrm>
              <a:off x="1565" y="1706"/>
              <a:ext cx="40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400" i="1" dirty="0">
                  <a:latin typeface="Times New Roman" panose="02020603050405020304" pitchFamily="18" charset="0"/>
                  <a:ea typeface="华文楷体" panose="02010600040101010101" pitchFamily="2" charset="-122"/>
                  <a:cs typeface="Times New Roman" panose="02020603050405020304" pitchFamily="18" charset="0"/>
                </a:rPr>
                <a:t>x</a:t>
              </a:r>
            </a:p>
          </p:txBody>
        </p:sp>
        <p:sp>
          <p:nvSpPr>
            <p:cNvPr id="4120" name="Rectangle 132"/>
            <p:cNvSpPr>
              <a:spLocks noChangeArrowheads="1"/>
            </p:cNvSpPr>
            <p:nvPr/>
          </p:nvSpPr>
          <p:spPr bwMode="auto">
            <a:xfrm>
              <a:off x="1791" y="1298"/>
              <a:ext cx="408" cy="291"/>
            </a:xfrm>
            <a:prstGeom prst="rect">
              <a:avLst/>
            </a:prstGeom>
            <a:noFill/>
            <a:ln w="9525">
              <a:noFill/>
              <a:miter lim="800000"/>
              <a:headEnd/>
              <a:tailEnd/>
            </a:ln>
          </p:spPr>
          <p:txBody>
            <a:bodyPr lIns="92075" tIns="46038" rIns="92075" bIns="46038">
              <a:spAutoFit/>
            </a:bodyPr>
            <a:lstStyle/>
            <a:p>
              <a:pPr eaLnBrk="0" hangingPunct="0">
                <a:defRPr/>
              </a:pPr>
              <a:r>
                <a:rPr kumimoji="1" lang="en-US" altLang="zh-CN" sz="2400" dirty="0">
                  <a:latin typeface="Times New Roman" pitchFamily="18" charset="0"/>
                  <a:ea typeface="华文楷体" pitchFamily="2" charset="-122"/>
                  <a:cs typeface="Times New Roman" pitchFamily="18" charset="0"/>
                </a:rPr>
                <a:t>d</a:t>
              </a:r>
              <a:r>
                <a:rPr kumimoji="1" lang="en-US" altLang="zh-CN" sz="2400" i="1" dirty="0">
                  <a:latin typeface="Times New Roman" pitchFamily="18" charset="0"/>
                  <a:ea typeface="华文楷体" pitchFamily="2" charset="-122"/>
                  <a:cs typeface="Times New Roman" pitchFamily="18" charset="0"/>
                </a:rPr>
                <a:t>x</a:t>
              </a:r>
            </a:p>
          </p:txBody>
        </p:sp>
      </p:grpSp>
    </p:spTree>
    <p:extLst>
      <p:ext uri="{BB962C8B-B14F-4D97-AF65-F5344CB8AC3E}">
        <p14:creationId xmlns:p14="http://schemas.microsoft.com/office/powerpoint/2010/main" val="32496627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9766"/>
                                        </p:tgtEl>
                                        <p:attrNameLst>
                                          <p:attrName>style.visibility</p:attrName>
                                        </p:attrNameLst>
                                      </p:cBhvr>
                                      <p:to>
                                        <p:strVal val="visible"/>
                                      </p:to>
                                    </p:set>
                                    <p:animEffect transition="in" filter="slide(fromBottom)">
                                      <p:cBhvr>
                                        <p:cTn id="7" dur="500"/>
                                        <p:tgtEl>
                                          <p:spTgt spid="697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1" fill="hold" grpId="0" nodeType="clickEffect">
                                  <p:stCondLst>
                                    <p:cond delay="0"/>
                                  </p:stCondLst>
                                  <p:childTnLst>
                                    <p:set>
                                      <p:cBhvr>
                                        <p:cTn id="11" dur="1" fill="hold">
                                          <p:stCondLst>
                                            <p:cond delay="0"/>
                                          </p:stCondLst>
                                        </p:cTn>
                                        <p:tgtEl>
                                          <p:spTgt spid="69745"/>
                                        </p:tgtEl>
                                        <p:attrNameLst>
                                          <p:attrName>style.visibility</p:attrName>
                                        </p:attrNameLst>
                                      </p:cBhvr>
                                      <p:to>
                                        <p:strVal val="visible"/>
                                      </p:to>
                                    </p:set>
                                    <p:animEffect transition="in" filter="slide(fromTop)">
                                      <p:cBhvr>
                                        <p:cTn id="12" dur="500"/>
                                        <p:tgtEl>
                                          <p:spTgt spid="6974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slide(fromBottom)">
                                      <p:cBhvr>
                                        <p:cTn id="17" dur="500"/>
                                        <p:tgtEl>
                                          <p:spTgt spid="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nodeType="clickEffect">
                                  <p:stCondLst>
                                    <p:cond delay="0"/>
                                  </p:stCondLst>
                                  <p:childTnLst>
                                    <p:set>
                                      <p:cBhvr>
                                        <p:cTn id="26" dur="1" fill="hold">
                                          <p:stCondLst>
                                            <p:cond delay="0"/>
                                          </p:stCondLst>
                                        </p:cTn>
                                        <p:tgtEl>
                                          <p:spTgt spid="69746"/>
                                        </p:tgtEl>
                                        <p:attrNameLst>
                                          <p:attrName>style.visibility</p:attrName>
                                        </p:attrNameLst>
                                      </p:cBhvr>
                                      <p:to>
                                        <p:strVal val="visible"/>
                                      </p:to>
                                    </p:set>
                                    <p:animEffect transition="in" filter="slide(fromBottom)">
                                      <p:cBhvr>
                                        <p:cTn id="27" dur="500"/>
                                        <p:tgtEl>
                                          <p:spTgt spid="69746"/>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1" fill="hold" grpId="0" nodeType="clickEffect">
                                  <p:stCondLst>
                                    <p:cond delay="0"/>
                                  </p:stCondLst>
                                  <p:childTnLst>
                                    <p:set>
                                      <p:cBhvr>
                                        <p:cTn id="31" dur="1" fill="hold">
                                          <p:stCondLst>
                                            <p:cond delay="0"/>
                                          </p:stCondLst>
                                        </p:cTn>
                                        <p:tgtEl>
                                          <p:spTgt spid="69767"/>
                                        </p:tgtEl>
                                        <p:attrNameLst>
                                          <p:attrName>style.visibility</p:attrName>
                                        </p:attrNameLst>
                                      </p:cBhvr>
                                      <p:to>
                                        <p:strVal val="visible"/>
                                      </p:to>
                                    </p:set>
                                    <p:animEffect transition="in" filter="slide(fromTop)">
                                      <p:cBhvr>
                                        <p:cTn id="32" dur="500"/>
                                        <p:tgtEl>
                                          <p:spTgt spid="69767"/>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nodeType="clickEffect">
                                  <p:stCondLst>
                                    <p:cond delay="0"/>
                                  </p:stCondLst>
                                  <p:childTnLst>
                                    <p:set>
                                      <p:cBhvr>
                                        <p:cTn id="36" dur="1" fill="hold">
                                          <p:stCondLst>
                                            <p:cond delay="0"/>
                                          </p:stCondLst>
                                        </p:cTn>
                                        <p:tgtEl>
                                          <p:spTgt spid="69756"/>
                                        </p:tgtEl>
                                        <p:attrNameLst>
                                          <p:attrName>style.visibility</p:attrName>
                                        </p:attrNameLst>
                                      </p:cBhvr>
                                      <p:to>
                                        <p:strVal val="visible"/>
                                      </p:to>
                                    </p:set>
                                    <p:animEffect transition="in" filter="slide(fromBottom)">
                                      <p:cBhvr>
                                        <p:cTn id="37" dur="500"/>
                                        <p:tgtEl>
                                          <p:spTgt spid="69756"/>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nodeType="clickEffect">
                                  <p:stCondLst>
                                    <p:cond delay="0"/>
                                  </p:stCondLst>
                                  <p:childTnLst>
                                    <p:set>
                                      <p:cBhvr>
                                        <p:cTn id="41" dur="1" fill="hold">
                                          <p:stCondLst>
                                            <p:cond delay="0"/>
                                          </p:stCondLst>
                                        </p:cTn>
                                        <p:tgtEl>
                                          <p:spTgt spid="69758"/>
                                        </p:tgtEl>
                                        <p:attrNameLst>
                                          <p:attrName>style.visibility</p:attrName>
                                        </p:attrNameLst>
                                      </p:cBhvr>
                                      <p:to>
                                        <p:strVal val="visible"/>
                                      </p:to>
                                    </p:set>
                                    <p:animEffect transition="in" filter="slide(fromBottom)">
                                      <p:cBhvr>
                                        <p:cTn id="42" dur="500"/>
                                        <p:tgtEl>
                                          <p:spTgt spid="69758"/>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nodeType="clickEffect">
                                  <p:stCondLst>
                                    <p:cond delay="0"/>
                                  </p:stCondLst>
                                  <p:childTnLst>
                                    <p:set>
                                      <p:cBhvr>
                                        <p:cTn id="46" dur="1" fill="hold">
                                          <p:stCondLst>
                                            <p:cond delay="0"/>
                                          </p:stCondLst>
                                        </p:cTn>
                                        <p:tgtEl>
                                          <p:spTgt spid="69757"/>
                                        </p:tgtEl>
                                        <p:attrNameLst>
                                          <p:attrName>style.visibility</p:attrName>
                                        </p:attrNameLst>
                                      </p:cBhvr>
                                      <p:to>
                                        <p:strVal val="visible"/>
                                      </p:to>
                                    </p:set>
                                    <p:animEffect transition="in" filter="slide(fromBottom)">
                                      <p:cBhvr>
                                        <p:cTn id="47" dur="500"/>
                                        <p:tgtEl>
                                          <p:spTgt spid="69757"/>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4" fill="hold" nodeType="clickEffect">
                                  <p:stCondLst>
                                    <p:cond delay="0"/>
                                  </p:stCondLst>
                                  <p:childTnLst>
                                    <p:set>
                                      <p:cBhvr>
                                        <p:cTn id="51" dur="1" fill="hold">
                                          <p:stCondLst>
                                            <p:cond delay="0"/>
                                          </p:stCondLst>
                                        </p:cTn>
                                        <p:tgtEl>
                                          <p:spTgt spid="69752"/>
                                        </p:tgtEl>
                                        <p:attrNameLst>
                                          <p:attrName>style.visibility</p:attrName>
                                        </p:attrNameLst>
                                      </p:cBhvr>
                                      <p:to>
                                        <p:strVal val="visible"/>
                                      </p:to>
                                    </p:set>
                                    <p:animEffect transition="in" filter="slide(fromBottom)">
                                      <p:cBhvr>
                                        <p:cTn id="52" dur="500"/>
                                        <p:tgtEl>
                                          <p:spTgt spid="69752"/>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114"/>
                                        </p:tgtEl>
                                        <p:attrNameLst>
                                          <p:attrName>style.visibility</p:attrName>
                                        </p:attrNameLst>
                                      </p:cBhvr>
                                      <p:to>
                                        <p:strVal val="visible"/>
                                      </p:to>
                                    </p:set>
                                    <p:animEffect transition="in" filter="fade">
                                      <p:cBhvr>
                                        <p:cTn id="57" dur="500"/>
                                        <p:tgtEl>
                                          <p:spTgt spid="4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745" grpId="0" autoUpdateAnimBg="0"/>
      <p:bldP spid="69766" grpId="0"/>
      <p:bldP spid="69767" grpId="0" autoUpdateAnimBg="0"/>
      <p:bldP spid="411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5"/>
          <p:cNvSpPr>
            <a:spLocks noChangeArrowheads="1"/>
          </p:cNvSpPr>
          <p:nvPr/>
        </p:nvSpPr>
        <p:spPr bwMode="auto">
          <a:xfrm>
            <a:off x="444255" y="467828"/>
            <a:ext cx="3394320" cy="1939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solidFill>
                  <a:srgbClr val="FF0000"/>
                </a:solidFill>
                <a:latin typeface="+mn-lt"/>
                <a:ea typeface="楷体" panose="02010609060101010101" pitchFamily="49" charset="-122"/>
              </a:rPr>
              <a:t>例</a:t>
            </a:r>
            <a:r>
              <a:rPr kumimoji="1" lang="zh-CN" altLang="en-US" sz="2400" b="1" dirty="0">
                <a:solidFill>
                  <a:srgbClr val="080808"/>
                </a:solidFill>
                <a:latin typeface="+mn-lt"/>
                <a:ea typeface="楷体" panose="02010609060101010101" pitchFamily="49" charset="-122"/>
              </a:rPr>
              <a:t>  薄壁圆环直径为</a:t>
            </a:r>
            <a:r>
              <a:rPr kumimoji="1" lang="en-US" altLang="zh-CN" sz="2400" i="1" dirty="0">
                <a:solidFill>
                  <a:srgbClr val="080808"/>
                </a:solidFill>
                <a:latin typeface="+mn-lt"/>
                <a:ea typeface="楷体" panose="02010609060101010101" pitchFamily="49" charset="-122"/>
              </a:rPr>
              <a:t>D</a:t>
            </a:r>
            <a:r>
              <a:rPr kumimoji="1" lang="zh-CN" altLang="en-US" sz="2400" b="1" dirty="0">
                <a:solidFill>
                  <a:srgbClr val="080808"/>
                </a:solidFill>
                <a:latin typeface="+mn-lt"/>
                <a:ea typeface="楷体" panose="02010609060101010101" pitchFamily="49" charset="-122"/>
              </a:rPr>
              <a:t>，厚度为</a:t>
            </a:r>
            <a:r>
              <a:rPr kumimoji="1" lang="en-US" altLang="zh-CN" sz="2400" i="1" dirty="0">
                <a:solidFill>
                  <a:srgbClr val="080808"/>
                </a:solidFill>
                <a:latin typeface="+mn-lt"/>
                <a:ea typeface="楷体" panose="02010609060101010101" pitchFamily="49" charset="-122"/>
              </a:rPr>
              <a:t>t</a:t>
            </a:r>
            <a:r>
              <a:rPr kumimoji="1" lang="zh-CN" altLang="en-US" sz="2400" b="1" dirty="0">
                <a:solidFill>
                  <a:srgbClr val="080808"/>
                </a:solidFill>
                <a:latin typeface="+mn-lt"/>
                <a:ea typeface="楷体" panose="02010609060101010101" pitchFamily="49" charset="-122"/>
              </a:rPr>
              <a:t>，圆环内受均匀内压</a:t>
            </a:r>
            <a:r>
              <a:rPr kumimoji="1" lang="en-US" altLang="zh-CN" sz="2400" i="1" dirty="0">
                <a:solidFill>
                  <a:srgbClr val="080808"/>
                </a:solidFill>
                <a:latin typeface="+mn-lt"/>
                <a:ea typeface="楷体" panose="02010609060101010101" pitchFamily="49" charset="-122"/>
              </a:rPr>
              <a:t>q</a:t>
            </a:r>
            <a:r>
              <a:rPr kumimoji="1" lang="zh-CN" altLang="en-US" sz="2400" b="1" dirty="0">
                <a:solidFill>
                  <a:srgbClr val="080808"/>
                </a:solidFill>
                <a:latin typeface="+mn-lt"/>
                <a:ea typeface="楷体" panose="02010609060101010101" pitchFamily="49" charset="-122"/>
              </a:rPr>
              <a:t>，圆环材料的弹性模量为</a:t>
            </a:r>
            <a:r>
              <a:rPr kumimoji="1" lang="en-US" altLang="zh-CN" sz="2400" i="1" dirty="0">
                <a:solidFill>
                  <a:srgbClr val="080808"/>
                </a:solidFill>
                <a:latin typeface="+mn-lt"/>
                <a:ea typeface="楷体" panose="02010609060101010101" pitchFamily="49" charset="-122"/>
              </a:rPr>
              <a:t>E</a:t>
            </a:r>
            <a:r>
              <a:rPr kumimoji="1" lang="zh-CN" altLang="en-US" sz="2400" b="1" dirty="0">
                <a:solidFill>
                  <a:srgbClr val="080808"/>
                </a:solidFill>
                <a:latin typeface="+mn-lt"/>
                <a:ea typeface="楷体" panose="02010609060101010101" pitchFamily="49" charset="-122"/>
              </a:rPr>
              <a:t>。求薄壁圆环的周向应力与变形。</a:t>
            </a:r>
          </a:p>
        </p:txBody>
      </p:sp>
      <p:grpSp>
        <p:nvGrpSpPr>
          <p:cNvPr id="184326" name="Group 6"/>
          <p:cNvGrpSpPr>
            <a:grpSpLocks/>
          </p:cNvGrpSpPr>
          <p:nvPr/>
        </p:nvGrpSpPr>
        <p:grpSpPr bwMode="auto">
          <a:xfrm>
            <a:off x="3760892" y="436633"/>
            <a:ext cx="2329291" cy="2143124"/>
            <a:chOff x="320" y="541"/>
            <a:chExt cx="1504" cy="1350"/>
          </a:xfrm>
        </p:grpSpPr>
        <p:sp>
          <p:nvSpPr>
            <p:cNvPr id="30748" name="Oval 7"/>
            <p:cNvSpPr>
              <a:spLocks noChangeArrowheads="1"/>
            </p:cNvSpPr>
            <p:nvPr/>
          </p:nvSpPr>
          <p:spPr bwMode="auto">
            <a:xfrm>
              <a:off x="576" y="642"/>
              <a:ext cx="1248" cy="1249"/>
            </a:xfrm>
            <a:prstGeom prst="ellipse">
              <a:avLst/>
            </a:prstGeom>
            <a:solidFill>
              <a:schemeClr val="accent1"/>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useBgFill="1">
          <p:nvSpPr>
            <p:cNvPr id="30749" name="Oval 8"/>
            <p:cNvSpPr>
              <a:spLocks noChangeArrowheads="1"/>
            </p:cNvSpPr>
            <p:nvPr/>
          </p:nvSpPr>
          <p:spPr bwMode="auto">
            <a:xfrm>
              <a:off x="672" y="728"/>
              <a:ext cx="1056" cy="1056"/>
            </a:xfrm>
            <a:prstGeom prst="ellipse">
              <a:avLst/>
            </a:prstGeom>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kumimoji="1" lang="en-US" altLang="zh-CN" sz="2400" b="1" i="1">
                  <a:solidFill>
                    <a:srgbClr val="FF3300"/>
                  </a:solidFill>
                  <a:latin typeface="Times New Roman" panose="02020603050405020304" pitchFamily="18" charset="0"/>
                  <a:ea typeface="宋体" panose="02010600030101010101" pitchFamily="2" charset="-122"/>
                </a:rPr>
                <a:t>q</a:t>
              </a:r>
              <a:endParaRPr kumimoji="1" lang="en-US" altLang="zh-CN" sz="2400" b="1" i="1">
                <a:latin typeface="Times New Roman" panose="02020603050405020304" pitchFamily="18" charset="0"/>
                <a:ea typeface="宋体" panose="02010600030101010101" pitchFamily="2" charset="-122"/>
              </a:endParaRPr>
            </a:p>
          </p:txBody>
        </p:sp>
        <p:sp>
          <p:nvSpPr>
            <p:cNvPr id="30750" name="Line 9"/>
            <p:cNvSpPr>
              <a:spLocks noChangeShapeType="1"/>
            </p:cNvSpPr>
            <p:nvPr/>
          </p:nvSpPr>
          <p:spPr bwMode="auto">
            <a:xfrm flipV="1">
              <a:off x="1210" y="768"/>
              <a:ext cx="0" cy="192"/>
            </a:xfrm>
            <a:prstGeom prst="line">
              <a:avLst/>
            </a:prstGeom>
            <a:noFill/>
            <a:ln w="22225">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51" name="Line 10"/>
            <p:cNvSpPr>
              <a:spLocks noChangeShapeType="1"/>
            </p:cNvSpPr>
            <p:nvPr/>
          </p:nvSpPr>
          <p:spPr bwMode="auto">
            <a:xfrm>
              <a:off x="1210" y="1536"/>
              <a:ext cx="0" cy="192"/>
            </a:xfrm>
            <a:prstGeom prst="line">
              <a:avLst/>
            </a:prstGeom>
            <a:noFill/>
            <a:ln w="22225">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52" name="Line 11"/>
            <p:cNvSpPr>
              <a:spLocks noChangeShapeType="1"/>
            </p:cNvSpPr>
            <p:nvPr/>
          </p:nvSpPr>
          <p:spPr bwMode="auto">
            <a:xfrm rot="16200000" flipV="1">
              <a:off x="778" y="1152"/>
              <a:ext cx="0" cy="192"/>
            </a:xfrm>
            <a:prstGeom prst="line">
              <a:avLst/>
            </a:prstGeom>
            <a:noFill/>
            <a:ln w="22225">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53" name="Line 12"/>
            <p:cNvSpPr>
              <a:spLocks noChangeShapeType="1"/>
            </p:cNvSpPr>
            <p:nvPr/>
          </p:nvSpPr>
          <p:spPr bwMode="auto">
            <a:xfrm rot="13830025" flipV="1">
              <a:off x="873" y="1441"/>
              <a:ext cx="1" cy="192"/>
            </a:xfrm>
            <a:prstGeom prst="line">
              <a:avLst/>
            </a:prstGeom>
            <a:noFill/>
            <a:ln w="22225">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54" name="Line 13"/>
            <p:cNvSpPr>
              <a:spLocks noChangeShapeType="1"/>
            </p:cNvSpPr>
            <p:nvPr/>
          </p:nvSpPr>
          <p:spPr bwMode="auto">
            <a:xfrm rot="19302590" flipV="1">
              <a:off x="874" y="864"/>
              <a:ext cx="1" cy="192"/>
            </a:xfrm>
            <a:prstGeom prst="line">
              <a:avLst/>
            </a:prstGeom>
            <a:noFill/>
            <a:ln w="22225">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55" name="Line 14"/>
            <p:cNvSpPr>
              <a:spLocks noChangeShapeType="1"/>
            </p:cNvSpPr>
            <p:nvPr/>
          </p:nvSpPr>
          <p:spPr bwMode="auto">
            <a:xfrm rot="7561642" flipV="1">
              <a:off x="1545" y="1441"/>
              <a:ext cx="1" cy="192"/>
            </a:xfrm>
            <a:prstGeom prst="line">
              <a:avLst/>
            </a:prstGeom>
            <a:noFill/>
            <a:ln w="22225">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56" name="Line 15"/>
            <p:cNvSpPr>
              <a:spLocks noChangeShapeType="1"/>
            </p:cNvSpPr>
            <p:nvPr/>
          </p:nvSpPr>
          <p:spPr bwMode="auto">
            <a:xfrm rot="2331089" flipV="1">
              <a:off x="1546" y="864"/>
              <a:ext cx="1" cy="192"/>
            </a:xfrm>
            <a:prstGeom prst="line">
              <a:avLst/>
            </a:prstGeom>
            <a:noFill/>
            <a:ln w="22225">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57" name="Line 16"/>
            <p:cNvSpPr>
              <a:spLocks noChangeShapeType="1"/>
            </p:cNvSpPr>
            <p:nvPr/>
          </p:nvSpPr>
          <p:spPr bwMode="auto">
            <a:xfrm rot="5400000" flipV="1">
              <a:off x="1642" y="1152"/>
              <a:ext cx="0" cy="192"/>
            </a:xfrm>
            <a:prstGeom prst="line">
              <a:avLst/>
            </a:prstGeom>
            <a:noFill/>
            <a:ln w="22225">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58" name="Line 17"/>
            <p:cNvSpPr>
              <a:spLocks noChangeShapeType="1"/>
            </p:cNvSpPr>
            <p:nvPr/>
          </p:nvSpPr>
          <p:spPr bwMode="auto">
            <a:xfrm>
              <a:off x="490" y="687"/>
              <a:ext cx="7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59" name="Line 18"/>
            <p:cNvSpPr>
              <a:spLocks noChangeShapeType="1"/>
            </p:cNvSpPr>
            <p:nvPr/>
          </p:nvSpPr>
          <p:spPr bwMode="auto">
            <a:xfrm>
              <a:off x="490" y="1842"/>
              <a:ext cx="7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60" name="Line 19"/>
            <p:cNvSpPr>
              <a:spLocks noChangeShapeType="1"/>
            </p:cNvSpPr>
            <p:nvPr/>
          </p:nvSpPr>
          <p:spPr bwMode="auto">
            <a:xfrm>
              <a:off x="538" y="709"/>
              <a:ext cx="0" cy="1098"/>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61" name="Text Box 20"/>
            <p:cNvSpPr txBox="1">
              <a:spLocks noChangeArrowheads="1"/>
            </p:cNvSpPr>
            <p:nvPr/>
          </p:nvSpPr>
          <p:spPr bwMode="auto">
            <a:xfrm>
              <a:off x="320" y="1016"/>
              <a:ext cx="26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400" i="1" dirty="0">
                  <a:latin typeface="Times New Roman" panose="02020603050405020304" pitchFamily="18" charset="0"/>
                  <a:ea typeface="宋体" panose="02010600030101010101" pitchFamily="2" charset="-122"/>
                </a:rPr>
                <a:t>D</a:t>
              </a:r>
            </a:p>
          </p:txBody>
        </p:sp>
        <p:sp>
          <p:nvSpPr>
            <p:cNvPr id="30762" name="Line 21"/>
            <p:cNvSpPr>
              <a:spLocks noChangeShapeType="1"/>
            </p:cNvSpPr>
            <p:nvPr/>
          </p:nvSpPr>
          <p:spPr bwMode="auto">
            <a:xfrm flipH="1">
              <a:off x="1642" y="672"/>
              <a:ext cx="144" cy="144"/>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63" name="Text Box 22"/>
            <p:cNvSpPr txBox="1">
              <a:spLocks noChangeArrowheads="1"/>
            </p:cNvSpPr>
            <p:nvPr/>
          </p:nvSpPr>
          <p:spPr bwMode="auto">
            <a:xfrm>
              <a:off x="1564" y="541"/>
              <a:ext cx="164"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i="1" dirty="0">
                  <a:latin typeface="Times New Roman" panose="02020603050405020304" pitchFamily="18" charset="0"/>
                  <a:ea typeface="宋体" panose="02010600030101010101" pitchFamily="2" charset="-122"/>
                </a:rPr>
                <a:t>t</a:t>
              </a:r>
            </a:p>
          </p:txBody>
        </p:sp>
      </p:grpSp>
      <p:grpSp>
        <p:nvGrpSpPr>
          <p:cNvPr id="184343" name="Group 23"/>
          <p:cNvGrpSpPr>
            <a:grpSpLocks/>
          </p:cNvGrpSpPr>
          <p:nvPr/>
        </p:nvGrpSpPr>
        <p:grpSpPr bwMode="auto">
          <a:xfrm>
            <a:off x="6425666" y="637270"/>
            <a:ext cx="2263215" cy="2063750"/>
            <a:chOff x="2122" y="624"/>
            <a:chExt cx="1240" cy="1104"/>
          </a:xfrm>
        </p:grpSpPr>
        <p:sp>
          <p:nvSpPr>
            <p:cNvPr id="30735" name="Oval 24"/>
            <p:cNvSpPr>
              <a:spLocks noChangeArrowheads="1"/>
            </p:cNvSpPr>
            <p:nvPr/>
          </p:nvSpPr>
          <p:spPr bwMode="auto">
            <a:xfrm>
              <a:off x="2170" y="624"/>
              <a:ext cx="1104" cy="1056"/>
            </a:xfrm>
            <a:prstGeom prst="ellipse">
              <a:avLst/>
            </a:prstGeom>
            <a:solidFill>
              <a:schemeClr val="accent1"/>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useBgFill="1">
          <p:nvSpPr>
            <p:cNvPr id="30736" name="Oval 25"/>
            <p:cNvSpPr>
              <a:spLocks noChangeArrowheads="1"/>
            </p:cNvSpPr>
            <p:nvPr/>
          </p:nvSpPr>
          <p:spPr bwMode="auto">
            <a:xfrm>
              <a:off x="2266" y="720"/>
              <a:ext cx="912" cy="864"/>
            </a:xfrm>
            <a:prstGeom prst="ellipse">
              <a:avLst/>
            </a:prstGeom>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30737" name="Line 26"/>
            <p:cNvSpPr>
              <a:spLocks noChangeShapeType="1"/>
            </p:cNvSpPr>
            <p:nvPr/>
          </p:nvSpPr>
          <p:spPr bwMode="auto">
            <a:xfrm flipV="1">
              <a:off x="2731" y="720"/>
              <a:ext cx="0" cy="192"/>
            </a:xfrm>
            <a:prstGeom prst="line">
              <a:avLst/>
            </a:prstGeom>
            <a:noFill/>
            <a:ln w="22225">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38" name="Line 27"/>
            <p:cNvSpPr>
              <a:spLocks noChangeShapeType="1"/>
            </p:cNvSpPr>
            <p:nvPr/>
          </p:nvSpPr>
          <p:spPr bwMode="auto">
            <a:xfrm flipH="1">
              <a:off x="2266" y="1104"/>
              <a:ext cx="192" cy="0"/>
            </a:xfrm>
            <a:prstGeom prst="line">
              <a:avLst/>
            </a:prstGeom>
            <a:noFill/>
            <a:ln w="22225">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39" name="Line 28"/>
            <p:cNvSpPr>
              <a:spLocks noChangeShapeType="1"/>
            </p:cNvSpPr>
            <p:nvPr/>
          </p:nvSpPr>
          <p:spPr bwMode="auto">
            <a:xfrm>
              <a:off x="2986" y="1104"/>
              <a:ext cx="192" cy="0"/>
            </a:xfrm>
            <a:prstGeom prst="line">
              <a:avLst/>
            </a:prstGeom>
            <a:noFill/>
            <a:ln w="22225">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40" name="Line 29"/>
            <p:cNvSpPr>
              <a:spLocks noChangeShapeType="1"/>
            </p:cNvSpPr>
            <p:nvPr/>
          </p:nvSpPr>
          <p:spPr bwMode="auto">
            <a:xfrm flipV="1">
              <a:off x="2890" y="816"/>
              <a:ext cx="144" cy="144"/>
            </a:xfrm>
            <a:prstGeom prst="line">
              <a:avLst/>
            </a:prstGeom>
            <a:noFill/>
            <a:ln w="22225">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41" name="Line 30"/>
            <p:cNvSpPr>
              <a:spLocks noChangeShapeType="1"/>
            </p:cNvSpPr>
            <p:nvPr/>
          </p:nvSpPr>
          <p:spPr bwMode="auto">
            <a:xfrm flipH="1" flipV="1">
              <a:off x="2410" y="816"/>
              <a:ext cx="144" cy="192"/>
            </a:xfrm>
            <a:prstGeom prst="line">
              <a:avLst/>
            </a:prstGeom>
            <a:noFill/>
            <a:ln w="22225">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useBgFill="1">
          <p:nvSpPr>
            <p:cNvPr id="30742" name="Rectangle 31"/>
            <p:cNvSpPr>
              <a:spLocks noChangeArrowheads="1"/>
            </p:cNvSpPr>
            <p:nvPr/>
          </p:nvSpPr>
          <p:spPr bwMode="auto">
            <a:xfrm>
              <a:off x="2170" y="1152"/>
              <a:ext cx="1152" cy="576"/>
            </a:xfrm>
            <a:prstGeom prst="rect">
              <a:avLst/>
            </a:prstGeom>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30743" name="Line 32"/>
            <p:cNvSpPr>
              <a:spLocks noChangeShapeType="1"/>
            </p:cNvSpPr>
            <p:nvPr/>
          </p:nvSpPr>
          <p:spPr bwMode="auto">
            <a:xfrm>
              <a:off x="2218" y="1150"/>
              <a:ext cx="0" cy="288"/>
            </a:xfrm>
            <a:prstGeom prst="line">
              <a:avLst/>
            </a:prstGeom>
            <a:noFill/>
            <a:ln w="2222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44" name="Line 33"/>
            <p:cNvSpPr>
              <a:spLocks noChangeShapeType="1"/>
            </p:cNvSpPr>
            <p:nvPr/>
          </p:nvSpPr>
          <p:spPr bwMode="auto">
            <a:xfrm>
              <a:off x="3236" y="1155"/>
              <a:ext cx="0" cy="288"/>
            </a:xfrm>
            <a:prstGeom prst="line">
              <a:avLst/>
            </a:prstGeom>
            <a:noFill/>
            <a:ln w="2222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45" name="Text Box 34"/>
            <p:cNvSpPr txBox="1">
              <a:spLocks noChangeArrowheads="1"/>
            </p:cNvSpPr>
            <p:nvPr/>
          </p:nvSpPr>
          <p:spPr bwMode="auto">
            <a:xfrm>
              <a:off x="2122" y="1414"/>
              <a:ext cx="298" cy="2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dirty="0">
                  <a:solidFill>
                    <a:srgbClr val="FF0000"/>
                  </a:solidFill>
                  <a:latin typeface="Times New Roman" panose="02020603050405020304" pitchFamily="18" charset="0"/>
                  <a:ea typeface="宋体" panose="02010600030101010101" pitchFamily="2" charset="-122"/>
                </a:rPr>
                <a:t>F</a:t>
              </a:r>
              <a:r>
                <a:rPr kumimoji="1" lang="en-US" altLang="zh-CN" sz="2000" b="1" baseline="-25000" dirty="0">
                  <a:solidFill>
                    <a:srgbClr val="FF0000"/>
                  </a:solidFill>
                  <a:latin typeface="Times New Roman" panose="02020603050405020304" pitchFamily="18" charset="0"/>
                  <a:ea typeface="宋体" panose="02010600030101010101" pitchFamily="2" charset="-122"/>
                </a:rPr>
                <a:t>N</a:t>
              </a:r>
              <a:r>
                <a:rPr kumimoji="1" lang="en-US" altLang="zh-CN" sz="2000" b="1" i="1" dirty="0">
                  <a:solidFill>
                    <a:srgbClr val="FF0000"/>
                  </a:solidFill>
                  <a:latin typeface="Times New Roman" panose="02020603050405020304" pitchFamily="18" charset="0"/>
                  <a:ea typeface="宋体" panose="02010600030101010101" pitchFamily="2" charset="-122"/>
                </a:rPr>
                <a:t> </a:t>
              </a:r>
            </a:p>
          </p:txBody>
        </p:sp>
        <p:sp>
          <p:nvSpPr>
            <p:cNvPr id="30746" name="Text Box 35"/>
            <p:cNvSpPr txBox="1">
              <a:spLocks noChangeArrowheads="1"/>
            </p:cNvSpPr>
            <p:nvPr/>
          </p:nvSpPr>
          <p:spPr bwMode="auto">
            <a:xfrm>
              <a:off x="3099" y="1418"/>
              <a:ext cx="263" cy="2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dirty="0">
                  <a:solidFill>
                    <a:srgbClr val="FF0000"/>
                  </a:solidFill>
                  <a:latin typeface="Times New Roman" panose="02020603050405020304" pitchFamily="18" charset="0"/>
                  <a:ea typeface="宋体" panose="02010600030101010101" pitchFamily="2" charset="-122"/>
                </a:rPr>
                <a:t>F</a:t>
              </a:r>
              <a:r>
                <a:rPr kumimoji="1" lang="en-US" altLang="zh-CN" sz="2000" b="1" baseline="-25000" dirty="0">
                  <a:solidFill>
                    <a:srgbClr val="FF0000"/>
                  </a:solidFill>
                  <a:latin typeface="Times New Roman" panose="02020603050405020304" pitchFamily="18" charset="0"/>
                  <a:ea typeface="宋体" panose="02010600030101010101" pitchFamily="2" charset="-122"/>
                </a:rPr>
                <a:t>N</a:t>
              </a:r>
            </a:p>
          </p:txBody>
        </p:sp>
        <p:sp>
          <p:nvSpPr>
            <p:cNvPr id="30747" name="Text Box 36"/>
            <p:cNvSpPr txBox="1">
              <a:spLocks noChangeArrowheads="1"/>
            </p:cNvSpPr>
            <p:nvPr/>
          </p:nvSpPr>
          <p:spPr bwMode="auto">
            <a:xfrm>
              <a:off x="2476" y="708"/>
              <a:ext cx="170"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dirty="0">
                  <a:solidFill>
                    <a:srgbClr val="FF3300"/>
                  </a:solidFill>
                  <a:latin typeface="Times New Roman" panose="02020603050405020304" pitchFamily="18" charset="0"/>
                  <a:ea typeface="宋体" panose="02010600030101010101" pitchFamily="2" charset="-122"/>
                </a:rPr>
                <a:t>q</a:t>
              </a:r>
              <a:endParaRPr kumimoji="1" lang="en-US" altLang="zh-CN" sz="2000" b="1" i="1" dirty="0">
                <a:latin typeface="Times New Roman" panose="02020603050405020304" pitchFamily="18" charset="0"/>
                <a:ea typeface="宋体" panose="02010600030101010101" pitchFamily="2" charset="-122"/>
              </a:endParaRPr>
            </a:p>
          </p:txBody>
        </p:sp>
      </p:grpSp>
      <p:sp>
        <p:nvSpPr>
          <p:cNvPr id="184357" name="Text Box 37"/>
          <p:cNvSpPr txBox="1">
            <a:spLocks noChangeArrowheads="1"/>
          </p:cNvSpPr>
          <p:nvPr/>
        </p:nvSpPr>
        <p:spPr bwMode="auto">
          <a:xfrm>
            <a:off x="465477" y="2379218"/>
            <a:ext cx="2590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solidFill>
                  <a:srgbClr val="FF0000"/>
                </a:solidFill>
                <a:latin typeface="楷体" panose="02010609060101010101" pitchFamily="49" charset="-122"/>
                <a:ea typeface="楷体" panose="02010609060101010101" pitchFamily="49" charset="-122"/>
              </a:rPr>
              <a:t>解</a:t>
            </a:r>
            <a:r>
              <a:rPr kumimoji="1" lang="en-US" altLang="zh-CN" sz="2400" b="1" dirty="0">
                <a:solidFill>
                  <a:srgbClr val="FF0000"/>
                </a:solidFill>
                <a:latin typeface="楷体" panose="02010609060101010101" pitchFamily="49" charset="-122"/>
                <a:ea typeface="楷体" panose="02010609060101010101" pitchFamily="49" charset="-122"/>
              </a:rPr>
              <a:t>: </a:t>
            </a:r>
            <a:r>
              <a:rPr kumimoji="1" lang="zh-CN" altLang="en-US" sz="2400" b="1" dirty="0">
                <a:solidFill>
                  <a:srgbClr val="0000FF"/>
                </a:solidFill>
                <a:latin typeface="楷体" panose="02010609060101010101" pitchFamily="49" charset="-122"/>
                <a:ea typeface="楷体" panose="02010609060101010101" pitchFamily="49" charset="-122"/>
              </a:rPr>
              <a:t>平衡条件</a:t>
            </a:r>
          </a:p>
        </p:txBody>
      </p:sp>
      <p:graphicFrame>
        <p:nvGraphicFramePr>
          <p:cNvPr id="184358" name="Object 38"/>
          <p:cNvGraphicFramePr>
            <a:graphicFrameLocks/>
          </p:cNvGraphicFramePr>
          <p:nvPr>
            <p:extLst>
              <p:ext uri="{D42A27DB-BD31-4B8C-83A1-F6EECF244321}">
                <p14:modId xmlns:p14="http://schemas.microsoft.com/office/powerpoint/2010/main" val="1317298493"/>
              </p:ext>
            </p:extLst>
          </p:nvPr>
        </p:nvGraphicFramePr>
        <p:xfrm>
          <a:off x="5219352" y="2884193"/>
          <a:ext cx="1636614" cy="726829"/>
        </p:xfrm>
        <a:graphic>
          <a:graphicData uri="http://schemas.openxmlformats.org/presentationml/2006/ole">
            <mc:AlternateContent xmlns:mc="http://schemas.openxmlformats.org/markup-compatibility/2006">
              <mc:Choice xmlns:v="urn:schemas-microsoft-com:vml" Requires="v">
                <p:oleObj name="Equation" r:id="rId2" imgW="863280" imgH="393480" progId="Equation.DSMT4">
                  <p:embed/>
                </p:oleObj>
              </mc:Choice>
              <mc:Fallback>
                <p:oleObj name="Equation" r:id="rId2" imgW="863280" imgH="393480" progId="Equation.DSMT4">
                  <p:embed/>
                  <p:pic>
                    <p:nvPicPr>
                      <p:cNvPr id="0" name=""/>
                      <p:cNvPicPr>
                        <a:picLocks noChangeArrowheads="1"/>
                      </p:cNvPicPr>
                      <p:nvPr/>
                    </p:nvPicPr>
                    <p:blipFill>
                      <a:blip r:embed="rId3"/>
                      <a:srcRect/>
                      <a:stretch>
                        <a:fillRect/>
                      </a:stretch>
                    </p:blipFill>
                    <p:spPr bwMode="auto">
                      <a:xfrm>
                        <a:off x="5219352" y="2884193"/>
                        <a:ext cx="1636614" cy="726829"/>
                      </a:xfrm>
                      <a:prstGeom prst="rect">
                        <a:avLst/>
                      </a:prstGeom>
                      <a:noFill/>
                      <a:ln>
                        <a:noFill/>
                      </a:ln>
                      <a:effectLst/>
                    </p:spPr>
                  </p:pic>
                </p:oleObj>
              </mc:Fallback>
            </mc:AlternateContent>
          </a:graphicData>
        </a:graphic>
      </p:graphicFrame>
      <p:graphicFrame>
        <p:nvGraphicFramePr>
          <p:cNvPr id="184359" name="Object 39"/>
          <p:cNvGraphicFramePr>
            <a:graphicFrameLocks/>
          </p:cNvGraphicFramePr>
          <p:nvPr>
            <p:extLst>
              <p:ext uri="{D42A27DB-BD31-4B8C-83A1-F6EECF244321}">
                <p14:modId xmlns:p14="http://schemas.microsoft.com/office/powerpoint/2010/main" val="1786852869"/>
              </p:ext>
            </p:extLst>
          </p:nvPr>
        </p:nvGraphicFramePr>
        <p:xfrm>
          <a:off x="7231517" y="2810402"/>
          <a:ext cx="1595438" cy="804862"/>
        </p:xfrm>
        <a:graphic>
          <a:graphicData uri="http://schemas.openxmlformats.org/presentationml/2006/ole">
            <mc:AlternateContent xmlns:mc="http://schemas.openxmlformats.org/markup-compatibility/2006">
              <mc:Choice xmlns:v="urn:schemas-microsoft-com:vml" Requires="v">
                <p:oleObj name="Equation" r:id="rId4" imgW="838080" imgH="431640" progId="Equation.DSMT4">
                  <p:embed/>
                </p:oleObj>
              </mc:Choice>
              <mc:Fallback>
                <p:oleObj name="Equation" r:id="rId4" imgW="838080" imgH="431640" progId="Equation.DSMT4">
                  <p:embed/>
                  <p:pic>
                    <p:nvPicPr>
                      <p:cNvPr id="0" name=""/>
                      <p:cNvPicPr>
                        <a:picLocks noChangeArrowheads="1"/>
                      </p:cNvPicPr>
                      <p:nvPr/>
                    </p:nvPicPr>
                    <p:blipFill>
                      <a:blip r:embed="rId5"/>
                      <a:srcRect/>
                      <a:stretch>
                        <a:fillRect/>
                      </a:stretch>
                    </p:blipFill>
                    <p:spPr bwMode="auto">
                      <a:xfrm>
                        <a:off x="7231517" y="2810402"/>
                        <a:ext cx="1595438" cy="804862"/>
                      </a:xfrm>
                      <a:prstGeom prst="rect">
                        <a:avLst/>
                      </a:prstGeom>
                      <a:noFill/>
                      <a:ln>
                        <a:noFill/>
                      </a:ln>
                      <a:effectLst/>
                    </p:spPr>
                  </p:pic>
                </p:oleObj>
              </mc:Fallback>
            </mc:AlternateContent>
          </a:graphicData>
        </a:graphic>
      </p:graphicFrame>
      <p:graphicFrame>
        <p:nvGraphicFramePr>
          <p:cNvPr id="184360" name="Object 40"/>
          <p:cNvGraphicFramePr>
            <a:graphicFrameLocks/>
          </p:cNvGraphicFramePr>
          <p:nvPr>
            <p:extLst>
              <p:ext uri="{D42A27DB-BD31-4B8C-83A1-F6EECF244321}">
                <p14:modId xmlns:p14="http://schemas.microsoft.com/office/powerpoint/2010/main" val="926775006"/>
              </p:ext>
            </p:extLst>
          </p:nvPr>
        </p:nvGraphicFramePr>
        <p:xfrm>
          <a:off x="2498799" y="3930808"/>
          <a:ext cx="2788394" cy="813148"/>
        </p:xfrm>
        <a:graphic>
          <a:graphicData uri="http://schemas.openxmlformats.org/presentationml/2006/ole">
            <mc:AlternateContent xmlns:mc="http://schemas.openxmlformats.org/markup-compatibility/2006">
              <mc:Choice xmlns:v="urn:schemas-microsoft-com:vml" Requires="v">
                <p:oleObj name="Equation" r:id="rId6" imgW="1485720" imgH="457200" progId="Equation.DSMT4">
                  <p:embed/>
                </p:oleObj>
              </mc:Choice>
              <mc:Fallback>
                <p:oleObj name="Equation" r:id="rId6" imgW="1485720" imgH="457200" progId="Equation.DSMT4">
                  <p:embed/>
                  <p:pic>
                    <p:nvPicPr>
                      <p:cNvPr id="0" name=""/>
                      <p:cNvPicPr>
                        <a:picLocks noChangeArrowheads="1"/>
                      </p:cNvPicPr>
                      <p:nvPr/>
                    </p:nvPicPr>
                    <p:blipFill>
                      <a:blip r:embed="rId7"/>
                      <a:srcRect/>
                      <a:stretch>
                        <a:fillRect/>
                      </a:stretch>
                    </p:blipFill>
                    <p:spPr bwMode="auto">
                      <a:xfrm>
                        <a:off x="2498799" y="3930808"/>
                        <a:ext cx="2788394" cy="813148"/>
                      </a:xfrm>
                      <a:prstGeom prst="rect">
                        <a:avLst/>
                      </a:prstGeom>
                      <a:noFill/>
                      <a:ln>
                        <a:noFill/>
                      </a:ln>
                      <a:effectLst/>
                    </p:spPr>
                  </p:pic>
                </p:oleObj>
              </mc:Fallback>
            </mc:AlternateContent>
          </a:graphicData>
        </a:graphic>
      </p:graphicFrame>
      <p:graphicFrame>
        <p:nvGraphicFramePr>
          <p:cNvPr id="184361" name="Object 41"/>
          <p:cNvGraphicFramePr>
            <a:graphicFrameLocks/>
          </p:cNvGraphicFramePr>
          <p:nvPr>
            <p:extLst>
              <p:ext uri="{D42A27DB-BD31-4B8C-83A1-F6EECF244321}">
                <p14:modId xmlns:p14="http://schemas.microsoft.com/office/powerpoint/2010/main" val="3176650996"/>
              </p:ext>
            </p:extLst>
          </p:nvPr>
        </p:nvGraphicFramePr>
        <p:xfrm>
          <a:off x="2476932" y="4721505"/>
          <a:ext cx="1925267" cy="854297"/>
        </p:xfrm>
        <a:graphic>
          <a:graphicData uri="http://schemas.openxmlformats.org/presentationml/2006/ole">
            <mc:AlternateContent xmlns:mc="http://schemas.openxmlformats.org/markup-compatibility/2006">
              <mc:Choice xmlns:v="urn:schemas-microsoft-com:vml" Requires="v">
                <p:oleObj name="Equation" r:id="rId8" imgW="1015920" imgH="457200" progId="Equation.DSMT4">
                  <p:embed/>
                </p:oleObj>
              </mc:Choice>
              <mc:Fallback>
                <p:oleObj name="Equation" r:id="rId8" imgW="1015920" imgH="457200" progId="Equation.DSMT4">
                  <p:embed/>
                  <p:pic>
                    <p:nvPicPr>
                      <p:cNvPr id="0" name=""/>
                      <p:cNvPicPr>
                        <a:picLocks noChangeArrowheads="1"/>
                      </p:cNvPicPr>
                      <p:nvPr/>
                    </p:nvPicPr>
                    <p:blipFill>
                      <a:blip r:embed="rId9"/>
                      <a:srcRect/>
                      <a:stretch>
                        <a:fillRect/>
                      </a:stretch>
                    </p:blipFill>
                    <p:spPr bwMode="auto">
                      <a:xfrm>
                        <a:off x="2476932" y="4721505"/>
                        <a:ext cx="1925267" cy="854297"/>
                      </a:xfrm>
                      <a:prstGeom prst="rect">
                        <a:avLst/>
                      </a:prstGeom>
                      <a:noFill/>
                      <a:ln>
                        <a:noFill/>
                      </a:ln>
                      <a:effectLst/>
                    </p:spPr>
                  </p:pic>
                </p:oleObj>
              </mc:Fallback>
            </mc:AlternateContent>
          </a:graphicData>
        </a:graphic>
      </p:graphicFrame>
      <p:graphicFrame>
        <p:nvGraphicFramePr>
          <p:cNvPr id="184362" name="Object 42"/>
          <p:cNvGraphicFramePr>
            <a:graphicFrameLocks/>
          </p:cNvGraphicFramePr>
          <p:nvPr>
            <p:extLst>
              <p:ext uri="{D42A27DB-BD31-4B8C-83A1-F6EECF244321}">
                <p14:modId xmlns:p14="http://schemas.microsoft.com/office/powerpoint/2010/main" val="1332058808"/>
              </p:ext>
            </p:extLst>
          </p:nvPr>
        </p:nvGraphicFramePr>
        <p:xfrm>
          <a:off x="496374" y="2884185"/>
          <a:ext cx="2750570" cy="868483"/>
        </p:xfrm>
        <a:graphic>
          <a:graphicData uri="http://schemas.openxmlformats.org/presentationml/2006/ole">
            <mc:AlternateContent xmlns:mc="http://schemas.openxmlformats.org/markup-compatibility/2006">
              <mc:Choice xmlns:v="urn:schemas-microsoft-com:vml" Requires="v">
                <p:oleObj name="Equation" r:id="rId10" imgW="1409400" imgH="457200" progId="Equation.DSMT4">
                  <p:embed/>
                </p:oleObj>
              </mc:Choice>
              <mc:Fallback>
                <p:oleObj name="Equation" r:id="rId10" imgW="1409400" imgH="457200" progId="Equation.DSMT4">
                  <p:embed/>
                  <p:pic>
                    <p:nvPicPr>
                      <p:cNvPr id="0" name=""/>
                      <p:cNvPicPr>
                        <a:picLocks noChangeArrowheads="1"/>
                      </p:cNvPicPr>
                      <p:nvPr/>
                    </p:nvPicPr>
                    <p:blipFill>
                      <a:blip r:embed="rId11"/>
                      <a:srcRect/>
                      <a:stretch>
                        <a:fillRect/>
                      </a:stretch>
                    </p:blipFill>
                    <p:spPr bwMode="auto">
                      <a:xfrm>
                        <a:off x="496374" y="2884185"/>
                        <a:ext cx="2750570" cy="868483"/>
                      </a:xfrm>
                      <a:prstGeom prst="rect">
                        <a:avLst/>
                      </a:prstGeom>
                      <a:noFill/>
                      <a:ln>
                        <a:noFill/>
                      </a:ln>
                      <a:effectLst/>
                    </p:spPr>
                  </p:pic>
                </p:oleObj>
              </mc:Fallback>
            </mc:AlternateContent>
          </a:graphicData>
        </a:graphic>
      </p:graphicFrame>
      <p:graphicFrame>
        <p:nvGraphicFramePr>
          <p:cNvPr id="184363" name="Object 43"/>
          <p:cNvGraphicFramePr>
            <a:graphicFrameLocks/>
          </p:cNvGraphicFramePr>
          <p:nvPr>
            <p:extLst>
              <p:ext uri="{D42A27DB-BD31-4B8C-83A1-F6EECF244321}">
                <p14:modId xmlns:p14="http://schemas.microsoft.com/office/powerpoint/2010/main" val="1345098963"/>
              </p:ext>
            </p:extLst>
          </p:nvPr>
        </p:nvGraphicFramePr>
        <p:xfrm>
          <a:off x="3639284" y="2920804"/>
          <a:ext cx="1204537" cy="754078"/>
        </p:xfrm>
        <a:graphic>
          <a:graphicData uri="http://schemas.openxmlformats.org/presentationml/2006/ole">
            <mc:AlternateContent xmlns:mc="http://schemas.openxmlformats.org/markup-compatibility/2006">
              <mc:Choice xmlns:v="urn:schemas-microsoft-com:vml" Requires="v">
                <p:oleObj name="Equation" r:id="rId12" imgW="583920" imgH="393480" progId="Equation.DSMT4">
                  <p:embed/>
                </p:oleObj>
              </mc:Choice>
              <mc:Fallback>
                <p:oleObj name="Equation" r:id="rId12" imgW="583920" imgH="393480" progId="Equation.DSMT4">
                  <p:embed/>
                  <p:pic>
                    <p:nvPicPr>
                      <p:cNvPr id="0" name=""/>
                      <p:cNvPicPr>
                        <a:picLocks noChangeArrowheads="1"/>
                      </p:cNvPicPr>
                      <p:nvPr/>
                    </p:nvPicPr>
                    <p:blipFill>
                      <a:blip r:embed="rId13"/>
                      <a:srcRect/>
                      <a:stretch>
                        <a:fillRect/>
                      </a:stretch>
                    </p:blipFill>
                    <p:spPr bwMode="auto">
                      <a:xfrm>
                        <a:off x="3639284" y="2920804"/>
                        <a:ext cx="1204537" cy="754078"/>
                      </a:xfrm>
                      <a:prstGeom prst="rect">
                        <a:avLst/>
                      </a:prstGeom>
                      <a:noFill/>
                      <a:ln>
                        <a:noFill/>
                      </a:ln>
                      <a:effectLst/>
                    </p:spPr>
                  </p:pic>
                </p:oleObj>
              </mc:Fallback>
            </mc:AlternateContent>
          </a:graphicData>
        </a:graphic>
      </p:graphicFrame>
      <p:sp>
        <p:nvSpPr>
          <p:cNvPr id="184366" name="Text Box 46"/>
          <p:cNvSpPr txBox="1">
            <a:spLocks noChangeArrowheads="1"/>
          </p:cNvSpPr>
          <p:nvPr/>
        </p:nvSpPr>
        <p:spPr bwMode="auto">
          <a:xfrm>
            <a:off x="514109" y="4112007"/>
            <a:ext cx="2590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solidFill>
                  <a:srgbClr val="0000FF"/>
                </a:solidFill>
                <a:latin typeface="楷体" panose="02010609060101010101" pitchFamily="49" charset="-122"/>
                <a:ea typeface="楷体" panose="02010609060101010101" pitchFamily="49" charset="-122"/>
              </a:rPr>
              <a:t>周长的改变：</a:t>
            </a:r>
          </a:p>
        </p:txBody>
      </p:sp>
      <p:sp>
        <p:nvSpPr>
          <p:cNvPr id="184367" name="Text Box 47"/>
          <p:cNvSpPr txBox="1">
            <a:spLocks noChangeArrowheads="1"/>
          </p:cNvSpPr>
          <p:nvPr/>
        </p:nvSpPr>
        <p:spPr bwMode="auto">
          <a:xfrm>
            <a:off x="514109" y="4889948"/>
            <a:ext cx="2590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solidFill>
                  <a:srgbClr val="0000FF"/>
                </a:solidFill>
                <a:latin typeface="楷体" panose="02010609060101010101" pitchFamily="49" charset="-122"/>
                <a:ea typeface="楷体" panose="02010609060101010101" pitchFamily="49" charset="-122"/>
              </a:rPr>
              <a:t>直径的改变：</a:t>
            </a:r>
          </a:p>
        </p:txBody>
      </p:sp>
      <p:grpSp>
        <p:nvGrpSpPr>
          <p:cNvPr id="2" name="组合 1"/>
          <p:cNvGrpSpPr/>
          <p:nvPr/>
        </p:nvGrpSpPr>
        <p:grpSpPr>
          <a:xfrm>
            <a:off x="7324024" y="197592"/>
            <a:ext cx="1724031" cy="1681162"/>
            <a:chOff x="7272781" y="636379"/>
            <a:chExt cx="1724031" cy="1681162"/>
          </a:xfrm>
        </p:grpSpPr>
        <p:grpSp>
          <p:nvGrpSpPr>
            <p:cNvPr id="44" name="Group 29"/>
            <p:cNvGrpSpPr>
              <a:grpSpLocks/>
            </p:cNvGrpSpPr>
            <p:nvPr/>
          </p:nvGrpSpPr>
          <p:grpSpPr bwMode="auto">
            <a:xfrm>
              <a:off x="7495474" y="1365108"/>
              <a:ext cx="756033" cy="669617"/>
              <a:chOff x="4604" y="1650"/>
              <a:chExt cx="531" cy="461"/>
            </a:xfrm>
          </p:grpSpPr>
          <p:grpSp>
            <p:nvGrpSpPr>
              <p:cNvPr id="45" name="Group 30"/>
              <p:cNvGrpSpPr>
                <a:grpSpLocks/>
              </p:cNvGrpSpPr>
              <p:nvPr/>
            </p:nvGrpSpPr>
            <p:grpSpPr bwMode="auto">
              <a:xfrm>
                <a:off x="4608" y="1650"/>
                <a:ext cx="510" cy="459"/>
                <a:chOff x="4608" y="1650"/>
                <a:chExt cx="510" cy="459"/>
              </a:xfrm>
            </p:grpSpPr>
            <p:sp>
              <p:nvSpPr>
                <p:cNvPr id="50" name="Freeform 31"/>
                <p:cNvSpPr>
                  <a:spLocks/>
                </p:cNvSpPr>
                <p:nvPr/>
              </p:nvSpPr>
              <p:spPr bwMode="auto">
                <a:xfrm>
                  <a:off x="4608" y="1653"/>
                  <a:ext cx="510" cy="456"/>
                </a:xfrm>
                <a:custGeom>
                  <a:avLst/>
                  <a:gdLst>
                    <a:gd name="T0" fmla="*/ 456 w 510"/>
                    <a:gd name="T1" fmla="*/ 0 h 456"/>
                    <a:gd name="T2" fmla="*/ 0 w 510"/>
                    <a:gd name="T3" fmla="*/ 456 h 456"/>
                    <a:gd name="T4" fmla="*/ 510 w 510"/>
                    <a:gd name="T5" fmla="*/ 57 h 456"/>
                    <a:gd name="T6" fmla="*/ 0 60000 65536"/>
                    <a:gd name="T7" fmla="*/ 0 60000 65536"/>
                    <a:gd name="T8" fmla="*/ 0 60000 65536"/>
                    <a:gd name="T9" fmla="*/ 0 w 510"/>
                    <a:gd name="T10" fmla="*/ 0 h 456"/>
                    <a:gd name="T11" fmla="*/ 510 w 510"/>
                    <a:gd name="T12" fmla="*/ 456 h 456"/>
                  </a:gdLst>
                  <a:ahLst/>
                  <a:cxnLst>
                    <a:cxn ang="T6">
                      <a:pos x="T0" y="T1"/>
                    </a:cxn>
                    <a:cxn ang="T7">
                      <a:pos x="T2" y="T3"/>
                    </a:cxn>
                    <a:cxn ang="T8">
                      <a:pos x="T4" y="T5"/>
                    </a:cxn>
                  </a:cxnLst>
                  <a:rect l="T9" t="T10" r="T11" b="T12"/>
                  <a:pathLst>
                    <a:path w="510" h="456">
                      <a:moveTo>
                        <a:pt x="456" y="0"/>
                      </a:moveTo>
                      <a:lnTo>
                        <a:pt x="0" y="456"/>
                      </a:lnTo>
                      <a:lnTo>
                        <a:pt x="510" y="57"/>
                      </a:lnTo>
                    </a:path>
                  </a:pathLst>
                </a:custGeom>
                <a:noFill/>
                <a:ln w="9525">
                  <a:solidFill>
                    <a:schemeClr val="tx1"/>
                  </a:solidFill>
                  <a:miter lim="800000"/>
                  <a:headEnd/>
                  <a:tailEnd/>
                </a:ln>
              </p:spPr>
              <p:txBody>
                <a:bodyPr wrap="none"/>
                <a:lstStyle/>
                <a:p>
                  <a:endParaRPr lang="zh-CN" altLang="en-US"/>
                </a:p>
              </p:txBody>
            </p:sp>
            <p:sp>
              <p:nvSpPr>
                <p:cNvPr id="51" name="Freeform 32"/>
                <p:cNvSpPr>
                  <a:spLocks/>
                </p:cNvSpPr>
                <p:nvPr/>
              </p:nvSpPr>
              <p:spPr bwMode="auto">
                <a:xfrm>
                  <a:off x="5025" y="1650"/>
                  <a:ext cx="87" cy="93"/>
                </a:xfrm>
                <a:custGeom>
                  <a:avLst/>
                  <a:gdLst>
                    <a:gd name="T0" fmla="*/ 33 w 87"/>
                    <a:gd name="T1" fmla="*/ 0 h 93"/>
                    <a:gd name="T2" fmla="*/ 57 w 87"/>
                    <a:gd name="T3" fmla="*/ 24 h 93"/>
                    <a:gd name="T4" fmla="*/ 75 w 87"/>
                    <a:gd name="T5" fmla="*/ 45 h 93"/>
                    <a:gd name="T6" fmla="*/ 87 w 87"/>
                    <a:gd name="T7" fmla="*/ 63 h 93"/>
                    <a:gd name="T8" fmla="*/ 42 w 87"/>
                    <a:gd name="T9" fmla="*/ 93 h 93"/>
                    <a:gd name="T10" fmla="*/ 21 w 87"/>
                    <a:gd name="T11" fmla="*/ 72 h 93"/>
                    <a:gd name="T12" fmla="*/ 0 w 87"/>
                    <a:gd name="T13" fmla="*/ 51 h 93"/>
                    <a:gd name="T14" fmla="*/ 33 w 87"/>
                    <a:gd name="T15" fmla="*/ 0 h 93"/>
                    <a:gd name="T16" fmla="*/ 0 60000 65536"/>
                    <a:gd name="T17" fmla="*/ 0 60000 65536"/>
                    <a:gd name="T18" fmla="*/ 0 60000 65536"/>
                    <a:gd name="T19" fmla="*/ 0 60000 65536"/>
                    <a:gd name="T20" fmla="*/ 0 60000 65536"/>
                    <a:gd name="T21" fmla="*/ 0 60000 65536"/>
                    <a:gd name="T22" fmla="*/ 0 60000 65536"/>
                    <a:gd name="T23" fmla="*/ 0 60000 65536"/>
                    <a:gd name="T24" fmla="*/ 0 w 87"/>
                    <a:gd name="T25" fmla="*/ 0 h 93"/>
                    <a:gd name="T26" fmla="*/ 87 w 87"/>
                    <a:gd name="T27" fmla="*/ 93 h 9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7" h="93">
                      <a:moveTo>
                        <a:pt x="33" y="0"/>
                      </a:moveTo>
                      <a:lnTo>
                        <a:pt x="57" y="24"/>
                      </a:lnTo>
                      <a:lnTo>
                        <a:pt x="75" y="45"/>
                      </a:lnTo>
                      <a:lnTo>
                        <a:pt x="87" y="63"/>
                      </a:lnTo>
                      <a:lnTo>
                        <a:pt x="42" y="93"/>
                      </a:lnTo>
                      <a:lnTo>
                        <a:pt x="21" y="72"/>
                      </a:lnTo>
                      <a:lnTo>
                        <a:pt x="0" y="51"/>
                      </a:lnTo>
                      <a:lnTo>
                        <a:pt x="33" y="0"/>
                      </a:lnTo>
                      <a:close/>
                    </a:path>
                  </a:pathLst>
                </a:custGeom>
                <a:solidFill>
                  <a:srgbClr val="E9E6E5"/>
                </a:solidFill>
                <a:ln w="9525">
                  <a:solidFill>
                    <a:schemeClr val="tx1"/>
                  </a:solidFill>
                  <a:miter lim="800000"/>
                  <a:headEnd/>
                  <a:tailEnd/>
                </a:ln>
              </p:spPr>
              <p:txBody>
                <a:bodyPr wrap="none"/>
                <a:lstStyle/>
                <a:p>
                  <a:endParaRPr lang="zh-CN" altLang="en-US"/>
                </a:p>
              </p:txBody>
            </p:sp>
          </p:grpSp>
          <p:sp>
            <p:nvSpPr>
              <p:cNvPr id="46" name="Freeform 33"/>
              <p:cNvSpPr>
                <a:spLocks/>
              </p:cNvSpPr>
              <p:nvPr/>
            </p:nvSpPr>
            <p:spPr bwMode="auto">
              <a:xfrm>
                <a:off x="4794" y="1959"/>
                <a:ext cx="48" cy="152"/>
              </a:xfrm>
              <a:custGeom>
                <a:avLst/>
                <a:gdLst>
                  <a:gd name="T0" fmla="*/ 24 w 48"/>
                  <a:gd name="T1" fmla="*/ 345 h 129"/>
                  <a:gd name="T2" fmla="*/ 45 w 48"/>
                  <a:gd name="T3" fmla="*/ 345 h 129"/>
                  <a:gd name="T4" fmla="*/ 42 w 48"/>
                  <a:gd name="T5" fmla="*/ 209 h 129"/>
                  <a:gd name="T6" fmla="*/ 21 w 48"/>
                  <a:gd name="T7" fmla="*/ 73 h 129"/>
                  <a:gd name="T8" fmla="*/ 0 w 48"/>
                  <a:gd name="T9" fmla="*/ 0 h 129"/>
                  <a:gd name="T10" fmla="*/ 0 60000 65536"/>
                  <a:gd name="T11" fmla="*/ 0 60000 65536"/>
                  <a:gd name="T12" fmla="*/ 0 60000 65536"/>
                  <a:gd name="T13" fmla="*/ 0 60000 65536"/>
                  <a:gd name="T14" fmla="*/ 0 60000 65536"/>
                  <a:gd name="T15" fmla="*/ 0 w 48"/>
                  <a:gd name="T16" fmla="*/ 0 h 129"/>
                  <a:gd name="T17" fmla="*/ 48 w 48"/>
                  <a:gd name="T18" fmla="*/ 129 h 129"/>
                </a:gdLst>
                <a:ahLst/>
                <a:cxnLst>
                  <a:cxn ang="T10">
                    <a:pos x="T0" y="T1"/>
                  </a:cxn>
                  <a:cxn ang="T11">
                    <a:pos x="T2" y="T3"/>
                  </a:cxn>
                  <a:cxn ang="T12">
                    <a:pos x="T4" y="T5"/>
                  </a:cxn>
                  <a:cxn ang="T13">
                    <a:pos x="T6" y="T7"/>
                  </a:cxn>
                  <a:cxn ang="T14">
                    <a:pos x="T8" y="T9"/>
                  </a:cxn>
                </a:cxnLst>
                <a:rect l="T15" t="T16" r="T17" b="T18"/>
                <a:pathLst>
                  <a:path w="48" h="129">
                    <a:moveTo>
                      <a:pt x="24" y="129"/>
                    </a:moveTo>
                    <a:lnTo>
                      <a:pt x="45" y="129"/>
                    </a:lnTo>
                    <a:cubicBezTo>
                      <a:pt x="48" y="121"/>
                      <a:pt x="46" y="95"/>
                      <a:pt x="42" y="78"/>
                    </a:cubicBezTo>
                    <a:cubicBezTo>
                      <a:pt x="38" y="61"/>
                      <a:pt x="28" y="40"/>
                      <a:pt x="21" y="27"/>
                    </a:cubicBezTo>
                    <a:cubicBezTo>
                      <a:pt x="14" y="14"/>
                      <a:pt x="3" y="4"/>
                      <a:pt x="0" y="0"/>
                    </a:cubicBezTo>
                  </a:path>
                </a:pathLst>
              </a:custGeom>
              <a:noFill/>
              <a:ln w="3175">
                <a:solidFill>
                  <a:schemeClr val="tx1"/>
                </a:solidFill>
                <a:miter lim="800000"/>
                <a:headEnd/>
                <a:tailEnd type="triangle" w="sm" len="sm"/>
              </a:ln>
            </p:spPr>
            <p:txBody>
              <a:bodyPr wrap="none"/>
              <a:lstStyle/>
              <a:p>
                <a:endParaRPr lang="zh-CN" altLang="en-US"/>
              </a:p>
            </p:txBody>
          </p:sp>
          <p:sp>
            <p:nvSpPr>
              <p:cNvPr id="47" name="Freeform 34"/>
              <p:cNvSpPr>
                <a:spLocks/>
              </p:cNvSpPr>
              <p:nvPr/>
            </p:nvSpPr>
            <p:spPr bwMode="auto">
              <a:xfrm>
                <a:off x="4671" y="1863"/>
                <a:ext cx="99" cy="78"/>
              </a:xfrm>
              <a:custGeom>
                <a:avLst/>
                <a:gdLst>
                  <a:gd name="T0" fmla="*/ 0 w 99"/>
                  <a:gd name="T1" fmla="*/ 0 h 78"/>
                  <a:gd name="T2" fmla="*/ 30 w 99"/>
                  <a:gd name="T3" fmla="*/ 15 h 78"/>
                  <a:gd name="T4" fmla="*/ 57 w 99"/>
                  <a:gd name="T5" fmla="*/ 33 h 78"/>
                  <a:gd name="T6" fmla="*/ 75 w 99"/>
                  <a:gd name="T7" fmla="*/ 51 h 78"/>
                  <a:gd name="T8" fmla="*/ 99 w 99"/>
                  <a:gd name="T9" fmla="*/ 78 h 78"/>
                  <a:gd name="T10" fmla="*/ 0 60000 65536"/>
                  <a:gd name="T11" fmla="*/ 0 60000 65536"/>
                  <a:gd name="T12" fmla="*/ 0 60000 65536"/>
                  <a:gd name="T13" fmla="*/ 0 60000 65536"/>
                  <a:gd name="T14" fmla="*/ 0 60000 65536"/>
                  <a:gd name="T15" fmla="*/ 0 w 99"/>
                  <a:gd name="T16" fmla="*/ 0 h 78"/>
                  <a:gd name="T17" fmla="*/ 99 w 99"/>
                  <a:gd name="T18" fmla="*/ 78 h 78"/>
                </a:gdLst>
                <a:ahLst/>
                <a:cxnLst>
                  <a:cxn ang="T10">
                    <a:pos x="T0" y="T1"/>
                  </a:cxn>
                  <a:cxn ang="T11">
                    <a:pos x="T2" y="T3"/>
                  </a:cxn>
                  <a:cxn ang="T12">
                    <a:pos x="T4" y="T5"/>
                  </a:cxn>
                  <a:cxn ang="T13">
                    <a:pos x="T6" y="T7"/>
                  </a:cxn>
                  <a:cxn ang="T14">
                    <a:pos x="T8" y="T9"/>
                  </a:cxn>
                </a:cxnLst>
                <a:rect l="T15" t="T16" r="T17" b="T18"/>
                <a:pathLst>
                  <a:path w="99" h="78">
                    <a:moveTo>
                      <a:pt x="0" y="0"/>
                    </a:moveTo>
                    <a:lnTo>
                      <a:pt x="30" y="15"/>
                    </a:lnTo>
                    <a:lnTo>
                      <a:pt x="57" y="33"/>
                    </a:lnTo>
                    <a:lnTo>
                      <a:pt x="75" y="51"/>
                    </a:lnTo>
                    <a:lnTo>
                      <a:pt x="99" y="78"/>
                    </a:lnTo>
                  </a:path>
                </a:pathLst>
              </a:custGeom>
              <a:noFill/>
              <a:ln w="9525">
                <a:solidFill>
                  <a:schemeClr val="tx1"/>
                </a:solidFill>
                <a:miter lim="800000"/>
                <a:headEnd/>
                <a:tailEnd type="triangle" w="sm" len="sm"/>
              </a:ln>
            </p:spPr>
            <p:txBody>
              <a:bodyPr wrap="none"/>
              <a:lstStyle/>
              <a:p>
                <a:endParaRPr lang="zh-CN" altLang="en-US"/>
              </a:p>
            </p:txBody>
          </p:sp>
          <p:sp>
            <p:nvSpPr>
              <p:cNvPr id="48" name="Text Box 35"/>
              <p:cNvSpPr txBox="1">
                <a:spLocks noChangeArrowheads="1"/>
              </p:cNvSpPr>
              <p:nvPr/>
            </p:nvSpPr>
            <p:spPr bwMode="auto">
              <a:xfrm>
                <a:off x="4604" y="1855"/>
                <a:ext cx="195" cy="242"/>
              </a:xfrm>
              <a:prstGeom prst="rect">
                <a:avLst/>
              </a:prstGeom>
              <a:noFill/>
              <a:ln w="9525">
                <a:noFill/>
                <a:miter lim="800000"/>
                <a:headEnd/>
                <a:tailEnd/>
              </a:ln>
            </p:spPr>
            <p:txBody>
              <a:bodyPr wrap="square" lIns="0" tIns="0" rIns="18000" bIns="10800">
                <a:spAutoFit/>
              </a:bodyPr>
              <a:lstStyle/>
              <a:p>
                <a:pPr algn="l"/>
                <a:r>
                  <a:rPr lang="en-US" altLang="zh-CN" sz="1800" i="1" dirty="0">
                    <a:latin typeface="Times New Roman" panose="02020603050405020304" pitchFamily="18" charset="0"/>
                    <a:ea typeface="宋体" pitchFamily="2" charset="-122"/>
                    <a:cs typeface="Times New Roman" panose="02020603050405020304" pitchFamily="18" charset="0"/>
                    <a:sym typeface="Symbol" pitchFamily="18" charset="2"/>
                  </a:rPr>
                  <a:t></a:t>
                </a:r>
                <a:endParaRPr lang="en-US" altLang="zh-CN" sz="1800" i="1" dirty="0">
                  <a:latin typeface="Times New Roman" panose="02020603050405020304" pitchFamily="18" charset="0"/>
                  <a:ea typeface="宋体" pitchFamily="2" charset="-122"/>
                  <a:cs typeface="Times New Roman" panose="02020603050405020304" pitchFamily="18" charset="0"/>
                </a:endParaRPr>
              </a:p>
            </p:txBody>
          </p:sp>
          <p:sp>
            <p:nvSpPr>
              <p:cNvPr id="49" name="Text Box 36"/>
              <p:cNvSpPr txBox="1">
                <a:spLocks noChangeArrowheads="1"/>
              </p:cNvSpPr>
              <p:nvPr/>
            </p:nvSpPr>
            <p:spPr bwMode="auto">
              <a:xfrm>
                <a:off x="4847" y="1867"/>
                <a:ext cx="288" cy="242"/>
              </a:xfrm>
              <a:prstGeom prst="rect">
                <a:avLst/>
              </a:prstGeom>
              <a:noFill/>
              <a:ln w="9525">
                <a:noFill/>
                <a:miter lim="800000"/>
                <a:headEnd/>
                <a:tailEnd/>
              </a:ln>
            </p:spPr>
            <p:txBody>
              <a:bodyPr lIns="0" tIns="0" rIns="18000" bIns="10800">
                <a:spAutoFit/>
              </a:bodyPr>
              <a:lstStyle/>
              <a:p>
                <a:pPr algn="l"/>
                <a:r>
                  <a:rPr lang="en-US" altLang="zh-CN" sz="1800" dirty="0">
                    <a:latin typeface="Times New Roman" pitchFamily="18" charset="0"/>
                    <a:ea typeface="宋体" pitchFamily="2" charset="-122"/>
                    <a:sym typeface="Symbol" pitchFamily="18" charset="2"/>
                  </a:rPr>
                  <a:t>d</a:t>
                </a:r>
                <a:r>
                  <a:rPr lang="en-US" altLang="zh-CN" sz="1800" i="1" dirty="0">
                    <a:latin typeface="Tahoma" pitchFamily="34" charset="0"/>
                    <a:ea typeface="宋体" pitchFamily="2" charset="-122"/>
                    <a:sym typeface="Symbol" pitchFamily="18" charset="2"/>
                  </a:rPr>
                  <a:t></a:t>
                </a:r>
                <a:endParaRPr lang="en-US" altLang="zh-CN" sz="1800" i="1" dirty="0">
                  <a:latin typeface="Tahoma" pitchFamily="34" charset="0"/>
                  <a:ea typeface="宋体" pitchFamily="2" charset="-122"/>
                </a:endParaRPr>
              </a:p>
            </p:txBody>
          </p:sp>
        </p:grpSp>
        <p:grpSp>
          <p:nvGrpSpPr>
            <p:cNvPr id="52" name="Group 7"/>
            <p:cNvGrpSpPr>
              <a:grpSpLocks/>
            </p:cNvGrpSpPr>
            <p:nvPr/>
          </p:nvGrpSpPr>
          <p:grpSpPr bwMode="auto">
            <a:xfrm>
              <a:off x="7272781" y="636379"/>
              <a:ext cx="1724031" cy="1681162"/>
              <a:chOff x="4510" y="905"/>
              <a:chExt cx="1086" cy="1412"/>
            </a:xfrm>
          </p:grpSpPr>
          <p:sp>
            <p:nvSpPr>
              <p:cNvPr id="53" name="Freeform 8"/>
              <p:cNvSpPr>
                <a:spLocks/>
              </p:cNvSpPr>
              <p:nvPr/>
            </p:nvSpPr>
            <p:spPr bwMode="auto">
              <a:xfrm>
                <a:off x="4644" y="1019"/>
                <a:ext cx="952" cy="1078"/>
              </a:xfrm>
              <a:custGeom>
                <a:avLst/>
                <a:gdLst>
                  <a:gd name="T0" fmla="*/ 0 w 912"/>
                  <a:gd name="T1" fmla="*/ 0 h 768"/>
                  <a:gd name="T2" fmla="*/ 0 w 912"/>
                  <a:gd name="T3" fmla="*/ 768 h 768"/>
                  <a:gd name="T4" fmla="*/ 912 w 912"/>
                  <a:gd name="T5" fmla="*/ 768 h 768"/>
                  <a:gd name="T6" fmla="*/ 0 60000 65536"/>
                  <a:gd name="T7" fmla="*/ 0 60000 65536"/>
                  <a:gd name="T8" fmla="*/ 0 60000 65536"/>
                  <a:gd name="T9" fmla="*/ 0 w 912"/>
                  <a:gd name="T10" fmla="*/ 0 h 768"/>
                  <a:gd name="T11" fmla="*/ 912 w 912"/>
                  <a:gd name="T12" fmla="*/ 768 h 768"/>
                </a:gdLst>
                <a:ahLst/>
                <a:cxnLst>
                  <a:cxn ang="T6">
                    <a:pos x="T0" y="T1"/>
                  </a:cxn>
                  <a:cxn ang="T7">
                    <a:pos x="T2" y="T3"/>
                  </a:cxn>
                  <a:cxn ang="T8">
                    <a:pos x="T4" y="T5"/>
                  </a:cxn>
                </a:cxnLst>
                <a:rect l="T9" t="T10" r="T11" b="T12"/>
                <a:pathLst>
                  <a:path w="912" h="768">
                    <a:moveTo>
                      <a:pt x="0" y="0"/>
                    </a:moveTo>
                    <a:lnTo>
                      <a:pt x="0" y="768"/>
                    </a:lnTo>
                    <a:lnTo>
                      <a:pt x="912" y="768"/>
                    </a:lnTo>
                  </a:path>
                </a:pathLst>
              </a:custGeom>
              <a:noFill/>
              <a:ln w="12700">
                <a:solidFill>
                  <a:schemeClr val="tx1"/>
                </a:solidFill>
                <a:miter lim="800000"/>
                <a:headEnd type="triangle" w="sm" len="lg"/>
                <a:tailEnd type="triangle" w="sm" len="lg"/>
              </a:ln>
            </p:spPr>
            <p:txBody>
              <a:bodyPr wrap="none"/>
              <a:lstStyle/>
              <a:p>
                <a:endParaRPr lang="zh-CN" altLang="en-US"/>
              </a:p>
            </p:txBody>
          </p:sp>
          <p:sp>
            <p:nvSpPr>
              <p:cNvPr id="54" name="Text Box 9"/>
              <p:cNvSpPr txBox="1">
                <a:spLocks noChangeArrowheads="1"/>
              </p:cNvSpPr>
              <p:nvPr/>
            </p:nvSpPr>
            <p:spPr bwMode="auto">
              <a:xfrm>
                <a:off x="5391" y="2058"/>
                <a:ext cx="72" cy="259"/>
              </a:xfrm>
              <a:prstGeom prst="rect">
                <a:avLst/>
              </a:prstGeom>
              <a:noFill/>
              <a:ln w="9525">
                <a:noFill/>
                <a:miter lim="800000"/>
                <a:headEnd/>
                <a:tailEnd/>
              </a:ln>
            </p:spPr>
            <p:txBody>
              <a:bodyPr wrap="none" lIns="0" tIns="0" rIns="0" bIns="0">
                <a:spAutoFit/>
              </a:bodyPr>
              <a:lstStyle/>
              <a:p>
                <a:pPr algn="l"/>
                <a:r>
                  <a:rPr lang="en-US" altLang="zh-CN" sz="2000" i="1" dirty="0">
                    <a:latin typeface="Times New Roman" pitchFamily="18" charset="0"/>
                    <a:ea typeface="宋体" pitchFamily="2" charset="-122"/>
                  </a:rPr>
                  <a:t>x</a:t>
                </a:r>
              </a:p>
            </p:txBody>
          </p:sp>
          <p:sp>
            <p:nvSpPr>
              <p:cNvPr id="55" name="Text Box 10"/>
              <p:cNvSpPr txBox="1">
                <a:spLocks noChangeArrowheads="1"/>
              </p:cNvSpPr>
              <p:nvPr/>
            </p:nvSpPr>
            <p:spPr bwMode="auto">
              <a:xfrm>
                <a:off x="4510" y="905"/>
                <a:ext cx="124" cy="259"/>
              </a:xfrm>
              <a:prstGeom prst="rect">
                <a:avLst/>
              </a:prstGeom>
              <a:noFill/>
              <a:ln w="9525">
                <a:noFill/>
                <a:miter lim="800000"/>
                <a:headEnd/>
                <a:tailEnd/>
              </a:ln>
            </p:spPr>
            <p:txBody>
              <a:bodyPr wrap="square" lIns="0" tIns="0" rIns="0" bIns="0">
                <a:spAutoFit/>
              </a:bodyPr>
              <a:lstStyle/>
              <a:p>
                <a:pPr algn="l"/>
                <a:r>
                  <a:rPr lang="en-US" altLang="zh-CN" sz="2000" i="1" dirty="0">
                    <a:latin typeface="Times New Roman" pitchFamily="18" charset="0"/>
                    <a:ea typeface="宋体" pitchFamily="2" charset="-122"/>
                  </a:rPr>
                  <a:t>y</a:t>
                </a:r>
              </a:p>
            </p:txBody>
          </p:sp>
        </p:grpSp>
      </p:grpSp>
      <p:grpSp>
        <p:nvGrpSpPr>
          <p:cNvPr id="3" name="组合 2"/>
          <p:cNvGrpSpPr/>
          <p:nvPr/>
        </p:nvGrpSpPr>
        <p:grpSpPr>
          <a:xfrm>
            <a:off x="5803849" y="4221088"/>
            <a:ext cx="2263215" cy="2063750"/>
            <a:chOff x="6510503" y="3765711"/>
            <a:chExt cx="2263215" cy="2063750"/>
          </a:xfrm>
        </p:grpSpPr>
        <p:grpSp>
          <p:nvGrpSpPr>
            <p:cNvPr id="57" name="Group 23"/>
            <p:cNvGrpSpPr>
              <a:grpSpLocks/>
            </p:cNvGrpSpPr>
            <p:nvPr/>
          </p:nvGrpSpPr>
          <p:grpSpPr bwMode="auto">
            <a:xfrm>
              <a:off x="6510503" y="3765711"/>
              <a:ext cx="2263215" cy="2063750"/>
              <a:chOff x="2122" y="624"/>
              <a:chExt cx="1240" cy="1104"/>
            </a:xfrm>
          </p:grpSpPr>
          <p:sp>
            <p:nvSpPr>
              <p:cNvPr id="58" name="Oval 24"/>
              <p:cNvSpPr>
                <a:spLocks noChangeArrowheads="1"/>
              </p:cNvSpPr>
              <p:nvPr/>
            </p:nvSpPr>
            <p:spPr bwMode="auto">
              <a:xfrm>
                <a:off x="2170" y="624"/>
                <a:ext cx="1104" cy="1056"/>
              </a:xfrm>
              <a:prstGeom prst="ellipse">
                <a:avLst/>
              </a:prstGeom>
              <a:solidFill>
                <a:schemeClr val="accent1"/>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useBgFill="1">
            <p:nvSpPr>
              <p:cNvPr id="59" name="Oval 25"/>
              <p:cNvSpPr>
                <a:spLocks noChangeArrowheads="1"/>
              </p:cNvSpPr>
              <p:nvPr/>
            </p:nvSpPr>
            <p:spPr bwMode="auto">
              <a:xfrm>
                <a:off x="2266" y="720"/>
                <a:ext cx="912" cy="864"/>
              </a:xfrm>
              <a:prstGeom prst="ellipse">
                <a:avLst/>
              </a:prstGeom>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useBgFill="1">
            <p:nvSpPr>
              <p:cNvPr id="65" name="Rectangle 31"/>
              <p:cNvSpPr>
                <a:spLocks noChangeArrowheads="1"/>
              </p:cNvSpPr>
              <p:nvPr/>
            </p:nvSpPr>
            <p:spPr bwMode="auto">
              <a:xfrm>
                <a:off x="2170" y="1152"/>
                <a:ext cx="1152" cy="576"/>
              </a:xfrm>
              <a:prstGeom prst="rect">
                <a:avLst/>
              </a:prstGeom>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66" name="Line 32"/>
              <p:cNvSpPr>
                <a:spLocks noChangeShapeType="1"/>
              </p:cNvSpPr>
              <p:nvPr/>
            </p:nvSpPr>
            <p:spPr bwMode="auto">
              <a:xfrm>
                <a:off x="2218" y="1150"/>
                <a:ext cx="0" cy="288"/>
              </a:xfrm>
              <a:prstGeom prst="line">
                <a:avLst/>
              </a:prstGeom>
              <a:noFill/>
              <a:ln w="2222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Line 33"/>
              <p:cNvSpPr>
                <a:spLocks noChangeShapeType="1"/>
              </p:cNvSpPr>
              <p:nvPr/>
            </p:nvSpPr>
            <p:spPr bwMode="auto">
              <a:xfrm>
                <a:off x="3231" y="1145"/>
                <a:ext cx="0" cy="288"/>
              </a:xfrm>
              <a:prstGeom prst="line">
                <a:avLst/>
              </a:prstGeom>
              <a:noFill/>
              <a:ln w="2222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Text Box 34"/>
              <p:cNvSpPr txBox="1">
                <a:spLocks noChangeArrowheads="1"/>
              </p:cNvSpPr>
              <p:nvPr/>
            </p:nvSpPr>
            <p:spPr bwMode="auto">
              <a:xfrm>
                <a:off x="2122" y="1414"/>
                <a:ext cx="298" cy="2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dirty="0">
                    <a:solidFill>
                      <a:srgbClr val="FF0000"/>
                    </a:solidFill>
                    <a:latin typeface="Times New Roman" panose="02020603050405020304" pitchFamily="18" charset="0"/>
                    <a:ea typeface="宋体" panose="02010600030101010101" pitchFamily="2" charset="-122"/>
                  </a:rPr>
                  <a:t>F</a:t>
                </a:r>
                <a:r>
                  <a:rPr kumimoji="1" lang="en-US" altLang="zh-CN" sz="2000" b="1" baseline="-25000" dirty="0">
                    <a:solidFill>
                      <a:srgbClr val="FF0000"/>
                    </a:solidFill>
                    <a:latin typeface="Times New Roman" panose="02020603050405020304" pitchFamily="18" charset="0"/>
                    <a:ea typeface="宋体" panose="02010600030101010101" pitchFamily="2" charset="-122"/>
                  </a:rPr>
                  <a:t>N</a:t>
                </a:r>
                <a:r>
                  <a:rPr kumimoji="1" lang="en-US" altLang="zh-CN" sz="2000" b="1" i="1" dirty="0">
                    <a:solidFill>
                      <a:srgbClr val="FF0000"/>
                    </a:solidFill>
                    <a:latin typeface="Times New Roman" panose="02020603050405020304" pitchFamily="18" charset="0"/>
                    <a:ea typeface="宋体" panose="02010600030101010101" pitchFamily="2" charset="-122"/>
                  </a:rPr>
                  <a:t> </a:t>
                </a:r>
              </a:p>
            </p:txBody>
          </p:sp>
          <p:sp>
            <p:nvSpPr>
              <p:cNvPr id="69" name="Text Box 35"/>
              <p:cNvSpPr txBox="1">
                <a:spLocks noChangeArrowheads="1"/>
              </p:cNvSpPr>
              <p:nvPr/>
            </p:nvSpPr>
            <p:spPr bwMode="auto">
              <a:xfrm>
                <a:off x="3099" y="1418"/>
                <a:ext cx="263" cy="2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dirty="0">
                    <a:solidFill>
                      <a:srgbClr val="FF0000"/>
                    </a:solidFill>
                    <a:latin typeface="Times New Roman" panose="02020603050405020304" pitchFamily="18" charset="0"/>
                    <a:ea typeface="宋体" panose="02010600030101010101" pitchFamily="2" charset="-122"/>
                  </a:rPr>
                  <a:t>F</a:t>
                </a:r>
                <a:r>
                  <a:rPr kumimoji="1" lang="en-US" altLang="zh-CN" sz="2000" b="1" baseline="-25000" dirty="0">
                    <a:solidFill>
                      <a:srgbClr val="FF0000"/>
                    </a:solidFill>
                    <a:latin typeface="Times New Roman" panose="02020603050405020304" pitchFamily="18" charset="0"/>
                    <a:ea typeface="宋体" panose="02010600030101010101" pitchFamily="2" charset="-122"/>
                  </a:rPr>
                  <a:t>N</a:t>
                </a:r>
              </a:p>
            </p:txBody>
          </p:sp>
          <p:sp>
            <p:nvSpPr>
              <p:cNvPr id="60" name="Line 26"/>
              <p:cNvSpPr>
                <a:spLocks noChangeShapeType="1"/>
              </p:cNvSpPr>
              <p:nvPr/>
            </p:nvSpPr>
            <p:spPr bwMode="auto">
              <a:xfrm flipV="1">
                <a:off x="2734" y="1130"/>
                <a:ext cx="0" cy="192"/>
              </a:xfrm>
              <a:prstGeom prst="line">
                <a:avLst/>
              </a:prstGeom>
              <a:noFill/>
              <a:ln w="22225">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 name="Text Box 36"/>
              <p:cNvSpPr txBox="1">
                <a:spLocks noChangeArrowheads="1"/>
              </p:cNvSpPr>
              <p:nvPr/>
            </p:nvSpPr>
            <p:spPr bwMode="auto">
              <a:xfrm>
                <a:off x="2700" y="1255"/>
                <a:ext cx="170"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dirty="0">
                    <a:solidFill>
                      <a:srgbClr val="FF3300"/>
                    </a:solidFill>
                    <a:latin typeface="Times New Roman" panose="02020603050405020304" pitchFamily="18" charset="0"/>
                    <a:ea typeface="宋体" panose="02010600030101010101" pitchFamily="2" charset="-122"/>
                  </a:rPr>
                  <a:t>q</a:t>
                </a:r>
                <a:endParaRPr kumimoji="1" lang="en-US" altLang="zh-CN" sz="2000" b="1" i="1" dirty="0">
                  <a:latin typeface="Times New Roman" panose="02020603050405020304" pitchFamily="18" charset="0"/>
                  <a:ea typeface="宋体" panose="02010600030101010101" pitchFamily="2" charset="-122"/>
                </a:endParaRPr>
              </a:p>
            </p:txBody>
          </p:sp>
        </p:grpSp>
        <p:sp>
          <p:nvSpPr>
            <p:cNvPr id="71" name="Line 18"/>
            <p:cNvSpPr>
              <a:spLocks noChangeShapeType="1"/>
            </p:cNvSpPr>
            <p:nvPr/>
          </p:nvSpPr>
          <p:spPr bwMode="auto">
            <a:xfrm>
              <a:off x="6736321" y="4736353"/>
              <a:ext cx="179194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 name="Line 26"/>
            <p:cNvSpPr>
              <a:spLocks noChangeShapeType="1"/>
            </p:cNvSpPr>
            <p:nvPr/>
          </p:nvSpPr>
          <p:spPr bwMode="auto">
            <a:xfrm flipV="1">
              <a:off x="7849426" y="4711595"/>
              <a:ext cx="0" cy="358913"/>
            </a:xfrm>
            <a:prstGeom prst="line">
              <a:avLst/>
            </a:prstGeom>
            <a:noFill/>
            <a:ln w="22225">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 name="Line 26"/>
            <p:cNvSpPr>
              <a:spLocks noChangeShapeType="1"/>
            </p:cNvSpPr>
            <p:nvPr/>
          </p:nvSpPr>
          <p:spPr bwMode="auto">
            <a:xfrm flipV="1">
              <a:off x="8084858" y="4711595"/>
              <a:ext cx="0" cy="358913"/>
            </a:xfrm>
            <a:prstGeom prst="line">
              <a:avLst/>
            </a:prstGeom>
            <a:noFill/>
            <a:ln w="22225">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 name="Line 26"/>
            <p:cNvSpPr>
              <a:spLocks noChangeShapeType="1"/>
            </p:cNvSpPr>
            <p:nvPr/>
          </p:nvSpPr>
          <p:spPr bwMode="auto">
            <a:xfrm flipV="1">
              <a:off x="8302913" y="4711594"/>
              <a:ext cx="0" cy="358913"/>
            </a:xfrm>
            <a:prstGeom prst="line">
              <a:avLst/>
            </a:prstGeom>
            <a:noFill/>
            <a:ln w="22225">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 name="Line 26"/>
            <p:cNvSpPr>
              <a:spLocks noChangeShapeType="1"/>
            </p:cNvSpPr>
            <p:nvPr/>
          </p:nvSpPr>
          <p:spPr bwMode="auto">
            <a:xfrm flipV="1">
              <a:off x="7422449" y="4711594"/>
              <a:ext cx="0" cy="358913"/>
            </a:xfrm>
            <a:prstGeom prst="line">
              <a:avLst/>
            </a:prstGeom>
            <a:noFill/>
            <a:ln w="22225">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 name="Line 26"/>
            <p:cNvSpPr>
              <a:spLocks noChangeShapeType="1"/>
            </p:cNvSpPr>
            <p:nvPr/>
          </p:nvSpPr>
          <p:spPr bwMode="auto">
            <a:xfrm flipV="1">
              <a:off x="7205674" y="4711594"/>
              <a:ext cx="0" cy="358913"/>
            </a:xfrm>
            <a:prstGeom prst="line">
              <a:avLst/>
            </a:prstGeom>
            <a:noFill/>
            <a:ln w="22225">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Line 26"/>
            <p:cNvSpPr>
              <a:spLocks noChangeShapeType="1"/>
            </p:cNvSpPr>
            <p:nvPr/>
          </p:nvSpPr>
          <p:spPr bwMode="auto">
            <a:xfrm flipV="1">
              <a:off x="6941892" y="4711594"/>
              <a:ext cx="0" cy="358913"/>
            </a:xfrm>
            <a:prstGeom prst="line">
              <a:avLst/>
            </a:prstGeom>
            <a:noFill/>
            <a:ln w="22225">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0" name="Rectangle 138"/>
          <p:cNvSpPr>
            <a:spLocks noChangeArrowheads="1"/>
          </p:cNvSpPr>
          <p:nvPr/>
        </p:nvSpPr>
        <p:spPr bwMode="auto">
          <a:xfrm>
            <a:off x="947112" y="5729017"/>
            <a:ext cx="4073460" cy="462307"/>
          </a:xfrm>
          <a:prstGeom prst="rect">
            <a:avLst/>
          </a:prstGeom>
          <a:noFill/>
          <a:ln w="9525">
            <a:noFill/>
            <a:miter lim="800000"/>
            <a:headEnd/>
            <a:tailEnd/>
          </a:ln>
        </p:spPr>
        <p:txBody>
          <a:bodyPr wrap="square" lIns="92075" tIns="46038" rIns="92075" bIns="46038">
            <a:spAutoFit/>
          </a:bodyPr>
          <a:lstStyle/>
          <a:p>
            <a:pPr marL="342900" indent="-342900" eaLnBrk="0" hangingPunct="0">
              <a:buFont typeface="Wingdings" panose="05000000000000000000" pitchFamily="2" charset="2"/>
              <a:buChar char="Ø"/>
              <a:defRPr/>
            </a:pPr>
            <a:r>
              <a:rPr kumimoji="1" lang="zh-CN" altLang="en-US" sz="2400" b="1" dirty="0">
                <a:solidFill>
                  <a:srgbClr val="C00000"/>
                </a:solidFill>
                <a:latin typeface="楷体" panose="02010609060101010101" pitchFamily="49" charset="-122"/>
                <a:ea typeface="楷体" panose="02010609060101010101" pitchFamily="49" charset="-122"/>
                <a:cs typeface="Times New Roman" pitchFamily="18" charset="0"/>
              </a:rPr>
              <a:t>若重取研究对象？</a:t>
            </a:r>
          </a:p>
        </p:txBody>
      </p:sp>
    </p:spTree>
    <p:extLst>
      <p:ext uri="{BB962C8B-B14F-4D97-AF65-F5344CB8AC3E}">
        <p14:creationId xmlns:p14="http://schemas.microsoft.com/office/powerpoint/2010/main" val="240677573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84357"/>
                                        </p:tgtEl>
                                        <p:attrNameLst>
                                          <p:attrName>style.visibility</p:attrName>
                                        </p:attrNameLst>
                                      </p:cBhvr>
                                      <p:to>
                                        <p:strVal val="visible"/>
                                      </p:to>
                                    </p:set>
                                    <p:animEffect transition="in" filter="box(out)">
                                      <p:cBhvr>
                                        <p:cTn id="7" dur="500"/>
                                        <p:tgtEl>
                                          <p:spTgt spid="18435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2" fill="hold" nodeType="clickEffect">
                                  <p:stCondLst>
                                    <p:cond delay="0"/>
                                  </p:stCondLst>
                                  <p:childTnLst>
                                    <p:set>
                                      <p:cBhvr>
                                        <p:cTn id="11" dur="1" fill="hold">
                                          <p:stCondLst>
                                            <p:cond delay="0"/>
                                          </p:stCondLst>
                                        </p:cTn>
                                        <p:tgtEl>
                                          <p:spTgt spid="184343"/>
                                        </p:tgtEl>
                                        <p:attrNameLst>
                                          <p:attrName>style.visibility</p:attrName>
                                        </p:attrNameLst>
                                      </p:cBhvr>
                                      <p:to>
                                        <p:strVal val="visible"/>
                                      </p:to>
                                    </p:set>
                                    <p:anim calcmode="lin" valueType="num">
                                      <p:cBhvr additive="base">
                                        <p:cTn id="12" dur="500" fill="hold"/>
                                        <p:tgtEl>
                                          <p:spTgt spid="184343"/>
                                        </p:tgtEl>
                                        <p:attrNameLst>
                                          <p:attrName>ppt_x</p:attrName>
                                        </p:attrNameLst>
                                      </p:cBhvr>
                                      <p:tavLst>
                                        <p:tav tm="0">
                                          <p:val>
                                            <p:strVal val="1+#ppt_w/2"/>
                                          </p:val>
                                        </p:tav>
                                        <p:tav tm="100000">
                                          <p:val>
                                            <p:strVal val="#ppt_x"/>
                                          </p:val>
                                        </p:tav>
                                      </p:tavLst>
                                    </p:anim>
                                    <p:anim calcmode="lin" valueType="num">
                                      <p:cBhvr additive="base">
                                        <p:cTn id="13" dur="500" fill="hold"/>
                                        <p:tgtEl>
                                          <p:spTgt spid="184343"/>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blinds(horizontal)">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17" presetClass="entr" presetSubtype="1" fill="hold" nodeType="clickEffect">
                                  <p:stCondLst>
                                    <p:cond delay="0"/>
                                  </p:stCondLst>
                                  <p:childTnLst>
                                    <p:set>
                                      <p:cBhvr>
                                        <p:cTn id="22" dur="1" fill="hold">
                                          <p:stCondLst>
                                            <p:cond delay="0"/>
                                          </p:stCondLst>
                                        </p:cTn>
                                        <p:tgtEl>
                                          <p:spTgt spid="184362"/>
                                        </p:tgtEl>
                                        <p:attrNameLst>
                                          <p:attrName>style.visibility</p:attrName>
                                        </p:attrNameLst>
                                      </p:cBhvr>
                                      <p:to>
                                        <p:strVal val="visible"/>
                                      </p:to>
                                    </p:set>
                                    <p:anim calcmode="lin" valueType="num">
                                      <p:cBhvr>
                                        <p:cTn id="23" dur="500" fill="hold"/>
                                        <p:tgtEl>
                                          <p:spTgt spid="184362"/>
                                        </p:tgtEl>
                                        <p:attrNameLst>
                                          <p:attrName>ppt_x</p:attrName>
                                        </p:attrNameLst>
                                      </p:cBhvr>
                                      <p:tavLst>
                                        <p:tav tm="0">
                                          <p:val>
                                            <p:strVal val="#ppt_x"/>
                                          </p:val>
                                        </p:tav>
                                        <p:tav tm="100000">
                                          <p:val>
                                            <p:strVal val="#ppt_x"/>
                                          </p:val>
                                        </p:tav>
                                      </p:tavLst>
                                    </p:anim>
                                    <p:anim calcmode="lin" valueType="num">
                                      <p:cBhvr>
                                        <p:cTn id="24" dur="500" fill="hold"/>
                                        <p:tgtEl>
                                          <p:spTgt spid="184362"/>
                                        </p:tgtEl>
                                        <p:attrNameLst>
                                          <p:attrName>ppt_y</p:attrName>
                                        </p:attrNameLst>
                                      </p:cBhvr>
                                      <p:tavLst>
                                        <p:tav tm="0">
                                          <p:val>
                                            <p:strVal val="#ppt_y-#ppt_h/2"/>
                                          </p:val>
                                        </p:tav>
                                        <p:tav tm="100000">
                                          <p:val>
                                            <p:strVal val="#ppt_y"/>
                                          </p:val>
                                        </p:tav>
                                      </p:tavLst>
                                    </p:anim>
                                    <p:anim calcmode="lin" valueType="num">
                                      <p:cBhvr>
                                        <p:cTn id="25" dur="500" fill="hold"/>
                                        <p:tgtEl>
                                          <p:spTgt spid="184362"/>
                                        </p:tgtEl>
                                        <p:attrNameLst>
                                          <p:attrName>ppt_w</p:attrName>
                                        </p:attrNameLst>
                                      </p:cBhvr>
                                      <p:tavLst>
                                        <p:tav tm="0">
                                          <p:val>
                                            <p:strVal val="#ppt_w"/>
                                          </p:val>
                                        </p:tav>
                                        <p:tav tm="100000">
                                          <p:val>
                                            <p:strVal val="#ppt_w"/>
                                          </p:val>
                                        </p:tav>
                                      </p:tavLst>
                                    </p:anim>
                                    <p:anim calcmode="lin" valueType="num">
                                      <p:cBhvr>
                                        <p:cTn id="26" dur="500" fill="hold"/>
                                        <p:tgtEl>
                                          <p:spTgt spid="184362"/>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1" fill="hold" nodeType="clickEffect">
                                  <p:stCondLst>
                                    <p:cond delay="0"/>
                                  </p:stCondLst>
                                  <p:childTnLst>
                                    <p:set>
                                      <p:cBhvr>
                                        <p:cTn id="30" dur="1" fill="hold">
                                          <p:stCondLst>
                                            <p:cond delay="0"/>
                                          </p:stCondLst>
                                        </p:cTn>
                                        <p:tgtEl>
                                          <p:spTgt spid="184363"/>
                                        </p:tgtEl>
                                        <p:attrNameLst>
                                          <p:attrName>style.visibility</p:attrName>
                                        </p:attrNameLst>
                                      </p:cBhvr>
                                      <p:to>
                                        <p:strVal val="visible"/>
                                      </p:to>
                                    </p:set>
                                    <p:anim calcmode="lin" valueType="num">
                                      <p:cBhvr>
                                        <p:cTn id="31" dur="500" fill="hold"/>
                                        <p:tgtEl>
                                          <p:spTgt spid="184363"/>
                                        </p:tgtEl>
                                        <p:attrNameLst>
                                          <p:attrName>ppt_x</p:attrName>
                                        </p:attrNameLst>
                                      </p:cBhvr>
                                      <p:tavLst>
                                        <p:tav tm="0">
                                          <p:val>
                                            <p:strVal val="#ppt_x"/>
                                          </p:val>
                                        </p:tav>
                                        <p:tav tm="100000">
                                          <p:val>
                                            <p:strVal val="#ppt_x"/>
                                          </p:val>
                                        </p:tav>
                                      </p:tavLst>
                                    </p:anim>
                                    <p:anim calcmode="lin" valueType="num">
                                      <p:cBhvr>
                                        <p:cTn id="32" dur="500" fill="hold"/>
                                        <p:tgtEl>
                                          <p:spTgt spid="184363"/>
                                        </p:tgtEl>
                                        <p:attrNameLst>
                                          <p:attrName>ppt_y</p:attrName>
                                        </p:attrNameLst>
                                      </p:cBhvr>
                                      <p:tavLst>
                                        <p:tav tm="0">
                                          <p:val>
                                            <p:strVal val="#ppt_y-#ppt_h/2"/>
                                          </p:val>
                                        </p:tav>
                                        <p:tav tm="100000">
                                          <p:val>
                                            <p:strVal val="#ppt_y"/>
                                          </p:val>
                                        </p:tav>
                                      </p:tavLst>
                                    </p:anim>
                                    <p:anim calcmode="lin" valueType="num">
                                      <p:cBhvr>
                                        <p:cTn id="33" dur="500" fill="hold"/>
                                        <p:tgtEl>
                                          <p:spTgt spid="184363"/>
                                        </p:tgtEl>
                                        <p:attrNameLst>
                                          <p:attrName>ppt_w</p:attrName>
                                        </p:attrNameLst>
                                      </p:cBhvr>
                                      <p:tavLst>
                                        <p:tav tm="0">
                                          <p:val>
                                            <p:strVal val="#ppt_w"/>
                                          </p:val>
                                        </p:tav>
                                        <p:tav tm="100000">
                                          <p:val>
                                            <p:strVal val="#ppt_w"/>
                                          </p:val>
                                        </p:tav>
                                      </p:tavLst>
                                    </p:anim>
                                    <p:anim calcmode="lin" valueType="num">
                                      <p:cBhvr>
                                        <p:cTn id="34" dur="500" fill="hold"/>
                                        <p:tgtEl>
                                          <p:spTgt spid="184363"/>
                                        </p:tgtEl>
                                        <p:attrNameLst>
                                          <p:attrName>ppt_h</p:attrName>
                                        </p:attrNameLst>
                                      </p:cBhvr>
                                      <p:tavLst>
                                        <p:tav tm="0">
                                          <p:val>
                                            <p:fltVal val="0"/>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17" presetClass="entr" presetSubtype="4" fill="hold" nodeType="clickEffect">
                                  <p:stCondLst>
                                    <p:cond delay="0"/>
                                  </p:stCondLst>
                                  <p:childTnLst>
                                    <p:set>
                                      <p:cBhvr>
                                        <p:cTn id="38" dur="1" fill="hold">
                                          <p:stCondLst>
                                            <p:cond delay="0"/>
                                          </p:stCondLst>
                                        </p:cTn>
                                        <p:tgtEl>
                                          <p:spTgt spid="184358"/>
                                        </p:tgtEl>
                                        <p:attrNameLst>
                                          <p:attrName>style.visibility</p:attrName>
                                        </p:attrNameLst>
                                      </p:cBhvr>
                                      <p:to>
                                        <p:strVal val="visible"/>
                                      </p:to>
                                    </p:set>
                                    <p:anim calcmode="lin" valueType="num">
                                      <p:cBhvr>
                                        <p:cTn id="39" dur="500" fill="hold"/>
                                        <p:tgtEl>
                                          <p:spTgt spid="184358"/>
                                        </p:tgtEl>
                                        <p:attrNameLst>
                                          <p:attrName>ppt_x</p:attrName>
                                        </p:attrNameLst>
                                      </p:cBhvr>
                                      <p:tavLst>
                                        <p:tav tm="0">
                                          <p:val>
                                            <p:strVal val="#ppt_x"/>
                                          </p:val>
                                        </p:tav>
                                        <p:tav tm="100000">
                                          <p:val>
                                            <p:strVal val="#ppt_x"/>
                                          </p:val>
                                        </p:tav>
                                      </p:tavLst>
                                    </p:anim>
                                    <p:anim calcmode="lin" valueType="num">
                                      <p:cBhvr>
                                        <p:cTn id="40" dur="500" fill="hold"/>
                                        <p:tgtEl>
                                          <p:spTgt spid="184358"/>
                                        </p:tgtEl>
                                        <p:attrNameLst>
                                          <p:attrName>ppt_y</p:attrName>
                                        </p:attrNameLst>
                                      </p:cBhvr>
                                      <p:tavLst>
                                        <p:tav tm="0">
                                          <p:val>
                                            <p:strVal val="#ppt_y+#ppt_h/2"/>
                                          </p:val>
                                        </p:tav>
                                        <p:tav tm="100000">
                                          <p:val>
                                            <p:strVal val="#ppt_y"/>
                                          </p:val>
                                        </p:tav>
                                      </p:tavLst>
                                    </p:anim>
                                    <p:anim calcmode="lin" valueType="num">
                                      <p:cBhvr>
                                        <p:cTn id="41" dur="500" fill="hold"/>
                                        <p:tgtEl>
                                          <p:spTgt spid="184358"/>
                                        </p:tgtEl>
                                        <p:attrNameLst>
                                          <p:attrName>ppt_w</p:attrName>
                                        </p:attrNameLst>
                                      </p:cBhvr>
                                      <p:tavLst>
                                        <p:tav tm="0">
                                          <p:val>
                                            <p:strVal val="#ppt_w"/>
                                          </p:val>
                                        </p:tav>
                                        <p:tav tm="100000">
                                          <p:val>
                                            <p:strVal val="#ppt_w"/>
                                          </p:val>
                                        </p:tav>
                                      </p:tavLst>
                                    </p:anim>
                                    <p:anim calcmode="lin" valueType="num">
                                      <p:cBhvr>
                                        <p:cTn id="42" dur="500" fill="hold"/>
                                        <p:tgtEl>
                                          <p:spTgt spid="184358"/>
                                        </p:tgtEl>
                                        <p:attrNameLst>
                                          <p:attrName>ppt_h</p:attrName>
                                        </p:attrNameLst>
                                      </p:cBhvr>
                                      <p:tavLst>
                                        <p:tav tm="0">
                                          <p:val>
                                            <p:fltVal val="0"/>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17" presetClass="entr" presetSubtype="1" fill="hold" nodeType="clickEffect">
                                  <p:stCondLst>
                                    <p:cond delay="0"/>
                                  </p:stCondLst>
                                  <p:childTnLst>
                                    <p:set>
                                      <p:cBhvr>
                                        <p:cTn id="46" dur="1" fill="hold">
                                          <p:stCondLst>
                                            <p:cond delay="0"/>
                                          </p:stCondLst>
                                        </p:cTn>
                                        <p:tgtEl>
                                          <p:spTgt spid="184359"/>
                                        </p:tgtEl>
                                        <p:attrNameLst>
                                          <p:attrName>style.visibility</p:attrName>
                                        </p:attrNameLst>
                                      </p:cBhvr>
                                      <p:to>
                                        <p:strVal val="visible"/>
                                      </p:to>
                                    </p:set>
                                    <p:anim calcmode="lin" valueType="num">
                                      <p:cBhvr>
                                        <p:cTn id="47" dur="500" fill="hold"/>
                                        <p:tgtEl>
                                          <p:spTgt spid="184359"/>
                                        </p:tgtEl>
                                        <p:attrNameLst>
                                          <p:attrName>ppt_x</p:attrName>
                                        </p:attrNameLst>
                                      </p:cBhvr>
                                      <p:tavLst>
                                        <p:tav tm="0">
                                          <p:val>
                                            <p:strVal val="#ppt_x"/>
                                          </p:val>
                                        </p:tav>
                                        <p:tav tm="100000">
                                          <p:val>
                                            <p:strVal val="#ppt_x"/>
                                          </p:val>
                                        </p:tav>
                                      </p:tavLst>
                                    </p:anim>
                                    <p:anim calcmode="lin" valueType="num">
                                      <p:cBhvr>
                                        <p:cTn id="48" dur="500" fill="hold"/>
                                        <p:tgtEl>
                                          <p:spTgt spid="184359"/>
                                        </p:tgtEl>
                                        <p:attrNameLst>
                                          <p:attrName>ppt_y</p:attrName>
                                        </p:attrNameLst>
                                      </p:cBhvr>
                                      <p:tavLst>
                                        <p:tav tm="0">
                                          <p:val>
                                            <p:strVal val="#ppt_y-#ppt_h/2"/>
                                          </p:val>
                                        </p:tav>
                                        <p:tav tm="100000">
                                          <p:val>
                                            <p:strVal val="#ppt_y"/>
                                          </p:val>
                                        </p:tav>
                                      </p:tavLst>
                                    </p:anim>
                                    <p:anim calcmode="lin" valueType="num">
                                      <p:cBhvr>
                                        <p:cTn id="49" dur="500" fill="hold"/>
                                        <p:tgtEl>
                                          <p:spTgt spid="184359"/>
                                        </p:tgtEl>
                                        <p:attrNameLst>
                                          <p:attrName>ppt_w</p:attrName>
                                        </p:attrNameLst>
                                      </p:cBhvr>
                                      <p:tavLst>
                                        <p:tav tm="0">
                                          <p:val>
                                            <p:strVal val="#ppt_w"/>
                                          </p:val>
                                        </p:tav>
                                        <p:tav tm="100000">
                                          <p:val>
                                            <p:strVal val="#ppt_w"/>
                                          </p:val>
                                        </p:tav>
                                      </p:tavLst>
                                    </p:anim>
                                    <p:anim calcmode="lin" valueType="num">
                                      <p:cBhvr>
                                        <p:cTn id="50" dur="500" fill="hold"/>
                                        <p:tgtEl>
                                          <p:spTgt spid="184359"/>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4" presetClass="entr" presetSubtype="32" fill="hold" grpId="0" nodeType="clickEffect">
                                  <p:stCondLst>
                                    <p:cond delay="0"/>
                                  </p:stCondLst>
                                  <p:childTnLst>
                                    <p:set>
                                      <p:cBhvr>
                                        <p:cTn id="54" dur="1" fill="hold">
                                          <p:stCondLst>
                                            <p:cond delay="0"/>
                                          </p:stCondLst>
                                        </p:cTn>
                                        <p:tgtEl>
                                          <p:spTgt spid="184366"/>
                                        </p:tgtEl>
                                        <p:attrNameLst>
                                          <p:attrName>style.visibility</p:attrName>
                                        </p:attrNameLst>
                                      </p:cBhvr>
                                      <p:to>
                                        <p:strVal val="visible"/>
                                      </p:to>
                                    </p:set>
                                    <p:animEffect transition="in" filter="box(out)">
                                      <p:cBhvr>
                                        <p:cTn id="55" dur="500"/>
                                        <p:tgtEl>
                                          <p:spTgt spid="184366"/>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184360"/>
                                        </p:tgtEl>
                                        <p:attrNameLst>
                                          <p:attrName>style.visibility</p:attrName>
                                        </p:attrNameLst>
                                      </p:cBhvr>
                                      <p:to>
                                        <p:strVal val="visible"/>
                                      </p:to>
                                    </p:set>
                                    <p:animEffect transition="in" filter="wipe(left)">
                                      <p:cBhvr>
                                        <p:cTn id="60" dur="500"/>
                                        <p:tgtEl>
                                          <p:spTgt spid="184360"/>
                                        </p:tgtEl>
                                      </p:cBhvr>
                                    </p:animEffect>
                                  </p:childTnLst>
                                </p:cTn>
                              </p:par>
                            </p:childTnLst>
                          </p:cTn>
                        </p:par>
                      </p:childTnLst>
                    </p:cTn>
                  </p:par>
                  <p:par>
                    <p:cTn id="61" fill="hold">
                      <p:stCondLst>
                        <p:cond delay="indefinite"/>
                      </p:stCondLst>
                      <p:childTnLst>
                        <p:par>
                          <p:cTn id="62" fill="hold">
                            <p:stCondLst>
                              <p:cond delay="0"/>
                            </p:stCondLst>
                            <p:childTnLst>
                              <p:par>
                                <p:cTn id="63" presetID="4" presetClass="entr" presetSubtype="32" fill="hold" grpId="0" nodeType="clickEffect">
                                  <p:stCondLst>
                                    <p:cond delay="0"/>
                                  </p:stCondLst>
                                  <p:childTnLst>
                                    <p:set>
                                      <p:cBhvr>
                                        <p:cTn id="64" dur="1" fill="hold">
                                          <p:stCondLst>
                                            <p:cond delay="0"/>
                                          </p:stCondLst>
                                        </p:cTn>
                                        <p:tgtEl>
                                          <p:spTgt spid="184367"/>
                                        </p:tgtEl>
                                        <p:attrNameLst>
                                          <p:attrName>style.visibility</p:attrName>
                                        </p:attrNameLst>
                                      </p:cBhvr>
                                      <p:to>
                                        <p:strVal val="visible"/>
                                      </p:to>
                                    </p:set>
                                    <p:animEffect transition="in" filter="box(out)">
                                      <p:cBhvr>
                                        <p:cTn id="65" dur="500"/>
                                        <p:tgtEl>
                                          <p:spTgt spid="184367"/>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184361"/>
                                        </p:tgtEl>
                                        <p:attrNameLst>
                                          <p:attrName>style.visibility</p:attrName>
                                        </p:attrNameLst>
                                      </p:cBhvr>
                                      <p:to>
                                        <p:strVal val="visible"/>
                                      </p:to>
                                    </p:set>
                                    <p:animEffect transition="in" filter="wipe(left)">
                                      <p:cBhvr>
                                        <p:cTn id="70" dur="500"/>
                                        <p:tgtEl>
                                          <p:spTgt spid="184361"/>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80"/>
                                        </p:tgtEl>
                                        <p:attrNameLst>
                                          <p:attrName>style.visibility</p:attrName>
                                        </p:attrNameLst>
                                      </p:cBhvr>
                                      <p:to>
                                        <p:strVal val="visible"/>
                                      </p:to>
                                    </p:set>
                                    <p:animEffect transition="in" filter="fade">
                                      <p:cBhvr>
                                        <p:cTn id="75" dur="500"/>
                                        <p:tgtEl>
                                          <p:spTgt spid="80"/>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3"/>
                                        </p:tgtEl>
                                        <p:attrNameLst>
                                          <p:attrName>style.visibility</p:attrName>
                                        </p:attrNameLst>
                                      </p:cBhvr>
                                      <p:to>
                                        <p:strVal val="visible"/>
                                      </p:to>
                                    </p:set>
                                    <p:animEffect transition="in" filter="fade">
                                      <p:cBhvr>
                                        <p:cTn id="8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7" grpId="0"/>
      <p:bldP spid="184366" grpId="0"/>
      <p:bldP spid="184367" grpId="0"/>
      <p:bldP spid="80"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95" name="Text Box 74"/>
          <p:cNvSpPr txBox="1">
            <a:spLocks noChangeArrowheads="1"/>
          </p:cNvSpPr>
          <p:nvPr/>
        </p:nvSpPr>
        <p:spPr bwMode="auto">
          <a:xfrm>
            <a:off x="361950" y="852474"/>
            <a:ext cx="85725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dirty="0">
                <a:solidFill>
                  <a:srgbClr val="FF0000"/>
                </a:solidFill>
                <a:latin typeface="+mn-lt"/>
                <a:ea typeface="楷体" panose="02010609060101010101" pitchFamily="49" charset="-122"/>
              </a:rPr>
              <a:t>例</a:t>
            </a:r>
            <a:r>
              <a:rPr kumimoji="0" lang="en-US" altLang="zh-CN" dirty="0">
                <a:solidFill>
                  <a:srgbClr val="000000"/>
                </a:solidFill>
                <a:latin typeface="+mn-lt"/>
                <a:ea typeface="楷体" panose="02010609060101010101" pitchFamily="49" charset="-122"/>
              </a:rPr>
              <a:t> </a:t>
            </a:r>
            <a:r>
              <a:rPr kumimoji="0" lang="zh-CN" altLang="en-US" dirty="0">
                <a:latin typeface="+mn-lt"/>
                <a:ea typeface="楷体" panose="02010609060101010101" pitchFamily="49" charset="-122"/>
              </a:rPr>
              <a:t>杆</a:t>
            </a:r>
            <a:r>
              <a:rPr kumimoji="0" lang="en-US" altLang="zh-CN" b="0" dirty="0">
                <a:latin typeface="+mn-lt"/>
                <a:ea typeface="楷体" panose="02010609060101010101" pitchFamily="49" charset="-122"/>
                <a:cs typeface="Times New Roman" panose="02020603050405020304" pitchFamily="18" charset="0"/>
              </a:rPr>
              <a:t>1</a:t>
            </a:r>
            <a:r>
              <a:rPr kumimoji="0" lang="zh-CN" altLang="en-US" b="0" dirty="0">
                <a:latin typeface="+mn-lt"/>
                <a:ea typeface="楷体" panose="02010609060101010101" pitchFamily="49" charset="-122"/>
                <a:cs typeface="Times New Roman" panose="02020603050405020304" pitchFamily="18" charset="0"/>
              </a:rPr>
              <a:t>、</a:t>
            </a:r>
            <a:r>
              <a:rPr kumimoji="0" lang="en-US" altLang="zh-CN" b="0" dirty="0">
                <a:latin typeface="+mn-lt"/>
                <a:ea typeface="楷体" panose="02010609060101010101" pitchFamily="49" charset="-122"/>
              </a:rPr>
              <a:t>2</a:t>
            </a:r>
            <a:r>
              <a:rPr kumimoji="0" lang="zh-CN" altLang="en-US" dirty="0">
                <a:latin typeface="+mn-lt"/>
                <a:ea typeface="楷体" panose="02010609060101010101" pitchFamily="49" charset="-122"/>
              </a:rPr>
              <a:t>材料相同，</a:t>
            </a:r>
            <a:r>
              <a:rPr kumimoji="0" lang="en-US" altLang="zh-CN" b="0" i="1" dirty="0">
                <a:latin typeface="+mn-lt"/>
                <a:ea typeface="楷体" panose="02010609060101010101" pitchFamily="49" charset="-122"/>
              </a:rPr>
              <a:t>F</a:t>
            </a:r>
            <a:r>
              <a:rPr kumimoji="0" lang="zh-CN" altLang="en-US" b="0" dirty="0">
                <a:latin typeface="+mn-lt"/>
                <a:ea typeface="楷体" panose="02010609060101010101" pitchFamily="49" charset="-122"/>
              </a:rPr>
              <a:t>＝</a:t>
            </a:r>
            <a:r>
              <a:rPr kumimoji="0" lang="en-US" altLang="zh-CN" b="0" dirty="0">
                <a:latin typeface="+mn-lt"/>
                <a:ea typeface="楷体" panose="02010609060101010101" pitchFamily="49" charset="-122"/>
              </a:rPr>
              <a:t>40kN, [</a:t>
            </a:r>
            <a:r>
              <a:rPr kumimoji="0" lang="en-US" altLang="zh-CN" b="0" i="1" dirty="0">
                <a:latin typeface="+mn-lt"/>
                <a:ea typeface="楷体" panose="02010609060101010101" pitchFamily="49" charset="-122"/>
              </a:rPr>
              <a:t>σ</a:t>
            </a:r>
            <a:r>
              <a:rPr kumimoji="0" lang="en-US" altLang="zh-CN" b="0" dirty="0">
                <a:latin typeface="+mn-lt"/>
                <a:ea typeface="楷体" panose="02010609060101010101" pitchFamily="49" charset="-122"/>
              </a:rPr>
              <a:t>]</a:t>
            </a:r>
            <a:r>
              <a:rPr kumimoji="0" lang="zh-CN" altLang="en-US" b="0" dirty="0">
                <a:latin typeface="+mn-lt"/>
                <a:ea typeface="楷体" panose="02010609060101010101" pitchFamily="49" charset="-122"/>
              </a:rPr>
              <a:t>＝</a:t>
            </a:r>
            <a:r>
              <a:rPr kumimoji="0" lang="en-US" altLang="zh-CN" b="0" dirty="0">
                <a:latin typeface="+mn-lt"/>
                <a:ea typeface="楷体" panose="02010609060101010101" pitchFamily="49" charset="-122"/>
              </a:rPr>
              <a:t>160MPa.</a:t>
            </a:r>
            <a:r>
              <a:rPr kumimoji="0" lang="en-US" altLang="zh-CN" b="0" i="1" dirty="0">
                <a:latin typeface="+mn-lt"/>
                <a:ea typeface="楷体" panose="02010609060101010101" pitchFamily="49" charset="-122"/>
              </a:rPr>
              <a:t>l</a:t>
            </a:r>
            <a:r>
              <a:rPr kumimoji="0" lang="en-US" altLang="zh-CN" b="0" baseline="-25000" dirty="0">
                <a:latin typeface="+mn-lt"/>
                <a:ea typeface="楷体" panose="02010609060101010101" pitchFamily="49" charset="-122"/>
              </a:rPr>
              <a:t>1</a:t>
            </a:r>
            <a:r>
              <a:rPr kumimoji="0" lang="en-US" altLang="zh-CN" b="0" dirty="0">
                <a:latin typeface="+mn-lt"/>
                <a:ea typeface="楷体" panose="02010609060101010101" pitchFamily="49" charset="-122"/>
              </a:rPr>
              <a:t>=2m,</a:t>
            </a:r>
            <a:r>
              <a:rPr kumimoji="0" lang="en-US" altLang="zh-CN" b="0" i="1" dirty="0">
                <a:latin typeface="+mn-lt"/>
                <a:ea typeface="楷体" panose="02010609060101010101" pitchFamily="49" charset="-122"/>
              </a:rPr>
              <a:t> l</a:t>
            </a:r>
            <a:r>
              <a:rPr kumimoji="0" lang="en-US" altLang="zh-CN" b="0" baseline="-25000" dirty="0">
                <a:latin typeface="+mn-lt"/>
                <a:ea typeface="楷体" panose="02010609060101010101" pitchFamily="49" charset="-122"/>
              </a:rPr>
              <a:t>2</a:t>
            </a:r>
            <a:r>
              <a:rPr kumimoji="0" lang="en-US" altLang="zh-CN" b="0" dirty="0">
                <a:latin typeface="+mn-lt"/>
                <a:ea typeface="楷体" panose="02010609060101010101" pitchFamily="49" charset="-122"/>
              </a:rPr>
              <a:t>=1.5m.</a:t>
            </a:r>
          </a:p>
          <a:p>
            <a:pPr eaLnBrk="1" hangingPunct="1"/>
            <a:r>
              <a:rPr kumimoji="0" lang="zh-CN" altLang="en-US" dirty="0">
                <a:latin typeface="+mn-lt"/>
                <a:ea typeface="楷体" panose="02010609060101010101" pitchFamily="49" charset="-122"/>
              </a:rPr>
              <a:t>试求：</a:t>
            </a:r>
            <a:r>
              <a:rPr kumimoji="0" lang="en-US" altLang="zh-CN" b="0" dirty="0">
                <a:latin typeface="+mn-lt"/>
                <a:ea typeface="楷体" panose="02010609060101010101" pitchFamily="49" charset="-122"/>
                <a:sym typeface="Wingdings" panose="05000000000000000000" pitchFamily="2" charset="2"/>
              </a:rPr>
              <a:t>(1)  </a:t>
            </a:r>
            <a:r>
              <a:rPr kumimoji="0" lang="zh-CN" altLang="en-US" dirty="0">
                <a:latin typeface="+mn-lt"/>
                <a:ea typeface="楷体" panose="02010609060101010101" pitchFamily="49" charset="-122"/>
                <a:sym typeface="Wingdings" panose="05000000000000000000" pitchFamily="2" charset="2"/>
              </a:rPr>
              <a:t>根据强度条件选择</a:t>
            </a:r>
            <a:r>
              <a:rPr kumimoji="0" lang="en-US" altLang="zh-CN" b="0" dirty="0">
                <a:latin typeface="+mn-lt"/>
                <a:ea typeface="楷体" panose="02010609060101010101" pitchFamily="49" charset="-122"/>
                <a:sym typeface="Wingdings" panose="05000000000000000000" pitchFamily="2" charset="2"/>
              </a:rPr>
              <a:t>1</a:t>
            </a:r>
            <a:r>
              <a:rPr kumimoji="0" lang="zh-CN" altLang="en-US" b="0" dirty="0">
                <a:latin typeface="+mn-lt"/>
                <a:ea typeface="楷体" panose="02010609060101010101" pitchFamily="49" charset="-122"/>
                <a:sym typeface="Wingdings" panose="05000000000000000000" pitchFamily="2" charset="2"/>
              </a:rPr>
              <a:t>、</a:t>
            </a:r>
            <a:r>
              <a:rPr kumimoji="0" lang="en-US" altLang="zh-CN" b="0" dirty="0">
                <a:latin typeface="+mn-lt"/>
                <a:ea typeface="楷体" panose="02010609060101010101" pitchFamily="49" charset="-122"/>
                <a:sym typeface="Wingdings" panose="05000000000000000000" pitchFamily="2" charset="2"/>
              </a:rPr>
              <a:t>2</a:t>
            </a:r>
            <a:r>
              <a:rPr kumimoji="0" lang="zh-CN" altLang="en-US" dirty="0">
                <a:latin typeface="+mn-lt"/>
                <a:ea typeface="楷体" panose="02010609060101010101" pitchFamily="49" charset="-122"/>
                <a:sym typeface="Wingdings" panose="05000000000000000000" pitchFamily="2" charset="2"/>
              </a:rPr>
              <a:t>杆的面积</a:t>
            </a:r>
            <a:r>
              <a:rPr kumimoji="0" lang="zh-CN" altLang="en-US" dirty="0">
                <a:latin typeface="+mn-lt"/>
                <a:ea typeface="楷体" panose="02010609060101010101" pitchFamily="49" charset="-122"/>
              </a:rPr>
              <a:t>。</a:t>
            </a:r>
            <a:r>
              <a:rPr kumimoji="0" lang="en-US" altLang="zh-CN" dirty="0">
                <a:latin typeface="+mn-lt"/>
                <a:ea typeface="楷体" panose="02010609060101010101" pitchFamily="49" charset="-122"/>
                <a:sym typeface="Wingdings" panose="05000000000000000000" pitchFamily="2" charset="2"/>
              </a:rPr>
              <a:t> </a:t>
            </a:r>
            <a:r>
              <a:rPr kumimoji="0" lang="en-US" altLang="zh-CN" b="0" dirty="0">
                <a:latin typeface="+mn-lt"/>
                <a:ea typeface="楷体" panose="02010609060101010101" pitchFamily="49" charset="-122"/>
                <a:sym typeface="Wingdings" panose="05000000000000000000" pitchFamily="2" charset="2"/>
              </a:rPr>
              <a:t>(2)</a:t>
            </a:r>
            <a:r>
              <a:rPr kumimoji="0" lang="en-US" altLang="zh-CN" b="0" dirty="0">
                <a:latin typeface="+mn-lt"/>
                <a:ea typeface="楷体" panose="02010609060101010101" pitchFamily="49" charset="-122"/>
              </a:rPr>
              <a:t> </a:t>
            </a:r>
            <a:r>
              <a:rPr kumimoji="0" lang="zh-CN" altLang="en-US" dirty="0">
                <a:latin typeface="+mn-lt"/>
                <a:ea typeface="楷体" panose="02010609060101010101" pitchFamily="49" charset="-122"/>
              </a:rPr>
              <a:t>受力</a:t>
            </a:r>
            <a:r>
              <a:rPr kumimoji="0" lang="en-US" altLang="zh-CN" i="1" dirty="0">
                <a:latin typeface="+mn-lt"/>
                <a:ea typeface="楷体" panose="02010609060101010101" pitchFamily="49" charset="-122"/>
              </a:rPr>
              <a:t>F</a:t>
            </a:r>
            <a:r>
              <a:rPr kumimoji="0" lang="zh-CN" altLang="en-US" dirty="0">
                <a:latin typeface="+mn-lt"/>
                <a:ea typeface="楷体" panose="02010609060101010101" pitchFamily="49" charset="-122"/>
              </a:rPr>
              <a:t>后刚性梁</a:t>
            </a:r>
            <a:r>
              <a:rPr kumimoji="0" lang="en-US" altLang="zh-CN" b="0" i="1" dirty="0">
                <a:latin typeface="+mn-lt"/>
                <a:ea typeface="楷体" panose="02010609060101010101" pitchFamily="49" charset="-122"/>
              </a:rPr>
              <a:t>AB</a:t>
            </a:r>
            <a:r>
              <a:rPr kumimoji="0" lang="zh-CN" altLang="en-US" dirty="0">
                <a:latin typeface="+mn-lt"/>
                <a:ea typeface="楷体" panose="02010609060101010101" pitchFamily="49" charset="-122"/>
              </a:rPr>
              <a:t>只能平移不能转动，</a:t>
            </a:r>
            <a:r>
              <a:rPr kumimoji="0" lang="zh-CN" altLang="en-US" dirty="0">
                <a:latin typeface="+mn-lt"/>
                <a:ea typeface="楷体" panose="02010609060101010101" pitchFamily="49" charset="-122"/>
                <a:sym typeface="Wingdings" panose="05000000000000000000" pitchFamily="2" charset="2"/>
              </a:rPr>
              <a:t>同时满足强度条件，</a:t>
            </a:r>
            <a:r>
              <a:rPr kumimoji="0" lang="zh-CN" altLang="en-US" dirty="0">
                <a:latin typeface="+mn-lt"/>
                <a:ea typeface="楷体" panose="02010609060101010101" pitchFamily="49" charset="-122"/>
              </a:rPr>
              <a:t>杆</a:t>
            </a:r>
            <a:r>
              <a:rPr kumimoji="0" lang="en-US" altLang="zh-CN" b="0" dirty="0">
                <a:latin typeface="+mn-lt"/>
                <a:ea typeface="楷体" panose="02010609060101010101" pitchFamily="49" charset="-122"/>
                <a:sym typeface="Wingdings" panose="05000000000000000000" pitchFamily="2" charset="2"/>
              </a:rPr>
              <a:t>1</a:t>
            </a:r>
            <a:r>
              <a:rPr kumimoji="0" lang="zh-CN" altLang="en-US" b="0" dirty="0">
                <a:latin typeface="+mn-lt"/>
                <a:ea typeface="楷体" panose="02010609060101010101" pitchFamily="49" charset="-122"/>
                <a:sym typeface="Wingdings" panose="05000000000000000000" pitchFamily="2" charset="2"/>
              </a:rPr>
              <a:t>、</a:t>
            </a:r>
            <a:r>
              <a:rPr kumimoji="0" lang="en-US" altLang="zh-CN" b="0" dirty="0">
                <a:latin typeface="+mn-lt"/>
                <a:ea typeface="楷体" panose="02010609060101010101" pitchFamily="49" charset="-122"/>
                <a:sym typeface="Wingdings" panose="05000000000000000000" pitchFamily="2" charset="2"/>
              </a:rPr>
              <a:t>2</a:t>
            </a:r>
            <a:r>
              <a:rPr kumimoji="0" lang="zh-CN" altLang="en-US" dirty="0">
                <a:latin typeface="+mn-lt"/>
                <a:ea typeface="楷体" panose="02010609060101010101" pitchFamily="49" charset="-122"/>
                <a:sym typeface="Wingdings" panose="05000000000000000000" pitchFamily="2" charset="2"/>
              </a:rPr>
              <a:t>的面积。</a:t>
            </a:r>
            <a:endParaRPr kumimoji="0" lang="zh-CN" altLang="en-US" dirty="0">
              <a:latin typeface="+mn-lt"/>
              <a:ea typeface="楷体" panose="02010609060101010101" pitchFamily="49" charset="-122"/>
            </a:endParaRPr>
          </a:p>
        </p:txBody>
      </p:sp>
      <p:grpSp>
        <p:nvGrpSpPr>
          <p:cNvPr id="20496" name="组合 36"/>
          <p:cNvGrpSpPr>
            <a:grpSpLocks/>
          </p:cNvGrpSpPr>
          <p:nvPr/>
        </p:nvGrpSpPr>
        <p:grpSpPr bwMode="auto">
          <a:xfrm>
            <a:off x="640584" y="2289300"/>
            <a:ext cx="2729670" cy="2153533"/>
            <a:chOff x="871512" y="3286124"/>
            <a:chExt cx="2729366" cy="2153744"/>
          </a:xfrm>
        </p:grpSpPr>
        <p:grpSp>
          <p:nvGrpSpPr>
            <p:cNvPr id="20505" name="组合 28"/>
            <p:cNvGrpSpPr>
              <a:grpSpLocks/>
            </p:cNvGrpSpPr>
            <p:nvPr/>
          </p:nvGrpSpPr>
          <p:grpSpPr bwMode="auto">
            <a:xfrm>
              <a:off x="871512" y="3286124"/>
              <a:ext cx="852493" cy="142876"/>
              <a:chOff x="1000100" y="3143248"/>
              <a:chExt cx="2079148" cy="142876"/>
            </a:xfrm>
          </p:grpSpPr>
          <p:sp>
            <p:nvSpPr>
              <p:cNvPr id="20528" name="Line 4"/>
              <p:cNvSpPr>
                <a:spLocks noChangeShapeType="1"/>
              </p:cNvSpPr>
              <p:nvPr/>
            </p:nvSpPr>
            <p:spPr bwMode="auto">
              <a:xfrm>
                <a:off x="1000100" y="3286124"/>
                <a:ext cx="2079148"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0529" name="Text Box 5" descr="宽上对角线"/>
              <p:cNvSpPr txBox="1">
                <a:spLocks noChangeArrowheads="1"/>
              </p:cNvSpPr>
              <p:nvPr/>
            </p:nvSpPr>
            <p:spPr bwMode="auto">
              <a:xfrm>
                <a:off x="1000100" y="3143248"/>
                <a:ext cx="2079148" cy="133946"/>
              </a:xfrm>
              <a:prstGeom prst="rect">
                <a:avLst/>
              </a:prstGeom>
              <a:pattFill prst="wdUpDiag">
                <a:fgClr>
                  <a:srgbClr val="000000"/>
                </a:fgClr>
                <a:bgClr>
                  <a:srgbClr val="FFFFFF"/>
                </a:bgClr>
              </a:patt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endParaRPr lang="zh-CN" altLang="zh-CN"/>
              </a:p>
            </p:txBody>
          </p:sp>
        </p:grpSp>
        <p:sp>
          <p:nvSpPr>
            <p:cNvPr id="20506" name="Line 6"/>
            <p:cNvSpPr>
              <a:spLocks noChangeShapeType="1"/>
            </p:cNvSpPr>
            <p:nvPr/>
          </p:nvSpPr>
          <p:spPr bwMode="auto">
            <a:xfrm>
              <a:off x="1281291" y="3527330"/>
              <a:ext cx="0" cy="115200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0507" name="Line 7"/>
            <p:cNvSpPr>
              <a:spLocks noChangeShapeType="1"/>
            </p:cNvSpPr>
            <p:nvPr/>
          </p:nvSpPr>
          <p:spPr bwMode="auto">
            <a:xfrm>
              <a:off x="2929328" y="3700578"/>
              <a:ext cx="0" cy="97200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0508" name="Oval 8"/>
            <p:cNvSpPr>
              <a:spLocks noChangeAspect="1" noChangeArrowheads="1"/>
            </p:cNvSpPr>
            <p:nvPr/>
          </p:nvSpPr>
          <p:spPr bwMode="auto">
            <a:xfrm>
              <a:off x="1241090" y="3440566"/>
              <a:ext cx="92244" cy="86400"/>
            </a:xfrm>
            <a:prstGeom prst="ellipse">
              <a:avLst/>
            </a:prstGeom>
            <a:solidFill>
              <a:srgbClr val="FFFFFF"/>
            </a:solidFill>
            <a:ln w="19050">
              <a:solidFill>
                <a:srgbClr val="000000"/>
              </a:solidFill>
              <a:round/>
              <a:headEnd type="none" w="sm" len="sm"/>
              <a:tailEnd type="none" w="sm" len="sm"/>
            </a:ln>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20509" name="Text Box 11" descr="浅色上对角线"/>
            <p:cNvSpPr txBox="1">
              <a:spLocks noChangeArrowheads="1"/>
            </p:cNvSpPr>
            <p:nvPr/>
          </p:nvSpPr>
          <p:spPr bwMode="auto">
            <a:xfrm>
              <a:off x="1085826" y="4724409"/>
              <a:ext cx="2071702" cy="200026"/>
            </a:xfrm>
            <a:prstGeom prst="rect">
              <a:avLst/>
            </a:prstGeom>
            <a:pattFill prst="ltUpDiag">
              <a:fgClr>
                <a:srgbClr val="000000"/>
              </a:fgClr>
              <a:bgClr>
                <a:srgbClr val="FFFFFF"/>
              </a:bgClr>
            </a:pattFill>
            <a:ln w="19050">
              <a:solidFill>
                <a:srgbClr val="000000"/>
              </a:solidFill>
              <a:miter lim="800000"/>
              <a:headEnd type="none" w="sm" len="sm"/>
              <a:tailEnd type="none" w="sm" len="sm"/>
            </a:ln>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endParaRPr lang="zh-CN" altLang="zh-CN"/>
            </a:p>
          </p:txBody>
        </p:sp>
        <p:sp>
          <p:nvSpPr>
            <p:cNvPr id="20510" name="Line 12"/>
            <p:cNvSpPr>
              <a:spLocks noChangeShapeType="1"/>
            </p:cNvSpPr>
            <p:nvPr/>
          </p:nvSpPr>
          <p:spPr bwMode="auto">
            <a:xfrm flipV="1">
              <a:off x="1730847" y="4194726"/>
              <a:ext cx="0" cy="486843"/>
            </a:xfrm>
            <a:prstGeom prst="line">
              <a:avLst/>
            </a:prstGeom>
            <a:noFill/>
            <a:ln w="952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0511" name="Line 13"/>
            <p:cNvSpPr>
              <a:spLocks noChangeShapeType="1"/>
            </p:cNvSpPr>
            <p:nvPr/>
          </p:nvSpPr>
          <p:spPr bwMode="auto">
            <a:xfrm>
              <a:off x="1730847" y="4830971"/>
              <a:ext cx="0" cy="535785"/>
            </a:xfrm>
            <a:prstGeom prst="line">
              <a:avLst/>
            </a:prstGeom>
            <a:noFill/>
            <a:ln w="31750">
              <a:solidFill>
                <a:srgbClr val="C00000"/>
              </a:solidFill>
              <a:round/>
              <a:headEnd type="none" w="sm" len="sm"/>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0512" name="Text Box 14"/>
            <p:cNvSpPr txBox="1">
              <a:spLocks noChangeArrowheads="1"/>
            </p:cNvSpPr>
            <p:nvPr/>
          </p:nvSpPr>
          <p:spPr bwMode="auto">
            <a:xfrm>
              <a:off x="1736978" y="5038029"/>
              <a:ext cx="660047" cy="401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800" i="1" dirty="0">
                  <a:solidFill>
                    <a:srgbClr val="C00000"/>
                  </a:solidFill>
                  <a:latin typeface="Times New Roman" panose="02020603050405020304" pitchFamily="18" charset="0"/>
                  <a:cs typeface="Times New Roman" panose="02020603050405020304" pitchFamily="18" charset="0"/>
                </a:rPr>
                <a:t>F</a:t>
              </a:r>
              <a:endParaRPr lang="zh-CN" altLang="zh-CN" sz="1800" dirty="0">
                <a:solidFill>
                  <a:srgbClr val="C00000"/>
                </a:solidFill>
                <a:latin typeface="Times New Roman" panose="02020603050405020304" pitchFamily="18" charset="0"/>
                <a:cs typeface="Times New Roman" panose="02020603050405020304" pitchFamily="18" charset="0"/>
              </a:endParaRPr>
            </a:p>
          </p:txBody>
        </p:sp>
        <p:sp>
          <p:nvSpPr>
            <p:cNvPr id="20513" name="Line 15"/>
            <p:cNvSpPr>
              <a:spLocks noChangeShapeType="1"/>
            </p:cNvSpPr>
            <p:nvPr/>
          </p:nvSpPr>
          <p:spPr bwMode="auto">
            <a:xfrm>
              <a:off x="1290816" y="4352932"/>
              <a:ext cx="441865" cy="0"/>
            </a:xfrm>
            <a:prstGeom prst="line">
              <a:avLst/>
            </a:prstGeom>
            <a:noFill/>
            <a:ln w="9525">
              <a:solidFill>
                <a:srgbClr val="00000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0514" name="Line 16"/>
            <p:cNvSpPr>
              <a:spLocks noChangeShapeType="1"/>
            </p:cNvSpPr>
            <p:nvPr/>
          </p:nvSpPr>
          <p:spPr bwMode="auto">
            <a:xfrm>
              <a:off x="1719243" y="4348169"/>
              <a:ext cx="1224000" cy="0"/>
            </a:xfrm>
            <a:prstGeom prst="line">
              <a:avLst/>
            </a:prstGeom>
            <a:noFill/>
            <a:ln w="12700">
              <a:solidFill>
                <a:srgbClr val="00000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0515" name="Text Box 17"/>
            <p:cNvSpPr txBox="1">
              <a:spLocks noChangeArrowheads="1"/>
            </p:cNvSpPr>
            <p:nvPr/>
          </p:nvSpPr>
          <p:spPr bwMode="auto">
            <a:xfrm>
              <a:off x="1214329" y="4072014"/>
              <a:ext cx="660047" cy="401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600" b="0">
                  <a:solidFill>
                    <a:srgbClr val="000000"/>
                  </a:solidFill>
                  <a:latin typeface="Times New Roman" panose="02020603050405020304" pitchFamily="18" charset="0"/>
                  <a:cs typeface="Times New Roman" panose="02020603050405020304" pitchFamily="18" charset="0"/>
                </a:rPr>
                <a:t>0.4m</a:t>
              </a:r>
              <a:endParaRPr lang="zh-CN" altLang="zh-CN" sz="1600">
                <a:solidFill>
                  <a:srgbClr val="000000"/>
                </a:solidFill>
                <a:latin typeface="Times New Roman" panose="02020603050405020304" pitchFamily="18" charset="0"/>
                <a:cs typeface="Times New Roman" panose="02020603050405020304" pitchFamily="18" charset="0"/>
              </a:endParaRPr>
            </a:p>
          </p:txBody>
        </p:sp>
        <p:sp>
          <p:nvSpPr>
            <p:cNvPr id="20516" name="Text Box 18"/>
            <p:cNvSpPr txBox="1">
              <a:spLocks noChangeArrowheads="1"/>
            </p:cNvSpPr>
            <p:nvPr/>
          </p:nvSpPr>
          <p:spPr bwMode="auto">
            <a:xfrm>
              <a:off x="2071670" y="4071942"/>
              <a:ext cx="660047" cy="401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600" b="0">
                  <a:solidFill>
                    <a:srgbClr val="000000"/>
                  </a:solidFill>
                  <a:latin typeface="Times New Roman" panose="02020603050405020304" pitchFamily="18" charset="0"/>
                  <a:cs typeface="Times New Roman" panose="02020603050405020304" pitchFamily="18" charset="0"/>
                </a:rPr>
                <a:t>1.6m</a:t>
              </a:r>
              <a:endParaRPr lang="zh-CN" altLang="zh-CN" sz="1600">
                <a:solidFill>
                  <a:srgbClr val="000000"/>
                </a:solidFill>
                <a:latin typeface="Times New Roman" panose="02020603050405020304" pitchFamily="18" charset="0"/>
                <a:cs typeface="Times New Roman" panose="02020603050405020304" pitchFamily="18" charset="0"/>
              </a:endParaRPr>
            </a:p>
          </p:txBody>
        </p:sp>
        <p:sp>
          <p:nvSpPr>
            <p:cNvPr id="20517" name="Text Box 19"/>
            <p:cNvSpPr txBox="1">
              <a:spLocks noChangeArrowheads="1"/>
            </p:cNvSpPr>
            <p:nvPr/>
          </p:nvSpPr>
          <p:spPr bwMode="auto">
            <a:xfrm>
              <a:off x="886490" y="4414389"/>
              <a:ext cx="660047" cy="401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800" i="1" dirty="0">
                  <a:solidFill>
                    <a:srgbClr val="000000"/>
                  </a:solidFill>
                  <a:latin typeface="Times New Roman" panose="02020603050405020304" pitchFamily="18" charset="0"/>
                  <a:cs typeface="Times New Roman" panose="02020603050405020304" pitchFamily="18" charset="0"/>
                </a:rPr>
                <a:t>A</a:t>
              </a:r>
              <a:endParaRPr lang="zh-CN" altLang="zh-CN" sz="1800" dirty="0">
                <a:solidFill>
                  <a:srgbClr val="000000"/>
                </a:solidFill>
                <a:latin typeface="Times New Roman" panose="02020603050405020304" pitchFamily="18" charset="0"/>
                <a:cs typeface="Times New Roman" panose="02020603050405020304" pitchFamily="18" charset="0"/>
              </a:endParaRPr>
            </a:p>
          </p:txBody>
        </p:sp>
        <p:sp>
          <p:nvSpPr>
            <p:cNvPr id="20518" name="Text Box 20"/>
            <p:cNvSpPr txBox="1">
              <a:spLocks noChangeArrowheads="1"/>
            </p:cNvSpPr>
            <p:nvPr/>
          </p:nvSpPr>
          <p:spPr bwMode="auto">
            <a:xfrm>
              <a:off x="2940831" y="4412405"/>
              <a:ext cx="660047" cy="401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800" i="1" dirty="0">
                  <a:solidFill>
                    <a:srgbClr val="000000"/>
                  </a:solidFill>
                  <a:latin typeface="Times New Roman" panose="02020603050405020304" pitchFamily="18" charset="0"/>
                  <a:cs typeface="Times New Roman" panose="02020603050405020304" pitchFamily="18" charset="0"/>
                </a:rPr>
                <a:t>B</a:t>
              </a:r>
              <a:endParaRPr lang="zh-CN" altLang="zh-CN" sz="1800" dirty="0">
                <a:solidFill>
                  <a:srgbClr val="000000"/>
                </a:solidFill>
                <a:latin typeface="Times New Roman" panose="02020603050405020304" pitchFamily="18" charset="0"/>
                <a:cs typeface="Times New Roman" panose="02020603050405020304" pitchFamily="18" charset="0"/>
              </a:endParaRPr>
            </a:p>
          </p:txBody>
        </p:sp>
        <p:sp>
          <p:nvSpPr>
            <p:cNvPr id="20519" name="Text Box 21"/>
            <p:cNvSpPr txBox="1">
              <a:spLocks noChangeArrowheads="1"/>
            </p:cNvSpPr>
            <p:nvPr/>
          </p:nvSpPr>
          <p:spPr bwMode="auto">
            <a:xfrm>
              <a:off x="1000100" y="3714752"/>
              <a:ext cx="660047" cy="401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800">
                  <a:solidFill>
                    <a:srgbClr val="000000"/>
                  </a:solidFill>
                  <a:latin typeface="Times New Roman" panose="02020603050405020304" pitchFamily="18" charset="0"/>
                  <a:cs typeface="Times New Roman" panose="02020603050405020304" pitchFamily="18" charset="0"/>
                </a:rPr>
                <a:t>1</a:t>
              </a:r>
              <a:endParaRPr lang="zh-CN" altLang="zh-CN" sz="1800">
                <a:solidFill>
                  <a:srgbClr val="000000"/>
                </a:solidFill>
                <a:latin typeface="Times New Roman" panose="02020603050405020304" pitchFamily="18" charset="0"/>
                <a:cs typeface="Times New Roman" panose="02020603050405020304" pitchFamily="18" charset="0"/>
              </a:endParaRPr>
            </a:p>
          </p:txBody>
        </p:sp>
        <p:sp>
          <p:nvSpPr>
            <p:cNvPr id="20520" name="Text Box 22"/>
            <p:cNvSpPr txBox="1">
              <a:spLocks noChangeArrowheads="1"/>
            </p:cNvSpPr>
            <p:nvPr/>
          </p:nvSpPr>
          <p:spPr bwMode="auto">
            <a:xfrm>
              <a:off x="2888075" y="3836677"/>
              <a:ext cx="330023" cy="401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800">
                  <a:solidFill>
                    <a:srgbClr val="000000"/>
                  </a:solidFill>
                  <a:latin typeface="Times New Roman" panose="02020603050405020304" pitchFamily="18" charset="0"/>
                  <a:cs typeface="Times New Roman" panose="02020603050405020304" pitchFamily="18" charset="0"/>
                </a:rPr>
                <a:t>2</a:t>
              </a:r>
              <a:endParaRPr lang="zh-CN" altLang="zh-CN" sz="1800">
                <a:solidFill>
                  <a:srgbClr val="000000"/>
                </a:solidFill>
                <a:latin typeface="Times New Roman" panose="02020603050405020304" pitchFamily="18" charset="0"/>
                <a:cs typeface="Times New Roman" panose="02020603050405020304" pitchFamily="18" charset="0"/>
              </a:endParaRPr>
            </a:p>
          </p:txBody>
        </p:sp>
        <p:grpSp>
          <p:nvGrpSpPr>
            <p:cNvPr id="20521" name="组合 29"/>
            <p:cNvGrpSpPr>
              <a:grpSpLocks/>
            </p:cNvGrpSpPr>
            <p:nvPr/>
          </p:nvGrpSpPr>
          <p:grpSpPr bwMode="auto">
            <a:xfrm>
              <a:off x="2571735" y="3509963"/>
              <a:ext cx="738193" cy="142876"/>
              <a:chOff x="1000100" y="3143248"/>
              <a:chExt cx="2079148" cy="142876"/>
            </a:xfrm>
          </p:grpSpPr>
          <p:sp>
            <p:nvSpPr>
              <p:cNvPr id="20526" name="Line 4"/>
              <p:cNvSpPr>
                <a:spLocks noChangeShapeType="1"/>
              </p:cNvSpPr>
              <p:nvPr/>
            </p:nvSpPr>
            <p:spPr bwMode="auto">
              <a:xfrm>
                <a:off x="1000100" y="3286124"/>
                <a:ext cx="2079148"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0527" name="Text Box 5" descr="宽上对角线"/>
              <p:cNvSpPr txBox="1">
                <a:spLocks noChangeArrowheads="1"/>
              </p:cNvSpPr>
              <p:nvPr/>
            </p:nvSpPr>
            <p:spPr bwMode="auto">
              <a:xfrm>
                <a:off x="1000100" y="3143248"/>
                <a:ext cx="2079148" cy="133946"/>
              </a:xfrm>
              <a:prstGeom prst="rect">
                <a:avLst/>
              </a:prstGeom>
              <a:pattFill prst="wdUpDiag">
                <a:fgClr>
                  <a:srgbClr val="000000"/>
                </a:fgClr>
                <a:bgClr>
                  <a:srgbClr val="FFFFFF"/>
                </a:bgClr>
              </a:patt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endParaRPr lang="zh-CN" altLang="zh-CN"/>
              </a:p>
            </p:txBody>
          </p:sp>
        </p:grpSp>
        <p:sp>
          <p:nvSpPr>
            <p:cNvPr id="20522" name="Oval 8"/>
            <p:cNvSpPr>
              <a:spLocks noChangeAspect="1" noChangeArrowheads="1"/>
            </p:cNvSpPr>
            <p:nvPr/>
          </p:nvSpPr>
          <p:spPr bwMode="auto">
            <a:xfrm>
              <a:off x="1247752" y="4643446"/>
              <a:ext cx="92244" cy="86400"/>
            </a:xfrm>
            <a:prstGeom prst="ellipse">
              <a:avLst/>
            </a:prstGeom>
            <a:solidFill>
              <a:srgbClr val="FFFFFF"/>
            </a:solidFill>
            <a:ln w="19050">
              <a:solidFill>
                <a:srgbClr val="000000"/>
              </a:solidFill>
              <a:round/>
              <a:headEnd type="none" w="sm" len="sm"/>
              <a:tailEnd type="none" w="sm" len="sm"/>
            </a:ln>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20523" name="Oval 8"/>
            <p:cNvSpPr>
              <a:spLocks noChangeAspect="1" noChangeArrowheads="1"/>
            </p:cNvSpPr>
            <p:nvPr/>
          </p:nvSpPr>
          <p:spPr bwMode="auto">
            <a:xfrm>
              <a:off x="2886063" y="3643314"/>
              <a:ext cx="92244" cy="86400"/>
            </a:xfrm>
            <a:prstGeom prst="ellipse">
              <a:avLst/>
            </a:prstGeom>
            <a:solidFill>
              <a:srgbClr val="FFFFFF"/>
            </a:solidFill>
            <a:ln w="19050">
              <a:solidFill>
                <a:srgbClr val="000000"/>
              </a:solidFill>
              <a:round/>
              <a:headEnd type="none" w="sm" len="sm"/>
              <a:tailEnd type="none" w="sm" len="sm"/>
            </a:ln>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20524" name="Oval 8"/>
            <p:cNvSpPr>
              <a:spLocks noChangeAspect="1" noChangeArrowheads="1"/>
            </p:cNvSpPr>
            <p:nvPr/>
          </p:nvSpPr>
          <p:spPr bwMode="auto">
            <a:xfrm>
              <a:off x="2886063" y="4643446"/>
              <a:ext cx="92244" cy="86400"/>
            </a:xfrm>
            <a:prstGeom prst="ellipse">
              <a:avLst/>
            </a:prstGeom>
            <a:solidFill>
              <a:srgbClr val="FFFFFF"/>
            </a:solidFill>
            <a:ln w="19050">
              <a:solidFill>
                <a:srgbClr val="000000"/>
              </a:solidFill>
              <a:round/>
              <a:headEnd type="none" w="sm" len="sm"/>
              <a:tailEnd type="none" w="sm" len="sm"/>
            </a:ln>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36" name="矩形 35"/>
            <p:cNvSpPr/>
            <p:nvPr/>
          </p:nvSpPr>
          <p:spPr bwMode="auto">
            <a:xfrm>
              <a:off x="1571502" y="4429236"/>
              <a:ext cx="357148" cy="285778"/>
            </a:xfrm>
            <a:prstGeom prst="rect">
              <a:avLst/>
            </a:prstGeom>
            <a:solidFill>
              <a:schemeClr val="bg2">
                <a:lumMod val="75000"/>
              </a:schemeClr>
            </a:solidFill>
            <a:ln w="9525" cap="flat" cmpd="sng" algn="ctr">
              <a:solidFill>
                <a:schemeClr val="tx1"/>
              </a:solidFill>
              <a:prstDash val="solid"/>
              <a:miter lim="800000"/>
              <a:headEnd type="none" w="med" len="med"/>
              <a:tailEnd type="none" w="med" len="med"/>
            </a:ln>
            <a:effectLst/>
          </p:spPr>
          <p:txBody>
            <a:bodyPr wrap="none"/>
            <a:lstStyle/>
            <a:p>
              <a:pPr algn="l">
                <a:defRPr/>
              </a:pPr>
              <a:endParaRPr lang="zh-CN" altLang="en-US"/>
            </a:p>
          </p:txBody>
        </p:sp>
      </p:grpSp>
      <p:sp>
        <p:nvSpPr>
          <p:cNvPr id="38" name="Text Box 89"/>
          <p:cNvSpPr txBox="1">
            <a:spLocks noChangeArrowheads="1"/>
          </p:cNvSpPr>
          <p:nvPr/>
        </p:nvSpPr>
        <p:spPr bwMode="auto">
          <a:xfrm>
            <a:off x="3624030" y="2090573"/>
            <a:ext cx="109102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kumimoji="0" lang="en-US" altLang="zh-CN" sz="2000" dirty="0">
                <a:solidFill>
                  <a:srgbClr val="000000"/>
                </a:solidFill>
                <a:latin typeface="Times New Roman" panose="02020603050405020304" pitchFamily="18" charset="0"/>
              </a:rPr>
              <a:t>   </a:t>
            </a:r>
            <a:r>
              <a:rPr kumimoji="0" lang="zh-CN" altLang="en-US" dirty="0">
                <a:solidFill>
                  <a:srgbClr val="0000FF"/>
                </a:solidFill>
                <a:latin typeface="楷体" panose="02010609060101010101" pitchFamily="49" charset="-122"/>
                <a:ea typeface="楷体" panose="02010609060101010101" pitchFamily="49" charset="-122"/>
              </a:rPr>
              <a:t>解：</a:t>
            </a:r>
          </a:p>
        </p:txBody>
      </p:sp>
      <p:grpSp>
        <p:nvGrpSpPr>
          <p:cNvPr id="5" name="组合 42"/>
          <p:cNvGrpSpPr>
            <a:grpSpLocks/>
          </p:cNvGrpSpPr>
          <p:nvPr/>
        </p:nvGrpSpPr>
        <p:grpSpPr bwMode="auto">
          <a:xfrm>
            <a:off x="653375" y="3088579"/>
            <a:ext cx="2700228" cy="613594"/>
            <a:chOff x="603329" y="3871179"/>
            <a:chExt cx="2699892" cy="612722"/>
          </a:xfrm>
        </p:grpSpPr>
        <p:sp>
          <p:nvSpPr>
            <p:cNvPr id="20501" name="Line 13"/>
            <p:cNvSpPr>
              <a:spLocks noChangeShapeType="1"/>
            </p:cNvSpPr>
            <p:nvPr/>
          </p:nvSpPr>
          <p:spPr bwMode="auto">
            <a:xfrm>
              <a:off x="1000100" y="3943354"/>
              <a:ext cx="0" cy="535785"/>
            </a:xfrm>
            <a:prstGeom prst="line">
              <a:avLst/>
            </a:prstGeom>
            <a:noFill/>
            <a:ln w="31750">
              <a:solidFill>
                <a:srgbClr val="C00000"/>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20502" name="Line 13"/>
            <p:cNvSpPr>
              <a:spLocks noChangeShapeType="1"/>
            </p:cNvSpPr>
            <p:nvPr/>
          </p:nvSpPr>
          <p:spPr bwMode="auto">
            <a:xfrm>
              <a:off x="2652699" y="3948116"/>
              <a:ext cx="0" cy="535785"/>
            </a:xfrm>
            <a:prstGeom prst="line">
              <a:avLst/>
            </a:prstGeom>
            <a:noFill/>
            <a:ln w="31750">
              <a:solidFill>
                <a:srgbClr val="C00000"/>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20503" name="Text Box 14"/>
            <p:cNvSpPr txBox="1">
              <a:spLocks noChangeArrowheads="1"/>
            </p:cNvSpPr>
            <p:nvPr/>
          </p:nvSpPr>
          <p:spPr bwMode="auto">
            <a:xfrm>
              <a:off x="603329" y="3871179"/>
              <a:ext cx="660047" cy="401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800" i="1" dirty="0">
                  <a:solidFill>
                    <a:srgbClr val="C00000"/>
                  </a:solidFill>
                  <a:latin typeface="Times New Roman" panose="02020603050405020304" pitchFamily="18" charset="0"/>
                  <a:cs typeface="Times New Roman" panose="02020603050405020304" pitchFamily="18" charset="0"/>
                </a:rPr>
                <a:t>F</a:t>
              </a:r>
              <a:r>
                <a:rPr lang="en-US" altLang="zh-CN" sz="1800" baseline="-25000" dirty="0">
                  <a:solidFill>
                    <a:srgbClr val="C00000"/>
                  </a:solidFill>
                  <a:latin typeface="Times New Roman" panose="02020603050405020304" pitchFamily="18" charset="0"/>
                  <a:cs typeface="Times New Roman" panose="02020603050405020304" pitchFamily="18" charset="0"/>
                </a:rPr>
                <a:t>1</a:t>
              </a:r>
              <a:endParaRPr lang="zh-CN" altLang="zh-CN" sz="1800" baseline="-25000" dirty="0">
                <a:solidFill>
                  <a:srgbClr val="C00000"/>
                </a:solidFill>
                <a:latin typeface="Times New Roman" panose="02020603050405020304" pitchFamily="18" charset="0"/>
                <a:cs typeface="Times New Roman" panose="02020603050405020304" pitchFamily="18" charset="0"/>
              </a:endParaRPr>
            </a:p>
          </p:txBody>
        </p:sp>
        <p:sp>
          <p:nvSpPr>
            <p:cNvPr id="20504" name="Text Box 14"/>
            <p:cNvSpPr txBox="1">
              <a:spLocks noChangeArrowheads="1"/>
            </p:cNvSpPr>
            <p:nvPr/>
          </p:nvSpPr>
          <p:spPr bwMode="auto">
            <a:xfrm>
              <a:off x="2643174" y="3929066"/>
              <a:ext cx="660047" cy="401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800" i="1">
                  <a:solidFill>
                    <a:srgbClr val="C00000"/>
                  </a:solidFill>
                  <a:latin typeface="Times New Roman" panose="02020603050405020304" pitchFamily="18" charset="0"/>
                  <a:cs typeface="Times New Roman" panose="02020603050405020304" pitchFamily="18" charset="0"/>
                </a:rPr>
                <a:t>F</a:t>
              </a:r>
              <a:r>
                <a:rPr lang="en-US" altLang="zh-CN" sz="1800" baseline="-25000">
                  <a:solidFill>
                    <a:srgbClr val="C00000"/>
                  </a:solidFill>
                  <a:latin typeface="Times New Roman" panose="02020603050405020304" pitchFamily="18" charset="0"/>
                  <a:cs typeface="Times New Roman" panose="02020603050405020304" pitchFamily="18" charset="0"/>
                </a:rPr>
                <a:t>2</a:t>
              </a:r>
              <a:endParaRPr lang="zh-CN" altLang="zh-CN" sz="1800" baseline="-25000">
                <a:solidFill>
                  <a:srgbClr val="C00000"/>
                </a:solidFill>
                <a:latin typeface="Times New Roman" panose="02020603050405020304" pitchFamily="18" charset="0"/>
                <a:cs typeface="Times New Roman" panose="02020603050405020304" pitchFamily="18" charset="0"/>
              </a:endParaRPr>
            </a:p>
          </p:txBody>
        </p:sp>
      </p:grpSp>
      <p:graphicFrame>
        <p:nvGraphicFramePr>
          <p:cNvPr id="92175" name="Object 15"/>
          <p:cNvGraphicFramePr>
            <a:graphicFrameLocks noChangeAspect="1"/>
          </p:cNvGraphicFramePr>
          <p:nvPr>
            <p:extLst>
              <p:ext uri="{D42A27DB-BD31-4B8C-83A1-F6EECF244321}">
                <p14:modId xmlns:p14="http://schemas.microsoft.com/office/powerpoint/2010/main" val="2945645334"/>
              </p:ext>
            </p:extLst>
          </p:nvPr>
        </p:nvGraphicFramePr>
        <p:xfrm>
          <a:off x="4767100" y="2091756"/>
          <a:ext cx="1108075" cy="428625"/>
        </p:xfrm>
        <a:graphic>
          <a:graphicData uri="http://schemas.openxmlformats.org/presentationml/2006/ole">
            <mc:AlternateContent xmlns:mc="http://schemas.openxmlformats.org/markup-compatibility/2006">
              <mc:Choice xmlns:v="urn:schemas-microsoft-com:vml" Requires="v">
                <p:oleObj name="Equation" r:id="rId2" imgW="583920" imgH="228600" progId="Equation.DSMT4">
                  <p:embed/>
                </p:oleObj>
              </mc:Choice>
              <mc:Fallback>
                <p:oleObj name="Equation" r:id="rId2" imgW="583920" imgH="228600" progId="Equation.DSMT4">
                  <p:embed/>
                  <p:pic>
                    <p:nvPicPr>
                      <p:cNvPr id="0" name=""/>
                      <p:cNvPicPr>
                        <a:picLocks noChangeAspect="1" noChangeArrowheads="1"/>
                      </p:cNvPicPr>
                      <p:nvPr/>
                    </p:nvPicPr>
                    <p:blipFill>
                      <a:blip r:embed="rId3"/>
                      <a:srcRect/>
                      <a:stretch>
                        <a:fillRect/>
                      </a:stretch>
                    </p:blipFill>
                    <p:spPr bwMode="auto">
                      <a:xfrm>
                        <a:off x="4767100" y="2091756"/>
                        <a:ext cx="1108075" cy="428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518" name="Object 94"/>
          <p:cNvGraphicFramePr>
            <a:graphicFrameLocks noChangeAspect="1"/>
          </p:cNvGraphicFramePr>
          <p:nvPr>
            <p:extLst>
              <p:ext uri="{D42A27DB-BD31-4B8C-83A1-F6EECF244321}">
                <p14:modId xmlns:p14="http://schemas.microsoft.com/office/powerpoint/2010/main" val="260850970"/>
              </p:ext>
            </p:extLst>
          </p:nvPr>
        </p:nvGraphicFramePr>
        <p:xfrm>
          <a:off x="6267288" y="2091756"/>
          <a:ext cx="1179512" cy="463550"/>
        </p:xfrm>
        <a:graphic>
          <a:graphicData uri="http://schemas.openxmlformats.org/presentationml/2006/ole">
            <mc:AlternateContent xmlns:mc="http://schemas.openxmlformats.org/markup-compatibility/2006">
              <mc:Choice xmlns:v="urn:schemas-microsoft-com:vml" Requires="v">
                <p:oleObj name="Equation" r:id="rId4" imgW="571320" imgH="228600" progId="Equation.DSMT4">
                  <p:embed/>
                </p:oleObj>
              </mc:Choice>
              <mc:Fallback>
                <p:oleObj name="Equation" r:id="rId4" imgW="571320" imgH="228600" progId="Equation.DSMT4">
                  <p:embed/>
                  <p:pic>
                    <p:nvPicPr>
                      <p:cNvPr id="0" name=""/>
                      <p:cNvPicPr>
                        <a:picLocks noChangeAspect="1" noChangeArrowheads="1"/>
                      </p:cNvPicPr>
                      <p:nvPr/>
                    </p:nvPicPr>
                    <p:blipFill>
                      <a:blip r:embed="rId5"/>
                      <a:srcRect/>
                      <a:stretch>
                        <a:fillRect/>
                      </a:stretch>
                    </p:blipFill>
                    <p:spPr bwMode="auto">
                      <a:xfrm>
                        <a:off x="6267288" y="2091756"/>
                        <a:ext cx="1179512" cy="463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25"/>
          <p:cNvGraphicFramePr>
            <a:graphicFrameLocks noChangeAspect="1"/>
          </p:cNvGraphicFramePr>
          <p:nvPr>
            <p:extLst>
              <p:ext uri="{D42A27DB-BD31-4B8C-83A1-F6EECF244321}">
                <p14:modId xmlns:p14="http://schemas.microsoft.com/office/powerpoint/2010/main" val="159481039"/>
              </p:ext>
            </p:extLst>
          </p:nvPr>
        </p:nvGraphicFramePr>
        <p:xfrm>
          <a:off x="4767100" y="2591819"/>
          <a:ext cx="1090613" cy="500062"/>
        </p:xfrm>
        <a:graphic>
          <a:graphicData uri="http://schemas.openxmlformats.org/presentationml/2006/ole">
            <mc:AlternateContent xmlns:mc="http://schemas.openxmlformats.org/markup-compatibility/2006">
              <mc:Choice xmlns:v="urn:schemas-microsoft-com:vml" Requires="v">
                <p:oleObj name="Equation" r:id="rId6" imgW="520560" imgH="241200" progId="Equation.DSMT4">
                  <p:embed/>
                </p:oleObj>
              </mc:Choice>
              <mc:Fallback>
                <p:oleObj name="Equation" r:id="rId6" imgW="520560" imgH="241200" progId="Equation.DSMT4">
                  <p:embed/>
                  <p:pic>
                    <p:nvPicPr>
                      <p:cNvPr id="0" name=""/>
                      <p:cNvPicPr>
                        <a:picLocks noChangeAspect="1" noChangeArrowheads="1"/>
                      </p:cNvPicPr>
                      <p:nvPr/>
                    </p:nvPicPr>
                    <p:blipFill>
                      <a:blip r:embed="rId7"/>
                      <a:srcRect/>
                      <a:stretch>
                        <a:fillRect/>
                      </a:stretch>
                    </p:blipFill>
                    <p:spPr bwMode="auto">
                      <a:xfrm>
                        <a:off x="4767100" y="2591819"/>
                        <a:ext cx="1090613" cy="500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26"/>
          <p:cNvGraphicFramePr>
            <a:graphicFrameLocks noChangeAspect="1"/>
          </p:cNvGraphicFramePr>
          <p:nvPr>
            <p:extLst>
              <p:ext uri="{D42A27DB-BD31-4B8C-83A1-F6EECF244321}">
                <p14:modId xmlns:p14="http://schemas.microsoft.com/office/powerpoint/2010/main" val="2765875652"/>
              </p:ext>
            </p:extLst>
          </p:nvPr>
        </p:nvGraphicFramePr>
        <p:xfrm>
          <a:off x="6249825" y="2591819"/>
          <a:ext cx="1311275" cy="463550"/>
        </p:xfrm>
        <a:graphic>
          <a:graphicData uri="http://schemas.openxmlformats.org/presentationml/2006/ole">
            <mc:AlternateContent xmlns:mc="http://schemas.openxmlformats.org/markup-compatibility/2006">
              <mc:Choice xmlns:v="urn:schemas-microsoft-com:vml" Requires="v">
                <p:oleObj name="Equation" r:id="rId8" imgW="634680" imgH="228600" progId="Equation.DSMT4">
                  <p:embed/>
                </p:oleObj>
              </mc:Choice>
              <mc:Fallback>
                <p:oleObj name="Equation" r:id="rId8" imgW="634680" imgH="228600" progId="Equation.DSMT4">
                  <p:embed/>
                  <p:pic>
                    <p:nvPicPr>
                      <p:cNvPr id="0" name=""/>
                      <p:cNvPicPr>
                        <a:picLocks noChangeAspect="1" noChangeArrowheads="1"/>
                      </p:cNvPicPr>
                      <p:nvPr/>
                    </p:nvPicPr>
                    <p:blipFill>
                      <a:blip r:embed="rId9"/>
                      <a:srcRect/>
                      <a:stretch>
                        <a:fillRect/>
                      </a:stretch>
                    </p:blipFill>
                    <p:spPr bwMode="auto">
                      <a:xfrm>
                        <a:off x="6249825" y="2591819"/>
                        <a:ext cx="1311275" cy="463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7293" name="Object 13"/>
          <p:cNvGraphicFramePr>
            <a:graphicFrameLocks noChangeAspect="1"/>
          </p:cNvGraphicFramePr>
          <p:nvPr>
            <p:extLst>
              <p:ext uri="{D42A27DB-BD31-4B8C-83A1-F6EECF244321}">
                <p14:modId xmlns:p14="http://schemas.microsoft.com/office/powerpoint/2010/main" val="3397278226"/>
              </p:ext>
            </p:extLst>
          </p:nvPr>
        </p:nvGraphicFramePr>
        <p:xfrm>
          <a:off x="5703619" y="3034229"/>
          <a:ext cx="2643188" cy="955675"/>
        </p:xfrm>
        <a:graphic>
          <a:graphicData uri="http://schemas.openxmlformats.org/presentationml/2006/ole">
            <mc:AlternateContent xmlns:mc="http://schemas.openxmlformats.org/markup-compatibility/2006">
              <mc:Choice xmlns:v="urn:schemas-microsoft-com:vml" Requires="v">
                <p:oleObj name="Equation" r:id="rId10" imgW="1218960" imgH="457200" progId="Equation.DSMT4">
                  <p:embed/>
                </p:oleObj>
              </mc:Choice>
              <mc:Fallback>
                <p:oleObj name="Equation" r:id="rId10" imgW="1218960" imgH="457200" progId="Equation.DSMT4">
                  <p:embed/>
                  <p:pic>
                    <p:nvPicPr>
                      <p:cNvPr id="0" name=""/>
                      <p:cNvPicPr>
                        <a:picLocks noChangeAspect="1" noChangeArrowheads="1"/>
                      </p:cNvPicPr>
                      <p:nvPr/>
                    </p:nvPicPr>
                    <p:blipFill>
                      <a:blip r:embed="rId11"/>
                      <a:srcRect/>
                      <a:stretch>
                        <a:fillRect/>
                      </a:stretch>
                    </p:blipFill>
                    <p:spPr bwMode="auto">
                      <a:xfrm>
                        <a:off x="5703619" y="3034229"/>
                        <a:ext cx="2643188" cy="955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28"/>
          <p:cNvGraphicFramePr>
            <a:graphicFrameLocks noChangeAspect="1"/>
          </p:cNvGraphicFramePr>
          <p:nvPr>
            <p:extLst>
              <p:ext uri="{D42A27DB-BD31-4B8C-83A1-F6EECF244321}">
                <p14:modId xmlns:p14="http://schemas.microsoft.com/office/powerpoint/2010/main" val="2180636887"/>
              </p:ext>
            </p:extLst>
          </p:nvPr>
        </p:nvGraphicFramePr>
        <p:xfrm>
          <a:off x="3601480" y="3017572"/>
          <a:ext cx="1746250" cy="928687"/>
        </p:xfrm>
        <a:graphic>
          <a:graphicData uri="http://schemas.openxmlformats.org/presentationml/2006/ole">
            <mc:AlternateContent xmlns:mc="http://schemas.openxmlformats.org/markup-compatibility/2006">
              <mc:Choice xmlns:v="urn:schemas-microsoft-com:vml" Requires="v">
                <p:oleObj name="Equation" r:id="rId12" imgW="838080" imgH="444240" progId="Equation.DSMT4">
                  <p:embed/>
                </p:oleObj>
              </mc:Choice>
              <mc:Fallback>
                <p:oleObj name="Equation" r:id="rId12" imgW="838080" imgH="444240" progId="Equation.DSMT4">
                  <p:embed/>
                  <p:pic>
                    <p:nvPicPr>
                      <p:cNvPr id="0" name=""/>
                      <p:cNvPicPr>
                        <a:picLocks noChangeAspect="1" noChangeArrowheads="1"/>
                      </p:cNvPicPr>
                      <p:nvPr/>
                    </p:nvPicPr>
                    <p:blipFill>
                      <a:blip r:embed="rId13"/>
                      <a:srcRect/>
                      <a:stretch>
                        <a:fillRect/>
                      </a:stretch>
                    </p:blipFill>
                    <p:spPr bwMode="auto">
                      <a:xfrm>
                        <a:off x="3601480" y="3017572"/>
                        <a:ext cx="1746250" cy="928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29"/>
          <p:cNvGraphicFramePr>
            <a:graphicFrameLocks noChangeAspect="1"/>
          </p:cNvGraphicFramePr>
          <p:nvPr>
            <p:extLst>
              <p:ext uri="{D42A27DB-BD31-4B8C-83A1-F6EECF244321}">
                <p14:modId xmlns:p14="http://schemas.microsoft.com/office/powerpoint/2010/main" val="4226936959"/>
              </p:ext>
            </p:extLst>
          </p:nvPr>
        </p:nvGraphicFramePr>
        <p:xfrm>
          <a:off x="3574492" y="3923793"/>
          <a:ext cx="1773238" cy="928687"/>
        </p:xfrm>
        <a:graphic>
          <a:graphicData uri="http://schemas.openxmlformats.org/presentationml/2006/ole">
            <mc:AlternateContent xmlns:mc="http://schemas.openxmlformats.org/markup-compatibility/2006">
              <mc:Choice xmlns:v="urn:schemas-microsoft-com:vml" Requires="v">
                <p:oleObj name="Equation" r:id="rId14" imgW="850680" imgH="444240" progId="Equation.DSMT4">
                  <p:embed/>
                </p:oleObj>
              </mc:Choice>
              <mc:Fallback>
                <p:oleObj name="Equation" r:id="rId14" imgW="850680" imgH="444240" progId="Equation.DSMT4">
                  <p:embed/>
                  <p:pic>
                    <p:nvPicPr>
                      <p:cNvPr id="0" name=""/>
                      <p:cNvPicPr>
                        <a:picLocks noChangeAspect="1" noChangeArrowheads="1"/>
                      </p:cNvPicPr>
                      <p:nvPr/>
                    </p:nvPicPr>
                    <p:blipFill>
                      <a:blip r:embed="rId15"/>
                      <a:srcRect/>
                      <a:stretch>
                        <a:fillRect/>
                      </a:stretch>
                    </p:blipFill>
                    <p:spPr bwMode="auto">
                      <a:xfrm>
                        <a:off x="3574492" y="3923793"/>
                        <a:ext cx="1773238" cy="928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30"/>
          <p:cNvGraphicFramePr>
            <a:graphicFrameLocks noChangeAspect="1"/>
          </p:cNvGraphicFramePr>
          <p:nvPr>
            <p:extLst>
              <p:ext uri="{D42A27DB-BD31-4B8C-83A1-F6EECF244321}">
                <p14:modId xmlns:p14="http://schemas.microsoft.com/office/powerpoint/2010/main" val="3282106776"/>
              </p:ext>
            </p:extLst>
          </p:nvPr>
        </p:nvGraphicFramePr>
        <p:xfrm>
          <a:off x="5722313" y="3946259"/>
          <a:ext cx="2478087" cy="955675"/>
        </p:xfrm>
        <a:graphic>
          <a:graphicData uri="http://schemas.openxmlformats.org/presentationml/2006/ole">
            <mc:AlternateContent xmlns:mc="http://schemas.openxmlformats.org/markup-compatibility/2006">
              <mc:Choice xmlns:v="urn:schemas-microsoft-com:vml" Requires="v">
                <p:oleObj name="Equation" r:id="rId16" imgW="1143000" imgH="457200" progId="Equation.DSMT4">
                  <p:embed/>
                </p:oleObj>
              </mc:Choice>
              <mc:Fallback>
                <p:oleObj name="Equation" r:id="rId16" imgW="1143000" imgH="457200" progId="Equation.DSMT4">
                  <p:embed/>
                  <p:pic>
                    <p:nvPicPr>
                      <p:cNvPr id="0" name=""/>
                      <p:cNvPicPr>
                        <a:picLocks noChangeAspect="1" noChangeArrowheads="1"/>
                      </p:cNvPicPr>
                      <p:nvPr/>
                    </p:nvPicPr>
                    <p:blipFill>
                      <a:blip r:embed="rId17"/>
                      <a:srcRect/>
                      <a:stretch>
                        <a:fillRect/>
                      </a:stretch>
                    </p:blipFill>
                    <p:spPr bwMode="auto">
                      <a:xfrm>
                        <a:off x="5722313" y="3946259"/>
                        <a:ext cx="2478087" cy="955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6506" name="Object 10"/>
          <p:cNvGraphicFramePr>
            <a:graphicFrameLocks noChangeAspect="1"/>
          </p:cNvGraphicFramePr>
          <p:nvPr>
            <p:extLst>
              <p:ext uri="{D42A27DB-BD31-4B8C-83A1-F6EECF244321}">
                <p14:modId xmlns:p14="http://schemas.microsoft.com/office/powerpoint/2010/main" val="1335457219"/>
              </p:ext>
            </p:extLst>
          </p:nvPr>
        </p:nvGraphicFramePr>
        <p:xfrm>
          <a:off x="483403" y="4476281"/>
          <a:ext cx="1357313" cy="873125"/>
        </p:xfrm>
        <a:graphic>
          <a:graphicData uri="http://schemas.openxmlformats.org/presentationml/2006/ole">
            <mc:AlternateContent xmlns:mc="http://schemas.openxmlformats.org/markup-compatibility/2006">
              <mc:Choice xmlns:v="urn:schemas-microsoft-com:vml" Requires="v">
                <p:oleObj name="Equation" r:id="rId18" imgW="685800" imgH="444240" progId="Equation.DSMT4">
                  <p:embed/>
                </p:oleObj>
              </mc:Choice>
              <mc:Fallback>
                <p:oleObj name="Equation" r:id="rId18" imgW="685800" imgH="444240" progId="Equation.DSMT4">
                  <p:embed/>
                  <p:pic>
                    <p:nvPicPr>
                      <p:cNvPr id="0" name=""/>
                      <p:cNvPicPr>
                        <a:picLocks noChangeAspect="1" noChangeArrowheads="1"/>
                      </p:cNvPicPr>
                      <p:nvPr/>
                    </p:nvPicPr>
                    <p:blipFill>
                      <a:blip r:embed="rId19"/>
                      <a:srcRect/>
                      <a:stretch>
                        <a:fillRect/>
                      </a:stretch>
                    </p:blipFill>
                    <p:spPr bwMode="auto">
                      <a:xfrm>
                        <a:off x="483403" y="4476281"/>
                        <a:ext cx="1357313" cy="873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32"/>
          <p:cNvGraphicFramePr>
            <a:graphicFrameLocks noChangeAspect="1"/>
          </p:cNvGraphicFramePr>
          <p:nvPr>
            <p:extLst>
              <p:ext uri="{D42A27DB-BD31-4B8C-83A1-F6EECF244321}">
                <p14:modId xmlns:p14="http://schemas.microsoft.com/office/powerpoint/2010/main" val="2502230072"/>
              </p:ext>
            </p:extLst>
          </p:nvPr>
        </p:nvGraphicFramePr>
        <p:xfrm>
          <a:off x="483403" y="5338294"/>
          <a:ext cx="1433513" cy="873125"/>
        </p:xfrm>
        <a:graphic>
          <a:graphicData uri="http://schemas.openxmlformats.org/presentationml/2006/ole">
            <mc:AlternateContent xmlns:mc="http://schemas.openxmlformats.org/markup-compatibility/2006">
              <mc:Choice xmlns:v="urn:schemas-microsoft-com:vml" Requires="v">
                <p:oleObj name="Equation" r:id="rId20" imgW="723600" imgH="444240" progId="Equation.DSMT4">
                  <p:embed/>
                </p:oleObj>
              </mc:Choice>
              <mc:Fallback>
                <p:oleObj name="Equation" r:id="rId20" imgW="723600" imgH="444240" progId="Equation.DSMT4">
                  <p:embed/>
                  <p:pic>
                    <p:nvPicPr>
                      <p:cNvPr id="0" name=""/>
                      <p:cNvPicPr>
                        <a:picLocks noChangeAspect="1" noChangeArrowheads="1"/>
                      </p:cNvPicPr>
                      <p:nvPr/>
                    </p:nvPicPr>
                    <p:blipFill>
                      <a:blip r:embed="rId21"/>
                      <a:srcRect/>
                      <a:stretch>
                        <a:fillRect/>
                      </a:stretch>
                    </p:blipFill>
                    <p:spPr bwMode="auto">
                      <a:xfrm>
                        <a:off x="483403" y="5338294"/>
                        <a:ext cx="1433513" cy="873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33"/>
          <p:cNvGraphicFramePr>
            <a:graphicFrameLocks noChangeAspect="1"/>
          </p:cNvGraphicFramePr>
          <p:nvPr>
            <p:extLst>
              <p:ext uri="{D42A27DB-BD31-4B8C-83A1-F6EECF244321}">
                <p14:modId xmlns:p14="http://schemas.microsoft.com/office/powerpoint/2010/main" val="347029126"/>
              </p:ext>
            </p:extLst>
          </p:nvPr>
        </p:nvGraphicFramePr>
        <p:xfrm>
          <a:off x="2167432" y="4993903"/>
          <a:ext cx="2738438" cy="873125"/>
        </p:xfrm>
        <a:graphic>
          <a:graphicData uri="http://schemas.openxmlformats.org/presentationml/2006/ole">
            <mc:AlternateContent xmlns:mc="http://schemas.openxmlformats.org/markup-compatibility/2006">
              <mc:Choice xmlns:v="urn:schemas-microsoft-com:vml" Requires="v">
                <p:oleObj name="Equation" r:id="rId22" imgW="1384200" imgH="444240" progId="Equation.DSMT4">
                  <p:embed/>
                </p:oleObj>
              </mc:Choice>
              <mc:Fallback>
                <p:oleObj name="Equation" r:id="rId22" imgW="1384200" imgH="444240" progId="Equation.DSMT4">
                  <p:embed/>
                  <p:pic>
                    <p:nvPicPr>
                      <p:cNvPr id="0" name=""/>
                      <p:cNvPicPr>
                        <a:picLocks noChangeAspect="1" noChangeArrowheads="1"/>
                      </p:cNvPicPr>
                      <p:nvPr/>
                    </p:nvPicPr>
                    <p:blipFill>
                      <a:blip r:embed="rId23"/>
                      <a:srcRect/>
                      <a:stretch>
                        <a:fillRect/>
                      </a:stretch>
                    </p:blipFill>
                    <p:spPr bwMode="auto">
                      <a:xfrm>
                        <a:off x="2167432" y="4993903"/>
                        <a:ext cx="2738438" cy="873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99" name="TextBox 54"/>
          <p:cNvSpPr txBox="1">
            <a:spLocks noChangeArrowheads="1"/>
          </p:cNvSpPr>
          <p:nvPr/>
        </p:nvSpPr>
        <p:spPr bwMode="auto">
          <a:xfrm>
            <a:off x="5106218" y="4926359"/>
            <a:ext cx="38576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zh-CN" altLang="en-US" dirty="0">
                <a:solidFill>
                  <a:srgbClr val="000000"/>
                </a:solidFill>
                <a:latin typeface="楷体" panose="02010609060101010101" pitchFamily="49" charset="-122"/>
                <a:ea typeface="楷体" panose="02010609060101010101" pitchFamily="49" charset="-122"/>
              </a:rPr>
              <a:t>若</a:t>
            </a:r>
            <a:r>
              <a:rPr lang="en-US" altLang="zh-CN" b="0" i="1" dirty="0">
                <a:solidFill>
                  <a:srgbClr val="000000"/>
                </a:solidFill>
                <a:latin typeface="Times New Roman" panose="02020603050405020304" pitchFamily="18" charset="0"/>
                <a:cs typeface="Times New Roman" panose="02020603050405020304" pitchFamily="18" charset="0"/>
              </a:rPr>
              <a:t>A</a:t>
            </a:r>
            <a:r>
              <a:rPr lang="en-US" altLang="zh-CN" baseline="-25000" dirty="0">
                <a:solidFill>
                  <a:srgbClr val="000000"/>
                </a:solidFill>
                <a:latin typeface="Times New Roman" panose="02020603050405020304" pitchFamily="18" charset="0"/>
                <a:cs typeface="Times New Roman" panose="02020603050405020304" pitchFamily="18" charset="0"/>
              </a:rPr>
              <a:t>1</a:t>
            </a:r>
            <a:r>
              <a:rPr lang="en-US" altLang="zh-CN" i="1" dirty="0">
                <a:solidFill>
                  <a:srgbClr val="000000"/>
                </a:solidFill>
                <a:latin typeface="Times New Roman" panose="02020603050405020304" pitchFamily="18" charset="0"/>
                <a:cs typeface="Times New Roman" panose="02020603050405020304" pitchFamily="18" charset="0"/>
              </a:rPr>
              <a:t>=</a:t>
            </a:r>
            <a:r>
              <a:rPr lang="en-US" altLang="zh-CN" b="0" dirty="0">
                <a:solidFill>
                  <a:srgbClr val="000000"/>
                </a:solidFill>
                <a:latin typeface="Times New Roman" panose="02020603050405020304" pitchFamily="18" charset="0"/>
                <a:cs typeface="Times New Roman" panose="02020603050405020304" pitchFamily="18" charset="0"/>
              </a:rPr>
              <a:t>200mm</a:t>
            </a:r>
            <a:r>
              <a:rPr lang="en-US" altLang="zh-CN" b="0" baseline="30000" dirty="0">
                <a:solidFill>
                  <a:srgbClr val="000000"/>
                </a:solidFill>
                <a:latin typeface="Times New Roman" panose="02020603050405020304" pitchFamily="18" charset="0"/>
                <a:cs typeface="Times New Roman" panose="02020603050405020304" pitchFamily="18" charset="0"/>
              </a:rPr>
              <a:t>2</a:t>
            </a:r>
            <a:r>
              <a:rPr lang="en-US" altLang="zh-CN" b="0" dirty="0">
                <a:solidFill>
                  <a:srgbClr val="000000"/>
                </a:solidFill>
                <a:latin typeface="Times New Roman" panose="02020603050405020304" pitchFamily="18" charset="0"/>
                <a:cs typeface="Times New Roman" panose="02020603050405020304" pitchFamily="18" charset="0"/>
              </a:rPr>
              <a:t>,</a:t>
            </a:r>
            <a:r>
              <a:rPr lang="en-US" altLang="zh-CN" b="0" i="1" dirty="0">
                <a:solidFill>
                  <a:srgbClr val="000000"/>
                </a:solidFill>
                <a:latin typeface="Times New Roman" panose="02020603050405020304" pitchFamily="18" charset="0"/>
                <a:cs typeface="Times New Roman" panose="02020603050405020304" pitchFamily="18" charset="0"/>
              </a:rPr>
              <a:t> A</a:t>
            </a:r>
            <a:r>
              <a:rPr lang="en-US" altLang="zh-CN" baseline="-25000" dirty="0">
                <a:solidFill>
                  <a:srgbClr val="000000"/>
                </a:solidFill>
                <a:latin typeface="Times New Roman" panose="02020603050405020304" pitchFamily="18" charset="0"/>
                <a:cs typeface="Times New Roman" panose="02020603050405020304" pitchFamily="18" charset="0"/>
              </a:rPr>
              <a:t>2</a:t>
            </a:r>
            <a:r>
              <a:rPr lang="en-US" altLang="zh-CN" i="1" dirty="0">
                <a:solidFill>
                  <a:srgbClr val="000000"/>
                </a:solidFill>
                <a:latin typeface="Times New Roman" panose="02020603050405020304" pitchFamily="18" charset="0"/>
                <a:cs typeface="Times New Roman" panose="02020603050405020304" pitchFamily="18" charset="0"/>
              </a:rPr>
              <a:t>=</a:t>
            </a:r>
            <a:r>
              <a:rPr lang="en-US" altLang="zh-CN" b="0" dirty="0">
                <a:solidFill>
                  <a:srgbClr val="000000"/>
                </a:solidFill>
                <a:latin typeface="Times New Roman" panose="02020603050405020304" pitchFamily="18" charset="0"/>
                <a:cs typeface="Times New Roman" panose="02020603050405020304" pitchFamily="18" charset="0"/>
              </a:rPr>
              <a:t>37.5mm</a:t>
            </a:r>
            <a:r>
              <a:rPr lang="en-US" altLang="zh-CN" b="0" baseline="30000" dirty="0">
                <a:solidFill>
                  <a:srgbClr val="000000"/>
                </a:solidFill>
                <a:latin typeface="Times New Roman" panose="02020603050405020304" pitchFamily="18" charset="0"/>
                <a:cs typeface="Times New Roman" panose="02020603050405020304" pitchFamily="18" charset="0"/>
              </a:rPr>
              <a:t>2</a:t>
            </a:r>
            <a:endParaRPr lang="zh-CN" altLang="en-US" b="0" baseline="30000" dirty="0">
              <a:solidFill>
                <a:srgbClr val="000000"/>
              </a:solidFill>
              <a:latin typeface="Times New Roman" panose="02020603050405020304" pitchFamily="18" charset="0"/>
              <a:cs typeface="Times New Roman" panose="02020603050405020304" pitchFamily="18" charset="0"/>
            </a:endParaRPr>
          </a:p>
        </p:txBody>
      </p:sp>
      <p:sp>
        <p:nvSpPr>
          <p:cNvPr id="20500" name="TextBox 55"/>
          <p:cNvSpPr txBox="1">
            <a:spLocks noChangeArrowheads="1"/>
          </p:cNvSpPr>
          <p:nvPr/>
        </p:nvSpPr>
        <p:spPr bwMode="auto">
          <a:xfrm>
            <a:off x="5125268" y="5421659"/>
            <a:ext cx="38576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just"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zh-CN" altLang="en-US" dirty="0">
                <a:solidFill>
                  <a:srgbClr val="000000"/>
                </a:solidFill>
                <a:latin typeface="楷体" panose="02010609060101010101" pitchFamily="49" charset="-122"/>
                <a:ea typeface="楷体" panose="02010609060101010101" pitchFamily="49" charset="-122"/>
              </a:rPr>
              <a:t>若</a:t>
            </a:r>
            <a:r>
              <a:rPr lang="en-US" altLang="zh-CN" b="0" i="1" dirty="0">
                <a:solidFill>
                  <a:srgbClr val="000000"/>
                </a:solidFill>
                <a:latin typeface="Times New Roman" panose="02020603050405020304" pitchFamily="18" charset="0"/>
                <a:cs typeface="Times New Roman" panose="02020603050405020304" pitchFamily="18" charset="0"/>
              </a:rPr>
              <a:t>A</a:t>
            </a:r>
            <a:r>
              <a:rPr lang="en-US" altLang="zh-CN" baseline="-25000" dirty="0">
                <a:solidFill>
                  <a:srgbClr val="000000"/>
                </a:solidFill>
                <a:latin typeface="Times New Roman" panose="02020603050405020304" pitchFamily="18" charset="0"/>
                <a:cs typeface="Times New Roman" panose="02020603050405020304" pitchFamily="18" charset="0"/>
              </a:rPr>
              <a:t>2</a:t>
            </a:r>
            <a:r>
              <a:rPr lang="en-US" altLang="zh-CN" i="1" dirty="0">
                <a:solidFill>
                  <a:srgbClr val="000000"/>
                </a:solidFill>
                <a:latin typeface="Times New Roman" panose="02020603050405020304" pitchFamily="18" charset="0"/>
                <a:cs typeface="Times New Roman" panose="02020603050405020304" pitchFamily="18" charset="0"/>
              </a:rPr>
              <a:t>=</a:t>
            </a:r>
            <a:r>
              <a:rPr lang="en-US" altLang="zh-CN" b="0" dirty="0">
                <a:solidFill>
                  <a:srgbClr val="000000"/>
                </a:solidFill>
                <a:latin typeface="Times New Roman" panose="02020603050405020304" pitchFamily="18" charset="0"/>
                <a:cs typeface="Times New Roman" panose="02020603050405020304" pitchFamily="18" charset="0"/>
              </a:rPr>
              <a:t>50mm</a:t>
            </a:r>
            <a:r>
              <a:rPr lang="en-US" altLang="zh-CN" b="0" baseline="30000" dirty="0">
                <a:solidFill>
                  <a:srgbClr val="000000"/>
                </a:solidFill>
                <a:latin typeface="Times New Roman" panose="02020603050405020304" pitchFamily="18" charset="0"/>
                <a:cs typeface="Times New Roman" panose="02020603050405020304" pitchFamily="18" charset="0"/>
              </a:rPr>
              <a:t>2</a:t>
            </a:r>
            <a:r>
              <a:rPr lang="en-US" altLang="zh-CN" b="0" dirty="0">
                <a:solidFill>
                  <a:srgbClr val="000000"/>
                </a:solidFill>
                <a:latin typeface="Times New Roman" panose="02020603050405020304" pitchFamily="18" charset="0"/>
                <a:cs typeface="Times New Roman" panose="02020603050405020304" pitchFamily="18" charset="0"/>
              </a:rPr>
              <a:t>,</a:t>
            </a:r>
            <a:r>
              <a:rPr lang="en-US" altLang="zh-CN" b="0" i="1" dirty="0">
                <a:solidFill>
                  <a:srgbClr val="000000"/>
                </a:solidFill>
                <a:latin typeface="Times New Roman" panose="02020603050405020304" pitchFamily="18" charset="0"/>
                <a:cs typeface="Times New Roman" panose="02020603050405020304" pitchFamily="18" charset="0"/>
              </a:rPr>
              <a:t> A</a:t>
            </a:r>
            <a:r>
              <a:rPr lang="en-US" altLang="zh-CN" baseline="-25000" dirty="0">
                <a:solidFill>
                  <a:srgbClr val="000000"/>
                </a:solidFill>
                <a:latin typeface="Times New Roman" panose="02020603050405020304" pitchFamily="18" charset="0"/>
                <a:cs typeface="Times New Roman" panose="02020603050405020304" pitchFamily="18" charset="0"/>
              </a:rPr>
              <a:t>1</a:t>
            </a:r>
            <a:r>
              <a:rPr lang="en-US" altLang="zh-CN" i="1" dirty="0">
                <a:solidFill>
                  <a:srgbClr val="000000"/>
                </a:solidFill>
                <a:latin typeface="Times New Roman" panose="02020603050405020304" pitchFamily="18" charset="0"/>
                <a:cs typeface="Times New Roman" panose="02020603050405020304" pitchFamily="18" charset="0"/>
              </a:rPr>
              <a:t>=</a:t>
            </a:r>
            <a:r>
              <a:rPr lang="en-US" altLang="zh-CN" b="0" dirty="0">
                <a:solidFill>
                  <a:srgbClr val="000000"/>
                </a:solidFill>
                <a:latin typeface="Times New Roman" panose="02020603050405020304" pitchFamily="18" charset="0"/>
                <a:cs typeface="Times New Roman" panose="02020603050405020304" pitchFamily="18" charset="0"/>
              </a:rPr>
              <a:t>267mm</a:t>
            </a:r>
            <a:r>
              <a:rPr lang="en-US" altLang="zh-CN" b="0" baseline="30000" dirty="0">
                <a:solidFill>
                  <a:srgbClr val="000000"/>
                </a:solidFill>
                <a:latin typeface="Times New Roman" panose="02020603050405020304" pitchFamily="18" charset="0"/>
                <a:cs typeface="Times New Roman" panose="02020603050405020304" pitchFamily="18" charset="0"/>
              </a:rPr>
              <a:t>2</a:t>
            </a:r>
            <a:endParaRPr lang="zh-CN" altLang="en-US" b="0" baseline="30000" dirty="0">
              <a:solidFill>
                <a:srgbClr val="000000"/>
              </a:solidFill>
              <a:latin typeface="Times New Roman" panose="02020603050405020304" pitchFamily="18" charset="0"/>
              <a:cs typeface="Times New Roman" panose="02020603050405020304" pitchFamily="18" charset="0"/>
            </a:endParaRPr>
          </a:p>
        </p:txBody>
      </p:sp>
      <p:sp>
        <p:nvSpPr>
          <p:cNvPr id="50" name="Rectangle 57"/>
          <p:cNvSpPr>
            <a:spLocks noChangeArrowheads="1"/>
          </p:cNvSpPr>
          <p:nvPr/>
        </p:nvSpPr>
        <p:spPr bwMode="auto">
          <a:xfrm>
            <a:off x="361950" y="307951"/>
            <a:ext cx="4314825" cy="585418"/>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3200" b="1" dirty="0">
                <a:solidFill>
                  <a:srgbClr val="0000CC"/>
                </a:solidFill>
                <a:latin typeface="Times New Roman" panose="02020603050405020304" pitchFamily="18" charset="0"/>
                <a:ea typeface="隶书" panose="02010509060101010101" pitchFamily="49" charset="-122"/>
              </a:rPr>
              <a:t>6-5  </a:t>
            </a:r>
            <a:r>
              <a:rPr kumimoji="1" lang="zh-CN" altLang="en-US" sz="3200" b="1" dirty="0">
                <a:solidFill>
                  <a:srgbClr val="0000CC"/>
                </a:solidFill>
                <a:latin typeface="Times New Roman" panose="02020603050405020304" pitchFamily="18" charset="0"/>
                <a:ea typeface="隶书" panose="02010509060101010101" pitchFamily="49" charset="-122"/>
              </a:rPr>
              <a:t>轴向拉压的变形</a:t>
            </a:r>
          </a:p>
        </p:txBody>
      </p:sp>
      <p:sp>
        <p:nvSpPr>
          <p:cNvPr id="49" name="文本框 48"/>
          <p:cNvSpPr txBox="1"/>
          <p:nvPr/>
        </p:nvSpPr>
        <p:spPr>
          <a:xfrm>
            <a:off x="2340997" y="5955129"/>
            <a:ext cx="1813414" cy="461665"/>
          </a:xfrm>
          <a:prstGeom prst="rect">
            <a:avLst/>
          </a:prstGeom>
          <a:noFill/>
        </p:spPr>
        <p:txBody>
          <a:bodyPr wrap="square" rtlCol="0">
            <a:spAutoFit/>
          </a:bodyPr>
          <a:lstStyle/>
          <a:p>
            <a:r>
              <a:rPr lang="zh-CN" altLang="en-US" b="1" dirty="0">
                <a:solidFill>
                  <a:srgbClr val="FF0000"/>
                </a:solidFill>
                <a:latin typeface="楷体" panose="02010609060101010101" pitchFamily="49" charset="-122"/>
                <a:ea typeface="楷体" panose="02010609060101010101" pitchFamily="49" charset="-122"/>
              </a:rPr>
              <a:t>杆件的变形</a:t>
            </a:r>
          </a:p>
        </p:txBody>
      </p:sp>
      <p:sp>
        <p:nvSpPr>
          <p:cNvPr id="51" name="文本框 50"/>
          <p:cNvSpPr txBox="1"/>
          <p:nvPr/>
        </p:nvSpPr>
        <p:spPr>
          <a:xfrm>
            <a:off x="5138183" y="5936102"/>
            <a:ext cx="1813414" cy="461665"/>
          </a:xfrm>
          <a:prstGeom prst="rect">
            <a:avLst/>
          </a:prstGeom>
          <a:noFill/>
        </p:spPr>
        <p:txBody>
          <a:bodyPr wrap="square" rtlCol="0">
            <a:spAutoFit/>
          </a:bodyPr>
          <a:lstStyle/>
          <a:p>
            <a:r>
              <a:rPr lang="zh-CN" altLang="en-US" b="1" dirty="0">
                <a:solidFill>
                  <a:srgbClr val="FF0000"/>
                </a:solidFill>
                <a:latin typeface="楷体" panose="02010609060101010101" pitchFamily="49" charset="-122"/>
                <a:ea typeface="楷体" panose="02010609060101010101" pitchFamily="49" charset="-122"/>
              </a:rPr>
              <a:t>结构的位移</a:t>
            </a:r>
          </a:p>
        </p:txBody>
      </p:sp>
      <p:sp>
        <p:nvSpPr>
          <p:cNvPr id="2" name="燕尾形箭头 1"/>
          <p:cNvSpPr/>
          <p:nvPr/>
        </p:nvSpPr>
        <p:spPr bwMode="auto">
          <a:xfrm>
            <a:off x="4154411" y="6113502"/>
            <a:ext cx="894258" cy="169909"/>
          </a:xfrm>
          <a:prstGeom prst="notchedRightArrow">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16209268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ox(out)">
                                      <p:cBhvr>
                                        <p:cTn id="7" dur="500"/>
                                        <p:tgtEl>
                                          <p:spTgt spid="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lide(fromBottom)">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92175"/>
                                        </p:tgtEl>
                                        <p:attrNameLst>
                                          <p:attrName>style.visibility</p:attrName>
                                        </p:attrNameLst>
                                      </p:cBhvr>
                                      <p:to>
                                        <p:strVal val="visible"/>
                                      </p:to>
                                    </p:set>
                                    <p:animEffect transition="in" filter="box(out)">
                                      <p:cBhvr>
                                        <p:cTn id="17" dur="500"/>
                                        <p:tgtEl>
                                          <p:spTgt spid="9217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103518"/>
                                        </p:tgtEl>
                                        <p:attrNameLst>
                                          <p:attrName>style.visibility</p:attrName>
                                        </p:attrNameLst>
                                      </p:cBhvr>
                                      <p:to>
                                        <p:strVal val="visible"/>
                                      </p:to>
                                    </p:set>
                                    <p:animEffect transition="in" filter="box(out)">
                                      <p:cBhvr>
                                        <p:cTn id="22" dur="500"/>
                                        <p:tgtEl>
                                          <p:spTgt spid="10351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ox(out)">
                                      <p:cBhvr>
                                        <p:cTn id="27" dur="500"/>
                                        <p:tgtEl>
                                          <p:spTgt spid="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box(out)">
                                      <p:cBhvr>
                                        <p:cTn id="32" dur="500"/>
                                        <p:tgtEl>
                                          <p:spTgt spid="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32"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box(out)">
                                      <p:cBhvr>
                                        <p:cTn id="37" dur="500"/>
                                        <p:tgtEl>
                                          <p:spTgt spid="1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32" fill="hold" nodeType="clickEffect">
                                  <p:stCondLst>
                                    <p:cond delay="0"/>
                                  </p:stCondLst>
                                  <p:childTnLst>
                                    <p:set>
                                      <p:cBhvr>
                                        <p:cTn id="41" dur="1" fill="hold">
                                          <p:stCondLst>
                                            <p:cond delay="0"/>
                                          </p:stCondLst>
                                        </p:cTn>
                                        <p:tgtEl>
                                          <p:spTgt spid="97293"/>
                                        </p:tgtEl>
                                        <p:attrNameLst>
                                          <p:attrName>style.visibility</p:attrName>
                                        </p:attrNameLst>
                                      </p:cBhvr>
                                      <p:to>
                                        <p:strVal val="visible"/>
                                      </p:to>
                                    </p:set>
                                    <p:animEffect transition="in" filter="box(out)">
                                      <p:cBhvr>
                                        <p:cTn id="42" dur="500"/>
                                        <p:tgtEl>
                                          <p:spTgt spid="9729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32"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box(out)">
                                      <p:cBhvr>
                                        <p:cTn id="47" dur="500"/>
                                        <p:tgtEl>
                                          <p:spTgt spid="1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4" presetClass="entr" presetSubtype="32" fill="hold"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box(out)">
                                      <p:cBhvr>
                                        <p:cTn id="52" dur="500"/>
                                        <p:tgtEl>
                                          <p:spTgt spid="1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4" presetClass="entr" presetSubtype="32" fill="hold" nodeType="clickEffect">
                                  <p:stCondLst>
                                    <p:cond delay="0"/>
                                  </p:stCondLst>
                                  <p:childTnLst>
                                    <p:set>
                                      <p:cBhvr>
                                        <p:cTn id="56" dur="1" fill="hold">
                                          <p:stCondLst>
                                            <p:cond delay="0"/>
                                          </p:stCondLst>
                                        </p:cTn>
                                        <p:tgtEl>
                                          <p:spTgt spid="106506"/>
                                        </p:tgtEl>
                                        <p:attrNameLst>
                                          <p:attrName>style.visibility</p:attrName>
                                        </p:attrNameLst>
                                      </p:cBhvr>
                                      <p:to>
                                        <p:strVal val="visible"/>
                                      </p:to>
                                    </p:set>
                                    <p:animEffect transition="in" filter="box(out)">
                                      <p:cBhvr>
                                        <p:cTn id="57" dur="500"/>
                                        <p:tgtEl>
                                          <p:spTgt spid="10650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4" presetClass="entr" presetSubtype="32" fill="hold"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box(out)">
                                      <p:cBhvr>
                                        <p:cTn id="62" dur="500"/>
                                        <p:tgtEl>
                                          <p:spTgt spid="13"/>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4" presetClass="entr" presetSubtype="32" fill="hold"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box(out)">
                                      <p:cBhvr>
                                        <p:cTn id="67" dur="500"/>
                                        <p:tgtEl>
                                          <p:spTgt spid="14"/>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0499"/>
                                        </p:tgtEl>
                                        <p:attrNameLst>
                                          <p:attrName>style.visibility</p:attrName>
                                        </p:attrNameLst>
                                      </p:cBhvr>
                                      <p:to>
                                        <p:strVal val="visible"/>
                                      </p:to>
                                    </p:set>
                                    <p:animEffect transition="in" filter="wipe(left)">
                                      <p:cBhvr>
                                        <p:cTn id="72" dur="500"/>
                                        <p:tgtEl>
                                          <p:spTgt spid="20499"/>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0500"/>
                                        </p:tgtEl>
                                        <p:attrNameLst>
                                          <p:attrName>style.visibility</p:attrName>
                                        </p:attrNameLst>
                                      </p:cBhvr>
                                      <p:to>
                                        <p:strVal val="visible"/>
                                      </p:to>
                                    </p:set>
                                    <p:animEffect transition="in" filter="wipe(left)">
                                      <p:cBhvr>
                                        <p:cTn id="77" dur="500"/>
                                        <p:tgtEl>
                                          <p:spTgt spid="20500"/>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49"/>
                                        </p:tgtEl>
                                        <p:attrNameLst>
                                          <p:attrName>style.visibility</p:attrName>
                                        </p:attrNameLst>
                                      </p:cBhvr>
                                      <p:to>
                                        <p:strVal val="visible"/>
                                      </p:to>
                                    </p:set>
                                    <p:animEffect transition="in" filter="wipe(left)">
                                      <p:cBhvr>
                                        <p:cTn id="82" dur="500"/>
                                        <p:tgtEl>
                                          <p:spTgt spid="49"/>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2"/>
                                        </p:tgtEl>
                                        <p:attrNameLst>
                                          <p:attrName>style.visibility</p:attrName>
                                        </p:attrNameLst>
                                      </p:cBhvr>
                                      <p:to>
                                        <p:strVal val="visible"/>
                                      </p:to>
                                    </p:set>
                                    <p:animEffect transition="in" filter="wipe(left)">
                                      <p:cBhvr>
                                        <p:cTn id="87" dur="500"/>
                                        <p:tgtEl>
                                          <p:spTgt spid="2"/>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51"/>
                                        </p:tgtEl>
                                        <p:attrNameLst>
                                          <p:attrName>style.visibility</p:attrName>
                                        </p:attrNameLst>
                                      </p:cBhvr>
                                      <p:to>
                                        <p:strVal val="visible"/>
                                      </p:to>
                                    </p:set>
                                    <p:animEffect transition="in" filter="wipe(left)">
                                      <p:cBhvr>
                                        <p:cTn id="92"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utoUpdateAnimBg="0"/>
      <p:bldP spid="20499" grpId="0"/>
      <p:bldP spid="20500" grpId="0"/>
      <p:bldP spid="49" grpId="0"/>
      <p:bldP spid="51" grpId="0"/>
      <p:bldP spid="2" grpId="0" animBg="1"/>
    </p:bld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31101" name="Object 29"/>
          <p:cNvGraphicFramePr>
            <a:graphicFrameLocks noGrp="1" noChangeAspect="1"/>
          </p:cNvGraphicFramePr>
          <p:nvPr>
            <p:ph sz="quarter" idx="1"/>
            <p:extLst>
              <p:ext uri="{D42A27DB-BD31-4B8C-83A1-F6EECF244321}">
                <p14:modId xmlns:p14="http://schemas.microsoft.com/office/powerpoint/2010/main" val="770022078"/>
              </p:ext>
            </p:extLst>
          </p:nvPr>
        </p:nvGraphicFramePr>
        <p:xfrm>
          <a:off x="2036129" y="2635081"/>
          <a:ext cx="273396" cy="250387"/>
        </p:xfrm>
        <a:graphic>
          <a:graphicData uri="http://schemas.openxmlformats.org/presentationml/2006/ole">
            <mc:AlternateContent xmlns:mc="http://schemas.openxmlformats.org/markup-compatibility/2006">
              <mc:Choice xmlns:v="urn:schemas-microsoft-com:vml" Requires="v">
                <p:oleObj name="Equation" r:id="rId2" imgW="152280" imgH="139680" progId="Equation.DSMT4">
                  <p:embed/>
                </p:oleObj>
              </mc:Choice>
              <mc:Fallback>
                <p:oleObj name="Equation" r:id="rId2" imgW="152280" imgH="139680" progId="Equation.DSMT4">
                  <p:embed/>
                  <p:pic>
                    <p:nvPicPr>
                      <p:cNvPr id="0" name=""/>
                      <p:cNvPicPr>
                        <a:picLocks noChangeAspect="1" noChangeArrowheads="1"/>
                      </p:cNvPicPr>
                      <p:nvPr/>
                    </p:nvPicPr>
                    <p:blipFill>
                      <a:blip r:embed="rId3"/>
                      <a:srcRect/>
                      <a:stretch>
                        <a:fillRect/>
                      </a:stretch>
                    </p:blipFill>
                    <p:spPr bwMode="auto">
                      <a:xfrm>
                        <a:off x="2036129" y="2635081"/>
                        <a:ext cx="273396" cy="250387"/>
                      </a:xfrm>
                      <a:prstGeom prst="rect">
                        <a:avLst/>
                      </a:prstGeom>
                      <a:noFill/>
                      <a:ln>
                        <a:noFill/>
                      </a:ln>
                      <a:effectLst/>
                    </p:spPr>
                  </p:pic>
                </p:oleObj>
              </mc:Fallback>
            </mc:AlternateContent>
          </a:graphicData>
        </a:graphic>
      </p:graphicFrame>
      <p:graphicFrame>
        <p:nvGraphicFramePr>
          <p:cNvPr id="131103" name="Object 31"/>
          <p:cNvGraphicFramePr>
            <a:graphicFrameLocks noGrp="1" noChangeAspect="1"/>
          </p:cNvGraphicFramePr>
          <p:nvPr>
            <p:ph sz="quarter" idx="2"/>
            <p:extLst>
              <p:ext uri="{D42A27DB-BD31-4B8C-83A1-F6EECF244321}">
                <p14:modId xmlns:p14="http://schemas.microsoft.com/office/powerpoint/2010/main" val="3973253700"/>
              </p:ext>
            </p:extLst>
          </p:nvPr>
        </p:nvGraphicFramePr>
        <p:xfrm>
          <a:off x="2372114" y="4998710"/>
          <a:ext cx="470115" cy="423285"/>
        </p:xfrm>
        <a:graphic>
          <a:graphicData uri="http://schemas.openxmlformats.org/presentationml/2006/ole">
            <mc:AlternateContent xmlns:mc="http://schemas.openxmlformats.org/markup-compatibility/2006">
              <mc:Choice xmlns:v="urn:schemas-microsoft-com:vml" Requires="v">
                <p:oleObj name="Equation" r:id="rId4" imgW="253800" imgH="228600" progId="Equation.DSMT4">
                  <p:embed/>
                </p:oleObj>
              </mc:Choice>
              <mc:Fallback>
                <p:oleObj name="Equation" r:id="rId4" imgW="253800" imgH="228600" progId="Equation.DSMT4">
                  <p:embed/>
                  <p:pic>
                    <p:nvPicPr>
                      <p:cNvPr id="0" name=""/>
                      <p:cNvPicPr>
                        <a:picLocks noChangeAspect="1" noChangeArrowheads="1"/>
                      </p:cNvPicPr>
                      <p:nvPr/>
                    </p:nvPicPr>
                    <p:blipFill>
                      <a:blip r:embed="rId5"/>
                      <a:srcRect/>
                      <a:stretch>
                        <a:fillRect/>
                      </a:stretch>
                    </p:blipFill>
                    <p:spPr bwMode="auto">
                      <a:xfrm>
                        <a:off x="2372114" y="4998710"/>
                        <a:ext cx="470115" cy="423285"/>
                      </a:xfrm>
                      <a:prstGeom prst="rect">
                        <a:avLst/>
                      </a:prstGeom>
                      <a:noFill/>
                      <a:ln>
                        <a:noFill/>
                      </a:ln>
                      <a:effectLst/>
                    </p:spPr>
                  </p:pic>
                </p:oleObj>
              </mc:Fallback>
            </mc:AlternateContent>
          </a:graphicData>
        </a:graphic>
      </p:graphicFrame>
      <p:graphicFrame>
        <p:nvGraphicFramePr>
          <p:cNvPr id="131161" name="Object 89"/>
          <p:cNvGraphicFramePr>
            <a:graphicFrameLocks noGrp="1" noChangeAspect="1"/>
          </p:cNvGraphicFramePr>
          <p:nvPr>
            <p:ph sz="quarter" idx="3"/>
            <p:extLst>
              <p:ext uri="{D42A27DB-BD31-4B8C-83A1-F6EECF244321}">
                <p14:modId xmlns:p14="http://schemas.microsoft.com/office/powerpoint/2010/main" val="2934962887"/>
              </p:ext>
            </p:extLst>
          </p:nvPr>
        </p:nvGraphicFramePr>
        <p:xfrm>
          <a:off x="4217988" y="4740275"/>
          <a:ext cx="2947987" cy="849313"/>
        </p:xfrm>
        <a:graphic>
          <a:graphicData uri="http://schemas.openxmlformats.org/presentationml/2006/ole">
            <mc:AlternateContent xmlns:mc="http://schemas.openxmlformats.org/markup-compatibility/2006">
              <mc:Choice xmlns:v="urn:schemas-microsoft-com:vml" Requires="v">
                <p:oleObj name="Equation" r:id="rId6" imgW="1587240" imgH="457200" progId="Equation.DSMT4">
                  <p:embed/>
                </p:oleObj>
              </mc:Choice>
              <mc:Fallback>
                <p:oleObj name="Equation" r:id="rId6" imgW="1587240" imgH="457200" progId="Equation.DSMT4">
                  <p:embed/>
                  <p:pic>
                    <p:nvPicPr>
                      <p:cNvPr id="0" name=""/>
                      <p:cNvPicPr>
                        <a:picLocks noChangeAspect="1" noChangeArrowheads="1"/>
                      </p:cNvPicPr>
                      <p:nvPr/>
                    </p:nvPicPr>
                    <p:blipFill>
                      <a:blip r:embed="rId7"/>
                      <a:srcRect/>
                      <a:stretch>
                        <a:fillRect/>
                      </a:stretch>
                    </p:blipFill>
                    <p:spPr bwMode="auto">
                      <a:xfrm>
                        <a:off x="4217988" y="4740275"/>
                        <a:ext cx="2947987" cy="849313"/>
                      </a:xfrm>
                      <a:prstGeom prst="rect">
                        <a:avLst/>
                      </a:prstGeom>
                      <a:noFill/>
                      <a:ln>
                        <a:noFill/>
                      </a:ln>
                      <a:effectLst/>
                    </p:spPr>
                  </p:pic>
                </p:oleObj>
              </mc:Fallback>
            </mc:AlternateContent>
          </a:graphicData>
        </a:graphic>
      </p:graphicFrame>
      <p:grpSp>
        <p:nvGrpSpPr>
          <p:cNvPr id="2" name="Group 5"/>
          <p:cNvGrpSpPr>
            <a:grpSpLocks/>
          </p:cNvGrpSpPr>
          <p:nvPr/>
        </p:nvGrpSpPr>
        <p:grpSpPr bwMode="auto">
          <a:xfrm>
            <a:off x="497234" y="985503"/>
            <a:ext cx="3311525" cy="230187"/>
            <a:chOff x="431" y="745"/>
            <a:chExt cx="1496" cy="145"/>
          </a:xfrm>
        </p:grpSpPr>
        <p:sp>
          <p:nvSpPr>
            <p:cNvPr id="5176" name="Line 6"/>
            <p:cNvSpPr>
              <a:spLocks noChangeShapeType="1"/>
            </p:cNvSpPr>
            <p:nvPr/>
          </p:nvSpPr>
          <p:spPr bwMode="auto">
            <a:xfrm>
              <a:off x="431" y="890"/>
              <a:ext cx="1496" cy="0"/>
            </a:xfrm>
            <a:prstGeom prst="line">
              <a:avLst/>
            </a:prstGeom>
            <a:noFill/>
            <a:ln w="38100">
              <a:solidFill>
                <a:srgbClr val="000000"/>
              </a:solidFill>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5177" name="Line 7"/>
            <p:cNvSpPr>
              <a:spLocks noChangeShapeType="1"/>
            </p:cNvSpPr>
            <p:nvPr/>
          </p:nvSpPr>
          <p:spPr bwMode="auto">
            <a:xfrm flipH="1">
              <a:off x="476" y="745"/>
              <a:ext cx="91" cy="136"/>
            </a:xfrm>
            <a:prstGeom prst="line">
              <a:avLst/>
            </a:prstGeom>
            <a:noFill/>
            <a:ln w="25400">
              <a:solidFill>
                <a:srgbClr val="000000"/>
              </a:solidFill>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5178" name="Line 8"/>
            <p:cNvSpPr>
              <a:spLocks noChangeShapeType="1"/>
            </p:cNvSpPr>
            <p:nvPr/>
          </p:nvSpPr>
          <p:spPr bwMode="auto">
            <a:xfrm flipH="1">
              <a:off x="640" y="745"/>
              <a:ext cx="91" cy="136"/>
            </a:xfrm>
            <a:prstGeom prst="line">
              <a:avLst/>
            </a:prstGeom>
            <a:noFill/>
            <a:ln w="25400">
              <a:solidFill>
                <a:srgbClr val="000000"/>
              </a:solidFill>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5179" name="Line 9"/>
            <p:cNvSpPr>
              <a:spLocks noChangeShapeType="1"/>
            </p:cNvSpPr>
            <p:nvPr/>
          </p:nvSpPr>
          <p:spPr bwMode="auto">
            <a:xfrm flipH="1">
              <a:off x="804" y="745"/>
              <a:ext cx="91" cy="136"/>
            </a:xfrm>
            <a:prstGeom prst="line">
              <a:avLst/>
            </a:prstGeom>
            <a:noFill/>
            <a:ln w="25400">
              <a:solidFill>
                <a:srgbClr val="000000"/>
              </a:solidFill>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5180" name="Line 10"/>
            <p:cNvSpPr>
              <a:spLocks noChangeShapeType="1"/>
            </p:cNvSpPr>
            <p:nvPr/>
          </p:nvSpPr>
          <p:spPr bwMode="auto">
            <a:xfrm flipH="1">
              <a:off x="969" y="745"/>
              <a:ext cx="91" cy="136"/>
            </a:xfrm>
            <a:prstGeom prst="line">
              <a:avLst/>
            </a:prstGeom>
            <a:noFill/>
            <a:ln w="25400">
              <a:solidFill>
                <a:srgbClr val="000000"/>
              </a:solidFill>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5181" name="Line 11"/>
            <p:cNvSpPr>
              <a:spLocks noChangeShapeType="1"/>
            </p:cNvSpPr>
            <p:nvPr/>
          </p:nvSpPr>
          <p:spPr bwMode="auto">
            <a:xfrm flipH="1">
              <a:off x="1133" y="745"/>
              <a:ext cx="91" cy="136"/>
            </a:xfrm>
            <a:prstGeom prst="line">
              <a:avLst/>
            </a:prstGeom>
            <a:noFill/>
            <a:ln w="25400">
              <a:solidFill>
                <a:srgbClr val="000000"/>
              </a:solidFill>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5182" name="Line 12"/>
            <p:cNvSpPr>
              <a:spLocks noChangeShapeType="1"/>
            </p:cNvSpPr>
            <p:nvPr/>
          </p:nvSpPr>
          <p:spPr bwMode="auto">
            <a:xfrm flipH="1">
              <a:off x="1297" y="745"/>
              <a:ext cx="90" cy="136"/>
            </a:xfrm>
            <a:prstGeom prst="line">
              <a:avLst/>
            </a:prstGeom>
            <a:noFill/>
            <a:ln w="25400">
              <a:solidFill>
                <a:srgbClr val="000000"/>
              </a:solidFill>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5183" name="Line 13"/>
            <p:cNvSpPr>
              <a:spLocks noChangeShapeType="1"/>
            </p:cNvSpPr>
            <p:nvPr/>
          </p:nvSpPr>
          <p:spPr bwMode="auto">
            <a:xfrm flipH="1">
              <a:off x="1462" y="745"/>
              <a:ext cx="91" cy="136"/>
            </a:xfrm>
            <a:prstGeom prst="line">
              <a:avLst/>
            </a:prstGeom>
            <a:noFill/>
            <a:ln w="25400">
              <a:solidFill>
                <a:srgbClr val="000000"/>
              </a:solidFill>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5184" name="Line 14"/>
            <p:cNvSpPr>
              <a:spLocks noChangeShapeType="1"/>
            </p:cNvSpPr>
            <p:nvPr/>
          </p:nvSpPr>
          <p:spPr bwMode="auto">
            <a:xfrm flipH="1">
              <a:off x="1626" y="745"/>
              <a:ext cx="91" cy="136"/>
            </a:xfrm>
            <a:prstGeom prst="line">
              <a:avLst/>
            </a:prstGeom>
            <a:noFill/>
            <a:ln w="25400">
              <a:solidFill>
                <a:srgbClr val="000000"/>
              </a:solidFill>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5185" name="Line 15"/>
            <p:cNvSpPr>
              <a:spLocks noChangeShapeType="1"/>
            </p:cNvSpPr>
            <p:nvPr/>
          </p:nvSpPr>
          <p:spPr bwMode="auto">
            <a:xfrm flipH="1">
              <a:off x="1791" y="745"/>
              <a:ext cx="91" cy="136"/>
            </a:xfrm>
            <a:prstGeom prst="line">
              <a:avLst/>
            </a:prstGeom>
            <a:noFill/>
            <a:ln w="25400">
              <a:solidFill>
                <a:srgbClr val="000000"/>
              </a:solidFill>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grpSp>
      <p:grpSp>
        <p:nvGrpSpPr>
          <p:cNvPr id="3" name="Group 56"/>
          <p:cNvGrpSpPr>
            <a:grpSpLocks/>
          </p:cNvGrpSpPr>
          <p:nvPr/>
        </p:nvGrpSpPr>
        <p:grpSpPr bwMode="auto">
          <a:xfrm>
            <a:off x="351014" y="1215690"/>
            <a:ext cx="588963" cy="2016125"/>
            <a:chOff x="60" y="890"/>
            <a:chExt cx="371" cy="1270"/>
          </a:xfrm>
        </p:grpSpPr>
        <p:sp>
          <p:nvSpPr>
            <p:cNvPr id="5173" name="Line 17"/>
            <p:cNvSpPr>
              <a:spLocks noChangeAspect="1" noChangeShapeType="1"/>
            </p:cNvSpPr>
            <p:nvPr/>
          </p:nvSpPr>
          <p:spPr bwMode="auto">
            <a:xfrm>
              <a:off x="113" y="2160"/>
              <a:ext cx="318" cy="0"/>
            </a:xfrm>
            <a:prstGeom prst="line">
              <a:avLst/>
            </a:prstGeom>
            <a:noFill/>
            <a:ln w="9525">
              <a:solidFill>
                <a:srgbClr val="000000"/>
              </a:solidFill>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5174" name="Line 18"/>
            <p:cNvSpPr>
              <a:spLocks noChangeShapeType="1"/>
            </p:cNvSpPr>
            <p:nvPr/>
          </p:nvSpPr>
          <p:spPr bwMode="auto">
            <a:xfrm>
              <a:off x="249" y="890"/>
              <a:ext cx="0" cy="1270"/>
            </a:xfrm>
            <a:prstGeom prst="line">
              <a:avLst/>
            </a:prstGeom>
            <a:noFill/>
            <a:ln w="9525">
              <a:solidFill>
                <a:srgbClr val="000000"/>
              </a:solidFill>
              <a:round/>
              <a:headEnd type="triangle" w="med" len="med"/>
              <a:tailEnd type="triangle" w="med" len="me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27703" name="Text Box 19"/>
            <p:cNvSpPr txBox="1">
              <a:spLocks noChangeArrowheads="1"/>
            </p:cNvSpPr>
            <p:nvPr/>
          </p:nvSpPr>
          <p:spPr bwMode="auto">
            <a:xfrm>
              <a:off x="60" y="1404"/>
              <a:ext cx="22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i="1" dirty="0">
                  <a:latin typeface="Times New Roman" panose="02020603050405020304" pitchFamily="18" charset="0"/>
                  <a:ea typeface="华文楷体" panose="02010600040101010101" pitchFamily="2" charset="-122"/>
                  <a:cs typeface="Times New Roman" panose="02020603050405020304" pitchFamily="18" charset="0"/>
                </a:rPr>
                <a:t>L</a:t>
              </a:r>
            </a:p>
          </p:txBody>
        </p:sp>
      </p:grpSp>
      <p:sp>
        <p:nvSpPr>
          <p:cNvPr id="131092" name="Line 20"/>
          <p:cNvSpPr>
            <a:spLocks noChangeShapeType="1"/>
          </p:cNvSpPr>
          <p:nvPr/>
        </p:nvSpPr>
        <p:spPr bwMode="auto">
          <a:xfrm>
            <a:off x="2008534" y="3304840"/>
            <a:ext cx="0" cy="504825"/>
          </a:xfrm>
          <a:prstGeom prst="line">
            <a:avLst/>
          </a:prstGeom>
          <a:noFill/>
          <a:ln w="38100">
            <a:solidFill>
              <a:srgbClr val="FF0000"/>
            </a:solidFill>
            <a:round/>
            <a:headEnd/>
            <a:tailEnd type="triangle" w="med" len="me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131093" name="Text Box 21"/>
          <p:cNvSpPr txBox="1">
            <a:spLocks noChangeArrowheads="1"/>
          </p:cNvSpPr>
          <p:nvPr/>
        </p:nvSpPr>
        <p:spPr bwMode="auto">
          <a:xfrm>
            <a:off x="1620391" y="3685551"/>
            <a:ext cx="360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i="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F</a:t>
            </a:r>
          </a:p>
        </p:txBody>
      </p:sp>
      <p:grpSp>
        <p:nvGrpSpPr>
          <p:cNvPr id="4" name="Group 55"/>
          <p:cNvGrpSpPr>
            <a:grpSpLocks/>
          </p:cNvGrpSpPr>
          <p:nvPr/>
        </p:nvGrpSpPr>
        <p:grpSpPr bwMode="auto">
          <a:xfrm>
            <a:off x="2008534" y="1215690"/>
            <a:ext cx="1330704" cy="2016125"/>
            <a:chOff x="1156" y="890"/>
            <a:chExt cx="635" cy="1270"/>
          </a:xfrm>
        </p:grpSpPr>
        <p:sp>
          <p:nvSpPr>
            <p:cNvPr id="5171" name="Line 23"/>
            <p:cNvSpPr>
              <a:spLocks noChangeShapeType="1"/>
            </p:cNvSpPr>
            <p:nvPr/>
          </p:nvSpPr>
          <p:spPr bwMode="auto">
            <a:xfrm flipH="1">
              <a:off x="1156" y="890"/>
              <a:ext cx="635" cy="1270"/>
            </a:xfrm>
            <a:prstGeom prst="line">
              <a:avLst/>
            </a:prstGeom>
            <a:noFill/>
            <a:ln w="12700">
              <a:solidFill>
                <a:srgbClr val="000000"/>
              </a:solidFill>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5172" name="Oval 24"/>
            <p:cNvSpPr>
              <a:spLocks noChangeArrowheads="1"/>
            </p:cNvSpPr>
            <p:nvPr/>
          </p:nvSpPr>
          <p:spPr bwMode="auto">
            <a:xfrm>
              <a:off x="1719" y="890"/>
              <a:ext cx="69" cy="91"/>
            </a:xfrm>
            <a:prstGeom prst="ellipse">
              <a:avLst/>
            </a:prstGeom>
            <a:solidFill>
              <a:schemeClr val="accent1"/>
            </a:solidFill>
            <a:ln w="9525">
              <a:solidFill>
                <a:srgbClr val="000000"/>
              </a:solidFill>
              <a:round/>
              <a:headEnd/>
              <a:tailEnd/>
            </a:ln>
          </p:spPr>
          <p:txBody>
            <a:bodyPr wrap="none" anchor="ct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grpSp>
      <p:grpSp>
        <p:nvGrpSpPr>
          <p:cNvPr id="5" name="Group 28"/>
          <p:cNvGrpSpPr>
            <a:grpSpLocks/>
          </p:cNvGrpSpPr>
          <p:nvPr/>
        </p:nvGrpSpPr>
        <p:grpSpPr bwMode="auto">
          <a:xfrm>
            <a:off x="756718" y="1215690"/>
            <a:ext cx="1251816" cy="2016125"/>
            <a:chOff x="639" y="881"/>
            <a:chExt cx="517" cy="1279"/>
          </a:xfrm>
        </p:grpSpPr>
        <p:sp>
          <p:nvSpPr>
            <p:cNvPr id="5169" name="Line 22"/>
            <p:cNvSpPr>
              <a:spLocks noChangeShapeType="1"/>
            </p:cNvSpPr>
            <p:nvPr/>
          </p:nvSpPr>
          <p:spPr bwMode="auto">
            <a:xfrm>
              <a:off x="657" y="890"/>
              <a:ext cx="499" cy="1270"/>
            </a:xfrm>
            <a:prstGeom prst="line">
              <a:avLst/>
            </a:prstGeom>
            <a:noFill/>
            <a:ln w="12700">
              <a:solidFill>
                <a:srgbClr val="000000"/>
              </a:solidFill>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5170" name="Oval 25"/>
            <p:cNvSpPr>
              <a:spLocks noChangeArrowheads="1"/>
            </p:cNvSpPr>
            <p:nvPr/>
          </p:nvSpPr>
          <p:spPr bwMode="auto">
            <a:xfrm>
              <a:off x="639" y="881"/>
              <a:ext cx="59" cy="91"/>
            </a:xfrm>
            <a:prstGeom prst="ellipse">
              <a:avLst/>
            </a:prstGeom>
            <a:solidFill>
              <a:schemeClr val="accent1"/>
            </a:solidFill>
            <a:ln w="9525">
              <a:solidFill>
                <a:srgbClr val="000000"/>
              </a:solidFill>
              <a:round/>
              <a:headEnd/>
              <a:tailEnd/>
            </a:ln>
          </p:spPr>
          <p:txBody>
            <a:bodyPr wrap="none" anchor="ct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grpSp>
      <p:sp>
        <p:nvSpPr>
          <p:cNvPr id="131098" name="Oval 26"/>
          <p:cNvSpPr>
            <a:spLocks noChangeAspect="1" noChangeArrowheads="1"/>
          </p:cNvSpPr>
          <p:nvPr/>
        </p:nvSpPr>
        <p:spPr bwMode="auto">
          <a:xfrm>
            <a:off x="1938684" y="3160378"/>
            <a:ext cx="142875" cy="142875"/>
          </a:xfrm>
          <a:prstGeom prst="ellipse">
            <a:avLst/>
          </a:prstGeom>
          <a:solidFill>
            <a:schemeClr val="accent1"/>
          </a:solidFill>
          <a:ln w="9525">
            <a:solidFill>
              <a:srgbClr val="000000"/>
            </a:solidFill>
            <a:round/>
            <a:headEnd/>
            <a:tailEnd/>
          </a:ln>
        </p:spPr>
        <p:txBody>
          <a:bodyPr wrap="none" anchor="ct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131099" name="Line 27"/>
          <p:cNvSpPr>
            <a:spLocks noChangeShapeType="1"/>
          </p:cNvSpPr>
          <p:nvPr/>
        </p:nvSpPr>
        <p:spPr bwMode="auto">
          <a:xfrm flipV="1">
            <a:off x="2008534" y="1215690"/>
            <a:ext cx="0" cy="1944688"/>
          </a:xfrm>
          <a:prstGeom prst="line">
            <a:avLst/>
          </a:prstGeom>
          <a:noFill/>
          <a:ln w="12700">
            <a:solidFill>
              <a:schemeClr val="tx1"/>
            </a:solidFill>
            <a:prstDash val="dash"/>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graphicFrame>
        <p:nvGraphicFramePr>
          <p:cNvPr id="131116" name="Object 44"/>
          <p:cNvGraphicFramePr>
            <a:graphicFrameLocks noChangeAspect="1"/>
          </p:cNvGraphicFramePr>
          <p:nvPr>
            <p:extLst>
              <p:ext uri="{D42A27DB-BD31-4B8C-83A1-F6EECF244321}">
                <p14:modId xmlns:p14="http://schemas.microsoft.com/office/powerpoint/2010/main" val="3680344805"/>
              </p:ext>
            </p:extLst>
          </p:nvPr>
        </p:nvGraphicFramePr>
        <p:xfrm>
          <a:off x="1733166" y="2614949"/>
          <a:ext cx="289166" cy="269540"/>
        </p:xfrm>
        <a:graphic>
          <a:graphicData uri="http://schemas.openxmlformats.org/presentationml/2006/ole">
            <mc:AlternateContent xmlns:mc="http://schemas.openxmlformats.org/markup-compatibility/2006">
              <mc:Choice xmlns:v="urn:schemas-microsoft-com:vml" Requires="v">
                <p:oleObj name="Equation" r:id="rId8" imgW="152280" imgH="139680" progId="Equation.DSMT4">
                  <p:embed/>
                </p:oleObj>
              </mc:Choice>
              <mc:Fallback>
                <p:oleObj name="Equation" r:id="rId8" imgW="152280" imgH="139680" progId="Equation.DSMT4">
                  <p:embed/>
                  <p:pic>
                    <p:nvPicPr>
                      <p:cNvPr id="0" name=""/>
                      <p:cNvPicPr>
                        <a:picLocks noChangeAspect="1" noChangeArrowheads="1"/>
                      </p:cNvPicPr>
                      <p:nvPr/>
                    </p:nvPicPr>
                    <p:blipFill>
                      <a:blip r:embed="rId9"/>
                      <a:srcRect/>
                      <a:stretch>
                        <a:fillRect/>
                      </a:stretch>
                    </p:blipFill>
                    <p:spPr bwMode="auto">
                      <a:xfrm>
                        <a:off x="1733166" y="2614949"/>
                        <a:ext cx="289166" cy="269540"/>
                      </a:xfrm>
                      <a:prstGeom prst="rect">
                        <a:avLst/>
                      </a:prstGeom>
                      <a:noFill/>
                      <a:ln>
                        <a:noFill/>
                      </a:ln>
                      <a:effectLst/>
                    </p:spPr>
                  </p:pic>
                </p:oleObj>
              </mc:Fallback>
            </mc:AlternateContent>
          </a:graphicData>
        </a:graphic>
      </p:graphicFrame>
      <p:sp>
        <p:nvSpPr>
          <p:cNvPr id="131118" name="Text Box 46"/>
          <p:cNvSpPr txBox="1">
            <a:spLocks noChangeArrowheads="1"/>
          </p:cNvSpPr>
          <p:nvPr/>
        </p:nvSpPr>
        <p:spPr bwMode="auto">
          <a:xfrm>
            <a:off x="2081559" y="2944478"/>
            <a:ext cx="360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i="1" dirty="0">
                <a:latin typeface="Times New Roman" panose="02020603050405020304" pitchFamily="18" charset="0"/>
                <a:ea typeface="华文楷体" panose="02010600040101010101" pitchFamily="2" charset="-122"/>
                <a:cs typeface="Times New Roman" panose="02020603050405020304" pitchFamily="18" charset="0"/>
              </a:rPr>
              <a:t>A</a:t>
            </a:r>
          </a:p>
        </p:txBody>
      </p:sp>
      <p:sp>
        <p:nvSpPr>
          <p:cNvPr id="131120" name="Rectangle 48"/>
          <p:cNvSpPr>
            <a:spLocks noChangeArrowheads="1"/>
          </p:cNvSpPr>
          <p:nvPr/>
        </p:nvSpPr>
        <p:spPr bwMode="auto">
          <a:xfrm>
            <a:off x="323850" y="453211"/>
            <a:ext cx="2735982" cy="461962"/>
          </a:xfrm>
          <a:prstGeom prst="rect">
            <a:avLst/>
          </a:prstGeom>
          <a:noFill/>
          <a:ln w="9525">
            <a:noFill/>
            <a:miter lim="800000"/>
            <a:headEnd/>
            <a:tailEnd/>
          </a:ln>
        </p:spPr>
        <p:txBody>
          <a:bodyPr wrap="square" lIns="92075" tIns="46038" rIns="92075" bIns="46038">
            <a:spAutoFit/>
          </a:bodyPr>
          <a:lstStyle/>
          <a:p>
            <a:pPr eaLnBrk="0" hangingPunct="0">
              <a:defRPr/>
            </a:pPr>
            <a:r>
              <a:rPr kumimoji="1" lang="zh-CN" altLang="en-US" sz="2400" b="1" dirty="0">
                <a:latin typeface="Times New Roman" pitchFamily="18" charset="0"/>
                <a:ea typeface="华文楷体" pitchFamily="2" charset="-122"/>
                <a:cs typeface="Times New Roman" pitchFamily="18" charset="0"/>
              </a:rPr>
              <a:t>计算图示</a:t>
            </a:r>
            <a:r>
              <a:rPr kumimoji="1" lang="en-US" altLang="zh-CN" sz="2400" i="1" dirty="0">
                <a:latin typeface="Times New Roman" pitchFamily="18" charset="0"/>
                <a:ea typeface="华文楷体" pitchFamily="2" charset="-122"/>
                <a:cs typeface="Times New Roman" pitchFamily="18" charset="0"/>
              </a:rPr>
              <a:t>A</a:t>
            </a:r>
            <a:r>
              <a:rPr kumimoji="1" lang="zh-CN" altLang="en-US" sz="2400" b="1" dirty="0">
                <a:latin typeface="Times New Roman" pitchFamily="18" charset="0"/>
                <a:ea typeface="华文楷体" pitchFamily="2" charset="-122"/>
                <a:cs typeface="Times New Roman" pitchFamily="18" charset="0"/>
              </a:rPr>
              <a:t>点位移 </a:t>
            </a:r>
          </a:p>
        </p:txBody>
      </p:sp>
      <p:sp>
        <p:nvSpPr>
          <p:cNvPr id="131121" name="Rectangle 49"/>
          <p:cNvSpPr>
            <a:spLocks noChangeArrowheads="1"/>
          </p:cNvSpPr>
          <p:nvPr/>
        </p:nvSpPr>
        <p:spPr bwMode="auto">
          <a:xfrm>
            <a:off x="3334327" y="453211"/>
            <a:ext cx="4968875" cy="461962"/>
          </a:xfrm>
          <a:prstGeom prst="rect">
            <a:avLst/>
          </a:prstGeom>
          <a:noFill/>
          <a:ln w="9525">
            <a:noFill/>
            <a:miter lim="800000"/>
            <a:headEnd/>
            <a:tailEnd/>
          </a:ln>
        </p:spPr>
        <p:txBody>
          <a:bodyPr lIns="92075" tIns="46038" rIns="92075" bIns="46038">
            <a:spAutoFit/>
          </a:bodyPr>
          <a:lstStyle/>
          <a:p>
            <a:pPr eaLnBrk="0" hangingPunct="0">
              <a:defRPr/>
            </a:pPr>
            <a:r>
              <a:rPr kumimoji="1" lang="zh-CN" altLang="en-US" sz="2400" b="1" dirty="0">
                <a:solidFill>
                  <a:srgbClr val="FF0000"/>
                </a:solidFill>
                <a:latin typeface="Times New Roman" pitchFamily="18" charset="0"/>
                <a:ea typeface="华文楷体" pitchFamily="2" charset="-122"/>
                <a:cs typeface="Times New Roman" pitchFamily="18" charset="0"/>
              </a:rPr>
              <a:t>已知：</a:t>
            </a:r>
            <a:r>
              <a:rPr kumimoji="1" lang="en-US" altLang="zh-CN" sz="2400" i="1" dirty="0">
                <a:latin typeface="Times New Roman" pitchFamily="18" charset="0"/>
                <a:ea typeface="华文楷体" pitchFamily="2" charset="-122"/>
                <a:cs typeface="Times New Roman" pitchFamily="18" charset="0"/>
              </a:rPr>
              <a:t>L</a:t>
            </a:r>
            <a:r>
              <a:rPr kumimoji="1" lang="zh-CN" altLang="en-US" sz="2400" dirty="0">
                <a:latin typeface="Times New Roman" pitchFamily="18" charset="0"/>
                <a:ea typeface="华文楷体" pitchFamily="2" charset="-122"/>
                <a:cs typeface="Times New Roman" pitchFamily="18" charset="0"/>
              </a:rPr>
              <a:t>，</a:t>
            </a:r>
            <a:r>
              <a:rPr kumimoji="1" lang="en-US" altLang="zh-CN" sz="2400" i="1" dirty="0">
                <a:latin typeface="Times New Roman" pitchFamily="18" charset="0"/>
                <a:ea typeface="华文楷体" pitchFamily="2" charset="-122"/>
                <a:cs typeface="Times New Roman" pitchFamily="18" charset="0"/>
              </a:rPr>
              <a:t>F</a:t>
            </a:r>
            <a:r>
              <a:rPr kumimoji="1" lang="zh-CN" altLang="en-US" sz="2400" dirty="0">
                <a:latin typeface="Times New Roman" pitchFamily="18" charset="0"/>
                <a:ea typeface="华文楷体" pitchFamily="2" charset="-122"/>
                <a:cs typeface="Times New Roman" pitchFamily="18" charset="0"/>
              </a:rPr>
              <a:t>，</a:t>
            </a:r>
            <a:r>
              <a:rPr kumimoji="1" lang="en-US" altLang="zh-CN" sz="2400" i="1" dirty="0">
                <a:latin typeface="Times New Roman" pitchFamily="18" charset="0"/>
                <a:ea typeface="华文楷体" pitchFamily="2" charset="-122"/>
                <a:cs typeface="Times New Roman" pitchFamily="18" charset="0"/>
              </a:rPr>
              <a:t>A</a:t>
            </a:r>
            <a:r>
              <a:rPr kumimoji="1" lang="en-US" altLang="zh-CN" sz="1600" dirty="0">
                <a:latin typeface="Times New Roman" pitchFamily="18" charset="0"/>
                <a:ea typeface="华文楷体" pitchFamily="2" charset="-122"/>
                <a:cs typeface="Times New Roman" pitchFamily="18" charset="0"/>
              </a:rPr>
              <a:t>1</a:t>
            </a:r>
            <a:r>
              <a:rPr kumimoji="1" lang="zh-CN" altLang="en-US" sz="2400" dirty="0">
                <a:latin typeface="Times New Roman" pitchFamily="18" charset="0"/>
                <a:ea typeface="华文楷体" pitchFamily="2" charset="-122"/>
                <a:cs typeface="Times New Roman" pitchFamily="18" charset="0"/>
              </a:rPr>
              <a:t>，</a:t>
            </a:r>
            <a:r>
              <a:rPr kumimoji="1" lang="en-US" altLang="zh-CN" sz="2400" i="1" dirty="0">
                <a:latin typeface="Times New Roman" pitchFamily="18" charset="0"/>
                <a:ea typeface="华文楷体" pitchFamily="2" charset="-122"/>
                <a:cs typeface="Times New Roman" pitchFamily="18" charset="0"/>
              </a:rPr>
              <a:t>A</a:t>
            </a:r>
            <a:r>
              <a:rPr kumimoji="1" lang="en-US" altLang="zh-CN" sz="1600" dirty="0">
                <a:latin typeface="Times New Roman" pitchFamily="18" charset="0"/>
                <a:ea typeface="华文楷体" pitchFamily="2" charset="-122"/>
                <a:cs typeface="Times New Roman" pitchFamily="18" charset="0"/>
              </a:rPr>
              <a:t>2</a:t>
            </a:r>
            <a:r>
              <a:rPr kumimoji="1" lang="zh-CN" altLang="en-US" sz="2400" dirty="0">
                <a:latin typeface="Times New Roman" pitchFamily="18" charset="0"/>
                <a:ea typeface="华文楷体" pitchFamily="2" charset="-122"/>
                <a:cs typeface="Times New Roman" pitchFamily="18" charset="0"/>
              </a:rPr>
              <a:t>，</a:t>
            </a:r>
            <a:r>
              <a:rPr kumimoji="1" lang="zh-CN" altLang="en-US" sz="2400" i="1" dirty="0">
                <a:latin typeface="Times New Roman" pitchFamily="18" charset="0"/>
                <a:ea typeface="华文楷体" pitchFamily="2" charset="-122"/>
                <a:cs typeface="Times New Roman" pitchFamily="18" charset="0"/>
              </a:rPr>
              <a:t> </a:t>
            </a:r>
            <a:r>
              <a:rPr kumimoji="1" lang="en-US" altLang="zh-CN" sz="2400" i="1" dirty="0">
                <a:latin typeface="Times New Roman" pitchFamily="18" charset="0"/>
                <a:ea typeface="华文楷体" pitchFamily="2" charset="-122"/>
                <a:cs typeface="Times New Roman" pitchFamily="18" charset="0"/>
              </a:rPr>
              <a:t>E</a:t>
            </a:r>
            <a:r>
              <a:rPr kumimoji="1" lang="en-US" altLang="zh-CN" baseline="-25000" dirty="0">
                <a:latin typeface="Times New Roman" pitchFamily="18" charset="0"/>
                <a:ea typeface="华文楷体" pitchFamily="2" charset="-122"/>
                <a:cs typeface="Times New Roman" pitchFamily="18" charset="0"/>
              </a:rPr>
              <a:t>1</a:t>
            </a:r>
            <a:r>
              <a:rPr kumimoji="1" lang="zh-CN" altLang="en-US" dirty="0">
                <a:latin typeface="Times New Roman" pitchFamily="18" charset="0"/>
                <a:ea typeface="华文楷体" pitchFamily="2" charset="-122"/>
                <a:cs typeface="Times New Roman" pitchFamily="18" charset="0"/>
              </a:rPr>
              <a:t>，</a:t>
            </a:r>
            <a:r>
              <a:rPr kumimoji="1" lang="en-US" altLang="zh-CN" sz="2400" i="1" dirty="0">
                <a:latin typeface="Times New Roman" pitchFamily="18" charset="0"/>
                <a:ea typeface="华文楷体" pitchFamily="2" charset="-122"/>
                <a:cs typeface="Times New Roman" pitchFamily="18" charset="0"/>
              </a:rPr>
              <a:t>E</a:t>
            </a:r>
            <a:r>
              <a:rPr kumimoji="1" lang="en-US" altLang="zh-CN" baseline="-25000" dirty="0">
                <a:latin typeface="Times New Roman" pitchFamily="18" charset="0"/>
                <a:ea typeface="华文楷体" pitchFamily="2" charset="-122"/>
                <a:cs typeface="Times New Roman" pitchFamily="18" charset="0"/>
              </a:rPr>
              <a:t>2</a:t>
            </a:r>
          </a:p>
        </p:txBody>
      </p:sp>
      <p:sp>
        <p:nvSpPr>
          <p:cNvPr id="131123" name="Rectangle 51"/>
          <p:cNvSpPr>
            <a:spLocks noChangeArrowheads="1"/>
          </p:cNvSpPr>
          <p:nvPr/>
        </p:nvSpPr>
        <p:spPr bwMode="auto">
          <a:xfrm>
            <a:off x="4591665" y="835000"/>
            <a:ext cx="1081087" cy="461962"/>
          </a:xfrm>
          <a:prstGeom prst="rect">
            <a:avLst/>
          </a:prstGeom>
          <a:noFill/>
          <a:ln w="9525">
            <a:noFill/>
            <a:miter lim="800000"/>
            <a:headEnd/>
            <a:tailEnd/>
          </a:ln>
        </p:spPr>
        <p:txBody>
          <a:bodyPr lIns="92075" tIns="46038" rIns="92075" bIns="46038">
            <a:spAutoFit/>
          </a:bodyPr>
          <a:lstStyle/>
          <a:p>
            <a:pPr eaLnBrk="0" hangingPunct="0">
              <a:defRPr/>
            </a:pPr>
            <a:r>
              <a:rPr kumimoji="1" lang="zh-CN" altLang="en-US" sz="2400" b="1" dirty="0">
                <a:solidFill>
                  <a:srgbClr val="FF0000"/>
                </a:solidFill>
                <a:latin typeface="Times New Roman" pitchFamily="18" charset="0"/>
                <a:ea typeface="华文楷体" pitchFamily="2" charset="-122"/>
                <a:cs typeface="Times New Roman" pitchFamily="18" charset="0"/>
              </a:rPr>
              <a:t>求：</a:t>
            </a:r>
          </a:p>
        </p:txBody>
      </p:sp>
      <p:graphicFrame>
        <p:nvGraphicFramePr>
          <p:cNvPr id="131124" name="Object 52"/>
          <p:cNvGraphicFramePr>
            <a:graphicFrameLocks noChangeAspect="1"/>
          </p:cNvGraphicFramePr>
          <p:nvPr>
            <p:extLst>
              <p:ext uri="{D42A27DB-BD31-4B8C-83A1-F6EECF244321}">
                <p14:modId xmlns:p14="http://schemas.microsoft.com/office/powerpoint/2010/main" val="2754716144"/>
              </p:ext>
            </p:extLst>
          </p:nvPr>
        </p:nvGraphicFramePr>
        <p:xfrm>
          <a:off x="5216428" y="888233"/>
          <a:ext cx="574675" cy="358775"/>
        </p:xfrm>
        <a:graphic>
          <a:graphicData uri="http://schemas.openxmlformats.org/presentationml/2006/ole">
            <mc:AlternateContent xmlns:mc="http://schemas.openxmlformats.org/markup-compatibility/2006">
              <mc:Choice xmlns:v="urn:schemas-microsoft-com:vml" Requires="v">
                <p:oleObj name="公式" r:id="rId10" imgW="228501" imgH="165028" progId="Equation.3">
                  <p:embed/>
                </p:oleObj>
              </mc:Choice>
              <mc:Fallback>
                <p:oleObj name="公式" r:id="rId10" imgW="228501" imgH="165028"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216428" y="888233"/>
                        <a:ext cx="574675" cy="358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1125" name="Rectangle 53"/>
          <p:cNvSpPr>
            <a:spLocks noChangeArrowheads="1"/>
          </p:cNvSpPr>
          <p:nvPr/>
        </p:nvSpPr>
        <p:spPr bwMode="auto">
          <a:xfrm>
            <a:off x="4112938" y="1390650"/>
            <a:ext cx="1057170" cy="462307"/>
          </a:xfrm>
          <a:prstGeom prst="rect">
            <a:avLst/>
          </a:prstGeom>
          <a:noFill/>
          <a:ln w="9525">
            <a:noFill/>
            <a:miter lim="800000"/>
            <a:headEnd/>
            <a:tailEnd/>
          </a:ln>
        </p:spPr>
        <p:txBody>
          <a:bodyPr wrap="square" lIns="92075" tIns="46038" rIns="92075" bIns="46038">
            <a:spAutoFit/>
          </a:bodyPr>
          <a:lstStyle/>
          <a:p>
            <a:pPr eaLnBrk="0" hangingPunct="0">
              <a:defRPr/>
            </a:pPr>
            <a:r>
              <a:rPr kumimoji="1" lang="zh-CN" altLang="en-US" sz="2400" b="1" dirty="0">
                <a:solidFill>
                  <a:srgbClr val="0000FF"/>
                </a:solidFill>
                <a:latin typeface="Times New Roman" pitchFamily="18" charset="0"/>
                <a:ea typeface="华文楷体" pitchFamily="2" charset="-122"/>
                <a:cs typeface="Times New Roman" pitchFamily="18" charset="0"/>
              </a:rPr>
              <a:t>解</a:t>
            </a:r>
            <a:r>
              <a:rPr kumimoji="1" lang="en-US" altLang="zh-CN" sz="2400" b="1" dirty="0">
                <a:solidFill>
                  <a:srgbClr val="0000FF"/>
                </a:solidFill>
                <a:latin typeface="Times New Roman" pitchFamily="18" charset="0"/>
                <a:ea typeface="华文楷体" pitchFamily="2" charset="-122"/>
                <a:cs typeface="Times New Roman" pitchFamily="18" charset="0"/>
              </a:rPr>
              <a:t>1</a:t>
            </a:r>
            <a:r>
              <a:rPr kumimoji="1" lang="zh-CN" altLang="en-US" sz="2400" b="1" dirty="0">
                <a:solidFill>
                  <a:srgbClr val="0000FF"/>
                </a:solidFill>
                <a:latin typeface="Times New Roman" pitchFamily="18" charset="0"/>
                <a:ea typeface="华文楷体" pitchFamily="2" charset="-122"/>
                <a:cs typeface="Times New Roman" pitchFamily="18" charset="0"/>
              </a:rPr>
              <a:t>：</a:t>
            </a:r>
          </a:p>
        </p:txBody>
      </p:sp>
      <p:sp>
        <p:nvSpPr>
          <p:cNvPr id="131126" name="Rectangle 54"/>
          <p:cNvSpPr>
            <a:spLocks noChangeArrowheads="1"/>
          </p:cNvSpPr>
          <p:nvPr/>
        </p:nvSpPr>
        <p:spPr bwMode="auto">
          <a:xfrm>
            <a:off x="4940820" y="1391409"/>
            <a:ext cx="2836863" cy="461963"/>
          </a:xfrm>
          <a:prstGeom prst="rect">
            <a:avLst/>
          </a:prstGeom>
          <a:noFill/>
          <a:ln w="9525">
            <a:noFill/>
            <a:miter lim="800000"/>
            <a:headEnd/>
            <a:tailEnd/>
          </a:ln>
        </p:spPr>
        <p:txBody>
          <a:bodyPr lIns="92075" tIns="46038" rIns="92075" bIns="46038">
            <a:spAutoFit/>
          </a:bodyPr>
          <a:lstStyle/>
          <a:p>
            <a:pPr eaLnBrk="0" hangingPunct="0">
              <a:defRPr/>
            </a:pPr>
            <a:r>
              <a:rPr kumimoji="1" lang="en-US" altLang="zh-CN" sz="2400" b="1" dirty="0">
                <a:solidFill>
                  <a:srgbClr val="0000FF"/>
                </a:solidFill>
                <a:latin typeface="Times New Roman" pitchFamily="18" charset="0"/>
                <a:ea typeface="华文楷体" pitchFamily="2" charset="-122"/>
                <a:cs typeface="Times New Roman" pitchFamily="18" charset="0"/>
              </a:rPr>
              <a:t>1</a:t>
            </a:r>
            <a:r>
              <a:rPr kumimoji="1" lang="zh-CN" altLang="en-US" sz="2400" b="1" dirty="0">
                <a:solidFill>
                  <a:srgbClr val="0000FF"/>
                </a:solidFill>
                <a:latin typeface="Times New Roman" pitchFamily="18" charset="0"/>
                <a:ea typeface="华文楷体" pitchFamily="2" charset="-122"/>
                <a:cs typeface="Times New Roman" pitchFamily="18" charset="0"/>
              </a:rPr>
              <a:t>、圆弧定交点</a:t>
            </a:r>
            <a:r>
              <a:rPr kumimoji="1" lang="en-US" altLang="zh-CN" sz="2400" i="1" dirty="0">
                <a:solidFill>
                  <a:srgbClr val="0000FF"/>
                </a:solidFill>
                <a:latin typeface="Times New Roman" pitchFamily="18" charset="0"/>
                <a:ea typeface="华文楷体" pitchFamily="2" charset="-122"/>
                <a:cs typeface="Times New Roman" pitchFamily="18" charset="0"/>
              </a:rPr>
              <a:t>A</a:t>
            </a:r>
            <a:r>
              <a:rPr kumimoji="1" lang="en-US" altLang="zh-CN" sz="2400" b="1" dirty="0">
                <a:solidFill>
                  <a:srgbClr val="0000FF"/>
                </a:solidFill>
                <a:latin typeface="Times New Roman" pitchFamily="18" charset="0"/>
                <a:ea typeface="华文楷体" pitchFamily="2" charset="-122"/>
                <a:cs typeface="Times New Roman" pitchFamily="18" charset="0"/>
              </a:rPr>
              <a:t>′</a:t>
            </a:r>
          </a:p>
        </p:txBody>
      </p:sp>
      <p:sp>
        <p:nvSpPr>
          <p:cNvPr id="131131" name="Line 59"/>
          <p:cNvSpPr>
            <a:spLocks noChangeAspect="1" noChangeShapeType="1"/>
          </p:cNvSpPr>
          <p:nvPr/>
        </p:nvSpPr>
        <p:spPr bwMode="auto">
          <a:xfrm>
            <a:off x="2008534" y="3231815"/>
            <a:ext cx="382588" cy="635000"/>
          </a:xfrm>
          <a:prstGeom prst="line">
            <a:avLst/>
          </a:prstGeom>
          <a:noFill/>
          <a:ln w="25400">
            <a:solidFill>
              <a:srgbClr val="0000FF"/>
            </a:solidFill>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131134" name="Line 62"/>
          <p:cNvSpPr>
            <a:spLocks noChangeAspect="1" noChangeShapeType="1"/>
          </p:cNvSpPr>
          <p:nvPr/>
        </p:nvSpPr>
        <p:spPr bwMode="auto">
          <a:xfrm flipH="1">
            <a:off x="1721197" y="3231815"/>
            <a:ext cx="284162" cy="431800"/>
          </a:xfrm>
          <a:prstGeom prst="line">
            <a:avLst/>
          </a:prstGeom>
          <a:noFill/>
          <a:ln w="25400">
            <a:solidFill>
              <a:srgbClr val="FF0000"/>
            </a:solidFill>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131136" name="Arc 64"/>
          <p:cNvSpPr>
            <a:spLocks/>
          </p:cNvSpPr>
          <p:nvPr/>
        </p:nvSpPr>
        <p:spPr bwMode="auto">
          <a:xfrm rot="1043328" flipV="1">
            <a:off x="1042988" y="2634133"/>
            <a:ext cx="1727200" cy="1871663"/>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FF6600"/>
            </a:solidFill>
            <a:round/>
            <a:headEnd/>
            <a:tailEnd/>
          </a:ln>
        </p:spPr>
        <p:txBody>
          <a:bodyPr wrap="none" anchor="ct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131137" name="Arc 65"/>
          <p:cNvSpPr>
            <a:spLocks/>
          </p:cNvSpPr>
          <p:nvPr/>
        </p:nvSpPr>
        <p:spPr bwMode="auto">
          <a:xfrm rot="4040024" flipV="1">
            <a:off x="1255265" y="2773822"/>
            <a:ext cx="1652587" cy="1295400"/>
          </a:xfrm>
          <a:custGeom>
            <a:avLst/>
            <a:gdLst>
              <a:gd name="T0" fmla="*/ 0 w 21542"/>
              <a:gd name="T1" fmla="*/ 0 h 21600"/>
              <a:gd name="T2" fmla="*/ 2147483647 w 21542"/>
              <a:gd name="T3" fmla="*/ 2147483647 h 21600"/>
              <a:gd name="T4" fmla="*/ 0 w 21542"/>
              <a:gd name="T5" fmla="*/ 2147483647 h 21600"/>
              <a:gd name="T6" fmla="*/ 0 60000 65536"/>
              <a:gd name="T7" fmla="*/ 0 60000 65536"/>
              <a:gd name="T8" fmla="*/ 0 60000 65536"/>
              <a:gd name="T9" fmla="*/ 0 w 21542"/>
              <a:gd name="T10" fmla="*/ 0 h 21600"/>
              <a:gd name="T11" fmla="*/ 21542 w 21542"/>
              <a:gd name="T12" fmla="*/ 21600 h 21600"/>
            </a:gdLst>
            <a:ahLst/>
            <a:cxnLst>
              <a:cxn ang="T6">
                <a:pos x="T0" y="T1"/>
              </a:cxn>
              <a:cxn ang="T7">
                <a:pos x="T2" y="T3"/>
              </a:cxn>
              <a:cxn ang="T8">
                <a:pos x="T4" y="T5"/>
              </a:cxn>
            </a:cxnLst>
            <a:rect l="T9" t="T10" r="T11" b="T12"/>
            <a:pathLst>
              <a:path w="21542" h="21600" fill="none" extrusionOk="0">
                <a:moveTo>
                  <a:pt x="-1" y="0"/>
                </a:moveTo>
                <a:cubicBezTo>
                  <a:pt x="11315" y="0"/>
                  <a:pt x="20713" y="8733"/>
                  <a:pt x="21542" y="20018"/>
                </a:cubicBezTo>
              </a:path>
              <a:path w="21542" h="21600" stroke="0" extrusionOk="0">
                <a:moveTo>
                  <a:pt x="-1" y="0"/>
                </a:moveTo>
                <a:cubicBezTo>
                  <a:pt x="11315" y="0"/>
                  <a:pt x="20713" y="8733"/>
                  <a:pt x="21542" y="20018"/>
                </a:cubicBezTo>
                <a:lnTo>
                  <a:pt x="0" y="21600"/>
                </a:lnTo>
                <a:close/>
              </a:path>
            </a:pathLst>
          </a:custGeom>
          <a:noFill/>
          <a:ln w="9525">
            <a:solidFill>
              <a:srgbClr val="FF0000"/>
            </a:solidFill>
            <a:round/>
            <a:headEnd/>
            <a:tailEnd/>
          </a:ln>
        </p:spPr>
        <p:txBody>
          <a:bodyPr wrap="none" anchor="ct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131138" name="Oval 66"/>
          <p:cNvSpPr>
            <a:spLocks noChangeAspect="1" noChangeArrowheads="1"/>
          </p:cNvSpPr>
          <p:nvPr/>
        </p:nvSpPr>
        <p:spPr bwMode="auto">
          <a:xfrm>
            <a:off x="2152997" y="3879515"/>
            <a:ext cx="144462" cy="144463"/>
          </a:xfrm>
          <a:prstGeom prst="ellipse">
            <a:avLst/>
          </a:prstGeom>
          <a:solidFill>
            <a:srgbClr val="FF0000"/>
          </a:solidFill>
          <a:ln w="9525">
            <a:solidFill>
              <a:srgbClr val="FF0000"/>
            </a:solidFill>
            <a:round/>
            <a:headEnd/>
            <a:tailEnd/>
          </a:ln>
        </p:spPr>
        <p:txBody>
          <a:bodyPr wrap="none" anchor="ct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131139" name="Text Box 67"/>
          <p:cNvSpPr txBox="1">
            <a:spLocks noChangeArrowheads="1"/>
          </p:cNvSpPr>
          <p:nvPr/>
        </p:nvSpPr>
        <p:spPr bwMode="auto">
          <a:xfrm>
            <a:off x="2413732" y="3644565"/>
            <a:ext cx="576263" cy="457200"/>
          </a:xfrm>
          <a:prstGeom prst="rect">
            <a:avLst/>
          </a:prstGeom>
          <a:noFill/>
          <a:ln w="9525">
            <a:noFill/>
            <a:miter lim="800000"/>
            <a:headEnd/>
            <a:tailEnd/>
          </a:ln>
        </p:spPr>
        <p:txBody>
          <a:bodyPr>
            <a:spAutoFit/>
          </a:bodyPr>
          <a:lstStyle/>
          <a:p>
            <a:pPr>
              <a:spcBef>
                <a:spcPct val="50000"/>
              </a:spcBef>
              <a:defRPr/>
            </a:pPr>
            <a:r>
              <a:rPr lang="en-US" altLang="zh-CN" sz="2400" i="1" dirty="0">
                <a:latin typeface="Times New Roman" pitchFamily="18" charset="0"/>
                <a:ea typeface="华文楷体" pitchFamily="2" charset="-122"/>
                <a:cs typeface="Times New Roman" pitchFamily="18" charset="0"/>
              </a:rPr>
              <a:t>A</a:t>
            </a:r>
            <a:r>
              <a:rPr lang="en-US" altLang="zh-CN" sz="2400" dirty="0">
                <a:latin typeface="Times New Roman" pitchFamily="18" charset="0"/>
                <a:ea typeface="华文楷体" pitchFamily="2" charset="-122"/>
                <a:cs typeface="Times New Roman" pitchFamily="18" charset="0"/>
              </a:rPr>
              <a:t>′</a:t>
            </a:r>
          </a:p>
        </p:txBody>
      </p:sp>
      <p:sp>
        <p:nvSpPr>
          <p:cNvPr id="131142" name="Rectangle 70"/>
          <p:cNvSpPr>
            <a:spLocks noChangeArrowheads="1"/>
          </p:cNvSpPr>
          <p:nvPr/>
        </p:nvSpPr>
        <p:spPr bwMode="auto">
          <a:xfrm>
            <a:off x="4008911" y="1795383"/>
            <a:ext cx="3968924" cy="462307"/>
          </a:xfrm>
          <a:prstGeom prst="rect">
            <a:avLst/>
          </a:prstGeom>
          <a:noFill/>
          <a:ln w="9525">
            <a:noFill/>
            <a:miter lim="800000"/>
            <a:headEnd/>
            <a:tailEnd/>
          </a:ln>
        </p:spPr>
        <p:txBody>
          <a:bodyPr wrap="square" lIns="92075" tIns="46038" rIns="92075" bIns="46038">
            <a:spAutoFit/>
          </a:bodyPr>
          <a:lstStyle/>
          <a:p>
            <a:pPr>
              <a:defRPr/>
            </a:pPr>
            <a:r>
              <a:rPr kumimoji="1" lang="en-US" altLang="zh-CN" sz="2400" b="1" dirty="0">
                <a:solidFill>
                  <a:srgbClr val="0000FF"/>
                </a:solidFill>
                <a:latin typeface="Times New Roman" pitchFamily="18" charset="0"/>
                <a:ea typeface="华文楷体" pitchFamily="2" charset="-122"/>
                <a:cs typeface="Times New Roman" pitchFamily="18" charset="0"/>
              </a:rPr>
              <a:t>2</a:t>
            </a:r>
            <a:r>
              <a:rPr kumimoji="1" lang="zh-CN" altLang="en-US" sz="2400" b="1" dirty="0">
                <a:solidFill>
                  <a:srgbClr val="0000FF"/>
                </a:solidFill>
                <a:latin typeface="Times New Roman" pitchFamily="18" charset="0"/>
                <a:ea typeface="华文楷体" pitchFamily="2" charset="-122"/>
                <a:cs typeface="Times New Roman" pitchFamily="18" charset="0"/>
              </a:rPr>
              <a:t>、切线代圆弧定交点</a:t>
            </a:r>
            <a:r>
              <a:rPr lang="en-US" altLang="zh-CN" i="1" dirty="0">
                <a:solidFill>
                  <a:srgbClr val="0000FF"/>
                </a:solidFill>
                <a:ea typeface="华文楷体" pitchFamily="2" charset="-122"/>
                <a:cs typeface="Times New Roman" pitchFamily="18" charset="0"/>
              </a:rPr>
              <a:t>A′</a:t>
            </a:r>
            <a:r>
              <a:rPr lang="en-US" altLang="zh-CN" dirty="0">
                <a:solidFill>
                  <a:srgbClr val="0000FF"/>
                </a:solidFill>
                <a:ea typeface="华文楷体" pitchFamily="2" charset="-122"/>
                <a:cs typeface="Times New Roman" pitchFamily="18" charset="0"/>
              </a:rPr>
              <a:t>′</a:t>
            </a:r>
            <a:endParaRPr kumimoji="1" lang="en-US" altLang="zh-CN" sz="2400" dirty="0">
              <a:solidFill>
                <a:srgbClr val="0000FF"/>
              </a:solidFill>
              <a:latin typeface="Times New Roman" pitchFamily="18" charset="0"/>
              <a:ea typeface="华文楷体" pitchFamily="2" charset="-122"/>
              <a:cs typeface="Times New Roman" pitchFamily="18" charset="0"/>
            </a:endParaRPr>
          </a:p>
        </p:txBody>
      </p:sp>
      <p:sp>
        <p:nvSpPr>
          <p:cNvPr id="131143" name="Oval 71"/>
          <p:cNvSpPr>
            <a:spLocks noChangeAspect="1" noChangeArrowheads="1"/>
          </p:cNvSpPr>
          <p:nvPr/>
        </p:nvSpPr>
        <p:spPr bwMode="auto">
          <a:xfrm>
            <a:off x="1896765" y="4644120"/>
            <a:ext cx="142875" cy="142875"/>
          </a:xfrm>
          <a:prstGeom prst="ellipse">
            <a:avLst/>
          </a:prstGeom>
          <a:solidFill>
            <a:schemeClr val="accent1"/>
          </a:solidFill>
          <a:ln w="9525">
            <a:solidFill>
              <a:srgbClr val="000000"/>
            </a:solidFill>
            <a:round/>
            <a:headEnd/>
            <a:tailEnd/>
          </a:ln>
        </p:spPr>
        <p:txBody>
          <a:bodyPr wrap="none" anchor="ct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131144" name="Text Box 72"/>
          <p:cNvSpPr txBox="1">
            <a:spLocks noChangeArrowheads="1"/>
          </p:cNvSpPr>
          <p:nvPr/>
        </p:nvSpPr>
        <p:spPr bwMode="auto">
          <a:xfrm>
            <a:off x="1579391" y="4347455"/>
            <a:ext cx="360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i="1" dirty="0">
                <a:latin typeface="Times New Roman" panose="02020603050405020304" pitchFamily="18" charset="0"/>
                <a:ea typeface="华文楷体" panose="02010600040101010101" pitchFamily="2" charset="-122"/>
                <a:cs typeface="Times New Roman" panose="02020603050405020304" pitchFamily="18" charset="0"/>
              </a:rPr>
              <a:t>A</a:t>
            </a:r>
          </a:p>
        </p:txBody>
      </p:sp>
      <p:sp>
        <p:nvSpPr>
          <p:cNvPr id="131145" name="Line 73"/>
          <p:cNvSpPr>
            <a:spLocks noChangeAspect="1" noChangeShapeType="1"/>
          </p:cNvSpPr>
          <p:nvPr/>
        </p:nvSpPr>
        <p:spPr bwMode="auto">
          <a:xfrm rot="21420000">
            <a:off x="2007805" y="4715557"/>
            <a:ext cx="693738" cy="1152525"/>
          </a:xfrm>
          <a:prstGeom prst="line">
            <a:avLst/>
          </a:prstGeom>
          <a:noFill/>
          <a:ln w="25400">
            <a:solidFill>
              <a:srgbClr val="0000FF"/>
            </a:solidFill>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131146" name="Line 74"/>
          <p:cNvSpPr>
            <a:spLocks noChangeAspect="1" noChangeShapeType="1"/>
          </p:cNvSpPr>
          <p:nvPr/>
        </p:nvSpPr>
        <p:spPr bwMode="auto">
          <a:xfrm flipH="1">
            <a:off x="1395115" y="4715557"/>
            <a:ext cx="568325" cy="863600"/>
          </a:xfrm>
          <a:prstGeom prst="line">
            <a:avLst/>
          </a:prstGeom>
          <a:noFill/>
          <a:ln w="25400">
            <a:solidFill>
              <a:srgbClr val="FF0000"/>
            </a:solidFill>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131147" name="Line 75"/>
          <p:cNvSpPr>
            <a:spLocks noChangeShapeType="1"/>
          </p:cNvSpPr>
          <p:nvPr/>
        </p:nvSpPr>
        <p:spPr bwMode="auto">
          <a:xfrm flipV="1">
            <a:off x="1966615" y="4356782"/>
            <a:ext cx="0" cy="1944688"/>
          </a:xfrm>
          <a:prstGeom prst="line">
            <a:avLst/>
          </a:prstGeom>
          <a:noFill/>
          <a:ln w="12700">
            <a:solidFill>
              <a:schemeClr val="tx1"/>
            </a:solidFill>
            <a:prstDash val="dash"/>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131150" name="Text Box 78"/>
          <p:cNvSpPr txBox="1">
            <a:spLocks noChangeArrowheads="1"/>
          </p:cNvSpPr>
          <p:nvPr/>
        </p:nvSpPr>
        <p:spPr bwMode="auto">
          <a:xfrm>
            <a:off x="2395698" y="5857165"/>
            <a:ext cx="631653" cy="461665"/>
          </a:xfrm>
          <a:prstGeom prst="rect">
            <a:avLst/>
          </a:prstGeom>
          <a:noFill/>
          <a:ln w="9525">
            <a:noFill/>
            <a:miter lim="800000"/>
            <a:headEnd/>
            <a:tailEnd/>
          </a:ln>
        </p:spPr>
        <p:txBody>
          <a:bodyPr wrap="square">
            <a:spAutoFit/>
          </a:bodyPr>
          <a:lstStyle/>
          <a:p>
            <a:pPr>
              <a:spcBef>
                <a:spcPct val="50000"/>
              </a:spcBef>
              <a:defRPr/>
            </a:pPr>
            <a:r>
              <a:rPr lang="en-US" altLang="zh-CN" sz="2400" i="1" dirty="0">
                <a:latin typeface="Times New Roman" pitchFamily="18" charset="0"/>
                <a:ea typeface="华文楷体" pitchFamily="2" charset="-122"/>
                <a:cs typeface="Times New Roman" pitchFamily="18" charset="0"/>
              </a:rPr>
              <a:t>A</a:t>
            </a:r>
            <a:r>
              <a:rPr lang="en-US" altLang="zh-CN" sz="2400" dirty="0">
                <a:latin typeface="Times New Roman" pitchFamily="18" charset="0"/>
                <a:ea typeface="华文楷体" pitchFamily="2" charset="-122"/>
                <a:cs typeface="Times New Roman" pitchFamily="18" charset="0"/>
              </a:rPr>
              <a:t>′′</a:t>
            </a:r>
          </a:p>
        </p:txBody>
      </p:sp>
      <p:sp>
        <p:nvSpPr>
          <p:cNvPr id="131151" name="Oval 79"/>
          <p:cNvSpPr>
            <a:spLocks noChangeAspect="1" noChangeArrowheads="1"/>
          </p:cNvSpPr>
          <p:nvPr/>
        </p:nvSpPr>
        <p:spPr bwMode="auto">
          <a:xfrm>
            <a:off x="2269828" y="6041120"/>
            <a:ext cx="144462" cy="144462"/>
          </a:xfrm>
          <a:prstGeom prst="ellipse">
            <a:avLst/>
          </a:prstGeom>
          <a:solidFill>
            <a:srgbClr val="FF0000"/>
          </a:solidFill>
          <a:ln w="9525">
            <a:solidFill>
              <a:srgbClr val="FF0000"/>
            </a:solidFill>
            <a:round/>
            <a:headEnd/>
            <a:tailEnd/>
          </a:ln>
        </p:spPr>
        <p:txBody>
          <a:bodyPr wrap="none" anchor="ct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131152" name="Line 80"/>
          <p:cNvSpPr>
            <a:spLocks noChangeAspect="1" noChangeShapeType="1"/>
          </p:cNvSpPr>
          <p:nvPr/>
        </p:nvSpPr>
        <p:spPr bwMode="auto">
          <a:xfrm>
            <a:off x="2008534" y="3231815"/>
            <a:ext cx="215900" cy="720725"/>
          </a:xfrm>
          <a:prstGeom prst="line">
            <a:avLst/>
          </a:prstGeom>
          <a:noFill/>
          <a:ln w="38100">
            <a:solidFill>
              <a:srgbClr val="000000"/>
            </a:solidFill>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131154" name="Line 82"/>
          <p:cNvSpPr>
            <a:spLocks noChangeShapeType="1"/>
          </p:cNvSpPr>
          <p:nvPr/>
        </p:nvSpPr>
        <p:spPr bwMode="auto">
          <a:xfrm>
            <a:off x="1966615" y="4715557"/>
            <a:ext cx="360363" cy="1368425"/>
          </a:xfrm>
          <a:prstGeom prst="line">
            <a:avLst/>
          </a:prstGeom>
          <a:noFill/>
          <a:ln w="38100">
            <a:solidFill>
              <a:srgbClr val="000000"/>
            </a:solidFill>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graphicFrame>
        <p:nvGraphicFramePr>
          <p:cNvPr id="131157" name="Object 85"/>
          <p:cNvGraphicFramePr>
            <a:graphicFrameLocks noChangeAspect="1"/>
          </p:cNvGraphicFramePr>
          <p:nvPr>
            <p:extLst>
              <p:ext uri="{D42A27DB-BD31-4B8C-83A1-F6EECF244321}">
                <p14:modId xmlns:p14="http://schemas.microsoft.com/office/powerpoint/2010/main" val="1332935074"/>
              </p:ext>
            </p:extLst>
          </p:nvPr>
        </p:nvGraphicFramePr>
        <p:xfrm>
          <a:off x="3908284" y="3721559"/>
          <a:ext cx="3111500" cy="461962"/>
        </p:xfrm>
        <a:graphic>
          <a:graphicData uri="http://schemas.openxmlformats.org/presentationml/2006/ole">
            <mc:AlternateContent xmlns:mc="http://schemas.openxmlformats.org/markup-compatibility/2006">
              <mc:Choice xmlns:v="urn:schemas-microsoft-com:vml" Requires="v">
                <p:oleObj name="Equation" r:id="rId12" imgW="1371600" imgH="228600" progId="Equation.DSMT4">
                  <p:embed/>
                </p:oleObj>
              </mc:Choice>
              <mc:Fallback>
                <p:oleObj name="Equation" r:id="rId12" imgW="1371600" imgH="228600" progId="Equation.DSMT4">
                  <p:embed/>
                  <p:pic>
                    <p:nvPicPr>
                      <p:cNvPr id="0" name=""/>
                      <p:cNvPicPr>
                        <a:picLocks noChangeAspect="1" noChangeArrowheads="1"/>
                      </p:cNvPicPr>
                      <p:nvPr/>
                    </p:nvPicPr>
                    <p:blipFill>
                      <a:blip r:embed="rId13"/>
                      <a:srcRect/>
                      <a:stretch>
                        <a:fillRect/>
                      </a:stretch>
                    </p:blipFill>
                    <p:spPr bwMode="auto">
                      <a:xfrm>
                        <a:off x="3908284" y="3721559"/>
                        <a:ext cx="3111500" cy="461962"/>
                      </a:xfrm>
                      <a:prstGeom prst="rect">
                        <a:avLst/>
                      </a:prstGeom>
                      <a:noFill/>
                      <a:ln>
                        <a:noFill/>
                      </a:ln>
                      <a:effectLst/>
                    </p:spPr>
                  </p:pic>
                </p:oleObj>
              </mc:Fallback>
            </mc:AlternateContent>
          </a:graphicData>
        </a:graphic>
      </p:graphicFrame>
      <p:sp>
        <p:nvSpPr>
          <p:cNvPr id="131164" name="Line 92"/>
          <p:cNvSpPr>
            <a:spLocks noChangeAspect="1" noChangeShapeType="1"/>
          </p:cNvSpPr>
          <p:nvPr/>
        </p:nvSpPr>
        <p:spPr bwMode="auto">
          <a:xfrm>
            <a:off x="1966615" y="4715557"/>
            <a:ext cx="431800" cy="0"/>
          </a:xfrm>
          <a:prstGeom prst="line">
            <a:avLst/>
          </a:prstGeom>
          <a:noFill/>
          <a:ln w="25400">
            <a:solidFill>
              <a:srgbClr val="00B050"/>
            </a:solidFill>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graphicFrame>
        <p:nvGraphicFramePr>
          <p:cNvPr id="131169" name="Object 97"/>
          <p:cNvGraphicFramePr>
            <a:graphicFrameLocks noGrp="1" noChangeAspect="1"/>
          </p:cNvGraphicFramePr>
          <p:nvPr>
            <p:ph sz="quarter" idx="4"/>
            <p:extLst>
              <p:ext uri="{D42A27DB-BD31-4B8C-83A1-F6EECF244321}">
                <p14:modId xmlns:p14="http://schemas.microsoft.com/office/powerpoint/2010/main" val="2556508655"/>
              </p:ext>
            </p:extLst>
          </p:nvPr>
        </p:nvGraphicFramePr>
        <p:xfrm>
          <a:off x="3862785" y="5665424"/>
          <a:ext cx="2674937" cy="571500"/>
        </p:xfrm>
        <a:graphic>
          <a:graphicData uri="http://schemas.openxmlformats.org/presentationml/2006/ole">
            <mc:AlternateContent xmlns:mc="http://schemas.openxmlformats.org/markup-compatibility/2006">
              <mc:Choice xmlns:v="urn:schemas-microsoft-com:vml" Requires="v">
                <p:oleObj name="Equation" r:id="rId14" imgW="1307880" imgH="279360" progId="Equation.DSMT4">
                  <p:embed/>
                </p:oleObj>
              </mc:Choice>
              <mc:Fallback>
                <p:oleObj name="Equation" r:id="rId14" imgW="1307880" imgH="279360" progId="Equation.DSMT4">
                  <p:embed/>
                  <p:pic>
                    <p:nvPicPr>
                      <p:cNvPr id="0" name=""/>
                      <p:cNvPicPr>
                        <a:picLocks noChangeAspect="1" noChangeArrowheads="1"/>
                      </p:cNvPicPr>
                      <p:nvPr/>
                    </p:nvPicPr>
                    <p:blipFill>
                      <a:blip r:embed="rId15"/>
                      <a:srcRect/>
                      <a:stretch>
                        <a:fillRect/>
                      </a:stretch>
                    </p:blipFill>
                    <p:spPr bwMode="auto">
                      <a:xfrm>
                        <a:off x="3862785" y="5665424"/>
                        <a:ext cx="2674937"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1172" name="Object 100"/>
          <p:cNvGraphicFramePr>
            <a:graphicFrameLocks noChangeAspect="1"/>
          </p:cNvGraphicFramePr>
          <p:nvPr>
            <p:extLst>
              <p:ext uri="{D42A27DB-BD31-4B8C-83A1-F6EECF244321}">
                <p14:modId xmlns:p14="http://schemas.microsoft.com/office/powerpoint/2010/main" val="3077741326"/>
              </p:ext>
            </p:extLst>
          </p:nvPr>
        </p:nvGraphicFramePr>
        <p:xfrm>
          <a:off x="4465232" y="3199599"/>
          <a:ext cx="2453481" cy="446087"/>
        </p:xfrm>
        <a:graphic>
          <a:graphicData uri="http://schemas.openxmlformats.org/presentationml/2006/ole">
            <mc:AlternateContent xmlns:mc="http://schemas.openxmlformats.org/markup-compatibility/2006">
              <mc:Choice xmlns:v="urn:schemas-microsoft-com:vml" Requires="v">
                <p:oleObj name="Equation" r:id="rId16" imgW="1155600" imgH="215640" progId="Equation.DSMT4">
                  <p:embed/>
                </p:oleObj>
              </mc:Choice>
              <mc:Fallback>
                <p:oleObj name="Equation" r:id="rId16" imgW="1155600" imgH="215640" progId="Equation.DSMT4">
                  <p:embed/>
                  <p:pic>
                    <p:nvPicPr>
                      <p:cNvPr id="0" name=""/>
                      <p:cNvPicPr>
                        <a:picLocks noChangeAspect="1" noChangeArrowheads="1"/>
                      </p:cNvPicPr>
                      <p:nvPr/>
                    </p:nvPicPr>
                    <p:blipFill>
                      <a:blip r:embed="rId17"/>
                      <a:srcRect/>
                      <a:stretch>
                        <a:fillRect/>
                      </a:stretch>
                    </p:blipFill>
                    <p:spPr bwMode="auto">
                      <a:xfrm>
                        <a:off x="4465232" y="3199599"/>
                        <a:ext cx="2453481" cy="446087"/>
                      </a:xfrm>
                      <a:prstGeom prst="rect">
                        <a:avLst/>
                      </a:prstGeom>
                      <a:noFill/>
                      <a:ln>
                        <a:noFill/>
                      </a:ln>
                      <a:effectLst/>
                    </p:spPr>
                  </p:pic>
                </p:oleObj>
              </mc:Fallback>
            </mc:AlternateContent>
          </a:graphicData>
        </a:graphic>
      </p:graphicFrame>
      <p:graphicFrame>
        <p:nvGraphicFramePr>
          <p:cNvPr id="131173" name="Object 101"/>
          <p:cNvGraphicFramePr>
            <a:graphicFrameLocks noChangeAspect="1"/>
          </p:cNvGraphicFramePr>
          <p:nvPr>
            <p:extLst>
              <p:ext uri="{D42A27DB-BD31-4B8C-83A1-F6EECF244321}">
                <p14:modId xmlns:p14="http://schemas.microsoft.com/office/powerpoint/2010/main" val="301993205"/>
              </p:ext>
            </p:extLst>
          </p:nvPr>
        </p:nvGraphicFramePr>
        <p:xfrm>
          <a:off x="3555581" y="4175992"/>
          <a:ext cx="3986213" cy="466725"/>
        </p:xfrm>
        <a:graphic>
          <a:graphicData uri="http://schemas.openxmlformats.org/presentationml/2006/ole">
            <mc:AlternateContent xmlns:mc="http://schemas.openxmlformats.org/markup-compatibility/2006">
              <mc:Choice xmlns:v="urn:schemas-microsoft-com:vml" Requires="v">
                <p:oleObj name="Equation" r:id="rId18" imgW="1981080" imgH="228600" progId="Equation.DSMT4">
                  <p:embed/>
                </p:oleObj>
              </mc:Choice>
              <mc:Fallback>
                <p:oleObj name="Equation" r:id="rId18" imgW="1981080" imgH="228600" progId="Equation.DSMT4">
                  <p:embed/>
                  <p:pic>
                    <p:nvPicPr>
                      <p:cNvPr id="0" name=""/>
                      <p:cNvPicPr>
                        <a:picLocks noChangeAspect="1" noChangeArrowheads="1"/>
                      </p:cNvPicPr>
                      <p:nvPr/>
                    </p:nvPicPr>
                    <p:blipFill>
                      <a:blip r:embed="rId19"/>
                      <a:srcRect/>
                      <a:stretch>
                        <a:fillRect/>
                      </a:stretch>
                    </p:blipFill>
                    <p:spPr bwMode="auto">
                      <a:xfrm>
                        <a:off x="3555581" y="4175992"/>
                        <a:ext cx="3986213" cy="466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 name="Text Box 46"/>
          <p:cNvSpPr txBox="1">
            <a:spLocks noChangeArrowheads="1"/>
          </p:cNvSpPr>
          <p:nvPr/>
        </p:nvSpPr>
        <p:spPr bwMode="auto">
          <a:xfrm>
            <a:off x="1038212" y="1973411"/>
            <a:ext cx="360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1</a:t>
            </a:r>
          </a:p>
        </p:txBody>
      </p:sp>
      <p:sp>
        <p:nvSpPr>
          <p:cNvPr id="67" name="Text Box 46"/>
          <p:cNvSpPr txBox="1">
            <a:spLocks noChangeArrowheads="1"/>
          </p:cNvSpPr>
          <p:nvPr/>
        </p:nvSpPr>
        <p:spPr bwMode="auto">
          <a:xfrm>
            <a:off x="2699739" y="1980865"/>
            <a:ext cx="360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2</a:t>
            </a:r>
          </a:p>
        </p:txBody>
      </p:sp>
      <p:graphicFrame>
        <p:nvGraphicFramePr>
          <p:cNvPr id="68" name="Object 31"/>
          <p:cNvGraphicFramePr>
            <a:graphicFrameLocks noChangeAspect="1"/>
          </p:cNvGraphicFramePr>
          <p:nvPr>
            <p:extLst>
              <p:ext uri="{D42A27DB-BD31-4B8C-83A1-F6EECF244321}">
                <p14:modId xmlns:p14="http://schemas.microsoft.com/office/powerpoint/2010/main" val="1514430271"/>
              </p:ext>
            </p:extLst>
          </p:nvPr>
        </p:nvGraphicFramePr>
        <p:xfrm>
          <a:off x="1253463" y="4786995"/>
          <a:ext cx="460375" cy="395288"/>
        </p:xfrm>
        <a:graphic>
          <a:graphicData uri="http://schemas.openxmlformats.org/presentationml/2006/ole">
            <mc:AlternateContent xmlns:mc="http://schemas.openxmlformats.org/markup-compatibility/2006">
              <mc:Choice xmlns:v="urn:schemas-microsoft-com:vml" Requires="v">
                <p:oleObj name="Equation" r:id="rId20" imgW="266400" imgH="228600" progId="Equation.DSMT4">
                  <p:embed/>
                </p:oleObj>
              </mc:Choice>
              <mc:Fallback>
                <p:oleObj name="Equation" r:id="rId20" imgW="266400" imgH="228600" progId="Equation.DSMT4">
                  <p:embed/>
                  <p:pic>
                    <p:nvPicPr>
                      <p:cNvPr id="0" name=""/>
                      <p:cNvPicPr>
                        <a:picLocks noChangeAspect="1" noChangeArrowheads="1"/>
                      </p:cNvPicPr>
                      <p:nvPr/>
                    </p:nvPicPr>
                    <p:blipFill>
                      <a:blip r:embed="rId21"/>
                      <a:srcRect/>
                      <a:stretch>
                        <a:fillRect/>
                      </a:stretch>
                    </p:blipFill>
                    <p:spPr bwMode="auto">
                      <a:xfrm>
                        <a:off x="1253463" y="4786995"/>
                        <a:ext cx="460375" cy="395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 name="组合 9"/>
          <p:cNvGrpSpPr/>
          <p:nvPr/>
        </p:nvGrpSpPr>
        <p:grpSpPr>
          <a:xfrm>
            <a:off x="1122246" y="5422208"/>
            <a:ext cx="1547812" cy="863600"/>
            <a:chOff x="179332" y="5914588"/>
            <a:chExt cx="1547812" cy="863600"/>
          </a:xfrm>
        </p:grpSpPr>
        <p:sp>
          <p:nvSpPr>
            <p:cNvPr id="131149" name="Line 77"/>
            <p:cNvSpPr>
              <a:spLocks noChangeShapeType="1"/>
            </p:cNvSpPr>
            <p:nvPr/>
          </p:nvSpPr>
          <p:spPr bwMode="auto">
            <a:xfrm>
              <a:off x="179332" y="5914588"/>
              <a:ext cx="1547812" cy="863600"/>
            </a:xfrm>
            <a:prstGeom prst="line">
              <a:avLst/>
            </a:prstGeom>
            <a:noFill/>
            <a:ln w="12700">
              <a:solidFill>
                <a:schemeClr val="tx1"/>
              </a:solidFill>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grpSp>
          <p:nvGrpSpPr>
            <p:cNvPr id="6" name="Group 139"/>
            <p:cNvGrpSpPr>
              <a:grpSpLocks/>
            </p:cNvGrpSpPr>
            <p:nvPr/>
          </p:nvGrpSpPr>
          <p:grpSpPr bwMode="auto">
            <a:xfrm rot="2040000">
              <a:off x="476053" y="6005893"/>
              <a:ext cx="123825" cy="114300"/>
              <a:chOff x="8295" y="8571"/>
              <a:chExt cx="195" cy="180"/>
            </a:xfrm>
          </p:grpSpPr>
          <p:sp>
            <p:nvSpPr>
              <p:cNvPr id="7" name="Line 140"/>
              <p:cNvSpPr>
                <a:spLocks noChangeShapeType="1"/>
              </p:cNvSpPr>
              <p:nvPr/>
            </p:nvSpPr>
            <p:spPr bwMode="auto">
              <a:xfrm>
                <a:off x="8295" y="8571"/>
                <a:ext cx="180" cy="0"/>
              </a:xfrm>
              <a:prstGeom prst="line">
                <a:avLst/>
              </a:prstGeom>
              <a:noFill/>
              <a:ln w="15875">
                <a:solidFill>
                  <a:srgbClr val="000000"/>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8" name="Line 141"/>
              <p:cNvSpPr>
                <a:spLocks noChangeShapeType="1"/>
              </p:cNvSpPr>
              <p:nvPr/>
            </p:nvSpPr>
            <p:spPr bwMode="auto">
              <a:xfrm rot="-5400000">
                <a:off x="8400" y="8661"/>
                <a:ext cx="180" cy="0"/>
              </a:xfrm>
              <a:prstGeom prst="line">
                <a:avLst/>
              </a:prstGeom>
              <a:noFill/>
              <a:ln w="15875">
                <a:solidFill>
                  <a:srgbClr val="000000"/>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9" name="组合 8"/>
          <p:cNvGrpSpPr/>
          <p:nvPr/>
        </p:nvGrpSpPr>
        <p:grpSpPr>
          <a:xfrm>
            <a:off x="2086278" y="5522180"/>
            <a:ext cx="1079500" cy="792162"/>
            <a:chOff x="3074256" y="5768633"/>
            <a:chExt cx="1079500" cy="792162"/>
          </a:xfrm>
        </p:grpSpPr>
        <p:sp>
          <p:nvSpPr>
            <p:cNvPr id="131148" name="Line 76"/>
            <p:cNvSpPr>
              <a:spLocks noChangeShapeType="1"/>
            </p:cNvSpPr>
            <p:nvPr/>
          </p:nvSpPr>
          <p:spPr bwMode="auto">
            <a:xfrm flipH="1">
              <a:off x="3074256" y="5768633"/>
              <a:ext cx="1079500" cy="792162"/>
            </a:xfrm>
            <a:prstGeom prst="line">
              <a:avLst/>
            </a:prstGeom>
            <a:noFill/>
            <a:ln w="12700">
              <a:solidFill>
                <a:schemeClr val="tx1"/>
              </a:solidFill>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grpSp>
          <p:nvGrpSpPr>
            <p:cNvPr id="71" name="Group 139"/>
            <p:cNvGrpSpPr>
              <a:grpSpLocks/>
            </p:cNvGrpSpPr>
            <p:nvPr/>
          </p:nvGrpSpPr>
          <p:grpSpPr bwMode="auto">
            <a:xfrm rot="19440000">
              <a:off x="3663866" y="5960284"/>
              <a:ext cx="123825" cy="114300"/>
              <a:chOff x="8295" y="8571"/>
              <a:chExt cx="195" cy="180"/>
            </a:xfrm>
          </p:grpSpPr>
          <p:sp>
            <p:nvSpPr>
              <p:cNvPr id="72" name="Line 140"/>
              <p:cNvSpPr>
                <a:spLocks noChangeShapeType="1"/>
              </p:cNvSpPr>
              <p:nvPr/>
            </p:nvSpPr>
            <p:spPr bwMode="auto">
              <a:xfrm>
                <a:off x="8295" y="8571"/>
                <a:ext cx="180" cy="0"/>
              </a:xfrm>
              <a:prstGeom prst="line">
                <a:avLst/>
              </a:prstGeom>
              <a:noFill/>
              <a:ln w="15875">
                <a:solidFill>
                  <a:srgbClr val="000000"/>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73" name="Line 141"/>
              <p:cNvSpPr>
                <a:spLocks noChangeShapeType="1"/>
              </p:cNvSpPr>
              <p:nvPr/>
            </p:nvSpPr>
            <p:spPr bwMode="auto">
              <a:xfrm rot="-5400000">
                <a:off x="8400" y="8661"/>
                <a:ext cx="180" cy="0"/>
              </a:xfrm>
              <a:prstGeom prst="line">
                <a:avLst/>
              </a:prstGeom>
              <a:noFill/>
              <a:ln w="15875">
                <a:solidFill>
                  <a:srgbClr val="000000"/>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grpSp>
      </p:grpSp>
      <p:sp>
        <p:nvSpPr>
          <p:cNvPr id="74" name="Text Box 101"/>
          <p:cNvSpPr txBox="1">
            <a:spLocks noChangeArrowheads="1"/>
          </p:cNvSpPr>
          <p:nvPr/>
        </p:nvSpPr>
        <p:spPr bwMode="auto">
          <a:xfrm>
            <a:off x="3526310" y="2245317"/>
            <a:ext cx="4174958" cy="461665"/>
          </a:xfrm>
          <a:prstGeom prst="rect">
            <a:avLst/>
          </a:prstGeom>
          <a:solidFill>
            <a:schemeClr val="accent1">
              <a:lumMod val="40000"/>
              <a:lumOff val="60000"/>
            </a:schemeClr>
          </a:solidFill>
          <a:ln>
            <a:noFill/>
          </a:ln>
          <a:effectLst/>
        </p:spPr>
        <p:txBody>
          <a:bodyPr wrap="square">
            <a:spAutoFit/>
          </a:bodyPr>
          <a:lstStyle/>
          <a:p>
            <a:r>
              <a:rPr kumimoji="1" lang="zh-CN" altLang="en-US" sz="2400" b="1" dirty="0">
                <a:latin typeface="楷体" panose="02010609060101010101" pitchFamily="49" charset="-122"/>
                <a:ea typeface="楷体" panose="02010609060101010101" pitchFamily="49" charset="-122"/>
              </a:rPr>
              <a:t>切线代替圆弧，得到新位置；</a:t>
            </a:r>
          </a:p>
        </p:txBody>
      </p:sp>
      <p:sp>
        <p:nvSpPr>
          <p:cNvPr id="75" name="Text Box 181"/>
          <p:cNvSpPr txBox="1">
            <a:spLocks noChangeArrowheads="1"/>
          </p:cNvSpPr>
          <p:nvPr/>
        </p:nvSpPr>
        <p:spPr bwMode="auto">
          <a:xfrm>
            <a:off x="3537959" y="2722501"/>
            <a:ext cx="4178702" cy="457200"/>
          </a:xfrm>
          <a:prstGeom prst="rect">
            <a:avLst/>
          </a:prstGeom>
          <a:solidFill>
            <a:schemeClr val="accent1">
              <a:lumMod val="40000"/>
              <a:lumOff val="60000"/>
            </a:schemeClr>
          </a:solidFill>
          <a:ln>
            <a:noFill/>
          </a:ln>
          <a:effectLst/>
        </p:spPr>
        <p:txBody>
          <a:bodyPr wrap="square">
            <a:spAutoFit/>
          </a:bodyPr>
          <a:lstStyle/>
          <a:p>
            <a:pPr eaLnBrk="0" hangingPunct="0"/>
            <a:r>
              <a:rPr kumimoji="1" lang="zh-CN" altLang="en-US" sz="2400" b="1" dirty="0">
                <a:latin typeface="楷体" panose="02010609060101010101" pitchFamily="49" charset="-122"/>
                <a:ea typeface="楷体" panose="02010609060101010101" pitchFamily="49" charset="-122"/>
              </a:rPr>
              <a:t>向原杆做垂线，得到伸长量。</a:t>
            </a:r>
          </a:p>
        </p:txBody>
      </p:sp>
      <p:sp>
        <p:nvSpPr>
          <p:cNvPr id="76" name="Rectangle 53"/>
          <p:cNvSpPr>
            <a:spLocks noChangeArrowheads="1"/>
          </p:cNvSpPr>
          <p:nvPr/>
        </p:nvSpPr>
        <p:spPr bwMode="auto">
          <a:xfrm>
            <a:off x="3478236" y="3195220"/>
            <a:ext cx="1057170" cy="462307"/>
          </a:xfrm>
          <a:prstGeom prst="rect">
            <a:avLst/>
          </a:prstGeom>
          <a:noFill/>
          <a:ln w="9525">
            <a:noFill/>
            <a:miter lim="800000"/>
            <a:headEnd/>
            <a:tailEnd/>
          </a:ln>
        </p:spPr>
        <p:txBody>
          <a:bodyPr wrap="square" lIns="92075" tIns="46038" rIns="92075" bIns="46038">
            <a:spAutoFit/>
          </a:bodyPr>
          <a:lstStyle/>
          <a:p>
            <a:pPr eaLnBrk="0" hangingPunct="0">
              <a:defRPr/>
            </a:pPr>
            <a:r>
              <a:rPr kumimoji="1" lang="zh-CN" altLang="en-US" sz="2400" b="1" dirty="0">
                <a:solidFill>
                  <a:srgbClr val="0000FF"/>
                </a:solidFill>
                <a:latin typeface="Times New Roman" pitchFamily="18" charset="0"/>
                <a:ea typeface="华文楷体" pitchFamily="2" charset="-122"/>
                <a:cs typeface="Times New Roman" pitchFamily="18" charset="0"/>
              </a:rPr>
              <a:t>解</a:t>
            </a:r>
            <a:r>
              <a:rPr kumimoji="1" lang="en-US" altLang="zh-CN" sz="2400" b="1" dirty="0">
                <a:solidFill>
                  <a:srgbClr val="0000FF"/>
                </a:solidFill>
                <a:latin typeface="Times New Roman" pitchFamily="18" charset="0"/>
                <a:ea typeface="华文楷体" pitchFamily="2" charset="-122"/>
                <a:cs typeface="Times New Roman" pitchFamily="18" charset="0"/>
              </a:rPr>
              <a:t>2</a:t>
            </a:r>
            <a:r>
              <a:rPr kumimoji="1" lang="zh-CN" altLang="en-US" sz="2400" b="1" dirty="0">
                <a:solidFill>
                  <a:srgbClr val="0000FF"/>
                </a:solidFill>
                <a:latin typeface="Times New Roman" pitchFamily="18" charset="0"/>
                <a:ea typeface="华文楷体" pitchFamily="2" charset="-122"/>
                <a:cs typeface="Times New Roman" pitchFamily="18" charset="0"/>
              </a:rPr>
              <a:t>：</a:t>
            </a:r>
          </a:p>
        </p:txBody>
      </p:sp>
      <p:sp>
        <p:nvSpPr>
          <p:cNvPr id="77" name="Line 75"/>
          <p:cNvSpPr>
            <a:spLocks noChangeShapeType="1"/>
          </p:cNvSpPr>
          <p:nvPr/>
        </p:nvSpPr>
        <p:spPr bwMode="auto">
          <a:xfrm flipV="1">
            <a:off x="1960106" y="4739383"/>
            <a:ext cx="0" cy="1368000"/>
          </a:xfrm>
          <a:prstGeom prst="line">
            <a:avLst/>
          </a:prstGeom>
          <a:noFill/>
          <a:ln w="22225">
            <a:solidFill>
              <a:srgbClr val="00B050"/>
            </a:solidFill>
            <a:prstDash val="solid"/>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78" name="Line 75"/>
          <p:cNvSpPr>
            <a:spLocks noChangeShapeType="1"/>
          </p:cNvSpPr>
          <p:nvPr/>
        </p:nvSpPr>
        <p:spPr bwMode="auto">
          <a:xfrm flipV="1">
            <a:off x="2353044" y="4711965"/>
            <a:ext cx="0" cy="1368000"/>
          </a:xfrm>
          <a:prstGeom prst="line">
            <a:avLst/>
          </a:prstGeom>
          <a:noFill/>
          <a:ln w="22225">
            <a:solidFill>
              <a:srgbClr val="00B050"/>
            </a:solidFill>
            <a:prstDash val="dash"/>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79" name="Line 92"/>
          <p:cNvSpPr>
            <a:spLocks noChangeAspect="1" noChangeShapeType="1"/>
          </p:cNvSpPr>
          <p:nvPr/>
        </p:nvSpPr>
        <p:spPr bwMode="auto">
          <a:xfrm>
            <a:off x="1960106" y="6096441"/>
            <a:ext cx="431800" cy="0"/>
          </a:xfrm>
          <a:prstGeom prst="line">
            <a:avLst/>
          </a:prstGeom>
          <a:noFill/>
          <a:ln w="25400">
            <a:solidFill>
              <a:srgbClr val="00B050"/>
            </a:solidFill>
            <a:prstDash val="dash"/>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graphicFrame>
        <p:nvGraphicFramePr>
          <p:cNvPr id="80" name="Object 31"/>
          <p:cNvGraphicFramePr>
            <a:graphicFrameLocks noChangeAspect="1"/>
          </p:cNvGraphicFramePr>
          <p:nvPr>
            <p:extLst>
              <p:ext uri="{D42A27DB-BD31-4B8C-83A1-F6EECF244321}">
                <p14:modId xmlns:p14="http://schemas.microsoft.com/office/powerpoint/2010/main" val="2612923565"/>
              </p:ext>
            </p:extLst>
          </p:nvPr>
        </p:nvGraphicFramePr>
        <p:xfrm>
          <a:off x="2105619" y="4401524"/>
          <a:ext cx="357871" cy="293966"/>
        </p:xfrm>
        <a:graphic>
          <a:graphicData uri="http://schemas.openxmlformats.org/presentationml/2006/ole">
            <mc:AlternateContent xmlns:mc="http://schemas.openxmlformats.org/markup-compatibility/2006">
              <mc:Choice xmlns:v="urn:schemas-microsoft-com:vml" Requires="v">
                <p:oleObj name="Equation" r:id="rId22" imgW="215640" imgH="177480" progId="Equation.DSMT4">
                  <p:embed/>
                </p:oleObj>
              </mc:Choice>
              <mc:Fallback>
                <p:oleObj name="Equation" r:id="rId22" imgW="215640" imgH="177480" progId="Equation.DSMT4">
                  <p:embed/>
                  <p:pic>
                    <p:nvPicPr>
                      <p:cNvPr id="0" name=""/>
                      <p:cNvPicPr>
                        <a:picLocks noChangeAspect="1" noChangeArrowheads="1"/>
                      </p:cNvPicPr>
                      <p:nvPr/>
                    </p:nvPicPr>
                    <p:blipFill>
                      <a:blip r:embed="rId23"/>
                      <a:srcRect/>
                      <a:stretch>
                        <a:fillRect/>
                      </a:stretch>
                    </p:blipFill>
                    <p:spPr bwMode="auto">
                      <a:xfrm>
                        <a:off x="2105619" y="4401524"/>
                        <a:ext cx="357871" cy="293966"/>
                      </a:xfrm>
                      <a:prstGeom prst="rect">
                        <a:avLst/>
                      </a:prstGeom>
                      <a:solidFill>
                        <a:schemeClr val="accent1"/>
                      </a:solidFill>
                      <a:ln>
                        <a:noFill/>
                      </a:ln>
                      <a:effectLst/>
                    </p:spPr>
                  </p:pic>
                </p:oleObj>
              </mc:Fallback>
            </mc:AlternateContent>
          </a:graphicData>
        </a:graphic>
      </p:graphicFrame>
      <p:graphicFrame>
        <p:nvGraphicFramePr>
          <p:cNvPr id="81" name="Object 31"/>
          <p:cNvGraphicFramePr>
            <a:graphicFrameLocks noChangeAspect="1"/>
          </p:cNvGraphicFramePr>
          <p:nvPr>
            <p:extLst>
              <p:ext uri="{D42A27DB-BD31-4B8C-83A1-F6EECF244321}">
                <p14:modId xmlns:p14="http://schemas.microsoft.com/office/powerpoint/2010/main" val="3649296335"/>
              </p:ext>
            </p:extLst>
          </p:nvPr>
        </p:nvGraphicFramePr>
        <p:xfrm>
          <a:off x="1602609" y="5253720"/>
          <a:ext cx="340662" cy="320384"/>
        </p:xfrm>
        <a:graphic>
          <a:graphicData uri="http://schemas.openxmlformats.org/presentationml/2006/ole">
            <mc:AlternateContent xmlns:mc="http://schemas.openxmlformats.org/markup-compatibility/2006">
              <mc:Choice xmlns:v="urn:schemas-microsoft-com:vml" Requires="v">
                <p:oleObj name="Equation" r:id="rId24" imgW="215640" imgH="203040" progId="Equation.DSMT4">
                  <p:embed/>
                </p:oleObj>
              </mc:Choice>
              <mc:Fallback>
                <p:oleObj name="Equation" r:id="rId24" imgW="215640" imgH="203040" progId="Equation.DSMT4">
                  <p:embed/>
                  <p:pic>
                    <p:nvPicPr>
                      <p:cNvPr id="0" name=""/>
                      <p:cNvPicPr>
                        <a:picLocks noChangeAspect="1" noChangeArrowheads="1"/>
                      </p:cNvPicPr>
                      <p:nvPr/>
                    </p:nvPicPr>
                    <p:blipFill>
                      <a:blip r:embed="rId25"/>
                      <a:srcRect/>
                      <a:stretch>
                        <a:fillRect/>
                      </a:stretch>
                    </p:blipFill>
                    <p:spPr bwMode="auto">
                      <a:xfrm>
                        <a:off x="1602609" y="5253720"/>
                        <a:ext cx="340662" cy="320384"/>
                      </a:xfrm>
                      <a:prstGeom prst="rect">
                        <a:avLst/>
                      </a:prstGeom>
                      <a:solidFill>
                        <a:schemeClr val="accent1"/>
                      </a:solidFill>
                      <a:ln>
                        <a:noFill/>
                      </a:ln>
                      <a:effectLst/>
                    </p:spPr>
                  </p:pic>
                </p:oleObj>
              </mc:Fallback>
            </mc:AlternateContent>
          </a:graphicData>
        </a:graphic>
      </p:graphicFrame>
      <p:sp>
        <p:nvSpPr>
          <p:cNvPr id="82" name="Line 76"/>
          <p:cNvSpPr>
            <a:spLocks noChangeShapeType="1"/>
          </p:cNvSpPr>
          <p:nvPr/>
        </p:nvSpPr>
        <p:spPr bwMode="auto">
          <a:xfrm flipH="1">
            <a:off x="1822947" y="5413912"/>
            <a:ext cx="1079500" cy="792162"/>
          </a:xfrm>
          <a:prstGeom prst="line">
            <a:avLst/>
          </a:prstGeom>
          <a:noFill/>
          <a:ln w="28575">
            <a:solidFill>
              <a:schemeClr val="tx1"/>
            </a:solidFill>
            <a:prstDash val="dash"/>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83" name="Line 77"/>
          <p:cNvSpPr>
            <a:spLocks noChangeShapeType="1"/>
          </p:cNvSpPr>
          <p:nvPr/>
        </p:nvSpPr>
        <p:spPr bwMode="auto">
          <a:xfrm>
            <a:off x="947203" y="5525083"/>
            <a:ext cx="1547812" cy="863600"/>
          </a:xfrm>
          <a:prstGeom prst="line">
            <a:avLst/>
          </a:prstGeom>
          <a:noFill/>
          <a:ln w="22225">
            <a:solidFill>
              <a:schemeClr val="tx1"/>
            </a:solidFill>
            <a:prstDash val="dash"/>
            <a:round/>
            <a:headEnd/>
            <a:tailEnd/>
          </a:ln>
        </p:spPr>
        <p:txBody>
          <a:bodyP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11" name="文本框 10"/>
          <p:cNvSpPr txBox="1"/>
          <p:nvPr/>
        </p:nvSpPr>
        <p:spPr>
          <a:xfrm>
            <a:off x="7046837" y="5734696"/>
            <a:ext cx="1813414" cy="461665"/>
          </a:xfrm>
          <a:prstGeom prst="rect">
            <a:avLst/>
          </a:prstGeom>
          <a:noFill/>
        </p:spPr>
        <p:txBody>
          <a:bodyPr wrap="square" rtlCol="0">
            <a:spAutoFit/>
          </a:bodyPr>
          <a:lstStyle/>
          <a:p>
            <a:r>
              <a:rPr lang="zh-CN" altLang="en-US" b="1" dirty="0">
                <a:solidFill>
                  <a:srgbClr val="FF0000"/>
                </a:solidFill>
                <a:latin typeface="楷体" panose="02010609060101010101" pitchFamily="49" charset="-122"/>
                <a:ea typeface="楷体" panose="02010609060101010101" pitchFamily="49" charset="-122"/>
              </a:rPr>
              <a:t>位移投影法</a:t>
            </a:r>
          </a:p>
        </p:txBody>
      </p:sp>
      <p:sp>
        <p:nvSpPr>
          <p:cNvPr id="84" name="文本框 83"/>
          <p:cNvSpPr txBox="1"/>
          <p:nvPr/>
        </p:nvSpPr>
        <p:spPr>
          <a:xfrm>
            <a:off x="7776732" y="2451859"/>
            <a:ext cx="1207953" cy="461665"/>
          </a:xfrm>
          <a:prstGeom prst="rect">
            <a:avLst/>
          </a:prstGeom>
          <a:noFill/>
        </p:spPr>
        <p:txBody>
          <a:bodyPr wrap="square" rtlCol="0">
            <a:spAutoFit/>
          </a:bodyPr>
          <a:lstStyle/>
          <a:p>
            <a:r>
              <a:rPr lang="zh-CN" altLang="en-US" b="1" dirty="0">
                <a:solidFill>
                  <a:srgbClr val="FF0000"/>
                </a:solidFill>
                <a:latin typeface="楷体" panose="02010609060101010101" pitchFamily="49" charset="-122"/>
                <a:ea typeface="楷体" panose="02010609060101010101" pitchFamily="49" charset="-122"/>
              </a:rPr>
              <a:t>切线法</a:t>
            </a:r>
          </a:p>
        </p:txBody>
      </p:sp>
    </p:spTree>
    <p:extLst>
      <p:ext uri="{BB962C8B-B14F-4D97-AF65-F5344CB8AC3E}">
        <p14:creationId xmlns:p14="http://schemas.microsoft.com/office/powerpoint/2010/main" val="911510577"/>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31125"/>
                                        </p:tgtEl>
                                        <p:attrNameLst>
                                          <p:attrName>style.visibility</p:attrName>
                                        </p:attrNameLst>
                                      </p:cBhvr>
                                      <p:to>
                                        <p:strVal val="visible"/>
                                      </p:to>
                                    </p:set>
                                    <p:animEffect transition="in" filter="slide(fromBottom)">
                                      <p:cBhvr>
                                        <p:cTn id="7" dur="500"/>
                                        <p:tgtEl>
                                          <p:spTgt spid="13112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31126"/>
                                        </p:tgtEl>
                                        <p:attrNameLst>
                                          <p:attrName>style.visibility</p:attrName>
                                        </p:attrNameLst>
                                      </p:cBhvr>
                                      <p:to>
                                        <p:strVal val="visible"/>
                                      </p:to>
                                    </p:set>
                                    <p:animEffect transition="in" filter="slide(fromBottom)">
                                      <p:cBhvr>
                                        <p:cTn id="12" dur="500"/>
                                        <p:tgtEl>
                                          <p:spTgt spid="13112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xit" presetSubtype="10" fill="hold" grpId="1" nodeType="clickEffect">
                                  <p:stCondLst>
                                    <p:cond delay="0"/>
                                  </p:stCondLst>
                                  <p:childTnLst>
                                    <p:animEffect transition="out" filter="blinds(horizontal)">
                                      <p:cBhvr>
                                        <p:cTn id="16" dur="500"/>
                                        <p:tgtEl>
                                          <p:spTgt spid="131093"/>
                                        </p:tgtEl>
                                      </p:cBhvr>
                                    </p:animEffect>
                                    <p:set>
                                      <p:cBhvr>
                                        <p:cTn id="17" dur="1" fill="hold">
                                          <p:stCondLst>
                                            <p:cond delay="499"/>
                                          </p:stCondLst>
                                        </p:cTn>
                                        <p:tgtEl>
                                          <p:spTgt spid="131093"/>
                                        </p:tgtEl>
                                        <p:attrNameLst>
                                          <p:attrName>style.visibility</p:attrName>
                                        </p:attrNameLst>
                                      </p:cBhvr>
                                      <p:to>
                                        <p:strVal val="hidden"/>
                                      </p:to>
                                    </p:set>
                                  </p:childTnLst>
                                </p:cTn>
                              </p:par>
                              <p:par>
                                <p:cTn id="18" presetID="3" presetClass="exit" presetSubtype="10" fill="hold" nodeType="withEffect">
                                  <p:stCondLst>
                                    <p:cond delay="0"/>
                                  </p:stCondLst>
                                  <p:childTnLst>
                                    <p:animEffect transition="out" filter="blinds(horizontal)">
                                      <p:cBhvr>
                                        <p:cTn id="19" dur="500"/>
                                        <p:tgtEl>
                                          <p:spTgt spid="131092"/>
                                        </p:tgtEl>
                                      </p:cBhvr>
                                    </p:animEffect>
                                    <p:set>
                                      <p:cBhvr>
                                        <p:cTn id="20" dur="1" fill="hold">
                                          <p:stCondLst>
                                            <p:cond delay="499"/>
                                          </p:stCondLst>
                                        </p:cTn>
                                        <p:tgtEl>
                                          <p:spTgt spid="131092"/>
                                        </p:tgtEl>
                                        <p:attrNameLst>
                                          <p:attrName>style.visibility</p:attrName>
                                        </p:attrNameLst>
                                      </p:cBhvr>
                                      <p:to>
                                        <p:strVal val="hidden"/>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4" fill="hold" nodeType="clickEffect">
                                  <p:stCondLst>
                                    <p:cond delay="0"/>
                                  </p:stCondLst>
                                  <p:childTnLst>
                                    <p:set>
                                      <p:cBhvr>
                                        <p:cTn id="24" dur="1" fill="hold">
                                          <p:stCondLst>
                                            <p:cond delay="0"/>
                                          </p:stCondLst>
                                        </p:cTn>
                                        <p:tgtEl>
                                          <p:spTgt spid="131131"/>
                                        </p:tgtEl>
                                        <p:attrNameLst>
                                          <p:attrName>style.visibility</p:attrName>
                                        </p:attrNameLst>
                                      </p:cBhvr>
                                      <p:to>
                                        <p:strVal val="visible"/>
                                      </p:to>
                                    </p:set>
                                    <p:animEffect transition="in" filter="slide(fromBottom)">
                                      <p:cBhvr>
                                        <p:cTn id="25" dur="500"/>
                                        <p:tgtEl>
                                          <p:spTgt spid="131131"/>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2" presetClass="entr" presetSubtype="4" fill="hold" nodeType="clickEffect">
                                  <p:stCondLst>
                                    <p:cond delay="0"/>
                                  </p:stCondLst>
                                  <p:childTnLst>
                                    <p:set>
                                      <p:cBhvr>
                                        <p:cTn id="29" dur="1" fill="hold">
                                          <p:stCondLst>
                                            <p:cond delay="0"/>
                                          </p:stCondLst>
                                        </p:cTn>
                                        <p:tgtEl>
                                          <p:spTgt spid="131134"/>
                                        </p:tgtEl>
                                        <p:attrNameLst>
                                          <p:attrName>style.visibility</p:attrName>
                                        </p:attrNameLst>
                                      </p:cBhvr>
                                      <p:to>
                                        <p:strVal val="visible"/>
                                      </p:to>
                                    </p:set>
                                    <p:animEffect transition="in" filter="slide(fromBottom)">
                                      <p:cBhvr>
                                        <p:cTn id="30" dur="500"/>
                                        <p:tgtEl>
                                          <p:spTgt spid="13113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2" presetClass="entr" presetSubtype="4" fill="hold" nodeType="clickEffect">
                                  <p:stCondLst>
                                    <p:cond delay="0"/>
                                  </p:stCondLst>
                                  <p:childTnLst>
                                    <p:set>
                                      <p:cBhvr>
                                        <p:cTn id="34" dur="1" fill="hold">
                                          <p:stCondLst>
                                            <p:cond delay="0"/>
                                          </p:stCondLst>
                                        </p:cTn>
                                        <p:tgtEl>
                                          <p:spTgt spid="131136"/>
                                        </p:tgtEl>
                                        <p:attrNameLst>
                                          <p:attrName>style.visibility</p:attrName>
                                        </p:attrNameLst>
                                      </p:cBhvr>
                                      <p:to>
                                        <p:strVal val="visible"/>
                                      </p:to>
                                    </p:set>
                                    <p:animEffect transition="in" filter="slide(fromBottom)">
                                      <p:cBhvr>
                                        <p:cTn id="35" dur="500"/>
                                        <p:tgtEl>
                                          <p:spTgt spid="131136"/>
                                        </p:tgtEl>
                                      </p:cBhvr>
                                    </p:animEffect>
                                  </p:childTnLst>
                                </p:cTn>
                              </p:par>
                              <p:par>
                                <p:cTn id="36" presetID="12" presetClass="entr" presetSubtype="4" fill="hold" nodeType="withEffect">
                                  <p:stCondLst>
                                    <p:cond delay="0"/>
                                  </p:stCondLst>
                                  <p:childTnLst>
                                    <p:set>
                                      <p:cBhvr>
                                        <p:cTn id="37" dur="1" fill="hold">
                                          <p:stCondLst>
                                            <p:cond delay="0"/>
                                          </p:stCondLst>
                                        </p:cTn>
                                        <p:tgtEl>
                                          <p:spTgt spid="131137"/>
                                        </p:tgtEl>
                                        <p:attrNameLst>
                                          <p:attrName>style.visibility</p:attrName>
                                        </p:attrNameLst>
                                      </p:cBhvr>
                                      <p:to>
                                        <p:strVal val="visible"/>
                                      </p:to>
                                    </p:set>
                                    <p:animEffect transition="in" filter="slide(fromBottom)">
                                      <p:cBhvr>
                                        <p:cTn id="38" dur="500"/>
                                        <p:tgtEl>
                                          <p:spTgt spid="13113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2" presetClass="entr" presetSubtype="4" fill="hold" grpId="1" nodeType="clickEffect">
                                  <p:stCondLst>
                                    <p:cond delay="0"/>
                                  </p:stCondLst>
                                  <p:childTnLst>
                                    <p:set>
                                      <p:cBhvr>
                                        <p:cTn id="42" dur="1" fill="hold">
                                          <p:stCondLst>
                                            <p:cond delay="0"/>
                                          </p:stCondLst>
                                        </p:cTn>
                                        <p:tgtEl>
                                          <p:spTgt spid="131138"/>
                                        </p:tgtEl>
                                        <p:attrNameLst>
                                          <p:attrName>style.visibility</p:attrName>
                                        </p:attrNameLst>
                                      </p:cBhvr>
                                      <p:to>
                                        <p:strVal val="visible"/>
                                      </p:to>
                                    </p:set>
                                    <p:animEffect transition="in" filter="slide(fromBottom)">
                                      <p:cBhvr>
                                        <p:cTn id="43" dur="500"/>
                                        <p:tgtEl>
                                          <p:spTgt spid="131138"/>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2" presetClass="entr" presetSubtype="4" fill="hold" grpId="0" nodeType="clickEffect">
                                  <p:stCondLst>
                                    <p:cond delay="0"/>
                                  </p:stCondLst>
                                  <p:childTnLst>
                                    <p:set>
                                      <p:cBhvr>
                                        <p:cTn id="47" dur="1" fill="hold">
                                          <p:stCondLst>
                                            <p:cond delay="0"/>
                                          </p:stCondLst>
                                        </p:cTn>
                                        <p:tgtEl>
                                          <p:spTgt spid="131139"/>
                                        </p:tgtEl>
                                        <p:attrNameLst>
                                          <p:attrName>style.visibility</p:attrName>
                                        </p:attrNameLst>
                                      </p:cBhvr>
                                      <p:to>
                                        <p:strVal val="visible"/>
                                      </p:to>
                                    </p:set>
                                    <p:animEffect transition="in" filter="slide(fromBottom)">
                                      <p:cBhvr>
                                        <p:cTn id="48" dur="500"/>
                                        <p:tgtEl>
                                          <p:spTgt spid="131139"/>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2" presetClass="entr" presetSubtype="4" fill="hold" nodeType="clickEffect">
                                  <p:stCondLst>
                                    <p:cond delay="0"/>
                                  </p:stCondLst>
                                  <p:childTnLst>
                                    <p:set>
                                      <p:cBhvr>
                                        <p:cTn id="52" dur="1" fill="hold">
                                          <p:stCondLst>
                                            <p:cond delay="0"/>
                                          </p:stCondLst>
                                        </p:cTn>
                                        <p:tgtEl>
                                          <p:spTgt spid="131152"/>
                                        </p:tgtEl>
                                        <p:attrNameLst>
                                          <p:attrName>style.visibility</p:attrName>
                                        </p:attrNameLst>
                                      </p:cBhvr>
                                      <p:to>
                                        <p:strVal val="visible"/>
                                      </p:to>
                                    </p:set>
                                    <p:animEffect transition="in" filter="slide(fromBottom)">
                                      <p:cBhvr>
                                        <p:cTn id="53" dur="500"/>
                                        <p:tgtEl>
                                          <p:spTgt spid="131152"/>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2" presetClass="entr" presetSubtype="4" fill="hold" grpId="0" nodeType="clickEffect">
                                  <p:stCondLst>
                                    <p:cond delay="0"/>
                                  </p:stCondLst>
                                  <p:childTnLst>
                                    <p:set>
                                      <p:cBhvr>
                                        <p:cTn id="57" dur="1" fill="hold">
                                          <p:stCondLst>
                                            <p:cond delay="0"/>
                                          </p:stCondLst>
                                        </p:cTn>
                                        <p:tgtEl>
                                          <p:spTgt spid="131142"/>
                                        </p:tgtEl>
                                        <p:attrNameLst>
                                          <p:attrName>style.visibility</p:attrName>
                                        </p:attrNameLst>
                                      </p:cBhvr>
                                      <p:to>
                                        <p:strVal val="visible"/>
                                      </p:to>
                                    </p:set>
                                    <p:animEffect transition="in" filter="slide(fromBottom)">
                                      <p:cBhvr>
                                        <p:cTn id="58" dur="500"/>
                                        <p:tgtEl>
                                          <p:spTgt spid="131142"/>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12" presetClass="entr" presetSubtype="4" fill="hold" grpId="0" nodeType="clickEffect">
                                  <p:stCondLst>
                                    <p:cond delay="0"/>
                                  </p:stCondLst>
                                  <p:childTnLst>
                                    <p:set>
                                      <p:cBhvr>
                                        <p:cTn id="62" dur="1" fill="hold">
                                          <p:stCondLst>
                                            <p:cond delay="0"/>
                                          </p:stCondLst>
                                        </p:cTn>
                                        <p:tgtEl>
                                          <p:spTgt spid="131143"/>
                                        </p:tgtEl>
                                        <p:attrNameLst>
                                          <p:attrName>style.visibility</p:attrName>
                                        </p:attrNameLst>
                                      </p:cBhvr>
                                      <p:to>
                                        <p:strVal val="visible"/>
                                      </p:to>
                                    </p:set>
                                    <p:animEffect transition="in" filter="slide(fromBottom)">
                                      <p:cBhvr>
                                        <p:cTn id="63" dur="500"/>
                                        <p:tgtEl>
                                          <p:spTgt spid="131143"/>
                                        </p:tgtEl>
                                      </p:cBhvr>
                                    </p:animEffect>
                                  </p:childTnLst>
                                </p:cTn>
                              </p:par>
                              <p:par>
                                <p:cTn id="64" presetID="12" presetClass="entr" presetSubtype="4" fill="hold" grpId="0" nodeType="withEffect">
                                  <p:stCondLst>
                                    <p:cond delay="0"/>
                                  </p:stCondLst>
                                  <p:childTnLst>
                                    <p:set>
                                      <p:cBhvr>
                                        <p:cTn id="65" dur="1" fill="hold">
                                          <p:stCondLst>
                                            <p:cond delay="0"/>
                                          </p:stCondLst>
                                        </p:cTn>
                                        <p:tgtEl>
                                          <p:spTgt spid="131144"/>
                                        </p:tgtEl>
                                        <p:attrNameLst>
                                          <p:attrName>style.visibility</p:attrName>
                                        </p:attrNameLst>
                                      </p:cBhvr>
                                      <p:to>
                                        <p:strVal val="visible"/>
                                      </p:to>
                                    </p:set>
                                    <p:animEffect transition="in" filter="slide(fromBottom)">
                                      <p:cBhvr>
                                        <p:cTn id="66" dur="500"/>
                                        <p:tgtEl>
                                          <p:spTgt spid="131144"/>
                                        </p:tgtEl>
                                      </p:cBhvr>
                                    </p:animEffect>
                                  </p:childTnLst>
                                </p:cTn>
                              </p:par>
                              <p:par>
                                <p:cTn id="67" presetID="12" presetClass="entr" presetSubtype="4" fill="hold" nodeType="withEffect">
                                  <p:stCondLst>
                                    <p:cond delay="0"/>
                                  </p:stCondLst>
                                  <p:childTnLst>
                                    <p:set>
                                      <p:cBhvr>
                                        <p:cTn id="68" dur="1" fill="hold">
                                          <p:stCondLst>
                                            <p:cond delay="0"/>
                                          </p:stCondLst>
                                        </p:cTn>
                                        <p:tgtEl>
                                          <p:spTgt spid="131147"/>
                                        </p:tgtEl>
                                        <p:attrNameLst>
                                          <p:attrName>style.visibility</p:attrName>
                                        </p:attrNameLst>
                                      </p:cBhvr>
                                      <p:to>
                                        <p:strVal val="visible"/>
                                      </p:to>
                                    </p:set>
                                    <p:animEffect transition="in" filter="slide(fromBottom)">
                                      <p:cBhvr>
                                        <p:cTn id="69" dur="500"/>
                                        <p:tgtEl>
                                          <p:spTgt spid="131147"/>
                                        </p:tgtEl>
                                      </p:cBhvr>
                                    </p:animEffect>
                                  </p:childTnLst>
                                </p:cTn>
                              </p:par>
                              <p:par>
                                <p:cTn id="70" presetID="12" presetClass="entr" presetSubtype="4" fill="hold" nodeType="withEffect">
                                  <p:stCondLst>
                                    <p:cond delay="0"/>
                                  </p:stCondLst>
                                  <p:childTnLst>
                                    <p:set>
                                      <p:cBhvr>
                                        <p:cTn id="71" dur="1" fill="hold">
                                          <p:stCondLst>
                                            <p:cond delay="0"/>
                                          </p:stCondLst>
                                        </p:cTn>
                                        <p:tgtEl>
                                          <p:spTgt spid="131145"/>
                                        </p:tgtEl>
                                        <p:attrNameLst>
                                          <p:attrName>style.visibility</p:attrName>
                                        </p:attrNameLst>
                                      </p:cBhvr>
                                      <p:to>
                                        <p:strVal val="visible"/>
                                      </p:to>
                                    </p:set>
                                    <p:animEffect transition="in" filter="slide(fromBottom)">
                                      <p:cBhvr>
                                        <p:cTn id="72" dur="500"/>
                                        <p:tgtEl>
                                          <p:spTgt spid="131145"/>
                                        </p:tgtEl>
                                      </p:cBhvr>
                                    </p:animEffect>
                                  </p:childTnLst>
                                </p:cTn>
                              </p:par>
                              <p:par>
                                <p:cTn id="73" presetID="12" presetClass="entr" presetSubtype="4" fill="hold" nodeType="withEffect">
                                  <p:stCondLst>
                                    <p:cond delay="0"/>
                                  </p:stCondLst>
                                  <p:childTnLst>
                                    <p:set>
                                      <p:cBhvr>
                                        <p:cTn id="74" dur="1" fill="hold">
                                          <p:stCondLst>
                                            <p:cond delay="0"/>
                                          </p:stCondLst>
                                        </p:cTn>
                                        <p:tgtEl>
                                          <p:spTgt spid="131146"/>
                                        </p:tgtEl>
                                        <p:attrNameLst>
                                          <p:attrName>style.visibility</p:attrName>
                                        </p:attrNameLst>
                                      </p:cBhvr>
                                      <p:to>
                                        <p:strVal val="visible"/>
                                      </p:to>
                                    </p:set>
                                    <p:animEffect transition="in" filter="slide(fromBottom)">
                                      <p:cBhvr>
                                        <p:cTn id="75" dur="500"/>
                                        <p:tgtEl>
                                          <p:spTgt spid="131146"/>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9"/>
                                        </p:tgtEl>
                                        <p:attrNameLst>
                                          <p:attrName>style.visibility</p:attrName>
                                        </p:attrNameLst>
                                      </p:cBhvr>
                                      <p:to>
                                        <p:strVal val="visible"/>
                                      </p:to>
                                    </p:set>
                                    <p:animEffect transition="in" filter="fade">
                                      <p:cBhvr>
                                        <p:cTn id="80" dur="500"/>
                                        <p:tgtEl>
                                          <p:spTgt spid="9"/>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10"/>
                                        </p:tgtEl>
                                        <p:attrNameLst>
                                          <p:attrName>style.visibility</p:attrName>
                                        </p:attrNameLst>
                                      </p:cBhvr>
                                      <p:to>
                                        <p:strVal val="visible"/>
                                      </p:to>
                                    </p:set>
                                    <p:animEffect transition="in" filter="fade">
                                      <p:cBhvr>
                                        <p:cTn id="85" dur="500"/>
                                        <p:tgtEl>
                                          <p:spTgt spid="10"/>
                                        </p:tgtEl>
                                      </p:cBhvr>
                                    </p:animEffect>
                                  </p:childTnLst>
                                </p:cTn>
                              </p:par>
                            </p:childTnLst>
                          </p:cTn>
                        </p:par>
                      </p:childTnLst>
                    </p:cTn>
                  </p:par>
                  <p:par>
                    <p:cTn id="86" fill="hold">
                      <p:stCondLst>
                        <p:cond delay="indefinite"/>
                      </p:stCondLst>
                      <p:childTnLst>
                        <p:par>
                          <p:cTn id="87" fill="hold">
                            <p:stCondLst>
                              <p:cond delay="0"/>
                            </p:stCondLst>
                            <p:childTnLst>
                              <p:par>
                                <p:cTn id="88" presetID="12" presetClass="entr" presetSubtype="4" fill="hold" grpId="1" nodeType="clickEffect">
                                  <p:stCondLst>
                                    <p:cond delay="0"/>
                                  </p:stCondLst>
                                  <p:childTnLst>
                                    <p:set>
                                      <p:cBhvr>
                                        <p:cTn id="89" dur="1" fill="hold">
                                          <p:stCondLst>
                                            <p:cond delay="0"/>
                                          </p:stCondLst>
                                        </p:cTn>
                                        <p:tgtEl>
                                          <p:spTgt spid="131151"/>
                                        </p:tgtEl>
                                        <p:attrNameLst>
                                          <p:attrName>style.visibility</p:attrName>
                                        </p:attrNameLst>
                                      </p:cBhvr>
                                      <p:to>
                                        <p:strVal val="visible"/>
                                      </p:to>
                                    </p:set>
                                    <p:animEffect transition="in" filter="slide(fromBottom)">
                                      <p:cBhvr>
                                        <p:cTn id="90" dur="500"/>
                                        <p:tgtEl>
                                          <p:spTgt spid="131151"/>
                                        </p:tgtEl>
                                      </p:cBhvr>
                                    </p:animEffect>
                                  </p:childTnLst>
                                </p:cTn>
                              </p:par>
                            </p:childTnLst>
                          </p:cTn>
                        </p:par>
                      </p:childTnLst>
                    </p:cTn>
                  </p:par>
                  <p:par>
                    <p:cTn id="91" fill="hold">
                      <p:stCondLst>
                        <p:cond delay="indefinite"/>
                      </p:stCondLst>
                      <p:childTnLst>
                        <p:par>
                          <p:cTn id="92" fill="hold">
                            <p:stCondLst>
                              <p:cond delay="0"/>
                            </p:stCondLst>
                            <p:childTnLst>
                              <p:par>
                                <p:cTn id="93" presetID="12" presetClass="entr" presetSubtype="4" fill="hold" grpId="0" nodeType="clickEffect">
                                  <p:stCondLst>
                                    <p:cond delay="0"/>
                                  </p:stCondLst>
                                  <p:childTnLst>
                                    <p:set>
                                      <p:cBhvr>
                                        <p:cTn id="94" dur="1" fill="hold">
                                          <p:stCondLst>
                                            <p:cond delay="0"/>
                                          </p:stCondLst>
                                        </p:cTn>
                                        <p:tgtEl>
                                          <p:spTgt spid="131150"/>
                                        </p:tgtEl>
                                        <p:attrNameLst>
                                          <p:attrName>style.visibility</p:attrName>
                                        </p:attrNameLst>
                                      </p:cBhvr>
                                      <p:to>
                                        <p:strVal val="visible"/>
                                      </p:to>
                                    </p:set>
                                    <p:animEffect transition="in" filter="slide(fromBottom)">
                                      <p:cBhvr>
                                        <p:cTn id="95" dur="500"/>
                                        <p:tgtEl>
                                          <p:spTgt spid="131150"/>
                                        </p:tgtEl>
                                      </p:cBhvr>
                                    </p:animEffect>
                                  </p:childTnLst>
                                </p:cTn>
                              </p:par>
                            </p:childTnLst>
                          </p:cTn>
                        </p:par>
                      </p:childTnLst>
                    </p:cTn>
                  </p:par>
                  <p:par>
                    <p:cTn id="96" fill="hold">
                      <p:stCondLst>
                        <p:cond delay="indefinite"/>
                      </p:stCondLst>
                      <p:childTnLst>
                        <p:par>
                          <p:cTn id="97" fill="hold">
                            <p:stCondLst>
                              <p:cond delay="0"/>
                            </p:stCondLst>
                            <p:childTnLst>
                              <p:par>
                                <p:cTn id="98" presetID="12" presetClass="entr" presetSubtype="4" fill="hold" nodeType="clickEffect">
                                  <p:stCondLst>
                                    <p:cond delay="0"/>
                                  </p:stCondLst>
                                  <p:childTnLst>
                                    <p:set>
                                      <p:cBhvr>
                                        <p:cTn id="99" dur="1" fill="hold">
                                          <p:stCondLst>
                                            <p:cond delay="0"/>
                                          </p:stCondLst>
                                        </p:cTn>
                                        <p:tgtEl>
                                          <p:spTgt spid="131154"/>
                                        </p:tgtEl>
                                        <p:attrNameLst>
                                          <p:attrName>style.visibility</p:attrName>
                                        </p:attrNameLst>
                                      </p:cBhvr>
                                      <p:to>
                                        <p:strVal val="visible"/>
                                      </p:to>
                                    </p:set>
                                    <p:animEffect transition="in" filter="slide(fromBottom)">
                                      <p:cBhvr>
                                        <p:cTn id="100" dur="500"/>
                                        <p:tgtEl>
                                          <p:spTgt spid="131154"/>
                                        </p:tgtEl>
                                      </p:cBhvr>
                                    </p:animEffect>
                                  </p:childTnLst>
                                </p:cTn>
                              </p:par>
                            </p:childTnLst>
                          </p:cTn>
                        </p:par>
                      </p:childTnLst>
                    </p:cTn>
                  </p:par>
                  <p:par>
                    <p:cTn id="101" fill="hold">
                      <p:stCondLst>
                        <p:cond delay="indefinite"/>
                      </p:stCondLst>
                      <p:childTnLst>
                        <p:par>
                          <p:cTn id="102" fill="hold">
                            <p:stCondLst>
                              <p:cond delay="0"/>
                            </p:stCondLst>
                            <p:childTnLst>
                              <p:par>
                                <p:cTn id="103" presetID="12" presetClass="entr" presetSubtype="4" fill="hold" nodeType="clickEffect">
                                  <p:stCondLst>
                                    <p:cond delay="0"/>
                                  </p:stCondLst>
                                  <p:childTnLst>
                                    <p:set>
                                      <p:cBhvr>
                                        <p:cTn id="104" dur="1" fill="hold">
                                          <p:stCondLst>
                                            <p:cond delay="0"/>
                                          </p:stCondLst>
                                        </p:cTn>
                                        <p:tgtEl>
                                          <p:spTgt spid="131103"/>
                                        </p:tgtEl>
                                        <p:attrNameLst>
                                          <p:attrName>style.visibility</p:attrName>
                                        </p:attrNameLst>
                                      </p:cBhvr>
                                      <p:to>
                                        <p:strVal val="visible"/>
                                      </p:to>
                                    </p:set>
                                    <p:animEffect transition="in" filter="slide(fromBottom)">
                                      <p:cBhvr>
                                        <p:cTn id="105" dur="500"/>
                                        <p:tgtEl>
                                          <p:spTgt spid="131103"/>
                                        </p:tgtEl>
                                      </p:cBhvr>
                                    </p:animEffect>
                                  </p:childTnLst>
                                </p:cTn>
                              </p:par>
                            </p:childTnLst>
                          </p:cTn>
                        </p:par>
                      </p:childTnLst>
                    </p:cTn>
                  </p:par>
                  <p:par>
                    <p:cTn id="106" fill="hold">
                      <p:stCondLst>
                        <p:cond delay="indefinite"/>
                      </p:stCondLst>
                      <p:childTnLst>
                        <p:par>
                          <p:cTn id="107" fill="hold">
                            <p:stCondLst>
                              <p:cond delay="0"/>
                            </p:stCondLst>
                            <p:childTnLst>
                              <p:par>
                                <p:cTn id="108" presetID="12" presetClass="entr" presetSubtype="4" fill="hold" nodeType="clickEffect">
                                  <p:stCondLst>
                                    <p:cond delay="0"/>
                                  </p:stCondLst>
                                  <p:childTnLst>
                                    <p:set>
                                      <p:cBhvr>
                                        <p:cTn id="109" dur="1" fill="hold">
                                          <p:stCondLst>
                                            <p:cond delay="0"/>
                                          </p:stCondLst>
                                        </p:cTn>
                                        <p:tgtEl>
                                          <p:spTgt spid="68"/>
                                        </p:tgtEl>
                                        <p:attrNameLst>
                                          <p:attrName>style.visibility</p:attrName>
                                        </p:attrNameLst>
                                      </p:cBhvr>
                                      <p:to>
                                        <p:strVal val="visible"/>
                                      </p:to>
                                    </p:set>
                                    <p:animEffect transition="in" filter="slide(fromBottom)">
                                      <p:cBhvr>
                                        <p:cTn id="110" dur="500"/>
                                        <p:tgtEl>
                                          <p:spTgt spid="68"/>
                                        </p:tgtEl>
                                      </p:cBhvr>
                                    </p:animEffect>
                                  </p:childTnLst>
                                </p:cTn>
                              </p:par>
                            </p:childTnLst>
                          </p:cTn>
                        </p:par>
                      </p:childTnLst>
                    </p:cTn>
                  </p:par>
                  <p:par>
                    <p:cTn id="111" fill="hold">
                      <p:stCondLst>
                        <p:cond delay="indefinite"/>
                      </p:stCondLst>
                      <p:childTnLst>
                        <p:par>
                          <p:cTn id="112" fill="hold">
                            <p:stCondLst>
                              <p:cond delay="0"/>
                            </p:stCondLst>
                            <p:childTnLst>
                              <p:par>
                                <p:cTn id="113" presetID="7" presetClass="entr" presetSubtype="2" fill="hold" grpId="0" nodeType="clickEffect">
                                  <p:stCondLst>
                                    <p:cond delay="0"/>
                                  </p:stCondLst>
                                  <p:childTnLst>
                                    <p:set>
                                      <p:cBhvr>
                                        <p:cTn id="114" dur="1" fill="hold">
                                          <p:stCondLst>
                                            <p:cond delay="0"/>
                                          </p:stCondLst>
                                        </p:cTn>
                                        <p:tgtEl>
                                          <p:spTgt spid="74"/>
                                        </p:tgtEl>
                                        <p:attrNameLst>
                                          <p:attrName>style.visibility</p:attrName>
                                        </p:attrNameLst>
                                      </p:cBhvr>
                                      <p:to>
                                        <p:strVal val="visible"/>
                                      </p:to>
                                    </p:set>
                                    <p:anim calcmode="lin" valueType="num">
                                      <p:cBhvr additive="base">
                                        <p:cTn id="115" dur="500" fill="hold"/>
                                        <p:tgtEl>
                                          <p:spTgt spid="74"/>
                                        </p:tgtEl>
                                        <p:attrNameLst>
                                          <p:attrName>ppt_x</p:attrName>
                                        </p:attrNameLst>
                                      </p:cBhvr>
                                      <p:tavLst>
                                        <p:tav tm="0">
                                          <p:val>
                                            <p:strVal val="1+#ppt_w/2"/>
                                          </p:val>
                                        </p:tav>
                                        <p:tav tm="100000">
                                          <p:val>
                                            <p:strVal val="#ppt_x"/>
                                          </p:val>
                                        </p:tav>
                                      </p:tavLst>
                                    </p:anim>
                                    <p:anim calcmode="lin" valueType="num">
                                      <p:cBhvr additive="base">
                                        <p:cTn id="116" dur="500" fill="hold"/>
                                        <p:tgtEl>
                                          <p:spTgt spid="74"/>
                                        </p:tgtEl>
                                        <p:attrNameLst>
                                          <p:attrName>ppt_y</p:attrName>
                                        </p:attrNameLst>
                                      </p:cBhvr>
                                      <p:tavLst>
                                        <p:tav tm="0">
                                          <p:val>
                                            <p:strVal val="#ppt_y"/>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7" presetClass="entr" presetSubtype="2" fill="hold" grpId="0" nodeType="clickEffect">
                                  <p:stCondLst>
                                    <p:cond delay="0"/>
                                  </p:stCondLst>
                                  <p:childTnLst>
                                    <p:set>
                                      <p:cBhvr>
                                        <p:cTn id="120" dur="1" fill="hold">
                                          <p:stCondLst>
                                            <p:cond delay="0"/>
                                          </p:stCondLst>
                                        </p:cTn>
                                        <p:tgtEl>
                                          <p:spTgt spid="75"/>
                                        </p:tgtEl>
                                        <p:attrNameLst>
                                          <p:attrName>style.visibility</p:attrName>
                                        </p:attrNameLst>
                                      </p:cBhvr>
                                      <p:to>
                                        <p:strVal val="visible"/>
                                      </p:to>
                                    </p:set>
                                    <p:anim calcmode="lin" valueType="num">
                                      <p:cBhvr additive="base">
                                        <p:cTn id="121" dur="500" fill="hold"/>
                                        <p:tgtEl>
                                          <p:spTgt spid="75"/>
                                        </p:tgtEl>
                                        <p:attrNameLst>
                                          <p:attrName>ppt_x</p:attrName>
                                        </p:attrNameLst>
                                      </p:cBhvr>
                                      <p:tavLst>
                                        <p:tav tm="0">
                                          <p:val>
                                            <p:strVal val="1+#ppt_w/2"/>
                                          </p:val>
                                        </p:tav>
                                        <p:tav tm="100000">
                                          <p:val>
                                            <p:strVal val="#ppt_x"/>
                                          </p:val>
                                        </p:tav>
                                      </p:tavLst>
                                    </p:anim>
                                    <p:anim calcmode="lin" valueType="num">
                                      <p:cBhvr additive="base">
                                        <p:cTn id="122" dur="500" fill="hold"/>
                                        <p:tgtEl>
                                          <p:spTgt spid="75"/>
                                        </p:tgtEl>
                                        <p:attrNameLst>
                                          <p:attrName>ppt_y</p:attrName>
                                        </p:attrNameLst>
                                      </p:cBhvr>
                                      <p:tavLst>
                                        <p:tav tm="0">
                                          <p:val>
                                            <p:strVal val="#ppt_y"/>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grpId="0" nodeType="clickEffect">
                                  <p:stCondLst>
                                    <p:cond delay="0"/>
                                  </p:stCondLst>
                                  <p:childTnLst>
                                    <p:set>
                                      <p:cBhvr>
                                        <p:cTn id="126" dur="1" fill="hold">
                                          <p:stCondLst>
                                            <p:cond delay="0"/>
                                          </p:stCondLst>
                                        </p:cTn>
                                        <p:tgtEl>
                                          <p:spTgt spid="84"/>
                                        </p:tgtEl>
                                        <p:attrNameLst>
                                          <p:attrName>style.visibility</p:attrName>
                                        </p:attrNameLst>
                                      </p:cBhvr>
                                      <p:to>
                                        <p:strVal val="visible"/>
                                      </p:to>
                                    </p:set>
                                    <p:animEffect transition="in" filter="wipe(left)">
                                      <p:cBhvr>
                                        <p:cTn id="127" dur="500"/>
                                        <p:tgtEl>
                                          <p:spTgt spid="84"/>
                                        </p:tgtEl>
                                      </p:cBhvr>
                                    </p:animEffect>
                                  </p:childTnLst>
                                </p:cTn>
                              </p:par>
                            </p:childTnLst>
                          </p:cTn>
                        </p:par>
                      </p:childTnLst>
                    </p:cTn>
                  </p:par>
                  <p:par>
                    <p:cTn id="128" fill="hold">
                      <p:stCondLst>
                        <p:cond delay="indefinite"/>
                      </p:stCondLst>
                      <p:childTnLst>
                        <p:par>
                          <p:cTn id="129" fill="hold">
                            <p:stCondLst>
                              <p:cond delay="0"/>
                            </p:stCondLst>
                            <p:childTnLst>
                              <p:par>
                                <p:cTn id="130" presetID="12" presetClass="entr" presetSubtype="4" fill="hold" grpId="0" nodeType="clickEffect">
                                  <p:stCondLst>
                                    <p:cond delay="0"/>
                                  </p:stCondLst>
                                  <p:childTnLst>
                                    <p:set>
                                      <p:cBhvr>
                                        <p:cTn id="131" dur="1" fill="hold">
                                          <p:stCondLst>
                                            <p:cond delay="0"/>
                                          </p:stCondLst>
                                        </p:cTn>
                                        <p:tgtEl>
                                          <p:spTgt spid="76"/>
                                        </p:tgtEl>
                                        <p:attrNameLst>
                                          <p:attrName>style.visibility</p:attrName>
                                        </p:attrNameLst>
                                      </p:cBhvr>
                                      <p:to>
                                        <p:strVal val="visible"/>
                                      </p:to>
                                    </p:set>
                                    <p:animEffect transition="in" filter="slide(fromBottom)">
                                      <p:cBhvr>
                                        <p:cTn id="132" dur="500"/>
                                        <p:tgtEl>
                                          <p:spTgt spid="76"/>
                                        </p:tgtEl>
                                      </p:cBhvr>
                                    </p:animEffect>
                                  </p:childTnLst>
                                </p:cTn>
                              </p:par>
                            </p:childTnLst>
                          </p:cTn>
                        </p:par>
                      </p:childTnLst>
                    </p:cTn>
                  </p:par>
                  <p:par>
                    <p:cTn id="133" fill="hold">
                      <p:stCondLst>
                        <p:cond delay="indefinite"/>
                      </p:stCondLst>
                      <p:childTnLst>
                        <p:par>
                          <p:cTn id="134" fill="hold">
                            <p:stCondLst>
                              <p:cond delay="0"/>
                            </p:stCondLst>
                            <p:childTnLst>
                              <p:par>
                                <p:cTn id="135" presetID="12" presetClass="entr" presetSubtype="4" fill="hold" nodeType="clickEffect">
                                  <p:stCondLst>
                                    <p:cond delay="0"/>
                                  </p:stCondLst>
                                  <p:childTnLst>
                                    <p:set>
                                      <p:cBhvr>
                                        <p:cTn id="136" dur="1" fill="hold">
                                          <p:stCondLst>
                                            <p:cond delay="0"/>
                                          </p:stCondLst>
                                        </p:cTn>
                                        <p:tgtEl>
                                          <p:spTgt spid="131172"/>
                                        </p:tgtEl>
                                        <p:attrNameLst>
                                          <p:attrName>style.visibility</p:attrName>
                                        </p:attrNameLst>
                                      </p:cBhvr>
                                      <p:to>
                                        <p:strVal val="visible"/>
                                      </p:to>
                                    </p:set>
                                    <p:animEffect transition="in" filter="slide(fromBottom)">
                                      <p:cBhvr>
                                        <p:cTn id="137" dur="500"/>
                                        <p:tgtEl>
                                          <p:spTgt spid="131172"/>
                                        </p:tgtEl>
                                      </p:cBhvr>
                                    </p:animEffect>
                                  </p:childTnLst>
                                </p:cTn>
                              </p:par>
                            </p:childTnLst>
                          </p:cTn>
                        </p:par>
                      </p:childTnLst>
                    </p:cTn>
                  </p:par>
                  <p:par>
                    <p:cTn id="138" fill="hold">
                      <p:stCondLst>
                        <p:cond delay="indefinite"/>
                      </p:stCondLst>
                      <p:childTnLst>
                        <p:par>
                          <p:cTn id="139" fill="hold">
                            <p:stCondLst>
                              <p:cond delay="0"/>
                            </p:stCondLst>
                            <p:childTnLst>
                              <p:par>
                                <p:cTn id="140" presetID="12" presetClass="entr" presetSubtype="4" fill="hold" nodeType="clickEffect">
                                  <p:stCondLst>
                                    <p:cond delay="0"/>
                                  </p:stCondLst>
                                  <p:childTnLst>
                                    <p:set>
                                      <p:cBhvr>
                                        <p:cTn id="141" dur="1" fill="hold">
                                          <p:stCondLst>
                                            <p:cond delay="0"/>
                                          </p:stCondLst>
                                        </p:cTn>
                                        <p:tgtEl>
                                          <p:spTgt spid="131164"/>
                                        </p:tgtEl>
                                        <p:attrNameLst>
                                          <p:attrName>style.visibility</p:attrName>
                                        </p:attrNameLst>
                                      </p:cBhvr>
                                      <p:to>
                                        <p:strVal val="visible"/>
                                      </p:to>
                                    </p:set>
                                    <p:animEffect transition="in" filter="slide(fromBottom)">
                                      <p:cBhvr>
                                        <p:cTn id="142" dur="500"/>
                                        <p:tgtEl>
                                          <p:spTgt spid="131164"/>
                                        </p:tgtEl>
                                      </p:cBhvr>
                                    </p:animEffect>
                                  </p:childTnLst>
                                </p:cTn>
                              </p:par>
                              <p:par>
                                <p:cTn id="143" presetID="12" presetClass="entr" presetSubtype="4" fill="hold" nodeType="withEffect">
                                  <p:stCondLst>
                                    <p:cond delay="0"/>
                                  </p:stCondLst>
                                  <p:childTnLst>
                                    <p:set>
                                      <p:cBhvr>
                                        <p:cTn id="144" dur="1" fill="hold">
                                          <p:stCondLst>
                                            <p:cond delay="0"/>
                                          </p:stCondLst>
                                        </p:cTn>
                                        <p:tgtEl>
                                          <p:spTgt spid="80"/>
                                        </p:tgtEl>
                                        <p:attrNameLst>
                                          <p:attrName>style.visibility</p:attrName>
                                        </p:attrNameLst>
                                      </p:cBhvr>
                                      <p:to>
                                        <p:strVal val="visible"/>
                                      </p:to>
                                    </p:set>
                                    <p:animEffect transition="in" filter="slide(fromBottom)">
                                      <p:cBhvr>
                                        <p:cTn id="145" dur="500"/>
                                        <p:tgtEl>
                                          <p:spTgt spid="80"/>
                                        </p:tgtEl>
                                      </p:cBhvr>
                                    </p:animEffect>
                                  </p:childTnLst>
                                </p:cTn>
                              </p:par>
                            </p:childTnLst>
                          </p:cTn>
                        </p:par>
                      </p:childTnLst>
                    </p:cTn>
                  </p:par>
                  <p:par>
                    <p:cTn id="146" fill="hold">
                      <p:stCondLst>
                        <p:cond delay="indefinite"/>
                      </p:stCondLst>
                      <p:childTnLst>
                        <p:par>
                          <p:cTn id="147" fill="hold">
                            <p:stCondLst>
                              <p:cond delay="0"/>
                            </p:stCondLst>
                            <p:childTnLst>
                              <p:par>
                                <p:cTn id="148" presetID="12" presetClass="entr" presetSubtype="4" fill="hold" nodeType="clickEffect">
                                  <p:stCondLst>
                                    <p:cond delay="0"/>
                                  </p:stCondLst>
                                  <p:childTnLst>
                                    <p:set>
                                      <p:cBhvr>
                                        <p:cTn id="149" dur="1" fill="hold">
                                          <p:stCondLst>
                                            <p:cond delay="0"/>
                                          </p:stCondLst>
                                        </p:cTn>
                                        <p:tgtEl>
                                          <p:spTgt spid="77"/>
                                        </p:tgtEl>
                                        <p:attrNameLst>
                                          <p:attrName>style.visibility</p:attrName>
                                        </p:attrNameLst>
                                      </p:cBhvr>
                                      <p:to>
                                        <p:strVal val="visible"/>
                                      </p:to>
                                    </p:set>
                                    <p:animEffect transition="in" filter="slide(fromBottom)">
                                      <p:cBhvr>
                                        <p:cTn id="150" dur="500"/>
                                        <p:tgtEl>
                                          <p:spTgt spid="77"/>
                                        </p:tgtEl>
                                      </p:cBhvr>
                                    </p:animEffect>
                                  </p:childTnLst>
                                </p:cTn>
                              </p:par>
                              <p:par>
                                <p:cTn id="151" presetID="12" presetClass="entr" presetSubtype="4" fill="hold" nodeType="withEffect">
                                  <p:stCondLst>
                                    <p:cond delay="0"/>
                                  </p:stCondLst>
                                  <p:childTnLst>
                                    <p:set>
                                      <p:cBhvr>
                                        <p:cTn id="152" dur="1" fill="hold">
                                          <p:stCondLst>
                                            <p:cond delay="0"/>
                                          </p:stCondLst>
                                        </p:cTn>
                                        <p:tgtEl>
                                          <p:spTgt spid="81"/>
                                        </p:tgtEl>
                                        <p:attrNameLst>
                                          <p:attrName>style.visibility</p:attrName>
                                        </p:attrNameLst>
                                      </p:cBhvr>
                                      <p:to>
                                        <p:strVal val="visible"/>
                                      </p:to>
                                    </p:set>
                                    <p:animEffect transition="in" filter="slide(fromBottom)">
                                      <p:cBhvr>
                                        <p:cTn id="153" dur="500"/>
                                        <p:tgtEl>
                                          <p:spTgt spid="81"/>
                                        </p:tgtEl>
                                      </p:cBhvr>
                                    </p:animEffect>
                                  </p:childTnLst>
                                </p:cTn>
                              </p:par>
                            </p:childTnLst>
                          </p:cTn>
                        </p:par>
                      </p:childTnLst>
                    </p:cTn>
                  </p:par>
                  <p:par>
                    <p:cTn id="154" fill="hold">
                      <p:stCondLst>
                        <p:cond delay="indefinite"/>
                      </p:stCondLst>
                      <p:childTnLst>
                        <p:par>
                          <p:cTn id="155" fill="hold">
                            <p:stCondLst>
                              <p:cond delay="0"/>
                            </p:stCondLst>
                            <p:childTnLst>
                              <p:par>
                                <p:cTn id="156" presetID="12" presetClass="entr" presetSubtype="4" fill="hold" nodeType="clickEffect">
                                  <p:stCondLst>
                                    <p:cond delay="0"/>
                                  </p:stCondLst>
                                  <p:childTnLst>
                                    <p:set>
                                      <p:cBhvr>
                                        <p:cTn id="157" dur="1" fill="hold">
                                          <p:stCondLst>
                                            <p:cond delay="0"/>
                                          </p:stCondLst>
                                        </p:cTn>
                                        <p:tgtEl>
                                          <p:spTgt spid="79"/>
                                        </p:tgtEl>
                                        <p:attrNameLst>
                                          <p:attrName>style.visibility</p:attrName>
                                        </p:attrNameLst>
                                      </p:cBhvr>
                                      <p:to>
                                        <p:strVal val="visible"/>
                                      </p:to>
                                    </p:set>
                                    <p:animEffect transition="in" filter="slide(fromBottom)">
                                      <p:cBhvr>
                                        <p:cTn id="158" dur="500"/>
                                        <p:tgtEl>
                                          <p:spTgt spid="79"/>
                                        </p:tgtEl>
                                      </p:cBhvr>
                                    </p:animEffect>
                                  </p:childTnLst>
                                </p:cTn>
                              </p:par>
                              <p:par>
                                <p:cTn id="159" presetID="12" presetClass="entr" presetSubtype="4" fill="hold" nodeType="withEffect">
                                  <p:stCondLst>
                                    <p:cond delay="0"/>
                                  </p:stCondLst>
                                  <p:childTnLst>
                                    <p:set>
                                      <p:cBhvr>
                                        <p:cTn id="160" dur="1" fill="hold">
                                          <p:stCondLst>
                                            <p:cond delay="0"/>
                                          </p:stCondLst>
                                        </p:cTn>
                                        <p:tgtEl>
                                          <p:spTgt spid="78"/>
                                        </p:tgtEl>
                                        <p:attrNameLst>
                                          <p:attrName>style.visibility</p:attrName>
                                        </p:attrNameLst>
                                      </p:cBhvr>
                                      <p:to>
                                        <p:strVal val="visible"/>
                                      </p:to>
                                    </p:set>
                                    <p:animEffect transition="in" filter="slide(fromBottom)">
                                      <p:cBhvr>
                                        <p:cTn id="161" dur="500"/>
                                        <p:tgtEl>
                                          <p:spTgt spid="78"/>
                                        </p:tgtEl>
                                      </p:cBhvr>
                                    </p:animEffect>
                                  </p:childTnLst>
                                </p:cTn>
                              </p:par>
                            </p:childTnLst>
                          </p:cTn>
                        </p:par>
                      </p:childTnLst>
                    </p:cTn>
                  </p:par>
                  <p:par>
                    <p:cTn id="162" fill="hold">
                      <p:stCondLst>
                        <p:cond delay="indefinite"/>
                      </p:stCondLst>
                      <p:childTnLst>
                        <p:par>
                          <p:cTn id="163" fill="hold">
                            <p:stCondLst>
                              <p:cond delay="0"/>
                            </p:stCondLst>
                            <p:childTnLst>
                              <p:par>
                                <p:cTn id="164" presetID="12" presetClass="entr" presetSubtype="4" fill="hold" nodeType="clickEffect">
                                  <p:stCondLst>
                                    <p:cond delay="0"/>
                                  </p:stCondLst>
                                  <p:childTnLst>
                                    <p:set>
                                      <p:cBhvr>
                                        <p:cTn id="165" dur="1" fill="hold">
                                          <p:stCondLst>
                                            <p:cond delay="0"/>
                                          </p:stCondLst>
                                        </p:cTn>
                                        <p:tgtEl>
                                          <p:spTgt spid="131157"/>
                                        </p:tgtEl>
                                        <p:attrNameLst>
                                          <p:attrName>style.visibility</p:attrName>
                                        </p:attrNameLst>
                                      </p:cBhvr>
                                      <p:to>
                                        <p:strVal val="visible"/>
                                      </p:to>
                                    </p:set>
                                    <p:animEffect transition="in" filter="slide(fromBottom)">
                                      <p:cBhvr>
                                        <p:cTn id="166" dur="500"/>
                                        <p:tgtEl>
                                          <p:spTgt spid="131157"/>
                                        </p:tgtEl>
                                      </p:cBhvr>
                                    </p:animEffect>
                                  </p:childTnLst>
                                </p:cTn>
                              </p:par>
                            </p:childTnLst>
                          </p:cTn>
                        </p:par>
                      </p:childTnLst>
                    </p:cTn>
                  </p:par>
                  <p:par>
                    <p:cTn id="167" fill="hold">
                      <p:stCondLst>
                        <p:cond delay="indefinite"/>
                      </p:stCondLst>
                      <p:childTnLst>
                        <p:par>
                          <p:cTn id="168" fill="hold">
                            <p:stCondLst>
                              <p:cond delay="0"/>
                            </p:stCondLst>
                            <p:childTnLst>
                              <p:par>
                                <p:cTn id="169" presetID="12" presetClass="entr" presetSubtype="4" fill="hold" nodeType="clickEffect">
                                  <p:stCondLst>
                                    <p:cond delay="0"/>
                                  </p:stCondLst>
                                  <p:childTnLst>
                                    <p:set>
                                      <p:cBhvr>
                                        <p:cTn id="170" dur="1" fill="hold">
                                          <p:stCondLst>
                                            <p:cond delay="0"/>
                                          </p:stCondLst>
                                        </p:cTn>
                                        <p:tgtEl>
                                          <p:spTgt spid="131173"/>
                                        </p:tgtEl>
                                        <p:attrNameLst>
                                          <p:attrName>style.visibility</p:attrName>
                                        </p:attrNameLst>
                                      </p:cBhvr>
                                      <p:to>
                                        <p:strVal val="visible"/>
                                      </p:to>
                                    </p:set>
                                    <p:animEffect transition="in" filter="slide(fromBottom)">
                                      <p:cBhvr>
                                        <p:cTn id="171" dur="500"/>
                                        <p:tgtEl>
                                          <p:spTgt spid="131173"/>
                                        </p:tgtEl>
                                      </p:cBhvr>
                                    </p:animEffect>
                                  </p:childTnLst>
                                </p:cTn>
                              </p:par>
                            </p:childTnLst>
                          </p:cTn>
                        </p:par>
                      </p:childTnLst>
                    </p:cTn>
                  </p:par>
                  <p:par>
                    <p:cTn id="172" fill="hold">
                      <p:stCondLst>
                        <p:cond delay="indefinite"/>
                      </p:stCondLst>
                      <p:childTnLst>
                        <p:par>
                          <p:cTn id="173" fill="hold">
                            <p:stCondLst>
                              <p:cond delay="0"/>
                            </p:stCondLst>
                            <p:childTnLst>
                              <p:par>
                                <p:cTn id="174" presetID="12" presetClass="entr" presetSubtype="4" fill="hold" nodeType="clickEffect">
                                  <p:stCondLst>
                                    <p:cond delay="0"/>
                                  </p:stCondLst>
                                  <p:childTnLst>
                                    <p:set>
                                      <p:cBhvr>
                                        <p:cTn id="175" dur="1" fill="hold">
                                          <p:stCondLst>
                                            <p:cond delay="0"/>
                                          </p:stCondLst>
                                        </p:cTn>
                                        <p:tgtEl>
                                          <p:spTgt spid="131161"/>
                                        </p:tgtEl>
                                        <p:attrNameLst>
                                          <p:attrName>style.visibility</p:attrName>
                                        </p:attrNameLst>
                                      </p:cBhvr>
                                      <p:to>
                                        <p:strVal val="visible"/>
                                      </p:to>
                                    </p:set>
                                    <p:animEffect transition="in" filter="slide(fromBottom)">
                                      <p:cBhvr>
                                        <p:cTn id="176" dur="500"/>
                                        <p:tgtEl>
                                          <p:spTgt spid="131161"/>
                                        </p:tgtEl>
                                      </p:cBhvr>
                                    </p:animEffect>
                                  </p:childTnLst>
                                </p:cTn>
                              </p:par>
                            </p:childTnLst>
                          </p:cTn>
                        </p:par>
                      </p:childTnLst>
                    </p:cTn>
                  </p:par>
                  <p:par>
                    <p:cTn id="177" fill="hold">
                      <p:stCondLst>
                        <p:cond delay="indefinite"/>
                      </p:stCondLst>
                      <p:childTnLst>
                        <p:par>
                          <p:cTn id="178" fill="hold">
                            <p:stCondLst>
                              <p:cond delay="0"/>
                            </p:stCondLst>
                            <p:childTnLst>
                              <p:par>
                                <p:cTn id="179" presetID="12" presetClass="entr" presetSubtype="4" fill="hold" nodeType="clickEffect">
                                  <p:stCondLst>
                                    <p:cond delay="0"/>
                                  </p:stCondLst>
                                  <p:childTnLst>
                                    <p:set>
                                      <p:cBhvr>
                                        <p:cTn id="180" dur="1" fill="hold">
                                          <p:stCondLst>
                                            <p:cond delay="0"/>
                                          </p:stCondLst>
                                        </p:cTn>
                                        <p:tgtEl>
                                          <p:spTgt spid="82"/>
                                        </p:tgtEl>
                                        <p:attrNameLst>
                                          <p:attrName>style.visibility</p:attrName>
                                        </p:attrNameLst>
                                      </p:cBhvr>
                                      <p:to>
                                        <p:strVal val="visible"/>
                                      </p:to>
                                    </p:set>
                                    <p:animEffect transition="in" filter="slide(fromBottom)">
                                      <p:cBhvr>
                                        <p:cTn id="181" dur="500"/>
                                        <p:tgtEl>
                                          <p:spTgt spid="82"/>
                                        </p:tgtEl>
                                      </p:cBhvr>
                                    </p:animEffect>
                                  </p:childTnLst>
                                </p:cTn>
                              </p:par>
                            </p:childTnLst>
                          </p:cTn>
                        </p:par>
                      </p:childTnLst>
                    </p:cTn>
                  </p:par>
                  <p:par>
                    <p:cTn id="182" fill="hold">
                      <p:stCondLst>
                        <p:cond delay="indefinite"/>
                      </p:stCondLst>
                      <p:childTnLst>
                        <p:par>
                          <p:cTn id="183" fill="hold">
                            <p:stCondLst>
                              <p:cond delay="0"/>
                            </p:stCondLst>
                            <p:childTnLst>
                              <p:par>
                                <p:cTn id="184" presetID="12" presetClass="entr" presetSubtype="4" fill="hold" nodeType="clickEffect">
                                  <p:stCondLst>
                                    <p:cond delay="0"/>
                                  </p:stCondLst>
                                  <p:childTnLst>
                                    <p:set>
                                      <p:cBhvr>
                                        <p:cTn id="185" dur="1" fill="hold">
                                          <p:stCondLst>
                                            <p:cond delay="0"/>
                                          </p:stCondLst>
                                        </p:cTn>
                                        <p:tgtEl>
                                          <p:spTgt spid="83"/>
                                        </p:tgtEl>
                                        <p:attrNameLst>
                                          <p:attrName>style.visibility</p:attrName>
                                        </p:attrNameLst>
                                      </p:cBhvr>
                                      <p:to>
                                        <p:strVal val="visible"/>
                                      </p:to>
                                    </p:set>
                                    <p:animEffect transition="in" filter="slide(fromBottom)">
                                      <p:cBhvr>
                                        <p:cTn id="186" dur="500"/>
                                        <p:tgtEl>
                                          <p:spTgt spid="83"/>
                                        </p:tgtEl>
                                      </p:cBhvr>
                                    </p:animEffect>
                                  </p:childTnLst>
                                </p:cTn>
                              </p:par>
                            </p:childTnLst>
                          </p:cTn>
                        </p:par>
                      </p:childTnLst>
                    </p:cTn>
                  </p:par>
                  <p:par>
                    <p:cTn id="187" fill="hold">
                      <p:stCondLst>
                        <p:cond delay="indefinite"/>
                      </p:stCondLst>
                      <p:childTnLst>
                        <p:par>
                          <p:cTn id="188" fill="hold">
                            <p:stCondLst>
                              <p:cond delay="0"/>
                            </p:stCondLst>
                            <p:childTnLst>
                              <p:par>
                                <p:cTn id="189" presetID="12" presetClass="entr" presetSubtype="4" fill="hold" nodeType="clickEffect">
                                  <p:stCondLst>
                                    <p:cond delay="0"/>
                                  </p:stCondLst>
                                  <p:childTnLst>
                                    <p:set>
                                      <p:cBhvr>
                                        <p:cTn id="190" dur="1" fill="hold">
                                          <p:stCondLst>
                                            <p:cond delay="0"/>
                                          </p:stCondLst>
                                        </p:cTn>
                                        <p:tgtEl>
                                          <p:spTgt spid="131169"/>
                                        </p:tgtEl>
                                        <p:attrNameLst>
                                          <p:attrName>style.visibility</p:attrName>
                                        </p:attrNameLst>
                                      </p:cBhvr>
                                      <p:to>
                                        <p:strVal val="visible"/>
                                      </p:to>
                                    </p:set>
                                    <p:animEffect transition="in" filter="slide(fromBottom)">
                                      <p:cBhvr>
                                        <p:cTn id="191" dur="500"/>
                                        <p:tgtEl>
                                          <p:spTgt spid="131169"/>
                                        </p:tgtEl>
                                      </p:cBhvr>
                                    </p:animEffect>
                                  </p:childTnLst>
                                </p:cTn>
                              </p:par>
                            </p:childTnLst>
                          </p:cTn>
                        </p:par>
                      </p:childTnLst>
                    </p:cTn>
                  </p:par>
                  <p:par>
                    <p:cTn id="192" fill="hold">
                      <p:stCondLst>
                        <p:cond delay="indefinite"/>
                      </p:stCondLst>
                      <p:childTnLst>
                        <p:par>
                          <p:cTn id="193" fill="hold">
                            <p:stCondLst>
                              <p:cond delay="0"/>
                            </p:stCondLst>
                            <p:childTnLst>
                              <p:par>
                                <p:cTn id="194" presetID="22" presetClass="entr" presetSubtype="8" fill="hold" grpId="0" nodeType="clickEffect">
                                  <p:stCondLst>
                                    <p:cond delay="0"/>
                                  </p:stCondLst>
                                  <p:childTnLst>
                                    <p:set>
                                      <p:cBhvr>
                                        <p:cTn id="195" dur="1" fill="hold">
                                          <p:stCondLst>
                                            <p:cond delay="0"/>
                                          </p:stCondLst>
                                        </p:cTn>
                                        <p:tgtEl>
                                          <p:spTgt spid="11"/>
                                        </p:tgtEl>
                                        <p:attrNameLst>
                                          <p:attrName>style.visibility</p:attrName>
                                        </p:attrNameLst>
                                      </p:cBhvr>
                                      <p:to>
                                        <p:strVal val="visible"/>
                                      </p:to>
                                    </p:set>
                                    <p:animEffect transition="in" filter="wipe(left)">
                                      <p:cBhvr>
                                        <p:cTn id="19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93" grpId="1"/>
      <p:bldP spid="131125" grpId="0"/>
      <p:bldP spid="131126" grpId="0"/>
      <p:bldP spid="131138" grpId="1" animBg="1"/>
      <p:bldP spid="131139" grpId="0"/>
      <p:bldP spid="131142" grpId="0"/>
      <p:bldP spid="131143" grpId="0" animBg="1"/>
      <p:bldP spid="131144" grpId="0"/>
      <p:bldP spid="131150" grpId="0"/>
      <p:bldP spid="131151" grpId="1" animBg="1"/>
      <p:bldP spid="74" grpId="0" animBg="1" autoUpdateAnimBg="0"/>
      <p:bldP spid="75" grpId="0" animBg="1" autoUpdateAnimBg="0"/>
      <p:bldP spid="76" grpId="0"/>
      <p:bldP spid="11" grpId="0"/>
      <p:bldP spid="8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37" name="Text Box 93"/>
          <p:cNvSpPr txBox="1">
            <a:spLocks noChangeArrowheads="1"/>
          </p:cNvSpPr>
          <p:nvPr/>
        </p:nvSpPr>
        <p:spPr bwMode="auto">
          <a:xfrm>
            <a:off x="4391389" y="510382"/>
            <a:ext cx="4648200" cy="12003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kumimoji="1" lang="zh-CN" altLang="en-US" sz="2400" b="1" dirty="0">
                <a:solidFill>
                  <a:srgbClr val="FF0000"/>
                </a:solidFill>
                <a:latin typeface="+mn-lt"/>
                <a:ea typeface="楷体" panose="02010609060101010101" pitchFamily="49" charset="-122"/>
              </a:rPr>
              <a:t>例</a:t>
            </a:r>
            <a:r>
              <a:rPr kumimoji="1" lang="zh-CN" altLang="en-US" sz="2400" b="1" dirty="0">
                <a:solidFill>
                  <a:srgbClr val="000000"/>
                </a:solidFill>
                <a:latin typeface="+mn-lt"/>
                <a:ea typeface="楷体" panose="02010609060101010101" pitchFamily="49" charset="-122"/>
              </a:rPr>
              <a:t>   </a:t>
            </a:r>
            <a:r>
              <a:rPr kumimoji="1" lang="en-US" altLang="zh-CN" sz="2400" i="1" dirty="0">
                <a:solidFill>
                  <a:srgbClr val="000000"/>
                </a:solidFill>
                <a:latin typeface="+mn-lt"/>
                <a:ea typeface="楷体" panose="02010609060101010101" pitchFamily="49" charset="-122"/>
              </a:rPr>
              <a:t>AC </a:t>
            </a:r>
            <a:r>
              <a:rPr kumimoji="1" lang="zh-CN" altLang="en-US" sz="2400" b="1" dirty="0">
                <a:solidFill>
                  <a:srgbClr val="000000"/>
                </a:solidFill>
                <a:latin typeface="+mn-lt"/>
                <a:ea typeface="楷体" panose="02010609060101010101" pitchFamily="49" charset="-122"/>
              </a:rPr>
              <a:t>杆为刚性，</a:t>
            </a:r>
            <a:r>
              <a:rPr kumimoji="1" lang="en-US" altLang="zh-CN" sz="2400" i="1" dirty="0">
                <a:solidFill>
                  <a:srgbClr val="000000"/>
                </a:solidFill>
                <a:latin typeface="+mn-lt"/>
                <a:ea typeface="楷体" panose="02010609060101010101" pitchFamily="49" charset="-122"/>
              </a:rPr>
              <a:t>BD</a:t>
            </a:r>
            <a:r>
              <a:rPr kumimoji="1" lang="en-US" altLang="zh-CN" sz="2400" b="1" dirty="0">
                <a:solidFill>
                  <a:srgbClr val="000000"/>
                </a:solidFill>
                <a:latin typeface="+mn-lt"/>
                <a:ea typeface="楷体" panose="02010609060101010101" pitchFamily="49" charset="-122"/>
              </a:rPr>
              <a:t> </a:t>
            </a:r>
            <a:r>
              <a:rPr kumimoji="1" lang="zh-CN" altLang="en-US" sz="2400" b="1" dirty="0">
                <a:solidFill>
                  <a:srgbClr val="000000"/>
                </a:solidFill>
                <a:latin typeface="+mn-lt"/>
                <a:ea typeface="楷体" panose="02010609060101010101" pitchFamily="49" charset="-122"/>
              </a:rPr>
              <a:t>杆横截面面积为</a:t>
            </a:r>
            <a:r>
              <a:rPr kumimoji="1" lang="en-US" altLang="zh-CN" sz="2400" i="1" dirty="0">
                <a:solidFill>
                  <a:srgbClr val="000000"/>
                </a:solidFill>
                <a:latin typeface="+mn-lt"/>
                <a:ea typeface="楷体" panose="02010609060101010101" pitchFamily="49" charset="-122"/>
              </a:rPr>
              <a:t>A</a:t>
            </a:r>
            <a:r>
              <a:rPr kumimoji="1" lang="zh-CN" altLang="en-US" sz="2400" b="1" dirty="0">
                <a:solidFill>
                  <a:srgbClr val="000000"/>
                </a:solidFill>
                <a:latin typeface="+mn-lt"/>
                <a:ea typeface="楷体" panose="02010609060101010101" pitchFamily="49" charset="-122"/>
              </a:rPr>
              <a:t>，弹性模量为</a:t>
            </a:r>
            <a:r>
              <a:rPr kumimoji="1" lang="en-US" altLang="zh-CN" sz="2400" i="1" dirty="0">
                <a:solidFill>
                  <a:srgbClr val="000000"/>
                </a:solidFill>
                <a:latin typeface="+mn-lt"/>
                <a:ea typeface="楷体" panose="02010609060101010101" pitchFamily="49" charset="-122"/>
              </a:rPr>
              <a:t>E</a:t>
            </a:r>
            <a:r>
              <a:rPr kumimoji="1" lang="zh-CN" altLang="en-US" sz="2400" b="1" dirty="0">
                <a:solidFill>
                  <a:srgbClr val="000000"/>
                </a:solidFill>
                <a:latin typeface="+mn-lt"/>
                <a:ea typeface="楷体" panose="02010609060101010101" pitchFamily="49" charset="-122"/>
              </a:rPr>
              <a:t>。求</a:t>
            </a:r>
            <a:r>
              <a:rPr kumimoji="1" lang="en-US" altLang="zh-CN" sz="2400" i="1" dirty="0">
                <a:solidFill>
                  <a:srgbClr val="000000"/>
                </a:solidFill>
                <a:latin typeface="+mn-lt"/>
                <a:ea typeface="楷体" panose="02010609060101010101" pitchFamily="49" charset="-122"/>
              </a:rPr>
              <a:t>A</a:t>
            </a:r>
            <a:r>
              <a:rPr kumimoji="1" lang="zh-CN" altLang="en-US" sz="2400" b="1" dirty="0">
                <a:solidFill>
                  <a:srgbClr val="000000"/>
                </a:solidFill>
                <a:latin typeface="+mn-lt"/>
                <a:ea typeface="楷体" panose="02010609060101010101" pitchFamily="49" charset="-122"/>
              </a:rPr>
              <a:t>点的竖直位移。</a:t>
            </a:r>
          </a:p>
        </p:txBody>
      </p:sp>
      <p:graphicFrame>
        <p:nvGraphicFramePr>
          <p:cNvPr id="31839" name="Object 95"/>
          <p:cNvGraphicFramePr>
            <a:graphicFrameLocks noChangeAspect="1"/>
          </p:cNvGraphicFramePr>
          <p:nvPr>
            <p:extLst>
              <p:ext uri="{D42A27DB-BD31-4B8C-83A1-F6EECF244321}">
                <p14:modId xmlns:p14="http://schemas.microsoft.com/office/powerpoint/2010/main" val="386086775"/>
              </p:ext>
            </p:extLst>
          </p:nvPr>
        </p:nvGraphicFramePr>
        <p:xfrm>
          <a:off x="4745038" y="2259013"/>
          <a:ext cx="3462337" cy="446087"/>
        </p:xfrm>
        <a:graphic>
          <a:graphicData uri="http://schemas.openxmlformats.org/presentationml/2006/ole">
            <mc:AlternateContent xmlns:mc="http://schemas.openxmlformats.org/markup-compatibility/2006">
              <mc:Choice xmlns:v="urn:schemas-microsoft-com:vml" Requires="v">
                <p:oleObj name="Equation" r:id="rId2" imgW="1866600" imgH="241200" progId="Equation.DSMT4">
                  <p:embed/>
                </p:oleObj>
              </mc:Choice>
              <mc:Fallback>
                <p:oleObj name="Equation" r:id="rId2" imgW="1866600" imgH="241200" progId="Equation.DSMT4">
                  <p:embed/>
                  <p:pic>
                    <p:nvPicPr>
                      <p:cNvPr id="0" name=""/>
                      <p:cNvPicPr>
                        <a:picLocks noChangeAspect="1" noChangeArrowheads="1"/>
                      </p:cNvPicPr>
                      <p:nvPr/>
                    </p:nvPicPr>
                    <p:blipFill>
                      <a:blip r:embed="rId3"/>
                      <a:srcRect/>
                      <a:stretch>
                        <a:fillRect/>
                      </a:stretch>
                    </p:blipFill>
                    <p:spPr bwMode="auto">
                      <a:xfrm>
                        <a:off x="4745038" y="2259013"/>
                        <a:ext cx="3462337" cy="446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840" name="Object 96"/>
          <p:cNvGraphicFramePr>
            <a:graphicFrameLocks noChangeAspect="1"/>
          </p:cNvGraphicFramePr>
          <p:nvPr>
            <p:extLst>
              <p:ext uri="{D42A27DB-BD31-4B8C-83A1-F6EECF244321}">
                <p14:modId xmlns:p14="http://schemas.microsoft.com/office/powerpoint/2010/main" val="449254182"/>
              </p:ext>
            </p:extLst>
          </p:nvPr>
        </p:nvGraphicFramePr>
        <p:xfrm>
          <a:off x="5360988" y="2774950"/>
          <a:ext cx="2047875" cy="798513"/>
        </p:xfrm>
        <a:graphic>
          <a:graphicData uri="http://schemas.openxmlformats.org/presentationml/2006/ole">
            <mc:AlternateContent xmlns:mc="http://schemas.openxmlformats.org/markup-compatibility/2006">
              <mc:Choice xmlns:v="urn:schemas-microsoft-com:vml" Requires="v">
                <p:oleObj name="Equation" r:id="rId4" imgW="1104840" imgH="431640" progId="Equation.DSMT4">
                  <p:embed/>
                </p:oleObj>
              </mc:Choice>
              <mc:Fallback>
                <p:oleObj name="Equation" r:id="rId4" imgW="1104840" imgH="431640" progId="Equation.DSMT4">
                  <p:embed/>
                  <p:pic>
                    <p:nvPicPr>
                      <p:cNvPr id="0" name=""/>
                      <p:cNvPicPr>
                        <a:picLocks noChangeAspect="1" noChangeArrowheads="1"/>
                      </p:cNvPicPr>
                      <p:nvPr/>
                    </p:nvPicPr>
                    <p:blipFill>
                      <a:blip r:embed="rId5"/>
                      <a:srcRect/>
                      <a:stretch>
                        <a:fillRect/>
                      </a:stretch>
                    </p:blipFill>
                    <p:spPr bwMode="auto">
                      <a:xfrm>
                        <a:off x="5360988" y="2774950"/>
                        <a:ext cx="2047875" cy="798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841" name="Object 97"/>
          <p:cNvGraphicFramePr>
            <a:graphicFrameLocks noChangeAspect="1"/>
          </p:cNvGraphicFramePr>
          <p:nvPr>
            <p:extLst>
              <p:ext uri="{D42A27DB-BD31-4B8C-83A1-F6EECF244321}">
                <p14:modId xmlns:p14="http://schemas.microsoft.com/office/powerpoint/2010/main" val="1721573965"/>
              </p:ext>
            </p:extLst>
          </p:nvPr>
        </p:nvGraphicFramePr>
        <p:xfrm>
          <a:off x="4636441" y="4488395"/>
          <a:ext cx="1639888" cy="815975"/>
        </p:xfrm>
        <a:graphic>
          <a:graphicData uri="http://schemas.openxmlformats.org/presentationml/2006/ole">
            <mc:AlternateContent xmlns:mc="http://schemas.openxmlformats.org/markup-compatibility/2006">
              <mc:Choice xmlns:v="urn:schemas-microsoft-com:vml" Requires="v">
                <p:oleObj name="Equation" r:id="rId6" imgW="787320" imgH="393480" progId="Equation.DSMT4">
                  <p:embed/>
                </p:oleObj>
              </mc:Choice>
              <mc:Fallback>
                <p:oleObj name="Equation" r:id="rId6" imgW="787320" imgH="393480" progId="Equation.DSMT4">
                  <p:embed/>
                  <p:pic>
                    <p:nvPicPr>
                      <p:cNvPr id="0" name=""/>
                      <p:cNvPicPr>
                        <a:picLocks noChangeAspect="1" noChangeArrowheads="1"/>
                      </p:cNvPicPr>
                      <p:nvPr/>
                    </p:nvPicPr>
                    <p:blipFill>
                      <a:blip r:embed="rId7"/>
                      <a:srcRect/>
                      <a:stretch>
                        <a:fillRect/>
                      </a:stretch>
                    </p:blipFill>
                    <p:spPr bwMode="auto">
                      <a:xfrm>
                        <a:off x="4636441" y="4488395"/>
                        <a:ext cx="1639888" cy="815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842" name="Text Box 98"/>
          <p:cNvSpPr txBox="1">
            <a:spLocks noChangeArrowheads="1"/>
          </p:cNvSpPr>
          <p:nvPr/>
        </p:nvSpPr>
        <p:spPr bwMode="auto">
          <a:xfrm>
            <a:off x="4338133" y="1708329"/>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kumimoji="1" lang="zh-CN" altLang="en-US" sz="2400" b="1" dirty="0">
                <a:solidFill>
                  <a:srgbClr val="FF0000"/>
                </a:solidFill>
                <a:latin typeface="楷体" panose="02010609060101010101" pitchFamily="49" charset="-122"/>
                <a:ea typeface="楷体" panose="02010609060101010101" pitchFamily="49" charset="-122"/>
              </a:rPr>
              <a:t>解</a:t>
            </a:r>
            <a:r>
              <a:rPr kumimoji="1" lang="en-US" altLang="zh-CN" sz="2400" b="1" dirty="0">
                <a:solidFill>
                  <a:srgbClr val="FF0000"/>
                </a:solidFill>
                <a:latin typeface="楷体" panose="02010609060101010101" pitchFamily="49" charset="-122"/>
                <a:ea typeface="楷体" panose="02010609060101010101" pitchFamily="49" charset="-122"/>
              </a:rPr>
              <a:t>:</a:t>
            </a:r>
            <a:r>
              <a:rPr kumimoji="1" lang="en-US" altLang="zh-CN" sz="2400" b="1" dirty="0">
                <a:latin typeface="楷体" panose="02010609060101010101" pitchFamily="49" charset="-122"/>
                <a:ea typeface="楷体" panose="02010609060101010101" pitchFamily="49" charset="-122"/>
              </a:rPr>
              <a:t> </a:t>
            </a:r>
            <a:r>
              <a:rPr kumimoji="1" lang="zh-CN" altLang="en-US" sz="2400" b="1" dirty="0">
                <a:solidFill>
                  <a:srgbClr val="000000"/>
                </a:solidFill>
                <a:latin typeface="楷体" panose="02010609060101010101" pitchFamily="49" charset="-122"/>
                <a:ea typeface="楷体" panose="02010609060101010101" pitchFamily="49" charset="-122"/>
              </a:rPr>
              <a:t>求内力</a:t>
            </a:r>
          </a:p>
        </p:txBody>
      </p:sp>
      <p:graphicFrame>
        <p:nvGraphicFramePr>
          <p:cNvPr id="31843" name="Object 99"/>
          <p:cNvGraphicFramePr>
            <a:graphicFrameLocks noChangeAspect="1"/>
          </p:cNvGraphicFramePr>
          <p:nvPr>
            <p:extLst>
              <p:ext uri="{D42A27DB-BD31-4B8C-83A1-F6EECF244321}">
                <p14:modId xmlns:p14="http://schemas.microsoft.com/office/powerpoint/2010/main" val="1408822798"/>
              </p:ext>
            </p:extLst>
          </p:nvPr>
        </p:nvGraphicFramePr>
        <p:xfrm>
          <a:off x="5345259" y="3602833"/>
          <a:ext cx="2103743" cy="887174"/>
        </p:xfrm>
        <a:graphic>
          <a:graphicData uri="http://schemas.openxmlformats.org/presentationml/2006/ole">
            <mc:AlternateContent xmlns:mc="http://schemas.openxmlformats.org/markup-compatibility/2006">
              <mc:Choice xmlns:v="urn:schemas-microsoft-com:vml" Requires="v">
                <p:oleObj name="Equation" r:id="rId8" imgW="1079280" imgH="457200" progId="Equation.DSMT4">
                  <p:embed/>
                </p:oleObj>
              </mc:Choice>
              <mc:Fallback>
                <p:oleObj name="Equation" r:id="rId8" imgW="1079280" imgH="457200" progId="Equation.DSMT4">
                  <p:embed/>
                  <p:pic>
                    <p:nvPicPr>
                      <p:cNvPr id="0" name=""/>
                      <p:cNvPicPr>
                        <a:picLocks noChangeAspect="1" noChangeArrowheads="1"/>
                      </p:cNvPicPr>
                      <p:nvPr/>
                    </p:nvPicPr>
                    <p:blipFill>
                      <a:blip r:embed="rId9"/>
                      <a:srcRect/>
                      <a:stretch>
                        <a:fillRect/>
                      </a:stretch>
                    </p:blipFill>
                    <p:spPr bwMode="auto">
                      <a:xfrm>
                        <a:off x="5345259" y="3602833"/>
                        <a:ext cx="2103743" cy="887174"/>
                      </a:xfrm>
                      <a:prstGeom prst="rect">
                        <a:avLst/>
                      </a:prstGeom>
                      <a:noFill/>
                      <a:ln>
                        <a:noFill/>
                      </a:ln>
                      <a:effectLst/>
                    </p:spPr>
                  </p:pic>
                </p:oleObj>
              </mc:Fallback>
            </mc:AlternateContent>
          </a:graphicData>
        </a:graphic>
      </p:graphicFrame>
      <p:graphicFrame>
        <p:nvGraphicFramePr>
          <p:cNvPr id="31844" name="Object 100"/>
          <p:cNvGraphicFramePr>
            <a:graphicFrameLocks noChangeAspect="1"/>
          </p:cNvGraphicFramePr>
          <p:nvPr>
            <p:extLst>
              <p:ext uri="{D42A27DB-BD31-4B8C-83A1-F6EECF244321}">
                <p14:modId xmlns:p14="http://schemas.microsoft.com/office/powerpoint/2010/main" val="4013923584"/>
              </p:ext>
            </p:extLst>
          </p:nvPr>
        </p:nvGraphicFramePr>
        <p:xfrm>
          <a:off x="3457575" y="5494338"/>
          <a:ext cx="2486025" cy="866775"/>
        </p:xfrm>
        <a:graphic>
          <a:graphicData uri="http://schemas.openxmlformats.org/presentationml/2006/ole">
            <mc:AlternateContent xmlns:mc="http://schemas.openxmlformats.org/markup-compatibility/2006">
              <mc:Choice xmlns:v="urn:schemas-microsoft-com:vml" Requires="v">
                <p:oleObj name="Equation" r:id="rId10" imgW="1231560" imgH="431640" progId="Equation.DSMT4">
                  <p:embed/>
                </p:oleObj>
              </mc:Choice>
              <mc:Fallback>
                <p:oleObj name="Equation" r:id="rId10" imgW="1231560" imgH="431640" progId="Equation.DSMT4">
                  <p:embed/>
                  <p:pic>
                    <p:nvPicPr>
                      <p:cNvPr id="0" name=""/>
                      <p:cNvPicPr>
                        <a:picLocks noChangeAspect="1" noChangeArrowheads="1"/>
                      </p:cNvPicPr>
                      <p:nvPr/>
                    </p:nvPicPr>
                    <p:blipFill>
                      <a:blip r:embed="rId11"/>
                      <a:srcRect/>
                      <a:stretch>
                        <a:fillRect/>
                      </a:stretch>
                    </p:blipFill>
                    <p:spPr bwMode="auto">
                      <a:xfrm>
                        <a:off x="3457575" y="5494338"/>
                        <a:ext cx="2486025" cy="866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899" name="Text Box 155"/>
          <p:cNvSpPr txBox="1">
            <a:spLocks noChangeArrowheads="1"/>
          </p:cNvSpPr>
          <p:nvPr/>
        </p:nvSpPr>
        <p:spPr bwMode="auto">
          <a:xfrm>
            <a:off x="3596510" y="3879195"/>
            <a:ext cx="612668"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zh-CN" altLang="en-US" sz="2000" dirty="0">
                <a:solidFill>
                  <a:srgbClr val="0000FF"/>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2000" b="1" i="1" dirty="0">
                <a:solidFill>
                  <a:srgbClr val="0000FF"/>
                </a:solidFill>
                <a:latin typeface="Times New Roman" panose="02020603050405020304" pitchFamily="18" charset="0"/>
                <a:ea typeface="宋体" panose="02010600030101010101" pitchFamily="2" charset="-122"/>
                <a:sym typeface="Symbol" panose="05050102010706020507" pitchFamily="18" charset="2"/>
              </a:rPr>
              <a:t>L</a:t>
            </a:r>
            <a:r>
              <a:rPr kumimoji="1" lang="en-US" altLang="zh-CN" sz="2000" b="1" i="1" baseline="-25000" dirty="0">
                <a:solidFill>
                  <a:srgbClr val="0000FF"/>
                </a:solidFill>
                <a:latin typeface="Times New Roman" panose="02020603050405020304" pitchFamily="18" charset="0"/>
                <a:ea typeface="宋体" panose="02010600030101010101" pitchFamily="2" charset="-122"/>
                <a:sym typeface="Symbol" panose="05050102010706020507" pitchFamily="18" charset="2"/>
              </a:rPr>
              <a:t>A</a:t>
            </a:r>
            <a:endParaRPr kumimoji="1" lang="en-US" altLang="zh-CN" sz="2000" b="1" i="1" dirty="0">
              <a:solidFill>
                <a:srgbClr val="0000FF"/>
              </a:solidFill>
              <a:latin typeface="Times New Roman" panose="02020603050405020304" pitchFamily="18" charset="0"/>
              <a:ea typeface="宋体" panose="02010600030101010101" pitchFamily="2" charset="-122"/>
            </a:endParaRPr>
          </a:p>
        </p:txBody>
      </p:sp>
      <p:sp>
        <p:nvSpPr>
          <p:cNvPr id="31900" name="Text Box 156"/>
          <p:cNvSpPr txBox="1">
            <a:spLocks noChangeArrowheads="1"/>
          </p:cNvSpPr>
          <p:nvPr/>
        </p:nvSpPr>
        <p:spPr bwMode="auto">
          <a:xfrm>
            <a:off x="2058630" y="3756821"/>
            <a:ext cx="612668"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zh-CN" altLang="en-US" sz="2000" b="1" dirty="0">
                <a:solidFill>
                  <a:srgbClr val="0000FF"/>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2000" b="1" i="1" dirty="0">
                <a:solidFill>
                  <a:srgbClr val="0000FF"/>
                </a:solidFill>
                <a:latin typeface="Times New Roman" panose="02020603050405020304" pitchFamily="18" charset="0"/>
                <a:ea typeface="宋体" panose="02010600030101010101" pitchFamily="2" charset="-122"/>
                <a:sym typeface="Symbol" panose="05050102010706020507" pitchFamily="18" charset="2"/>
              </a:rPr>
              <a:t>L</a:t>
            </a:r>
            <a:r>
              <a:rPr kumimoji="1" lang="en-US" altLang="zh-CN" sz="2000" b="1" i="1" baseline="-25000" dirty="0">
                <a:solidFill>
                  <a:srgbClr val="0000FF"/>
                </a:solidFill>
                <a:latin typeface="Times New Roman" panose="02020603050405020304" pitchFamily="18" charset="0"/>
                <a:ea typeface="宋体" panose="02010600030101010101" pitchFamily="2" charset="-122"/>
                <a:sym typeface="Symbol" panose="05050102010706020507" pitchFamily="18" charset="2"/>
              </a:rPr>
              <a:t>B</a:t>
            </a:r>
            <a:endParaRPr kumimoji="1" lang="en-US" altLang="zh-CN" sz="2000" b="1" i="1" dirty="0">
              <a:solidFill>
                <a:srgbClr val="0000FF"/>
              </a:solidFill>
              <a:latin typeface="Times New Roman" panose="02020603050405020304" pitchFamily="18" charset="0"/>
              <a:ea typeface="宋体" panose="02010600030101010101" pitchFamily="2" charset="-122"/>
            </a:endParaRPr>
          </a:p>
        </p:txBody>
      </p:sp>
      <p:grpSp>
        <p:nvGrpSpPr>
          <p:cNvPr id="31901" name="Group 157"/>
          <p:cNvGrpSpPr>
            <a:grpSpLocks/>
          </p:cNvGrpSpPr>
          <p:nvPr/>
        </p:nvGrpSpPr>
        <p:grpSpPr bwMode="auto">
          <a:xfrm>
            <a:off x="678009" y="3820321"/>
            <a:ext cx="3536950" cy="1039812"/>
            <a:chOff x="247" y="2597"/>
            <a:chExt cx="2228" cy="655"/>
          </a:xfrm>
        </p:grpSpPr>
        <p:sp>
          <p:nvSpPr>
            <p:cNvPr id="31902" name="Line 158"/>
            <p:cNvSpPr>
              <a:spLocks noChangeShapeType="1"/>
            </p:cNvSpPr>
            <p:nvPr/>
          </p:nvSpPr>
          <p:spPr bwMode="auto">
            <a:xfrm>
              <a:off x="247" y="2609"/>
              <a:ext cx="2184" cy="438"/>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903" name="Line 159"/>
            <p:cNvSpPr>
              <a:spLocks noChangeShapeType="1"/>
            </p:cNvSpPr>
            <p:nvPr/>
          </p:nvSpPr>
          <p:spPr bwMode="auto">
            <a:xfrm>
              <a:off x="1111" y="2597"/>
              <a:ext cx="0" cy="192"/>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904" name="Line 160"/>
            <p:cNvSpPr>
              <a:spLocks noChangeShapeType="1"/>
            </p:cNvSpPr>
            <p:nvPr/>
          </p:nvSpPr>
          <p:spPr bwMode="auto">
            <a:xfrm>
              <a:off x="2431" y="2615"/>
              <a:ext cx="0" cy="432"/>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905" name="Text Box 161"/>
            <p:cNvSpPr txBox="1">
              <a:spLocks noChangeArrowheads="1"/>
            </p:cNvSpPr>
            <p:nvPr/>
          </p:nvSpPr>
          <p:spPr bwMode="auto">
            <a:xfrm>
              <a:off x="1029" y="2768"/>
              <a:ext cx="267"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000" b="1" i="1">
                  <a:solidFill>
                    <a:srgbClr val="080808"/>
                  </a:solidFill>
                  <a:latin typeface="Times New Roman" panose="02020603050405020304" pitchFamily="18" charset="0"/>
                  <a:ea typeface="宋体" panose="02010600030101010101" pitchFamily="2" charset="-122"/>
                </a:rPr>
                <a:t>B'</a:t>
              </a:r>
            </a:p>
          </p:txBody>
        </p:sp>
        <p:sp>
          <p:nvSpPr>
            <p:cNvPr id="31906" name="Text Box 162"/>
            <p:cNvSpPr txBox="1">
              <a:spLocks noChangeArrowheads="1"/>
            </p:cNvSpPr>
            <p:nvPr/>
          </p:nvSpPr>
          <p:spPr bwMode="auto">
            <a:xfrm>
              <a:off x="2208" y="3002"/>
              <a:ext cx="267"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000" b="1" i="1">
                  <a:solidFill>
                    <a:srgbClr val="080808"/>
                  </a:solidFill>
                  <a:latin typeface="Times New Roman" panose="02020603050405020304" pitchFamily="18" charset="0"/>
                  <a:ea typeface="宋体" panose="02010600030101010101" pitchFamily="2" charset="-122"/>
                </a:rPr>
                <a:t>A'</a:t>
              </a:r>
            </a:p>
          </p:txBody>
        </p:sp>
      </p:grpSp>
      <p:sp>
        <p:nvSpPr>
          <p:cNvPr id="31907" name="Text Box 163"/>
          <p:cNvSpPr txBox="1">
            <a:spLocks noChangeArrowheads="1"/>
          </p:cNvSpPr>
          <p:nvPr/>
        </p:nvSpPr>
        <p:spPr bwMode="auto">
          <a:xfrm>
            <a:off x="2261036" y="5159908"/>
            <a:ext cx="9906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kumimoji="1" lang="zh-CN" altLang="en-US" sz="2000" b="1" dirty="0">
                <a:solidFill>
                  <a:srgbClr val="0000FF"/>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2000" b="1" i="1" dirty="0">
                <a:solidFill>
                  <a:srgbClr val="0000FF"/>
                </a:solidFill>
                <a:latin typeface="Times New Roman" panose="02020603050405020304" pitchFamily="18" charset="0"/>
                <a:ea typeface="宋体" panose="02010600030101010101" pitchFamily="2" charset="-122"/>
                <a:sym typeface="Symbol" panose="05050102010706020507" pitchFamily="18" charset="2"/>
              </a:rPr>
              <a:t>L</a:t>
            </a:r>
            <a:r>
              <a:rPr kumimoji="1" lang="en-US" altLang="zh-CN" sz="2000" b="1" i="1" baseline="-25000" dirty="0">
                <a:solidFill>
                  <a:srgbClr val="0000FF"/>
                </a:solidFill>
                <a:latin typeface="Times New Roman" panose="02020603050405020304" pitchFamily="18" charset="0"/>
                <a:ea typeface="宋体" panose="02010600030101010101" pitchFamily="2" charset="-122"/>
                <a:sym typeface="Symbol" panose="05050102010706020507" pitchFamily="18" charset="2"/>
              </a:rPr>
              <a:t>BD</a:t>
            </a:r>
            <a:endParaRPr kumimoji="1" lang="en-US" altLang="zh-CN" sz="2000" b="1" i="1" dirty="0">
              <a:solidFill>
                <a:srgbClr val="0000FF"/>
              </a:solidFill>
              <a:latin typeface="Times New Roman" panose="02020603050405020304" pitchFamily="18" charset="0"/>
              <a:ea typeface="宋体" panose="02010600030101010101" pitchFamily="2" charset="-122"/>
            </a:endParaRPr>
          </a:p>
        </p:txBody>
      </p:sp>
      <p:grpSp>
        <p:nvGrpSpPr>
          <p:cNvPr id="31908" name="Group 164"/>
          <p:cNvGrpSpPr>
            <a:grpSpLocks/>
          </p:cNvGrpSpPr>
          <p:nvPr/>
        </p:nvGrpSpPr>
        <p:grpSpPr bwMode="auto">
          <a:xfrm>
            <a:off x="889436" y="4591583"/>
            <a:ext cx="1430338" cy="2009775"/>
            <a:chOff x="408" y="3008"/>
            <a:chExt cx="901" cy="1266"/>
          </a:xfrm>
        </p:grpSpPr>
        <p:sp>
          <p:nvSpPr>
            <p:cNvPr id="31909" name="Line 165"/>
            <p:cNvSpPr>
              <a:spLocks noChangeShapeType="1"/>
            </p:cNvSpPr>
            <p:nvPr/>
          </p:nvSpPr>
          <p:spPr bwMode="auto">
            <a:xfrm>
              <a:off x="1128" y="3370"/>
              <a:ext cx="0" cy="811"/>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910" name="Text Box 166"/>
            <p:cNvSpPr txBox="1">
              <a:spLocks noChangeArrowheads="1"/>
            </p:cNvSpPr>
            <p:nvPr/>
          </p:nvSpPr>
          <p:spPr bwMode="auto">
            <a:xfrm>
              <a:off x="759" y="3503"/>
              <a:ext cx="386"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zh-CN" altLang="en-US" sz="2000" b="1" dirty="0">
                  <a:solidFill>
                    <a:srgbClr val="0000FF"/>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2000" b="1" i="1" dirty="0">
                  <a:solidFill>
                    <a:srgbClr val="0000FF"/>
                  </a:solidFill>
                  <a:latin typeface="Times New Roman" panose="02020603050405020304" pitchFamily="18" charset="0"/>
                  <a:ea typeface="宋体" panose="02010600030101010101" pitchFamily="2" charset="-122"/>
                  <a:sym typeface="Symbol" panose="05050102010706020507" pitchFamily="18" charset="2"/>
                </a:rPr>
                <a:t>L</a:t>
              </a:r>
              <a:r>
                <a:rPr kumimoji="1" lang="en-US" altLang="zh-CN" sz="2000" b="1" i="1" baseline="-25000" dirty="0">
                  <a:solidFill>
                    <a:srgbClr val="0000FF"/>
                  </a:solidFill>
                  <a:latin typeface="Times New Roman" panose="02020603050405020304" pitchFamily="18" charset="0"/>
                  <a:ea typeface="宋体" panose="02010600030101010101" pitchFamily="2" charset="-122"/>
                  <a:sym typeface="Symbol" panose="05050102010706020507" pitchFamily="18" charset="2"/>
                </a:rPr>
                <a:t>B</a:t>
              </a:r>
              <a:endParaRPr kumimoji="1" lang="en-US" altLang="zh-CN" sz="2000" b="1" i="1" dirty="0">
                <a:solidFill>
                  <a:srgbClr val="0000FF"/>
                </a:solidFill>
                <a:latin typeface="Times New Roman" panose="02020603050405020304" pitchFamily="18" charset="0"/>
                <a:ea typeface="宋体" panose="02010600030101010101" pitchFamily="2" charset="-122"/>
              </a:endParaRPr>
            </a:p>
          </p:txBody>
        </p:sp>
        <p:sp>
          <p:nvSpPr>
            <p:cNvPr id="31911" name="Line 167"/>
            <p:cNvSpPr>
              <a:spLocks noChangeShapeType="1"/>
            </p:cNvSpPr>
            <p:nvPr/>
          </p:nvSpPr>
          <p:spPr bwMode="auto">
            <a:xfrm>
              <a:off x="696" y="3008"/>
              <a:ext cx="432" cy="38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912" name="Line 168"/>
            <p:cNvSpPr>
              <a:spLocks noChangeShapeType="1"/>
            </p:cNvSpPr>
            <p:nvPr/>
          </p:nvSpPr>
          <p:spPr bwMode="auto">
            <a:xfrm flipH="1" flipV="1">
              <a:off x="408" y="3162"/>
              <a:ext cx="720" cy="100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913" name="Text Box 169"/>
            <p:cNvSpPr txBox="1">
              <a:spLocks noChangeArrowheads="1"/>
            </p:cNvSpPr>
            <p:nvPr/>
          </p:nvSpPr>
          <p:spPr bwMode="auto">
            <a:xfrm>
              <a:off x="1086" y="3162"/>
              <a:ext cx="223"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000" b="1" i="1">
                  <a:solidFill>
                    <a:srgbClr val="080808"/>
                  </a:solidFill>
                  <a:latin typeface="Times New Roman" panose="02020603050405020304" pitchFamily="18" charset="0"/>
                  <a:ea typeface="宋体" panose="02010600030101010101" pitchFamily="2" charset="-122"/>
                </a:rPr>
                <a:t>B</a:t>
              </a:r>
            </a:p>
          </p:txBody>
        </p:sp>
        <p:sp>
          <p:nvSpPr>
            <p:cNvPr id="31914" name="Text Box 170"/>
            <p:cNvSpPr txBox="1">
              <a:spLocks noChangeArrowheads="1"/>
            </p:cNvSpPr>
            <p:nvPr/>
          </p:nvSpPr>
          <p:spPr bwMode="auto">
            <a:xfrm>
              <a:off x="738" y="4022"/>
              <a:ext cx="348"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r>
                <a:rPr kumimoji="1" lang="en-US" altLang="zh-CN" sz="2000" b="1" i="1" dirty="0">
                  <a:solidFill>
                    <a:srgbClr val="080808"/>
                  </a:solidFill>
                  <a:latin typeface="Times New Roman" panose="02020603050405020304" pitchFamily="18" charset="0"/>
                  <a:ea typeface="宋体" panose="02010600030101010101" pitchFamily="2" charset="-122"/>
                </a:rPr>
                <a:t>B</a:t>
              </a:r>
              <a:r>
                <a:rPr kumimoji="1" lang="en-US" altLang="zh-CN" sz="2000" b="1" i="1" dirty="0">
                  <a:solidFill>
                    <a:srgbClr val="080808"/>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000" b="1" i="1" dirty="0">
                <a:solidFill>
                  <a:srgbClr val="080808"/>
                </a:solidFill>
                <a:latin typeface="Times New Roman" panose="02020603050405020304" pitchFamily="18" charset="0"/>
                <a:ea typeface="宋体" panose="02010600030101010101" pitchFamily="2" charset="-122"/>
              </a:endParaRPr>
            </a:p>
          </p:txBody>
        </p:sp>
      </p:grpSp>
      <p:sp>
        <p:nvSpPr>
          <p:cNvPr id="31915" name="Line 171"/>
          <p:cNvSpPr>
            <a:spLocks noChangeShapeType="1"/>
          </p:cNvSpPr>
          <p:nvPr/>
        </p:nvSpPr>
        <p:spPr bwMode="auto">
          <a:xfrm>
            <a:off x="2061011" y="5245633"/>
            <a:ext cx="1028700" cy="914400"/>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1916" name="Group 172"/>
          <p:cNvGrpSpPr>
            <a:grpSpLocks/>
          </p:cNvGrpSpPr>
          <p:nvPr/>
        </p:nvGrpSpPr>
        <p:grpSpPr bwMode="auto">
          <a:xfrm>
            <a:off x="2051486" y="5645683"/>
            <a:ext cx="552450" cy="771525"/>
            <a:chOff x="1140" y="3672"/>
            <a:chExt cx="348" cy="486"/>
          </a:xfrm>
        </p:grpSpPr>
        <p:sp>
          <p:nvSpPr>
            <p:cNvPr id="31917" name="Line 173"/>
            <p:cNvSpPr>
              <a:spLocks noChangeShapeType="1"/>
            </p:cNvSpPr>
            <p:nvPr/>
          </p:nvSpPr>
          <p:spPr bwMode="auto">
            <a:xfrm flipH="1">
              <a:off x="1140" y="3744"/>
              <a:ext cx="348" cy="414"/>
            </a:xfrm>
            <a:prstGeom prst="line">
              <a:avLst/>
            </a:prstGeom>
            <a:noFill/>
            <a:ln w="222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1918" name="Group 174"/>
            <p:cNvGrpSpPr>
              <a:grpSpLocks/>
            </p:cNvGrpSpPr>
            <p:nvPr/>
          </p:nvGrpSpPr>
          <p:grpSpPr bwMode="auto">
            <a:xfrm>
              <a:off x="1344" y="3672"/>
              <a:ext cx="78" cy="150"/>
              <a:chOff x="1344" y="3672"/>
              <a:chExt cx="78" cy="150"/>
            </a:xfrm>
          </p:grpSpPr>
          <p:sp>
            <p:nvSpPr>
              <p:cNvPr id="31919" name="Line 175"/>
              <p:cNvSpPr>
                <a:spLocks noChangeShapeType="1"/>
              </p:cNvSpPr>
              <p:nvPr/>
            </p:nvSpPr>
            <p:spPr bwMode="auto">
              <a:xfrm flipH="1">
                <a:off x="1344" y="3672"/>
                <a:ext cx="66" cy="78"/>
              </a:xfrm>
              <a:prstGeom prst="line">
                <a:avLst/>
              </a:prstGeom>
              <a:noFill/>
              <a:ln w="222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920" name="Line 176"/>
              <p:cNvSpPr>
                <a:spLocks noChangeShapeType="1"/>
              </p:cNvSpPr>
              <p:nvPr/>
            </p:nvSpPr>
            <p:spPr bwMode="auto">
              <a:xfrm rot="5400000" flipH="1">
                <a:off x="1350" y="3750"/>
                <a:ext cx="66" cy="78"/>
              </a:xfrm>
              <a:prstGeom prst="line">
                <a:avLst/>
              </a:prstGeom>
              <a:noFill/>
              <a:ln w="222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31921" name="Group 177"/>
          <p:cNvGrpSpPr>
            <a:grpSpLocks/>
          </p:cNvGrpSpPr>
          <p:nvPr/>
        </p:nvGrpSpPr>
        <p:grpSpPr bwMode="auto">
          <a:xfrm>
            <a:off x="1537136" y="4978933"/>
            <a:ext cx="685800" cy="266700"/>
            <a:chOff x="816" y="3252"/>
            <a:chExt cx="432" cy="168"/>
          </a:xfrm>
        </p:grpSpPr>
        <p:graphicFrame>
          <p:nvGraphicFramePr>
            <p:cNvPr id="31922" name="Object 178"/>
            <p:cNvGraphicFramePr>
              <a:graphicFrameLocks noChangeAspect="1"/>
            </p:cNvGraphicFramePr>
            <p:nvPr>
              <p:extLst>
                <p:ext uri="{D42A27DB-BD31-4B8C-83A1-F6EECF244321}">
                  <p14:modId xmlns:p14="http://schemas.microsoft.com/office/powerpoint/2010/main" val="4121606467"/>
                </p:ext>
              </p:extLst>
            </p:nvPr>
          </p:nvGraphicFramePr>
          <p:xfrm>
            <a:off x="832" y="3252"/>
            <a:ext cx="183" cy="168"/>
          </p:xfrm>
          <a:graphic>
            <a:graphicData uri="http://schemas.openxmlformats.org/presentationml/2006/ole">
              <mc:AlternateContent xmlns:mc="http://schemas.openxmlformats.org/markup-compatibility/2006">
                <mc:Choice xmlns:v="urn:schemas-microsoft-com:vml" Requires="v">
                  <p:oleObj name="Equation" r:id="rId12" imgW="152280" imgH="139680" progId="Equation.DSMT4">
                    <p:embed/>
                  </p:oleObj>
                </mc:Choice>
                <mc:Fallback>
                  <p:oleObj name="Equation" r:id="rId12" imgW="152280" imgH="139680" progId="Equation.DSMT4">
                    <p:embed/>
                    <p:pic>
                      <p:nvPicPr>
                        <p:cNvPr id="0" name=""/>
                        <p:cNvPicPr>
                          <a:picLocks noChangeAspect="1" noChangeArrowheads="1"/>
                        </p:cNvPicPr>
                        <p:nvPr/>
                      </p:nvPicPr>
                      <p:blipFill>
                        <a:blip r:embed="rId13"/>
                        <a:srcRect/>
                        <a:stretch>
                          <a:fillRect/>
                        </a:stretch>
                      </p:blipFill>
                      <p:spPr bwMode="auto">
                        <a:xfrm>
                          <a:off x="832" y="3252"/>
                          <a:ext cx="183"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923" name="Line 179"/>
            <p:cNvSpPr>
              <a:spLocks noChangeShapeType="1"/>
            </p:cNvSpPr>
            <p:nvPr/>
          </p:nvSpPr>
          <p:spPr bwMode="auto">
            <a:xfrm>
              <a:off x="816" y="3402"/>
              <a:ext cx="432" cy="0"/>
            </a:xfrm>
            <a:prstGeom prst="line">
              <a:avLst/>
            </a:prstGeom>
            <a:noFill/>
            <a:ln w="2540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a:spAutoFit/>
            </a:bodyPr>
            <a:lstStyle/>
            <a:p>
              <a:endParaRPr lang="zh-CN" altLang="en-US"/>
            </a:p>
          </p:txBody>
        </p:sp>
      </p:grpSp>
      <p:graphicFrame>
        <p:nvGraphicFramePr>
          <p:cNvPr id="31924" name="Object 180"/>
          <p:cNvGraphicFramePr>
            <a:graphicFrameLocks noChangeAspect="1"/>
          </p:cNvGraphicFramePr>
          <p:nvPr>
            <p:extLst>
              <p:ext uri="{D42A27DB-BD31-4B8C-83A1-F6EECF244321}">
                <p14:modId xmlns:p14="http://schemas.microsoft.com/office/powerpoint/2010/main" val="960473817"/>
              </p:ext>
            </p:extLst>
          </p:nvPr>
        </p:nvGraphicFramePr>
        <p:xfrm>
          <a:off x="2019300" y="5978525"/>
          <a:ext cx="292100" cy="266700"/>
        </p:xfrm>
        <a:graphic>
          <a:graphicData uri="http://schemas.openxmlformats.org/presentationml/2006/ole">
            <mc:AlternateContent xmlns:mc="http://schemas.openxmlformats.org/markup-compatibility/2006">
              <mc:Choice xmlns:v="urn:schemas-microsoft-com:vml" Requires="v">
                <p:oleObj name="Equation" r:id="rId14" imgW="152280" imgH="139680" progId="Equation.DSMT4">
                  <p:embed/>
                </p:oleObj>
              </mc:Choice>
              <mc:Fallback>
                <p:oleObj name="Equation" r:id="rId14" imgW="152280" imgH="139680" progId="Equation.DSMT4">
                  <p:embed/>
                  <p:pic>
                    <p:nvPicPr>
                      <p:cNvPr id="0" name=""/>
                      <p:cNvPicPr>
                        <a:picLocks noChangeAspect="1" noChangeArrowheads="1"/>
                      </p:cNvPicPr>
                      <p:nvPr/>
                    </p:nvPicPr>
                    <p:blipFill>
                      <a:blip r:embed="rId15"/>
                      <a:srcRect/>
                      <a:stretch>
                        <a:fillRect/>
                      </a:stretch>
                    </p:blipFill>
                    <p:spPr bwMode="auto">
                      <a:xfrm>
                        <a:off x="2019300" y="5978525"/>
                        <a:ext cx="292100" cy="266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1930" name="Group 186"/>
          <p:cNvGrpSpPr>
            <a:grpSpLocks/>
          </p:cNvGrpSpPr>
          <p:nvPr/>
        </p:nvGrpSpPr>
        <p:grpSpPr bwMode="auto">
          <a:xfrm>
            <a:off x="447171" y="399257"/>
            <a:ext cx="3733800" cy="2409825"/>
            <a:chOff x="192" y="480"/>
            <a:chExt cx="2352" cy="1518"/>
          </a:xfrm>
        </p:grpSpPr>
        <p:sp>
          <p:nvSpPr>
            <p:cNvPr id="31847" name="Line 103"/>
            <p:cNvSpPr>
              <a:spLocks noChangeShapeType="1"/>
            </p:cNvSpPr>
            <p:nvPr/>
          </p:nvSpPr>
          <p:spPr bwMode="auto">
            <a:xfrm>
              <a:off x="290" y="1667"/>
              <a:ext cx="0" cy="3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48" name="Line 104"/>
            <p:cNvSpPr>
              <a:spLocks noChangeShapeType="1"/>
            </p:cNvSpPr>
            <p:nvPr/>
          </p:nvSpPr>
          <p:spPr bwMode="auto">
            <a:xfrm>
              <a:off x="2533" y="1667"/>
              <a:ext cx="0" cy="3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49" name="Line 105"/>
            <p:cNvSpPr>
              <a:spLocks noChangeShapeType="1"/>
            </p:cNvSpPr>
            <p:nvPr/>
          </p:nvSpPr>
          <p:spPr bwMode="auto">
            <a:xfrm>
              <a:off x="1206" y="1854"/>
              <a:ext cx="1331" cy="0"/>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50" name="Line 106"/>
            <p:cNvSpPr>
              <a:spLocks noChangeShapeType="1"/>
            </p:cNvSpPr>
            <p:nvPr/>
          </p:nvSpPr>
          <p:spPr bwMode="auto">
            <a:xfrm>
              <a:off x="1220" y="1667"/>
              <a:ext cx="0" cy="3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51" name="Line 107"/>
            <p:cNvSpPr>
              <a:spLocks noChangeShapeType="1"/>
            </p:cNvSpPr>
            <p:nvPr/>
          </p:nvSpPr>
          <p:spPr bwMode="auto">
            <a:xfrm>
              <a:off x="301" y="1854"/>
              <a:ext cx="912" cy="0"/>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52" name="Line 108"/>
            <p:cNvSpPr>
              <a:spLocks noChangeShapeType="1"/>
            </p:cNvSpPr>
            <p:nvPr/>
          </p:nvSpPr>
          <p:spPr bwMode="auto">
            <a:xfrm>
              <a:off x="288" y="480"/>
              <a:ext cx="0" cy="13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53" name="Line 109"/>
            <p:cNvSpPr>
              <a:spLocks noChangeShapeType="1"/>
            </p:cNvSpPr>
            <p:nvPr/>
          </p:nvSpPr>
          <p:spPr bwMode="auto">
            <a:xfrm flipH="1">
              <a:off x="192" y="502"/>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54" name="Line 110"/>
            <p:cNvSpPr>
              <a:spLocks noChangeShapeType="1"/>
            </p:cNvSpPr>
            <p:nvPr/>
          </p:nvSpPr>
          <p:spPr bwMode="auto">
            <a:xfrm flipH="1">
              <a:off x="192" y="598"/>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55" name="Line 111"/>
            <p:cNvSpPr>
              <a:spLocks noChangeShapeType="1"/>
            </p:cNvSpPr>
            <p:nvPr/>
          </p:nvSpPr>
          <p:spPr bwMode="auto">
            <a:xfrm flipH="1">
              <a:off x="192" y="694"/>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56" name="Line 112"/>
            <p:cNvSpPr>
              <a:spLocks noChangeShapeType="1"/>
            </p:cNvSpPr>
            <p:nvPr/>
          </p:nvSpPr>
          <p:spPr bwMode="auto">
            <a:xfrm flipH="1">
              <a:off x="192" y="790"/>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57" name="Line 113"/>
            <p:cNvSpPr>
              <a:spLocks noChangeShapeType="1"/>
            </p:cNvSpPr>
            <p:nvPr/>
          </p:nvSpPr>
          <p:spPr bwMode="auto">
            <a:xfrm flipH="1">
              <a:off x="192" y="886"/>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58" name="Line 114"/>
            <p:cNvSpPr>
              <a:spLocks noChangeShapeType="1"/>
            </p:cNvSpPr>
            <p:nvPr/>
          </p:nvSpPr>
          <p:spPr bwMode="auto">
            <a:xfrm flipH="1">
              <a:off x="192" y="982"/>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59" name="Line 115"/>
            <p:cNvSpPr>
              <a:spLocks noChangeShapeType="1"/>
            </p:cNvSpPr>
            <p:nvPr/>
          </p:nvSpPr>
          <p:spPr bwMode="auto">
            <a:xfrm flipH="1">
              <a:off x="192" y="1078"/>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60" name="Line 116"/>
            <p:cNvSpPr>
              <a:spLocks noChangeShapeType="1"/>
            </p:cNvSpPr>
            <p:nvPr/>
          </p:nvSpPr>
          <p:spPr bwMode="auto">
            <a:xfrm flipH="1">
              <a:off x="192" y="1174"/>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61" name="Line 117"/>
            <p:cNvSpPr>
              <a:spLocks noChangeShapeType="1"/>
            </p:cNvSpPr>
            <p:nvPr/>
          </p:nvSpPr>
          <p:spPr bwMode="auto">
            <a:xfrm flipH="1">
              <a:off x="192" y="1270"/>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62" name="Line 118"/>
            <p:cNvSpPr>
              <a:spLocks noChangeShapeType="1"/>
            </p:cNvSpPr>
            <p:nvPr/>
          </p:nvSpPr>
          <p:spPr bwMode="auto">
            <a:xfrm flipH="1">
              <a:off x="192" y="1366"/>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63" name="Line 119"/>
            <p:cNvSpPr>
              <a:spLocks noChangeShapeType="1"/>
            </p:cNvSpPr>
            <p:nvPr/>
          </p:nvSpPr>
          <p:spPr bwMode="auto">
            <a:xfrm flipH="1">
              <a:off x="192" y="1462"/>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64" name="Line 120"/>
            <p:cNvSpPr>
              <a:spLocks noChangeShapeType="1"/>
            </p:cNvSpPr>
            <p:nvPr/>
          </p:nvSpPr>
          <p:spPr bwMode="auto">
            <a:xfrm flipH="1">
              <a:off x="192" y="1558"/>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65" name="Line 121"/>
            <p:cNvSpPr>
              <a:spLocks noChangeShapeType="1"/>
            </p:cNvSpPr>
            <p:nvPr/>
          </p:nvSpPr>
          <p:spPr bwMode="auto">
            <a:xfrm flipH="1">
              <a:off x="192" y="1654"/>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66" name="Line 122"/>
            <p:cNvSpPr>
              <a:spLocks noChangeShapeType="1"/>
            </p:cNvSpPr>
            <p:nvPr/>
          </p:nvSpPr>
          <p:spPr bwMode="auto">
            <a:xfrm flipH="1">
              <a:off x="192" y="1750"/>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67" name="Line 123"/>
            <p:cNvSpPr>
              <a:spLocks noChangeShapeType="1"/>
            </p:cNvSpPr>
            <p:nvPr/>
          </p:nvSpPr>
          <p:spPr bwMode="auto">
            <a:xfrm>
              <a:off x="288" y="1584"/>
              <a:ext cx="2256"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68" name="Line 124"/>
            <p:cNvSpPr>
              <a:spLocks noChangeAspect="1" noChangeShapeType="1"/>
            </p:cNvSpPr>
            <p:nvPr/>
          </p:nvSpPr>
          <p:spPr bwMode="auto">
            <a:xfrm>
              <a:off x="304" y="696"/>
              <a:ext cx="907" cy="861"/>
            </a:xfrm>
            <a:prstGeom prst="line">
              <a:avLst/>
            </a:prstGeom>
            <a:noFill/>
            <a:ln w="349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69" name="Line 125"/>
            <p:cNvSpPr>
              <a:spLocks noChangeShapeType="1"/>
            </p:cNvSpPr>
            <p:nvPr/>
          </p:nvSpPr>
          <p:spPr bwMode="auto">
            <a:xfrm>
              <a:off x="2518" y="1134"/>
              <a:ext cx="0" cy="432"/>
            </a:xfrm>
            <a:prstGeom prst="line">
              <a:avLst/>
            </a:prstGeom>
            <a:noFill/>
            <a:ln w="2857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71" name="Oval 127"/>
            <p:cNvSpPr>
              <a:spLocks noChangeArrowheads="1"/>
            </p:cNvSpPr>
            <p:nvPr/>
          </p:nvSpPr>
          <p:spPr bwMode="auto">
            <a:xfrm>
              <a:off x="288" y="1555"/>
              <a:ext cx="57" cy="57"/>
            </a:xfrm>
            <a:prstGeom prst="ellipse">
              <a:avLst/>
            </a:prstGeom>
            <a:solidFill>
              <a:srgbClr val="00CCFF"/>
            </a:solidFill>
            <a:ln w="222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72" name="Oval 128"/>
            <p:cNvSpPr>
              <a:spLocks noChangeArrowheads="1"/>
            </p:cNvSpPr>
            <p:nvPr/>
          </p:nvSpPr>
          <p:spPr bwMode="auto">
            <a:xfrm>
              <a:off x="1165" y="1516"/>
              <a:ext cx="57" cy="57"/>
            </a:xfrm>
            <a:prstGeom prst="ellipse">
              <a:avLst/>
            </a:prstGeom>
            <a:solidFill>
              <a:srgbClr val="00CCFF"/>
            </a:solidFill>
            <a:ln w="222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73" name="Text Box 129"/>
            <p:cNvSpPr txBox="1">
              <a:spLocks noChangeArrowheads="1"/>
            </p:cNvSpPr>
            <p:nvPr/>
          </p:nvSpPr>
          <p:spPr bwMode="auto">
            <a:xfrm>
              <a:off x="2295" y="1035"/>
              <a:ext cx="223"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000" b="1" i="1" dirty="0">
                  <a:solidFill>
                    <a:srgbClr val="FF0000"/>
                  </a:solidFill>
                  <a:latin typeface="Times New Roman" panose="02020603050405020304" pitchFamily="18" charset="0"/>
                  <a:ea typeface="宋体" panose="02010600030101010101" pitchFamily="2" charset="-122"/>
                </a:rPr>
                <a:t>F</a:t>
              </a:r>
            </a:p>
          </p:txBody>
        </p:sp>
        <p:sp>
          <p:nvSpPr>
            <p:cNvPr id="31874" name="Text Box 130"/>
            <p:cNvSpPr txBox="1">
              <a:spLocks noChangeArrowheads="1"/>
            </p:cNvSpPr>
            <p:nvPr/>
          </p:nvSpPr>
          <p:spPr bwMode="auto">
            <a:xfrm>
              <a:off x="1783" y="1592"/>
              <a:ext cx="269"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000" i="1" dirty="0">
                  <a:solidFill>
                    <a:srgbClr val="080808"/>
                  </a:solidFill>
                  <a:latin typeface="Times New Roman" panose="02020603050405020304" pitchFamily="18" charset="0"/>
                  <a:ea typeface="宋体" panose="02010600030101010101" pitchFamily="2" charset="-122"/>
                </a:rPr>
                <a:t>L</a:t>
              </a:r>
              <a:r>
                <a:rPr kumimoji="1" lang="en-US" altLang="zh-CN" sz="2000" b="1" baseline="-25000" dirty="0">
                  <a:solidFill>
                    <a:srgbClr val="080808"/>
                  </a:solidFill>
                  <a:latin typeface="Times New Roman" panose="02020603050405020304" pitchFamily="18" charset="0"/>
                  <a:ea typeface="宋体" panose="02010600030101010101" pitchFamily="2" charset="-122"/>
                </a:rPr>
                <a:t>2</a:t>
              </a:r>
              <a:endParaRPr kumimoji="1" lang="en-US" altLang="zh-CN" sz="2000" b="1" dirty="0">
                <a:solidFill>
                  <a:srgbClr val="080808"/>
                </a:solidFill>
                <a:latin typeface="Times New Roman" panose="02020603050405020304" pitchFamily="18" charset="0"/>
                <a:ea typeface="宋体" panose="02010600030101010101" pitchFamily="2" charset="-122"/>
              </a:endParaRPr>
            </a:p>
          </p:txBody>
        </p:sp>
        <p:sp>
          <p:nvSpPr>
            <p:cNvPr id="31876" name="Text Box 132"/>
            <p:cNvSpPr txBox="1">
              <a:spLocks noChangeArrowheads="1"/>
            </p:cNvSpPr>
            <p:nvPr/>
          </p:nvSpPr>
          <p:spPr bwMode="auto">
            <a:xfrm>
              <a:off x="614" y="1590"/>
              <a:ext cx="269"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000" i="1" dirty="0">
                  <a:solidFill>
                    <a:srgbClr val="080808"/>
                  </a:solidFill>
                  <a:latin typeface="Times New Roman" panose="02020603050405020304" pitchFamily="18" charset="0"/>
                  <a:ea typeface="宋体" panose="02010600030101010101" pitchFamily="2" charset="-122"/>
                </a:rPr>
                <a:t>L</a:t>
              </a:r>
              <a:r>
                <a:rPr kumimoji="1" lang="en-US" altLang="zh-CN" sz="2000" b="1" baseline="-25000" dirty="0">
                  <a:solidFill>
                    <a:srgbClr val="080808"/>
                  </a:solidFill>
                  <a:latin typeface="Times New Roman" panose="02020603050405020304" pitchFamily="18" charset="0"/>
                  <a:ea typeface="宋体" panose="02010600030101010101" pitchFamily="2" charset="-122"/>
                </a:rPr>
                <a:t>1</a:t>
              </a:r>
              <a:endParaRPr kumimoji="1" lang="en-US" altLang="zh-CN" sz="2000" b="1" dirty="0">
                <a:solidFill>
                  <a:srgbClr val="080808"/>
                </a:solidFill>
                <a:latin typeface="Times New Roman" panose="02020603050405020304" pitchFamily="18" charset="0"/>
                <a:ea typeface="宋体" panose="02010600030101010101" pitchFamily="2" charset="-122"/>
              </a:endParaRPr>
            </a:p>
          </p:txBody>
        </p:sp>
        <p:sp>
          <p:nvSpPr>
            <p:cNvPr id="31877" name="Text Box 133"/>
            <p:cNvSpPr txBox="1">
              <a:spLocks noChangeArrowheads="1"/>
            </p:cNvSpPr>
            <p:nvPr/>
          </p:nvSpPr>
          <p:spPr bwMode="auto">
            <a:xfrm>
              <a:off x="2278" y="1339"/>
              <a:ext cx="223"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000" b="1" i="1" dirty="0">
                  <a:solidFill>
                    <a:srgbClr val="080808"/>
                  </a:solidFill>
                  <a:latin typeface="Times New Roman" panose="02020603050405020304" pitchFamily="18" charset="0"/>
                  <a:ea typeface="宋体" panose="02010600030101010101" pitchFamily="2" charset="-122"/>
                </a:rPr>
                <a:t>A</a:t>
              </a:r>
            </a:p>
          </p:txBody>
        </p:sp>
        <p:sp>
          <p:nvSpPr>
            <p:cNvPr id="31878" name="Text Box 134"/>
            <p:cNvSpPr txBox="1">
              <a:spLocks noChangeArrowheads="1"/>
            </p:cNvSpPr>
            <p:nvPr/>
          </p:nvSpPr>
          <p:spPr bwMode="auto">
            <a:xfrm>
              <a:off x="1176" y="1333"/>
              <a:ext cx="223"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000" b="1" i="1">
                  <a:solidFill>
                    <a:srgbClr val="080808"/>
                  </a:solidFill>
                  <a:latin typeface="Times New Roman" panose="02020603050405020304" pitchFamily="18" charset="0"/>
                  <a:ea typeface="宋体" panose="02010600030101010101" pitchFamily="2" charset="-122"/>
                </a:rPr>
                <a:t>B</a:t>
              </a:r>
            </a:p>
          </p:txBody>
        </p:sp>
        <p:sp>
          <p:nvSpPr>
            <p:cNvPr id="31879" name="Text Box 135"/>
            <p:cNvSpPr txBox="1">
              <a:spLocks noChangeArrowheads="1"/>
            </p:cNvSpPr>
            <p:nvPr/>
          </p:nvSpPr>
          <p:spPr bwMode="auto">
            <a:xfrm>
              <a:off x="240" y="710"/>
              <a:ext cx="232"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000" b="1" i="1">
                  <a:solidFill>
                    <a:srgbClr val="080808"/>
                  </a:solidFill>
                  <a:latin typeface="Times New Roman" panose="02020603050405020304" pitchFamily="18" charset="0"/>
                  <a:ea typeface="宋体" panose="02010600030101010101" pitchFamily="2" charset="-122"/>
                </a:rPr>
                <a:t>D</a:t>
              </a:r>
            </a:p>
          </p:txBody>
        </p:sp>
        <p:sp>
          <p:nvSpPr>
            <p:cNvPr id="31880" name="Text Box 136"/>
            <p:cNvSpPr txBox="1">
              <a:spLocks noChangeArrowheads="1"/>
            </p:cNvSpPr>
            <p:nvPr/>
          </p:nvSpPr>
          <p:spPr bwMode="auto">
            <a:xfrm>
              <a:off x="263" y="1348"/>
              <a:ext cx="223"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000" b="1" i="1">
                  <a:solidFill>
                    <a:srgbClr val="080808"/>
                  </a:solidFill>
                  <a:latin typeface="Times New Roman" panose="02020603050405020304" pitchFamily="18" charset="0"/>
                  <a:ea typeface="宋体" panose="02010600030101010101" pitchFamily="2" charset="-122"/>
                </a:rPr>
                <a:t>C</a:t>
              </a:r>
            </a:p>
          </p:txBody>
        </p:sp>
        <p:sp>
          <p:nvSpPr>
            <p:cNvPr id="31927" name="Oval 183"/>
            <p:cNvSpPr>
              <a:spLocks noChangeArrowheads="1"/>
            </p:cNvSpPr>
            <p:nvPr/>
          </p:nvSpPr>
          <p:spPr bwMode="auto">
            <a:xfrm>
              <a:off x="283" y="675"/>
              <a:ext cx="57" cy="57"/>
            </a:xfrm>
            <a:prstGeom prst="ellipse">
              <a:avLst/>
            </a:prstGeom>
            <a:solidFill>
              <a:srgbClr val="00CCFF"/>
            </a:solidFill>
            <a:ln w="222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929" name="Text Box 185"/>
            <p:cNvSpPr txBox="1">
              <a:spLocks noChangeArrowheads="1"/>
            </p:cNvSpPr>
            <p:nvPr/>
          </p:nvSpPr>
          <p:spPr bwMode="auto">
            <a:xfrm>
              <a:off x="887" y="1345"/>
              <a:ext cx="253"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kumimoji="1" lang="en-US" altLang="zh-CN" sz="2000" i="1" dirty="0">
                  <a:latin typeface="Times New Roman" panose="02020603050405020304" pitchFamily="18" charset="0"/>
                  <a:ea typeface="宋体" panose="02010600030101010101" pitchFamily="2" charset="-122"/>
                  <a:sym typeface="Symbol" panose="05050102010706020507" pitchFamily="18" charset="2"/>
                </a:rPr>
                <a:t></a:t>
              </a:r>
            </a:p>
          </p:txBody>
        </p:sp>
      </p:grpSp>
      <p:sp>
        <p:nvSpPr>
          <p:cNvPr id="2" name="文本框 1"/>
          <p:cNvSpPr txBox="1"/>
          <p:nvPr/>
        </p:nvSpPr>
        <p:spPr>
          <a:xfrm>
            <a:off x="7328048" y="4659979"/>
            <a:ext cx="1099403" cy="461665"/>
          </a:xfrm>
          <a:prstGeom prst="rect">
            <a:avLst/>
          </a:prstGeom>
          <a:solidFill>
            <a:srgbClr val="FFFF00"/>
          </a:solidFill>
        </p:spPr>
        <p:txBody>
          <a:bodyPr wrap="square" rtlCol="0">
            <a:spAutoFit/>
          </a:bodyPr>
          <a:lstStyle/>
          <a:p>
            <a:r>
              <a:rPr lang="zh-CN" altLang="en-US" dirty="0">
                <a:solidFill>
                  <a:srgbClr val="FF0000"/>
                </a:solidFill>
                <a:latin typeface="黑体" panose="02010609060101010101" pitchFamily="49" charset="-122"/>
                <a:ea typeface="黑体" panose="02010609060101010101" pitchFamily="49" charset="-122"/>
              </a:rPr>
              <a:t>切线法</a:t>
            </a:r>
          </a:p>
        </p:txBody>
      </p:sp>
      <p:graphicFrame>
        <p:nvGraphicFramePr>
          <p:cNvPr id="92" name="Object 15"/>
          <p:cNvGraphicFramePr>
            <a:graphicFrameLocks noChangeAspect="1"/>
          </p:cNvGraphicFramePr>
          <p:nvPr>
            <p:extLst>
              <p:ext uri="{D42A27DB-BD31-4B8C-83A1-F6EECF244321}">
                <p14:modId xmlns:p14="http://schemas.microsoft.com/office/powerpoint/2010/main" val="1535902236"/>
              </p:ext>
            </p:extLst>
          </p:nvPr>
        </p:nvGraphicFramePr>
        <p:xfrm>
          <a:off x="6331284" y="1729319"/>
          <a:ext cx="1205661" cy="466373"/>
        </p:xfrm>
        <a:graphic>
          <a:graphicData uri="http://schemas.openxmlformats.org/presentationml/2006/ole">
            <mc:AlternateContent xmlns:mc="http://schemas.openxmlformats.org/markup-compatibility/2006">
              <mc:Choice xmlns:v="urn:schemas-microsoft-com:vml" Requires="v">
                <p:oleObj name="Equation" r:id="rId16" imgW="583920" imgH="228600" progId="Equation.DSMT4">
                  <p:embed/>
                </p:oleObj>
              </mc:Choice>
              <mc:Fallback>
                <p:oleObj name="Equation" r:id="rId16" imgW="583920" imgH="228600" progId="Equation.DSMT4">
                  <p:embed/>
                  <p:pic>
                    <p:nvPicPr>
                      <p:cNvPr id="0" name=""/>
                      <p:cNvPicPr>
                        <a:picLocks noChangeAspect="1" noChangeArrowheads="1"/>
                      </p:cNvPicPr>
                      <p:nvPr/>
                    </p:nvPicPr>
                    <p:blipFill>
                      <a:blip r:embed="rId17"/>
                      <a:srcRect/>
                      <a:stretch>
                        <a:fillRect/>
                      </a:stretch>
                    </p:blipFill>
                    <p:spPr bwMode="auto">
                      <a:xfrm>
                        <a:off x="6331284" y="1729319"/>
                        <a:ext cx="1205661" cy="466373"/>
                      </a:xfrm>
                      <a:prstGeom prst="rect">
                        <a:avLst/>
                      </a:prstGeom>
                      <a:noFill/>
                    </p:spPr>
                  </p:pic>
                </p:oleObj>
              </mc:Fallback>
            </mc:AlternateContent>
          </a:graphicData>
        </a:graphic>
      </p:graphicFrame>
      <p:graphicFrame>
        <p:nvGraphicFramePr>
          <p:cNvPr id="93" name="Object 15"/>
          <p:cNvGraphicFramePr>
            <a:graphicFrameLocks noChangeAspect="1"/>
          </p:cNvGraphicFramePr>
          <p:nvPr>
            <p:extLst>
              <p:ext uri="{D42A27DB-BD31-4B8C-83A1-F6EECF244321}">
                <p14:modId xmlns:p14="http://schemas.microsoft.com/office/powerpoint/2010/main" val="2464659628"/>
              </p:ext>
            </p:extLst>
          </p:nvPr>
        </p:nvGraphicFramePr>
        <p:xfrm>
          <a:off x="6084168" y="5428811"/>
          <a:ext cx="2360613" cy="933450"/>
        </p:xfrm>
        <a:graphic>
          <a:graphicData uri="http://schemas.openxmlformats.org/presentationml/2006/ole">
            <mc:AlternateContent xmlns:mc="http://schemas.openxmlformats.org/markup-compatibility/2006">
              <mc:Choice xmlns:v="urn:schemas-microsoft-com:vml" Requires="v">
                <p:oleObj name="Equation" r:id="rId18" imgW="1143000" imgH="457200" progId="Equation.DSMT4">
                  <p:embed/>
                </p:oleObj>
              </mc:Choice>
              <mc:Fallback>
                <p:oleObj name="Equation" r:id="rId18" imgW="1143000" imgH="457200" progId="Equation.DSMT4">
                  <p:embed/>
                  <p:pic>
                    <p:nvPicPr>
                      <p:cNvPr id="0" name=""/>
                      <p:cNvPicPr>
                        <a:picLocks noChangeAspect="1" noChangeArrowheads="1"/>
                      </p:cNvPicPr>
                      <p:nvPr/>
                    </p:nvPicPr>
                    <p:blipFill>
                      <a:blip r:embed="rId19"/>
                      <a:srcRect/>
                      <a:stretch>
                        <a:fillRect/>
                      </a:stretch>
                    </p:blipFill>
                    <p:spPr bwMode="auto">
                      <a:xfrm>
                        <a:off x="6084168" y="5428811"/>
                        <a:ext cx="2360613" cy="933450"/>
                      </a:xfrm>
                      <a:prstGeom prst="rect">
                        <a:avLst/>
                      </a:prstGeom>
                      <a:noFill/>
                    </p:spPr>
                  </p:pic>
                </p:oleObj>
              </mc:Fallback>
            </mc:AlternateContent>
          </a:graphicData>
        </a:graphic>
      </p:graphicFrame>
      <p:grpSp>
        <p:nvGrpSpPr>
          <p:cNvPr id="4" name="组合 3"/>
          <p:cNvGrpSpPr/>
          <p:nvPr/>
        </p:nvGrpSpPr>
        <p:grpSpPr>
          <a:xfrm>
            <a:off x="165722" y="2982122"/>
            <a:ext cx="4027012" cy="1271588"/>
            <a:chOff x="165722" y="2982122"/>
            <a:chExt cx="4027012" cy="1271588"/>
          </a:xfrm>
        </p:grpSpPr>
        <p:grpSp>
          <p:nvGrpSpPr>
            <p:cNvPr id="31881" name="Group 137"/>
            <p:cNvGrpSpPr>
              <a:grpSpLocks/>
            </p:cNvGrpSpPr>
            <p:nvPr/>
          </p:nvGrpSpPr>
          <p:grpSpPr bwMode="auto">
            <a:xfrm>
              <a:off x="458934" y="2982122"/>
              <a:ext cx="3733800" cy="1271588"/>
              <a:chOff x="528" y="2223"/>
              <a:chExt cx="2352" cy="801"/>
            </a:xfrm>
          </p:grpSpPr>
          <p:sp>
            <p:nvSpPr>
              <p:cNvPr id="31882" name="Line 138"/>
              <p:cNvSpPr>
                <a:spLocks noChangeShapeType="1"/>
              </p:cNvSpPr>
              <p:nvPr/>
            </p:nvSpPr>
            <p:spPr bwMode="auto">
              <a:xfrm>
                <a:off x="624" y="2448"/>
                <a:ext cx="0"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83" name="Line 139"/>
              <p:cNvSpPr>
                <a:spLocks noChangeShapeType="1"/>
              </p:cNvSpPr>
              <p:nvPr/>
            </p:nvSpPr>
            <p:spPr bwMode="auto">
              <a:xfrm flipH="1">
                <a:off x="528" y="2518"/>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84" name="Line 140"/>
              <p:cNvSpPr>
                <a:spLocks noChangeShapeType="1"/>
              </p:cNvSpPr>
              <p:nvPr/>
            </p:nvSpPr>
            <p:spPr bwMode="auto">
              <a:xfrm flipH="1">
                <a:off x="528" y="2614"/>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85" name="Line 141"/>
              <p:cNvSpPr>
                <a:spLocks noChangeShapeType="1"/>
              </p:cNvSpPr>
              <p:nvPr/>
            </p:nvSpPr>
            <p:spPr bwMode="auto">
              <a:xfrm flipH="1">
                <a:off x="528" y="2710"/>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86" name="Line 142"/>
              <p:cNvSpPr>
                <a:spLocks noChangeShapeType="1"/>
              </p:cNvSpPr>
              <p:nvPr/>
            </p:nvSpPr>
            <p:spPr bwMode="auto">
              <a:xfrm flipH="1">
                <a:off x="528" y="2806"/>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87" name="Line 143"/>
              <p:cNvSpPr>
                <a:spLocks noChangeShapeType="1"/>
              </p:cNvSpPr>
              <p:nvPr/>
            </p:nvSpPr>
            <p:spPr bwMode="auto">
              <a:xfrm flipH="1">
                <a:off x="528" y="2902"/>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88" name="Line 144"/>
              <p:cNvSpPr>
                <a:spLocks noChangeShapeType="1"/>
              </p:cNvSpPr>
              <p:nvPr/>
            </p:nvSpPr>
            <p:spPr bwMode="auto">
              <a:xfrm>
                <a:off x="624" y="2736"/>
                <a:ext cx="2256"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89" name="Line 145"/>
              <p:cNvSpPr>
                <a:spLocks noChangeShapeType="1"/>
              </p:cNvSpPr>
              <p:nvPr/>
            </p:nvSpPr>
            <p:spPr bwMode="auto">
              <a:xfrm>
                <a:off x="2854" y="2291"/>
                <a:ext cx="0" cy="432"/>
              </a:xfrm>
              <a:prstGeom prst="line">
                <a:avLst/>
              </a:prstGeom>
              <a:noFill/>
              <a:ln w="2857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90" name="Oval 146"/>
              <p:cNvSpPr>
                <a:spLocks noChangeArrowheads="1"/>
              </p:cNvSpPr>
              <p:nvPr/>
            </p:nvSpPr>
            <p:spPr bwMode="auto">
              <a:xfrm>
                <a:off x="624" y="2710"/>
                <a:ext cx="57" cy="57"/>
              </a:xfrm>
              <a:prstGeom prst="ellipse">
                <a:avLst/>
              </a:prstGeom>
              <a:solidFill>
                <a:srgbClr val="00CCFF"/>
              </a:solidFill>
              <a:ln w="222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91" name="Text Box 147"/>
              <p:cNvSpPr txBox="1">
                <a:spLocks noChangeArrowheads="1"/>
              </p:cNvSpPr>
              <p:nvPr/>
            </p:nvSpPr>
            <p:spPr bwMode="auto">
              <a:xfrm>
                <a:off x="2625" y="2223"/>
                <a:ext cx="223"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000" b="1" i="1" dirty="0">
                    <a:solidFill>
                      <a:srgbClr val="FF0000"/>
                    </a:solidFill>
                    <a:latin typeface="Times New Roman" panose="02020603050405020304" pitchFamily="18" charset="0"/>
                    <a:ea typeface="宋体" panose="02010600030101010101" pitchFamily="2" charset="-122"/>
                  </a:rPr>
                  <a:t>F</a:t>
                </a:r>
              </a:p>
            </p:txBody>
          </p:sp>
          <p:graphicFrame>
            <p:nvGraphicFramePr>
              <p:cNvPr id="31892" name="Object 148"/>
              <p:cNvGraphicFramePr>
                <a:graphicFrameLocks noChangeAspect="1"/>
              </p:cNvGraphicFramePr>
              <p:nvPr>
                <p:extLst>
                  <p:ext uri="{D42A27DB-BD31-4B8C-83A1-F6EECF244321}">
                    <p14:modId xmlns:p14="http://schemas.microsoft.com/office/powerpoint/2010/main" val="2798847349"/>
                  </p:ext>
                </p:extLst>
              </p:nvPr>
            </p:nvGraphicFramePr>
            <p:xfrm>
              <a:off x="1306" y="2595"/>
              <a:ext cx="149" cy="128"/>
            </p:xfrm>
            <a:graphic>
              <a:graphicData uri="http://schemas.openxmlformats.org/presentationml/2006/ole">
                <mc:AlternateContent xmlns:mc="http://schemas.openxmlformats.org/markup-compatibility/2006">
                  <mc:Choice xmlns:v="urn:schemas-microsoft-com:vml" Requires="v">
                    <p:oleObj name="Equation" r:id="rId20" imgW="152280" imgH="139680" progId="Equation.DSMT4">
                      <p:embed/>
                    </p:oleObj>
                  </mc:Choice>
                  <mc:Fallback>
                    <p:oleObj name="Equation" r:id="rId20" imgW="152280" imgH="139680" progId="Equation.DSMT4">
                      <p:embed/>
                      <p:pic>
                        <p:nvPicPr>
                          <p:cNvPr id="0" name=""/>
                          <p:cNvPicPr>
                            <a:picLocks noChangeAspect="1" noChangeArrowheads="1"/>
                          </p:cNvPicPr>
                          <p:nvPr/>
                        </p:nvPicPr>
                        <p:blipFill>
                          <a:blip r:embed="rId21"/>
                          <a:srcRect/>
                          <a:stretch>
                            <a:fillRect/>
                          </a:stretch>
                        </p:blipFill>
                        <p:spPr bwMode="auto">
                          <a:xfrm>
                            <a:off x="1306" y="2595"/>
                            <a:ext cx="149" cy="128"/>
                          </a:xfrm>
                          <a:prstGeom prst="rect">
                            <a:avLst/>
                          </a:prstGeom>
                          <a:noFill/>
                          <a:ln>
                            <a:noFill/>
                          </a:ln>
                          <a:effectLst/>
                        </p:spPr>
                      </p:pic>
                    </p:oleObj>
                  </mc:Fallback>
                </mc:AlternateContent>
              </a:graphicData>
            </a:graphic>
          </p:graphicFrame>
          <p:sp>
            <p:nvSpPr>
              <p:cNvPr id="31893" name="Text Box 149"/>
              <p:cNvSpPr txBox="1">
                <a:spLocks noChangeArrowheads="1"/>
              </p:cNvSpPr>
              <p:nvPr/>
            </p:nvSpPr>
            <p:spPr bwMode="auto">
              <a:xfrm>
                <a:off x="2625" y="2470"/>
                <a:ext cx="223"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000" b="1" i="1">
                    <a:solidFill>
                      <a:srgbClr val="080808"/>
                    </a:solidFill>
                    <a:latin typeface="Times New Roman" panose="02020603050405020304" pitchFamily="18" charset="0"/>
                    <a:ea typeface="宋体" panose="02010600030101010101" pitchFamily="2" charset="-122"/>
                  </a:rPr>
                  <a:t>A</a:t>
                </a:r>
              </a:p>
            </p:txBody>
          </p:sp>
          <p:sp>
            <p:nvSpPr>
              <p:cNvPr id="31894" name="Text Box 150"/>
              <p:cNvSpPr txBox="1">
                <a:spLocks noChangeArrowheads="1"/>
              </p:cNvSpPr>
              <p:nvPr/>
            </p:nvSpPr>
            <p:spPr bwMode="auto">
              <a:xfrm>
                <a:off x="1512" y="2478"/>
                <a:ext cx="223"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000" b="1" i="1">
                    <a:solidFill>
                      <a:srgbClr val="080808"/>
                    </a:solidFill>
                    <a:latin typeface="Times New Roman" panose="02020603050405020304" pitchFamily="18" charset="0"/>
                    <a:ea typeface="宋体" panose="02010600030101010101" pitchFamily="2" charset="-122"/>
                  </a:rPr>
                  <a:t>B</a:t>
                </a:r>
              </a:p>
            </p:txBody>
          </p:sp>
          <p:sp>
            <p:nvSpPr>
              <p:cNvPr id="31895" name="Line 151"/>
              <p:cNvSpPr>
                <a:spLocks noChangeShapeType="1"/>
              </p:cNvSpPr>
              <p:nvPr/>
            </p:nvSpPr>
            <p:spPr bwMode="auto">
              <a:xfrm>
                <a:off x="1115" y="2320"/>
                <a:ext cx="421" cy="401"/>
              </a:xfrm>
              <a:prstGeom prst="line">
                <a:avLst/>
              </a:prstGeom>
              <a:noFill/>
              <a:ln w="34925">
                <a:solidFill>
                  <a:srgbClr val="FF0000"/>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96" name="Text Box 152"/>
              <p:cNvSpPr txBox="1">
                <a:spLocks noChangeArrowheads="1"/>
              </p:cNvSpPr>
              <p:nvPr/>
            </p:nvSpPr>
            <p:spPr bwMode="auto">
              <a:xfrm>
                <a:off x="612" y="2501"/>
                <a:ext cx="223"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000" b="1" i="1" dirty="0">
                    <a:solidFill>
                      <a:srgbClr val="080808"/>
                    </a:solidFill>
                    <a:latin typeface="Times New Roman" panose="02020603050405020304" pitchFamily="18" charset="0"/>
                    <a:ea typeface="宋体" panose="02010600030101010101" pitchFamily="2" charset="-122"/>
                  </a:rPr>
                  <a:t>C</a:t>
                </a:r>
              </a:p>
            </p:txBody>
          </p:sp>
          <p:sp>
            <p:nvSpPr>
              <p:cNvPr id="31897" name="Oval 153"/>
              <p:cNvSpPr>
                <a:spLocks noChangeArrowheads="1"/>
              </p:cNvSpPr>
              <p:nvPr/>
            </p:nvSpPr>
            <p:spPr bwMode="auto">
              <a:xfrm>
                <a:off x="1505" y="2688"/>
                <a:ext cx="57" cy="57"/>
              </a:xfrm>
              <a:prstGeom prst="ellipse">
                <a:avLst/>
              </a:prstGeom>
              <a:solidFill>
                <a:srgbClr val="00CCFF"/>
              </a:solidFill>
              <a:ln w="222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98" name="Text Box 154"/>
              <p:cNvSpPr txBox="1">
                <a:spLocks noChangeArrowheads="1"/>
              </p:cNvSpPr>
              <p:nvPr/>
            </p:nvSpPr>
            <p:spPr bwMode="auto">
              <a:xfrm>
                <a:off x="1207" y="2235"/>
                <a:ext cx="452"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000" b="1" i="1" dirty="0">
                    <a:solidFill>
                      <a:srgbClr val="FF0000"/>
                    </a:solidFill>
                    <a:latin typeface="Times New Roman" panose="02020603050405020304" pitchFamily="18" charset="0"/>
                    <a:ea typeface="宋体" panose="02010600030101010101" pitchFamily="2" charset="-122"/>
                  </a:rPr>
                  <a:t>F</a:t>
                </a:r>
                <a:r>
                  <a:rPr kumimoji="1" lang="en-US" altLang="zh-CN" sz="2000" b="1" baseline="-25000" dirty="0">
                    <a:solidFill>
                      <a:srgbClr val="FF0000"/>
                    </a:solidFill>
                    <a:latin typeface="Times New Roman" panose="02020603050405020304" pitchFamily="18" charset="0"/>
                    <a:ea typeface="宋体" panose="02010600030101010101" pitchFamily="2" charset="-122"/>
                  </a:rPr>
                  <a:t>N</a:t>
                </a:r>
                <a:r>
                  <a:rPr kumimoji="1" lang="en-US" altLang="zh-CN" sz="2000" b="1" i="1" baseline="30000" dirty="0">
                    <a:solidFill>
                      <a:srgbClr val="FF0000"/>
                    </a:solidFill>
                    <a:latin typeface="Times New Roman" panose="02020603050405020304" pitchFamily="18" charset="0"/>
                    <a:ea typeface="宋体" panose="02010600030101010101" pitchFamily="2" charset="-122"/>
                  </a:rPr>
                  <a:t>BD</a:t>
                </a:r>
              </a:p>
            </p:txBody>
          </p:sp>
        </p:grpSp>
        <p:sp>
          <p:nvSpPr>
            <p:cNvPr id="91" name="Text Box 82"/>
            <p:cNvSpPr txBox="1">
              <a:spLocks noChangeArrowheads="1"/>
            </p:cNvSpPr>
            <p:nvPr/>
          </p:nvSpPr>
          <p:spPr bwMode="auto">
            <a:xfrm>
              <a:off x="195200" y="3040892"/>
              <a:ext cx="4812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400" b="1" i="1" dirty="0" err="1">
                  <a:solidFill>
                    <a:srgbClr val="FF0000"/>
                  </a:solidFill>
                  <a:latin typeface="Times New Roman" panose="02020603050405020304" pitchFamily="18" charset="0"/>
                  <a:ea typeface="宋体" panose="02010600030101010101" pitchFamily="2" charset="-122"/>
                </a:rPr>
                <a:t>F</a:t>
              </a:r>
              <a:r>
                <a:rPr kumimoji="1" lang="en-US" altLang="zh-CN" sz="2400" b="1" i="1" baseline="-25000" dirty="0" err="1">
                  <a:solidFill>
                    <a:srgbClr val="FF0000"/>
                  </a:solidFill>
                  <a:latin typeface="Times New Roman" panose="02020603050405020304" pitchFamily="18" charset="0"/>
                  <a:ea typeface="宋体" panose="02010600030101010101" pitchFamily="2" charset="-122"/>
                </a:rPr>
                <a:t>y</a:t>
              </a:r>
              <a:endParaRPr kumimoji="1" lang="en-US" altLang="zh-CN" sz="2400" b="1" i="1" baseline="-25000" dirty="0">
                <a:solidFill>
                  <a:srgbClr val="FF0000"/>
                </a:solidFill>
                <a:latin typeface="Times New Roman" panose="02020603050405020304" pitchFamily="18" charset="0"/>
                <a:ea typeface="宋体" panose="02010600030101010101" pitchFamily="2" charset="-122"/>
              </a:endParaRPr>
            </a:p>
          </p:txBody>
        </p:sp>
        <p:sp>
          <p:nvSpPr>
            <p:cNvPr id="94" name="Text Box 82"/>
            <p:cNvSpPr txBox="1">
              <a:spLocks noChangeArrowheads="1"/>
            </p:cNvSpPr>
            <p:nvPr/>
          </p:nvSpPr>
          <p:spPr bwMode="auto">
            <a:xfrm>
              <a:off x="165722" y="3782516"/>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400" b="1" i="1" dirty="0" err="1">
                  <a:solidFill>
                    <a:srgbClr val="FF0000"/>
                  </a:solidFill>
                  <a:latin typeface="Times New Roman" panose="02020603050405020304" pitchFamily="18" charset="0"/>
                  <a:ea typeface="宋体" panose="02010600030101010101" pitchFamily="2" charset="-122"/>
                </a:rPr>
                <a:t>F</a:t>
              </a:r>
              <a:r>
                <a:rPr kumimoji="1" lang="en-US" altLang="zh-CN" sz="2400" b="1" i="1" baseline="-25000" dirty="0" err="1">
                  <a:solidFill>
                    <a:srgbClr val="FF0000"/>
                  </a:solidFill>
                  <a:latin typeface="Times New Roman" panose="02020603050405020304" pitchFamily="18" charset="0"/>
                  <a:ea typeface="宋体" panose="02010600030101010101" pitchFamily="2" charset="-122"/>
                </a:rPr>
                <a:t>x</a:t>
              </a:r>
              <a:endParaRPr kumimoji="1" lang="en-US" altLang="zh-CN" sz="2400" b="1" i="1" baseline="-25000" dirty="0">
                <a:solidFill>
                  <a:srgbClr val="FF0000"/>
                </a:solidFill>
                <a:latin typeface="Times New Roman" panose="02020603050405020304" pitchFamily="18" charset="0"/>
                <a:ea typeface="宋体" panose="02010600030101010101" pitchFamily="2" charset="-122"/>
              </a:endParaRPr>
            </a:p>
          </p:txBody>
        </p:sp>
        <p:sp>
          <p:nvSpPr>
            <p:cNvPr id="95" name="Line 79"/>
            <p:cNvSpPr>
              <a:spLocks noChangeShapeType="1"/>
            </p:cNvSpPr>
            <p:nvPr/>
          </p:nvSpPr>
          <p:spPr bwMode="auto">
            <a:xfrm rot="5400000" flipH="1" flipV="1">
              <a:off x="499559" y="3620296"/>
              <a:ext cx="0" cy="381000"/>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96" name="Line 79"/>
            <p:cNvSpPr>
              <a:spLocks noChangeShapeType="1"/>
            </p:cNvSpPr>
            <p:nvPr/>
          </p:nvSpPr>
          <p:spPr bwMode="auto">
            <a:xfrm flipV="1">
              <a:off x="632048" y="3393283"/>
              <a:ext cx="0" cy="381000"/>
            </a:xfrm>
            <a:prstGeom prst="line">
              <a:avLst/>
            </a:prstGeom>
            <a:noFill/>
            <a:ln w="3492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spTree>
    <p:extLst>
      <p:ext uri="{BB962C8B-B14F-4D97-AF65-F5344CB8AC3E}">
        <p14:creationId xmlns:p14="http://schemas.microsoft.com/office/powerpoint/2010/main" val="150646461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1842"/>
                                        </p:tgtEl>
                                        <p:attrNameLst>
                                          <p:attrName>style.visibility</p:attrName>
                                        </p:attrNameLst>
                                      </p:cBhvr>
                                      <p:to>
                                        <p:strVal val="visible"/>
                                      </p:to>
                                    </p:set>
                                    <p:anim calcmode="lin" valueType="num">
                                      <p:cBhvr additive="base">
                                        <p:cTn id="7" dur="500" fill="hold"/>
                                        <p:tgtEl>
                                          <p:spTgt spid="31842"/>
                                        </p:tgtEl>
                                        <p:attrNameLst>
                                          <p:attrName>ppt_x</p:attrName>
                                        </p:attrNameLst>
                                      </p:cBhvr>
                                      <p:tavLst>
                                        <p:tav tm="0">
                                          <p:val>
                                            <p:strVal val="1+#ppt_w/2"/>
                                          </p:val>
                                        </p:tav>
                                        <p:tav tm="100000">
                                          <p:val>
                                            <p:strVal val="#ppt_x"/>
                                          </p:val>
                                        </p:tav>
                                      </p:tavLst>
                                    </p:anim>
                                    <p:anim calcmode="lin" valueType="num">
                                      <p:cBhvr additive="base">
                                        <p:cTn id="8" dur="500" fill="hold"/>
                                        <p:tgtEl>
                                          <p:spTgt spid="3184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0"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92"/>
                                        </p:tgtEl>
                                        <p:attrNameLst>
                                          <p:attrName>style.visibility</p:attrName>
                                        </p:attrNameLst>
                                      </p:cBhvr>
                                      <p:to>
                                        <p:strVal val="visible"/>
                                      </p:to>
                                    </p:set>
                                    <p:animEffect transition="in" filter="box(out)">
                                      <p:cBhvr>
                                        <p:cTn id="18" dur="500"/>
                                        <p:tgtEl>
                                          <p:spTgt spid="9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31839"/>
                                        </p:tgtEl>
                                        <p:attrNameLst>
                                          <p:attrName>style.visibility</p:attrName>
                                        </p:attrNameLst>
                                      </p:cBhvr>
                                      <p:to>
                                        <p:strVal val="visible"/>
                                      </p:to>
                                    </p:set>
                                    <p:animEffect transition="in" filter="wipe(up)">
                                      <p:cBhvr>
                                        <p:cTn id="23" dur="500"/>
                                        <p:tgtEl>
                                          <p:spTgt spid="31839"/>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5" fill="hold" nodeType="clickEffect">
                                  <p:stCondLst>
                                    <p:cond delay="0"/>
                                  </p:stCondLst>
                                  <p:childTnLst>
                                    <p:set>
                                      <p:cBhvr>
                                        <p:cTn id="27" dur="1" fill="hold">
                                          <p:stCondLst>
                                            <p:cond delay="0"/>
                                          </p:stCondLst>
                                        </p:cTn>
                                        <p:tgtEl>
                                          <p:spTgt spid="31840"/>
                                        </p:tgtEl>
                                        <p:attrNameLst>
                                          <p:attrName>style.visibility</p:attrName>
                                        </p:attrNameLst>
                                      </p:cBhvr>
                                      <p:to>
                                        <p:strVal val="visible"/>
                                      </p:to>
                                    </p:set>
                                    <p:animEffect transition="in" filter="blinds(vertical)">
                                      <p:cBhvr>
                                        <p:cTn id="28" dur="500"/>
                                        <p:tgtEl>
                                          <p:spTgt spid="3184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31843"/>
                                        </p:tgtEl>
                                        <p:attrNameLst>
                                          <p:attrName>style.visibility</p:attrName>
                                        </p:attrNameLst>
                                      </p:cBhvr>
                                      <p:to>
                                        <p:strVal val="visible"/>
                                      </p:to>
                                    </p:set>
                                    <p:animEffect transition="in" filter="wipe(left)">
                                      <p:cBhvr>
                                        <p:cTn id="33" dur="500"/>
                                        <p:tgtEl>
                                          <p:spTgt spid="31843"/>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31901"/>
                                        </p:tgtEl>
                                        <p:attrNameLst>
                                          <p:attrName>style.visibility</p:attrName>
                                        </p:attrNameLst>
                                      </p:cBhvr>
                                      <p:to>
                                        <p:strVal val="visible"/>
                                      </p:to>
                                    </p:set>
                                    <p:animEffect transition="in" filter="blinds(horizontal)">
                                      <p:cBhvr>
                                        <p:cTn id="38" dur="500"/>
                                        <p:tgtEl>
                                          <p:spTgt spid="31901"/>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31899"/>
                                        </p:tgtEl>
                                        <p:attrNameLst>
                                          <p:attrName>style.visibility</p:attrName>
                                        </p:attrNameLst>
                                      </p:cBhvr>
                                      <p:to>
                                        <p:strVal val="visible"/>
                                      </p:to>
                                    </p:set>
                                    <p:animEffect transition="in" filter="blinds(horizontal)">
                                      <p:cBhvr>
                                        <p:cTn id="43" dur="500"/>
                                        <p:tgtEl>
                                          <p:spTgt spid="31899"/>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31900"/>
                                        </p:tgtEl>
                                        <p:attrNameLst>
                                          <p:attrName>style.visibility</p:attrName>
                                        </p:attrNameLst>
                                      </p:cBhvr>
                                      <p:to>
                                        <p:strVal val="visible"/>
                                      </p:to>
                                    </p:set>
                                    <p:animEffect transition="in" filter="blinds(horizontal)">
                                      <p:cBhvr>
                                        <p:cTn id="48" dur="500"/>
                                        <p:tgtEl>
                                          <p:spTgt spid="31900"/>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31908"/>
                                        </p:tgtEl>
                                        <p:attrNameLst>
                                          <p:attrName>style.visibility</p:attrName>
                                        </p:attrNameLst>
                                      </p:cBhvr>
                                      <p:to>
                                        <p:strVal val="visible"/>
                                      </p:to>
                                    </p:set>
                                    <p:animEffect transition="in" filter="blinds(horizontal)">
                                      <p:cBhvr>
                                        <p:cTn id="53" dur="500"/>
                                        <p:tgtEl>
                                          <p:spTgt spid="31908"/>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31915"/>
                                        </p:tgtEl>
                                        <p:attrNameLst>
                                          <p:attrName>style.visibility</p:attrName>
                                        </p:attrNameLst>
                                      </p:cBhvr>
                                      <p:to>
                                        <p:strVal val="visible"/>
                                      </p:to>
                                    </p:set>
                                    <p:animEffect transition="in" filter="blinds(horizontal)">
                                      <p:cBhvr>
                                        <p:cTn id="58" dur="500"/>
                                        <p:tgtEl>
                                          <p:spTgt spid="31915"/>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nodeType="clickEffect">
                                  <p:stCondLst>
                                    <p:cond delay="0"/>
                                  </p:stCondLst>
                                  <p:childTnLst>
                                    <p:set>
                                      <p:cBhvr>
                                        <p:cTn id="62" dur="1" fill="hold">
                                          <p:stCondLst>
                                            <p:cond delay="0"/>
                                          </p:stCondLst>
                                        </p:cTn>
                                        <p:tgtEl>
                                          <p:spTgt spid="31916"/>
                                        </p:tgtEl>
                                        <p:attrNameLst>
                                          <p:attrName>style.visibility</p:attrName>
                                        </p:attrNameLst>
                                      </p:cBhvr>
                                      <p:to>
                                        <p:strVal val="visible"/>
                                      </p:to>
                                    </p:set>
                                    <p:animEffect transition="in" filter="blinds(horizontal)">
                                      <p:cBhvr>
                                        <p:cTn id="63" dur="500"/>
                                        <p:tgtEl>
                                          <p:spTgt spid="31916"/>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31907"/>
                                        </p:tgtEl>
                                        <p:attrNameLst>
                                          <p:attrName>style.visibility</p:attrName>
                                        </p:attrNameLst>
                                      </p:cBhvr>
                                      <p:to>
                                        <p:strVal val="visible"/>
                                      </p:to>
                                    </p:set>
                                    <p:animEffect transition="in" filter="blinds(horizontal)">
                                      <p:cBhvr>
                                        <p:cTn id="68" dur="500"/>
                                        <p:tgtEl>
                                          <p:spTgt spid="31907"/>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nodeType="clickEffect">
                                  <p:stCondLst>
                                    <p:cond delay="0"/>
                                  </p:stCondLst>
                                  <p:childTnLst>
                                    <p:set>
                                      <p:cBhvr>
                                        <p:cTn id="72" dur="1" fill="hold">
                                          <p:stCondLst>
                                            <p:cond delay="0"/>
                                          </p:stCondLst>
                                        </p:cTn>
                                        <p:tgtEl>
                                          <p:spTgt spid="31921"/>
                                        </p:tgtEl>
                                        <p:attrNameLst>
                                          <p:attrName>style.visibility</p:attrName>
                                        </p:attrNameLst>
                                      </p:cBhvr>
                                      <p:to>
                                        <p:strVal val="visible"/>
                                      </p:to>
                                    </p:set>
                                    <p:animEffect transition="in" filter="blinds(horizontal)">
                                      <p:cBhvr>
                                        <p:cTn id="73" dur="500"/>
                                        <p:tgtEl>
                                          <p:spTgt spid="31921"/>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nodeType="clickEffect">
                                  <p:stCondLst>
                                    <p:cond delay="0"/>
                                  </p:stCondLst>
                                  <p:childTnLst>
                                    <p:set>
                                      <p:cBhvr>
                                        <p:cTn id="77" dur="1" fill="hold">
                                          <p:stCondLst>
                                            <p:cond delay="0"/>
                                          </p:stCondLst>
                                        </p:cTn>
                                        <p:tgtEl>
                                          <p:spTgt spid="31924"/>
                                        </p:tgtEl>
                                        <p:attrNameLst>
                                          <p:attrName>style.visibility</p:attrName>
                                        </p:attrNameLst>
                                      </p:cBhvr>
                                      <p:to>
                                        <p:strVal val="visible"/>
                                      </p:to>
                                    </p:set>
                                    <p:animEffect transition="in" filter="blinds(horizontal)">
                                      <p:cBhvr>
                                        <p:cTn id="78" dur="500"/>
                                        <p:tgtEl>
                                          <p:spTgt spid="31924"/>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31841"/>
                                        </p:tgtEl>
                                        <p:attrNameLst>
                                          <p:attrName>style.visibility</p:attrName>
                                        </p:attrNameLst>
                                      </p:cBhvr>
                                      <p:to>
                                        <p:strVal val="visible"/>
                                      </p:to>
                                    </p:set>
                                    <p:animEffect transition="in" filter="wipe(left)">
                                      <p:cBhvr>
                                        <p:cTn id="83" dur="500"/>
                                        <p:tgtEl>
                                          <p:spTgt spid="31841"/>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31844"/>
                                        </p:tgtEl>
                                        <p:attrNameLst>
                                          <p:attrName>style.visibility</p:attrName>
                                        </p:attrNameLst>
                                      </p:cBhvr>
                                      <p:to>
                                        <p:strVal val="visible"/>
                                      </p:to>
                                    </p:set>
                                    <p:animEffect transition="in" filter="wipe(left)">
                                      <p:cBhvr>
                                        <p:cTn id="88" dur="500"/>
                                        <p:tgtEl>
                                          <p:spTgt spid="31844"/>
                                        </p:tgtEl>
                                      </p:cBhvr>
                                    </p:animEffect>
                                  </p:childTnLst>
                                </p:cTn>
                              </p:par>
                            </p:childTnLst>
                          </p:cTn>
                        </p:par>
                      </p:childTnLst>
                    </p:cTn>
                  </p:par>
                  <p:par>
                    <p:cTn id="89" fill="hold">
                      <p:stCondLst>
                        <p:cond delay="indefinite"/>
                      </p:stCondLst>
                      <p:childTnLst>
                        <p:par>
                          <p:cTn id="90" fill="hold">
                            <p:stCondLst>
                              <p:cond delay="0"/>
                            </p:stCondLst>
                            <p:childTnLst>
                              <p:par>
                                <p:cTn id="91" presetID="4" presetClass="entr" presetSubtype="32" fill="hold" nodeType="clickEffect">
                                  <p:stCondLst>
                                    <p:cond delay="0"/>
                                  </p:stCondLst>
                                  <p:childTnLst>
                                    <p:set>
                                      <p:cBhvr>
                                        <p:cTn id="92" dur="1" fill="hold">
                                          <p:stCondLst>
                                            <p:cond delay="0"/>
                                          </p:stCondLst>
                                        </p:cTn>
                                        <p:tgtEl>
                                          <p:spTgt spid="93"/>
                                        </p:tgtEl>
                                        <p:attrNameLst>
                                          <p:attrName>style.visibility</p:attrName>
                                        </p:attrNameLst>
                                      </p:cBhvr>
                                      <p:to>
                                        <p:strVal val="visible"/>
                                      </p:to>
                                    </p:set>
                                    <p:animEffect transition="in" filter="box(out)">
                                      <p:cBhvr>
                                        <p:cTn id="93" dur="500"/>
                                        <p:tgtEl>
                                          <p:spTgt spid="93"/>
                                        </p:tgtEl>
                                      </p:cBhvr>
                                    </p:animEffect>
                                  </p:childTnLst>
                                </p:cTn>
                              </p:par>
                            </p:childTnLst>
                          </p:cTn>
                        </p:par>
                      </p:childTnLst>
                    </p:cTn>
                  </p:par>
                  <p:par>
                    <p:cTn id="94" fill="hold">
                      <p:stCondLst>
                        <p:cond delay="indefinite"/>
                      </p:stCondLst>
                      <p:childTnLst>
                        <p:par>
                          <p:cTn id="95" fill="hold">
                            <p:stCondLst>
                              <p:cond delay="0"/>
                            </p:stCondLst>
                            <p:childTnLst>
                              <p:par>
                                <p:cTn id="96" presetID="53" presetClass="entr" presetSubtype="16" fill="hold" grpId="0" nodeType="clickEffect">
                                  <p:stCondLst>
                                    <p:cond delay="0"/>
                                  </p:stCondLst>
                                  <p:childTnLst>
                                    <p:set>
                                      <p:cBhvr>
                                        <p:cTn id="97" dur="1" fill="hold">
                                          <p:stCondLst>
                                            <p:cond delay="0"/>
                                          </p:stCondLst>
                                        </p:cTn>
                                        <p:tgtEl>
                                          <p:spTgt spid="2"/>
                                        </p:tgtEl>
                                        <p:attrNameLst>
                                          <p:attrName>style.visibility</p:attrName>
                                        </p:attrNameLst>
                                      </p:cBhvr>
                                      <p:to>
                                        <p:strVal val="visible"/>
                                      </p:to>
                                    </p:set>
                                    <p:anim calcmode="lin" valueType="num">
                                      <p:cBhvr>
                                        <p:cTn id="98" dur="500" fill="hold"/>
                                        <p:tgtEl>
                                          <p:spTgt spid="2"/>
                                        </p:tgtEl>
                                        <p:attrNameLst>
                                          <p:attrName>ppt_w</p:attrName>
                                        </p:attrNameLst>
                                      </p:cBhvr>
                                      <p:tavLst>
                                        <p:tav tm="0">
                                          <p:val>
                                            <p:fltVal val="0"/>
                                          </p:val>
                                        </p:tav>
                                        <p:tav tm="100000">
                                          <p:val>
                                            <p:strVal val="#ppt_w"/>
                                          </p:val>
                                        </p:tav>
                                      </p:tavLst>
                                    </p:anim>
                                    <p:anim calcmode="lin" valueType="num">
                                      <p:cBhvr>
                                        <p:cTn id="99" dur="500" fill="hold"/>
                                        <p:tgtEl>
                                          <p:spTgt spid="2"/>
                                        </p:tgtEl>
                                        <p:attrNameLst>
                                          <p:attrName>ppt_h</p:attrName>
                                        </p:attrNameLst>
                                      </p:cBhvr>
                                      <p:tavLst>
                                        <p:tav tm="0">
                                          <p:val>
                                            <p:fltVal val="0"/>
                                          </p:val>
                                        </p:tav>
                                        <p:tav tm="100000">
                                          <p:val>
                                            <p:strVal val="#ppt_h"/>
                                          </p:val>
                                        </p:tav>
                                      </p:tavLst>
                                    </p:anim>
                                    <p:animEffect transition="in" filter="fade">
                                      <p:cBhvr>
                                        <p:cTn id="10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842" grpId="0" autoUpdateAnimBg="0"/>
      <p:bldP spid="31899" grpId="0"/>
      <p:bldP spid="31900" grpId="0"/>
      <p:bldP spid="31907" grpId="0"/>
      <p:bldP spid="31915" grpId="0" animBg="1"/>
      <p:bldP spid="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7154" name="Object 2"/>
          <p:cNvGraphicFramePr>
            <a:graphicFrameLocks/>
          </p:cNvGraphicFramePr>
          <p:nvPr>
            <p:extLst>
              <p:ext uri="{D42A27DB-BD31-4B8C-83A1-F6EECF244321}">
                <p14:modId xmlns:p14="http://schemas.microsoft.com/office/powerpoint/2010/main" val="4260055018"/>
              </p:ext>
            </p:extLst>
          </p:nvPr>
        </p:nvGraphicFramePr>
        <p:xfrm>
          <a:off x="4860032" y="2120107"/>
          <a:ext cx="3312368" cy="457200"/>
        </p:xfrm>
        <a:graphic>
          <a:graphicData uri="http://schemas.openxmlformats.org/presentationml/2006/ole">
            <mc:AlternateContent xmlns:mc="http://schemas.openxmlformats.org/markup-compatibility/2006">
              <mc:Choice xmlns:v="urn:schemas-microsoft-com:vml" Requires="v">
                <p:oleObj name="Equation" r:id="rId2" imgW="1688760" imgH="228600" progId="Equation.DSMT4">
                  <p:embed/>
                </p:oleObj>
              </mc:Choice>
              <mc:Fallback>
                <p:oleObj name="Equation" r:id="rId2" imgW="1688760" imgH="228600" progId="Equation.DSMT4">
                  <p:embed/>
                  <p:pic>
                    <p:nvPicPr>
                      <p:cNvPr id="0" name=""/>
                      <p:cNvPicPr>
                        <a:picLocks noChangeArrowheads="1"/>
                      </p:cNvPicPr>
                      <p:nvPr/>
                    </p:nvPicPr>
                    <p:blipFill>
                      <a:blip r:embed="rId3"/>
                      <a:srcRect/>
                      <a:stretch>
                        <a:fillRect/>
                      </a:stretch>
                    </p:blipFill>
                    <p:spPr bwMode="auto">
                      <a:xfrm>
                        <a:off x="4860032" y="2120107"/>
                        <a:ext cx="3312368" cy="457200"/>
                      </a:xfrm>
                      <a:prstGeom prst="rect">
                        <a:avLst/>
                      </a:prstGeom>
                      <a:noFill/>
                      <a:ln>
                        <a:noFill/>
                      </a:ln>
                      <a:effectLst/>
                    </p:spPr>
                  </p:pic>
                </p:oleObj>
              </mc:Fallback>
            </mc:AlternateContent>
          </a:graphicData>
        </a:graphic>
      </p:graphicFrame>
      <p:sp>
        <p:nvSpPr>
          <p:cNvPr id="21512" name="Rectangle 10"/>
          <p:cNvSpPr>
            <a:spLocks noChangeArrowheads="1"/>
          </p:cNvSpPr>
          <p:nvPr/>
        </p:nvSpPr>
        <p:spPr bwMode="auto">
          <a:xfrm>
            <a:off x="4072731" y="466726"/>
            <a:ext cx="571277"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solidFill>
                  <a:srgbClr val="FF3300"/>
                </a:solidFill>
                <a:latin typeface="楷体" panose="02010609060101010101" pitchFamily="49" charset="-122"/>
                <a:ea typeface="楷体" panose="02010609060101010101" pitchFamily="49" charset="-122"/>
              </a:rPr>
              <a:t>例</a:t>
            </a:r>
            <a:r>
              <a:rPr kumimoji="1" lang="zh-CN" altLang="en-US" sz="2400" b="1" dirty="0">
                <a:latin typeface="Times New Roman" panose="02020603050405020304" pitchFamily="18" charset="0"/>
                <a:ea typeface="楷体_GB2312" pitchFamily="49" charset="-122"/>
              </a:rPr>
              <a:t>  </a:t>
            </a:r>
          </a:p>
        </p:txBody>
      </p:sp>
      <p:sp>
        <p:nvSpPr>
          <p:cNvPr id="21514" name="Rectangle 12"/>
          <p:cNvSpPr>
            <a:spLocks noChangeArrowheads="1"/>
          </p:cNvSpPr>
          <p:nvPr/>
        </p:nvSpPr>
        <p:spPr bwMode="auto">
          <a:xfrm>
            <a:off x="4706031" y="447130"/>
            <a:ext cx="3157916"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latin typeface="+mn-lt"/>
                <a:ea typeface="楷体" panose="02010609060101010101" pitchFamily="49" charset="-122"/>
              </a:rPr>
              <a:t>晾衣架，求</a:t>
            </a:r>
            <a:r>
              <a:rPr lang="en-US" altLang="zh-CN" i="1" dirty="0">
                <a:latin typeface="+mn-lt"/>
                <a:ea typeface="楷体" panose="02010609060101010101" pitchFamily="49" charset="-122"/>
              </a:rPr>
              <a:t>A</a:t>
            </a:r>
            <a:r>
              <a:rPr lang="zh-CN" altLang="en-US" b="1" dirty="0">
                <a:latin typeface="+mn-lt"/>
                <a:ea typeface="楷体" panose="02010609060101010101" pitchFamily="49" charset="-122"/>
              </a:rPr>
              <a:t>点位移</a:t>
            </a:r>
            <a:r>
              <a:rPr kumimoji="1" lang="zh-CN" altLang="en-US" sz="2400" b="1" dirty="0">
                <a:latin typeface="Times New Roman" panose="02020603050405020304" pitchFamily="18" charset="0"/>
                <a:ea typeface="楷体_GB2312" pitchFamily="49" charset="-122"/>
              </a:rPr>
              <a:t>。</a:t>
            </a:r>
          </a:p>
        </p:txBody>
      </p:sp>
      <p:grpSp>
        <p:nvGrpSpPr>
          <p:cNvPr id="177165" name="Group 13"/>
          <p:cNvGrpSpPr>
            <a:grpSpLocks/>
          </p:cNvGrpSpPr>
          <p:nvPr/>
        </p:nvGrpSpPr>
        <p:grpSpPr bwMode="auto">
          <a:xfrm>
            <a:off x="557213" y="518320"/>
            <a:ext cx="3352800" cy="2408237"/>
            <a:chOff x="480" y="480"/>
            <a:chExt cx="2016" cy="1517"/>
          </a:xfrm>
        </p:grpSpPr>
        <p:sp>
          <p:nvSpPr>
            <p:cNvPr id="21562" name="Line 14"/>
            <p:cNvSpPr>
              <a:spLocks noChangeShapeType="1"/>
            </p:cNvSpPr>
            <p:nvPr/>
          </p:nvSpPr>
          <p:spPr bwMode="auto">
            <a:xfrm flipV="1">
              <a:off x="480" y="480"/>
              <a:ext cx="783" cy="2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63" name="Line 15"/>
            <p:cNvSpPr>
              <a:spLocks noChangeShapeType="1"/>
            </p:cNvSpPr>
            <p:nvPr/>
          </p:nvSpPr>
          <p:spPr bwMode="auto">
            <a:xfrm>
              <a:off x="1263" y="480"/>
              <a:ext cx="0" cy="96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64" name="Line 16"/>
            <p:cNvSpPr>
              <a:spLocks noChangeShapeType="1"/>
            </p:cNvSpPr>
            <p:nvPr/>
          </p:nvSpPr>
          <p:spPr bwMode="auto">
            <a:xfrm flipV="1">
              <a:off x="480" y="1440"/>
              <a:ext cx="783" cy="2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65" name="Line 17"/>
            <p:cNvSpPr>
              <a:spLocks noChangeShapeType="1"/>
            </p:cNvSpPr>
            <p:nvPr/>
          </p:nvSpPr>
          <p:spPr bwMode="auto">
            <a:xfrm>
              <a:off x="480" y="767"/>
              <a:ext cx="0" cy="961"/>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66" name="Line 18"/>
            <p:cNvSpPr>
              <a:spLocks noChangeShapeType="1"/>
            </p:cNvSpPr>
            <p:nvPr/>
          </p:nvSpPr>
          <p:spPr bwMode="auto">
            <a:xfrm flipV="1">
              <a:off x="927" y="575"/>
              <a:ext cx="262" cy="9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1567" name="Group 19"/>
            <p:cNvGrpSpPr>
              <a:grpSpLocks/>
            </p:cNvGrpSpPr>
            <p:nvPr/>
          </p:nvGrpSpPr>
          <p:grpSpPr bwMode="auto">
            <a:xfrm>
              <a:off x="927" y="864"/>
              <a:ext cx="262" cy="319"/>
              <a:chOff x="927" y="864"/>
              <a:chExt cx="262" cy="319"/>
            </a:xfrm>
          </p:grpSpPr>
          <p:sp>
            <p:nvSpPr>
              <p:cNvPr id="21602" name="Line 20"/>
              <p:cNvSpPr>
                <a:spLocks noChangeShapeType="1"/>
              </p:cNvSpPr>
              <p:nvPr/>
            </p:nvSpPr>
            <p:spPr bwMode="auto">
              <a:xfrm flipV="1">
                <a:off x="927" y="864"/>
                <a:ext cx="262" cy="96"/>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03" name="Line 21"/>
              <p:cNvSpPr>
                <a:spLocks noChangeShapeType="1"/>
              </p:cNvSpPr>
              <p:nvPr/>
            </p:nvSpPr>
            <p:spPr bwMode="auto">
              <a:xfrm flipV="1">
                <a:off x="927" y="1088"/>
                <a:ext cx="262" cy="95"/>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04" name="Line 22"/>
              <p:cNvSpPr>
                <a:spLocks noChangeShapeType="1"/>
              </p:cNvSpPr>
              <p:nvPr/>
            </p:nvSpPr>
            <p:spPr bwMode="auto">
              <a:xfrm>
                <a:off x="927" y="960"/>
                <a:ext cx="0" cy="223"/>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05" name="Line 23"/>
              <p:cNvSpPr>
                <a:spLocks noChangeShapeType="1"/>
              </p:cNvSpPr>
              <p:nvPr/>
            </p:nvSpPr>
            <p:spPr bwMode="auto">
              <a:xfrm>
                <a:off x="1189" y="864"/>
                <a:ext cx="0" cy="224"/>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568" name="Line 24"/>
            <p:cNvSpPr>
              <a:spLocks noChangeShapeType="1"/>
            </p:cNvSpPr>
            <p:nvPr/>
          </p:nvSpPr>
          <p:spPr bwMode="auto">
            <a:xfrm>
              <a:off x="927" y="672"/>
              <a:ext cx="0" cy="224"/>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69" name="Line 25"/>
            <p:cNvSpPr>
              <a:spLocks noChangeShapeType="1"/>
            </p:cNvSpPr>
            <p:nvPr/>
          </p:nvSpPr>
          <p:spPr bwMode="auto">
            <a:xfrm>
              <a:off x="1189" y="575"/>
              <a:ext cx="0" cy="226"/>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70" name="Line 26"/>
            <p:cNvSpPr>
              <a:spLocks noChangeShapeType="1"/>
            </p:cNvSpPr>
            <p:nvPr/>
          </p:nvSpPr>
          <p:spPr bwMode="auto">
            <a:xfrm flipV="1">
              <a:off x="927" y="801"/>
              <a:ext cx="262" cy="95"/>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1571" name="Group 27"/>
            <p:cNvGrpSpPr>
              <a:grpSpLocks/>
            </p:cNvGrpSpPr>
            <p:nvPr/>
          </p:nvGrpSpPr>
          <p:grpSpPr bwMode="auto">
            <a:xfrm>
              <a:off x="556" y="1024"/>
              <a:ext cx="260" cy="319"/>
              <a:chOff x="556" y="1024"/>
              <a:chExt cx="260" cy="319"/>
            </a:xfrm>
          </p:grpSpPr>
          <p:sp>
            <p:nvSpPr>
              <p:cNvPr id="21598" name="Line 28"/>
              <p:cNvSpPr>
                <a:spLocks noChangeShapeType="1"/>
              </p:cNvSpPr>
              <p:nvPr/>
            </p:nvSpPr>
            <p:spPr bwMode="auto">
              <a:xfrm flipV="1">
                <a:off x="556" y="1024"/>
                <a:ext cx="260" cy="96"/>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99" name="Line 29"/>
              <p:cNvSpPr>
                <a:spLocks noChangeShapeType="1"/>
              </p:cNvSpPr>
              <p:nvPr/>
            </p:nvSpPr>
            <p:spPr bwMode="auto">
              <a:xfrm flipV="1">
                <a:off x="556" y="1248"/>
                <a:ext cx="260" cy="95"/>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00" name="Line 30"/>
              <p:cNvSpPr>
                <a:spLocks noChangeShapeType="1"/>
              </p:cNvSpPr>
              <p:nvPr/>
            </p:nvSpPr>
            <p:spPr bwMode="auto">
              <a:xfrm>
                <a:off x="556" y="1120"/>
                <a:ext cx="0" cy="223"/>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01" name="Line 31"/>
              <p:cNvSpPr>
                <a:spLocks noChangeShapeType="1"/>
              </p:cNvSpPr>
              <p:nvPr/>
            </p:nvSpPr>
            <p:spPr bwMode="auto">
              <a:xfrm>
                <a:off x="816" y="1024"/>
                <a:ext cx="0" cy="224"/>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1572" name="Group 32"/>
            <p:cNvGrpSpPr>
              <a:grpSpLocks/>
            </p:cNvGrpSpPr>
            <p:nvPr/>
          </p:nvGrpSpPr>
          <p:grpSpPr bwMode="auto">
            <a:xfrm>
              <a:off x="556" y="704"/>
              <a:ext cx="260" cy="320"/>
              <a:chOff x="556" y="704"/>
              <a:chExt cx="260" cy="320"/>
            </a:xfrm>
          </p:grpSpPr>
          <p:sp>
            <p:nvSpPr>
              <p:cNvPr id="21594" name="Line 33"/>
              <p:cNvSpPr>
                <a:spLocks noChangeShapeType="1"/>
              </p:cNvSpPr>
              <p:nvPr/>
            </p:nvSpPr>
            <p:spPr bwMode="auto">
              <a:xfrm flipV="1">
                <a:off x="556" y="704"/>
                <a:ext cx="260" cy="9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95" name="Line 34"/>
              <p:cNvSpPr>
                <a:spLocks noChangeShapeType="1"/>
              </p:cNvSpPr>
              <p:nvPr/>
            </p:nvSpPr>
            <p:spPr bwMode="auto">
              <a:xfrm flipV="1">
                <a:off x="556" y="927"/>
                <a:ext cx="260" cy="9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96" name="Line 35"/>
              <p:cNvSpPr>
                <a:spLocks noChangeShapeType="1"/>
              </p:cNvSpPr>
              <p:nvPr/>
            </p:nvSpPr>
            <p:spPr bwMode="auto">
              <a:xfrm>
                <a:off x="556" y="801"/>
                <a:ext cx="0" cy="223"/>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97" name="Line 36"/>
              <p:cNvSpPr>
                <a:spLocks noChangeShapeType="1"/>
              </p:cNvSpPr>
              <p:nvPr/>
            </p:nvSpPr>
            <p:spPr bwMode="auto">
              <a:xfrm>
                <a:off x="816" y="704"/>
                <a:ext cx="0" cy="223"/>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1573" name="Group 37"/>
            <p:cNvGrpSpPr>
              <a:grpSpLocks/>
            </p:cNvGrpSpPr>
            <p:nvPr/>
          </p:nvGrpSpPr>
          <p:grpSpPr bwMode="auto">
            <a:xfrm>
              <a:off x="556" y="1312"/>
              <a:ext cx="260" cy="321"/>
              <a:chOff x="556" y="1312"/>
              <a:chExt cx="260" cy="321"/>
            </a:xfrm>
          </p:grpSpPr>
          <p:sp>
            <p:nvSpPr>
              <p:cNvPr id="21590" name="Line 38"/>
              <p:cNvSpPr>
                <a:spLocks noChangeShapeType="1"/>
              </p:cNvSpPr>
              <p:nvPr/>
            </p:nvSpPr>
            <p:spPr bwMode="auto">
              <a:xfrm flipV="1">
                <a:off x="556" y="1312"/>
                <a:ext cx="260" cy="95"/>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91" name="Line 39"/>
              <p:cNvSpPr>
                <a:spLocks noChangeShapeType="1"/>
              </p:cNvSpPr>
              <p:nvPr/>
            </p:nvSpPr>
            <p:spPr bwMode="auto">
              <a:xfrm flipV="1">
                <a:off x="556" y="1536"/>
                <a:ext cx="260" cy="9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92" name="Line 40"/>
              <p:cNvSpPr>
                <a:spLocks noChangeShapeType="1"/>
              </p:cNvSpPr>
              <p:nvPr/>
            </p:nvSpPr>
            <p:spPr bwMode="auto">
              <a:xfrm>
                <a:off x="556" y="1407"/>
                <a:ext cx="0" cy="226"/>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93" name="Line 41"/>
              <p:cNvSpPr>
                <a:spLocks noChangeShapeType="1"/>
              </p:cNvSpPr>
              <p:nvPr/>
            </p:nvSpPr>
            <p:spPr bwMode="auto">
              <a:xfrm>
                <a:off x="816" y="1312"/>
                <a:ext cx="0" cy="224"/>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1574" name="Group 42"/>
            <p:cNvGrpSpPr>
              <a:grpSpLocks/>
            </p:cNvGrpSpPr>
            <p:nvPr/>
          </p:nvGrpSpPr>
          <p:grpSpPr bwMode="auto">
            <a:xfrm>
              <a:off x="927" y="1183"/>
              <a:ext cx="262" cy="321"/>
              <a:chOff x="927" y="1183"/>
              <a:chExt cx="262" cy="321"/>
            </a:xfrm>
          </p:grpSpPr>
          <p:sp>
            <p:nvSpPr>
              <p:cNvPr id="21586" name="Line 43"/>
              <p:cNvSpPr>
                <a:spLocks noChangeShapeType="1"/>
              </p:cNvSpPr>
              <p:nvPr/>
            </p:nvSpPr>
            <p:spPr bwMode="auto">
              <a:xfrm flipV="1">
                <a:off x="927" y="1183"/>
                <a:ext cx="262" cy="9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87" name="Line 44"/>
              <p:cNvSpPr>
                <a:spLocks noChangeShapeType="1"/>
              </p:cNvSpPr>
              <p:nvPr/>
            </p:nvSpPr>
            <p:spPr bwMode="auto">
              <a:xfrm flipV="1">
                <a:off x="927" y="1407"/>
                <a:ext cx="262" cy="9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88" name="Line 45"/>
              <p:cNvSpPr>
                <a:spLocks noChangeShapeType="1"/>
              </p:cNvSpPr>
              <p:nvPr/>
            </p:nvSpPr>
            <p:spPr bwMode="auto">
              <a:xfrm>
                <a:off x="927" y="1280"/>
                <a:ext cx="0" cy="224"/>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89" name="Line 46"/>
              <p:cNvSpPr>
                <a:spLocks noChangeShapeType="1"/>
              </p:cNvSpPr>
              <p:nvPr/>
            </p:nvSpPr>
            <p:spPr bwMode="auto">
              <a:xfrm>
                <a:off x="1189" y="1183"/>
                <a:ext cx="0" cy="224"/>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575" name="Line 47"/>
            <p:cNvSpPr>
              <a:spLocks noChangeShapeType="1"/>
            </p:cNvSpPr>
            <p:nvPr/>
          </p:nvSpPr>
          <p:spPr bwMode="auto">
            <a:xfrm>
              <a:off x="1263" y="832"/>
              <a:ext cx="1233" cy="608"/>
            </a:xfrm>
            <a:prstGeom prst="line">
              <a:avLst/>
            </a:prstGeom>
            <a:noFill/>
            <a:ln w="28575">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76" name="Line 48"/>
            <p:cNvSpPr>
              <a:spLocks noChangeShapeType="1"/>
            </p:cNvSpPr>
            <p:nvPr/>
          </p:nvSpPr>
          <p:spPr bwMode="auto">
            <a:xfrm>
              <a:off x="1263" y="1440"/>
              <a:ext cx="1185" cy="0"/>
            </a:xfrm>
            <a:prstGeom prst="line">
              <a:avLst/>
            </a:prstGeom>
            <a:noFill/>
            <a:ln w="28575">
              <a:solidFill>
                <a:srgbClr val="FF33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77" name="Line 49"/>
            <p:cNvSpPr>
              <a:spLocks noChangeShapeType="1"/>
            </p:cNvSpPr>
            <p:nvPr/>
          </p:nvSpPr>
          <p:spPr bwMode="auto">
            <a:xfrm>
              <a:off x="480" y="1120"/>
              <a:ext cx="1233" cy="608"/>
            </a:xfrm>
            <a:prstGeom prst="line">
              <a:avLst/>
            </a:prstGeom>
            <a:noFill/>
            <a:ln w="28575">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78" name="Line 50"/>
            <p:cNvSpPr>
              <a:spLocks noChangeShapeType="1"/>
            </p:cNvSpPr>
            <p:nvPr/>
          </p:nvSpPr>
          <p:spPr bwMode="auto">
            <a:xfrm>
              <a:off x="517" y="1728"/>
              <a:ext cx="1211" cy="0"/>
            </a:xfrm>
            <a:prstGeom prst="line">
              <a:avLst/>
            </a:prstGeom>
            <a:noFill/>
            <a:ln w="28575">
              <a:solidFill>
                <a:srgbClr val="FF33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79" name="Line 51"/>
            <p:cNvSpPr>
              <a:spLocks noChangeShapeType="1"/>
            </p:cNvSpPr>
            <p:nvPr/>
          </p:nvSpPr>
          <p:spPr bwMode="auto">
            <a:xfrm flipH="1">
              <a:off x="1713" y="1440"/>
              <a:ext cx="783" cy="2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80" name="Line 52"/>
            <p:cNvSpPr>
              <a:spLocks noChangeShapeType="1"/>
            </p:cNvSpPr>
            <p:nvPr/>
          </p:nvSpPr>
          <p:spPr bwMode="auto">
            <a:xfrm>
              <a:off x="2112" y="1584"/>
              <a:ext cx="0" cy="336"/>
            </a:xfrm>
            <a:prstGeom prst="line">
              <a:avLst/>
            </a:prstGeom>
            <a:noFill/>
            <a:ln w="28575">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81" name="Rectangle 53"/>
            <p:cNvSpPr>
              <a:spLocks noChangeArrowheads="1"/>
            </p:cNvSpPr>
            <p:nvPr/>
          </p:nvSpPr>
          <p:spPr bwMode="auto">
            <a:xfrm>
              <a:off x="2102" y="1747"/>
              <a:ext cx="1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a:solidFill>
                    <a:srgbClr val="FF0000"/>
                  </a:solidFill>
                  <a:latin typeface="宋体" panose="02010600030101010101" pitchFamily="2" charset="-122"/>
                  <a:ea typeface="宋体" panose="02010600030101010101" pitchFamily="2" charset="-122"/>
                </a:rPr>
                <a:t>F</a:t>
              </a:r>
              <a:endParaRPr kumimoji="1" lang="en-US" altLang="zh-CN" sz="2000" b="1" i="1">
                <a:solidFill>
                  <a:srgbClr val="FF0000"/>
                </a:solidFill>
                <a:latin typeface="'宋体" pitchFamily="34" charset="-122"/>
                <a:ea typeface="'宋体" pitchFamily="34" charset="-122"/>
              </a:endParaRPr>
            </a:p>
          </p:txBody>
        </p:sp>
        <p:sp>
          <p:nvSpPr>
            <p:cNvPr id="21582" name="Arc 54"/>
            <p:cNvSpPr>
              <a:spLocks/>
            </p:cNvSpPr>
            <p:nvPr/>
          </p:nvSpPr>
          <p:spPr bwMode="auto">
            <a:xfrm>
              <a:off x="2113" y="1297"/>
              <a:ext cx="48" cy="144"/>
            </a:xfrm>
            <a:custGeom>
              <a:avLst/>
              <a:gdLst>
                <a:gd name="T0" fmla="*/ 0 w 21600"/>
                <a:gd name="T1" fmla="*/ 144 h 21595"/>
                <a:gd name="T2" fmla="*/ 47 w 21600"/>
                <a:gd name="T3" fmla="*/ 0 h 21595"/>
                <a:gd name="T4" fmla="*/ 48 w 21600"/>
                <a:gd name="T5" fmla="*/ 144 h 21595"/>
                <a:gd name="T6" fmla="*/ 0 60000 65536"/>
                <a:gd name="T7" fmla="*/ 0 60000 65536"/>
                <a:gd name="T8" fmla="*/ 0 60000 65536"/>
              </a:gdLst>
              <a:ahLst/>
              <a:cxnLst>
                <a:cxn ang="T6">
                  <a:pos x="T0" y="T1"/>
                </a:cxn>
                <a:cxn ang="T7">
                  <a:pos x="T2" y="T3"/>
                </a:cxn>
                <a:cxn ang="T8">
                  <a:pos x="T4" y="T5"/>
                </a:cxn>
              </a:cxnLst>
              <a:rect l="0" t="0" r="r" b="b"/>
              <a:pathLst>
                <a:path w="21600" h="21595" fill="none" extrusionOk="0">
                  <a:moveTo>
                    <a:pt x="0" y="21594"/>
                  </a:moveTo>
                  <a:cubicBezTo>
                    <a:pt x="0" y="9841"/>
                    <a:pt x="9398" y="244"/>
                    <a:pt x="21149" y="-1"/>
                  </a:cubicBezTo>
                </a:path>
                <a:path w="21600" h="21595" stroke="0" extrusionOk="0">
                  <a:moveTo>
                    <a:pt x="0" y="21594"/>
                  </a:moveTo>
                  <a:cubicBezTo>
                    <a:pt x="0" y="9841"/>
                    <a:pt x="9398" y="244"/>
                    <a:pt x="21149" y="-1"/>
                  </a:cubicBezTo>
                  <a:lnTo>
                    <a:pt x="21600" y="21595"/>
                  </a:lnTo>
                  <a:lnTo>
                    <a:pt x="0" y="21594"/>
                  </a:lnTo>
                  <a:close/>
                </a:path>
              </a:pathLst>
            </a:custGeom>
            <a:noFill/>
            <a:ln w="28575"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1583" name="Object 55"/>
            <p:cNvGraphicFramePr>
              <a:graphicFrameLocks/>
            </p:cNvGraphicFramePr>
            <p:nvPr/>
          </p:nvGraphicFramePr>
          <p:xfrm>
            <a:off x="1569" y="1181"/>
            <a:ext cx="543" cy="217"/>
          </p:xfrm>
          <a:graphic>
            <a:graphicData uri="http://schemas.openxmlformats.org/presentationml/2006/ole">
              <mc:AlternateContent xmlns:mc="http://schemas.openxmlformats.org/markup-compatibility/2006">
                <mc:Choice xmlns:v="urn:schemas-microsoft-com:vml" Requires="v">
                  <p:oleObj name="Equation" r:id="rId4" imgW="485730" imgH="190590" progId="Equation.DSMT4">
                    <p:embed/>
                  </p:oleObj>
                </mc:Choice>
                <mc:Fallback>
                  <p:oleObj name="Equation" r:id="rId4" imgW="485730" imgH="190590" progId="Equation.DSMT4">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69" y="1181"/>
                          <a:ext cx="543" cy="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584" name="Rectangle 56"/>
            <p:cNvSpPr>
              <a:spLocks noChangeArrowheads="1"/>
            </p:cNvSpPr>
            <p:nvPr/>
          </p:nvSpPr>
          <p:spPr bwMode="auto">
            <a:xfrm>
              <a:off x="814" y="1519"/>
              <a:ext cx="34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000" b="1" dirty="0">
                  <a:solidFill>
                    <a:srgbClr val="FF0000"/>
                  </a:solidFill>
                  <a:latin typeface="Times New Roman" panose="02020603050405020304" pitchFamily="18" charset="0"/>
                  <a:ea typeface="华文楷体" panose="02010600040101010101" pitchFamily="2" charset="-122"/>
                </a:rPr>
                <a:t>杆</a:t>
              </a:r>
              <a:r>
                <a:rPr kumimoji="1" lang="en-US" altLang="zh-CN" sz="2000" b="1" dirty="0">
                  <a:solidFill>
                    <a:srgbClr val="FF0000"/>
                  </a:solidFill>
                  <a:latin typeface="Times New Roman" panose="02020603050405020304" pitchFamily="18" charset="0"/>
                  <a:ea typeface="华文楷体" panose="02010600040101010101" pitchFamily="2" charset="-122"/>
                </a:rPr>
                <a:t>1</a:t>
              </a:r>
            </a:p>
          </p:txBody>
        </p:sp>
        <p:sp>
          <p:nvSpPr>
            <p:cNvPr id="21585" name="Rectangle 57"/>
            <p:cNvSpPr>
              <a:spLocks noChangeArrowheads="1"/>
            </p:cNvSpPr>
            <p:nvPr/>
          </p:nvSpPr>
          <p:spPr bwMode="auto">
            <a:xfrm>
              <a:off x="1689" y="835"/>
              <a:ext cx="34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000" b="1" dirty="0">
                  <a:solidFill>
                    <a:srgbClr val="0000FF"/>
                  </a:solidFill>
                  <a:latin typeface="Times New Roman" panose="02020603050405020304" pitchFamily="18" charset="0"/>
                  <a:ea typeface="华文楷体" panose="02010600040101010101" pitchFamily="2" charset="-122"/>
                </a:rPr>
                <a:t>杆</a:t>
              </a:r>
              <a:r>
                <a:rPr kumimoji="1" lang="en-US" altLang="zh-CN" sz="2000" b="1" dirty="0">
                  <a:solidFill>
                    <a:srgbClr val="0000FF"/>
                  </a:solidFill>
                  <a:latin typeface="Times New Roman" panose="02020603050405020304" pitchFamily="18" charset="0"/>
                  <a:ea typeface="华文楷体" panose="02010600040101010101" pitchFamily="2" charset="-122"/>
                </a:rPr>
                <a:t>2</a:t>
              </a:r>
            </a:p>
          </p:txBody>
        </p:sp>
      </p:grpSp>
      <p:sp>
        <p:nvSpPr>
          <p:cNvPr id="177210" name="Rectangle 58"/>
          <p:cNvSpPr>
            <a:spLocks noChangeArrowheads="1"/>
          </p:cNvSpPr>
          <p:nvPr/>
        </p:nvSpPr>
        <p:spPr bwMode="auto">
          <a:xfrm>
            <a:off x="4044723" y="2120107"/>
            <a:ext cx="1025525"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solidFill>
                  <a:srgbClr val="FF0000"/>
                </a:solidFill>
                <a:latin typeface="楷体" panose="02010609060101010101" pitchFamily="49" charset="-122"/>
                <a:ea typeface="楷体" panose="02010609060101010101" pitchFamily="49" charset="-122"/>
              </a:rPr>
              <a:t>解：</a:t>
            </a:r>
          </a:p>
        </p:txBody>
      </p:sp>
      <p:grpSp>
        <p:nvGrpSpPr>
          <p:cNvPr id="177211" name="Group 59"/>
          <p:cNvGrpSpPr>
            <a:grpSpLocks/>
          </p:cNvGrpSpPr>
          <p:nvPr/>
        </p:nvGrpSpPr>
        <p:grpSpPr bwMode="auto">
          <a:xfrm>
            <a:off x="7030314" y="2636482"/>
            <a:ext cx="1201738" cy="1352550"/>
            <a:chOff x="731" y="2630"/>
            <a:chExt cx="757" cy="852"/>
          </a:xfrm>
        </p:grpSpPr>
        <p:sp>
          <p:nvSpPr>
            <p:cNvPr id="21554" name="Line 60"/>
            <p:cNvSpPr>
              <a:spLocks noChangeShapeType="1"/>
            </p:cNvSpPr>
            <p:nvPr/>
          </p:nvSpPr>
          <p:spPr bwMode="auto">
            <a:xfrm>
              <a:off x="768" y="2755"/>
              <a:ext cx="720" cy="288"/>
            </a:xfrm>
            <a:prstGeom prst="line">
              <a:avLst/>
            </a:prstGeom>
            <a:noFill/>
            <a:ln w="28575">
              <a:solidFill>
                <a:srgbClr val="FF0000"/>
              </a:solidFill>
              <a:round/>
              <a:headEnd type="triangle"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55" name="Line 61"/>
            <p:cNvSpPr>
              <a:spLocks noChangeShapeType="1"/>
            </p:cNvSpPr>
            <p:nvPr/>
          </p:nvSpPr>
          <p:spPr bwMode="auto">
            <a:xfrm>
              <a:off x="768" y="3043"/>
              <a:ext cx="720" cy="0"/>
            </a:xfrm>
            <a:prstGeom prst="line">
              <a:avLst/>
            </a:prstGeom>
            <a:noFill/>
            <a:ln w="28575">
              <a:solidFill>
                <a:srgbClr val="FF0000"/>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56" name="Line 62"/>
            <p:cNvSpPr>
              <a:spLocks noChangeShapeType="1"/>
            </p:cNvSpPr>
            <p:nvPr/>
          </p:nvSpPr>
          <p:spPr bwMode="auto">
            <a:xfrm>
              <a:off x="1488" y="3043"/>
              <a:ext cx="0" cy="288"/>
            </a:xfrm>
            <a:prstGeom prst="line">
              <a:avLst/>
            </a:prstGeom>
            <a:noFill/>
            <a:ln w="28575">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57" name="Rectangle 63"/>
            <p:cNvSpPr>
              <a:spLocks noChangeArrowheads="1"/>
            </p:cNvSpPr>
            <p:nvPr/>
          </p:nvSpPr>
          <p:spPr bwMode="auto">
            <a:xfrm>
              <a:off x="902" y="2630"/>
              <a:ext cx="35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dirty="0">
                  <a:latin typeface="Times New Roman" panose="02020603050405020304" pitchFamily="18" charset="0"/>
                  <a:ea typeface="楷体_GB2312" pitchFamily="49" charset="-122"/>
                </a:rPr>
                <a:t>F</a:t>
              </a:r>
              <a:r>
                <a:rPr kumimoji="1" lang="en-US" altLang="zh-CN" sz="2000" b="1" baseline="-25000" dirty="0">
                  <a:latin typeface="Times New Roman" panose="02020603050405020304" pitchFamily="18" charset="0"/>
                  <a:ea typeface="楷体_GB2312" pitchFamily="49" charset="-122"/>
                </a:rPr>
                <a:t>N2</a:t>
              </a:r>
            </a:p>
          </p:txBody>
        </p:sp>
        <p:sp>
          <p:nvSpPr>
            <p:cNvPr id="21558" name="Rectangle 64"/>
            <p:cNvSpPr>
              <a:spLocks noChangeArrowheads="1"/>
            </p:cNvSpPr>
            <p:nvPr/>
          </p:nvSpPr>
          <p:spPr bwMode="auto">
            <a:xfrm>
              <a:off x="731" y="3031"/>
              <a:ext cx="35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dirty="0">
                  <a:latin typeface="Times New Roman" panose="02020603050405020304" pitchFamily="18" charset="0"/>
                  <a:ea typeface="楷体_GB2312" pitchFamily="49" charset="-122"/>
                </a:rPr>
                <a:t>F</a:t>
              </a:r>
              <a:r>
                <a:rPr kumimoji="1" lang="en-US" altLang="zh-CN" sz="2000" b="1" baseline="-25000" dirty="0">
                  <a:latin typeface="Times New Roman" panose="02020603050405020304" pitchFamily="18" charset="0"/>
                  <a:ea typeface="楷体_GB2312" pitchFamily="49" charset="-122"/>
                </a:rPr>
                <a:t>N1</a:t>
              </a:r>
            </a:p>
          </p:txBody>
        </p:sp>
        <p:sp>
          <p:nvSpPr>
            <p:cNvPr id="21559" name="Rectangle 65"/>
            <p:cNvSpPr>
              <a:spLocks noChangeArrowheads="1"/>
            </p:cNvSpPr>
            <p:nvPr/>
          </p:nvSpPr>
          <p:spPr bwMode="auto">
            <a:xfrm>
              <a:off x="1057" y="3230"/>
              <a:ext cx="42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dirty="0">
                  <a:solidFill>
                    <a:srgbClr val="FF3300"/>
                  </a:solidFill>
                  <a:latin typeface="Times New Roman" panose="02020603050405020304" pitchFamily="18" charset="0"/>
                  <a:ea typeface="楷体_GB2312" pitchFamily="49" charset="-122"/>
                </a:rPr>
                <a:t>0.5</a:t>
              </a:r>
              <a:r>
                <a:rPr kumimoji="1" lang="en-US" altLang="zh-CN" sz="2000" b="1" i="1" dirty="0">
                  <a:solidFill>
                    <a:srgbClr val="FF3300"/>
                  </a:solidFill>
                  <a:latin typeface="Times New Roman" panose="02020603050405020304" pitchFamily="18" charset="0"/>
                  <a:ea typeface="楷体_GB2312" pitchFamily="49" charset="-122"/>
                </a:rPr>
                <a:t>F</a:t>
              </a:r>
            </a:p>
          </p:txBody>
        </p:sp>
        <p:sp>
          <p:nvSpPr>
            <p:cNvPr id="21560" name="Arc 66"/>
            <p:cNvSpPr>
              <a:spLocks/>
            </p:cNvSpPr>
            <p:nvPr/>
          </p:nvSpPr>
          <p:spPr bwMode="auto">
            <a:xfrm>
              <a:off x="1057" y="2900"/>
              <a:ext cx="48" cy="144"/>
            </a:xfrm>
            <a:custGeom>
              <a:avLst/>
              <a:gdLst>
                <a:gd name="T0" fmla="*/ 0 w 21600"/>
                <a:gd name="T1" fmla="*/ 144 h 21595"/>
                <a:gd name="T2" fmla="*/ 47 w 21600"/>
                <a:gd name="T3" fmla="*/ 0 h 21595"/>
                <a:gd name="T4" fmla="*/ 48 w 21600"/>
                <a:gd name="T5" fmla="*/ 144 h 21595"/>
                <a:gd name="T6" fmla="*/ 0 60000 65536"/>
                <a:gd name="T7" fmla="*/ 0 60000 65536"/>
                <a:gd name="T8" fmla="*/ 0 60000 65536"/>
              </a:gdLst>
              <a:ahLst/>
              <a:cxnLst>
                <a:cxn ang="T6">
                  <a:pos x="T0" y="T1"/>
                </a:cxn>
                <a:cxn ang="T7">
                  <a:pos x="T2" y="T3"/>
                </a:cxn>
                <a:cxn ang="T8">
                  <a:pos x="T4" y="T5"/>
                </a:cxn>
              </a:cxnLst>
              <a:rect l="0" t="0" r="r" b="b"/>
              <a:pathLst>
                <a:path w="21600" h="21595" fill="none" extrusionOk="0">
                  <a:moveTo>
                    <a:pt x="0" y="21594"/>
                  </a:moveTo>
                  <a:cubicBezTo>
                    <a:pt x="0" y="9841"/>
                    <a:pt x="9398" y="244"/>
                    <a:pt x="21149" y="-1"/>
                  </a:cubicBezTo>
                </a:path>
                <a:path w="21600" h="21595" stroke="0" extrusionOk="0">
                  <a:moveTo>
                    <a:pt x="0" y="21594"/>
                  </a:moveTo>
                  <a:cubicBezTo>
                    <a:pt x="0" y="9841"/>
                    <a:pt x="9398" y="244"/>
                    <a:pt x="21149" y="-1"/>
                  </a:cubicBezTo>
                  <a:lnTo>
                    <a:pt x="21600" y="21595"/>
                  </a:lnTo>
                  <a:lnTo>
                    <a:pt x="0" y="21594"/>
                  </a:lnTo>
                  <a:close/>
                </a:path>
              </a:pathLst>
            </a:custGeom>
            <a:noFill/>
            <a:ln w="28575"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6" name="文本框 95"/>
          <p:cNvSpPr txBox="1"/>
          <p:nvPr/>
        </p:nvSpPr>
        <p:spPr>
          <a:xfrm>
            <a:off x="6810692" y="4107577"/>
            <a:ext cx="1754421" cy="461665"/>
          </a:xfrm>
          <a:prstGeom prst="rect">
            <a:avLst/>
          </a:prstGeom>
          <a:solidFill>
            <a:srgbClr val="FFFF00"/>
          </a:solidFill>
        </p:spPr>
        <p:txBody>
          <a:bodyPr wrap="square" rtlCol="0">
            <a:spAutoFit/>
          </a:bodyPr>
          <a:lstStyle/>
          <a:p>
            <a:r>
              <a:rPr lang="zh-CN" altLang="en-US" dirty="0">
                <a:solidFill>
                  <a:srgbClr val="FF0000"/>
                </a:solidFill>
                <a:latin typeface="黑体" panose="02010609060101010101" pitchFamily="49" charset="-122"/>
                <a:ea typeface="黑体" panose="02010609060101010101" pitchFamily="49" charset="-122"/>
              </a:rPr>
              <a:t>位移投影法</a:t>
            </a:r>
          </a:p>
        </p:txBody>
      </p:sp>
      <p:sp>
        <p:nvSpPr>
          <p:cNvPr id="98" name="Rectangle 42"/>
          <p:cNvSpPr>
            <a:spLocks noChangeArrowheads="1"/>
          </p:cNvSpPr>
          <p:nvPr/>
        </p:nvSpPr>
        <p:spPr bwMode="auto">
          <a:xfrm>
            <a:off x="4018116" y="926636"/>
            <a:ext cx="4912897" cy="12009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i="1" dirty="0">
                <a:latin typeface="Times New Roman" panose="02020603050405020304" pitchFamily="18" charset="0"/>
                <a:ea typeface="华文楷体" panose="02010600040101010101" pitchFamily="2" charset="-122"/>
              </a:rPr>
              <a:t>l</a:t>
            </a:r>
            <a:r>
              <a:rPr lang="en-US" altLang="zh-CN" baseline="-25000" dirty="0">
                <a:latin typeface="Times New Roman" panose="02020603050405020304" pitchFamily="18" charset="0"/>
                <a:ea typeface="华文楷体" panose="02010600040101010101" pitchFamily="2" charset="-122"/>
              </a:rPr>
              <a:t>1</a:t>
            </a:r>
            <a:r>
              <a:rPr lang="en-US" altLang="zh-CN" dirty="0">
                <a:latin typeface="Times New Roman" panose="02020603050405020304" pitchFamily="18" charset="0"/>
                <a:ea typeface="华文楷体" panose="02010600040101010101" pitchFamily="2" charset="-122"/>
              </a:rPr>
              <a:t>=1.73m</a:t>
            </a:r>
            <a:r>
              <a:rPr lang="zh-CN" altLang="en-US" dirty="0">
                <a:latin typeface="Times New Roman" panose="02020603050405020304" pitchFamily="18" charset="0"/>
                <a:ea typeface="华文楷体" panose="02010600040101010101" pitchFamily="2" charset="-122"/>
              </a:rPr>
              <a:t>，</a:t>
            </a:r>
            <a:r>
              <a:rPr kumimoji="1" lang="en-US" altLang="zh-CN" sz="2400" i="1" dirty="0">
                <a:latin typeface="Times New Roman" panose="02020603050405020304" pitchFamily="18" charset="0"/>
                <a:ea typeface="华文楷体" panose="02010600040101010101" pitchFamily="2" charset="-122"/>
              </a:rPr>
              <a:t>A</a:t>
            </a:r>
            <a:r>
              <a:rPr kumimoji="1" lang="en-US" altLang="zh-CN" sz="2400" baseline="-25000" dirty="0">
                <a:latin typeface="Times New Roman" panose="02020603050405020304" pitchFamily="18" charset="0"/>
                <a:ea typeface="华文楷体" panose="02010600040101010101" pitchFamily="2" charset="-122"/>
              </a:rPr>
              <a:t>1</a:t>
            </a:r>
            <a:r>
              <a:rPr kumimoji="1" lang="en-US" altLang="zh-CN" sz="2400" dirty="0">
                <a:latin typeface="Times New Roman" panose="02020603050405020304" pitchFamily="18" charset="0"/>
                <a:ea typeface="华文楷体" panose="02010600040101010101" pitchFamily="2" charset="-122"/>
              </a:rPr>
              <a:t>=1200mm</a:t>
            </a:r>
            <a:r>
              <a:rPr kumimoji="1" lang="en-US" altLang="zh-CN" sz="2400" baseline="30000" dirty="0">
                <a:latin typeface="Times New Roman" panose="02020603050405020304" pitchFamily="18" charset="0"/>
                <a:ea typeface="华文楷体" panose="02010600040101010101" pitchFamily="2" charset="-122"/>
              </a:rPr>
              <a:t>2</a:t>
            </a:r>
            <a:r>
              <a:rPr kumimoji="1" lang="en-US" altLang="zh-CN" sz="2400" dirty="0">
                <a:latin typeface="Times New Roman" panose="02020603050405020304" pitchFamily="18" charset="0"/>
                <a:ea typeface="华文楷体" panose="02010600040101010101" pitchFamily="2" charset="-122"/>
              </a:rPr>
              <a:t>, </a:t>
            </a:r>
            <a:r>
              <a:rPr lang="en-US" altLang="zh-CN" i="1" dirty="0">
                <a:latin typeface="Times New Roman" panose="02020603050405020304" pitchFamily="18" charset="0"/>
                <a:ea typeface="华文楷体" panose="02010600040101010101" pitchFamily="2" charset="-122"/>
              </a:rPr>
              <a:t>E</a:t>
            </a:r>
            <a:r>
              <a:rPr lang="en-US" altLang="zh-CN" baseline="-25000" dirty="0">
                <a:latin typeface="Times New Roman" panose="02020603050405020304" pitchFamily="18" charset="0"/>
                <a:ea typeface="华文楷体" panose="02010600040101010101" pitchFamily="2" charset="-122"/>
              </a:rPr>
              <a:t>1</a:t>
            </a:r>
            <a:r>
              <a:rPr lang="en-US" altLang="zh-CN" dirty="0">
                <a:latin typeface="Times New Roman" panose="02020603050405020304" pitchFamily="18" charset="0"/>
                <a:ea typeface="华文楷体" panose="02010600040101010101" pitchFamily="2" charset="-122"/>
              </a:rPr>
              <a:t>=10GPa, </a:t>
            </a:r>
            <a:r>
              <a:rPr lang="en-US" altLang="zh-CN" i="1" dirty="0">
                <a:latin typeface="Times New Roman" panose="02020603050405020304" pitchFamily="18" charset="0"/>
                <a:ea typeface="华文楷体" panose="02010600040101010101" pitchFamily="2" charset="-122"/>
              </a:rPr>
              <a:t>l</a:t>
            </a:r>
            <a:r>
              <a:rPr lang="en-US" altLang="zh-CN" baseline="-25000" dirty="0">
                <a:latin typeface="Times New Roman" panose="02020603050405020304" pitchFamily="18" charset="0"/>
                <a:ea typeface="华文楷体" panose="02010600040101010101" pitchFamily="2" charset="-122"/>
              </a:rPr>
              <a:t>2</a:t>
            </a:r>
            <a:r>
              <a:rPr lang="en-US" altLang="zh-CN" dirty="0">
                <a:latin typeface="Times New Roman" panose="02020603050405020304" pitchFamily="18" charset="0"/>
                <a:ea typeface="华文楷体" panose="02010600040101010101" pitchFamily="2" charset="-122"/>
              </a:rPr>
              <a:t>=2m</a:t>
            </a:r>
            <a:r>
              <a:rPr lang="zh-CN" altLang="en-US" dirty="0">
                <a:latin typeface="Times New Roman" panose="02020603050405020304" pitchFamily="18" charset="0"/>
                <a:ea typeface="华文楷体" panose="02010600040101010101" pitchFamily="2" charset="-122"/>
              </a:rPr>
              <a:t>，</a:t>
            </a:r>
            <a:r>
              <a:rPr lang="en-US" altLang="zh-CN" i="1" dirty="0">
                <a:latin typeface="Times New Roman" panose="02020603050405020304" pitchFamily="18" charset="0"/>
                <a:ea typeface="华文楷体" panose="02010600040101010101" pitchFamily="2" charset="-122"/>
              </a:rPr>
              <a:t>A</a:t>
            </a:r>
            <a:r>
              <a:rPr lang="en-US" altLang="zh-CN" baseline="-25000" dirty="0">
                <a:latin typeface="Times New Roman" panose="02020603050405020304" pitchFamily="18" charset="0"/>
                <a:ea typeface="华文楷体" panose="02010600040101010101" pitchFamily="2" charset="-122"/>
              </a:rPr>
              <a:t>2</a:t>
            </a:r>
            <a:r>
              <a:rPr lang="en-US" altLang="zh-CN" dirty="0">
                <a:latin typeface="Times New Roman" panose="02020603050405020304" pitchFamily="18" charset="0"/>
                <a:ea typeface="华文楷体" panose="02010600040101010101" pitchFamily="2" charset="-122"/>
              </a:rPr>
              <a:t>=7mm</a:t>
            </a:r>
            <a:r>
              <a:rPr lang="en-US" altLang="zh-CN" baseline="30000" dirty="0">
                <a:latin typeface="Times New Roman" panose="02020603050405020304" pitchFamily="18" charset="0"/>
                <a:ea typeface="华文楷体" panose="02010600040101010101" pitchFamily="2" charset="-122"/>
              </a:rPr>
              <a:t>2</a:t>
            </a:r>
            <a:r>
              <a:rPr kumimoji="1" lang="zh-CN" altLang="en-US" sz="2400" dirty="0">
                <a:latin typeface="Times New Roman" panose="02020603050405020304" pitchFamily="18" charset="0"/>
                <a:ea typeface="华文楷体" panose="02010600040101010101" pitchFamily="2" charset="-122"/>
              </a:rPr>
              <a:t>，</a:t>
            </a:r>
            <a:r>
              <a:rPr lang="en-US" altLang="zh-CN" i="1" dirty="0">
                <a:latin typeface="Times New Roman" panose="02020603050405020304" pitchFamily="18" charset="0"/>
                <a:ea typeface="华文楷体" panose="02010600040101010101" pitchFamily="2" charset="-122"/>
              </a:rPr>
              <a:t> E</a:t>
            </a:r>
            <a:r>
              <a:rPr lang="en-US" altLang="zh-CN" baseline="-25000" dirty="0">
                <a:latin typeface="Times New Roman" panose="02020603050405020304" pitchFamily="18" charset="0"/>
                <a:ea typeface="华文楷体" panose="02010600040101010101" pitchFamily="2" charset="-122"/>
              </a:rPr>
              <a:t>2</a:t>
            </a:r>
            <a:r>
              <a:rPr lang="en-US" altLang="zh-CN" dirty="0">
                <a:latin typeface="Times New Roman" panose="02020603050405020304" pitchFamily="18" charset="0"/>
                <a:ea typeface="华文楷体" panose="02010600040101010101" pitchFamily="2" charset="-122"/>
              </a:rPr>
              <a:t>=200GPa</a:t>
            </a:r>
            <a:r>
              <a:rPr lang="zh-CN" altLang="en-US" dirty="0">
                <a:latin typeface="Times New Roman" panose="02020603050405020304" pitchFamily="18" charset="0"/>
                <a:ea typeface="华文楷体" panose="02010600040101010101" pitchFamily="2" charset="-122"/>
              </a:rPr>
              <a:t>，</a:t>
            </a:r>
            <a:endParaRPr lang="en-US" altLang="zh-CN" dirty="0">
              <a:latin typeface="Times New Roman" panose="02020603050405020304" pitchFamily="18" charset="0"/>
              <a:ea typeface="华文楷体" panose="02010600040101010101" pitchFamily="2" charset="-122"/>
            </a:endParaRPr>
          </a:p>
          <a:p>
            <a:r>
              <a:rPr lang="en-US" altLang="zh-CN" i="1" dirty="0">
                <a:latin typeface="Times New Roman" panose="02020603050405020304" pitchFamily="18" charset="0"/>
                <a:ea typeface="华文楷体" panose="02010600040101010101" pitchFamily="2" charset="-122"/>
              </a:rPr>
              <a:t>F</a:t>
            </a:r>
            <a:r>
              <a:rPr lang="en-US" altLang="zh-CN" dirty="0">
                <a:latin typeface="Times New Roman" panose="02020603050405020304" pitchFamily="18" charset="0"/>
                <a:ea typeface="华文楷体" panose="02010600040101010101" pitchFamily="2" charset="-122"/>
              </a:rPr>
              <a:t>=1kN</a:t>
            </a:r>
            <a:endParaRPr kumimoji="1" lang="zh-CN" altLang="en-US" sz="2400" b="1" dirty="0">
              <a:latin typeface="Times New Roman" panose="02020603050405020304" pitchFamily="18" charset="0"/>
              <a:ea typeface="华文楷体" panose="02010600040101010101" pitchFamily="2" charset="-122"/>
            </a:endParaRPr>
          </a:p>
        </p:txBody>
      </p:sp>
      <p:grpSp>
        <p:nvGrpSpPr>
          <p:cNvPr id="99" name="Group 54"/>
          <p:cNvGrpSpPr>
            <a:grpSpLocks/>
          </p:cNvGrpSpPr>
          <p:nvPr/>
        </p:nvGrpSpPr>
        <p:grpSpPr bwMode="auto">
          <a:xfrm>
            <a:off x="586431" y="1538291"/>
            <a:ext cx="2076450" cy="1520825"/>
            <a:chOff x="489" y="1133"/>
            <a:chExt cx="1308" cy="958"/>
          </a:xfrm>
        </p:grpSpPr>
        <p:sp>
          <p:nvSpPr>
            <p:cNvPr id="100" name="Line 55"/>
            <p:cNvSpPr>
              <a:spLocks noChangeShapeType="1"/>
            </p:cNvSpPr>
            <p:nvPr/>
          </p:nvSpPr>
          <p:spPr bwMode="auto">
            <a:xfrm>
              <a:off x="490" y="1133"/>
              <a:ext cx="1056" cy="816"/>
            </a:xfrm>
            <a:prstGeom prst="line">
              <a:avLst/>
            </a:prstGeom>
            <a:noFill/>
            <a:ln w="12700">
              <a:solidFill>
                <a:srgbClr val="0000FF"/>
              </a:solidFill>
              <a:prstDash val="dash"/>
              <a:round/>
              <a:headEnd type="none" w="sm" len="sm"/>
              <a:tailEnd type="none" w="sm" len="sm"/>
            </a:ln>
          </p:spPr>
          <p:txBody>
            <a:bodyPr wrap="none" anchor="ct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101" name="Line 56"/>
            <p:cNvSpPr>
              <a:spLocks noChangeShapeType="1"/>
            </p:cNvSpPr>
            <p:nvPr/>
          </p:nvSpPr>
          <p:spPr bwMode="auto">
            <a:xfrm>
              <a:off x="489" y="1745"/>
              <a:ext cx="1057" cy="204"/>
            </a:xfrm>
            <a:prstGeom prst="line">
              <a:avLst/>
            </a:prstGeom>
            <a:noFill/>
            <a:ln w="19050">
              <a:solidFill>
                <a:srgbClr val="FF3399"/>
              </a:solidFill>
              <a:prstDash val="dash"/>
              <a:round/>
              <a:headEnd type="none" w="sm" len="sm"/>
              <a:tailEnd type="none" w="sm" len="sm"/>
            </a:ln>
          </p:spPr>
          <p:txBody>
            <a:bodyPr wrap="none" anchor="ct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102" name="Line 57"/>
            <p:cNvSpPr>
              <a:spLocks noChangeShapeType="1"/>
            </p:cNvSpPr>
            <p:nvPr/>
          </p:nvSpPr>
          <p:spPr bwMode="auto">
            <a:xfrm flipH="1">
              <a:off x="1546" y="1745"/>
              <a:ext cx="191" cy="204"/>
            </a:xfrm>
            <a:prstGeom prst="line">
              <a:avLst/>
            </a:prstGeom>
            <a:noFill/>
            <a:ln w="12700">
              <a:solidFill>
                <a:schemeClr val="tx1"/>
              </a:solidFill>
              <a:prstDash val="sysDot"/>
              <a:round/>
              <a:headEnd type="none" w="sm" len="sm"/>
              <a:tailEnd type="none" w="sm" len="sm"/>
            </a:ln>
          </p:spPr>
          <p:txBody>
            <a:bodyPr wrap="none" anchor="ct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103" name="Rectangle 58"/>
            <p:cNvSpPr>
              <a:spLocks noChangeArrowheads="1"/>
            </p:cNvSpPr>
            <p:nvPr/>
          </p:nvSpPr>
          <p:spPr bwMode="auto">
            <a:xfrm>
              <a:off x="1541" y="1839"/>
              <a:ext cx="256" cy="252"/>
            </a:xfrm>
            <a:prstGeom prst="rect">
              <a:avLst/>
            </a:prstGeom>
            <a:noFill/>
            <a:ln w="9525">
              <a:noFill/>
              <a:miter lim="800000"/>
              <a:headEnd/>
              <a:tailEnd/>
            </a:ln>
          </p:spPr>
          <p:txBody>
            <a:bodyPr wrap="none" lIns="92075" tIns="46038" rIns="92075" bIns="46038">
              <a:spAutoFit/>
            </a:bodyPr>
            <a:lstStyle/>
            <a:p>
              <a:pPr eaLnBrk="0" hangingPunct="0">
                <a:defRPr/>
              </a:pPr>
              <a:r>
                <a:rPr kumimoji="1" lang="en-US" altLang="zh-CN" sz="2000" i="1" dirty="0">
                  <a:solidFill>
                    <a:srgbClr val="FF0000"/>
                  </a:solidFill>
                  <a:latin typeface="Times New Roman" pitchFamily="18" charset="0"/>
                  <a:ea typeface="华文楷体" pitchFamily="2" charset="-122"/>
                  <a:cs typeface="Times New Roman" pitchFamily="18" charset="0"/>
                </a:rPr>
                <a:t>A</a:t>
              </a:r>
              <a:r>
                <a:rPr kumimoji="1" lang="en-US" altLang="zh-CN" sz="2000" b="1" dirty="0">
                  <a:solidFill>
                    <a:srgbClr val="FF0000"/>
                  </a:solidFill>
                  <a:latin typeface="Times New Roman" pitchFamily="18" charset="0"/>
                  <a:ea typeface="华文楷体" pitchFamily="2" charset="-122"/>
                  <a:cs typeface="Times New Roman" pitchFamily="18" charset="0"/>
                  <a:sym typeface="Symbol" panose="05050102010706020507" pitchFamily="18" charset="2"/>
                </a:rPr>
                <a:t></a:t>
              </a:r>
              <a:endParaRPr kumimoji="1" lang="en-US" altLang="zh-CN" sz="2000" b="1" dirty="0">
                <a:solidFill>
                  <a:srgbClr val="FF0000"/>
                </a:solidFill>
                <a:latin typeface="Times New Roman" pitchFamily="18" charset="0"/>
                <a:ea typeface="华文楷体" pitchFamily="2" charset="-122"/>
                <a:cs typeface="Times New Roman" pitchFamily="18" charset="0"/>
              </a:endParaRPr>
            </a:p>
          </p:txBody>
        </p:sp>
      </p:grpSp>
      <p:sp>
        <p:nvSpPr>
          <p:cNvPr id="104" name="Rectangle 49"/>
          <p:cNvSpPr>
            <a:spLocks noChangeArrowheads="1"/>
          </p:cNvSpPr>
          <p:nvPr/>
        </p:nvSpPr>
        <p:spPr bwMode="auto">
          <a:xfrm>
            <a:off x="2415762" y="2110848"/>
            <a:ext cx="343043"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000" i="1" dirty="0">
                <a:latin typeface="Times New Roman" panose="02020603050405020304" pitchFamily="18" charset="0"/>
                <a:ea typeface="华文楷体" panose="02010600040101010101" pitchFamily="2" charset="-122"/>
                <a:cs typeface="Times New Roman" panose="02020603050405020304" pitchFamily="18" charset="0"/>
              </a:rPr>
              <a:t>A</a:t>
            </a:r>
          </a:p>
        </p:txBody>
      </p:sp>
      <p:graphicFrame>
        <p:nvGraphicFramePr>
          <p:cNvPr id="108" name="Object 99"/>
          <p:cNvGraphicFramePr>
            <a:graphicFrameLocks noChangeAspect="1"/>
          </p:cNvGraphicFramePr>
          <p:nvPr>
            <p:extLst>
              <p:ext uri="{D42A27DB-BD31-4B8C-83A1-F6EECF244321}">
                <p14:modId xmlns:p14="http://schemas.microsoft.com/office/powerpoint/2010/main" val="1387317742"/>
              </p:ext>
            </p:extLst>
          </p:nvPr>
        </p:nvGraphicFramePr>
        <p:xfrm>
          <a:off x="3850435" y="2686407"/>
          <a:ext cx="2970212" cy="838200"/>
        </p:xfrm>
        <a:graphic>
          <a:graphicData uri="http://schemas.openxmlformats.org/presentationml/2006/ole">
            <mc:AlternateContent xmlns:mc="http://schemas.openxmlformats.org/markup-compatibility/2006">
              <mc:Choice xmlns:v="urn:schemas-microsoft-com:vml" Requires="v">
                <p:oleObj name="Equation" r:id="rId6" imgW="1523880" imgH="431640" progId="Equation.DSMT4">
                  <p:embed/>
                </p:oleObj>
              </mc:Choice>
              <mc:Fallback>
                <p:oleObj name="Equation" r:id="rId6" imgW="1523880" imgH="431640" progId="Equation.DSMT4">
                  <p:embed/>
                  <p:pic>
                    <p:nvPicPr>
                      <p:cNvPr id="0" name=""/>
                      <p:cNvPicPr>
                        <a:picLocks noChangeAspect="1" noChangeArrowheads="1"/>
                      </p:cNvPicPr>
                      <p:nvPr/>
                    </p:nvPicPr>
                    <p:blipFill>
                      <a:blip r:embed="rId7"/>
                      <a:srcRect/>
                      <a:stretch>
                        <a:fillRect/>
                      </a:stretch>
                    </p:blipFill>
                    <p:spPr bwMode="auto">
                      <a:xfrm>
                        <a:off x="3850435" y="2686407"/>
                        <a:ext cx="2970212" cy="838200"/>
                      </a:xfrm>
                      <a:prstGeom prst="rect">
                        <a:avLst/>
                      </a:prstGeom>
                      <a:noFill/>
                      <a:ln>
                        <a:noFill/>
                      </a:ln>
                      <a:effectLst/>
                    </p:spPr>
                  </p:pic>
                </p:oleObj>
              </mc:Fallback>
            </mc:AlternateContent>
          </a:graphicData>
        </a:graphic>
      </p:graphicFrame>
      <p:graphicFrame>
        <p:nvGraphicFramePr>
          <p:cNvPr id="109" name="Object 99"/>
          <p:cNvGraphicFramePr>
            <a:graphicFrameLocks noChangeAspect="1"/>
          </p:cNvGraphicFramePr>
          <p:nvPr>
            <p:extLst>
              <p:ext uri="{D42A27DB-BD31-4B8C-83A1-F6EECF244321}">
                <p14:modId xmlns:p14="http://schemas.microsoft.com/office/powerpoint/2010/main" val="261465381"/>
              </p:ext>
            </p:extLst>
          </p:nvPr>
        </p:nvGraphicFramePr>
        <p:xfrm>
          <a:off x="3902656" y="3458312"/>
          <a:ext cx="2722563" cy="838200"/>
        </p:xfrm>
        <a:graphic>
          <a:graphicData uri="http://schemas.openxmlformats.org/presentationml/2006/ole">
            <mc:AlternateContent xmlns:mc="http://schemas.openxmlformats.org/markup-compatibility/2006">
              <mc:Choice xmlns:v="urn:schemas-microsoft-com:vml" Requires="v">
                <p:oleObj name="Equation" r:id="rId8" imgW="1396800" imgH="431640" progId="Equation.DSMT4">
                  <p:embed/>
                </p:oleObj>
              </mc:Choice>
              <mc:Fallback>
                <p:oleObj name="Equation" r:id="rId8" imgW="1396800" imgH="431640" progId="Equation.DSMT4">
                  <p:embed/>
                  <p:pic>
                    <p:nvPicPr>
                      <p:cNvPr id="0" name=""/>
                      <p:cNvPicPr>
                        <a:picLocks noChangeAspect="1" noChangeArrowheads="1"/>
                      </p:cNvPicPr>
                      <p:nvPr/>
                    </p:nvPicPr>
                    <p:blipFill>
                      <a:blip r:embed="rId9"/>
                      <a:srcRect/>
                      <a:stretch>
                        <a:fillRect/>
                      </a:stretch>
                    </p:blipFill>
                    <p:spPr bwMode="auto">
                      <a:xfrm>
                        <a:off x="3902656" y="3458312"/>
                        <a:ext cx="2722563" cy="838200"/>
                      </a:xfrm>
                      <a:prstGeom prst="rect">
                        <a:avLst/>
                      </a:prstGeom>
                      <a:noFill/>
                      <a:ln>
                        <a:noFill/>
                      </a:ln>
                      <a:effectLst/>
                    </p:spPr>
                  </p:pic>
                </p:oleObj>
              </mc:Fallback>
            </mc:AlternateContent>
          </a:graphicData>
        </a:graphic>
      </p:graphicFrame>
      <p:grpSp>
        <p:nvGrpSpPr>
          <p:cNvPr id="125" name="Group 85"/>
          <p:cNvGrpSpPr>
            <a:grpSpLocks/>
          </p:cNvGrpSpPr>
          <p:nvPr/>
        </p:nvGrpSpPr>
        <p:grpSpPr bwMode="auto">
          <a:xfrm>
            <a:off x="2566315" y="3376748"/>
            <a:ext cx="812799" cy="1508125"/>
            <a:chOff x="-47" y="3152"/>
            <a:chExt cx="512" cy="950"/>
          </a:xfrm>
        </p:grpSpPr>
        <p:grpSp>
          <p:nvGrpSpPr>
            <p:cNvPr id="126" name="Group 86"/>
            <p:cNvGrpSpPr>
              <a:grpSpLocks/>
            </p:cNvGrpSpPr>
            <p:nvPr/>
          </p:nvGrpSpPr>
          <p:grpSpPr bwMode="auto">
            <a:xfrm>
              <a:off x="-47" y="3152"/>
              <a:ext cx="512" cy="950"/>
              <a:chOff x="-47" y="3149"/>
              <a:chExt cx="512" cy="950"/>
            </a:xfrm>
          </p:grpSpPr>
          <p:sp>
            <p:nvSpPr>
              <p:cNvPr id="128" name="Line 87"/>
              <p:cNvSpPr>
                <a:spLocks noChangeShapeType="1"/>
              </p:cNvSpPr>
              <p:nvPr/>
            </p:nvSpPr>
            <p:spPr bwMode="auto">
              <a:xfrm rot="7200000">
                <a:off x="209" y="3189"/>
                <a:ext cx="0" cy="512"/>
              </a:xfrm>
              <a:prstGeom prst="line">
                <a:avLst/>
              </a:prstGeom>
              <a:noFill/>
              <a:ln w="15875">
                <a:solidFill>
                  <a:srgbClr val="0000FF"/>
                </a:solidFill>
                <a:prstDash val="dash"/>
                <a:round/>
                <a:headEnd type="none" w="sm" len="sm"/>
                <a:tailEnd type="none" w="sm" len="sm"/>
              </a:ln>
            </p:spPr>
            <p:txBody>
              <a:bodyPr wrap="none" anchor="ct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129" name="Line 88"/>
              <p:cNvSpPr>
                <a:spLocks noChangeShapeType="1"/>
              </p:cNvSpPr>
              <p:nvPr/>
            </p:nvSpPr>
            <p:spPr bwMode="auto">
              <a:xfrm rot="7080000" flipH="1" flipV="1">
                <a:off x="-93" y="3269"/>
                <a:ext cx="240" cy="0"/>
              </a:xfrm>
              <a:prstGeom prst="line">
                <a:avLst/>
              </a:prstGeom>
              <a:noFill/>
              <a:ln w="15875">
                <a:solidFill>
                  <a:srgbClr val="FF0000"/>
                </a:solidFill>
                <a:prstDash val="dash"/>
                <a:round/>
                <a:headEnd type="none" w="sm" len="sm"/>
                <a:tailEnd type="none" w="sm" len="sm"/>
              </a:ln>
            </p:spPr>
            <p:txBody>
              <a:bodyPr wrap="none" anchor="ct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131" name="Arc 90"/>
              <p:cNvSpPr>
                <a:spLocks/>
              </p:cNvSpPr>
              <p:nvPr/>
            </p:nvSpPr>
            <p:spPr bwMode="auto">
              <a:xfrm>
                <a:off x="-6" y="4003"/>
                <a:ext cx="118" cy="96"/>
              </a:xfrm>
              <a:custGeom>
                <a:avLst/>
                <a:gdLst>
                  <a:gd name="T0" fmla="*/ 0 w 17759"/>
                  <a:gd name="T1" fmla="*/ 0 h 21600"/>
                  <a:gd name="T2" fmla="*/ 0 w 17759"/>
                  <a:gd name="T3" fmla="*/ 0 h 21600"/>
                  <a:gd name="T4" fmla="*/ 0 w 17759"/>
                  <a:gd name="T5" fmla="*/ 0 h 21600"/>
                  <a:gd name="T6" fmla="*/ 0 60000 65536"/>
                  <a:gd name="T7" fmla="*/ 0 60000 65536"/>
                  <a:gd name="T8" fmla="*/ 0 60000 65536"/>
                  <a:gd name="T9" fmla="*/ 0 w 17759"/>
                  <a:gd name="T10" fmla="*/ 0 h 21600"/>
                  <a:gd name="T11" fmla="*/ 17759 w 17759"/>
                  <a:gd name="T12" fmla="*/ 21600 h 21600"/>
                </a:gdLst>
                <a:ahLst/>
                <a:cxnLst>
                  <a:cxn ang="T6">
                    <a:pos x="T0" y="T1"/>
                  </a:cxn>
                  <a:cxn ang="T7">
                    <a:pos x="T2" y="T3"/>
                  </a:cxn>
                  <a:cxn ang="T8">
                    <a:pos x="T4" y="T5"/>
                  </a:cxn>
                </a:cxnLst>
                <a:rect l="T9" t="T10" r="T11" b="T12"/>
                <a:pathLst>
                  <a:path w="17759" h="21600" fill="none" extrusionOk="0">
                    <a:moveTo>
                      <a:pt x="-1" y="0"/>
                    </a:moveTo>
                    <a:cubicBezTo>
                      <a:pt x="7087" y="0"/>
                      <a:pt x="13724" y="3477"/>
                      <a:pt x="17759" y="9304"/>
                    </a:cubicBezTo>
                  </a:path>
                  <a:path w="17759" h="21600" stroke="0" extrusionOk="0">
                    <a:moveTo>
                      <a:pt x="-1" y="0"/>
                    </a:moveTo>
                    <a:cubicBezTo>
                      <a:pt x="7087" y="0"/>
                      <a:pt x="13724" y="3477"/>
                      <a:pt x="17759" y="9304"/>
                    </a:cubicBezTo>
                    <a:lnTo>
                      <a:pt x="0" y="21600"/>
                    </a:lnTo>
                    <a:close/>
                  </a:path>
                </a:pathLst>
              </a:custGeom>
              <a:noFill/>
              <a:ln w="9525">
                <a:solidFill>
                  <a:schemeClr val="tx1"/>
                </a:solidFill>
                <a:round/>
                <a:headEnd/>
                <a:tailEnd/>
              </a:ln>
            </p:spPr>
            <p:txBody>
              <a:bodyPr wrap="none" anchor="ct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grpSp>
        <p:graphicFrame>
          <p:nvGraphicFramePr>
            <p:cNvPr id="127" name="Object 91"/>
            <p:cNvGraphicFramePr>
              <a:graphicFrameLocks/>
            </p:cNvGraphicFramePr>
            <p:nvPr>
              <p:extLst>
                <p:ext uri="{D42A27DB-BD31-4B8C-83A1-F6EECF244321}">
                  <p14:modId xmlns:p14="http://schemas.microsoft.com/office/powerpoint/2010/main" val="1561447813"/>
                </p:ext>
              </p:extLst>
            </p:nvPr>
          </p:nvGraphicFramePr>
          <p:xfrm>
            <a:off x="-13" y="3851"/>
            <a:ext cx="125" cy="111"/>
          </p:xfrm>
          <a:graphic>
            <a:graphicData uri="http://schemas.openxmlformats.org/presentationml/2006/ole">
              <mc:AlternateContent xmlns:mc="http://schemas.openxmlformats.org/markup-compatibility/2006">
                <mc:Choice xmlns:v="urn:schemas-microsoft-com:vml" Requires="v">
                  <p:oleObj name="Equation" r:id="rId10" imgW="144791" imgH="129600" progId="Equation.2">
                    <p:embed/>
                  </p:oleObj>
                </mc:Choice>
                <mc:Fallback>
                  <p:oleObj name="Equation" r:id="rId10" imgW="144791" imgH="129600" progId="Equation.2">
                    <p:embed/>
                    <p:pic>
                      <p:nvPicPr>
                        <p:cNvPr id="0" name=""/>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 y="3851"/>
                          <a:ext cx="125" cy="111"/>
                        </a:xfrm>
                        <a:prstGeom prst="rect">
                          <a:avLst/>
                        </a:prstGeom>
                        <a:noFill/>
                        <a:ln>
                          <a:noFill/>
                        </a:ln>
                        <a:effectLst/>
                      </p:spPr>
                    </p:pic>
                  </p:oleObj>
                </mc:Fallback>
              </mc:AlternateContent>
            </a:graphicData>
          </a:graphic>
        </p:graphicFrame>
      </p:grpSp>
      <p:grpSp>
        <p:nvGrpSpPr>
          <p:cNvPr id="133" name="Group 93"/>
          <p:cNvGrpSpPr>
            <a:grpSpLocks/>
          </p:cNvGrpSpPr>
          <p:nvPr/>
        </p:nvGrpSpPr>
        <p:grpSpPr bwMode="auto">
          <a:xfrm>
            <a:off x="2088164" y="3202138"/>
            <a:ext cx="1525587" cy="2030413"/>
            <a:chOff x="464" y="2880"/>
            <a:chExt cx="961" cy="1279"/>
          </a:xfrm>
        </p:grpSpPr>
        <p:sp>
          <p:nvSpPr>
            <p:cNvPr id="134" name="Rectangle 94"/>
            <p:cNvSpPr>
              <a:spLocks noChangeArrowheads="1"/>
            </p:cNvSpPr>
            <p:nvPr/>
          </p:nvSpPr>
          <p:spPr bwMode="auto">
            <a:xfrm>
              <a:off x="566" y="3907"/>
              <a:ext cx="256" cy="252"/>
            </a:xfrm>
            <a:prstGeom prst="rect">
              <a:avLst/>
            </a:prstGeom>
            <a:noFill/>
            <a:ln w="9525">
              <a:noFill/>
              <a:miter lim="800000"/>
              <a:headEnd/>
              <a:tailEnd/>
            </a:ln>
          </p:spPr>
          <p:txBody>
            <a:bodyPr wrap="none" lIns="92075" tIns="46038" rIns="92075" bIns="46038">
              <a:spAutoFit/>
            </a:bodyPr>
            <a:lstStyle/>
            <a:p>
              <a:pPr eaLnBrk="0" hangingPunct="0">
                <a:defRPr/>
              </a:pPr>
              <a:r>
                <a:rPr kumimoji="1" lang="en-US" altLang="zh-CN" sz="2000" i="1" dirty="0">
                  <a:solidFill>
                    <a:srgbClr val="FF0000"/>
                  </a:solidFill>
                  <a:latin typeface="Times New Roman" pitchFamily="18" charset="0"/>
                  <a:ea typeface="华文楷体" pitchFamily="2" charset="-122"/>
                  <a:cs typeface="Times New Roman" pitchFamily="18" charset="0"/>
                </a:rPr>
                <a:t>A</a:t>
              </a:r>
              <a:r>
                <a:rPr kumimoji="1" lang="en-US" altLang="zh-CN" sz="2000" b="1" dirty="0">
                  <a:solidFill>
                    <a:srgbClr val="FF0000"/>
                  </a:solidFill>
                  <a:latin typeface="Times New Roman" pitchFamily="18" charset="0"/>
                  <a:ea typeface="华文楷体" pitchFamily="2" charset="-122"/>
                  <a:cs typeface="Times New Roman" pitchFamily="18" charset="0"/>
                  <a:sym typeface="Symbol" panose="05050102010706020507" pitchFamily="18" charset="2"/>
                </a:rPr>
                <a:t></a:t>
              </a:r>
              <a:endParaRPr kumimoji="1" lang="en-US" altLang="zh-CN" sz="2000" b="1" dirty="0">
                <a:solidFill>
                  <a:srgbClr val="FF0000"/>
                </a:solidFill>
                <a:latin typeface="Times New Roman" pitchFamily="18" charset="0"/>
                <a:ea typeface="华文楷体" pitchFamily="2" charset="-122"/>
                <a:cs typeface="Times New Roman" pitchFamily="18" charset="0"/>
              </a:endParaRPr>
            </a:p>
          </p:txBody>
        </p:sp>
        <p:sp>
          <p:nvSpPr>
            <p:cNvPr id="135" name="Line 95"/>
            <p:cNvSpPr>
              <a:spLocks noChangeShapeType="1"/>
            </p:cNvSpPr>
            <p:nvPr/>
          </p:nvSpPr>
          <p:spPr bwMode="auto">
            <a:xfrm>
              <a:off x="1057" y="3163"/>
              <a:ext cx="247" cy="131"/>
            </a:xfrm>
            <a:prstGeom prst="line">
              <a:avLst/>
            </a:prstGeom>
            <a:noFill/>
            <a:ln w="22225">
              <a:solidFill>
                <a:srgbClr val="0000FF"/>
              </a:solidFill>
              <a:round/>
              <a:headEnd type="none" w="sm" len="sm"/>
              <a:tailEnd type="none" w="sm" len="sm"/>
            </a:ln>
          </p:spPr>
          <p:txBody>
            <a:bodyPr wrap="none" anchor="ct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136" name="Line 96"/>
            <p:cNvSpPr>
              <a:spLocks noChangeShapeType="1"/>
            </p:cNvSpPr>
            <p:nvPr/>
          </p:nvSpPr>
          <p:spPr bwMode="auto">
            <a:xfrm flipH="1">
              <a:off x="812" y="3163"/>
              <a:ext cx="245" cy="0"/>
            </a:xfrm>
            <a:prstGeom prst="line">
              <a:avLst/>
            </a:prstGeom>
            <a:noFill/>
            <a:ln w="22225">
              <a:solidFill>
                <a:srgbClr val="FF0000"/>
              </a:solidFill>
              <a:round/>
              <a:headEnd type="none" w="sm" len="sm"/>
              <a:tailEnd type="none" w="sm" len="sm"/>
            </a:ln>
          </p:spPr>
          <p:txBody>
            <a:bodyPr wrap="none" anchor="ct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137" name="Line 97"/>
            <p:cNvSpPr>
              <a:spLocks noChangeShapeType="1"/>
            </p:cNvSpPr>
            <p:nvPr/>
          </p:nvSpPr>
          <p:spPr bwMode="auto">
            <a:xfrm>
              <a:off x="812" y="3163"/>
              <a:ext cx="0" cy="917"/>
            </a:xfrm>
            <a:prstGeom prst="line">
              <a:avLst/>
            </a:prstGeom>
            <a:noFill/>
            <a:ln w="19050">
              <a:solidFill>
                <a:schemeClr val="tx2"/>
              </a:solidFill>
              <a:round/>
              <a:headEnd type="none" w="sm" len="sm"/>
              <a:tailEnd type="none" w="sm" len="sm"/>
            </a:ln>
          </p:spPr>
          <p:txBody>
            <a:bodyPr wrap="none" anchor="ct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138" name="Line 98"/>
            <p:cNvSpPr>
              <a:spLocks noChangeShapeType="1"/>
            </p:cNvSpPr>
            <p:nvPr/>
          </p:nvSpPr>
          <p:spPr bwMode="auto">
            <a:xfrm flipH="1">
              <a:off x="812" y="3294"/>
              <a:ext cx="492" cy="786"/>
            </a:xfrm>
            <a:prstGeom prst="line">
              <a:avLst/>
            </a:prstGeom>
            <a:noFill/>
            <a:ln w="19050">
              <a:solidFill>
                <a:schemeClr val="tx2"/>
              </a:solidFill>
              <a:round/>
              <a:headEnd type="none" w="sm" len="sm"/>
              <a:tailEnd type="none" w="sm" len="sm"/>
            </a:ln>
          </p:spPr>
          <p:txBody>
            <a:bodyPr wrap="none" anchor="ct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graphicFrame>
          <p:nvGraphicFramePr>
            <p:cNvPr id="139" name="Object 99"/>
            <p:cNvGraphicFramePr>
              <a:graphicFrameLocks/>
            </p:cNvGraphicFramePr>
            <p:nvPr>
              <p:extLst>
                <p:ext uri="{D42A27DB-BD31-4B8C-83A1-F6EECF244321}">
                  <p14:modId xmlns:p14="http://schemas.microsoft.com/office/powerpoint/2010/main" val="804929775"/>
                </p:ext>
              </p:extLst>
            </p:nvPr>
          </p:nvGraphicFramePr>
          <p:xfrm>
            <a:off x="1159" y="3051"/>
            <a:ext cx="266" cy="201"/>
          </p:xfrm>
          <a:graphic>
            <a:graphicData uri="http://schemas.openxmlformats.org/presentationml/2006/ole">
              <mc:AlternateContent xmlns:mc="http://schemas.openxmlformats.org/markup-compatibility/2006">
                <mc:Choice xmlns:v="urn:schemas-microsoft-com:vml" Requires="v">
                  <p:oleObj name="Equation" r:id="rId12" imgW="259112" imgH="205848" progId="Equation.3">
                    <p:embed/>
                  </p:oleObj>
                </mc:Choice>
                <mc:Fallback>
                  <p:oleObj name="Equation" r:id="rId12" imgW="259112" imgH="205848" progId="Equation.3">
                    <p:embed/>
                    <p:pic>
                      <p:nvPicPr>
                        <p:cNvPr id="0" name=""/>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59" y="3051"/>
                          <a:ext cx="266" cy="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0" name="Line 100"/>
            <p:cNvSpPr>
              <a:spLocks noChangeShapeType="1"/>
            </p:cNvSpPr>
            <p:nvPr/>
          </p:nvSpPr>
          <p:spPr bwMode="auto">
            <a:xfrm flipH="1">
              <a:off x="816" y="3168"/>
              <a:ext cx="240" cy="912"/>
            </a:xfrm>
            <a:prstGeom prst="line">
              <a:avLst/>
            </a:prstGeom>
            <a:noFill/>
            <a:ln w="19050">
              <a:solidFill>
                <a:schemeClr val="tx1"/>
              </a:solidFill>
              <a:round/>
              <a:headEnd type="none" w="sm" len="sm"/>
              <a:tailEnd type="none" w="sm" len="sm"/>
            </a:ln>
          </p:spPr>
          <p:txBody>
            <a:bodyPr wrap="none" anchor="ct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141" name="Line 101"/>
            <p:cNvSpPr>
              <a:spLocks noChangeShapeType="1"/>
            </p:cNvSpPr>
            <p:nvPr/>
          </p:nvSpPr>
          <p:spPr bwMode="auto">
            <a:xfrm flipH="1" flipV="1">
              <a:off x="528" y="2880"/>
              <a:ext cx="507" cy="265"/>
            </a:xfrm>
            <a:prstGeom prst="line">
              <a:avLst/>
            </a:prstGeom>
            <a:noFill/>
            <a:ln w="12700">
              <a:solidFill>
                <a:schemeClr val="tx1"/>
              </a:solidFill>
              <a:prstDash val="sysDot"/>
              <a:round/>
              <a:headEnd type="none" w="sm" len="sm"/>
              <a:tailEnd type="none" w="sm" len="sm"/>
            </a:ln>
          </p:spPr>
          <p:txBody>
            <a:bodyPr wrap="none" anchor="ct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142" name="Line 102"/>
            <p:cNvSpPr>
              <a:spLocks noChangeShapeType="1"/>
            </p:cNvSpPr>
            <p:nvPr/>
          </p:nvSpPr>
          <p:spPr bwMode="auto">
            <a:xfrm flipH="1">
              <a:off x="464" y="3168"/>
              <a:ext cx="336" cy="0"/>
            </a:xfrm>
            <a:prstGeom prst="line">
              <a:avLst/>
            </a:prstGeom>
            <a:noFill/>
            <a:ln w="12700">
              <a:solidFill>
                <a:schemeClr val="tx1"/>
              </a:solidFill>
              <a:prstDash val="sysDot"/>
              <a:round/>
              <a:headEnd type="none" w="sm" len="sm"/>
              <a:tailEnd type="none" w="sm" len="sm"/>
            </a:ln>
          </p:spPr>
          <p:txBody>
            <a:bodyPr wrap="none" anchor="ct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graphicFrame>
          <p:nvGraphicFramePr>
            <p:cNvPr id="143" name="Object 103"/>
            <p:cNvGraphicFramePr>
              <a:graphicFrameLocks/>
            </p:cNvGraphicFramePr>
            <p:nvPr/>
          </p:nvGraphicFramePr>
          <p:xfrm>
            <a:off x="577" y="3005"/>
            <a:ext cx="147" cy="134"/>
          </p:xfrm>
          <a:graphic>
            <a:graphicData uri="http://schemas.openxmlformats.org/presentationml/2006/ole">
              <mc:AlternateContent xmlns:mc="http://schemas.openxmlformats.org/markup-compatibility/2006">
                <mc:Choice xmlns:v="urn:schemas-microsoft-com:vml" Requires="v">
                  <p:oleObj name="Equation" r:id="rId14" imgW="144791" imgH="129600" progId="Equation.2">
                    <p:embed/>
                  </p:oleObj>
                </mc:Choice>
                <mc:Fallback>
                  <p:oleObj name="Equation" r:id="rId14" imgW="144791" imgH="129600" progId="Equation.2">
                    <p:embed/>
                    <p:pic>
                      <p:nvPicPr>
                        <p:cNvPr id="0" name=""/>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77" y="3005"/>
                          <a:ext cx="147" cy="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4" name="Arc 104"/>
            <p:cNvSpPr>
              <a:spLocks/>
            </p:cNvSpPr>
            <p:nvPr/>
          </p:nvSpPr>
          <p:spPr bwMode="auto">
            <a:xfrm>
              <a:off x="740" y="3025"/>
              <a:ext cx="48" cy="144"/>
            </a:xfrm>
            <a:custGeom>
              <a:avLst/>
              <a:gdLst>
                <a:gd name="T0" fmla="*/ 0 w 21600"/>
                <a:gd name="T1" fmla="*/ 0 h 21595"/>
                <a:gd name="T2" fmla="*/ 0 w 21600"/>
                <a:gd name="T3" fmla="*/ 0 h 21595"/>
                <a:gd name="T4" fmla="*/ 0 w 21600"/>
                <a:gd name="T5" fmla="*/ 0 h 21595"/>
                <a:gd name="T6" fmla="*/ 0 60000 65536"/>
                <a:gd name="T7" fmla="*/ 0 60000 65536"/>
                <a:gd name="T8" fmla="*/ 0 60000 65536"/>
                <a:gd name="T9" fmla="*/ 0 w 21600"/>
                <a:gd name="T10" fmla="*/ 0 h 21595"/>
                <a:gd name="T11" fmla="*/ 21600 w 21600"/>
                <a:gd name="T12" fmla="*/ 21595 h 21595"/>
              </a:gdLst>
              <a:ahLst/>
              <a:cxnLst>
                <a:cxn ang="T6">
                  <a:pos x="T0" y="T1"/>
                </a:cxn>
                <a:cxn ang="T7">
                  <a:pos x="T2" y="T3"/>
                </a:cxn>
                <a:cxn ang="T8">
                  <a:pos x="T4" y="T5"/>
                </a:cxn>
              </a:cxnLst>
              <a:rect l="T9" t="T10" r="T11" b="T12"/>
              <a:pathLst>
                <a:path w="21600" h="21595" fill="none" extrusionOk="0">
                  <a:moveTo>
                    <a:pt x="0" y="21595"/>
                  </a:moveTo>
                  <a:cubicBezTo>
                    <a:pt x="0" y="9841"/>
                    <a:pt x="9398" y="244"/>
                    <a:pt x="21149" y="-1"/>
                  </a:cubicBezTo>
                </a:path>
                <a:path w="21600" h="21595" stroke="0" extrusionOk="0">
                  <a:moveTo>
                    <a:pt x="0" y="21595"/>
                  </a:moveTo>
                  <a:cubicBezTo>
                    <a:pt x="0" y="9841"/>
                    <a:pt x="9398" y="244"/>
                    <a:pt x="21149" y="-1"/>
                  </a:cubicBezTo>
                  <a:lnTo>
                    <a:pt x="21600" y="21595"/>
                  </a:lnTo>
                  <a:close/>
                </a:path>
              </a:pathLst>
            </a:custGeom>
            <a:noFill/>
            <a:ln w="19050">
              <a:solidFill>
                <a:schemeClr val="tx1"/>
              </a:solidFill>
              <a:round/>
              <a:headEnd type="none" w="sm" len="sm"/>
              <a:tailEnd type="none" w="sm" len="sm"/>
            </a:ln>
          </p:spPr>
          <p:txBody>
            <a:bodyPr wrap="none" anchor="ct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145" name="Rectangle 105"/>
            <p:cNvSpPr>
              <a:spLocks noChangeArrowheads="1"/>
            </p:cNvSpPr>
            <p:nvPr/>
          </p:nvSpPr>
          <p:spPr bwMode="auto">
            <a:xfrm>
              <a:off x="998" y="2947"/>
              <a:ext cx="21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000" i="1" dirty="0">
                  <a:latin typeface="Times New Roman" panose="02020603050405020304" pitchFamily="18" charset="0"/>
                  <a:ea typeface="华文楷体" panose="02010600040101010101" pitchFamily="2" charset="-122"/>
                  <a:cs typeface="Times New Roman" panose="02020603050405020304" pitchFamily="18" charset="0"/>
                </a:rPr>
                <a:t>A</a:t>
              </a:r>
            </a:p>
          </p:txBody>
        </p:sp>
        <p:graphicFrame>
          <p:nvGraphicFramePr>
            <p:cNvPr id="146" name="Object 106"/>
            <p:cNvGraphicFramePr>
              <a:graphicFrameLocks/>
            </p:cNvGraphicFramePr>
            <p:nvPr>
              <p:extLst>
                <p:ext uri="{D42A27DB-BD31-4B8C-83A1-F6EECF244321}">
                  <p14:modId xmlns:p14="http://schemas.microsoft.com/office/powerpoint/2010/main" val="3233664970"/>
                </p:ext>
              </p:extLst>
            </p:nvPr>
          </p:nvGraphicFramePr>
          <p:xfrm>
            <a:off x="783" y="3147"/>
            <a:ext cx="265" cy="203"/>
          </p:xfrm>
          <a:graphic>
            <a:graphicData uri="http://schemas.openxmlformats.org/presentationml/2006/ole">
              <mc:AlternateContent xmlns:mc="http://schemas.openxmlformats.org/markup-compatibility/2006">
                <mc:Choice xmlns:v="urn:schemas-microsoft-com:vml" Requires="v">
                  <p:oleObj name="Equation" r:id="rId16" imgW="259112" imgH="205848" progId="Equation.3">
                    <p:embed/>
                  </p:oleObj>
                </mc:Choice>
                <mc:Fallback>
                  <p:oleObj name="Equation" r:id="rId16" imgW="259112" imgH="205848" progId="Equation.3">
                    <p:embed/>
                    <p:pic>
                      <p:nvPicPr>
                        <p:cNvPr id="0" name=""/>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83" y="3147"/>
                          <a:ext cx="265" cy="203"/>
                        </a:xfrm>
                        <a:prstGeom prst="rect">
                          <a:avLst/>
                        </a:prstGeom>
                        <a:noFill/>
                        <a:ln>
                          <a:noFill/>
                        </a:ln>
                        <a:effectLst/>
                      </p:spPr>
                    </p:pic>
                  </p:oleObj>
                </mc:Fallback>
              </mc:AlternateContent>
            </a:graphicData>
          </a:graphic>
        </p:graphicFrame>
      </p:grpSp>
      <p:graphicFrame>
        <p:nvGraphicFramePr>
          <p:cNvPr id="147" name="Object 31"/>
          <p:cNvGraphicFramePr>
            <a:graphicFrameLocks noChangeAspect="1"/>
          </p:cNvGraphicFramePr>
          <p:nvPr>
            <p:extLst>
              <p:ext uri="{D42A27DB-BD31-4B8C-83A1-F6EECF244321}">
                <p14:modId xmlns:p14="http://schemas.microsoft.com/office/powerpoint/2010/main" val="3046386156"/>
              </p:ext>
            </p:extLst>
          </p:nvPr>
        </p:nvGraphicFramePr>
        <p:xfrm>
          <a:off x="2662599" y="3101112"/>
          <a:ext cx="357871" cy="293966"/>
        </p:xfrm>
        <a:graphic>
          <a:graphicData uri="http://schemas.openxmlformats.org/presentationml/2006/ole">
            <mc:AlternateContent xmlns:mc="http://schemas.openxmlformats.org/markup-compatibility/2006">
              <mc:Choice xmlns:v="urn:schemas-microsoft-com:vml" Requires="v">
                <p:oleObj name="Equation" r:id="rId18" imgW="215640" imgH="177480" progId="Equation.DSMT4">
                  <p:embed/>
                </p:oleObj>
              </mc:Choice>
              <mc:Fallback>
                <p:oleObj name="Equation" r:id="rId18" imgW="215640" imgH="177480" progId="Equation.DSMT4">
                  <p:embed/>
                  <p:pic>
                    <p:nvPicPr>
                      <p:cNvPr id="0" name=""/>
                      <p:cNvPicPr>
                        <a:picLocks noChangeAspect="1" noChangeArrowheads="1"/>
                      </p:cNvPicPr>
                      <p:nvPr/>
                    </p:nvPicPr>
                    <p:blipFill>
                      <a:blip r:embed="rId19"/>
                      <a:srcRect/>
                      <a:stretch>
                        <a:fillRect/>
                      </a:stretch>
                    </p:blipFill>
                    <p:spPr bwMode="auto">
                      <a:xfrm>
                        <a:off x="2662599" y="3101112"/>
                        <a:ext cx="357871" cy="293966"/>
                      </a:xfrm>
                      <a:prstGeom prst="rect">
                        <a:avLst/>
                      </a:prstGeom>
                      <a:solidFill>
                        <a:schemeClr val="accent1"/>
                      </a:solidFill>
                      <a:ln>
                        <a:noFill/>
                      </a:ln>
                      <a:effectLst/>
                    </p:spPr>
                  </p:pic>
                </p:oleObj>
              </mc:Fallback>
            </mc:AlternateContent>
          </a:graphicData>
        </a:graphic>
      </p:graphicFrame>
      <p:graphicFrame>
        <p:nvGraphicFramePr>
          <p:cNvPr id="148" name="Object 31"/>
          <p:cNvGraphicFramePr>
            <a:graphicFrameLocks noChangeAspect="1"/>
          </p:cNvGraphicFramePr>
          <p:nvPr>
            <p:extLst>
              <p:ext uri="{D42A27DB-BD31-4B8C-83A1-F6EECF244321}">
                <p14:modId xmlns:p14="http://schemas.microsoft.com/office/powerpoint/2010/main" val="3590875336"/>
              </p:ext>
            </p:extLst>
          </p:nvPr>
        </p:nvGraphicFramePr>
        <p:xfrm>
          <a:off x="2227982" y="4077359"/>
          <a:ext cx="340662" cy="320384"/>
        </p:xfrm>
        <a:graphic>
          <a:graphicData uri="http://schemas.openxmlformats.org/presentationml/2006/ole">
            <mc:AlternateContent xmlns:mc="http://schemas.openxmlformats.org/markup-compatibility/2006">
              <mc:Choice xmlns:v="urn:schemas-microsoft-com:vml" Requires="v">
                <p:oleObj name="Equation" r:id="rId20" imgW="215640" imgH="203040" progId="Equation.DSMT4">
                  <p:embed/>
                </p:oleObj>
              </mc:Choice>
              <mc:Fallback>
                <p:oleObj name="Equation" r:id="rId20" imgW="215640" imgH="203040" progId="Equation.DSMT4">
                  <p:embed/>
                  <p:pic>
                    <p:nvPicPr>
                      <p:cNvPr id="0" name=""/>
                      <p:cNvPicPr>
                        <a:picLocks noChangeAspect="1" noChangeArrowheads="1"/>
                      </p:cNvPicPr>
                      <p:nvPr/>
                    </p:nvPicPr>
                    <p:blipFill>
                      <a:blip r:embed="rId21"/>
                      <a:srcRect/>
                      <a:stretch>
                        <a:fillRect/>
                      </a:stretch>
                    </p:blipFill>
                    <p:spPr bwMode="auto">
                      <a:xfrm>
                        <a:off x="2227982" y="4077359"/>
                        <a:ext cx="340662" cy="320384"/>
                      </a:xfrm>
                      <a:prstGeom prst="rect">
                        <a:avLst/>
                      </a:prstGeom>
                      <a:solidFill>
                        <a:schemeClr val="accent1"/>
                      </a:solidFill>
                      <a:ln>
                        <a:noFill/>
                      </a:ln>
                      <a:effectLst/>
                    </p:spPr>
                  </p:pic>
                </p:oleObj>
              </mc:Fallback>
            </mc:AlternateContent>
          </a:graphicData>
        </a:graphic>
      </p:graphicFrame>
      <p:graphicFrame>
        <p:nvGraphicFramePr>
          <p:cNvPr id="152" name="Object 89"/>
          <p:cNvGraphicFramePr>
            <a:graphicFrameLocks noChangeAspect="1"/>
          </p:cNvGraphicFramePr>
          <p:nvPr>
            <p:extLst>
              <p:ext uri="{D42A27DB-BD31-4B8C-83A1-F6EECF244321}">
                <p14:modId xmlns:p14="http://schemas.microsoft.com/office/powerpoint/2010/main" val="1720912729"/>
              </p:ext>
            </p:extLst>
          </p:nvPr>
        </p:nvGraphicFramePr>
        <p:xfrm>
          <a:off x="3953635" y="4262074"/>
          <a:ext cx="2559050" cy="479425"/>
        </p:xfrm>
        <a:graphic>
          <a:graphicData uri="http://schemas.openxmlformats.org/presentationml/2006/ole">
            <mc:AlternateContent xmlns:mc="http://schemas.openxmlformats.org/markup-compatibility/2006">
              <mc:Choice xmlns:v="urn:schemas-microsoft-com:vml" Requires="v">
                <p:oleObj name="Equation" r:id="rId22" imgW="1218960" imgH="228600" progId="Equation.DSMT4">
                  <p:embed/>
                </p:oleObj>
              </mc:Choice>
              <mc:Fallback>
                <p:oleObj name="Equation" r:id="rId22" imgW="1218960" imgH="228600" progId="Equation.DSMT4">
                  <p:embed/>
                  <p:pic>
                    <p:nvPicPr>
                      <p:cNvPr id="0" name=""/>
                      <p:cNvPicPr>
                        <a:picLocks noChangeAspect="1" noChangeArrowheads="1"/>
                      </p:cNvPicPr>
                      <p:nvPr/>
                    </p:nvPicPr>
                    <p:blipFill>
                      <a:blip r:embed="rId23"/>
                      <a:srcRect/>
                      <a:stretch>
                        <a:fillRect/>
                      </a:stretch>
                    </p:blipFill>
                    <p:spPr bwMode="auto">
                      <a:xfrm>
                        <a:off x="3953635" y="4262074"/>
                        <a:ext cx="2559050" cy="479425"/>
                      </a:xfrm>
                      <a:prstGeom prst="rect">
                        <a:avLst/>
                      </a:prstGeom>
                      <a:noFill/>
                      <a:ln>
                        <a:noFill/>
                      </a:ln>
                      <a:effectLst/>
                    </p:spPr>
                  </p:pic>
                </p:oleObj>
              </mc:Fallback>
            </mc:AlternateContent>
          </a:graphicData>
        </a:graphic>
      </p:graphicFrame>
      <p:graphicFrame>
        <p:nvGraphicFramePr>
          <p:cNvPr id="153" name="Object 89"/>
          <p:cNvGraphicFramePr>
            <a:graphicFrameLocks noChangeAspect="1"/>
          </p:cNvGraphicFramePr>
          <p:nvPr>
            <p:extLst>
              <p:ext uri="{D42A27DB-BD31-4B8C-83A1-F6EECF244321}">
                <p14:modId xmlns:p14="http://schemas.microsoft.com/office/powerpoint/2010/main" val="40933594"/>
              </p:ext>
            </p:extLst>
          </p:nvPr>
        </p:nvGraphicFramePr>
        <p:xfrm>
          <a:off x="3691684" y="4709703"/>
          <a:ext cx="3287713" cy="485775"/>
        </p:xfrm>
        <a:graphic>
          <a:graphicData uri="http://schemas.openxmlformats.org/presentationml/2006/ole">
            <mc:AlternateContent xmlns:mc="http://schemas.openxmlformats.org/markup-compatibility/2006">
              <mc:Choice xmlns:v="urn:schemas-microsoft-com:vml" Requires="v">
                <p:oleObj name="Equation" r:id="rId24" imgW="1549080" imgH="228600" progId="Equation.DSMT4">
                  <p:embed/>
                </p:oleObj>
              </mc:Choice>
              <mc:Fallback>
                <p:oleObj name="Equation" r:id="rId24" imgW="1549080" imgH="228600" progId="Equation.DSMT4">
                  <p:embed/>
                  <p:pic>
                    <p:nvPicPr>
                      <p:cNvPr id="0" name=""/>
                      <p:cNvPicPr>
                        <a:picLocks noChangeAspect="1" noChangeArrowheads="1"/>
                      </p:cNvPicPr>
                      <p:nvPr/>
                    </p:nvPicPr>
                    <p:blipFill>
                      <a:blip r:embed="rId25"/>
                      <a:srcRect/>
                      <a:stretch>
                        <a:fillRect/>
                      </a:stretch>
                    </p:blipFill>
                    <p:spPr bwMode="auto">
                      <a:xfrm>
                        <a:off x="3691684" y="4709703"/>
                        <a:ext cx="3287713" cy="485775"/>
                      </a:xfrm>
                      <a:prstGeom prst="rect">
                        <a:avLst/>
                      </a:prstGeom>
                      <a:noFill/>
                      <a:ln>
                        <a:noFill/>
                      </a:ln>
                      <a:effectLst/>
                    </p:spPr>
                  </p:pic>
                </p:oleObj>
              </mc:Fallback>
            </mc:AlternateContent>
          </a:graphicData>
        </a:graphic>
      </p:graphicFrame>
      <p:graphicFrame>
        <p:nvGraphicFramePr>
          <p:cNvPr id="154" name="Object 89"/>
          <p:cNvGraphicFramePr>
            <a:graphicFrameLocks noChangeAspect="1"/>
          </p:cNvGraphicFramePr>
          <p:nvPr>
            <p:extLst>
              <p:ext uri="{D42A27DB-BD31-4B8C-83A1-F6EECF244321}">
                <p14:modId xmlns:p14="http://schemas.microsoft.com/office/powerpoint/2010/main" val="653549249"/>
              </p:ext>
            </p:extLst>
          </p:nvPr>
        </p:nvGraphicFramePr>
        <p:xfrm>
          <a:off x="4322715" y="5266241"/>
          <a:ext cx="2025650" cy="425450"/>
        </p:xfrm>
        <a:graphic>
          <a:graphicData uri="http://schemas.openxmlformats.org/presentationml/2006/ole">
            <mc:AlternateContent xmlns:mc="http://schemas.openxmlformats.org/markup-compatibility/2006">
              <mc:Choice xmlns:v="urn:schemas-microsoft-com:vml" Requires="v">
                <p:oleObj name="Equation" r:id="rId26" imgW="965160" imgH="203040" progId="Equation.DSMT4">
                  <p:embed/>
                </p:oleObj>
              </mc:Choice>
              <mc:Fallback>
                <p:oleObj name="Equation" r:id="rId26" imgW="965160" imgH="203040" progId="Equation.DSMT4">
                  <p:embed/>
                  <p:pic>
                    <p:nvPicPr>
                      <p:cNvPr id="0" name=""/>
                      <p:cNvPicPr>
                        <a:picLocks noChangeAspect="1" noChangeArrowheads="1"/>
                      </p:cNvPicPr>
                      <p:nvPr/>
                    </p:nvPicPr>
                    <p:blipFill>
                      <a:blip r:embed="rId27"/>
                      <a:srcRect/>
                      <a:stretch>
                        <a:fillRect/>
                      </a:stretch>
                    </p:blipFill>
                    <p:spPr bwMode="auto">
                      <a:xfrm>
                        <a:off x="4322715" y="5266241"/>
                        <a:ext cx="2025650" cy="425450"/>
                      </a:xfrm>
                      <a:prstGeom prst="rect">
                        <a:avLst/>
                      </a:prstGeom>
                      <a:noFill/>
                      <a:ln>
                        <a:noFill/>
                      </a:ln>
                      <a:effectLst/>
                    </p:spPr>
                  </p:pic>
                </p:oleObj>
              </mc:Fallback>
            </mc:AlternateContent>
          </a:graphicData>
        </a:graphic>
      </p:graphicFrame>
      <p:graphicFrame>
        <p:nvGraphicFramePr>
          <p:cNvPr id="155" name="Object 97"/>
          <p:cNvGraphicFramePr>
            <a:graphicFrameLocks noChangeAspect="1"/>
          </p:cNvGraphicFramePr>
          <p:nvPr>
            <p:extLst>
              <p:ext uri="{D42A27DB-BD31-4B8C-83A1-F6EECF244321}">
                <p14:modId xmlns:p14="http://schemas.microsoft.com/office/powerpoint/2010/main" val="2079654857"/>
              </p:ext>
            </p:extLst>
          </p:nvPr>
        </p:nvGraphicFramePr>
        <p:xfrm>
          <a:off x="3830185" y="5710271"/>
          <a:ext cx="4076700" cy="571500"/>
        </p:xfrm>
        <a:graphic>
          <a:graphicData uri="http://schemas.openxmlformats.org/presentationml/2006/ole">
            <mc:AlternateContent xmlns:mc="http://schemas.openxmlformats.org/markup-compatibility/2006">
              <mc:Choice xmlns:v="urn:schemas-microsoft-com:vml" Requires="v">
                <p:oleObj name="Equation" r:id="rId28" imgW="1993680" imgH="279360" progId="Equation.DSMT4">
                  <p:embed/>
                </p:oleObj>
              </mc:Choice>
              <mc:Fallback>
                <p:oleObj name="Equation" r:id="rId28" imgW="1993680" imgH="279360" progId="Equation.DSMT4">
                  <p:embed/>
                  <p:pic>
                    <p:nvPicPr>
                      <p:cNvPr id="0" name=""/>
                      <p:cNvPicPr>
                        <a:picLocks noChangeAspect="1" noChangeArrowheads="1"/>
                      </p:cNvPicPr>
                      <p:nvPr/>
                    </p:nvPicPr>
                    <p:blipFill>
                      <a:blip r:embed="rId29"/>
                      <a:srcRect/>
                      <a:stretch>
                        <a:fillRect/>
                      </a:stretch>
                    </p:blipFill>
                    <p:spPr bwMode="auto">
                      <a:xfrm>
                        <a:off x="3830185" y="5710271"/>
                        <a:ext cx="40767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组合 1"/>
          <p:cNvGrpSpPr/>
          <p:nvPr/>
        </p:nvGrpSpPr>
        <p:grpSpPr>
          <a:xfrm>
            <a:off x="427493" y="3209424"/>
            <a:ext cx="1525587" cy="2030413"/>
            <a:chOff x="7579589" y="4577174"/>
            <a:chExt cx="1525587" cy="2030413"/>
          </a:xfrm>
        </p:grpSpPr>
        <p:grpSp>
          <p:nvGrpSpPr>
            <p:cNvPr id="95" name="Group 93"/>
            <p:cNvGrpSpPr>
              <a:grpSpLocks/>
            </p:cNvGrpSpPr>
            <p:nvPr/>
          </p:nvGrpSpPr>
          <p:grpSpPr bwMode="auto">
            <a:xfrm>
              <a:off x="7579589" y="4577174"/>
              <a:ext cx="1525587" cy="2030413"/>
              <a:chOff x="464" y="2880"/>
              <a:chExt cx="961" cy="1279"/>
            </a:xfrm>
          </p:grpSpPr>
          <p:sp>
            <p:nvSpPr>
              <p:cNvPr id="97" name="Rectangle 94"/>
              <p:cNvSpPr>
                <a:spLocks noChangeArrowheads="1"/>
              </p:cNvSpPr>
              <p:nvPr/>
            </p:nvSpPr>
            <p:spPr bwMode="auto">
              <a:xfrm>
                <a:off x="566" y="3907"/>
                <a:ext cx="256" cy="252"/>
              </a:xfrm>
              <a:prstGeom prst="rect">
                <a:avLst/>
              </a:prstGeom>
              <a:noFill/>
              <a:ln w="9525">
                <a:noFill/>
                <a:miter lim="800000"/>
                <a:headEnd/>
                <a:tailEnd/>
              </a:ln>
            </p:spPr>
            <p:txBody>
              <a:bodyPr wrap="none" lIns="92075" tIns="46038" rIns="92075" bIns="46038">
                <a:spAutoFit/>
              </a:bodyPr>
              <a:lstStyle/>
              <a:p>
                <a:pPr eaLnBrk="0" hangingPunct="0">
                  <a:defRPr/>
                </a:pPr>
                <a:r>
                  <a:rPr kumimoji="1" lang="en-US" altLang="zh-CN" sz="2000" i="1" dirty="0">
                    <a:solidFill>
                      <a:srgbClr val="FF0000"/>
                    </a:solidFill>
                    <a:latin typeface="Times New Roman" pitchFamily="18" charset="0"/>
                    <a:ea typeface="华文楷体" pitchFamily="2" charset="-122"/>
                    <a:cs typeface="Times New Roman" pitchFamily="18" charset="0"/>
                  </a:rPr>
                  <a:t>A</a:t>
                </a:r>
                <a:r>
                  <a:rPr kumimoji="1" lang="en-US" altLang="zh-CN" sz="2000" b="1" dirty="0">
                    <a:solidFill>
                      <a:srgbClr val="FF0000"/>
                    </a:solidFill>
                    <a:latin typeface="Times New Roman" pitchFamily="18" charset="0"/>
                    <a:ea typeface="华文楷体" pitchFamily="2" charset="-122"/>
                    <a:cs typeface="Times New Roman" pitchFamily="18" charset="0"/>
                    <a:sym typeface="Symbol" panose="05050102010706020507" pitchFamily="18" charset="2"/>
                  </a:rPr>
                  <a:t></a:t>
                </a:r>
                <a:endParaRPr kumimoji="1" lang="en-US" altLang="zh-CN" sz="2000" b="1" dirty="0">
                  <a:solidFill>
                    <a:srgbClr val="FF0000"/>
                  </a:solidFill>
                  <a:latin typeface="Times New Roman" pitchFamily="18" charset="0"/>
                  <a:ea typeface="华文楷体" pitchFamily="2" charset="-122"/>
                  <a:cs typeface="Times New Roman" pitchFamily="18" charset="0"/>
                </a:endParaRPr>
              </a:p>
            </p:txBody>
          </p:sp>
          <p:sp>
            <p:nvSpPr>
              <p:cNvPr id="105" name="Line 95"/>
              <p:cNvSpPr>
                <a:spLocks noChangeShapeType="1"/>
              </p:cNvSpPr>
              <p:nvPr/>
            </p:nvSpPr>
            <p:spPr bwMode="auto">
              <a:xfrm>
                <a:off x="1057" y="3163"/>
                <a:ext cx="247" cy="131"/>
              </a:xfrm>
              <a:prstGeom prst="line">
                <a:avLst/>
              </a:prstGeom>
              <a:noFill/>
              <a:ln w="22225">
                <a:solidFill>
                  <a:srgbClr val="0000FF"/>
                </a:solidFill>
                <a:round/>
                <a:headEnd type="none" w="sm" len="sm"/>
                <a:tailEnd type="none" w="sm" len="sm"/>
              </a:ln>
            </p:spPr>
            <p:txBody>
              <a:bodyPr wrap="none" anchor="ct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106" name="Line 96"/>
              <p:cNvSpPr>
                <a:spLocks noChangeShapeType="1"/>
              </p:cNvSpPr>
              <p:nvPr/>
            </p:nvSpPr>
            <p:spPr bwMode="auto">
              <a:xfrm flipH="1">
                <a:off x="812" y="3163"/>
                <a:ext cx="245" cy="0"/>
              </a:xfrm>
              <a:prstGeom prst="line">
                <a:avLst/>
              </a:prstGeom>
              <a:noFill/>
              <a:ln w="22225">
                <a:solidFill>
                  <a:srgbClr val="FF0000"/>
                </a:solidFill>
                <a:round/>
                <a:headEnd type="none" w="sm" len="sm"/>
                <a:tailEnd type="none" w="sm" len="sm"/>
              </a:ln>
            </p:spPr>
            <p:txBody>
              <a:bodyPr wrap="none" anchor="ct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107" name="Line 97"/>
              <p:cNvSpPr>
                <a:spLocks noChangeShapeType="1"/>
              </p:cNvSpPr>
              <p:nvPr/>
            </p:nvSpPr>
            <p:spPr bwMode="auto">
              <a:xfrm>
                <a:off x="812" y="3163"/>
                <a:ext cx="0" cy="917"/>
              </a:xfrm>
              <a:prstGeom prst="line">
                <a:avLst/>
              </a:prstGeom>
              <a:noFill/>
              <a:ln w="19050">
                <a:solidFill>
                  <a:schemeClr val="tx2"/>
                </a:solidFill>
                <a:round/>
                <a:headEnd type="none" w="sm" len="sm"/>
                <a:tailEnd type="none" w="sm" len="sm"/>
              </a:ln>
            </p:spPr>
            <p:txBody>
              <a:bodyPr wrap="none" anchor="ct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110" name="Line 98"/>
              <p:cNvSpPr>
                <a:spLocks noChangeShapeType="1"/>
              </p:cNvSpPr>
              <p:nvPr/>
            </p:nvSpPr>
            <p:spPr bwMode="auto">
              <a:xfrm flipH="1">
                <a:off x="812" y="3294"/>
                <a:ext cx="492" cy="786"/>
              </a:xfrm>
              <a:prstGeom prst="line">
                <a:avLst/>
              </a:prstGeom>
              <a:noFill/>
              <a:ln w="19050">
                <a:solidFill>
                  <a:schemeClr val="tx2"/>
                </a:solidFill>
                <a:round/>
                <a:headEnd type="none" w="sm" len="sm"/>
                <a:tailEnd type="none" w="sm" len="sm"/>
              </a:ln>
            </p:spPr>
            <p:txBody>
              <a:bodyPr wrap="none" anchor="ct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graphicFrame>
            <p:nvGraphicFramePr>
              <p:cNvPr id="111" name="Object 99"/>
              <p:cNvGraphicFramePr>
                <a:graphicFrameLocks/>
              </p:cNvGraphicFramePr>
              <p:nvPr>
                <p:extLst>
                  <p:ext uri="{D42A27DB-BD31-4B8C-83A1-F6EECF244321}">
                    <p14:modId xmlns:p14="http://schemas.microsoft.com/office/powerpoint/2010/main" val="1826793322"/>
                  </p:ext>
                </p:extLst>
              </p:nvPr>
            </p:nvGraphicFramePr>
            <p:xfrm>
              <a:off x="1159" y="3051"/>
              <a:ext cx="266" cy="201"/>
            </p:xfrm>
            <a:graphic>
              <a:graphicData uri="http://schemas.openxmlformats.org/presentationml/2006/ole">
                <mc:AlternateContent xmlns:mc="http://schemas.openxmlformats.org/markup-compatibility/2006">
                  <mc:Choice xmlns:v="urn:schemas-microsoft-com:vml" Requires="v">
                    <p:oleObj name="Equation" r:id="rId12" imgW="259112" imgH="205848" progId="Equation.3">
                      <p:embed/>
                    </p:oleObj>
                  </mc:Choice>
                  <mc:Fallback>
                    <p:oleObj name="Equation" r:id="rId12" imgW="259112" imgH="205848" progId="Equation.3">
                      <p:embed/>
                      <p:pic>
                        <p:nvPicPr>
                          <p:cNvPr id="0" name=""/>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59" y="3051"/>
                            <a:ext cx="266" cy="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2" name="Line 100"/>
              <p:cNvSpPr>
                <a:spLocks noChangeShapeType="1"/>
              </p:cNvSpPr>
              <p:nvPr/>
            </p:nvSpPr>
            <p:spPr bwMode="auto">
              <a:xfrm flipH="1">
                <a:off x="816" y="3168"/>
                <a:ext cx="240" cy="912"/>
              </a:xfrm>
              <a:prstGeom prst="line">
                <a:avLst/>
              </a:prstGeom>
              <a:noFill/>
              <a:ln w="19050">
                <a:solidFill>
                  <a:schemeClr val="tx1"/>
                </a:solidFill>
                <a:round/>
                <a:headEnd type="none" w="sm" len="sm"/>
                <a:tailEnd type="none" w="sm" len="sm"/>
              </a:ln>
            </p:spPr>
            <p:txBody>
              <a:bodyPr wrap="none" anchor="ct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113" name="Line 101"/>
              <p:cNvSpPr>
                <a:spLocks noChangeShapeType="1"/>
              </p:cNvSpPr>
              <p:nvPr/>
            </p:nvSpPr>
            <p:spPr bwMode="auto">
              <a:xfrm flipH="1" flipV="1">
                <a:off x="528" y="2880"/>
                <a:ext cx="507" cy="265"/>
              </a:xfrm>
              <a:prstGeom prst="line">
                <a:avLst/>
              </a:prstGeom>
              <a:noFill/>
              <a:ln w="12700">
                <a:solidFill>
                  <a:schemeClr val="tx1"/>
                </a:solidFill>
                <a:prstDash val="sysDot"/>
                <a:round/>
                <a:headEnd type="none" w="sm" len="sm"/>
                <a:tailEnd type="none" w="sm" len="sm"/>
              </a:ln>
            </p:spPr>
            <p:txBody>
              <a:bodyPr wrap="none" anchor="ct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114" name="Line 102"/>
              <p:cNvSpPr>
                <a:spLocks noChangeShapeType="1"/>
              </p:cNvSpPr>
              <p:nvPr/>
            </p:nvSpPr>
            <p:spPr bwMode="auto">
              <a:xfrm flipH="1">
                <a:off x="464" y="3168"/>
                <a:ext cx="336" cy="0"/>
              </a:xfrm>
              <a:prstGeom prst="line">
                <a:avLst/>
              </a:prstGeom>
              <a:noFill/>
              <a:ln w="12700">
                <a:solidFill>
                  <a:schemeClr val="tx1"/>
                </a:solidFill>
                <a:prstDash val="sysDot"/>
                <a:round/>
                <a:headEnd type="none" w="sm" len="sm"/>
                <a:tailEnd type="none" w="sm" len="sm"/>
              </a:ln>
            </p:spPr>
            <p:txBody>
              <a:bodyPr wrap="none" anchor="ct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117" name="Rectangle 105"/>
              <p:cNvSpPr>
                <a:spLocks noChangeArrowheads="1"/>
              </p:cNvSpPr>
              <p:nvPr/>
            </p:nvSpPr>
            <p:spPr bwMode="auto">
              <a:xfrm>
                <a:off x="998" y="2947"/>
                <a:ext cx="21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000" i="1" dirty="0">
                    <a:latin typeface="Times New Roman" panose="02020603050405020304" pitchFamily="18" charset="0"/>
                    <a:ea typeface="华文楷体" panose="02010600040101010101" pitchFamily="2" charset="-122"/>
                    <a:cs typeface="Times New Roman" panose="02020603050405020304" pitchFamily="18" charset="0"/>
                  </a:rPr>
                  <a:t>A</a:t>
                </a:r>
              </a:p>
            </p:txBody>
          </p:sp>
          <p:graphicFrame>
            <p:nvGraphicFramePr>
              <p:cNvPr id="118" name="Object 106"/>
              <p:cNvGraphicFramePr>
                <a:graphicFrameLocks/>
              </p:cNvGraphicFramePr>
              <p:nvPr>
                <p:extLst>
                  <p:ext uri="{D42A27DB-BD31-4B8C-83A1-F6EECF244321}">
                    <p14:modId xmlns:p14="http://schemas.microsoft.com/office/powerpoint/2010/main" val="422825035"/>
                  </p:ext>
                </p:extLst>
              </p:nvPr>
            </p:nvGraphicFramePr>
            <p:xfrm>
              <a:off x="783" y="3147"/>
              <a:ext cx="265" cy="203"/>
            </p:xfrm>
            <a:graphic>
              <a:graphicData uri="http://schemas.openxmlformats.org/presentationml/2006/ole">
                <mc:AlternateContent xmlns:mc="http://schemas.openxmlformats.org/markup-compatibility/2006">
                  <mc:Choice xmlns:v="urn:schemas-microsoft-com:vml" Requires="v">
                    <p:oleObj name="Equation" r:id="rId16" imgW="259112" imgH="205848" progId="Equation.3">
                      <p:embed/>
                    </p:oleObj>
                  </mc:Choice>
                  <mc:Fallback>
                    <p:oleObj name="Equation" r:id="rId16" imgW="259112" imgH="205848" progId="Equation.3">
                      <p:embed/>
                      <p:pic>
                        <p:nvPicPr>
                          <p:cNvPr id="0" name=""/>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83" y="3147"/>
                            <a:ext cx="265" cy="203"/>
                          </a:xfrm>
                          <a:prstGeom prst="rect">
                            <a:avLst/>
                          </a:prstGeom>
                          <a:noFill/>
                          <a:ln>
                            <a:noFill/>
                          </a:ln>
                          <a:effectLst/>
                        </p:spPr>
                      </p:pic>
                    </p:oleObj>
                  </mc:Fallback>
                </mc:AlternateContent>
              </a:graphicData>
            </a:graphic>
          </p:graphicFrame>
        </p:grpSp>
        <p:graphicFrame>
          <p:nvGraphicFramePr>
            <p:cNvPr id="119" name="Object 31"/>
            <p:cNvGraphicFramePr>
              <a:graphicFrameLocks noChangeAspect="1"/>
            </p:cNvGraphicFramePr>
            <p:nvPr>
              <p:extLst>
                <p:ext uri="{D42A27DB-BD31-4B8C-83A1-F6EECF244321}">
                  <p14:modId xmlns:p14="http://schemas.microsoft.com/office/powerpoint/2010/main" val="3170172663"/>
                </p:ext>
              </p:extLst>
            </p:nvPr>
          </p:nvGraphicFramePr>
          <p:xfrm>
            <a:off x="8114389" y="4703896"/>
            <a:ext cx="357871" cy="293966"/>
          </p:xfrm>
          <a:graphic>
            <a:graphicData uri="http://schemas.openxmlformats.org/presentationml/2006/ole">
              <mc:AlternateContent xmlns:mc="http://schemas.openxmlformats.org/markup-compatibility/2006">
                <mc:Choice xmlns:v="urn:schemas-microsoft-com:vml" Requires="v">
                  <p:oleObj name="Equation" r:id="rId18" imgW="215640" imgH="177480" progId="Equation.DSMT4">
                    <p:embed/>
                  </p:oleObj>
                </mc:Choice>
                <mc:Fallback>
                  <p:oleObj name="Equation" r:id="rId18" imgW="215640" imgH="177480" progId="Equation.DSMT4">
                    <p:embed/>
                    <p:pic>
                      <p:nvPicPr>
                        <p:cNvPr id="0" name=""/>
                        <p:cNvPicPr>
                          <a:picLocks noChangeAspect="1" noChangeArrowheads="1"/>
                        </p:cNvPicPr>
                        <p:nvPr/>
                      </p:nvPicPr>
                      <p:blipFill>
                        <a:blip r:embed="rId19"/>
                        <a:srcRect/>
                        <a:stretch>
                          <a:fillRect/>
                        </a:stretch>
                      </p:blipFill>
                      <p:spPr bwMode="auto">
                        <a:xfrm>
                          <a:off x="8114389" y="4703896"/>
                          <a:ext cx="357871" cy="293966"/>
                        </a:xfrm>
                        <a:prstGeom prst="rect">
                          <a:avLst/>
                        </a:prstGeom>
                        <a:solidFill>
                          <a:schemeClr val="accent1"/>
                        </a:solidFill>
                        <a:ln>
                          <a:noFill/>
                        </a:ln>
                        <a:effectLst/>
                      </p:spPr>
                    </p:pic>
                  </p:oleObj>
                </mc:Fallback>
              </mc:AlternateContent>
            </a:graphicData>
          </a:graphic>
        </p:graphicFrame>
        <p:graphicFrame>
          <p:nvGraphicFramePr>
            <p:cNvPr id="120" name="Object 31"/>
            <p:cNvGraphicFramePr>
              <a:graphicFrameLocks noChangeAspect="1"/>
            </p:cNvGraphicFramePr>
            <p:nvPr>
              <p:extLst>
                <p:ext uri="{D42A27DB-BD31-4B8C-83A1-F6EECF244321}">
                  <p14:modId xmlns:p14="http://schemas.microsoft.com/office/powerpoint/2010/main" val="1525438774"/>
                </p:ext>
              </p:extLst>
            </p:nvPr>
          </p:nvGraphicFramePr>
          <p:xfrm>
            <a:off x="7765443" y="5551274"/>
            <a:ext cx="340662" cy="320384"/>
          </p:xfrm>
          <a:graphic>
            <a:graphicData uri="http://schemas.openxmlformats.org/presentationml/2006/ole">
              <mc:AlternateContent xmlns:mc="http://schemas.openxmlformats.org/markup-compatibility/2006">
                <mc:Choice xmlns:v="urn:schemas-microsoft-com:vml" Requires="v">
                  <p:oleObj name="Equation" r:id="rId20" imgW="215640" imgH="203040" progId="Equation.DSMT4">
                    <p:embed/>
                  </p:oleObj>
                </mc:Choice>
                <mc:Fallback>
                  <p:oleObj name="Equation" r:id="rId20" imgW="215640" imgH="203040" progId="Equation.DSMT4">
                    <p:embed/>
                    <p:pic>
                      <p:nvPicPr>
                        <p:cNvPr id="0" name=""/>
                        <p:cNvPicPr>
                          <a:picLocks noChangeAspect="1" noChangeArrowheads="1"/>
                        </p:cNvPicPr>
                        <p:nvPr/>
                      </p:nvPicPr>
                      <p:blipFill>
                        <a:blip r:embed="rId21"/>
                        <a:srcRect/>
                        <a:stretch>
                          <a:fillRect/>
                        </a:stretch>
                      </p:blipFill>
                      <p:spPr bwMode="auto">
                        <a:xfrm>
                          <a:off x="7765443" y="5551274"/>
                          <a:ext cx="340662" cy="320384"/>
                        </a:xfrm>
                        <a:prstGeom prst="rect">
                          <a:avLst/>
                        </a:prstGeom>
                        <a:solidFill>
                          <a:schemeClr val="accent1"/>
                        </a:solidFill>
                        <a:ln>
                          <a:noFill/>
                        </a:ln>
                        <a:effectLst/>
                      </p:spPr>
                    </p:pic>
                  </p:oleObj>
                </mc:Fallback>
              </mc:AlternateContent>
            </a:graphicData>
          </a:graphic>
        </p:graphicFrame>
      </p:grpSp>
      <p:graphicFrame>
        <p:nvGraphicFramePr>
          <p:cNvPr id="150" name="Object 89"/>
          <p:cNvGraphicFramePr>
            <a:graphicFrameLocks noChangeAspect="1"/>
          </p:cNvGraphicFramePr>
          <p:nvPr>
            <p:extLst>
              <p:ext uri="{D42A27DB-BD31-4B8C-83A1-F6EECF244321}">
                <p14:modId xmlns:p14="http://schemas.microsoft.com/office/powerpoint/2010/main" val="1838293767"/>
              </p:ext>
            </p:extLst>
          </p:nvPr>
        </p:nvGraphicFramePr>
        <p:xfrm>
          <a:off x="646567" y="5345869"/>
          <a:ext cx="2425700" cy="836613"/>
        </p:xfrm>
        <a:graphic>
          <a:graphicData uri="http://schemas.openxmlformats.org/presentationml/2006/ole">
            <mc:AlternateContent xmlns:mc="http://schemas.openxmlformats.org/markup-compatibility/2006">
              <mc:Choice xmlns:v="urn:schemas-microsoft-com:vml" Requires="v">
                <p:oleObj name="Equation" r:id="rId30" imgW="1143000" imgH="393480" progId="Equation.DSMT4">
                  <p:embed/>
                </p:oleObj>
              </mc:Choice>
              <mc:Fallback>
                <p:oleObj name="Equation" r:id="rId30" imgW="1143000" imgH="393480" progId="Equation.DSMT4">
                  <p:embed/>
                  <p:pic>
                    <p:nvPicPr>
                      <p:cNvPr id="0" name=""/>
                      <p:cNvPicPr>
                        <a:picLocks noChangeAspect="1" noChangeArrowheads="1"/>
                      </p:cNvPicPr>
                      <p:nvPr/>
                    </p:nvPicPr>
                    <p:blipFill>
                      <a:blip r:embed="rId31"/>
                      <a:srcRect/>
                      <a:stretch>
                        <a:fillRect/>
                      </a:stretch>
                    </p:blipFill>
                    <p:spPr bwMode="auto">
                      <a:xfrm>
                        <a:off x="646567" y="5345869"/>
                        <a:ext cx="2425700" cy="836613"/>
                      </a:xfrm>
                      <a:prstGeom prst="rect">
                        <a:avLst/>
                      </a:prstGeom>
                      <a:noFill/>
                      <a:ln>
                        <a:noFill/>
                      </a:ln>
                      <a:effectLst/>
                    </p:spPr>
                  </p:pic>
                </p:oleObj>
              </mc:Fallback>
            </mc:AlternateContent>
          </a:graphicData>
        </a:graphic>
      </p:graphicFrame>
      <p:grpSp>
        <p:nvGrpSpPr>
          <p:cNvPr id="3" name="组合 2"/>
          <p:cNvGrpSpPr/>
          <p:nvPr/>
        </p:nvGrpSpPr>
        <p:grpSpPr>
          <a:xfrm>
            <a:off x="966433" y="3738607"/>
            <a:ext cx="769932" cy="1464239"/>
            <a:chOff x="960968" y="3712438"/>
            <a:chExt cx="769932" cy="1464239"/>
          </a:xfrm>
        </p:grpSpPr>
        <p:grpSp>
          <p:nvGrpSpPr>
            <p:cNvPr id="121" name="Group 85"/>
            <p:cNvGrpSpPr>
              <a:grpSpLocks/>
            </p:cNvGrpSpPr>
            <p:nvPr/>
          </p:nvGrpSpPr>
          <p:grpSpPr bwMode="auto">
            <a:xfrm>
              <a:off x="960968" y="3712438"/>
              <a:ext cx="769932" cy="1262063"/>
              <a:chOff x="-258" y="2503"/>
              <a:chExt cx="485" cy="795"/>
            </a:xfrm>
          </p:grpSpPr>
          <p:grpSp>
            <p:nvGrpSpPr>
              <p:cNvPr id="122" name="Group 86"/>
              <p:cNvGrpSpPr>
                <a:grpSpLocks/>
              </p:cNvGrpSpPr>
              <p:nvPr/>
            </p:nvGrpSpPr>
            <p:grpSpPr bwMode="auto">
              <a:xfrm>
                <a:off x="-258" y="2503"/>
                <a:ext cx="485" cy="795"/>
                <a:chOff x="-258" y="2500"/>
                <a:chExt cx="485" cy="795"/>
              </a:xfrm>
            </p:grpSpPr>
            <p:sp>
              <p:nvSpPr>
                <p:cNvPr id="124" name="Line 87"/>
                <p:cNvSpPr>
                  <a:spLocks noChangeShapeType="1"/>
                </p:cNvSpPr>
                <p:nvPr/>
              </p:nvSpPr>
              <p:spPr bwMode="auto">
                <a:xfrm rot="7200000" flipH="1">
                  <a:off x="-402" y="2667"/>
                  <a:ext cx="795" cy="462"/>
                </a:xfrm>
                <a:prstGeom prst="line">
                  <a:avLst/>
                </a:prstGeom>
                <a:noFill/>
                <a:ln w="15875">
                  <a:solidFill>
                    <a:srgbClr val="0000FF"/>
                  </a:solidFill>
                  <a:prstDash val="dash"/>
                  <a:round/>
                  <a:headEnd type="none" w="sm" len="sm"/>
                  <a:tailEnd type="none" w="sm" len="sm"/>
                </a:ln>
              </p:spPr>
              <p:txBody>
                <a:bodyPr wrap="none" anchor="ct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130" name="Line 88"/>
                <p:cNvSpPr>
                  <a:spLocks noChangeShapeType="1"/>
                </p:cNvSpPr>
                <p:nvPr/>
              </p:nvSpPr>
              <p:spPr bwMode="auto">
                <a:xfrm rot="7080000" flipH="1" flipV="1">
                  <a:off x="-186" y="2864"/>
                  <a:ext cx="121" cy="224"/>
                </a:xfrm>
                <a:prstGeom prst="line">
                  <a:avLst/>
                </a:prstGeom>
                <a:noFill/>
                <a:ln w="15875">
                  <a:solidFill>
                    <a:srgbClr val="FF0000"/>
                  </a:solidFill>
                  <a:prstDash val="dash"/>
                  <a:round/>
                  <a:headEnd type="none" w="sm" len="sm"/>
                  <a:tailEnd type="none" w="sm" len="sm"/>
                </a:ln>
              </p:spPr>
              <p:txBody>
                <a:bodyPr wrap="none" anchor="ct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sp>
              <p:nvSpPr>
                <p:cNvPr id="132" name="Arc 90"/>
                <p:cNvSpPr>
                  <a:spLocks/>
                </p:cNvSpPr>
                <p:nvPr/>
              </p:nvSpPr>
              <p:spPr bwMode="auto">
                <a:xfrm>
                  <a:off x="-258" y="3171"/>
                  <a:ext cx="118" cy="96"/>
                </a:xfrm>
                <a:custGeom>
                  <a:avLst/>
                  <a:gdLst>
                    <a:gd name="T0" fmla="*/ 0 w 17759"/>
                    <a:gd name="T1" fmla="*/ 0 h 21600"/>
                    <a:gd name="T2" fmla="*/ 0 w 17759"/>
                    <a:gd name="T3" fmla="*/ 0 h 21600"/>
                    <a:gd name="T4" fmla="*/ 0 w 17759"/>
                    <a:gd name="T5" fmla="*/ 0 h 21600"/>
                    <a:gd name="T6" fmla="*/ 0 60000 65536"/>
                    <a:gd name="T7" fmla="*/ 0 60000 65536"/>
                    <a:gd name="T8" fmla="*/ 0 60000 65536"/>
                    <a:gd name="T9" fmla="*/ 0 w 17759"/>
                    <a:gd name="T10" fmla="*/ 0 h 21600"/>
                    <a:gd name="T11" fmla="*/ 17759 w 17759"/>
                    <a:gd name="T12" fmla="*/ 21600 h 21600"/>
                  </a:gdLst>
                  <a:ahLst/>
                  <a:cxnLst>
                    <a:cxn ang="T6">
                      <a:pos x="T0" y="T1"/>
                    </a:cxn>
                    <a:cxn ang="T7">
                      <a:pos x="T2" y="T3"/>
                    </a:cxn>
                    <a:cxn ang="T8">
                      <a:pos x="T4" y="T5"/>
                    </a:cxn>
                  </a:cxnLst>
                  <a:rect l="T9" t="T10" r="T11" b="T12"/>
                  <a:pathLst>
                    <a:path w="17759" h="21600" fill="none" extrusionOk="0">
                      <a:moveTo>
                        <a:pt x="-1" y="0"/>
                      </a:moveTo>
                      <a:cubicBezTo>
                        <a:pt x="7087" y="0"/>
                        <a:pt x="13724" y="3477"/>
                        <a:pt x="17759" y="9304"/>
                      </a:cubicBezTo>
                    </a:path>
                    <a:path w="17759" h="21600" stroke="0" extrusionOk="0">
                      <a:moveTo>
                        <a:pt x="-1" y="0"/>
                      </a:moveTo>
                      <a:cubicBezTo>
                        <a:pt x="7087" y="0"/>
                        <a:pt x="13724" y="3477"/>
                        <a:pt x="17759" y="9304"/>
                      </a:cubicBezTo>
                      <a:lnTo>
                        <a:pt x="0" y="21600"/>
                      </a:lnTo>
                      <a:close/>
                    </a:path>
                  </a:pathLst>
                </a:custGeom>
                <a:noFill/>
                <a:ln w="9525">
                  <a:solidFill>
                    <a:schemeClr val="tx1"/>
                  </a:solidFill>
                  <a:round/>
                  <a:headEnd/>
                  <a:tailEnd/>
                </a:ln>
              </p:spPr>
              <p:txBody>
                <a:bodyPr wrap="none" anchor="ct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grpSp>
          <p:graphicFrame>
            <p:nvGraphicFramePr>
              <p:cNvPr id="123" name="Object 91"/>
              <p:cNvGraphicFramePr>
                <a:graphicFrameLocks/>
              </p:cNvGraphicFramePr>
              <p:nvPr>
                <p:extLst>
                  <p:ext uri="{D42A27DB-BD31-4B8C-83A1-F6EECF244321}">
                    <p14:modId xmlns:p14="http://schemas.microsoft.com/office/powerpoint/2010/main" val="1478966621"/>
                  </p:ext>
                </p:extLst>
              </p:nvPr>
            </p:nvGraphicFramePr>
            <p:xfrm>
              <a:off x="-221" y="3046"/>
              <a:ext cx="147" cy="134"/>
            </p:xfrm>
            <a:graphic>
              <a:graphicData uri="http://schemas.openxmlformats.org/presentationml/2006/ole">
                <mc:AlternateContent xmlns:mc="http://schemas.openxmlformats.org/markup-compatibility/2006">
                  <mc:Choice xmlns:v="urn:schemas-microsoft-com:vml" Requires="v">
                    <p:oleObj name="Equation" r:id="rId10" imgW="144791" imgH="129600" progId="Equation.2">
                      <p:embed/>
                    </p:oleObj>
                  </mc:Choice>
                  <mc:Fallback>
                    <p:oleObj name="Equation" r:id="rId10" imgW="144791" imgH="129600" progId="Equation.2">
                      <p:embed/>
                      <p:pic>
                        <p:nvPicPr>
                          <p:cNvPr id="0" name=""/>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1" y="3046"/>
                            <a:ext cx="147" cy="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49" name="Line 88"/>
            <p:cNvSpPr>
              <a:spLocks noChangeShapeType="1"/>
            </p:cNvSpPr>
            <p:nvPr/>
          </p:nvSpPr>
          <p:spPr bwMode="auto">
            <a:xfrm rot="7080000" flipH="1" flipV="1">
              <a:off x="1092326" y="4902834"/>
              <a:ext cx="192088" cy="355598"/>
            </a:xfrm>
            <a:prstGeom prst="line">
              <a:avLst/>
            </a:prstGeom>
            <a:noFill/>
            <a:ln w="15875">
              <a:solidFill>
                <a:srgbClr val="FF0000"/>
              </a:solidFill>
              <a:prstDash val="dash"/>
              <a:round/>
              <a:headEnd type="none" w="sm" len="sm"/>
              <a:tailEnd type="none" w="sm" len="sm"/>
            </a:ln>
          </p:spPr>
          <p:txBody>
            <a:bodyPr wrap="none" anchor="ct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graphicFrame>
          <p:nvGraphicFramePr>
            <p:cNvPr id="151" name="Object 103"/>
            <p:cNvGraphicFramePr>
              <a:graphicFrameLocks/>
            </p:cNvGraphicFramePr>
            <p:nvPr>
              <p:extLst>
                <p:ext uri="{D42A27DB-BD31-4B8C-83A1-F6EECF244321}">
                  <p14:modId xmlns:p14="http://schemas.microsoft.com/office/powerpoint/2010/main" val="4287691159"/>
                </p:ext>
              </p:extLst>
            </p:nvPr>
          </p:nvGraphicFramePr>
          <p:xfrm>
            <a:off x="1373387" y="3962092"/>
            <a:ext cx="233362" cy="212725"/>
          </p:xfrm>
          <a:graphic>
            <a:graphicData uri="http://schemas.openxmlformats.org/presentationml/2006/ole">
              <mc:AlternateContent xmlns:mc="http://schemas.openxmlformats.org/markup-compatibility/2006">
                <mc:Choice xmlns:v="urn:schemas-microsoft-com:vml" Requires="v">
                  <p:oleObj name="Equation" r:id="rId32" imgW="144791" imgH="129600" progId="Equation.DSMT4">
                    <p:embed/>
                  </p:oleObj>
                </mc:Choice>
                <mc:Fallback>
                  <p:oleObj name="Equation" r:id="rId32" imgW="144791" imgH="129600" progId="Equation.DSMT4">
                    <p:embed/>
                    <p:pic>
                      <p:nvPicPr>
                        <p:cNvPr id="0" name=""/>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373387" y="3962092"/>
                          <a:ext cx="233362" cy="21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6" name="Arc 104"/>
            <p:cNvSpPr>
              <a:spLocks/>
            </p:cNvSpPr>
            <p:nvPr/>
          </p:nvSpPr>
          <p:spPr bwMode="auto">
            <a:xfrm rot="17460000" flipH="1">
              <a:off x="1412813" y="4174610"/>
              <a:ext cx="55563" cy="125412"/>
            </a:xfrm>
            <a:custGeom>
              <a:avLst/>
              <a:gdLst>
                <a:gd name="T0" fmla="*/ 0 w 21600"/>
                <a:gd name="T1" fmla="*/ 0 h 21595"/>
                <a:gd name="T2" fmla="*/ 0 w 21600"/>
                <a:gd name="T3" fmla="*/ 0 h 21595"/>
                <a:gd name="T4" fmla="*/ 0 w 21600"/>
                <a:gd name="T5" fmla="*/ 0 h 21595"/>
                <a:gd name="T6" fmla="*/ 0 60000 65536"/>
                <a:gd name="T7" fmla="*/ 0 60000 65536"/>
                <a:gd name="T8" fmla="*/ 0 60000 65536"/>
                <a:gd name="T9" fmla="*/ 0 w 21600"/>
                <a:gd name="T10" fmla="*/ 0 h 21595"/>
                <a:gd name="T11" fmla="*/ 21600 w 21600"/>
                <a:gd name="T12" fmla="*/ 21595 h 21595"/>
              </a:gdLst>
              <a:ahLst/>
              <a:cxnLst>
                <a:cxn ang="T6">
                  <a:pos x="T0" y="T1"/>
                </a:cxn>
                <a:cxn ang="T7">
                  <a:pos x="T2" y="T3"/>
                </a:cxn>
                <a:cxn ang="T8">
                  <a:pos x="T4" y="T5"/>
                </a:cxn>
              </a:cxnLst>
              <a:rect l="T9" t="T10" r="T11" b="T12"/>
              <a:pathLst>
                <a:path w="21600" h="21595" fill="none" extrusionOk="0">
                  <a:moveTo>
                    <a:pt x="0" y="21595"/>
                  </a:moveTo>
                  <a:cubicBezTo>
                    <a:pt x="0" y="9841"/>
                    <a:pt x="9398" y="244"/>
                    <a:pt x="21149" y="-1"/>
                  </a:cubicBezTo>
                </a:path>
                <a:path w="21600" h="21595" stroke="0" extrusionOk="0">
                  <a:moveTo>
                    <a:pt x="0" y="21595"/>
                  </a:moveTo>
                  <a:cubicBezTo>
                    <a:pt x="0" y="9841"/>
                    <a:pt x="9398" y="244"/>
                    <a:pt x="21149" y="-1"/>
                  </a:cubicBezTo>
                  <a:lnTo>
                    <a:pt x="21600" y="21595"/>
                  </a:lnTo>
                  <a:close/>
                </a:path>
              </a:pathLst>
            </a:custGeom>
            <a:noFill/>
            <a:ln w="19050">
              <a:solidFill>
                <a:schemeClr val="tx1"/>
              </a:solidFill>
              <a:round/>
              <a:headEnd type="none" w="sm" len="sm"/>
              <a:tailEnd type="none" w="sm" len="sm"/>
            </a:ln>
          </p:spPr>
          <p:txBody>
            <a:bodyPr wrap="none" anchor="ct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grpSp>
    </p:spTree>
    <p:extLst>
      <p:ext uri="{BB962C8B-B14F-4D97-AF65-F5344CB8AC3E}">
        <p14:creationId xmlns:p14="http://schemas.microsoft.com/office/powerpoint/2010/main" val="165373490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7210"/>
                                        </p:tgtEl>
                                        <p:attrNameLst>
                                          <p:attrName>style.visibility</p:attrName>
                                        </p:attrNameLst>
                                      </p:cBhvr>
                                      <p:to>
                                        <p:strVal val="visible"/>
                                      </p:to>
                                    </p:set>
                                    <p:animEffect transition="in" filter="fade">
                                      <p:cBhvr>
                                        <p:cTn id="7" dur="500"/>
                                        <p:tgtEl>
                                          <p:spTgt spid="177210"/>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0" fill="hold" nodeType="clickEffect">
                                  <p:stCondLst>
                                    <p:cond delay="0"/>
                                  </p:stCondLst>
                                  <p:childTnLst>
                                    <p:set>
                                      <p:cBhvr>
                                        <p:cTn id="11" dur="1" fill="hold">
                                          <p:stCondLst>
                                            <p:cond delay="0"/>
                                          </p:stCondLst>
                                        </p:cTn>
                                        <p:tgtEl>
                                          <p:spTgt spid="177211"/>
                                        </p:tgtEl>
                                        <p:attrNameLst>
                                          <p:attrName>style.visibility</p:attrName>
                                        </p:attrNameLst>
                                      </p:cBhvr>
                                      <p:to>
                                        <p:strVal val="visible"/>
                                      </p:to>
                                    </p:set>
                                    <p:anim calcmode="lin" valueType="num">
                                      <p:cBhvr>
                                        <p:cTn id="12" dur="500" fill="hold"/>
                                        <p:tgtEl>
                                          <p:spTgt spid="177211"/>
                                        </p:tgtEl>
                                        <p:attrNameLst>
                                          <p:attrName>ppt_w</p:attrName>
                                        </p:attrNameLst>
                                      </p:cBhvr>
                                      <p:tavLst>
                                        <p:tav tm="0">
                                          <p:val>
                                            <p:fltVal val="0"/>
                                          </p:val>
                                        </p:tav>
                                        <p:tav tm="100000">
                                          <p:val>
                                            <p:strVal val="#ppt_w"/>
                                          </p:val>
                                        </p:tav>
                                      </p:tavLst>
                                    </p:anim>
                                    <p:anim calcmode="lin" valueType="num">
                                      <p:cBhvr>
                                        <p:cTn id="13" dur="500" fill="hold"/>
                                        <p:tgtEl>
                                          <p:spTgt spid="177211"/>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177154"/>
                                        </p:tgtEl>
                                        <p:attrNameLst>
                                          <p:attrName>style.visibility</p:attrName>
                                        </p:attrNameLst>
                                      </p:cBhvr>
                                      <p:to>
                                        <p:strVal val="visible"/>
                                      </p:to>
                                    </p:set>
                                    <p:animEffect transition="in" filter="box(out)">
                                      <p:cBhvr>
                                        <p:cTn id="18" dur="500"/>
                                        <p:tgtEl>
                                          <p:spTgt spid="17715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108"/>
                                        </p:tgtEl>
                                        <p:attrNameLst>
                                          <p:attrName>style.visibility</p:attrName>
                                        </p:attrNameLst>
                                      </p:cBhvr>
                                      <p:to>
                                        <p:strVal val="visible"/>
                                      </p:to>
                                    </p:set>
                                    <p:animEffect transition="in" filter="wipe(left)">
                                      <p:cBhvr>
                                        <p:cTn id="23" dur="500"/>
                                        <p:tgtEl>
                                          <p:spTgt spid="108"/>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09"/>
                                        </p:tgtEl>
                                        <p:attrNameLst>
                                          <p:attrName>style.visibility</p:attrName>
                                        </p:attrNameLst>
                                      </p:cBhvr>
                                      <p:to>
                                        <p:strVal val="visible"/>
                                      </p:to>
                                    </p:set>
                                    <p:animEffect transition="in" filter="wipe(left)">
                                      <p:cBhvr>
                                        <p:cTn id="28" dur="500"/>
                                        <p:tgtEl>
                                          <p:spTgt spid="109"/>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32" fill="hold" nodeType="clickEffect">
                                  <p:stCondLst>
                                    <p:cond delay="0"/>
                                  </p:stCondLst>
                                  <p:childTnLst>
                                    <p:set>
                                      <p:cBhvr>
                                        <p:cTn id="32" dur="1" fill="hold">
                                          <p:stCondLst>
                                            <p:cond delay="0"/>
                                          </p:stCondLst>
                                        </p:cTn>
                                        <p:tgtEl>
                                          <p:spTgt spid="99"/>
                                        </p:tgtEl>
                                        <p:attrNameLst>
                                          <p:attrName>style.visibility</p:attrName>
                                        </p:attrNameLst>
                                      </p:cBhvr>
                                      <p:to>
                                        <p:strVal val="visible"/>
                                      </p:to>
                                    </p:set>
                                    <p:animEffect transition="in" filter="box(out)">
                                      <p:cBhvr>
                                        <p:cTn id="33" dur="500"/>
                                        <p:tgtEl>
                                          <p:spTgt spid="9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32" fill="hold" nodeType="clickEffect">
                                  <p:stCondLst>
                                    <p:cond delay="0"/>
                                  </p:stCondLst>
                                  <p:childTnLst>
                                    <p:set>
                                      <p:cBhvr>
                                        <p:cTn id="37" dur="1" fill="hold">
                                          <p:stCondLst>
                                            <p:cond delay="0"/>
                                          </p:stCondLst>
                                        </p:cTn>
                                        <p:tgtEl>
                                          <p:spTgt spid="133"/>
                                        </p:tgtEl>
                                        <p:attrNameLst>
                                          <p:attrName>style.visibility</p:attrName>
                                        </p:attrNameLst>
                                      </p:cBhvr>
                                      <p:to>
                                        <p:strVal val="visible"/>
                                      </p:to>
                                    </p:set>
                                    <p:animEffect transition="in" filter="box(out)">
                                      <p:cBhvr>
                                        <p:cTn id="38" dur="500"/>
                                        <p:tgtEl>
                                          <p:spTgt spid="133"/>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nodeType="clickEffect">
                                  <p:stCondLst>
                                    <p:cond delay="0"/>
                                  </p:stCondLst>
                                  <p:childTnLst>
                                    <p:set>
                                      <p:cBhvr>
                                        <p:cTn id="42" dur="1" fill="hold">
                                          <p:stCondLst>
                                            <p:cond delay="0"/>
                                          </p:stCondLst>
                                        </p:cTn>
                                        <p:tgtEl>
                                          <p:spTgt spid="147"/>
                                        </p:tgtEl>
                                        <p:attrNameLst>
                                          <p:attrName>style.visibility</p:attrName>
                                        </p:attrNameLst>
                                      </p:cBhvr>
                                      <p:to>
                                        <p:strVal val="visible"/>
                                      </p:to>
                                    </p:set>
                                    <p:animEffect transition="in" filter="slide(fromBottom)">
                                      <p:cBhvr>
                                        <p:cTn id="43" dur="500"/>
                                        <p:tgtEl>
                                          <p:spTgt spid="147"/>
                                        </p:tgtEl>
                                      </p:cBhvr>
                                    </p:animEffect>
                                  </p:childTnLst>
                                </p:cTn>
                              </p:par>
                            </p:childTnLst>
                          </p:cTn>
                        </p:par>
                      </p:childTnLst>
                    </p:cTn>
                  </p:par>
                  <p:par>
                    <p:cTn id="44" fill="hold">
                      <p:stCondLst>
                        <p:cond delay="indefinite"/>
                      </p:stCondLst>
                      <p:childTnLst>
                        <p:par>
                          <p:cTn id="45" fill="hold">
                            <p:stCondLst>
                              <p:cond delay="0"/>
                            </p:stCondLst>
                            <p:childTnLst>
                              <p:par>
                                <p:cTn id="46" presetID="12" presetClass="entr" presetSubtype="4" fill="hold" nodeType="clickEffect">
                                  <p:stCondLst>
                                    <p:cond delay="0"/>
                                  </p:stCondLst>
                                  <p:childTnLst>
                                    <p:set>
                                      <p:cBhvr>
                                        <p:cTn id="47" dur="1" fill="hold">
                                          <p:stCondLst>
                                            <p:cond delay="0"/>
                                          </p:stCondLst>
                                        </p:cTn>
                                        <p:tgtEl>
                                          <p:spTgt spid="148"/>
                                        </p:tgtEl>
                                        <p:attrNameLst>
                                          <p:attrName>style.visibility</p:attrName>
                                        </p:attrNameLst>
                                      </p:cBhvr>
                                      <p:to>
                                        <p:strVal val="visible"/>
                                      </p:to>
                                    </p:set>
                                    <p:animEffect transition="in" filter="slide(fromBottom)">
                                      <p:cBhvr>
                                        <p:cTn id="48" dur="500"/>
                                        <p:tgtEl>
                                          <p:spTgt spid="148"/>
                                        </p:tgtEl>
                                      </p:cBhvr>
                                    </p:animEffect>
                                  </p:childTnLst>
                                </p:cTn>
                              </p:par>
                            </p:childTnLst>
                          </p:cTn>
                        </p:par>
                      </p:childTnLst>
                    </p:cTn>
                  </p:par>
                  <p:par>
                    <p:cTn id="49" fill="hold">
                      <p:stCondLst>
                        <p:cond delay="indefinite"/>
                      </p:stCondLst>
                      <p:childTnLst>
                        <p:par>
                          <p:cTn id="50" fill="hold">
                            <p:stCondLst>
                              <p:cond delay="0"/>
                            </p:stCondLst>
                            <p:childTnLst>
                              <p:par>
                                <p:cTn id="51" presetID="53" presetClass="entr" presetSubtype="16" fill="hold" grpId="0" nodeType="clickEffect">
                                  <p:stCondLst>
                                    <p:cond delay="0"/>
                                  </p:stCondLst>
                                  <p:childTnLst>
                                    <p:set>
                                      <p:cBhvr>
                                        <p:cTn id="52" dur="1" fill="hold">
                                          <p:stCondLst>
                                            <p:cond delay="0"/>
                                          </p:stCondLst>
                                        </p:cTn>
                                        <p:tgtEl>
                                          <p:spTgt spid="96"/>
                                        </p:tgtEl>
                                        <p:attrNameLst>
                                          <p:attrName>style.visibility</p:attrName>
                                        </p:attrNameLst>
                                      </p:cBhvr>
                                      <p:to>
                                        <p:strVal val="visible"/>
                                      </p:to>
                                    </p:set>
                                    <p:anim calcmode="lin" valueType="num">
                                      <p:cBhvr>
                                        <p:cTn id="53" dur="500" fill="hold"/>
                                        <p:tgtEl>
                                          <p:spTgt spid="96"/>
                                        </p:tgtEl>
                                        <p:attrNameLst>
                                          <p:attrName>ppt_w</p:attrName>
                                        </p:attrNameLst>
                                      </p:cBhvr>
                                      <p:tavLst>
                                        <p:tav tm="0">
                                          <p:val>
                                            <p:fltVal val="0"/>
                                          </p:val>
                                        </p:tav>
                                        <p:tav tm="100000">
                                          <p:val>
                                            <p:strVal val="#ppt_w"/>
                                          </p:val>
                                        </p:tav>
                                      </p:tavLst>
                                    </p:anim>
                                    <p:anim calcmode="lin" valueType="num">
                                      <p:cBhvr>
                                        <p:cTn id="54" dur="500" fill="hold"/>
                                        <p:tgtEl>
                                          <p:spTgt spid="96"/>
                                        </p:tgtEl>
                                        <p:attrNameLst>
                                          <p:attrName>ppt_h</p:attrName>
                                        </p:attrNameLst>
                                      </p:cBhvr>
                                      <p:tavLst>
                                        <p:tav tm="0">
                                          <p:val>
                                            <p:fltVal val="0"/>
                                          </p:val>
                                        </p:tav>
                                        <p:tav tm="100000">
                                          <p:val>
                                            <p:strVal val="#ppt_h"/>
                                          </p:val>
                                        </p:tav>
                                      </p:tavLst>
                                    </p:anim>
                                    <p:animEffect transition="in" filter="fade">
                                      <p:cBhvr>
                                        <p:cTn id="55" dur="500"/>
                                        <p:tgtEl>
                                          <p:spTgt spid="96"/>
                                        </p:tgtEl>
                                      </p:cBhvr>
                                    </p:animEffect>
                                  </p:childTnLst>
                                </p:cTn>
                              </p:par>
                            </p:childTnLst>
                          </p:cTn>
                        </p:par>
                      </p:childTnLst>
                    </p:cTn>
                  </p:par>
                  <p:par>
                    <p:cTn id="56" fill="hold">
                      <p:stCondLst>
                        <p:cond delay="indefinite"/>
                      </p:stCondLst>
                      <p:childTnLst>
                        <p:par>
                          <p:cTn id="57" fill="hold">
                            <p:stCondLst>
                              <p:cond delay="0"/>
                            </p:stCondLst>
                            <p:childTnLst>
                              <p:par>
                                <p:cTn id="58" presetID="12" presetClass="entr" presetSubtype="4" fill="hold" nodeType="clickEffect">
                                  <p:stCondLst>
                                    <p:cond delay="0"/>
                                  </p:stCondLst>
                                  <p:childTnLst>
                                    <p:set>
                                      <p:cBhvr>
                                        <p:cTn id="59" dur="1" fill="hold">
                                          <p:stCondLst>
                                            <p:cond delay="0"/>
                                          </p:stCondLst>
                                        </p:cTn>
                                        <p:tgtEl>
                                          <p:spTgt spid="152"/>
                                        </p:tgtEl>
                                        <p:attrNameLst>
                                          <p:attrName>style.visibility</p:attrName>
                                        </p:attrNameLst>
                                      </p:cBhvr>
                                      <p:to>
                                        <p:strVal val="visible"/>
                                      </p:to>
                                    </p:set>
                                    <p:animEffect transition="in" filter="slide(fromBottom)">
                                      <p:cBhvr>
                                        <p:cTn id="60" dur="500"/>
                                        <p:tgtEl>
                                          <p:spTgt spid="152"/>
                                        </p:tgtEl>
                                      </p:cBhvr>
                                    </p:animEffect>
                                  </p:childTnLst>
                                </p:cTn>
                              </p:par>
                            </p:childTnLst>
                          </p:cTn>
                        </p:par>
                      </p:childTnLst>
                    </p:cTn>
                  </p:par>
                  <p:par>
                    <p:cTn id="61" fill="hold">
                      <p:stCondLst>
                        <p:cond delay="indefinite"/>
                      </p:stCondLst>
                      <p:childTnLst>
                        <p:par>
                          <p:cTn id="62" fill="hold">
                            <p:stCondLst>
                              <p:cond delay="0"/>
                            </p:stCondLst>
                            <p:childTnLst>
                              <p:par>
                                <p:cTn id="63" presetID="4" presetClass="entr" presetSubtype="32" fill="hold" nodeType="clickEffect">
                                  <p:stCondLst>
                                    <p:cond delay="0"/>
                                  </p:stCondLst>
                                  <p:childTnLst>
                                    <p:set>
                                      <p:cBhvr>
                                        <p:cTn id="64" dur="1" fill="hold">
                                          <p:stCondLst>
                                            <p:cond delay="0"/>
                                          </p:stCondLst>
                                        </p:cTn>
                                        <p:tgtEl>
                                          <p:spTgt spid="125"/>
                                        </p:tgtEl>
                                        <p:attrNameLst>
                                          <p:attrName>style.visibility</p:attrName>
                                        </p:attrNameLst>
                                      </p:cBhvr>
                                      <p:to>
                                        <p:strVal val="visible"/>
                                      </p:to>
                                    </p:set>
                                    <p:animEffect transition="in" filter="box(out)">
                                      <p:cBhvr>
                                        <p:cTn id="65" dur="500"/>
                                        <p:tgtEl>
                                          <p:spTgt spid="125"/>
                                        </p:tgtEl>
                                      </p:cBhvr>
                                    </p:animEffect>
                                  </p:childTnLst>
                                </p:cTn>
                              </p:par>
                            </p:childTnLst>
                          </p:cTn>
                        </p:par>
                      </p:childTnLst>
                    </p:cTn>
                  </p:par>
                  <p:par>
                    <p:cTn id="66" fill="hold">
                      <p:stCondLst>
                        <p:cond delay="indefinite"/>
                      </p:stCondLst>
                      <p:childTnLst>
                        <p:par>
                          <p:cTn id="67" fill="hold">
                            <p:stCondLst>
                              <p:cond delay="0"/>
                            </p:stCondLst>
                            <p:childTnLst>
                              <p:par>
                                <p:cTn id="68" presetID="12" presetClass="entr" presetSubtype="4" fill="hold" nodeType="clickEffect">
                                  <p:stCondLst>
                                    <p:cond delay="0"/>
                                  </p:stCondLst>
                                  <p:childTnLst>
                                    <p:set>
                                      <p:cBhvr>
                                        <p:cTn id="69" dur="1" fill="hold">
                                          <p:stCondLst>
                                            <p:cond delay="0"/>
                                          </p:stCondLst>
                                        </p:cTn>
                                        <p:tgtEl>
                                          <p:spTgt spid="153"/>
                                        </p:tgtEl>
                                        <p:attrNameLst>
                                          <p:attrName>style.visibility</p:attrName>
                                        </p:attrNameLst>
                                      </p:cBhvr>
                                      <p:to>
                                        <p:strVal val="visible"/>
                                      </p:to>
                                    </p:set>
                                    <p:animEffect transition="in" filter="slide(fromBottom)">
                                      <p:cBhvr>
                                        <p:cTn id="70" dur="500"/>
                                        <p:tgtEl>
                                          <p:spTgt spid="153"/>
                                        </p:tgtEl>
                                      </p:cBhvr>
                                    </p:animEffect>
                                  </p:childTnLst>
                                </p:cTn>
                              </p:par>
                            </p:childTnLst>
                          </p:cTn>
                        </p:par>
                      </p:childTnLst>
                    </p:cTn>
                  </p:par>
                  <p:par>
                    <p:cTn id="71" fill="hold">
                      <p:stCondLst>
                        <p:cond delay="indefinite"/>
                      </p:stCondLst>
                      <p:childTnLst>
                        <p:par>
                          <p:cTn id="72" fill="hold">
                            <p:stCondLst>
                              <p:cond delay="0"/>
                            </p:stCondLst>
                            <p:childTnLst>
                              <p:par>
                                <p:cTn id="73" presetID="12" presetClass="entr" presetSubtype="4" fill="hold" nodeType="clickEffect">
                                  <p:stCondLst>
                                    <p:cond delay="0"/>
                                  </p:stCondLst>
                                  <p:childTnLst>
                                    <p:set>
                                      <p:cBhvr>
                                        <p:cTn id="74" dur="1" fill="hold">
                                          <p:stCondLst>
                                            <p:cond delay="0"/>
                                          </p:stCondLst>
                                        </p:cTn>
                                        <p:tgtEl>
                                          <p:spTgt spid="154"/>
                                        </p:tgtEl>
                                        <p:attrNameLst>
                                          <p:attrName>style.visibility</p:attrName>
                                        </p:attrNameLst>
                                      </p:cBhvr>
                                      <p:to>
                                        <p:strVal val="visible"/>
                                      </p:to>
                                    </p:set>
                                    <p:animEffect transition="in" filter="slide(fromBottom)">
                                      <p:cBhvr>
                                        <p:cTn id="75" dur="500"/>
                                        <p:tgtEl>
                                          <p:spTgt spid="154"/>
                                        </p:tgtEl>
                                      </p:cBhvr>
                                    </p:animEffect>
                                  </p:childTnLst>
                                </p:cTn>
                              </p:par>
                            </p:childTnLst>
                          </p:cTn>
                        </p:par>
                      </p:childTnLst>
                    </p:cTn>
                  </p:par>
                  <p:par>
                    <p:cTn id="76" fill="hold">
                      <p:stCondLst>
                        <p:cond delay="indefinite"/>
                      </p:stCondLst>
                      <p:childTnLst>
                        <p:par>
                          <p:cTn id="77" fill="hold">
                            <p:stCondLst>
                              <p:cond delay="0"/>
                            </p:stCondLst>
                            <p:childTnLst>
                              <p:par>
                                <p:cTn id="78" presetID="12" presetClass="entr" presetSubtype="4" fill="hold" nodeType="clickEffect">
                                  <p:stCondLst>
                                    <p:cond delay="0"/>
                                  </p:stCondLst>
                                  <p:childTnLst>
                                    <p:set>
                                      <p:cBhvr>
                                        <p:cTn id="79" dur="1" fill="hold">
                                          <p:stCondLst>
                                            <p:cond delay="0"/>
                                          </p:stCondLst>
                                        </p:cTn>
                                        <p:tgtEl>
                                          <p:spTgt spid="155"/>
                                        </p:tgtEl>
                                        <p:attrNameLst>
                                          <p:attrName>style.visibility</p:attrName>
                                        </p:attrNameLst>
                                      </p:cBhvr>
                                      <p:to>
                                        <p:strVal val="visible"/>
                                      </p:to>
                                    </p:set>
                                    <p:animEffect transition="in" filter="slide(fromBottom)">
                                      <p:cBhvr>
                                        <p:cTn id="80" dur="500"/>
                                        <p:tgtEl>
                                          <p:spTgt spid="155"/>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2"/>
                                        </p:tgtEl>
                                        <p:attrNameLst>
                                          <p:attrName>style.visibility</p:attrName>
                                        </p:attrNameLst>
                                      </p:cBhvr>
                                      <p:to>
                                        <p:strVal val="visible"/>
                                      </p:to>
                                    </p:set>
                                    <p:animEffect transition="in" filter="fade">
                                      <p:cBhvr>
                                        <p:cTn id="85" dur="500"/>
                                        <p:tgtEl>
                                          <p:spTgt spid="2"/>
                                        </p:tgtEl>
                                      </p:cBhvr>
                                    </p:animEffect>
                                  </p:childTnLst>
                                </p:cTn>
                              </p:par>
                            </p:childTnLst>
                          </p:cTn>
                        </p:par>
                      </p:childTnLst>
                    </p:cTn>
                  </p:par>
                  <p:par>
                    <p:cTn id="86" fill="hold">
                      <p:stCondLst>
                        <p:cond delay="indefinite"/>
                      </p:stCondLst>
                      <p:childTnLst>
                        <p:par>
                          <p:cTn id="87" fill="hold">
                            <p:stCondLst>
                              <p:cond delay="0"/>
                            </p:stCondLst>
                            <p:childTnLst>
                              <p:par>
                                <p:cTn id="88" presetID="42" presetClass="entr" presetSubtype="0" fill="hold" nodeType="clickEffect">
                                  <p:stCondLst>
                                    <p:cond delay="0"/>
                                  </p:stCondLst>
                                  <p:childTnLst>
                                    <p:set>
                                      <p:cBhvr>
                                        <p:cTn id="89" dur="1" fill="hold">
                                          <p:stCondLst>
                                            <p:cond delay="0"/>
                                          </p:stCondLst>
                                        </p:cTn>
                                        <p:tgtEl>
                                          <p:spTgt spid="3"/>
                                        </p:tgtEl>
                                        <p:attrNameLst>
                                          <p:attrName>style.visibility</p:attrName>
                                        </p:attrNameLst>
                                      </p:cBhvr>
                                      <p:to>
                                        <p:strVal val="visible"/>
                                      </p:to>
                                    </p:set>
                                    <p:animEffect transition="in" filter="fade">
                                      <p:cBhvr>
                                        <p:cTn id="90" dur="1000"/>
                                        <p:tgtEl>
                                          <p:spTgt spid="3"/>
                                        </p:tgtEl>
                                      </p:cBhvr>
                                    </p:animEffect>
                                    <p:anim calcmode="lin" valueType="num">
                                      <p:cBhvr>
                                        <p:cTn id="91" dur="1000" fill="hold"/>
                                        <p:tgtEl>
                                          <p:spTgt spid="3"/>
                                        </p:tgtEl>
                                        <p:attrNameLst>
                                          <p:attrName>ppt_x</p:attrName>
                                        </p:attrNameLst>
                                      </p:cBhvr>
                                      <p:tavLst>
                                        <p:tav tm="0">
                                          <p:val>
                                            <p:strVal val="#ppt_x"/>
                                          </p:val>
                                        </p:tav>
                                        <p:tav tm="100000">
                                          <p:val>
                                            <p:strVal val="#ppt_x"/>
                                          </p:val>
                                        </p:tav>
                                      </p:tavLst>
                                    </p:anim>
                                    <p:anim calcmode="lin" valueType="num">
                                      <p:cBhvr>
                                        <p:cTn id="92"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12" presetClass="entr" presetSubtype="4" fill="hold" nodeType="clickEffect">
                                  <p:stCondLst>
                                    <p:cond delay="0"/>
                                  </p:stCondLst>
                                  <p:childTnLst>
                                    <p:set>
                                      <p:cBhvr>
                                        <p:cTn id="96" dur="1" fill="hold">
                                          <p:stCondLst>
                                            <p:cond delay="0"/>
                                          </p:stCondLst>
                                        </p:cTn>
                                        <p:tgtEl>
                                          <p:spTgt spid="150"/>
                                        </p:tgtEl>
                                        <p:attrNameLst>
                                          <p:attrName>style.visibility</p:attrName>
                                        </p:attrNameLst>
                                      </p:cBhvr>
                                      <p:to>
                                        <p:strVal val="visible"/>
                                      </p:to>
                                    </p:set>
                                    <p:animEffect transition="in" filter="slide(fromBottom)">
                                      <p:cBhvr>
                                        <p:cTn id="97" dur="500"/>
                                        <p:tgtEl>
                                          <p:spTgt spid="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210" grpId="0"/>
      <p:bldP spid="96"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p:cNvGrpSpPr/>
          <p:nvPr/>
        </p:nvGrpSpPr>
        <p:grpSpPr>
          <a:xfrm>
            <a:off x="5278932" y="404664"/>
            <a:ext cx="3181128" cy="2144648"/>
            <a:chOff x="983220" y="3295046"/>
            <a:chExt cx="3181128" cy="2144648"/>
          </a:xfrm>
        </p:grpSpPr>
        <p:sp>
          <p:nvSpPr>
            <p:cNvPr id="3" name="Line 72"/>
            <p:cNvSpPr>
              <a:spLocks noChangeShapeType="1"/>
            </p:cNvSpPr>
            <p:nvPr/>
          </p:nvSpPr>
          <p:spPr bwMode="auto">
            <a:xfrm>
              <a:off x="2520658" y="3912767"/>
              <a:ext cx="1505242" cy="100144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Line 73"/>
            <p:cNvSpPr>
              <a:spLocks noChangeShapeType="1"/>
            </p:cNvSpPr>
            <p:nvPr/>
          </p:nvSpPr>
          <p:spPr bwMode="auto">
            <a:xfrm>
              <a:off x="1638256" y="4889796"/>
              <a:ext cx="2362024"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 name="Line 74"/>
            <p:cNvSpPr>
              <a:spLocks noChangeShapeType="1"/>
            </p:cNvSpPr>
            <p:nvPr/>
          </p:nvSpPr>
          <p:spPr bwMode="auto">
            <a:xfrm>
              <a:off x="2511137" y="3362891"/>
              <a:ext cx="0" cy="533400"/>
            </a:xfrm>
            <a:prstGeom prst="line">
              <a:avLst/>
            </a:prstGeom>
            <a:noFill/>
            <a:ln w="28575">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Rectangle 75"/>
            <p:cNvSpPr>
              <a:spLocks noChangeArrowheads="1"/>
            </p:cNvSpPr>
            <p:nvPr/>
          </p:nvSpPr>
          <p:spPr bwMode="auto">
            <a:xfrm>
              <a:off x="2177013" y="3295046"/>
              <a:ext cx="35586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dirty="0">
                  <a:solidFill>
                    <a:srgbClr val="FF0000"/>
                  </a:solidFill>
                  <a:latin typeface="Times New Roman" panose="02020603050405020304" pitchFamily="18" charset="0"/>
                  <a:ea typeface="宋体" panose="02010600030101010101" pitchFamily="2" charset="-122"/>
                </a:rPr>
                <a:t>F</a:t>
              </a:r>
            </a:p>
          </p:txBody>
        </p:sp>
        <p:sp>
          <p:nvSpPr>
            <p:cNvPr id="10" name="Rectangle 92"/>
            <p:cNvSpPr>
              <a:spLocks noChangeArrowheads="1"/>
            </p:cNvSpPr>
            <p:nvPr/>
          </p:nvSpPr>
          <p:spPr bwMode="auto">
            <a:xfrm>
              <a:off x="3063404" y="4990170"/>
              <a:ext cx="480901"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1800" dirty="0">
                  <a:latin typeface="Times New Roman" panose="02020603050405020304" pitchFamily="18" charset="0"/>
                  <a:ea typeface="华文楷体" panose="02010600040101010101" pitchFamily="2" charset="-122"/>
                </a:rPr>
                <a:t>3m</a:t>
              </a:r>
            </a:p>
          </p:txBody>
        </p:sp>
        <p:grpSp>
          <p:nvGrpSpPr>
            <p:cNvPr id="31" name="组合 30"/>
            <p:cNvGrpSpPr/>
            <p:nvPr/>
          </p:nvGrpSpPr>
          <p:grpSpPr>
            <a:xfrm>
              <a:off x="1447639" y="4863056"/>
              <a:ext cx="324000" cy="290003"/>
              <a:chOff x="1319475" y="4026163"/>
              <a:chExt cx="324000" cy="290003"/>
            </a:xfrm>
          </p:grpSpPr>
          <p:grpSp>
            <p:nvGrpSpPr>
              <p:cNvPr id="11" name="Group 3"/>
              <p:cNvGrpSpPr>
                <a:grpSpLocks/>
              </p:cNvGrpSpPr>
              <p:nvPr/>
            </p:nvGrpSpPr>
            <p:grpSpPr bwMode="auto">
              <a:xfrm>
                <a:off x="1319475" y="4229147"/>
                <a:ext cx="324000" cy="87019"/>
                <a:chOff x="4235" y="3434"/>
                <a:chExt cx="470" cy="179"/>
              </a:xfrm>
            </p:grpSpPr>
            <p:sp>
              <p:nvSpPr>
                <p:cNvPr id="25" name="Rectangle 4" descr="宽上对角线"/>
                <p:cNvSpPr>
                  <a:spLocks noChangeArrowheads="1"/>
                </p:cNvSpPr>
                <p:nvPr/>
              </p:nvSpPr>
              <p:spPr bwMode="auto">
                <a:xfrm>
                  <a:off x="4235" y="3434"/>
                  <a:ext cx="464" cy="179"/>
                </a:xfrm>
                <a:prstGeom prst="rect">
                  <a:avLst/>
                </a:prstGeom>
                <a:pattFill prst="wdUpDiag">
                  <a:fgClr>
                    <a:srgbClr val="000000"/>
                  </a:fgClr>
                  <a:bgClr>
                    <a:srgbClr val="FFFFFF"/>
                  </a:bgClr>
                </a:pattFill>
                <a:ln>
                  <a:noFill/>
                </a:ln>
                <a:extLst>
                  <a:ext uri="{91240B29-F687-4F45-9708-019B960494DF}">
                    <a14:hiddenLine xmlns:a14="http://schemas.microsoft.com/office/drawing/2010/main" w="190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Line 5"/>
                <p:cNvSpPr>
                  <a:spLocks noChangeShapeType="1"/>
                </p:cNvSpPr>
                <p:nvPr/>
              </p:nvSpPr>
              <p:spPr bwMode="auto">
                <a:xfrm>
                  <a:off x="4235" y="3434"/>
                  <a:ext cx="470" cy="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2" name="组合 11"/>
              <p:cNvGrpSpPr/>
              <p:nvPr/>
            </p:nvGrpSpPr>
            <p:grpSpPr>
              <a:xfrm rot="16200000">
                <a:off x="1378343" y="4077072"/>
                <a:ext cx="220106" cy="118288"/>
                <a:chOff x="4640819" y="2616205"/>
                <a:chExt cx="220106" cy="118288"/>
              </a:xfrm>
            </p:grpSpPr>
            <p:sp>
              <p:nvSpPr>
                <p:cNvPr id="22" name="Line 6"/>
                <p:cNvSpPr>
                  <a:spLocks noChangeShapeType="1"/>
                </p:cNvSpPr>
                <p:nvPr/>
              </p:nvSpPr>
              <p:spPr bwMode="auto">
                <a:xfrm rot="3600000">
                  <a:off x="4731865" y="2646932"/>
                  <a:ext cx="2790" cy="17233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3" name="Line 7"/>
                <p:cNvSpPr>
                  <a:spLocks noChangeShapeType="1"/>
                </p:cNvSpPr>
                <p:nvPr/>
              </p:nvSpPr>
              <p:spPr bwMode="auto">
                <a:xfrm rot="7200000">
                  <a:off x="4730741" y="2526283"/>
                  <a:ext cx="6138" cy="18598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4" name="Oval 8"/>
                <p:cNvSpPr>
                  <a:spLocks noChangeArrowheads="1"/>
                </p:cNvSpPr>
                <p:nvPr/>
              </p:nvSpPr>
              <p:spPr bwMode="auto">
                <a:xfrm rot="10800000">
                  <a:off x="4790400" y="2636850"/>
                  <a:ext cx="70525" cy="69187"/>
                </a:xfrm>
                <a:prstGeom prst="ellipse">
                  <a:avLst/>
                </a:prstGeom>
                <a:solidFill>
                  <a:srgbClr val="FFFFFF"/>
                </a:solid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grpSp>
        <p:sp>
          <p:nvSpPr>
            <p:cNvPr id="14" name="Text Box 133"/>
            <p:cNvSpPr txBox="1">
              <a:spLocks noChangeArrowheads="1"/>
            </p:cNvSpPr>
            <p:nvPr/>
          </p:nvSpPr>
          <p:spPr bwMode="auto">
            <a:xfrm>
              <a:off x="1429937" y="4495003"/>
              <a:ext cx="338554"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1800" i="1" dirty="0">
                  <a:solidFill>
                    <a:srgbClr val="080808"/>
                  </a:solidFill>
                  <a:latin typeface="Times New Roman" panose="02020603050405020304" pitchFamily="18" charset="0"/>
                  <a:ea typeface="宋体" panose="02010600030101010101" pitchFamily="2" charset="-122"/>
                </a:rPr>
                <a:t>A</a:t>
              </a:r>
            </a:p>
          </p:txBody>
        </p:sp>
        <p:sp>
          <p:nvSpPr>
            <p:cNvPr id="15" name="Text Box 133"/>
            <p:cNvSpPr txBox="1">
              <a:spLocks noChangeArrowheads="1"/>
            </p:cNvSpPr>
            <p:nvPr/>
          </p:nvSpPr>
          <p:spPr bwMode="auto">
            <a:xfrm>
              <a:off x="3671140" y="4805825"/>
              <a:ext cx="338554"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1800" i="1" dirty="0">
                  <a:solidFill>
                    <a:srgbClr val="080808"/>
                  </a:solidFill>
                  <a:latin typeface="Times New Roman" panose="02020603050405020304" pitchFamily="18" charset="0"/>
                  <a:ea typeface="宋体" panose="02010600030101010101" pitchFamily="2" charset="-122"/>
                </a:rPr>
                <a:t>B</a:t>
              </a:r>
            </a:p>
          </p:txBody>
        </p:sp>
        <p:sp>
          <p:nvSpPr>
            <p:cNvPr id="16" name="Text Box 133"/>
            <p:cNvSpPr txBox="1">
              <a:spLocks noChangeArrowheads="1"/>
            </p:cNvSpPr>
            <p:nvPr/>
          </p:nvSpPr>
          <p:spPr bwMode="auto">
            <a:xfrm>
              <a:off x="2173674" y="3637551"/>
              <a:ext cx="338554"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1800" i="1" dirty="0">
                  <a:solidFill>
                    <a:srgbClr val="080808"/>
                  </a:solidFill>
                  <a:latin typeface="Times New Roman" panose="02020603050405020304" pitchFamily="18" charset="0"/>
                  <a:ea typeface="宋体" panose="02010600030101010101" pitchFamily="2" charset="-122"/>
                </a:rPr>
                <a:t>C</a:t>
              </a:r>
            </a:p>
          </p:txBody>
        </p:sp>
        <p:sp>
          <p:nvSpPr>
            <p:cNvPr id="17" name="Line 97"/>
            <p:cNvSpPr>
              <a:spLocks noChangeShapeType="1"/>
            </p:cNvSpPr>
            <p:nvPr/>
          </p:nvSpPr>
          <p:spPr bwMode="auto">
            <a:xfrm>
              <a:off x="2512420" y="3896291"/>
              <a:ext cx="0" cy="976749"/>
            </a:xfrm>
            <a:prstGeom prst="line">
              <a:avLst/>
            </a:prstGeom>
            <a:noFill/>
            <a:ln w="12700">
              <a:solidFill>
                <a:schemeClr val="tx2"/>
              </a:solidFill>
              <a:prstDash val="dash"/>
              <a:round/>
              <a:headEnd type="none" w="sm" len="sm"/>
              <a:tailEnd type="none" w="sm" len="sm"/>
            </a:ln>
          </p:spPr>
          <p:txBody>
            <a:bodyPr wrap="none" anchor="ct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grpSp>
          <p:nvGrpSpPr>
            <p:cNvPr id="32" name="组合 31"/>
            <p:cNvGrpSpPr/>
            <p:nvPr/>
          </p:nvGrpSpPr>
          <p:grpSpPr>
            <a:xfrm>
              <a:off x="3840348" y="4869160"/>
              <a:ext cx="324000" cy="323061"/>
              <a:chOff x="3513600" y="3781873"/>
              <a:chExt cx="324000" cy="323061"/>
            </a:xfrm>
          </p:grpSpPr>
          <p:grpSp>
            <p:nvGrpSpPr>
              <p:cNvPr id="27" name="组合 26"/>
              <p:cNvGrpSpPr/>
              <p:nvPr/>
            </p:nvGrpSpPr>
            <p:grpSpPr>
              <a:xfrm rot="16200000">
                <a:off x="3559769" y="3863111"/>
                <a:ext cx="233719" cy="71243"/>
                <a:chOff x="814239" y="1757329"/>
                <a:chExt cx="233719" cy="71243"/>
              </a:xfrm>
            </p:grpSpPr>
            <p:sp>
              <p:nvSpPr>
                <p:cNvPr id="13" name="Line 73"/>
                <p:cNvSpPr>
                  <a:spLocks noChangeShapeType="1"/>
                </p:cNvSpPr>
                <p:nvPr/>
              </p:nvSpPr>
              <p:spPr bwMode="auto">
                <a:xfrm>
                  <a:off x="853947" y="1791922"/>
                  <a:ext cx="144000" cy="0"/>
                </a:xfrm>
                <a:prstGeom prst="line">
                  <a:avLst/>
                </a:prstGeom>
                <a:noFill/>
                <a:ln w="2222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Oval 8"/>
                <p:cNvSpPr>
                  <a:spLocks noChangeArrowheads="1"/>
                </p:cNvSpPr>
                <p:nvPr/>
              </p:nvSpPr>
              <p:spPr bwMode="auto">
                <a:xfrm rot="10800000">
                  <a:off x="977433" y="1757329"/>
                  <a:ext cx="70525" cy="69187"/>
                </a:xfrm>
                <a:prstGeom prst="ellipse">
                  <a:avLst/>
                </a:prstGeom>
                <a:solidFill>
                  <a:srgbClr val="FFFFFF"/>
                </a:solid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1" name="Oval 8"/>
                <p:cNvSpPr>
                  <a:spLocks noChangeArrowheads="1"/>
                </p:cNvSpPr>
                <p:nvPr/>
              </p:nvSpPr>
              <p:spPr bwMode="auto">
                <a:xfrm rot="10800000">
                  <a:off x="814239" y="1759385"/>
                  <a:ext cx="70525" cy="69187"/>
                </a:xfrm>
                <a:prstGeom prst="ellipse">
                  <a:avLst/>
                </a:prstGeom>
                <a:solidFill>
                  <a:srgbClr val="FFFFFF"/>
                </a:solid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grpSp>
            <p:nvGrpSpPr>
              <p:cNvPr id="28" name="Group 3"/>
              <p:cNvGrpSpPr>
                <a:grpSpLocks/>
              </p:cNvGrpSpPr>
              <p:nvPr/>
            </p:nvGrpSpPr>
            <p:grpSpPr bwMode="auto">
              <a:xfrm>
                <a:off x="3513600" y="4017915"/>
                <a:ext cx="324000" cy="87019"/>
                <a:chOff x="4235" y="3434"/>
                <a:chExt cx="470" cy="179"/>
              </a:xfrm>
            </p:grpSpPr>
            <p:sp>
              <p:nvSpPr>
                <p:cNvPr id="29" name="Rectangle 4" descr="宽上对角线"/>
                <p:cNvSpPr>
                  <a:spLocks noChangeArrowheads="1"/>
                </p:cNvSpPr>
                <p:nvPr/>
              </p:nvSpPr>
              <p:spPr bwMode="auto">
                <a:xfrm>
                  <a:off x="4235" y="3434"/>
                  <a:ext cx="464" cy="179"/>
                </a:xfrm>
                <a:prstGeom prst="rect">
                  <a:avLst/>
                </a:prstGeom>
                <a:pattFill prst="wdUpDiag">
                  <a:fgClr>
                    <a:srgbClr val="000000"/>
                  </a:fgClr>
                  <a:bgClr>
                    <a:srgbClr val="FFFFFF"/>
                  </a:bgClr>
                </a:pattFill>
                <a:ln>
                  <a:noFill/>
                </a:ln>
                <a:extLst>
                  <a:ext uri="{91240B29-F687-4F45-9708-019B960494DF}">
                    <a14:hiddenLine xmlns:a14="http://schemas.microsoft.com/office/drawing/2010/main" w="190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0" name="Line 5"/>
                <p:cNvSpPr>
                  <a:spLocks noChangeShapeType="1"/>
                </p:cNvSpPr>
                <p:nvPr/>
              </p:nvSpPr>
              <p:spPr bwMode="auto">
                <a:xfrm>
                  <a:off x="4235" y="3434"/>
                  <a:ext cx="470" cy="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sp>
          <p:nvSpPr>
            <p:cNvPr id="33" name="Line 73"/>
            <p:cNvSpPr>
              <a:spLocks noChangeShapeType="1"/>
            </p:cNvSpPr>
            <p:nvPr/>
          </p:nvSpPr>
          <p:spPr bwMode="auto">
            <a:xfrm flipV="1">
              <a:off x="1638256" y="3912767"/>
              <a:ext cx="862843" cy="959773"/>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Oval 80"/>
            <p:cNvSpPr>
              <a:spLocks noChangeAspect="1" noChangeArrowheads="1"/>
            </p:cNvSpPr>
            <p:nvPr/>
          </p:nvSpPr>
          <p:spPr bwMode="auto">
            <a:xfrm>
              <a:off x="2473337" y="3886074"/>
              <a:ext cx="75600" cy="75600"/>
            </a:xfrm>
            <a:prstGeom prst="ellipse">
              <a:avLst/>
            </a:prstGeom>
            <a:solidFill>
              <a:schemeClr val="bg1"/>
            </a:solidFill>
            <a:ln w="28575">
              <a:solidFill>
                <a:schemeClr val="tx1"/>
              </a:solidFill>
              <a:round/>
              <a:headEnd/>
              <a:tailEnd/>
            </a:ln>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34" name="Line 105"/>
            <p:cNvSpPr>
              <a:spLocks noChangeShapeType="1"/>
            </p:cNvSpPr>
            <p:nvPr/>
          </p:nvSpPr>
          <p:spPr bwMode="auto">
            <a:xfrm>
              <a:off x="2504183" y="5301208"/>
              <a:ext cx="1496098" cy="0"/>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Line 106"/>
            <p:cNvSpPr>
              <a:spLocks noChangeShapeType="1"/>
            </p:cNvSpPr>
            <p:nvPr/>
          </p:nvSpPr>
          <p:spPr bwMode="auto">
            <a:xfrm>
              <a:off x="2512420" y="4914230"/>
              <a:ext cx="0" cy="525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Line 106"/>
            <p:cNvSpPr>
              <a:spLocks noChangeShapeType="1"/>
            </p:cNvSpPr>
            <p:nvPr/>
          </p:nvSpPr>
          <p:spPr bwMode="auto">
            <a:xfrm>
              <a:off x="4003466" y="5102880"/>
              <a:ext cx="0" cy="33681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Line 106"/>
            <p:cNvSpPr>
              <a:spLocks noChangeShapeType="1"/>
            </p:cNvSpPr>
            <p:nvPr/>
          </p:nvSpPr>
          <p:spPr bwMode="auto">
            <a:xfrm>
              <a:off x="1609639" y="5084669"/>
              <a:ext cx="0" cy="33681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Line 105"/>
            <p:cNvSpPr>
              <a:spLocks noChangeShapeType="1"/>
            </p:cNvSpPr>
            <p:nvPr/>
          </p:nvSpPr>
          <p:spPr bwMode="auto">
            <a:xfrm>
              <a:off x="1599705" y="5301208"/>
              <a:ext cx="904477" cy="0"/>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106"/>
            <p:cNvSpPr>
              <a:spLocks noChangeShapeType="1"/>
            </p:cNvSpPr>
            <p:nvPr/>
          </p:nvSpPr>
          <p:spPr bwMode="auto">
            <a:xfrm rot="5400000">
              <a:off x="1829127" y="3271122"/>
              <a:ext cx="0" cy="128300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Line 106"/>
            <p:cNvSpPr>
              <a:spLocks noChangeShapeType="1"/>
            </p:cNvSpPr>
            <p:nvPr/>
          </p:nvSpPr>
          <p:spPr bwMode="auto">
            <a:xfrm rot="5400000">
              <a:off x="1392078" y="4721622"/>
              <a:ext cx="0" cy="33681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Line 105"/>
            <p:cNvSpPr>
              <a:spLocks noChangeShapeType="1"/>
            </p:cNvSpPr>
            <p:nvPr/>
          </p:nvSpPr>
          <p:spPr bwMode="auto">
            <a:xfrm rot="5400000">
              <a:off x="922575" y="4410027"/>
              <a:ext cx="972300" cy="0"/>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Rectangle 92"/>
            <p:cNvSpPr>
              <a:spLocks noChangeArrowheads="1"/>
            </p:cNvSpPr>
            <p:nvPr/>
          </p:nvSpPr>
          <p:spPr bwMode="auto">
            <a:xfrm>
              <a:off x="983220" y="4161867"/>
              <a:ext cx="480901"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1800" dirty="0">
                  <a:latin typeface="Times New Roman" panose="02020603050405020304" pitchFamily="18" charset="0"/>
                  <a:ea typeface="华文楷体" panose="02010600040101010101" pitchFamily="2" charset="-122"/>
                </a:rPr>
                <a:t>2m</a:t>
              </a:r>
            </a:p>
          </p:txBody>
        </p:sp>
        <p:sp>
          <p:nvSpPr>
            <p:cNvPr id="43" name="Rectangle 92"/>
            <p:cNvSpPr>
              <a:spLocks noChangeArrowheads="1"/>
            </p:cNvSpPr>
            <p:nvPr/>
          </p:nvSpPr>
          <p:spPr bwMode="auto">
            <a:xfrm>
              <a:off x="1831865" y="4981995"/>
              <a:ext cx="654025"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1800" dirty="0">
                  <a:latin typeface="Times New Roman" panose="02020603050405020304" pitchFamily="18" charset="0"/>
                  <a:ea typeface="华文楷体" panose="02010600040101010101" pitchFamily="2" charset="-122"/>
                </a:rPr>
                <a:t>1.5m</a:t>
              </a:r>
            </a:p>
          </p:txBody>
        </p:sp>
      </p:grpSp>
      <p:sp>
        <p:nvSpPr>
          <p:cNvPr id="45" name="Rectangle 10"/>
          <p:cNvSpPr>
            <a:spLocks noChangeArrowheads="1"/>
          </p:cNvSpPr>
          <p:nvPr/>
        </p:nvSpPr>
        <p:spPr bwMode="auto">
          <a:xfrm>
            <a:off x="513094" y="424260"/>
            <a:ext cx="571277"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latin typeface="Times New Roman" panose="02020603050405020304" pitchFamily="18" charset="0"/>
                <a:ea typeface="楷体_GB2312" pitchFamily="49" charset="-122"/>
              </a:rPr>
              <a:t>  </a:t>
            </a:r>
          </a:p>
        </p:txBody>
      </p:sp>
      <p:sp>
        <p:nvSpPr>
          <p:cNvPr id="46" name="Rectangle 12"/>
          <p:cNvSpPr>
            <a:spLocks noChangeArrowheads="1"/>
          </p:cNvSpPr>
          <p:nvPr/>
        </p:nvSpPr>
        <p:spPr bwMode="auto">
          <a:xfrm>
            <a:off x="509912" y="424259"/>
            <a:ext cx="4751444" cy="12009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b="1" dirty="0">
                <a:solidFill>
                  <a:srgbClr val="FF3300"/>
                </a:solidFill>
                <a:latin typeface="楷体" panose="02010609060101010101" pitchFamily="49" charset="-122"/>
                <a:ea typeface="楷体" panose="02010609060101010101" pitchFamily="49" charset="-122"/>
              </a:rPr>
              <a:t>例 </a:t>
            </a:r>
            <a:r>
              <a:rPr kumimoji="1" lang="zh-CN" altLang="en-US" sz="2400" b="1" dirty="0">
                <a:latin typeface="+mn-lt"/>
                <a:ea typeface="楷体" panose="02010609060101010101" pitchFamily="49" charset="-122"/>
              </a:rPr>
              <a:t>求</a:t>
            </a:r>
            <a:r>
              <a:rPr lang="zh-CN" altLang="en-US" b="1" dirty="0">
                <a:latin typeface="+mn-lt"/>
                <a:ea typeface="楷体" panose="02010609060101010101" pitchFamily="49" charset="-122"/>
              </a:rPr>
              <a:t>图示</a:t>
            </a:r>
            <a:r>
              <a:rPr lang="en-US" altLang="zh-CN" i="1" dirty="0">
                <a:latin typeface="+mn-lt"/>
                <a:ea typeface="楷体" panose="02010609060101010101" pitchFamily="49" charset="-122"/>
              </a:rPr>
              <a:t>C</a:t>
            </a:r>
            <a:r>
              <a:rPr lang="zh-CN" altLang="en-US" b="1" dirty="0">
                <a:latin typeface="+mn-lt"/>
                <a:ea typeface="楷体" panose="02010609060101010101" pitchFamily="49" charset="-122"/>
              </a:rPr>
              <a:t>点位移</a:t>
            </a:r>
            <a:r>
              <a:rPr kumimoji="1" lang="zh-CN" altLang="en-US" sz="2400" b="1" dirty="0">
                <a:latin typeface="Times New Roman" panose="02020603050405020304" pitchFamily="18" charset="0"/>
                <a:ea typeface="楷体_GB2312" pitchFamily="49" charset="-122"/>
              </a:rPr>
              <a:t>。</a:t>
            </a:r>
            <a:r>
              <a:rPr lang="zh-CN" altLang="en-US" b="1" dirty="0">
                <a:latin typeface="楷体" panose="02010609060101010101" pitchFamily="49" charset="-122"/>
                <a:ea typeface="楷体" panose="02010609060101010101" pitchFamily="49" charset="-122"/>
              </a:rPr>
              <a:t>已知各杆材料相同，</a:t>
            </a:r>
            <a:r>
              <a:rPr lang="en-US" altLang="zh-CN" i="1" dirty="0">
                <a:latin typeface="Times New Roman" panose="02020603050405020304" pitchFamily="18" charset="0"/>
                <a:ea typeface="华文楷体" panose="02010600040101010101" pitchFamily="2" charset="-122"/>
              </a:rPr>
              <a:t>A</a:t>
            </a:r>
            <a:r>
              <a:rPr lang="en-US" altLang="zh-CN" dirty="0">
                <a:latin typeface="Times New Roman" panose="02020603050405020304" pitchFamily="18" charset="0"/>
                <a:ea typeface="华文楷体" panose="02010600040101010101" pitchFamily="2" charset="-122"/>
              </a:rPr>
              <a:t>=300mm</a:t>
            </a:r>
            <a:r>
              <a:rPr lang="en-US" altLang="zh-CN" baseline="30000" dirty="0">
                <a:latin typeface="Times New Roman" panose="02020603050405020304" pitchFamily="18" charset="0"/>
                <a:ea typeface="华文楷体" panose="02010600040101010101" pitchFamily="2" charset="-122"/>
              </a:rPr>
              <a:t>2</a:t>
            </a:r>
            <a:r>
              <a:rPr lang="zh-CN" altLang="en-US" dirty="0">
                <a:latin typeface="Times New Roman" panose="02020603050405020304" pitchFamily="18" charset="0"/>
                <a:ea typeface="华文楷体" panose="02010600040101010101" pitchFamily="2" charset="-122"/>
              </a:rPr>
              <a:t>，</a:t>
            </a:r>
            <a:r>
              <a:rPr lang="en-US" altLang="zh-CN" i="1" dirty="0">
                <a:latin typeface="Times New Roman" panose="02020603050405020304" pitchFamily="18" charset="0"/>
                <a:ea typeface="华文楷体" panose="02010600040101010101" pitchFamily="2" charset="-122"/>
              </a:rPr>
              <a:t>E</a:t>
            </a:r>
            <a:r>
              <a:rPr lang="en-US" altLang="zh-CN" dirty="0">
                <a:latin typeface="Times New Roman" panose="02020603050405020304" pitchFamily="18" charset="0"/>
                <a:ea typeface="华文楷体" panose="02010600040101010101" pitchFamily="2" charset="-122"/>
              </a:rPr>
              <a:t>=200GPa</a:t>
            </a:r>
            <a:r>
              <a:rPr lang="zh-CN" altLang="en-US" dirty="0">
                <a:latin typeface="Times New Roman" panose="02020603050405020304" pitchFamily="18" charset="0"/>
                <a:ea typeface="华文楷体" panose="02010600040101010101" pitchFamily="2" charset="-122"/>
              </a:rPr>
              <a:t>，</a:t>
            </a:r>
            <a:r>
              <a:rPr lang="en-US" altLang="zh-CN" i="1" dirty="0">
                <a:latin typeface="Times New Roman" panose="02020603050405020304" pitchFamily="18" charset="0"/>
                <a:ea typeface="华文楷体" panose="02010600040101010101" pitchFamily="2" charset="-122"/>
              </a:rPr>
              <a:t>F</a:t>
            </a:r>
            <a:r>
              <a:rPr lang="en-US" altLang="zh-CN" dirty="0">
                <a:latin typeface="Times New Roman" panose="02020603050405020304" pitchFamily="18" charset="0"/>
                <a:ea typeface="华文楷体" panose="02010600040101010101" pitchFamily="2" charset="-122"/>
              </a:rPr>
              <a:t>=15kN</a:t>
            </a:r>
            <a:r>
              <a:rPr lang="zh-CN" altLang="en-US" b="1" dirty="0">
                <a:latin typeface="楷体" panose="02010609060101010101" pitchFamily="49" charset="-122"/>
                <a:ea typeface="楷体" panose="02010609060101010101" pitchFamily="49" charset="-122"/>
              </a:rPr>
              <a:t>。</a:t>
            </a:r>
            <a:endParaRPr lang="zh-CN" altLang="en-US" b="1" dirty="0">
              <a:latin typeface="Times New Roman" panose="02020603050405020304" pitchFamily="18" charset="0"/>
              <a:ea typeface="华文楷体" panose="02010600040101010101" pitchFamily="2" charset="-122"/>
            </a:endParaRPr>
          </a:p>
        </p:txBody>
      </p:sp>
      <p:sp>
        <p:nvSpPr>
          <p:cNvPr id="48" name="Text Box 98"/>
          <p:cNvSpPr txBox="1">
            <a:spLocks noChangeArrowheads="1"/>
          </p:cNvSpPr>
          <p:nvPr/>
        </p:nvSpPr>
        <p:spPr bwMode="auto">
          <a:xfrm>
            <a:off x="523406" y="1546332"/>
            <a:ext cx="744127"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kumimoji="1" lang="zh-CN" altLang="en-US" b="1" dirty="0">
                <a:solidFill>
                  <a:srgbClr val="0000FF"/>
                </a:solidFill>
                <a:latin typeface="楷体" panose="02010609060101010101" pitchFamily="49" charset="-122"/>
                <a:ea typeface="楷体" panose="02010609060101010101" pitchFamily="49" charset="-122"/>
              </a:rPr>
              <a:t>解</a:t>
            </a:r>
            <a:r>
              <a:rPr kumimoji="1" lang="en-US" altLang="zh-CN" b="1" dirty="0">
                <a:solidFill>
                  <a:srgbClr val="0000FF"/>
                </a:solidFill>
                <a:latin typeface="楷体" panose="02010609060101010101" pitchFamily="49" charset="-122"/>
                <a:ea typeface="楷体" panose="02010609060101010101" pitchFamily="49" charset="-122"/>
              </a:rPr>
              <a:t>:</a:t>
            </a:r>
            <a:endParaRPr kumimoji="1" lang="zh-CN" altLang="en-US" b="1" dirty="0">
              <a:solidFill>
                <a:srgbClr val="0000FF"/>
              </a:solidFill>
              <a:latin typeface="楷体" panose="02010609060101010101" pitchFamily="49" charset="-122"/>
              <a:ea typeface="楷体" panose="02010609060101010101" pitchFamily="49" charset="-122"/>
            </a:endParaRPr>
          </a:p>
        </p:txBody>
      </p:sp>
      <p:sp>
        <p:nvSpPr>
          <p:cNvPr id="53" name="矩形 52"/>
          <p:cNvSpPr/>
          <p:nvPr/>
        </p:nvSpPr>
        <p:spPr>
          <a:xfrm>
            <a:off x="1118661" y="1544130"/>
            <a:ext cx="2741456" cy="461665"/>
          </a:xfrm>
          <a:prstGeom prst="rect">
            <a:avLst/>
          </a:prstGeom>
        </p:spPr>
        <p:txBody>
          <a:bodyPr wrap="none">
            <a:spAutoFit/>
          </a:bodyPr>
          <a:lstStyle/>
          <a:p>
            <a:r>
              <a:rPr lang="en-US" altLang="zh-CN" i="1" dirty="0">
                <a:solidFill>
                  <a:srgbClr val="0000FF"/>
                </a:solidFill>
                <a:latin typeface="+mn-lt"/>
                <a:ea typeface="楷体" panose="02010609060101010101" pitchFamily="49" charset="-122"/>
              </a:rPr>
              <a:t>B</a:t>
            </a:r>
            <a:r>
              <a:rPr lang="zh-CN" altLang="en-US" i="1" dirty="0">
                <a:solidFill>
                  <a:srgbClr val="0000FF"/>
                </a:solidFill>
                <a:latin typeface="+mn-lt"/>
                <a:ea typeface="楷体" panose="02010609060101010101" pitchFamily="49" charset="-122"/>
              </a:rPr>
              <a:t>、</a:t>
            </a:r>
            <a:r>
              <a:rPr lang="en-US" altLang="zh-CN" i="1" dirty="0">
                <a:solidFill>
                  <a:srgbClr val="0000FF"/>
                </a:solidFill>
                <a:latin typeface="+mn-lt"/>
                <a:ea typeface="楷体" panose="02010609060101010101" pitchFamily="49" charset="-122"/>
              </a:rPr>
              <a:t>C</a:t>
            </a:r>
            <a:r>
              <a:rPr lang="zh-CN" altLang="en-US" b="1" dirty="0">
                <a:solidFill>
                  <a:srgbClr val="0000FF"/>
                </a:solidFill>
                <a:latin typeface="楷体" panose="02010609060101010101" pitchFamily="49" charset="-122"/>
                <a:ea typeface="楷体" panose="02010609060101010101" pitchFamily="49" charset="-122"/>
              </a:rPr>
              <a:t>两点都有位移</a:t>
            </a:r>
          </a:p>
        </p:txBody>
      </p:sp>
      <p:grpSp>
        <p:nvGrpSpPr>
          <p:cNvPr id="95" name="组合 94"/>
          <p:cNvGrpSpPr/>
          <p:nvPr/>
        </p:nvGrpSpPr>
        <p:grpSpPr>
          <a:xfrm>
            <a:off x="507008" y="2004791"/>
            <a:ext cx="2503701" cy="1268277"/>
            <a:chOff x="2663144" y="2238112"/>
            <a:chExt cx="2503701" cy="1268277"/>
          </a:xfrm>
        </p:grpSpPr>
        <p:sp>
          <p:nvSpPr>
            <p:cNvPr id="64" name="Line 97"/>
            <p:cNvSpPr>
              <a:spLocks noChangeShapeType="1"/>
            </p:cNvSpPr>
            <p:nvPr/>
          </p:nvSpPr>
          <p:spPr bwMode="auto">
            <a:xfrm>
              <a:off x="3628810" y="2904740"/>
              <a:ext cx="0" cy="601649"/>
            </a:xfrm>
            <a:prstGeom prst="line">
              <a:avLst/>
            </a:prstGeom>
            <a:noFill/>
            <a:ln w="12700">
              <a:solidFill>
                <a:schemeClr val="tx2"/>
              </a:solidFill>
              <a:prstDash val="dash"/>
              <a:round/>
              <a:headEnd type="none" w="sm" len="sm"/>
              <a:tailEnd type="none" w="sm" len="sm"/>
            </a:ln>
          </p:spPr>
          <p:txBody>
            <a:bodyPr wrap="none" anchor="ctr"/>
            <a:lstStyle/>
            <a:p>
              <a:pPr>
                <a:defRPr/>
              </a:pPr>
              <a:endParaRPr lang="zh-CN" altLang="en-US">
                <a:solidFill>
                  <a:schemeClr val="tx1">
                    <a:lumMod val="60000"/>
                    <a:lumOff val="40000"/>
                  </a:schemeClr>
                </a:solidFill>
                <a:latin typeface="Times New Roman" pitchFamily="18" charset="0"/>
                <a:ea typeface="华文楷体" pitchFamily="2" charset="-122"/>
                <a:cs typeface="Times New Roman" pitchFamily="18" charset="0"/>
              </a:endParaRPr>
            </a:p>
          </p:txBody>
        </p:sp>
        <p:grpSp>
          <p:nvGrpSpPr>
            <p:cNvPr id="94" name="组合 93"/>
            <p:cNvGrpSpPr/>
            <p:nvPr/>
          </p:nvGrpSpPr>
          <p:grpSpPr>
            <a:xfrm>
              <a:off x="2663144" y="2238112"/>
              <a:ext cx="2503701" cy="1268277"/>
              <a:chOff x="2744561" y="2852936"/>
              <a:chExt cx="2503701" cy="1268277"/>
            </a:xfrm>
          </p:grpSpPr>
          <p:grpSp>
            <p:nvGrpSpPr>
              <p:cNvPr id="52" name="组合 51"/>
              <p:cNvGrpSpPr/>
              <p:nvPr/>
            </p:nvGrpSpPr>
            <p:grpSpPr>
              <a:xfrm>
                <a:off x="3461527" y="3593838"/>
                <a:ext cx="497400" cy="386491"/>
                <a:chOff x="6550106" y="1134553"/>
                <a:chExt cx="497400" cy="386491"/>
              </a:xfrm>
            </p:grpSpPr>
            <p:graphicFrame>
              <p:nvGraphicFramePr>
                <p:cNvPr id="8" name="Object 77"/>
                <p:cNvGraphicFramePr>
                  <a:graphicFrameLocks/>
                </p:cNvGraphicFramePr>
                <p:nvPr/>
              </p:nvGraphicFramePr>
              <p:xfrm>
                <a:off x="6550106" y="1324194"/>
                <a:ext cx="190500" cy="196850"/>
              </p:xfrm>
              <a:graphic>
                <a:graphicData uri="http://schemas.openxmlformats.org/presentationml/2006/ole">
                  <mc:AlternateContent xmlns:mc="http://schemas.openxmlformats.org/markup-compatibility/2006">
                    <mc:Choice xmlns:v="urn:schemas-microsoft-com:vml" Requires="v">
                      <p:oleObj name="Equation" r:id="rId2" imgW="152280" imgH="139680" progId="Equation.DSMT4">
                        <p:embed/>
                      </p:oleObj>
                    </mc:Choice>
                    <mc:Fallback>
                      <p:oleObj name="Equation" r:id="rId2" imgW="152280" imgH="139680" progId="Equation.DSMT4">
                        <p:embed/>
                        <p:pic>
                          <p:nvPicPr>
                            <p:cNvPr id="0" name=""/>
                            <p:cNvPicPr>
                              <a:picLocks noChangeArrowheads="1"/>
                            </p:cNvPicPr>
                            <p:nvPr/>
                          </p:nvPicPr>
                          <p:blipFill>
                            <a:blip r:embed="rId3"/>
                            <a:srcRect/>
                            <a:stretch>
                              <a:fillRect/>
                            </a:stretch>
                          </p:blipFill>
                          <p:spPr bwMode="auto">
                            <a:xfrm>
                              <a:off x="6550106" y="1324194"/>
                              <a:ext cx="190500" cy="196850"/>
                            </a:xfrm>
                            <a:prstGeom prst="rect">
                              <a:avLst/>
                            </a:prstGeom>
                            <a:noFill/>
                            <a:ln>
                              <a:noFill/>
                            </a:ln>
                            <a:effectLst/>
                          </p:spPr>
                        </p:pic>
                      </p:oleObj>
                    </mc:Fallback>
                  </mc:AlternateContent>
                </a:graphicData>
              </a:graphic>
            </p:graphicFrame>
            <p:sp>
              <p:nvSpPr>
                <p:cNvPr id="49" name="Arc 54"/>
                <p:cNvSpPr>
                  <a:spLocks noChangeAspect="1"/>
                </p:cNvSpPr>
                <p:nvPr/>
              </p:nvSpPr>
              <p:spPr bwMode="auto">
                <a:xfrm rot="15000000">
                  <a:off x="6638052" y="1224893"/>
                  <a:ext cx="140142" cy="106918"/>
                </a:xfrm>
                <a:custGeom>
                  <a:avLst/>
                  <a:gdLst>
                    <a:gd name="T0" fmla="*/ 0 w 21600"/>
                    <a:gd name="T1" fmla="*/ 144 h 21595"/>
                    <a:gd name="T2" fmla="*/ 47 w 21600"/>
                    <a:gd name="T3" fmla="*/ 0 h 21595"/>
                    <a:gd name="T4" fmla="*/ 48 w 21600"/>
                    <a:gd name="T5" fmla="*/ 144 h 21595"/>
                    <a:gd name="T6" fmla="*/ 0 60000 65536"/>
                    <a:gd name="T7" fmla="*/ 0 60000 65536"/>
                    <a:gd name="T8" fmla="*/ 0 60000 65536"/>
                  </a:gdLst>
                  <a:ahLst/>
                  <a:cxnLst>
                    <a:cxn ang="T6">
                      <a:pos x="T0" y="T1"/>
                    </a:cxn>
                    <a:cxn ang="T7">
                      <a:pos x="T2" y="T3"/>
                    </a:cxn>
                    <a:cxn ang="T8">
                      <a:pos x="T4" y="T5"/>
                    </a:cxn>
                  </a:cxnLst>
                  <a:rect l="0" t="0" r="r" b="b"/>
                  <a:pathLst>
                    <a:path w="21600" h="21595" fill="none" extrusionOk="0">
                      <a:moveTo>
                        <a:pt x="0" y="21594"/>
                      </a:moveTo>
                      <a:cubicBezTo>
                        <a:pt x="0" y="9841"/>
                        <a:pt x="9398" y="244"/>
                        <a:pt x="21149" y="-1"/>
                      </a:cubicBezTo>
                    </a:path>
                    <a:path w="21600" h="21595" stroke="0" extrusionOk="0">
                      <a:moveTo>
                        <a:pt x="0" y="21594"/>
                      </a:moveTo>
                      <a:cubicBezTo>
                        <a:pt x="0" y="9841"/>
                        <a:pt x="9398" y="244"/>
                        <a:pt x="21149" y="-1"/>
                      </a:cubicBezTo>
                      <a:lnTo>
                        <a:pt x="21600" y="21595"/>
                      </a:lnTo>
                      <a:lnTo>
                        <a:pt x="0" y="21594"/>
                      </a:lnTo>
                      <a:close/>
                    </a:path>
                  </a:pathLst>
                </a:custGeom>
                <a:noFill/>
                <a:ln w="1905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Arc 54"/>
                <p:cNvSpPr>
                  <a:spLocks noChangeAspect="1"/>
                </p:cNvSpPr>
                <p:nvPr/>
              </p:nvSpPr>
              <p:spPr bwMode="auto">
                <a:xfrm rot="10980000">
                  <a:off x="6821756" y="1134553"/>
                  <a:ext cx="140142" cy="106918"/>
                </a:xfrm>
                <a:custGeom>
                  <a:avLst/>
                  <a:gdLst>
                    <a:gd name="T0" fmla="*/ 0 w 21600"/>
                    <a:gd name="T1" fmla="*/ 144 h 21595"/>
                    <a:gd name="T2" fmla="*/ 47 w 21600"/>
                    <a:gd name="T3" fmla="*/ 0 h 21595"/>
                    <a:gd name="T4" fmla="*/ 48 w 21600"/>
                    <a:gd name="T5" fmla="*/ 144 h 21595"/>
                    <a:gd name="T6" fmla="*/ 0 60000 65536"/>
                    <a:gd name="T7" fmla="*/ 0 60000 65536"/>
                    <a:gd name="T8" fmla="*/ 0 60000 65536"/>
                  </a:gdLst>
                  <a:ahLst/>
                  <a:cxnLst>
                    <a:cxn ang="T6">
                      <a:pos x="T0" y="T1"/>
                    </a:cxn>
                    <a:cxn ang="T7">
                      <a:pos x="T2" y="T3"/>
                    </a:cxn>
                    <a:cxn ang="T8">
                      <a:pos x="T4" y="T5"/>
                    </a:cxn>
                  </a:cxnLst>
                  <a:rect l="0" t="0" r="r" b="b"/>
                  <a:pathLst>
                    <a:path w="21600" h="21595" fill="none" extrusionOk="0">
                      <a:moveTo>
                        <a:pt x="0" y="21594"/>
                      </a:moveTo>
                      <a:cubicBezTo>
                        <a:pt x="0" y="9841"/>
                        <a:pt x="9398" y="244"/>
                        <a:pt x="21149" y="-1"/>
                      </a:cubicBezTo>
                    </a:path>
                    <a:path w="21600" h="21595" stroke="0" extrusionOk="0">
                      <a:moveTo>
                        <a:pt x="0" y="21594"/>
                      </a:moveTo>
                      <a:cubicBezTo>
                        <a:pt x="0" y="9841"/>
                        <a:pt x="9398" y="244"/>
                        <a:pt x="21149" y="-1"/>
                      </a:cubicBezTo>
                      <a:lnTo>
                        <a:pt x="21600" y="21595"/>
                      </a:lnTo>
                      <a:lnTo>
                        <a:pt x="0" y="21594"/>
                      </a:lnTo>
                      <a:close/>
                    </a:path>
                  </a:pathLst>
                </a:custGeom>
                <a:noFill/>
                <a:ln w="1905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1" name="Object 77"/>
                <p:cNvGraphicFramePr>
                  <a:graphicFrameLocks/>
                </p:cNvGraphicFramePr>
                <p:nvPr/>
              </p:nvGraphicFramePr>
              <p:xfrm>
                <a:off x="6857006" y="1175795"/>
                <a:ext cx="190500" cy="285750"/>
              </p:xfrm>
              <a:graphic>
                <a:graphicData uri="http://schemas.openxmlformats.org/presentationml/2006/ole">
                  <mc:AlternateContent xmlns:mc="http://schemas.openxmlformats.org/markup-compatibility/2006">
                    <mc:Choice xmlns:v="urn:schemas-microsoft-com:vml" Requires="v">
                      <p:oleObj name="Equation" r:id="rId4" imgW="152280" imgH="203040" progId="Equation.DSMT4">
                        <p:embed/>
                      </p:oleObj>
                    </mc:Choice>
                    <mc:Fallback>
                      <p:oleObj name="Equation" r:id="rId4" imgW="152280" imgH="203040" progId="Equation.DSMT4">
                        <p:embed/>
                        <p:pic>
                          <p:nvPicPr>
                            <p:cNvPr id="0" name=""/>
                            <p:cNvPicPr>
                              <a:picLocks noChangeArrowheads="1"/>
                            </p:cNvPicPr>
                            <p:nvPr/>
                          </p:nvPicPr>
                          <p:blipFill>
                            <a:blip r:embed="rId5"/>
                            <a:srcRect/>
                            <a:stretch>
                              <a:fillRect/>
                            </a:stretch>
                          </p:blipFill>
                          <p:spPr bwMode="auto">
                            <a:xfrm>
                              <a:off x="6857006" y="1175795"/>
                              <a:ext cx="190500" cy="285750"/>
                            </a:xfrm>
                            <a:prstGeom prst="rect">
                              <a:avLst/>
                            </a:prstGeom>
                            <a:noFill/>
                            <a:ln>
                              <a:noFill/>
                            </a:ln>
                            <a:effectLst/>
                          </p:spPr>
                        </p:pic>
                      </p:oleObj>
                    </mc:Fallback>
                  </mc:AlternateContent>
                </a:graphicData>
              </a:graphic>
            </p:graphicFrame>
          </p:grpSp>
          <p:sp>
            <p:nvSpPr>
              <p:cNvPr id="55" name="Line 72"/>
              <p:cNvSpPr>
                <a:spLocks noChangeAspect="1" noChangeShapeType="1"/>
              </p:cNvSpPr>
              <p:nvPr/>
            </p:nvSpPr>
            <p:spPr bwMode="auto">
              <a:xfrm>
                <a:off x="3741006" y="3511153"/>
                <a:ext cx="691386" cy="460015"/>
              </a:xfrm>
              <a:prstGeom prst="line">
                <a:avLst/>
              </a:prstGeom>
              <a:noFill/>
              <a:ln w="28575">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Line 74"/>
              <p:cNvSpPr>
                <a:spLocks noChangeShapeType="1"/>
              </p:cNvSpPr>
              <p:nvPr/>
            </p:nvSpPr>
            <p:spPr bwMode="auto">
              <a:xfrm>
                <a:off x="3710227" y="2920781"/>
                <a:ext cx="0" cy="533400"/>
              </a:xfrm>
              <a:prstGeom prst="line">
                <a:avLst/>
              </a:prstGeom>
              <a:noFill/>
              <a:ln w="28575">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Rectangle 75"/>
              <p:cNvSpPr>
                <a:spLocks noChangeArrowheads="1"/>
              </p:cNvSpPr>
              <p:nvPr/>
            </p:nvSpPr>
            <p:spPr bwMode="auto">
              <a:xfrm>
                <a:off x="3376103" y="2852936"/>
                <a:ext cx="35586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dirty="0">
                    <a:solidFill>
                      <a:srgbClr val="FF0000"/>
                    </a:solidFill>
                    <a:latin typeface="Times New Roman" panose="02020603050405020304" pitchFamily="18" charset="0"/>
                    <a:ea typeface="宋体" panose="02010600030101010101" pitchFamily="2" charset="-122"/>
                  </a:rPr>
                  <a:t>F</a:t>
                </a:r>
              </a:p>
            </p:txBody>
          </p:sp>
          <p:sp>
            <p:nvSpPr>
              <p:cNvPr id="63" name="Text Box 133"/>
              <p:cNvSpPr txBox="1">
                <a:spLocks noChangeArrowheads="1"/>
              </p:cNvSpPr>
              <p:nvPr/>
            </p:nvSpPr>
            <p:spPr bwMode="auto">
              <a:xfrm>
                <a:off x="3695602" y="3163052"/>
                <a:ext cx="338554"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1800" i="1" dirty="0">
                    <a:solidFill>
                      <a:srgbClr val="080808"/>
                    </a:solidFill>
                    <a:latin typeface="Times New Roman" panose="02020603050405020304" pitchFamily="18" charset="0"/>
                    <a:ea typeface="宋体" panose="02010600030101010101" pitchFamily="2" charset="-122"/>
                  </a:rPr>
                  <a:t>C</a:t>
                </a:r>
              </a:p>
            </p:txBody>
          </p:sp>
          <p:sp>
            <p:nvSpPr>
              <p:cNvPr id="66" name="Line 73"/>
              <p:cNvSpPr>
                <a:spLocks noChangeAspect="1" noChangeShapeType="1"/>
              </p:cNvSpPr>
              <p:nvPr/>
            </p:nvSpPr>
            <p:spPr bwMode="auto">
              <a:xfrm flipV="1">
                <a:off x="3332114" y="3497095"/>
                <a:ext cx="362394" cy="403106"/>
              </a:xfrm>
              <a:prstGeom prst="line">
                <a:avLst/>
              </a:prstGeom>
              <a:noFill/>
              <a:ln w="28575">
                <a:solidFill>
                  <a:srgbClr val="FF0000"/>
                </a:solidFill>
                <a:round/>
                <a:headEnd type="triangle"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Oval 80"/>
              <p:cNvSpPr>
                <a:spLocks noChangeAspect="1" noChangeArrowheads="1"/>
              </p:cNvSpPr>
              <p:nvPr/>
            </p:nvSpPr>
            <p:spPr bwMode="auto">
              <a:xfrm>
                <a:off x="3672427" y="3443964"/>
                <a:ext cx="75600" cy="75600"/>
              </a:xfrm>
              <a:prstGeom prst="ellipse">
                <a:avLst/>
              </a:prstGeom>
              <a:solidFill>
                <a:schemeClr val="bg1"/>
              </a:solidFill>
              <a:ln w="28575">
                <a:solidFill>
                  <a:schemeClr val="tx1"/>
                </a:solidFill>
                <a:round/>
                <a:headEnd/>
                <a:tailEnd/>
              </a:ln>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92" name="Rectangle 75"/>
              <p:cNvSpPr>
                <a:spLocks noChangeArrowheads="1"/>
              </p:cNvSpPr>
              <p:nvPr/>
            </p:nvSpPr>
            <p:spPr bwMode="auto">
              <a:xfrm>
                <a:off x="2744561" y="3720461"/>
                <a:ext cx="858054"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dirty="0">
                    <a:solidFill>
                      <a:srgbClr val="FF0000"/>
                    </a:solidFill>
                    <a:latin typeface="Times New Roman" panose="02020603050405020304" pitchFamily="18" charset="0"/>
                    <a:ea typeface="宋体" panose="02010600030101010101" pitchFamily="2" charset="-122"/>
                  </a:rPr>
                  <a:t>F</a:t>
                </a:r>
                <a:r>
                  <a:rPr kumimoji="1" lang="en-US" altLang="zh-CN" sz="2000" b="1" baseline="-25000" dirty="0">
                    <a:solidFill>
                      <a:srgbClr val="FF0000"/>
                    </a:solidFill>
                    <a:latin typeface="Times New Roman" panose="02020603050405020304" pitchFamily="18" charset="0"/>
                    <a:ea typeface="宋体" panose="02010600030101010101" pitchFamily="2" charset="-122"/>
                  </a:rPr>
                  <a:t>N</a:t>
                </a:r>
                <a:r>
                  <a:rPr kumimoji="1" lang="en-US" altLang="zh-CN" sz="2000" b="1" i="1" baseline="-25000" dirty="0">
                    <a:solidFill>
                      <a:srgbClr val="FF0000"/>
                    </a:solidFill>
                    <a:latin typeface="Times New Roman" panose="02020603050405020304" pitchFamily="18" charset="0"/>
                    <a:ea typeface="宋体" panose="02010600030101010101" pitchFamily="2" charset="-122"/>
                  </a:rPr>
                  <a:t>AC</a:t>
                </a:r>
              </a:p>
            </p:txBody>
          </p:sp>
          <p:sp>
            <p:nvSpPr>
              <p:cNvPr id="93" name="Rectangle 75"/>
              <p:cNvSpPr>
                <a:spLocks noChangeArrowheads="1"/>
              </p:cNvSpPr>
              <p:nvPr/>
            </p:nvSpPr>
            <p:spPr bwMode="auto">
              <a:xfrm>
                <a:off x="4390208" y="3670227"/>
                <a:ext cx="858054"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dirty="0">
                    <a:solidFill>
                      <a:srgbClr val="FF0000"/>
                    </a:solidFill>
                    <a:latin typeface="Times New Roman" panose="02020603050405020304" pitchFamily="18" charset="0"/>
                    <a:ea typeface="宋体" panose="02010600030101010101" pitchFamily="2" charset="-122"/>
                  </a:rPr>
                  <a:t>F</a:t>
                </a:r>
                <a:r>
                  <a:rPr kumimoji="1" lang="en-US" altLang="zh-CN" sz="2000" b="1" baseline="-25000" dirty="0">
                    <a:solidFill>
                      <a:srgbClr val="FF0000"/>
                    </a:solidFill>
                    <a:latin typeface="Times New Roman" panose="02020603050405020304" pitchFamily="18" charset="0"/>
                    <a:ea typeface="宋体" panose="02010600030101010101" pitchFamily="2" charset="-122"/>
                  </a:rPr>
                  <a:t>N</a:t>
                </a:r>
                <a:r>
                  <a:rPr kumimoji="1" lang="en-US" altLang="zh-CN" sz="2000" b="1" i="1" baseline="-25000" dirty="0">
                    <a:solidFill>
                      <a:srgbClr val="FF0000"/>
                    </a:solidFill>
                    <a:latin typeface="Times New Roman" panose="02020603050405020304" pitchFamily="18" charset="0"/>
                    <a:ea typeface="宋体" panose="02010600030101010101" pitchFamily="2" charset="-122"/>
                  </a:rPr>
                  <a:t>BC</a:t>
                </a:r>
              </a:p>
            </p:txBody>
          </p:sp>
        </p:grpSp>
      </p:grpSp>
      <p:grpSp>
        <p:nvGrpSpPr>
          <p:cNvPr id="114" name="组合 113"/>
          <p:cNvGrpSpPr/>
          <p:nvPr/>
        </p:nvGrpSpPr>
        <p:grpSpPr>
          <a:xfrm>
            <a:off x="2728803" y="1885483"/>
            <a:ext cx="1808408" cy="1441105"/>
            <a:chOff x="5487644" y="4637622"/>
            <a:chExt cx="1808408" cy="1441105"/>
          </a:xfrm>
        </p:grpSpPr>
        <p:sp>
          <p:nvSpPr>
            <p:cNvPr id="62" name="Text Box 133"/>
            <p:cNvSpPr txBox="1">
              <a:spLocks noChangeArrowheads="1"/>
            </p:cNvSpPr>
            <p:nvPr/>
          </p:nvSpPr>
          <p:spPr bwMode="auto">
            <a:xfrm>
              <a:off x="6515665" y="5233949"/>
              <a:ext cx="338554"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1800" i="1" dirty="0">
                  <a:solidFill>
                    <a:srgbClr val="080808"/>
                  </a:solidFill>
                  <a:latin typeface="Times New Roman" panose="02020603050405020304" pitchFamily="18" charset="0"/>
                  <a:ea typeface="宋体" panose="02010600030101010101" pitchFamily="2" charset="-122"/>
                </a:rPr>
                <a:t>B</a:t>
              </a:r>
            </a:p>
          </p:txBody>
        </p:sp>
        <p:sp>
          <p:nvSpPr>
            <p:cNvPr id="100" name="Line 72"/>
            <p:cNvSpPr>
              <a:spLocks noChangeAspect="1" noChangeShapeType="1"/>
            </p:cNvSpPr>
            <p:nvPr/>
          </p:nvSpPr>
          <p:spPr bwMode="auto">
            <a:xfrm rot="10800000">
              <a:off x="5786048" y="5028000"/>
              <a:ext cx="691386" cy="460015"/>
            </a:xfrm>
            <a:prstGeom prst="line">
              <a:avLst/>
            </a:prstGeom>
            <a:noFill/>
            <a:ln w="28575">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1" name="Line 74"/>
            <p:cNvSpPr>
              <a:spLocks noChangeShapeType="1"/>
            </p:cNvSpPr>
            <p:nvPr/>
          </p:nvSpPr>
          <p:spPr bwMode="auto">
            <a:xfrm rot="5400000">
              <a:off x="6176930" y="5233603"/>
              <a:ext cx="0" cy="533400"/>
            </a:xfrm>
            <a:prstGeom prst="line">
              <a:avLst/>
            </a:prstGeom>
            <a:noFill/>
            <a:ln w="28575">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 name="Oval 80"/>
            <p:cNvSpPr>
              <a:spLocks noChangeAspect="1" noChangeArrowheads="1"/>
            </p:cNvSpPr>
            <p:nvPr/>
          </p:nvSpPr>
          <p:spPr bwMode="auto">
            <a:xfrm>
              <a:off x="6457617" y="5462503"/>
              <a:ext cx="75600" cy="75600"/>
            </a:xfrm>
            <a:prstGeom prst="ellipse">
              <a:avLst/>
            </a:prstGeom>
            <a:solidFill>
              <a:schemeClr val="bg1"/>
            </a:solidFill>
            <a:ln w="28575">
              <a:solidFill>
                <a:schemeClr val="tx1"/>
              </a:solidFill>
              <a:round/>
              <a:headEnd/>
              <a:tailEnd/>
            </a:ln>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6" name="Rectangle 75"/>
            <p:cNvSpPr>
              <a:spLocks noChangeArrowheads="1"/>
            </p:cNvSpPr>
            <p:nvPr/>
          </p:nvSpPr>
          <p:spPr bwMode="auto">
            <a:xfrm>
              <a:off x="5579944" y="5457750"/>
              <a:ext cx="858054"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dirty="0">
                  <a:solidFill>
                    <a:srgbClr val="FF0000"/>
                  </a:solidFill>
                  <a:latin typeface="Times New Roman" panose="02020603050405020304" pitchFamily="18" charset="0"/>
                  <a:ea typeface="宋体" panose="02010600030101010101" pitchFamily="2" charset="-122"/>
                </a:rPr>
                <a:t>F</a:t>
              </a:r>
              <a:r>
                <a:rPr kumimoji="1" lang="en-US" altLang="zh-CN" sz="2000" b="1" baseline="-25000" dirty="0">
                  <a:solidFill>
                    <a:srgbClr val="FF0000"/>
                  </a:solidFill>
                  <a:latin typeface="Times New Roman" panose="02020603050405020304" pitchFamily="18" charset="0"/>
                  <a:ea typeface="宋体" panose="02010600030101010101" pitchFamily="2" charset="-122"/>
                </a:rPr>
                <a:t>N</a:t>
              </a:r>
              <a:r>
                <a:rPr kumimoji="1" lang="en-US" altLang="zh-CN" sz="2000" b="1" i="1" baseline="-25000" dirty="0">
                  <a:solidFill>
                    <a:srgbClr val="FF0000"/>
                  </a:solidFill>
                  <a:latin typeface="Times New Roman" panose="02020603050405020304" pitchFamily="18" charset="0"/>
                  <a:ea typeface="宋体" panose="02010600030101010101" pitchFamily="2" charset="-122"/>
                </a:rPr>
                <a:t>AB</a:t>
              </a:r>
            </a:p>
          </p:txBody>
        </p:sp>
        <p:sp>
          <p:nvSpPr>
            <p:cNvPr id="107" name="Rectangle 75"/>
            <p:cNvSpPr>
              <a:spLocks noChangeArrowheads="1"/>
            </p:cNvSpPr>
            <p:nvPr/>
          </p:nvSpPr>
          <p:spPr bwMode="auto">
            <a:xfrm>
              <a:off x="5487644" y="4637622"/>
              <a:ext cx="858054"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dirty="0">
                  <a:solidFill>
                    <a:srgbClr val="FF0000"/>
                  </a:solidFill>
                  <a:latin typeface="Times New Roman" panose="02020603050405020304" pitchFamily="18" charset="0"/>
                  <a:ea typeface="宋体" panose="02010600030101010101" pitchFamily="2" charset="-122"/>
                </a:rPr>
                <a:t>F</a:t>
              </a:r>
              <a:r>
                <a:rPr kumimoji="1" lang="en-US" altLang="zh-CN" sz="2000" b="1" baseline="-25000" dirty="0">
                  <a:solidFill>
                    <a:srgbClr val="FF0000"/>
                  </a:solidFill>
                  <a:latin typeface="Times New Roman" panose="02020603050405020304" pitchFamily="18" charset="0"/>
                  <a:ea typeface="宋体" panose="02010600030101010101" pitchFamily="2" charset="-122"/>
                </a:rPr>
                <a:t>N</a:t>
              </a:r>
              <a:r>
                <a:rPr kumimoji="1" lang="en-US" altLang="zh-CN" sz="2000" b="1" i="1" baseline="-25000" dirty="0">
                  <a:solidFill>
                    <a:srgbClr val="FF0000"/>
                  </a:solidFill>
                  <a:latin typeface="Times New Roman" panose="02020603050405020304" pitchFamily="18" charset="0"/>
                  <a:ea typeface="宋体" panose="02010600030101010101" pitchFamily="2" charset="-122"/>
                </a:rPr>
                <a:t>BC</a:t>
              </a:r>
            </a:p>
          </p:txBody>
        </p:sp>
        <p:sp>
          <p:nvSpPr>
            <p:cNvPr id="112" name="Line 74"/>
            <p:cNvSpPr>
              <a:spLocks noChangeShapeType="1"/>
            </p:cNvSpPr>
            <p:nvPr/>
          </p:nvSpPr>
          <p:spPr bwMode="auto">
            <a:xfrm flipV="1">
              <a:off x="6496856" y="5538103"/>
              <a:ext cx="0" cy="533400"/>
            </a:xfrm>
            <a:prstGeom prst="line">
              <a:avLst/>
            </a:prstGeom>
            <a:noFill/>
            <a:ln w="28575">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 name="Rectangle 75"/>
            <p:cNvSpPr>
              <a:spLocks noChangeArrowheads="1"/>
            </p:cNvSpPr>
            <p:nvPr/>
          </p:nvSpPr>
          <p:spPr bwMode="auto">
            <a:xfrm>
              <a:off x="6437998" y="5677975"/>
              <a:ext cx="858054"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dirty="0">
                  <a:solidFill>
                    <a:srgbClr val="FF0000"/>
                  </a:solidFill>
                  <a:latin typeface="Times New Roman" panose="02020603050405020304" pitchFamily="18" charset="0"/>
                  <a:ea typeface="宋体" panose="02010600030101010101" pitchFamily="2" charset="-122"/>
                </a:rPr>
                <a:t>F</a:t>
              </a:r>
              <a:r>
                <a:rPr kumimoji="1" lang="en-US" altLang="zh-CN" sz="2000" b="1" baseline="-25000" dirty="0">
                  <a:solidFill>
                    <a:srgbClr val="FF0000"/>
                  </a:solidFill>
                  <a:latin typeface="Times New Roman" panose="02020603050405020304" pitchFamily="18" charset="0"/>
                  <a:ea typeface="宋体" panose="02010600030101010101" pitchFamily="2" charset="-122"/>
                </a:rPr>
                <a:t>N</a:t>
              </a:r>
              <a:r>
                <a:rPr kumimoji="1" lang="en-US" altLang="zh-CN" sz="2000" b="1" i="1" baseline="-25000" dirty="0">
                  <a:solidFill>
                    <a:srgbClr val="FF0000"/>
                  </a:solidFill>
                  <a:latin typeface="Times New Roman" panose="02020603050405020304" pitchFamily="18" charset="0"/>
                  <a:ea typeface="宋体" panose="02010600030101010101" pitchFamily="2" charset="-122"/>
                </a:rPr>
                <a:t>B</a:t>
              </a:r>
            </a:p>
          </p:txBody>
        </p:sp>
      </p:grpSp>
      <p:graphicFrame>
        <p:nvGraphicFramePr>
          <p:cNvPr id="115" name="Object 95"/>
          <p:cNvGraphicFramePr>
            <a:graphicFrameLocks noChangeAspect="1"/>
          </p:cNvGraphicFramePr>
          <p:nvPr/>
        </p:nvGraphicFramePr>
        <p:xfrm>
          <a:off x="602555" y="3451223"/>
          <a:ext cx="2636838" cy="446088"/>
        </p:xfrm>
        <a:graphic>
          <a:graphicData uri="http://schemas.openxmlformats.org/presentationml/2006/ole">
            <mc:AlternateContent xmlns:mc="http://schemas.openxmlformats.org/markup-compatibility/2006">
              <mc:Choice xmlns:v="urn:schemas-microsoft-com:vml" Requires="v">
                <p:oleObj name="Equation" r:id="rId6" imgW="1422360" imgH="241200" progId="Equation.DSMT4">
                  <p:embed/>
                </p:oleObj>
              </mc:Choice>
              <mc:Fallback>
                <p:oleObj name="Equation" r:id="rId6" imgW="1422360" imgH="241200" progId="Equation.DSMT4">
                  <p:embed/>
                  <p:pic>
                    <p:nvPicPr>
                      <p:cNvPr id="0" name=""/>
                      <p:cNvPicPr>
                        <a:picLocks noChangeAspect="1" noChangeArrowheads="1"/>
                      </p:cNvPicPr>
                      <p:nvPr/>
                    </p:nvPicPr>
                    <p:blipFill>
                      <a:blip r:embed="rId7"/>
                      <a:srcRect/>
                      <a:stretch>
                        <a:fillRect/>
                      </a:stretch>
                    </p:blipFill>
                    <p:spPr bwMode="auto">
                      <a:xfrm>
                        <a:off x="602555" y="3451223"/>
                        <a:ext cx="2636838"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6" name="Object 95"/>
          <p:cNvGraphicFramePr>
            <a:graphicFrameLocks noChangeAspect="1"/>
          </p:cNvGraphicFramePr>
          <p:nvPr/>
        </p:nvGraphicFramePr>
        <p:xfrm>
          <a:off x="391846" y="3885969"/>
          <a:ext cx="3554413" cy="446088"/>
        </p:xfrm>
        <a:graphic>
          <a:graphicData uri="http://schemas.openxmlformats.org/presentationml/2006/ole">
            <mc:AlternateContent xmlns:mc="http://schemas.openxmlformats.org/markup-compatibility/2006">
              <mc:Choice xmlns:v="urn:schemas-microsoft-com:vml" Requires="v">
                <p:oleObj name="Equation" r:id="rId8" imgW="1917360" imgH="241200" progId="Equation.DSMT4">
                  <p:embed/>
                </p:oleObj>
              </mc:Choice>
              <mc:Fallback>
                <p:oleObj name="Equation" r:id="rId8" imgW="1917360" imgH="241200" progId="Equation.DSMT4">
                  <p:embed/>
                  <p:pic>
                    <p:nvPicPr>
                      <p:cNvPr id="0" name=""/>
                      <p:cNvPicPr>
                        <a:picLocks noChangeAspect="1" noChangeArrowheads="1"/>
                      </p:cNvPicPr>
                      <p:nvPr/>
                    </p:nvPicPr>
                    <p:blipFill>
                      <a:blip r:embed="rId9"/>
                      <a:srcRect/>
                      <a:stretch>
                        <a:fillRect/>
                      </a:stretch>
                    </p:blipFill>
                    <p:spPr bwMode="auto">
                      <a:xfrm>
                        <a:off x="391846" y="3885969"/>
                        <a:ext cx="3554413"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8" name="Object 95"/>
          <p:cNvGraphicFramePr>
            <a:graphicFrameLocks noChangeAspect="1"/>
          </p:cNvGraphicFramePr>
          <p:nvPr/>
        </p:nvGraphicFramePr>
        <p:xfrm>
          <a:off x="742950" y="4325938"/>
          <a:ext cx="2400300" cy="446087"/>
        </p:xfrm>
        <a:graphic>
          <a:graphicData uri="http://schemas.openxmlformats.org/presentationml/2006/ole">
            <mc:AlternateContent xmlns:mc="http://schemas.openxmlformats.org/markup-compatibility/2006">
              <mc:Choice xmlns:v="urn:schemas-microsoft-com:vml" Requires="v">
                <p:oleObj name="Equation" r:id="rId10" imgW="1295280" imgH="241200" progId="Equation.DSMT4">
                  <p:embed/>
                </p:oleObj>
              </mc:Choice>
              <mc:Fallback>
                <p:oleObj name="Equation" r:id="rId10" imgW="1295280" imgH="241200" progId="Equation.DSMT4">
                  <p:embed/>
                  <p:pic>
                    <p:nvPicPr>
                      <p:cNvPr id="0" name=""/>
                      <p:cNvPicPr>
                        <a:picLocks noChangeAspect="1" noChangeArrowheads="1"/>
                      </p:cNvPicPr>
                      <p:nvPr/>
                    </p:nvPicPr>
                    <p:blipFill>
                      <a:blip r:embed="rId11"/>
                      <a:srcRect/>
                      <a:stretch>
                        <a:fillRect/>
                      </a:stretch>
                    </p:blipFill>
                    <p:spPr bwMode="auto">
                      <a:xfrm>
                        <a:off x="742950" y="4325938"/>
                        <a:ext cx="2400300" cy="446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9" name="Object 95"/>
          <p:cNvGraphicFramePr>
            <a:graphicFrameLocks noChangeAspect="1"/>
          </p:cNvGraphicFramePr>
          <p:nvPr/>
        </p:nvGraphicFramePr>
        <p:xfrm>
          <a:off x="542925" y="4965700"/>
          <a:ext cx="1908175" cy="446088"/>
        </p:xfrm>
        <a:graphic>
          <a:graphicData uri="http://schemas.openxmlformats.org/presentationml/2006/ole">
            <mc:AlternateContent xmlns:mc="http://schemas.openxmlformats.org/markup-compatibility/2006">
              <mc:Choice xmlns:v="urn:schemas-microsoft-com:vml" Requires="v">
                <p:oleObj name="Equation" r:id="rId12" imgW="1028520" imgH="241200" progId="Equation.DSMT4">
                  <p:embed/>
                </p:oleObj>
              </mc:Choice>
              <mc:Fallback>
                <p:oleObj name="Equation" r:id="rId12" imgW="1028520" imgH="241200" progId="Equation.DSMT4">
                  <p:embed/>
                  <p:pic>
                    <p:nvPicPr>
                      <p:cNvPr id="0" name=""/>
                      <p:cNvPicPr>
                        <a:picLocks noChangeAspect="1" noChangeArrowheads="1"/>
                      </p:cNvPicPr>
                      <p:nvPr/>
                    </p:nvPicPr>
                    <p:blipFill>
                      <a:blip r:embed="rId13"/>
                      <a:srcRect/>
                      <a:stretch>
                        <a:fillRect/>
                      </a:stretch>
                    </p:blipFill>
                    <p:spPr bwMode="auto">
                      <a:xfrm>
                        <a:off x="542925" y="4965700"/>
                        <a:ext cx="1908175"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0" name="Object 95"/>
          <p:cNvGraphicFramePr>
            <a:graphicFrameLocks noChangeAspect="1"/>
          </p:cNvGraphicFramePr>
          <p:nvPr/>
        </p:nvGraphicFramePr>
        <p:xfrm>
          <a:off x="537411" y="5347149"/>
          <a:ext cx="1884362" cy="446087"/>
        </p:xfrm>
        <a:graphic>
          <a:graphicData uri="http://schemas.openxmlformats.org/presentationml/2006/ole">
            <mc:AlternateContent xmlns:mc="http://schemas.openxmlformats.org/markup-compatibility/2006">
              <mc:Choice xmlns:v="urn:schemas-microsoft-com:vml" Requires="v">
                <p:oleObj name="Equation" r:id="rId14" imgW="1015920" imgH="241200" progId="Equation.DSMT4">
                  <p:embed/>
                </p:oleObj>
              </mc:Choice>
              <mc:Fallback>
                <p:oleObj name="Equation" r:id="rId14" imgW="1015920" imgH="241200" progId="Equation.DSMT4">
                  <p:embed/>
                  <p:pic>
                    <p:nvPicPr>
                      <p:cNvPr id="0" name=""/>
                      <p:cNvPicPr>
                        <a:picLocks noChangeAspect="1" noChangeArrowheads="1"/>
                      </p:cNvPicPr>
                      <p:nvPr/>
                    </p:nvPicPr>
                    <p:blipFill>
                      <a:blip r:embed="rId15"/>
                      <a:srcRect/>
                      <a:stretch>
                        <a:fillRect/>
                      </a:stretch>
                    </p:blipFill>
                    <p:spPr bwMode="auto">
                      <a:xfrm>
                        <a:off x="537411" y="5347149"/>
                        <a:ext cx="1884362" cy="446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1" name="Object 95"/>
          <p:cNvGraphicFramePr>
            <a:graphicFrameLocks noChangeAspect="1"/>
          </p:cNvGraphicFramePr>
          <p:nvPr/>
        </p:nvGraphicFramePr>
        <p:xfrm>
          <a:off x="521363" y="5740382"/>
          <a:ext cx="1577975" cy="446087"/>
        </p:xfrm>
        <a:graphic>
          <a:graphicData uri="http://schemas.openxmlformats.org/presentationml/2006/ole">
            <mc:AlternateContent xmlns:mc="http://schemas.openxmlformats.org/markup-compatibility/2006">
              <mc:Choice xmlns:v="urn:schemas-microsoft-com:vml" Requires="v">
                <p:oleObj name="Equation" r:id="rId16" imgW="850680" imgH="241200" progId="Equation.DSMT4">
                  <p:embed/>
                </p:oleObj>
              </mc:Choice>
              <mc:Fallback>
                <p:oleObj name="Equation" r:id="rId16" imgW="850680" imgH="241200" progId="Equation.DSMT4">
                  <p:embed/>
                  <p:pic>
                    <p:nvPicPr>
                      <p:cNvPr id="0" name=""/>
                      <p:cNvPicPr>
                        <a:picLocks noChangeAspect="1" noChangeArrowheads="1"/>
                      </p:cNvPicPr>
                      <p:nvPr/>
                    </p:nvPicPr>
                    <p:blipFill>
                      <a:blip r:embed="rId17"/>
                      <a:srcRect/>
                      <a:stretch>
                        <a:fillRect/>
                      </a:stretch>
                    </p:blipFill>
                    <p:spPr bwMode="auto">
                      <a:xfrm>
                        <a:off x="521363" y="5740382"/>
                        <a:ext cx="1577975" cy="446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 name="Object 95"/>
          <p:cNvGraphicFramePr>
            <a:graphicFrameLocks noChangeAspect="1"/>
          </p:cNvGraphicFramePr>
          <p:nvPr/>
        </p:nvGraphicFramePr>
        <p:xfrm>
          <a:off x="2911475" y="4899025"/>
          <a:ext cx="1814513" cy="446088"/>
        </p:xfrm>
        <a:graphic>
          <a:graphicData uri="http://schemas.openxmlformats.org/presentationml/2006/ole">
            <mc:AlternateContent xmlns:mc="http://schemas.openxmlformats.org/markup-compatibility/2006">
              <mc:Choice xmlns:v="urn:schemas-microsoft-com:vml" Requires="v">
                <p:oleObj name="Equation" r:id="rId18" imgW="977760" imgH="241200" progId="Equation.DSMT4">
                  <p:embed/>
                </p:oleObj>
              </mc:Choice>
              <mc:Fallback>
                <p:oleObj name="Equation" r:id="rId18" imgW="977760" imgH="241200" progId="Equation.DSMT4">
                  <p:embed/>
                  <p:pic>
                    <p:nvPicPr>
                      <p:cNvPr id="0" name=""/>
                      <p:cNvPicPr>
                        <a:picLocks noChangeAspect="1" noChangeArrowheads="1"/>
                      </p:cNvPicPr>
                      <p:nvPr/>
                    </p:nvPicPr>
                    <p:blipFill>
                      <a:blip r:embed="rId19"/>
                      <a:srcRect/>
                      <a:stretch>
                        <a:fillRect/>
                      </a:stretch>
                    </p:blipFill>
                    <p:spPr bwMode="auto">
                      <a:xfrm>
                        <a:off x="2911475" y="4899025"/>
                        <a:ext cx="1814513"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 name="Object 95"/>
          <p:cNvGraphicFramePr>
            <a:graphicFrameLocks noChangeAspect="1"/>
          </p:cNvGraphicFramePr>
          <p:nvPr/>
        </p:nvGraphicFramePr>
        <p:xfrm>
          <a:off x="2887346" y="5329195"/>
          <a:ext cx="1814513" cy="446088"/>
        </p:xfrm>
        <a:graphic>
          <a:graphicData uri="http://schemas.openxmlformats.org/presentationml/2006/ole">
            <mc:AlternateContent xmlns:mc="http://schemas.openxmlformats.org/markup-compatibility/2006">
              <mc:Choice xmlns:v="urn:schemas-microsoft-com:vml" Requires="v">
                <p:oleObj name="Equation" r:id="rId20" imgW="977760" imgH="241200" progId="Equation.DSMT4">
                  <p:embed/>
                </p:oleObj>
              </mc:Choice>
              <mc:Fallback>
                <p:oleObj name="Equation" r:id="rId20" imgW="977760" imgH="241200" progId="Equation.DSMT4">
                  <p:embed/>
                  <p:pic>
                    <p:nvPicPr>
                      <p:cNvPr id="0" name=""/>
                      <p:cNvPicPr>
                        <a:picLocks noChangeAspect="1" noChangeArrowheads="1"/>
                      </p:cNvPicPr>
                      <p:nvPr/>
                    </p:nvPicPr>
                    <p:blipFill>
                      <a:blip r:embed="rId21"/>
                      <a:srcRect/>
                      <a:stretch>
                        <a:fillRect/>
                      </a:stretch>
                    </p:blipFill>
                    <p:spPr bwMode="auto">
                      <a:xfrm>
                        <a:off x="2887346" y="5329195"/>
                        <a:ext cx="1814513"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4" name="Object 95"/>
          <p:cNvGraphicFramePr>
            <a:graphicFrameLocks noChangeAspect="1"/>
          </p:cNvGraphicFramePr>
          <p:nvPr/>
        </p:nvGraphicFramePr>
        <p:xfrm>
          <a:off x="2869130" y="5767917"/>
          <a:ext cx="1814513" cy="446088"/>
        </p:xfrm>
        <a:graphic>
          <a:graphicData uri="http://schemas.openxmlformats.org/presentationml/2006/ole">
            <mc:AlternateContent xmlns:mc="http://schemas.openxmlformats.org/markup-compatibility/2006">
              <mc:Choice xmlns:v="urn:schemas-microsoft-com:vml" Requires="v">
                <p:oleObj name="Equation" r:id="rId22" imgW="977760" imgH="241200" progId="Equation.DSMT4">
                  <p:embed/>
                </p:oleObj>
              </mc:Choice>
              <mc:Fallback>
                <p:oleObj name="Equation" r:id="rId22" imgW="977760" imgH="241200" progId="Equation.DSMT4">
                  <p:embed/>
                  <p:pic>
                    <p:nvPicPr>
                      <p:cNvPr id="0" name=""/>
                      <p:cNvPicPr>
                        <a:picLocks noChangeAspect="1" noChangeArrowheads="1"/>
                      </p:cNvPicPr>
                      <p:nvPr/>
                    </p:nvPicPr>
                    <p:blipFill>
                      <a:blip r:embed="rId23"/>
                      <a:srcRect/>
                      <a:stretch>
                        <a:fillRect/>
                      </a:stretch>
                    </p:blipFill>
                    <p:spPr bwMode="auto">
                      <a:xfrm>
                        <a:off x="2869130" y="5767917"/>
                        <a:ext cx="1814513"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31" name="组合 130"/>
          <p:cNvGrpSpPr/>
          <p:nvPr/>
        </p:nvGrpSpPr>
        <p:grpSpPr>
          <a:xfrm>
            <a:off x="6743733" y="631014"/>
            <a:ext cx="1949141" cy="1385235"/>
            <a:chOff x="6743733" y="631014"/>
            <a:chExt cx="1949141" cy="1385235"/>
          </a:xfrm>
        </p:grpSpPr>
        <p:sp>
          <p:nvSpPr>
            <p:cNvPr id="125" name="Line 74"/>
            <p:cNvSpPr>
              <a:spLocks noChangeShapeType="1"/>
            </p:cNvSpPr>
            <p:nvPr/>
          </p:nvSpPr>
          <p:spPr bwMode="auto">
            <a:xfrm rot="5400000">
              <a:off x="7004718" y="886981"/>
              <a:ext cx="0" cy="286129"/>
            </a:xfrm>
            <a:prstGeom prst="line">
              <a:avLst/>
            </a:prstGeom>
            <a:noFill/>
            <a:ln w="28575">
              <a:solidFill>
                <a:srgbClr val="FF0000"/>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6" name="Line 74"/>
            <p:cNvSpPr>
              <a:spLocks noChangeShapeType="1"/>
            </p:cNvSpPr>
            <p:nvPr/>
          </p:nvSpPr>
          <p:spPr bwMode="auto">
            <a:xfrm rot="5400000">
              <a:off x="8471064" y="1858044"/>
              <a:ext cx="0" cy="316409"/>
            </a:xfrm>
            <a:prstGeom prst="line">
              <a:avLst/>
            </a:prstGeom>
            <a:noFill/>
            <a:ln w="28575">
              <a:solidFill>
                <a:srgbClr val="FF0000"/>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7" name="Line 74"/>
            <p:cNvSpPr>
              <a:spLocks noChangeShapeType="1"/>
            </p:cNvSpPr>
            <p:nvPr/>
          </p:nvSpPr>
          <p:spPr bwMode="auto">
            <a:xfrm rot="10800000">
              <a:off x="6803194" y="1063054"/>
              <a:ext cx="0" cy="389624"/>
            </a:xfrm>
            <a:prstGeom prst="line">
              <a:avLst/>
            </a:prstGeom>
            <a:noFill/>
            <a:ln w="28575">
              <a:solidFill>
                <a:srgbClr val="FF0000"/>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 name="Rectangle 75"/>
            <p:cNvSpPr>
              <a:spLocks noChangeArrowheads="1"/>
            </p:cNvSpPr>
            <p:nvPr/>
          </p:nvSpPr>
          <p:spPr bwMode="auto">
            <a:xfrm>
              <a:off x="8247379" y="1613634"/>
              <a:ext cx="445495"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l-GR" altLang="zh-CN" sz="2000" dirty="0">
                  <a:solidFill>
                    <a:srgbClr val="FF0000"/>
                  </a:solidFill>
                  <a:latin typeface="Times New Roman" panose="02020603050405020304" pitchFamily="18" charset="0"/>
                  <a:cs typeface="Times New Roman" panose="02020603050405020304" pitchFamily="18" charset="0"/>
                </a:rPr>
                <a:t>Δ</a:t>
              </a:r>
              <a:r>
                <a:rPr kumimoji="1" lang="en-US" altLang="zh-CN" sz="2000" b="1" baseline="-25000" dirty="0">
                  <a:solidFill>
                    <a:srgbClr val="FF0000"/>
                  </a:solidFill>
                  <a:latin typeface="Times New Roman" panose="02020603050405020304" pitchFamily="18" charset="0"/>
                  <a:ea typeface="宋体" panose="02010600030101010101" pitchFamily="2" charset="-122"/>
                </a:rPr>
                <a:t>3</a:t>
              </a:r>
              <a:endParaRPr kumimoji="1" lang="en-US" altLang="zh-CN" sz="2000" b="1" i="1" baseline="-25000" dirty="0">
                <a:solidFill>
                  <a:srgbClr val="FF0000"/>
                </a:solidFill>
                <a:latin typeface="Times New Roman" panose="02020603050405020304" pitchFamily="18" charset="0"/>
                <a:ea typeface="宋体" panose="02010600030101010101" pitchFamily="2" charset="-122"/>
              </a:endParaRPr>
            </a:p>
          </p:txBody>
        </p:sp>
        <p:sp>
          <p:nvSpPr>
            <p:cNvPr id="129" name="Rectangle 75"/>
            <p:cNvSpPr>
              <a:spLocks noChangeArrowheads="1"/>
            </p:cNvSpPr>
            <p:nvPr/>
          </p:nvSpPr>
          <p:spPr bwMode="auto">
            <a:xfrm>
              <a:off x="6743733" y="1297432"/>
              <a:ext cx="445495"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l-GR" altLang="zh-CN" sz="2000" dirty="0">
                  <a:solidFill>
                    <a:srgbClr val="FF0000"/>
                  </a:solidFill>
                  <a:latin typeface="Times New Roman" panose="02020603050405020304" pitchFamily="18" charset="0"/>
                  <a:cs typeface="Times New Roman" panose="02020603050405020304" pitchFamily="18" charset="0"/>
                </a:rPr>
                <a:t>Δ</a:t>
              </a:r>
              <a:r>
                <a:rPr kumimoji="1" lang="en-US" altLang="zh-CN" sz="2000" b="1" baseline="-25000" dirty="0">
                  <a:solidFill>
                    <a:srgbClr val="FF0000"/>
                  </a:solidFill>
                  <a:latin typeface="Times New Roman" panose="02020603050405020304" pitchFamily="18" charset="0"/>
                  <a:ea typeface="宋体" panose="02010600030101010101" pitchFamily="2" charset="-122"/>
                </a:rPr>
                <a:t>1</a:t>
              </a:r>
              <a:endParaRPr kumimoji="1" lang="en-US" altLang="zh-CN" sz="2000" b="1" i="1" baseline="-25000" dirty="0">
                <a:solidFill>
                  <a:srgbClr val="FF0000"/>
                </a:solidFill>
                <a:latin typeface="Times New Roman" panose="02020603050405020304" pitchFamily="18" charset="0"/>
                <a:ea typeface="宋体" panose="02010600030101010101" pitchFamily="2" charset="-122"/>
              </a:endParaRPr>
            </a:p>
          </p:txBody>
        </p:sp>
        <p:sp>
          <p:nvSpPr>
            <p:cNvPr id="130" name="Rectangle 75"/>
            <p:cNvSpPr>
              <a:spLocks noChangeArrowheads="1"/>
            </p:cNvSpPr>
            <p:nvPr/>
          </p:nvSpPr>
          <p:spPr bwMode="auto">
            <a:xfrm>
              <a:off x="6818171" y="631014"/>
              <a:ext cx="445495"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l-GR" altLang="zh-CN" sz="2000" dirty="0">
                  <a:solidFill>
                    <a:srgbClr val="FF0000"/>
                  </a:solidFill>
                  <a:latin typeface="Times New Roman" panose="02020603050405020304" pitchFamily="18" charset="0"/>
                  <a:cs typeface="Times New Roman" panose="02020603050405020304" pitchFamily="18" charset="0"/>
                </a:rPr>
                <a:t>Δ</a:t>
              </a:r>
              <a:r>
                <a:rPr kumimoji="1" lang="en-US" altLang="zh-CN" sz="2000" b="1" baseline="-25000" dirty="0">
                  <a:solidFill>
                    <a:srgbClr val="FF0000"/>
                  </a:solidFill>
                  <a:latin typeface="Times New Roman" panose="02020603050405020304" pitchFamily="18" charset="0"/>
                  <a:ea typeface="宋体" panose="02010600030101010101" pitchFamily="2" charset="-122"/>
                </a:rPr>
                <a:t>2</a:t>
              </a:r>
              <a:endParaRPr kumimoji="1" lang="en-US" altLang="zh-CN" sz="2000" b="1" i="1" baseline="-25000" dirty="0">
                <a:solidFill>
                  <a:srgbClr val="FF0000"/>
                </a:solidFill>
                <a:latin typeface="Times New Roman" panose="02020603050405020304" pitchFamily="18" charset="0"/>
                <a:ea typeface="宋体" panose="02010600030101010101" pitchFamily="2" charset="-122"/>
              </a:endParaRPr>
            </a:p>
          </p:txBody>
        </p:sp>
      </p:grpSp>
      <p:graphicFrame>
        <p:nvGraphicFramePr>
          <p:cNvPr id="132" name="Object 95"/>
          <p:cNvGraphicFramePr>
            <a:graphicFrameLocks noChangeAspect="1"/>
          </p:cNvGraphicFramePr>
          <p:nvPr/>
        </p:nvGraphicFramePr>
        <p:xfrm>
          <a:off x="5241099" y="2845289"/>
          <a:ext cx="1131888" cy="446087"/>
        </p:xfrm>
        <a:graphic>
          <a:graphicData uri="http://schemas.openxmlformats.org/presentationml/2006/ole">
            <mc:AlternateContent xmlns:mc="http://schemas.openxmlformats.org/markup-compatibility/2006">
              <mc:Choice xmlns:v="urn:schemas-microsoft-com:vml" Requires="v">
                <p:oleObj name="Equation" r:id="rId24" imgW="609480" imgH="241200" progId="Equation.DSMT4">
                  <p:embed/>
                </p:oleObj>
              </mc:Choice>
              <mc:Fallback>
                <p:oleObj name="Equation" r:id="rId24" imgW="609480" imgH="241200" progId="Equation.DSMT4">
                  <p:embed/>
                  <p:pic>
                    <p:nvPicPr>
                      <p:cNvPr id="0" name=""/>
                      <p:cNvPicPr>
                        <a:picLocks noChangeAspect="1" noChangeArrowheads="1"/>
                      </p:cNvPicPr>
                      <p:nvPr/>
                    </p:nvPicPr>
                    <p:blipFill>
                      <a:blip r:embed="rId25"/>
                      <a:srcRect/>
                      <a:stretch>
                        <a:fillRect/>
                      </a:stretch>
                    </p:blipFill>
                    <p:spPr bwMode="auto">
                      <a:xfrm>
                        <a:off x="5241099" y="2845289"/>
                        <a:ext cx="1131888" cy="446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36" name="组合 135"/>
          <p:cNvGrpSpPr/>
          <p:nvPr/>
        </p:nvGrpSpPr>
        <p:grpSpPr>
          <a:xfrm>
            <a:off x="6559306" y="1125686"/>
            <a:ext cx="497400" cy="386491"/>
            <a:chOff x="6550106" y="1134553"/>
            <a:chExt cx="497400" cy="386491"/>
          </a:xfrm>
        </p:grpSpPr>
        <p:graphicFrame>
          <p:nvGraphicFramePr>
            <p:cNvPr id="145" name="Object 77"/>
            <p:cNvGraphicFramePr>
              <a:graphicFrameLocks/>
            </p:cNvGraphicFramePr>
            <p:nvPr/>
          </p:nvGraphicFramePr>
          <p:xfrm>
            <a:off x="6550106" y="1324194"/>
            <a:ext cx="190500" cy="196850"/>
          </p:xfrm>
          <a:graphic>
            <a:graphicData uri="http://schemas.openxmlformats.org/presentationml/2006/ole">
              <mc:AlternateContent xmlns:mc="http://schemas.openxmlformats.org/markup-compatibility/2006">
                <mc:Choice xmlns:v="urn:schemas-microsoft-com:vml" Requires="v">
                  <p:oleObj name="Equation" r:id="rId2" imgW="152280" imgH="139680" progId="Equation.DSMT4">
                    <p:embed/>
                  </p:oleObj>
                </mc:Choice>
                <mc:Fallback>
                  <p:oleObj name="Equation" r:id="rId2" imgW="152280" imgH="139680" progId="Equation.DSMT4">
                    <p:embed/>
                    <p:pic>
                      <p:nvPicPr>
                        <p:cNvPr id="0" name=""/>
                        <p:cNvPicPr>
                          <a:picLocks noChangeArrowheads="1"/>
                        </p:cNvPicPr>
                        <p:nvPr/>
                      </p:nvPicPr>
                      <p:blipFill>
                        <a:blip r:embed="rId3"/>
                        <a:srcRect/>
                        <a:stretch>
                          <a:fillRect/>
                        </a:stretch>
                      </p:blipFill>
                      <p:spPr bwMode="auto">
                        <a:xfrm>
                          <a:off x="6550106" y="1324194"/>
                          <a:ext cx="190500" cy="196850"/>
                        </a:xfrm>
                        <a:prstGeom prst="rect">
                          <a:avLst/>
                        </a:prstGeom>
                        <a:noFill/>
                        <a:ln>
                          <a:noFill/>
                        </a:ln>
                        <a:effectLst/>
                      </p:spPr>
                    </p:pic>
                  </p:oleObj>
                </mc:Fallback>
              </mc:AlternateContent>
            </a:graphicData>
          </a:graphic>
        </p:graphicFrame>
        <p:sp>
          <p:nvSpPr>
            <p:cNvPr id="146" name="Arc 54"/>
            <p:cNvSpPr>
              <a:spLocks noChangeAspect="1"/>
            </p:cNvSpPr>
            <p:nvPr/>
          </p:nvSpPr>
          <p:spPr bwMode="auto">
            <a:xfrm rot="15000000">
              <a:off x="6638052" y="1224893"/>
              <a:ext cx="140142" cy="106918"/>
            </a:xfrm>
            <a:custGeom>
              <a:avLst/>
              <a:gdLst>
                <a:gd name="T0" fmla="*/ 0 w 21600"/>
                <a:gd name="T1" fmla="*/ 144 h 21595"/>
                <a:gd name="T2" fmla="*/ 47 w 21600"/>
                <a:gd name="T3" fmla="*/ 0 h 21595"/>
                <a:gd name="T4" fmla="*/ 48 w 21600"/>
                <a:gd name="T5" fmla="*/ 144 h 21595"/>
                <a:gd name="T6" fmla="*/ 0 60000 65536"/>
                <a:gd name="T7" fmla="*/ 0 60000 65536"/>
                <a:gd name="T8" fmla="*/ 0 60000 65536"/>
              </a:gdLst>
              <a:ahLst/>
              <a:cxnLst>
                <a:cxn ang="T6">
                  <a:pos x="T0" y="T1"/>
                </a:cxn>
                <a:cxn ang="T7">
                  <a:pos x="T2" y="T3"/>
                </a:cxn>
                <a:cxn ang="T8">
                  <a:pos x="T4" y="T5"/>
                </a:cxn>
              </a:cxnLst>
              <a:rect l="0" t="0" r="r" b="b"/>
              <a:pathLst>
                <a:path w="21600" h="21595" fill="none" extrusionOk="0">
                  <a:moveTo>
                    <a:pt x="0" y="21594"/>
                  </a:moveTo>
                  <a:cubicBezTo>
                    <a:pt x="0" y="9841"/>
                    <a:pt x="9398" y="244"/>
                    <a:pt x="21149" y="-1"/>
                  </a:cubicBezTo>
                </a:path>
                <a:path w="21600" h="21595" stroke="0" extrusionOk="0">
                  <a:moveTo>
                    <a:pt x="0" y="21594"/>
                  </a:moveTo>
                  <a:cubicBezTo>
                    <a:pt x="0" y="9841"/>
                    <a:pt x="9398" y="244"/>
                    <a:pt x="21149" y="-1"/>
                  </a:cubicBezTo>
                  <a:lnTo>
                    <a:pt x="21600" y="21595"/>
                  </a:lnTo>
                  <a:lnTo>
                    <a:pt x="0" y="21594"/>
                  </a:lnTo>
                  <a:close/>
                </a:path>
              </a:pathLst>
            </a:custGeom>
            <a:noFill/>
            <a:ln w="1905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7" name="Arc 54"/>
            <p:cNvSpPr>
              <a:spLocks noChangeAspect="1"/>
            </p:cNvSpPr>
            <p:nvPr/>
          </p:nvSpPr>
          <p:spPr bwMode="auto">
            <a:xfrm rot="10980000">
              <a:off x="6821756" y="1134553"/>
              <a:ext cx="140142" cy="106918"/>
            </a:xfrm>
            <a:custGeom>
              <a:avLst/>
              <a:gdLst>
                <a:gd name="T0" fmla="*/ 0 w 21600"/>
                <a:gd name="T1" fmla="*/ 144 h 21595"/>
                <a:gd name="T2" fmla="*/ 47 w 21600"/>
                <a:gd name="T3" fmla="*/ 0 h 21595"/>
                <a:gd name="T4" fmla="*/ 48 w 21600"/>
                <a:gd name="T5" fmla="*/ 144 h 21595"/>
                <a:gd name="T6" fmla="*/ 0 60000 65536"/>
                <a:gd name="T7" fmla="*/ 0 60000 65536"/>
                <a:gd name="T8" fmla="*/ 0 60000 65536"/>
              </a:gdLst>
              <a:ahLst/>
              <a:cxnLst>
                <a:cxn ang="T6">
                  <a:pos x="T0" y="T1"/>
                </a:cxn>
                <a:cxn ang="T7">
                  <a:pos x="T2" y="T3"/>
                </a:cxn>
                <a:cxn ang="T8">
                  <a:pos x="T4" y="T5"/>
                </a:cxn>
              </a:cxnLst>
              <a:rect l="0" t="0" r="r" b="b"/>
              <a:pathLst>
                <a:path w="21600" h="21595" fill="none" extrusionOk="0">
                  <a:moveTo>
                    <a:pt x="0" y="21594"/>
                  </a:moveTo>
                  <a:cubicBezTo>
                    <a:pt x="0" y="9841"/>
                    <a:pt x="9398" y="244"/>
                    <a:pt x="21149" y="-1"/>
                  </a:cubicBezTo>
                </a:path>
                <a:path w="21600" h="21595" stroke="0" extrusionOk="0">
                  <a:moveTo>
                    <a:pt x="0" y="21594"/>
                  </a:moveTo>
                  <a:cubicBezTo>
                    <a:pt x="0" y="9841"/>
                    <a:pt x="9398" y="244"/>
                    <a:pt x="21149" y="-1"/>
                  </a:cubicBezTo>
                  <a:lnTo>
                    <a:pt x="21600" y="21595"/>
                  </a:lnTo>
                  <a:lnTo>
                    <a:pt x="0" y="21594"/>
                  </a:lnTo>
                  <a:close/>
                </a:path>
              </a:pathLst>
            </a:custGeom>
            <a:noFill/>
            <a:ln w="1905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48" name="Object 77"/>
            <p:cNvGraphicFramePr>
              <a:graphicFrameLocks/>
            </p:cNvGraphicFramePr>
            <p:nvPr/>
          </p:nvGraphicFramePr>
          <p:xfrm>
            <a:off x="6857006" y="1175795"/>
            <a:ext cx="190500" cy="285750"/>
          </p:xfrm>
          <a:graphic>
            <a:graphicData uri="http://schemas.openxmlformats.org/presentationml/2006/ole">
              <mc:AlternateContent xmlns:mc="http://schemas.openxmlformats.org/markup-compatibility/2006">
                <mc:Choice xmlns:v="urn:schemas-microsoft-com:vml" Requires="v">
                  <p:oleObj name="Equation" r:id="rId4" imgW="152280" imgH="203040" progId="Equation.DSMT4">
                    <p:embed/>
                  </p:oleObj>
                </mc:Choice>
                <mc:Fallback>
                  <p:oleObj name="Equation" r:id="rId4" imgW="152280" imgH="203040" progId="Equation.DSMT4">
                    <p:embed/>
                    <p:pic>
                      <p:nvPicPr>
                        <p:cNvPr id="0" name=""/>
                        <p:cNvPicPr>
                          <a:picLocks noChangeArrowheads="1"/>
                        </p:cNvPicPr>
                        <p:nvPr/>
                      </p:nvPicPr>
                      <p:blipFill>
                        <a:blip r:embed="rId5"/>
                        <a:srcRect/>
                        <a:stretch>
                          <a:fillRect/>
                        </a:stretch>
                      </p:blipFill>
                      <p:spPr bwMode="auto">
                        <a:xfrm>
                          <a:off x="6857006" y="1175795"/>
                          <a:ext cx="190500" cy="285750"/>
                        </a:xfrm>
                        <a:prstGeom prst="rect">
                          <a:avLst/>
                        </a:prstGeom>
                        <a:noFill/>
                        <a:ln>
                          <a:noFill/>
                        </a:ln>
                        <a:effectLst/>
                      </p:spPr>
                    </p:pic>
                  </p:oleObj>
                </mc:Fallback>
              </mc:AlternateContent>
            </a:graphicData>
          </a:graphic>
        </p:graphicFrame>
      </p:grpSp>
      <p:graphicFrame>
        <p:nvGraphicFramePr>
          <p:cNvPr id="150" name="Object 95"/>
          <p:cNvGraphicFramePr>
            <a:graphicFrameLocks noChangeAspect="1"/>
          </p:cNvGraphicFramePr>
          <p:nvPr/>
        </p:nvGraphicFramePr>
        <p:xfrm>
          <a:off x="4989513" y="3268663"/>
          <a:ext cx="2922587" cy="446087"/>
        </p:xfrm>
        <a:graphic>
          <a:graphicData uri="http://schemas.openxmlformats.org/presentationml/2006/ole">
            <mc:AlternateContent xmlns:mc="http://schemas.openxmlformats.org/markup-compatibility/2006">
              <mc:Choice xmlns:v="urn:schemas-microsoft-com:vml" Requires="v">
                <p:oleObj name="Equation" r:id="rId26" imgW="1574640" imgH="241200" progId="Equation.DSMT4">
                  <p:embed/>
                </p:oleObj>
              </mc:Choice>
              <mc:Fallback>
                <p:oleObj name="Equation" r:id="rId26" imgW="1574640" imgH="241200" progId="Equation.DSMT4">
                  <p:embed/>
                  <p:pic>
                    <p:nvPicPr>
                      <p:cNvPr id="0" name=""/>
                      <p:cNvPicPr>
                        <a:picLocks noChangeAspect="1" noChangeArrowheads="1"/>
                      </p:cNvPicPr>
                      <p:nvPr/>
                    </p:nvPicPr>
                    <p:blipFill>
                      <a:blip r:embed="rId27"/>
                      <a:srcRect/>
                      <a:stretch>
                        <a:fillRect/>
                      </a:stretch>
                    </p:blipFill>
                    <p:spPr bwMode="auto">
                      <a:xfrm>
                        <a:off x="4989513" y="3268663"/>
                        <a:ext cx="2922587" cy="446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1" name="Object 95"/>
          <p:cNvGraphicFramePr>
            <a:graphicFrameLocks noChangeAspect="1"/>
          </p:cNvGraphicFramePr>
          <p:nvPr/>
        </p:nvGraphicFramePr>
        <p:xfrm>
          <a:off x="4605338" y="3725863"/>
          <a:ext cx="4076700" cy="446087"/>
        </p:xfrm>
        <a:graphic>
          <a:graphicData uri="http://schemas.openxmlformats.org/presentationml/2006/ole">
            <mc:AlternateContent xmlns:mc="http://schemas.openxmlformats.org/markup-compatibility/2006">
              <mc:Choice xmlns:v="urn:schemas-microsoft-com:vml" Requires="v">
                <p:oleObj name="Equation" r:id="rId28" imgW="2197080" imgH="241200" progId="Equation.DSMT4">
                  <p:embed/>
                </p:oleObj>
              </mc:Choice>
              <mc:Fallback>
                <p:oleObj name="Equation" r:id="rId28" imgW="2197080" imgH="241200" progId="Equation.DSMT4">
                  <p:embed/>
                  <p:pic>
                    <p:nvPicPr>
                      <p:cNvPr id="0" name=""/>
                      <p:cNvPicPr>
                        <a:picLocks noChangeAspect="1" noChangeArrowheads="1"/>
                      </p:cNvPicPr>
                      <p:nvPr/>
                    </p:nvPicPr>
                    <p:blipFill>
                      <a:blip r:embed="rId29"/>
                      <a:srcRect/>
                      <a:stretch>
                        <a:fillRect/>
                      </a:stretch>
                    </p:blipFill>
                    <p:spPr bwMode="auto">
                      <a:xfrm>
                        <a:off x="4605338" y="3725863"/>
                        <a:ext cx="4076700" cy="446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 name="Object 95"/>
          <p:cNvGraphicFramePr>
            <a:graphicFrameLocks noChangeAspect="1"/>
          </p:cNvGraphicFramePr>
          <p:nvPr/>
        </p:nvGraphicFramePr>
        <p:xfrm>
          <a:off x="5767125" y="4369799"/>
          <a:ext cx="1743075" cy="1268413"/>
        </p:xfrm>
        <a:graphic>
          <a:graphicData uri="http://schemas.openxmlformats.org/presentationml/2006/ole">
            <mc:AlternateContent xmlns:mc="http://schemas.openxmlformats.org/markup-compatibility/2006">
              <mc:Choice xmlns:v="urn:schemas-microsoft-com:vml" Requires="v">
                <p:oleObj name="Equation" r:id="rId30" imgW="939600" imgH="685800" progId="Equation.DSMT4">
                  <p:embed/>
                </p:oleObj>
              </mc:Choice>
              <mc:Fallback>
                <p:oleObj name="Equation" r:id="rId30" imgW="939600" imgH="685800" progId="Equation.DSMT4">
                  <p:embed/>
                  <p:pic>
                    <p:nvPicPr>
                      <p:cNvPr id="0" name=""/>
                      <p:cNvPicPr>
                        <a:picLocks noChangeAspect="1" noChangeArrowheads="1"/>
                      </p:cNvPicPr>
                      <p:nvPr/>
                    </p:nvPicPr>
                    <p:blipFill>
                      <a:blip r:embed="rId31"/>
                      <a:srcRect/>
                      <a:stretch>
                        <a:fillRect/>
                      </a:stretch>
                    </p:blipFill>
                    <p:spPr bwMode="auto">
                      <a:xfrm>
                        <a:off x="5767125" y="4369799"/>
                        <a:ext cx="1743075" cy="1268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7" name="矩形 96"/>
          <p:cNvSpPr/>
          <p:nvPr/>
        </p:nvSpPr>
        <p:spPr>
          <a:xfrm>
            <a:off x="5346250" y="5638212"/>
            <a:ext cx="3265129" cy="830997"/>
          </a:xfrm>
          <a:prstGeom prst="rect">
            <a:avLst/>
          </a:prstGeom>
        </p:spPr>
        <p:txBody>
          <a:bodyPr wrap="square">
            <a:spAutoFit/>
          </a:bodyPr>
          <a:lstStyle/>
          <a:p>
            <a:r>
              <a:rPr lang="zh-CN" altLang="en-US" b="1" dirty="0">
                <a:solidFill>
                  <a:srgbClr val="0000FF"/>
                </a:solidFill>
                <a:latin typeface="楷体" panose="02010609060101010101" pitchFamily="49" charset="-122"/>
                <a:ea typeface="楷体" panose="02010609060101010101" pitchFamily="49" charset="-122"/>
              </a:rPr>
              <a:t>当桁架杆件数较多时，位移求解困难。</a:t>
            </a:r>
          </a:p>
        </p:txBody>
      </p:sp>
    </p:spTree>
    <p:extLst>
      <p:ext uri="{BB962C8B-B14F-4D97-AF65-F5344CB8AC3E}">
        <p14:creationId xmlns:p14="http://schemas.microsoft.com/office/powerpoint/2010/main" val="1930656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 calcmode="lin" valueType="num">
                                      <p:cBhvr additive="base">
                                        <p:cTn id="7" dur="500" fill="hold"/>
                                        <p:tgtEl>
                                          <p:spTgt spid="48"/>
                                        </p:tgtEl>
                                        <p:attrNameLst>
                                          <p:attrName>ppt_x</p:attrName>
                                        </p:attrNameLst>
                                      </p:cBhvr>
                                      <p:tavLst>
                                        <p:tav tm="0">
                                          <p:val>
                                            <p:strVal val="0-#ppt_w/2"/>
                                          </p:val>
                                        </p:tav>
                                        <p:tav tm="100000">
                                          <p:val>
                                            <p:strVal val="#ppt_x"/>
                                          </p:val>
                                        </p:tav>
                                      </p:tavLst>
                                    </p:anim>
                                    <p:anim calcmode="lin" valueType="num">
                                      <p:cBhvr additive="base">
                                        <p:cTn id="8" dur="500" fill="hold"/>
                                        <p:tgtEl>
                                          <p:spTgt spid="4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53"/>
                                        </p:tgtEl>
                                        <p:attrNameLst>
                                          <p:attrName>style.visibility</p:attrName>
                                        </p:attrNameLst>
                                      </p:cBhvr>
                                      <p:to>
                                        <p:strVal val="visible"/>
                                      </p:to>
                                    </p:set>
                                    <p:animEffect transition="in" filter="wipe(left)">
                                      <p:cBhvr>
                                        <p:cTn id="13" dur="500"/>
                                        <p:tgtEl>
                                          <p:spTgt spid="53"/>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136"/>
                                        </p:tgtEl>
                                        <p:attrNameLst>
                                          <p:attrName>style.visibility</p:attrName>
                                        </p:attrNameLst>
                                      </p:cBhvr>
                                      <p:to>
                                        <p:strVal val="visible"/>
                                      </p:to>
                                    </p:set>
                                    <p:animEffect transition="in" filter="fade">
                                      <p:cBhvr>
                                        <p:cTn id="18" dur="1000"/>
                                        <p:tgtEl>
                                          <p:spTgt spid="136"/>
                                        </p:tgtEl>
                                      </p:cBhvr>
                                    </p:animEffect>
                                    <p:anim calcmode="lin" valueType="num">
                                      <p:cBhvr>
                                        <p:cTn id="19" dur="1000" fill="hold"/>
                                        <p:tgtEl>
                                          <p:spTgt spid="136"/>
                                        </p:tgtEl>
                                        <p:attrNameLst>
                                          <p:attrName>ppt_x</p:attrName>
                                        </p:attrNameLst>
                                      </p:cBhvr>
                                      <p:tavLst>
                                        <p:tav tm="0">
                                          <p:val>
                                            <p:strVal val="#ppt_x"/>
                                          </p:val>
                                        </p:tav>
                                        <p:tav tm="100000">
                                          <p:val>
                                            <p:strVal val="#ppt_x"/>
                                          </p:val>
                                        </p:tav>
                                      </p:tavLst>
                                    </p:anim>
                                    <p:anim calcmode="lin" valueType="num">
                                      <p:cBhvr>
                                        <p:cTn id="20" dur="1000" fill="hold"/>
                                        <p:tgtEl>
                                          <p:spTgt spid="136"/>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95"/>
                                        </p:tgtEl>
                                        <p:attrNameLst>
                                          <p:attrName>style.visibility</p:attrName>
                                        </p:attrNameLst>
                                      </p:cBhvr>
                                      <p:to>
                                        <p:strVal val="visible"/>
                                      </p:to>
                                    </p:set>
                                    <p:animEffect transition="in" filter="fade">
                                      <p:cBhvr>
                                        <p:cTn id="25" dur="500"/>
                                        <p:tgtEl>
                                          <p:spTgt spid="9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14"/>
                                        </p:tgtEl>
                                        <p:attrNameLst>
                                          <p:attrName>style.visibility</p:attrName>
                                        </p:attrNameLst>
                                      </p:cBhvr>
                                      <p:to>
                                        <p:strVal val="visible"/>
                                      </p:to>
                                    </p:set>
                                    <p:animEffect transition="in" filter="fade">
                                      <p:cBhvr>
                                        <p:cTn id="30" dur="500"/>
                                        <p:tgtEl>
                                          <p:spTgt spid="11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15"/>
                                        </p:tgtEl>
                                        <p:attrNameLst>
                                          <p:attrName>style.visibility</p:attrName>
                                        </p:attrNameLst>
                                      </p:cBhvr>
                                      <p:to>
                                        <p:strVal val="visible"/>
                                      </p:to>
                                    </p:set>
                                    <p:animEffect transition="in" filter="wipe(left)">
                                      <p:cBhvr>
                                        <p:cTn id="35" dur="500"/>
                                        <p:tgtEl>
                                          <p:spTgt spid="115"/>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116"/>
                                        </p:tgtEl>
                                        <p:attrNameLst>
                                          <p:attrName>style.visibility</p:attrName>
                                        </p:attrNameLst>
                                      </p:cBhvr>
                                      <p:to>
                                        <p:strVal val="visible"/>
                                      </p:to>
                                    </p:set>
                                    <p:animEffect transition="in" filter="wipe(left)">
                                      <p:cBhvr>
                                        <p:cTn id="40" dur="500"/>
                                        <p:tgtEl>
                                          <p:spTgt spid="116"/>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118"/>
                                        </p:tgtEl>
                                        <p:attrNameLst>
                                          <p:attrName>style.visibility</p:attrName>
                                        </p:attrNameLst>
                                      </p:cBhvr>
                                      <p:to>
                                        <p:strVal val="visible"/>
                                      </p:to>
                                    </p:set>
                                    <p:animEffect transition="in" filter="wipe(left)">
                                      <p:cBhvr>
                                        <p:cTn id="45" dur="500"/>
                                        <p:tgtEl>
                                          <p:spTgt spid="118"/>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nodeType="clickEffect">
                                  <p:stCondLst>
                                    <p:cond delay="0"/>
                                  </p:stCondLst>
                                  <p:childTnLst>
                                    <p:set>
                                      <p:cBhvr>
                                        <p:cTn id="49" dur="1" fill="hold">
                                          <p:stCondLst>
                                            <p:cond delay="0"/>
                                          </p:stCondLst>
                                        </p:cTn>
                                        <p:tgtEl>
                                          <p:spTgt spid="119"/>
                                        </p:tgtEl>
                                        <p:attrNameLst>
                                          <p:attrName>style.visibility</p:attrName>
                                        </p:attrNameLst>
                                      </p:cBhvr>
                                      <p:to>
                                        <p:strVal val="visible"/>
                                      </p:to>
                                    </p:set>
                                    <p:animEffect transition="in" filter="wipe(up)">
                                      <p:cBhvr>
                                        <p:cTn id="50" dur="500"/>
                                        <p:tgtEl>
                                          <p:spTgt spid="119"/>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nodeType="clickEffect">
                                  <p:stCondLst>
                                    <p:cond delay="0"/>
                                  </p:stCondLst>
                                  <p:childTnLst>
                                    <p:set>
                                      <p:cBhvr>
                                        <p:cTn id="54" dur="1" fill="hold">
                                          <p:stCondLst>
                                            <p:cond delay="0"/>
                                          </p:stCondLst>
                                        </p:cTn>
                                        <p:tgtEl>
                                          <p:spTgt spid="120"/>
                                        </p:tgtEl>
                                        <p:attrNameLst>
                                          <p:attrName>style.visibility</p:attrName>
                                        </p:attrNameLst>
                                      </p:cBhvr>
                                      <p:to>
                                        <p:strVal val="visible"/>
                                      </p:to>
                                    </p:set>
                                    <p:animEffect transition="in" filter="wipe(up)">
                                      <p:cBhvr>
                                        <p:cTn id="55" dur="500"/>
                                        <p:tgtEl>
                                          <p:spTgt spid="120"/>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1" fill="hold" nodeType="clickEffect">
                                  <p:stCondLst>
                                    <p:cond delay="0"/>
                                  </p:stCondLst>
                                  <p:childTnLst>
                                    <p:set>
                                      <p:cBhvr>
                                        <p:cTn id="59" dur="1" fill="hold">
                                          <p:stCondLst>
                                            <p:cond delay="0"/>
                                          </p:stCondLst>
                                        </p:cTn>
                                        <p:tgtEl>
                                          <p:spTgt spid="121"/>
                                        </p:tgtEl>
                                        <p:attrNameLst>
                                          <p:attrName>style.visibility</p:attrName>
                                        </p:attrNameLst>
                                      </p:cBhvr>
                                      <p:to>
                                        <p:strVal val="visible"/>
                                      </p:to>
                                    </p:set>
                                    <p:animEffect transition="in" filter="wipe(up)">
                                      <p:cBhvr>
                                        <p:cTn id="60" dur="500"/>
                                        <p:tgtEl>
                                          <p:spTgt spid="121"/>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122"/>
                                        </p:tgtEl>
                                        <p:attrNameLst>
                                          <p:attrName>style.visibility</p:attrName>
                                        </p:attrNameLst>
                                      </p:cBhvr>
                                      <p:to>
                                        <p:strVal val="visible"/>
                                      </p:to>
                                    </p:set>
                                    <p:animEffect transition="in" filter="wipe(left)">
                                      <p:cBhvr>
                                        <p:cTn id="65" dur="500"/>
                                        <p:tgtEl>
                                          <p:spTgt spid="122"/>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123"/>
                                        </p:tgtEl>
                                        <p:attrNameLst>
                                          <p:attrName>style.visibility</p:attrName>
                                        </p:attrNameLst>
                                      </p:cBhvr>
                                      <p:to>
                                        <p:strVal val="visible"/>
                                      </p:to>
                                    </p:set>
                                    <p:animEffect transition="in" filter="wipe(left)">
                                      <p:cBhvr>
                                        <p:cTn id="70" dur="500"/>
                                        <p:tgtEl>
                                          <p:spTgt spid="123"/>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124"/>
                                        </p:tgtEl>
                                        <p:attrNameLst>
                                          <p:attrName>style.visibility</p:attrName>
                                        </p:attrNameLst>
                                      </p:cBhvr>
                                      <p:to>
                                        <p:strVal val="visible"/>
                                      </p:to>
                                    </p:set>
                                    <p:animEffect transition="in" filter="wipe(left)">
                                      <p:cBhvr>
                                        <p:cTn id="75" dur="500"/>
                                        <p:tgtEl>
                                          <p:spTgt spid="124"/>
                                        </p:tgtEl>
                                      </p:cBhvr>
                                    </p:animEffect>
                                  </p:childTnLst>
                                </p:cTn>
                              </p:par>
                            </p:childTnLst>
                          </p:cTn>
                        </p:par>
                      </p:childTnLst>
                    </p:cTn>
                  </p:par>
                  <p:par>
                    <p:cTn id="76" fill="hold">
                      <p:stCondLst>
                        <p:cond delay="indefinite"/>
                      </p:stCondLst>
                      <p:childTnLst>
                        <p:par>
                          <p:cTn id="77" fill="hold">
                            <p:stCondLst>
                              <p:cond delay="0"/>
                            </p:stCondLst>
                            <p:childTnLst>
                              <p:par>
                                <p:cTn id="78" presetID="42" presetClass="entr" presetSubtype="0" fill="hold" nodeType="clickEffect">
                                  <p:stCondLst>
                                    <p:cond delay="0"/>
                                  </p:stCondLst>
                                  <p:childTnLst>
                                    <p:set>
                                      <p:cBhvr>
                                        <p:cTn id="79" dur="1" fill="hold">
                                          <p:stCondLst>
                                            <p:cond delay="0"/>
                                          </p:stCondLst>
                                        </p:cTn>
                                        <p:tgtEl>
                                          <p:spTgt spid="131"/>
                                        </p:tgtEl>
                                        <p:attrNameLst>
                                          <p:attrName>style.visibility</p:attrName>
                                        </p:attrNameLst>
                                      </p:cBhvr>
                                      <p:to>
                                        <p:strVal val="visible"/>
                                      </p:to>
                                    </p:set>
                                    <p:animEffect transition="in" filter="fade">
                                      <p:cBhvr>
                                        <p:cTn id="80" dur="1000"/>
                                        <p:tgtEl>
                                          <p:spTgt spid="131"/>
                                        </p:tgtEl>
                                      </p:cBhvr>
                                    </p:animEffect>
                                    <p:anim calcmode="lin" valueType="num">
                                      <p:cBhvr>
                                        <p:cTn id="81" dur="1000" fill="hold"/>
                                        <p:tgtEl>
                                          <p:spTgt spid="131"/>
                                        </p:tgtEl>
                                        <p:attrNameLst>
                                          <p:attrName>ppt_x</p:attrName>
                                        </p:attrNameLst>
                                      </p:cBhvr>
                                      <p:tavLst>
                                        <p:tav tm="0">
                                          <p:val>
                                            <p:strVal val="#ppt_x"/>
                                          </p:val>
                                        </p:tav>
                                        <p:tav tm="100000">
                                          <p:val>
                                            <p:strVal val="#ppt_x"/>
                                          </p:val>
                                        </p:tav>
                                      </p:tavLst>
                                    </p:anim>
                                    <p:anim calcmode="lin" valueType="num">
                                      <p:cBhvr>
                                        <p:cTn id="82" dur="1000" fill="hold"/>
                                        <p:tgtEl>
                                          <p:spTgt spid="131"/>
                                        </p:tgtEl>
                                        <p:attrNameLst>
                                          <p:attrName>ppt_y</p:attrName>
                                        </p:attrNameLst>
                                      </p:cBhvr>
                                      <p:tavLst>
                                        <p:tav tm="0">
                                          <p:val>
                                            <p:strVal val="#ppt_y+.1"/>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132"/>
                                        </p:tgtEl>
                                        <p:attrNameLst>
                                          <p:attrName>style.visibility</p:attrName>
                                        </p:attrNameLst>
                                      </p:cBhvr>
                                      <p:to>
                                        <p:strVal val="visible"/>
                                      </p:to>
                                    </p:set>
                                    <p:animEffect transition="in" filter="wipe(left)">
                                      <p:cBhvr>
                                        <p:cTn id="87" dur="500"/>
                                        <p:tgtEl>
                                          <p:spTgt spid="132"/>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150"/>
                                        </p:tgtEl>
                                        <p:attrNameLst>
                                          <p:attrName>style.visibility</p:attrName>
                                        </p:attrNameLst>
                                      </p:cBhvr>
                                      <p:to>
                                        <p:strVal val="visible"/>
                                      </p:to>
                                    </p:set>
                                    <p:animEffect transition="in" filter="wipe(left)">
                                      <p:cBhvr>
                                        <p:cTn id="92" dur="500"/>
                                        <p:tgtEl>
                                          <p:spTgt spid="150"/>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151"/>
                                        </p:tgtEl>
                                        <p:attrNameLst>
                                          <p:attrName>style.visibility</p:attrName>
                                        </p:attrNameLst>
                                      </p:cBhvr>
                                      <p:to>
                                        <p:strVal val="visible"/>
                                      </p:to>
                                    </p:set>
                                    <p:animEffect transition="in" filter="wipe(left)">
                                      <p:cBhvr>
                                        <p:cTn id="97" dur="500"/>
                                        <p:tgtEl>
                                          <p:spTgt spid="151"/>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1" fill="hold" nodeType="clickEffect">
                                  <p:stCondLst>
                                    <p:cond delay="0"/>
                                  </p:stCondLst>
                                  <p:childTnLst>
                                    <p:set>
                                      <p:cBhvr>
                                        <p:cTn id="101" dur="1" fill="hold">
                                          <p:stCondLst>
                                            <p:cond delay="0"/>
                                          </p:stCondLst>
                                        </p:cTn>
                                        <p:tgtEl>
                                          <p:spTgt spid="96"/>
                                        </p:tgtEl>
                                        <p:attrNameLst>
                                          <p:attrName>style.visibility</p:attrName>
                                        </p:attrNameLst>
                                      </p:cBhvr>
                                      <p:to>
                                        <p:strVal val="visible"/>
                                      </p:to>
                                    </p:set>
                                    <p:animEffect transition="in" filter="wipe(up)">
                                      <p:cBhvr>
                                        <p:cTn id="102" dur="500"/>
                                        <p:tgtEl>
                                          <p:spTgt spid="96"/>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97"/>
                                        </p:tgtEl>
                                        <p:attrNameLst>
                                          <p:attrName>style.visibility</p:attrName>
                                        </p:attrNameLst>
                                      </p:cBhvr>
                                      <p:to>
                                        <p:strVal val="visible"/>
                                      </p:to>
                                    </p:set>
                                    <p:animEffect transition="in" filter="wipe(left)">
                                      <p:cBhvr>
                                        <p:cTn id="107" dur="50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utoUpdateAnimBg="0"/>
      <p:bldP spid="53" grpId="0"/>
      <p:bldP spid="9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878" name="Object 7"/>
          <p:cNvGraphicFramePr>
            <a:graphicFrameLocks/>
          </p:cNvGraphicFramePr>
          <p:nvPr>
            <p:extLst>
              <p:ext uri="{D42A27DB-BD31-4B8C-83A1-F6EECF244321}">
                <p14:modId xmlns:p14="http://schemas.microsoft.com/office/powerpoint/2010/main" val="2551530301"/>
              </p:ext>
            </p:extLst>
          </p:nvPr>
        </p:nvGraphicFramePr>
        <p:xfrm>
          <a:off x="1125206" y="2938685"/>
          <a:ext cx="2676029" cy="476267"/>
        </p:xfrm>
        <a:graphic>
          <a:graphicData uri="http://schemas.openxmlformats.org/presentationml/2006/ole">
            <mc:AlternateContent xmlns:mc="http://schemas.openxmlformats.org/markup-compatibility/2006">
              <mc:Choice xmlns:v="urn:schemas-microsoft-com:vml" Requires="v">
                <p:oleObj name="Equation" r:id="rId2" imgW="1269720" imgH="228600" progId="Equation.DSMT4">
                  <p:embed/>
                </p:oleObj>
              </mc:Choice>
              <mc:Fallback>
                <p:oleObj name="Equation" r:id="rId2" imgW="1269720" imgH="228600" progId="Equation.DSMT4">
                  <p:embed/>
                  <p:pic>
                    <p:nvPicPr>
                      <p:cNvPr id="0" name=""/>
                      <p:cNvPicPr>
                        <a:picLocks noChangeArrowheads="1"/>
                      </p:cNvPicPr>
                      <p:nvPr/>
                    </p:nvPicPr>
                    <p:blipFill>
                      <a:blip r:embed="rId3"/>
                      <a:srcRect/>
                      <a:stretch>
                        <a:fillRect/>
                      </a:stretch>
                    </p:blipFill>
                    <p:spPr bwMode="auto">
                      <a:xfrm>
                        <a:off x="1125206" y="2938685"/>
                        <a:ext cx="2676029" cy="476267"/>
                      </a:xfrm>
                      <a:prstGeom prst="rect">
                        <a:avLst/>
                      </a:prstGeom>
                      <a:noFill/>
                      <a:ln>
                        <a:noFill/>
                      </a:ln>
                      <a:effectLst/>
                    </p:spPr>
                  </p:pic>
                </p:oleObj>
              </mc:Fallback>
            </mc:AlternateContent>
          </a:graphicData>
        </a:graphic>
      </p:graphicFrame>
      <p:graphicFrame>
        <p:nvGraphicFramePr>
          <p:cNvPr id="33879" name="Object 8"/>
          <p:cNvGraphicFramePr>
            <a:graphicFrameLocks/>
          </p:cNvGraphicFramePr>
          <p:nvPr>
            <p:extLst>
              <p:ext uri="{D42A27DB-BD31-4B8C-83A1-F6EECF244321}">
                <p14:modId xmlns:p14="http://schemas.microsoft.com/office/powerpoint/2010/main" val="2466587993"/>
              </p:ext>
            </p:extLst>
          </p:nvPr>
        </p:nvGraphicFramePr>
        <p:xfrm>
          <a:off x="552980" y="3472320"/>
          <a:ext cx="4750596" cy="498035"/>
        </p:xfrm>
        <a:graphic>
          <a:graphicData uri="http://schemas.openxmlformats.org/presentationml/2006/ole">
            <mc:AlternateContent xmlns:mc="http://schemas.openxmlformats.org/markup-compatibility/2006">
              <mc:Choice xmlns:v="urn:schemas-microsoft-com:vml" Requires="v">
                <p:oleObj name="Equation" r:id="rId4" imgW="2323800" imgH="241200" progId="Equation.DSMT4">
                  <p:embed/>
                </p:oleObj>
              </mc:Choice>
              <mc:Fallback>
                <p:oleObj name="Equation" r:id="rId4" imgW="2323800" imgH="241200" progId="Equation.DSMT4">
                  <p:embed/>
                  <p:pic>
                    <p:nvPicPr>
                      <p:cNvPr id="0" name=""/>
                      <p:cNvPicPr>
                        <a:picLocks noChangeArrowheads="1"/>
                      </p:cNvPicPr>
                      <p:nvPr/>
                    </p:nvPicPr>
                    <p:blipFill>
                      <a:blip r:embed="rId5"/>
                      <a:srcRect/>
                      <a:stretch>
                        <a:fillRect/>
                      </a:stretch>
                    </p:blipFill>
                    <p:spPr bwMode="auto">
                      <a:xfrm>
                        <a:off x="552980" y="3472320"/>
                        <a:ext cx="4750596" cy="498035"/>
                      </a:xfrm>
                      <a:prstGeom prst="rect">
                        <a:avLst/>
                      </a:prstGeom>
                      <a:noFill/>
                      <a:ln>
                        <a:noFill/>
                      </a:ln>
                      <a:effectLst/>
                    </p:spPr>
                  </p:pic>
                </p:oleObj>
              </mc:Fallback>
            </mc:AlternateContent>
          </a:graphicData>
        </a:graphic>
      </p:graphicFrame>
      <p:sp>
        <p:nvSpPr>
          <p:cNvPr id="186377" name="Rectangle 9"/>
          <p:cNvSpPr>
            <a:spLocks noChangeArrowheads="1"/>
          </p:cNvSpPr>
          <p:nvPr/>
        </p:nvSpPr>
        <p:spPr bwMode="auto">
          <a:xfrm>
            <a:off x="342900" y="981075"/>
            <a:ext cx="8458200" cy="831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solidFill>
                  <a:srgbClr val="FF0000"/>
                </a:solidFill>
                <a:latin typeface="Times New Roman" panose="02020603050405020304" pitchFamily="18" charset="0"/>
                <a:ea typeface="华文楷体" panose="02010600040101010101" pitchFamily="2" charset="-122"/>
              </a:rPr>
              <a:t>静定结构</a:t>
            </a:r>
            <a:r>
              <a:rPr kumimoji="1" lang="en-US" altLang="zh-CN" sz="2400" b="1" dirty="0">
                <a:solidFill>
                  <a:srgbClr val="FF0000"/>
                </a:solidFill>
                <a:latin typeface="Times New Roman" panose="02020603050405020304" pitchFamily="18" charset="0"/>
                <a:ea typeface="华文楷体" panose="02010600040101010101" pitchFamily="2" charset="-122"/>
              </a:rPr>
              <a:t>(</a:t>
            </a:r>
            <a:r>
              <a:rPr kumimoji="1" lang="en-US" altLang="zh-CN" sz="2400" dirty="0">
                <a:solidFill>
                  <a:srgbClr val="FF0000"/>
                </a:solidFill>
                <a:latin typeface="Times New Roman" panose="02020603050405020304" pitchFamily="18" charset="0"/>
                <a:ea typeface="华文楷体" panose="02010600040101010101" pitchFamily="2" charset="-122"/>
              </a:rPr>
              <a:t>Statically determinate structure</a:t>
            </a:r>
            <a:r>
              <a:rPr kumimoji="1" lang="en-US" altLang="zh-CN" sz="2400" b="1" dirty="0">
                <a:solidFill>
                  <a:srgbClr val="FF0000"/>
                </a:solidFill>
                <a:latin typeface="Times New Roman" panose="02020603050405020304" pitchFamily="18" charset="0"/>
                <a:ea typeface="华文楷体" panose="02010600040101010101" pitchFamily="2" charset="-122"/>
              </a:rPr>
              <a:t>)</a:t>
            </a:r>
            <a:r>
              <a:rPr kumimoji="1" lang="zh-CN" altLang="en-US" sz="2400" b="1" dirty="0">
                <a:solidFill>
                  <a:srgbClr val="FF0000"/>
                </a:solidFill>
                <a:latin typeface="Times New Roman" panose="02020603050405020304" pitchFamily="18" charset="0"/>
                <a:ea typeface="华文楷体" panose="02010600040101010101" pitchFamily="2" charset="-122"/>
              </a:rPr>
              <a:t>：</a:t>
            </a:r>
            <a:r>
              <a:rPr kumimoji="1" lang="zh-CN" altLang="en-US" sz="2400" b="1" dirty="0">
                <a:latin typeface="Times New Roman" panose="02020603050405020304" pitchFamily="18" charset="0"/>
                <a:ea typeface="华文楷体" panose="02010600040101010101" pitchFamily="2" charset="-122"/>
              </a:rPr>
              <a:t>所有的未知力均能由静力平衡方程确定的结构。</a:t>
            </a:r>
            <a:endParaRPr kumimoji="1" lang="en-US" altLang="zh-CN" sz="2400" b="1" dirty="0">
              <a:latin typeface="Times New Roman" panose="02020603050405020304" pitchFamily="18" charset="0"/>
              <a:ea typeface="华文楷体" panose="02010600040101010101" pitchFamily="2" charset="-122"/>
            </a:endParaRPr>
          </a:p>
        </p:txBody>
      </p:sp>
      <p:grpSp>
        <p:nvGrpSpPr>
          <p:cNvPr id="186378" name="Group 10"/>
          <p:cNvGrpSpPr>
            <a:grpSpLocks/>
          </p:cNvGrpSpPr>
          <p:nvPr/>
        </p:nvGrpSpPr>
        <p:grpSpPr bwMode="auto">
          <a:xfrm>
            <a:off x="7261225" y="2654301"/>
            <a:ext cx="1717675" cy="2259013"/>
            <a:chOff x="4368" y="1445"/>
            <a:chExt cx="1082" cy="1423"/>
          </a:xfrm>
        </p:grpSpPr>
        <p:sp>
          <p:nvSpPr>
            <p:cNvPr id="33840" name="Line 11"/>
            <p:cNvSpPr>
              <a:spLocks noChangeShapeType="1"/>
            </p:cNvSpPr>
            <p:nvPr/>
          </p:nvSpPr>
          <p:spPr bwMode="auto">
            <a:xfrm>
              <a:off x="4920" y="1692"/>
              <a:ext cx="0" cy="805"/>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41" name="Line 12"/>
            <p:cNvSpPr>
              <a:spLocks noChangeShapeType="1"/>
            </p:cNvSpPr>
            <p:nvPr/>
          </p:nvSpPr>
          <p:spPr bwMode="auto">
            <a:xfrm flipH="1">
              <a:off x="4920" y="1692"/>
              <a:ext cx="401" cy="805"/>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42" name="Line 13"/>
            <p:cNvSpPr>
              <a:spLocks noChangeShapeType="1"/>
            </p:cNvSpPr>
            <p:nvPr/>
          </p:nvSpPr>
          <p:spPr bwMode="auto">
            <a:xfrm>
              <a:off x="4519" y="1692"/>
              <a:ext cx="401" cy="805"/>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3843" name="Group 14"/>
            <p:cNvGrpSpPr>
              <a:grpSpLocks/>
            </p:cNvGrpSpPr>
            <p:nvPr/>
          </p:nvGrpSpPr>
          <p:grpSpPr bwMode="auto">
            <a:xfrm>
              <a:off x="4774" y="1445"/>
              <a:ext cx="297" cy="236"/>
              <a:chOff x="4774" y="1445"/>
              <a:chExt cx="297" cy="236"/>
            </a:xfrm>
          </p:grpSpPr>
          <p:sp>
            <p:nvSpPr>
              <p:cNvPr id="33869" name="Line 15"/>
              <p:cNvSpPr>
                <a:spLocks noChangeShapeType="1"/>
              </p:cNvSpPr>
              <p:nvPr/>
            </p:nvSpPr>
            <p:spPr bwMode="auto">
              <a:xfrm flipH="1" flipV="1">
                <a:off x="4774" y="1462"/>
                <a:ext cx="32" cy="46"/>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70" name="Oval 16"/>
              <p:cNvSpPr>
                <a:spLocks noChangeArrowheads="1"/>
              </p:cNvSpPr>
              <p:nvPr/>
            </p:nvSpPr>
            <p:spPr bwMode="auto">
              <a:xfrm>
                <a:off x="4888" y="1613"/>
                <a:ext cx="68" cy="68"/>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33871" name="Line 17"/>
              <p:cNvSpPr>
                <a:spLocks noChangeShapeType="1"/>
              </p:cNvSpPr>
              <p:nvPr/>
            </p:nvSpPr>
            <p:spPr bwMode="auto">
              <a:xfrm flipH="1" flipV="1">
                <a:off x="4831" y="1522"/>
                <a:ext cx="54" cy="11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72" name="Line 18"/>
              <p:cNvSpPr>
                <a:spLocks noChangeShapeType="1"/>
              </p:cNvSpPr>
              <p:nvPr/>
            </p:nvSpPr>
            <p:spPr bwMode="auto">
              <a:xfrm flipV="1">
                <a:off x="4949" y="1507"/>
                <a:ext cx="45" cy="11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73" name="Line 19"/>
              <p:cNvSpPr>
                <a:spLocks noChangeShapeType="1"/>
              </p:cNvSpPr>
              <p:nvPr/>
            </p:nvSpPr>
            <p:spPr bwMode="auto">
              <a:xfrm>
                <a:off x="4777" y="1517"/>
                <a:ext cx="294" cy="1"/>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74" name="Line 20"/>
              <p:cNvSpPr>
                <a:spLocks noChangeShapeType="1"/>
              </p:cNvSpPr>
              <p:nvPr/>
            </p:nvSpPr>
            <p:spPr bwMode="auto">
              <a:xfrm flipH="1" flipV="1">
                <a:off x="4836" y="1450"/>
                <a:ext cx="43" cy="62"/>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75" name="Line 21"/>
              <p:cNvSpPr>
                <a:spLocks noChangeShapeType="1"/>
              </p:cNvSpPr>
              <p:nvPr/>
            </p:nvSpPr>
            <p:spPr bwMode="auto">
              <a:xfrm flipH="1" flipV="1">
                <a:off x="4894" y="1450"/>
                <a:ext cx="44" cy="62"/>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76" name="Line 22"/>
              <p:cNvSpPr>
                <a:spLocks noChangeShapeType="1"/>
              </p:cNvSpPr>
              <p:nvPr/>
            </p:nvSpPr>
            <p:spPr bwMode="auto">
              <a:xfrm flipH="1" flipV="1">
                <a:off x="4950" y="1445"/>
                <a:ext cx="44" cy="62"/>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77" name="Line 23"/>
              <p:cNvSpPr>
                <a:spLocks noChangeShapeType="1"/>
              </p:cNvSpPr>
              <p:nvPr/>
            </p:nvSpPr>
            <p:spPr bwMode="auto">
              <a:xfrm flipH="1" flipV="1">
                <a:off x="5011" y="1450"/>
                <a:ext cx="44" cy="62"/>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3844" name="Line 24"/>
            <p:cNvSpPr>
              <a:spLocks noChangeShapeType="1"/>
            </p:cNvSpPr>
            <p:nvPr/>
          </p:nvSpPr>
          <p:spPr bwMode="auto">
            <a:xfrm flipH="1" flipV="1">
              <a:off x="4368" y="1500"/>
              <a:ext cx="26" cy="36"/>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45" name="Oval 25"/>
            <p:cNvSpPr>
              <a:spLocks noChangeArrowheads="1"/>
            </p:cNvSpPr>
            <p:nvPr/>
          </p:nvSpPr>
          <p:spPr bwMode="auto">
            <a:xfrm>
              <a:off x="4468" y="1630"/>
              <a:ext cx="68" cy="68"/>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33846" name="Line 26"/>
            <p:cNvSpPr>
              <a:spLocks noChangeShapeType="1"/>
            </p:cNvSpPr>
            <p:nvPr/>
          </p:nvSpPr>
          <p:spPr bwMode="auto">
            <a:xfrm flipH="1" flipV="1">
              <a:off x="4446" y="1540"/>
              <a:ext cx="45" cy="88"/>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47" name="Line 27"/>
            <p:cNvSpPr>
              <a:spLocks noChangeShapeType="1"/>
            </p:cNvSpPr>
            <p:nvPr/>
          </p:nvSpPr>
          <p:spPr bwMode="auto">
            <a:xfrm flipV="1">
              <a:off x="4518" y="1540"/>
              <a:ext cx="37" cy="88"/>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48" name="Line 28"/>
            <p:cNvSpPr>
              <a:spLocks noChangeShapeType="1"/>
            </p:cNvSpPr>
            <p:nvPr/>
          </p:nvSpPr>
          <p:spPr bwMode="auto">
            <a:xfrm>
              <a:off x="4374" y="1540"/>
              <a:ext cx="245" cy="1"/>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49" name="Line 29"/>
            <p:cNvSpPr>
              <a:spLocks noChangeShapeType="1"/>
            </p:cNvSpPr>
            <p:nvPr/>
          </p:nvSpPr>
          <p:spPr bwMode="auto">
            <a:xfrm flipH="1" flipV="1">
              <a:off x="4411" y="1490"/>
              <a:ext cx="35" cy="5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50" name="Line 30"/>
            <p:cNvSpPr>
              <a:spLocks noChangeShapeType="1"/>
            </p:cNvSpPr>
            <p:nvPr/>
          </p:nvSpPr>
          <p:spPr bwMode="auto">
            <a:xfrm flipH="1" flipV="1">
              <a:off x="4464" y="1490"/>
              <a:ext cx="37" cy="5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51" name="Line 31"/>
            <p:cNvSpPr>
              <a:spLocks noChangeShapeType="1"/>
            </p:cNvSpPr>
            <p:nvPr/>
          </p:nvSpPr>
          <p:spPr bwMode="auto">
            <a:xfrm flipH="1" flipV="1">
              <a:off x="4519" y="1490"/>
              <a:ext cx="36" cy="5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52" name="Line 32"/>
            <p:cNvSpPr>
              <a:spLocks noChangeShapeType="1"/>
            </p:cNvSpPr>
            <p:nvPr/>
          </p:nvSpPr>
          <p:spPr bwMode="auto">
            <a:xfrm flipH="1" flipV="1">
              <a:off x="4574" y="1490"/>
              <a:ext cx="37" cy="5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53" name="Line 33"/>
            <p:cNvSpPr>
              <a:spLocks noChangeShapeType="1"/>
            </p:cNvSpPr>
            <p:nvPr/>
          </p:nvSpPr>
          <p:spPr bwMode="auto">
            <a:xfrm flipH="1" flipV="1">
              <a:off x="5199" y="1500"/>
              <a:ext cx="26" cy="36"/>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54" name="Oval 34"/>
            <p:cNvSpPr>
              <a:spLocks noChangeArrowheads="1"/>
            </p:cNvSpPr>
            <p:nvPr/>
          </p:nvSpPr>
          <p:spPr bwMode="auto">
            <a:xfrm>
              <a:off x="5299" y="1630"/>
              <a:ext cx="68" cy="68"/>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33855" name="Line 35"/>
            <p:cNvSpPr>
              <a:spLocks noChangeShapeType="1"/>
            </p:cNvSpPr>
            <p:nvPr/>
          </p:nvSpPr>
          <p:spPr bwMode="auto">
            <a:xfrm flipH="1" flipV="1">
              <a:off x="5278" y="1540"/>
              <a:ext cx="44" cy="88"/>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56" name="Line 36"/>
            <p:cNvSpPr>
              <a:spLocks noChangeShapeType="1"/>
            </p:cNvSpPr>
            <p:nvPr/>
          </p:nvSpPr>
          <p:spPr bwMode="auto">
            <a:xfrm flipV="1">
              <a:off x="5349" y="1540"/>
              <a:ext cx="37" cy="88"/>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57" name="Line 37"/>
            <p:cNvSpPr>
              <a:spLocks noChangeShapeType="1"/>
            </p:cNvSpPr>
            <p:nvPr/>
          </p:nvSpPr>
          <p:spPr bwMode="auto">
            <a:xfrm>
              <a:off x="5205" y="1540"/>
              <a:ext cx="245" cy="1"/>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58" name="Line 38"/>
            <p:cNvSpPr>
              <a:spLocks noChangeShapeType="1"/>
            </p:cNvSpPr>
            <p:nvPr/>
          </p:nvSpPr>
          <p:spPr bwMode="auto">
            <a:xfrm flipH="1" flipV="1">
              <a:off x="5242" y="1490"/>
              <a:ext cx="36" cy="5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59" name="Line 39"/>
            <p:cNvSpPr>
              <a:spLocks noChangeShapeType="1"/>
            </p:cNvSpPr>
            <p:nvPr/>
          </p:nvSpPr>
          <p:spPr bwMode="auto">
            <a:xfrm flipH="1" flipV="1">
              <a:off x="5295" y="1490"/>
              <a:ext cx="37" cy="5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60" name="Line 40"/>
            <p:cNvSpPr>
              <a:spLocks noChangeShapeType="1"/>
            </p:cNvSpPr>
            <p:nvPr/>
          </p:nvSpPr>
          <p:spPr bwMode="auto">
            <a:xfrm flipH="1" flipV="1">
              <a:off x="5350" y="1490"/>
              <a:ext cx="36" cy="5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61" name="Line 41"/>
            <p:cNvSpPr>
              <a:spLocks noChangeShapeType="1"/>
            </p:cNvSpPr>
            <p:nvPr/>
          </p:nvSpPr>
          <p:spPr bwMode="auto">
            <a:xfrm flipH="1" flipV="1">
              <a:off x="5405" y="1490"/>
              <a:ext cx="37" cy="5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62" name="Line 42"/>
            <p:cNvSpPr>
              <a:spLocks noChangeShapeType="1"/>
            </p:cNvSpPr>
            <p:nvPr/>
          </p:nvSpPr>
          <p:spPr bwMode="auto">
            <a:xfrm>
              <a:off x="4920" y="2497"/>
              <a:ext cx="0" cy="353"/>
            </a:xfrm>
            <a:prstGeom prst="line">
              <a:avLst/>
            </a:prstGeom>
            <a:noFill/>
            <a:ln w="38100">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63" name="Rectangle 43"/>
            <p:cNvSpPr>
              <a:spLocks noChangeArrowheads="1"/>
            </p:cNvSpPr>
            <p:nvPr/>
          </p:nvSpPr>
          <p:spPr bwMode="auto">
            <a:xfrm>
              <a:off x="4910" y="2618"/>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a:solidFill>
                    <a:srgbClr val="FF0000"/>
                  </a:solidFill>
                  <a:latin typeface="Times New Roman" panose="02020603050405020304" pitchFamily="18" charset="0"/>
                  <a:ea typeface="宋体" panose="02010600030101010101" pitchFamily="2" charset="-122"/>
                </a:rPr>
                <a:t>F</a:t>
              </a:r>
              <a:endParaRPr kumimoji="1" lang="en-US" altLang="zh-CN" sz="2000" b="1" i="1">
                <a:solidFill>
                  <a:srgbClr val="FF9900"/>
                </a:solidFill>
                <a:latin typeface="Times New Roman" panose="02020603050405020304" pitchFamily="18" charset="0"/>
                <a:ea typeface="宋体" panose="02010600030101010101" pitchFamily="2" charset="-122"/>
              </a:endParaRPr>
            </a:p>
          </p:txBody>
        </p:sp>
        <p:sp>
          <p:nvSpPr>
            <p:cNvPr id="33864" name="Arc 44"/>
            <p:cNvSpPr>
              <a:spLocks/>
            </p:cNvSpPr>
            <p:nvPr/>
          </p:nvSpPr>
          <p:spPr bwMode="auto">
            <a:xfrm>
              <a:off x="4816" y="2207"/>
              <a:ext cx="100" cy="50"/>
            </a:xfrm>
            <a:custGeom>
              <a:avLst/>
              <a:gdLst>
                <a:gd name="T0" fmla="*/ 0 w 21596"/>
                <a:gd name="T1" fmla="*/ 49 h 21599"/>
                <a:gd name="T2" fmla="*/ 99 w 21596"/>
                <a:gd name="T3" fmla="*/ 0 h 21599"/>
                <a:gd name="T4" fmla="*/ 100 w 21596"/>
                <a:gd name="T5" fmla="*/ 50 h 21599"/>
                <a:gd name="T6" fmla="*/ 0 60000 65536"/>
                <a:gd name="T7" fmla="*/ 0 60000 65536"/>
                <a:gd name="T8" fmla="*/ 0 60000 65536"/>
              </a:gdLst>
              <a:ahLst/>
              <a:cxnLst>
                <a:cxn ang="T6">
                  <a:pos x="T0" y="T1"/>
                </a:cxn>
                <a:cxn ang="T7">
                  <a:pos x="T2" y="T3"/>
                </a:cxn>
                <a:cxn ang="T8">
                  <a:pos x="T4" y="T5"/>
                </a:cxn>
              </a:cxnLst>
              <a:rect l="0" t="0" r="r" b="b"/>
              <a:pathLst>
                <a:path w="21596" h="21599" fill="none" extrusionOk="0">
                  <a:moveTo>
                    <a:pt x="0" y="21171"/>
                  </a:moveTo>
                  <a:cubicBezTo>
                    <a:pt x="231" y="9493"/>
                    <a:pt x="9703" y="115"/>
                    <a:pt x="21382" y="0"/>
                  </a:cubicBezTo>
                </a:path>
                <a:path w="21596" h="21599" stroke="0" extrusionOk="0">
                  <a:moveTo>
                    <a:pt x="0" y="21171"/>
                  </a:moveTo>
                  <a:cubicBezTo>
                    <a:pt x="231" y="9493"/>
                    <a:pt x="9703" y="115"/>
                    <a:pt x="21382" y="0"/>
                  </a:cubicBezTo>
                  <a:lnTo>
                    <a:pt x="21596" y="21599"/>
                  </a:lnTo>
                  <a:lnTo>
                    <a:pt x="0" y="21171"/>
                  </a:lnTo>
                  <a:close/>
                </a:path>
              </a:pathLst>
            </a:custGeom>
            <a:noFill/>
            <a:ln w="254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65" name="Arc 45"/>
            <p:cNvSpPr>
              <a:spLocks/>
            </p:cNvSpPr>
            <p:nvPr/>
          </p:nvSpPr>
          <p:spPr bwMode="auto">
            <a:xfrm>
              <a:off x="4920" y="2211"/>
              <a:ext cx="101" cy="51"/>
            </a:xfrm>
            <a:custGeom>
              <a:avLst/>
              <a:gdLst>
                <a:gd name="T0" fmla="*/ 0 w 21810"/>
                <a:gd name="T1" fmla="*/ 0 h 21600"/>
                <a:gd name="T2" fmla="*/ 101 w 21810"/>
                <a:gd name="T3" fmla="*/ 50 h 21600"/>
                <a:gd name="T4" fmla="*/ 1 w 21810"/>
                <a:gd name="T5" fmla="*/ 51 h 21600"/>
                <a:gd name="T6" fmla="*/ 0 60000 65536"/>
                <a:gd name="T7" fmla="*/ 0 60000 65536"/>
                <a:gd name="T8" fmla="*/ 0 60000 65536"/>
              </a:gdLst>
              <a:ahLst/>
              <a:cxnLst>
                <a:cxn ang="T6">
                  <a:pos x="T0" y="T1"/>
                </a:cxn>
                <a:cxn ang="T7">
                  <a:pos x="T2" y="T3"/>
                </a:cxn>
                <a:cxn ang="T8">
                  <a:pos x="T4" y="T5"/>
                </a:cxn>
              </a:cxnLst>
              <a:rect l="0" t="0" r="r" b="b"/>
              <a:pathLst>
                <a:path w="21810" h="21600" fill="none" extrusionOk="0">
                  <a:moveTo>
                    <a:pt x="0" y="1"/>
                  </a:moveTo>
                  <a:cubicBezTo>
                    <a:pt x="71" y="0"/>
                    <a:pt x="142" y="0"/>
                    <a:pt x="214" y="0"/>
                  </a:cubicBezTo>
                  <a:cubicBezTo>
                    <a:pt x="11976" y="0"/>
                    <a:pt x="21576" y="9411"/>
                    <a:pt x="21809" y="21172"/>
                  </a:cubicBezTo>
                </a:path>
                <a:path w="21810" h="21600" stroke="0" extrusionOk="0">
                  <a:moveTo>
                    <a:pt x="0" y="1"/>
                  </a:moveTo>
                  <a:cubicBezTo>
                    <a:pt x="71" y="0"/>
                    <a:pt x="142" y="0"/>
                    <a:pt x="214" y="0"/>
                  </a:cubicBezTo>
                  <a:cubicBezTo>
                    <a:pt x="11976" y="0"/>
                    <a:pt x="21576" y="9411"/>
                    <a:pt x="21809" y="21172"/>
                  </a:cubicBezTo>
                  <a:lnTo>
                    <a:pt x="214" y="21600"/>
                  </a:lnTo>
                  <a:lnTo>
                    <a:pt x="0" y="1"/>
                  </a:lnTo>
                  <a:close/>
                </a:path>
              </a:pathLst>
            </a:custGeom>
            <a:noFill/>
            <a:ln w="254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3866" name="Object 46"/>
            <p:cNvGraphicFramePr>
              <a:graphicFrameLocks/>
            </p:cNvGraphicFramePr>
            <p:nvPr>
              <p:extLst>
                <p:ext uri="{D42A27DB-BD31-4B8C-83A1-F6EECF244321}">
                  <p14:modId xmlns:p14="http://schemas.microsoft.com/office/powerpoint/2010/main" val="3953314444"/>
                </p:ext>
              </p:extLst>
            </p:nvPr>
          </p:nvGraphicFramePr>
          <p:xfrm>
            <a:off x="4763" y="2065"/>
            <a:ext cx="164" cy="148"/>
          </p:xfrm>
          <a:graphic>
            <a:graphicData uri="http://schemas.openxmlformats.org/presentationml/2006/ole">
              <mc:AlternateContent xmlns:mc="http://schemas.openxmlformats.org/markup-compatibility/2006">
                <mc:Choice xmlns:v="urn:schemas-microsoft-com:vml" Requires="v">
                  <p:oleObj name="Equation" r:id="rId6" imgW="152280" imgH="139680" progId="Equation.DSMT4">
                    <p:embed/>
                  </p:oleObj>
                </mc:Choice>
                <mc:Fallback>
                  <p:oleObj name="Equation" r:id="rId6" imgW="152280" imgH="139680" progId="Equation.DSMT4">
                    <p:embed/>
                    <p:pic>
                      <p:nvPicPr>
                        <p:cNvPr id="0" name=""/>
                        <p:cNvPicPr>
                          <a:picLocks noChangeArrowheads="1"/>
                        </p:cNvPicPr>
                        <p:nvPr/>
                      </p:nvPicPr>
                      <p:blipFill>
                        <a:blip r:embed="rId7"/>
                        <a:srcRect/>
                        <a:stretch>
                          <a:fillRect/>
                        </a:stretch>
                      </p:blipFill>
                      <p:spPr bwMode="auto">
                        <a:xfrm>
                          <a:off x="4763" y="2065"/>
                          <a:ext cx="164" cy="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867" name="Object 47"/>
            <p:cNvGraphicFramePr>
              <a:graphicFrameLocks/>
            </p:cNvGraphicFramePr>
            <p:nvPr>
              <p:extLst>
                <p:ext uri="{D42A27DB-BD31-4B8C-83A1-F6EECF244321}">
                  <p14:modId xmlns:p14="http://schemas.microsoft.com/office/powerpoint/2010/main" val="2108465933"/>
                </p:ext>
              </p:extLst>
            </p:nvPr>
          </p:nvGraphicFramePr>
          <p:xfrm>
            <a:off x="4923" y="2071"/>
            <a:ext cx="165" cy="147"/>
          </p:xfrm>
          <a:graphic>
            <a:graphicData uri="http://schemas.openxmlformats.org/presentationml/2006/ole">
              <mc:AlternateContent xmlns:mc="http://schemas.openxmlformats.org/markup-compatibility/2006">
                <mc:Choice xmlns:v="urn:schemas-microsoft-com:vml" Requires="v">
                  <p:oleObj name="Equation" r:id="rId8" imgW="152280" imgH="139680" progId="Equation.DSMT4">
                    <p:embed/>
                  </p:oleObj>
                </mc:Choice>
                <mc:Fallback>
                  <p:oleObj name="Equation" r:id="rId8" imgW="152280" imgH="139680" progId="Equation.DSMT4">
                    <p:embed/>
                    <p:pic>
                      <p:nvPicPr>
                        <p:cNvPr id="0" name=""/>
                        <p:cNvPicPr>
                          <a:picLocks noChangeArrowheads="1"/>
                        </p:cNvPicPr>
                        <p:nvPr/>
                      </p:nvPicPr>
                      <p:blipFill>
                        <a:blip r:embed="rId9"/>
                        <a:srcRect/>
                        <a:stretch>
                          <a:fillRect/>
                        </a:stretch>
                      </p:blipFill>
                      <p:spPr bwMode="auto">
                        <a:xfrm>
                          <a:off x="4923" y="2071"/>
                          <a:ext cx="165" cy="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868" name="Oval 48"/>
            <p:cNvSpPr>
              <a:spLocks noChangeArrowheads="1"/>
            </p:cNvSpPr>
            <p:nvPr/>
          </p:nvSpPr>
          <p:spPr bwMode="auto">
            <a:xfrm>
              <a:off x="4881" y="2448"/>
              <a:ext cx="68" cy="68"/>
            </a:xfrm>
            <a:prstGeom prst="ellipse">
              <a:avLst/>
            </a:prstGeom>
            <a:solidFill>
              <a:schemeClr val="accent1"/>
            </a:solidFill>
            <a:ln w="254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grpSp>
      <p:grpSp>
        <p:nvGrpSpPr>
          <p:cNvPr id="186417" name="Group 49"/>
          <p:cNvGrpSpPr>
            <a:grpSpLocks/>
          </p:cNvGrpSpPr>
          <p:nvPr/>
        </p:nvGrpSpPr>
        <p:grpSpPr bwMode="auto">
          <a:xfrm>
            <a:off x="6981825" y="4904017"/>
            <a:ext cx="1449388" cy="1546225"/>
            <a:chOff x="3473" y="1759"/>
            <a:chExt cx="913" cy="974"/>
          </a:xfrm>
        </p:grpSpPr>
        <p:grpSp>
          <p:nvGrpSpPr>
            <p:cNvPr id="33829" name="Group 50"/>
            <p:cNvGrpSpPr>
              <a:grpSpLocks/>
            </p:cNvGrpSpPr>
            <p:nvPr/>
          </p:nvGrpSpPr>
          <p:grpSpPr bwMode="auto">
            <a:xfrm>
              <a:off x="3473" y="1759"/>
              <a:ext cx="913" cy="974"/>
              <a:chOff x="3473" y="1759"/>
              <a:chExt cx="913" cy="974"/>
            </a:xfrm>
          </p:grpSpPr>
          <p:sp>
            <p:nvSpPr>
              <p:cNvPr id="33831" name="Line 51"/>
              <p:cNvSpPr>
                <a:spLocks noChangeShapeType="1"/>
              </p:cNvSpPr>
              <p:nvPr/>
            </p:nvSpPr>
            <p:spPr bwMode="auto">
              <a:xfrm flipV="1">
                <a:off x="3933" y="1869"/>
                <a:ext cx="0" cy="480"/>
              </a:xfrm>
              <a:prstGeom prst="line">
                <a:avLst/>
              </a:prstGeom>
              <a:noFill/>
              <a:ln w="381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32" name="Line 52"/>
              <p:cNvSpPr>
                <a:spLocks noChangeShapeType="1"/>
              </p:cNvSpPr>
              <p:nvPr/>
            </p:nvSpPr>
            <p:spPr bwMode="auto">
              <a:xfrm flipV="1">
                <a:off x="3933" y="1965"/>
                <a:ext cx="240" cy="384"/>
              </a:xfrm>
              <a:prstGeom prst="line">
                <a:avLst/>
              </a:prstGeom>
              <a:noFill/>
              <a:ln w="381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33" name="Line 53"/>
              <p:cNvSpPr>
                <a:spLocks noChangeShapeType="1"/>
              </p:cNvSpPr>
              <p:nvPr/>
            </p:nvSpPr>
            <p:spPr bwMode="auto">
              <a:xfrm flipH="1" flipV="1">
                <a:off x="3720" y="2013"/>
                <a:ext cx="213" cy="336"/>
              </a:xfrm>
              <a:prstGeom prst="line">
                <a:avLst/>
              </a:prstGeom>
              <a:noFill/>
              <a:ln w="381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34" name="Line 54"/>
              <p:cNvSpPr>
                <a:spLocks noChangeShapeType="1"/>
              </p:cNvSpPr>
              <p:nvPr/>
            </p:nvSpPr>
            <p:spPr bwMode="auto">
              <a:xfrm>
                <a:off x="3933" y="2349"/>
                <a:ext cx="0" cy="384"/>
              </a:xfrm>
              <a:prstGeom prst="line">
                <a:avLst/>
              </a:prstGeom>
              <a:noFill/>
              <a:ln w="38100">
                <a:solidFill>
                  <a:srgbClr val="FF33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3835" name="Object 55"/>
              <p:cNvGraphicFramePr>
                <a:graphicFrameLocks/>
              </p:cNvGraphicFramePr>
              <p:nvPr>
                <p:extLst>
                  <p:ext uri="{D42A27DB-BD31-4B8C-83A1-F6EECF244321}">
                    <p14:modId xmlns:p14="http://schemas.microsoft.com/office/powerpoint/2010/main" val="818658439"/>
                  </p:ext>
                </p:extLst>
              </p:nvPr>
            </p:nvGraphicFramePr>
            <p:xfrm>
              <a:off x="3473" y="1951"/>
              <a:ext cx="251" cy="211"/>
            </p:xfrm>
            <a:graphic>
              <a:graphicData uri="http://schemas.openxmlformats.org/presentationml/2006/ole">
                <mc:AlternateContent xmlns:mc="http://schemas.openxmlformats.org/markup-compatibility/2006">
                  <mc:Choice xmlns:v="urn:schemas-microsoft-com:vml" Requires="v">
                    <p:oleObj name="Equation" r:id="rId10" imgW="253800" imgH="228600" progId="Equation.DSMT4">
                      <p:embed/>
                    </p:oleObj>
                  </mc:Choice>
                  <mc:Fallback>
                    <p:oleObj name="Equation" r:id="rId10" imgW="253800" imgH="228600" progId="Equation.DSMT4">
                      <p:embed/>
                      <p:pic>
                        <p:nvPicPr>
                          <p:cNvPr id="0" name=""/>
                          <p:cNvPicPr>
                            <a:picLocks noChangeArrowheads="1"/>
                          </p:cNvPicPr>
                          <p:nvPr/>
                        </p:nvPicPr>
                        <p:blipFill>
                          <a:blip r:embed="rId11"/>
                          <a:srcRect/>
                          <a:stretch>
                            <a:fillRect/>
                          </a:stretch>
                        </p:blipFill>
                        <p:spPr bwMode="auto">
                          <a:xfrm>
                            <a:off x="3473" y="1951"/>
                            <a:ext cx="251"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836" name="Object 56"/>
              <p:cNvGraphicFramePr>
                <a:graphicFrameLocks/>
              </p:cNvGraphicFramePr>
              <p:nvPr>
                <p:extLst>
                  <p:ext uri="{D42A27DB-BD31-4B8C-83A1-F6EECF244321}">
                    <p14:modId xmlns:p14="http://schemas.microsoft.com/office/powerpoint/2010/main" val="1089778254"/>
                  </p:ext>
                </p:extLst>
              </p:nvPr>
            </p:nvGraphicFramePr>
            <p:xfrm>
              <a:off x="3957" y="1759"/>
              <a:ext cx="237" cy="204"/>
            </p:xfrm>
            <a:graphic>
              <a:graphicData uri="http://schemas.openxmlformats.org/presentationml/2006/ole">
                <mc:AlternateContent xmlns:mc="http://schemas.openxmlformats.org/markup-compatibility/2006">
                  <mc:Choice xmlns:v="urn:schemas-microsoft-com:vml" Requires="v">
                    <p:oleObj name="Equation" r:id="rId12" imgW="253800" imgH="228600" progId="Equation.DSMT4">
                      <p:embed/>
                    </p:oleObj>
                  </mc:Choice>
                  <mc:Fallback>
                    <p:oleObj name="Equation" r:id="rId12" imgW="253800" imgH="228600" progId="Equation.DSMT4">
                      <p:embed/>
                      <p:pic>
                        <p:nvPicPr>
                          <p:cNvPr id="0" name=""/>
                          <p:cNvPicPr>
                            <a:picLocks noChangeArrowheads="1"/>
                          </p:cNvPicPr>
                          <p:nvPr/>
                        </p:nvPicPr>
                        <p:blipFill>
                          <a:blip r:embed="rId13"/>
                          <a:srcRect/>
                          <a:stretch>
                            <a:fillRect/>
                          </a:stretch>
                        </p:blipFill>
                        <p:spPr bwMode="auto">
                          <a:xfrm>
                            <a:off x="3957" y="1759"/>
                            <a:ext cx="237"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837" name="Object 57"/>
              <p:cNvGraphicFramePr>
                <a:graphicFrameLocks/>
              </p:cNvGraphicFramePr>
              <p:nvPr>
                <p:extLst>
                  <p:ext uri="{D42A27DB-BD31-4B8C-83A1-F6EECF244321}">
                    <p14:modId xmlns:p14="http://schemas.microsoft.com/office/powerpoint/2010/main" val="1034819293"/>
                  </p:ext>
                </p:extLst>
              </p:nvPr>
            </p:nvGraphicFramePr>
            <p:xfrm>
              <a:off x="4150" y="1999"/>
              <a:ext cx="236" cy="204"/>
            </p:xfrm>
            <a:graphic>
              <a:graphicData uri="http://schemas.openxmlformats.org/presentationml/2006/ole">
                <mc:AlternateContent xmlns:mc="http://schemas.openxmlformats.org/markup-compatibility/2006">
                  <mc:Choice xmlns:v="urn:schemas-microsoft-com:vml" Requires="v">
                    <p:oleObj name="Equation" r:id="rId14" imgW="253800" imgH="228600" progId="Equation.DSMT4">
                      <p:embed/>
                    </p:oleObj>
                  </mc:Choice>
                  <mc:Fallback>
                    <p:oleObj name="Equation" r:id="rId14" imgW="253800" imgH="228600" progId="Equation.DSMT4">
                      <p:embed/>
                      <p:pic>
                        <p:nvPicPr>
                          <p:cNvPr id="0" name=""/>
                          <p:cNvPicPr>
                            <a:picLocks noChangeArrowheads="1"/>
                          </p:cNvPicPr>
                          <p:nvPr/>
                        </p:nvPicPr>
                        <p:blipFill>
                          <a:blip r:embed="rId15"/>
                          <a:srcRect/>
                          <a:stretch>
                            <a:fillRect/>
                          </a:stretch>
                        </p:blipFill>
                        <p:spPr bwMode="auto">
                          <a:xfrm>
                            <a:off x="4150" y="1999"/>
                            <a:ext cx="236"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838" name="Rectangle 58"/>
              <p:cNvSpPr>
                <a:spLocks noChangeArrowheads="1"/>
              </p:cNvSpPr>
              <p:nvPr/>
            </p:nvSpPr>
            <p:spPr bwMode="auto">
              <a:xfrm>
                <a:off x="3971" y="2464"/>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a:solidFill>
                      <a:srgbClr val="FF3300"/>
                    </a:solidFill>
                    <a:latin typeface="Times New Roman" panose="02020603050405020304" pitchFamily="18" charset="0"/>
                    <a:ea typeface="宋体" panose="02010600030101010101" pitchFamily="2" charset="-122"/>
                  </a:rPr>
                  <a:t>F</a:t>
                </a:r>
              </a:p>
            </p:txBody>
          </p:sp>
          <p:sp>
            <p:nvSpPr>
              <p:cNvPr id="33839" name="Rectangle 59"/>
              <p:cNvSpPr>
                <a:spLocks noChangeArrowheads="1"/>
              </p:cNvSpPr>
              <p:nvPr/>
            </p:nvSpPr>
            <p:spPr bwMode="auto">
              <a:xfrm>
                <a:off x="3716" y="2234"/>
                <a:ext cx="22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dirty="0">
                    <a:latin typeface="Times New Roman" panose="02020603050405020304" pitchFamily="18" charset="0"/>
                    <a:ea typeface="宋体" panose="02010600030101010101" pitchFamily="2" charset="-122"/>
                  </a:rPr>
                  <a:t>A</a:t>
                </a:r>
              </a:p>
            </p:txBody>
          </p:sp>
        </p:grpSp>
        <p:sp>
          <p:nvSpPr>
            <p:cNvPr id="33830" name="Oval 60"/>
            <p:cNvSpPr>
              <a:spLocks noChangeArrowheads="1"/>
            </p:cNvSpPr>
            <p:nvPr/>
          </p:nvSpPr>
          <p:spPr bwMode="auto">
            <a:xfrm>
              <a:off x="3903" y="2293"/>
              <a:ext cx="68" cy="68"/>
            </a:xfrm>
            <a:prstGeom prst="ellipse">
              <a:avLst/>
            </a:prstGeom>
            <a:solidFill>
              <a:schemeClr val="accent1"/>
            </a:solidFill>
            <a:ln w="381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grpSp>
      <p:grpSp>
        <p:nvGrpSpPr>
          <p:cNvPr id="186430" name="Group 62"/>
          <p:cNvGrpSpPr>
            <a:grpSpLocks/>
          </p:cNvGrpSpPr>
          <p:nvPr/>
        </p:nvGrpSpPr>
        <p:grpSpPr bwMode="auto">
          <a:xfrm>
            <a:off x="5179750" y="2722828"/>
            <a:ext cx="1717675" cy="2187575"/>
            <a:chOff x="3840" y="2786"/>
            <a:chExt cx="1082" cy="1378"/>
          </a:xfrm>
        </p:grpSpPr>
        <p:sp>
          <p:nvSpPr>
            <p:cNvPr id="33803" name="Line 63"/>
            <p:cNvSpPr>
              <a:spLocks noChangeShapeType="1"/>
            </p:cNvSpPr>
            <p:nvPr/>
          </p:nvSpPr>
          <p:spPr bwMode="auto">
            <a:xfrm flipH="1">
              <a:off x="4392" y="2988"/>
              <a:ext cx="401" cy="805"/>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04" name="Line 64"/>
            <p:cNvSpPr>
              <a:spLocks noChangeShapeType="1"/>
            </p:cNvSpPr>
            <p:nvPr/>
          </p:nvSpPr>
          <p:spPr bwMode="auto">
            <a:xfrm>
              <a:off x="3991" y="2988"/>
              <a:ext cx="401" cy="805"/>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05" name="Line 65"/>
            <p:cNvSpPr>
              <a:spLocks noChangeShapeType="1"/>
            </p:cNvSpPr>
            <p:nvPr/>
          </p:nvSpPr>
          <p:spPr bwMode="auto">
            <a:xfrm flipH="1" flipV="1">
              <a:off x="3840" y="2796"/>
              <a:ext cx="26" cy="36"/>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06" name="Oval 66"/>
            <p:cNvSpPr>
              <a:spLocks noChangeArrowheads="1"/>
            </p:cNvSpPr>
            <p:nvPr/>
          </p:nvSpPr>
          <p:spPr bwMode="auto">
            <a:xfrm>
              <a:off x="3940" y="2926"/>
              <a:ext cx="68" cy="68"/>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33807" name="Line 67"/>
            <p:cNvSpPr>
              <a:spLocks noChangeShapeType="1"/>
            </p:cNvSpPr>
            <p:nvPr/>
          </p:nvSpPr>
          <p:spPr bwMode="auto">
            <a:xfrm flipH="1" flipV="1">
              <a:off x="3918" y="2836"/>
              <a:ext cx="45" cy="88"/>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08" name="Line 68"/>
            <p:cNvSpPr>
              <a:spLocks noChangeShapeType="1"/>
            </p:cNvSpPr>
            <p:nvPr/>
          </p:nvSpPr>
          <p:spPr bwMode="auto">
            <a:xfrm flipV="1">
              <a:off x="3990" y="2836"/>
              <a:ext cx="37" cy="88"/>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09" name="Line 69"/>
            <p:cNvSpPr>
              <a:spLocks noChangeShapeType="1"/>
            </p:cNvSpPr>
            <p:nvPr/>
          </p:nvSpPr>
          <p:spPr bwMode="auto">
            <a:xfrm>
              <a:off x="3846" y="2836"/>
              <a:ext cx="245" cy="1"/>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0" name="Line 70"/>
            <p:cNvSpPr>
              <a:spLocks noChangeShapeType="1"/>
            </p:cNvSpPr>
            <p:nvPr/>
          </p:nvSpPr>
          <p:spPr bwMode="auto">
            <a:xfrm flipH="1" flipV="1">
              <a:off x="3883" y="2786"/>
              <a:ext cx="35" cy="5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1" name="Line 71"/>
            <p:cNvSpPr>
              <a:spLocks noChangeShapeType="1"/>
            </p:cNvSpPr>
            <p:nvPr/>
          </p:nvSpPr>
          <p:spPr bwMode="auto">
            <a:xfrm flipH="1" flipV="1">
              <a:off x="3936" y="2786"/>
              <a:ext cx="37" cy="5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2" name="Line 72"/>
            <p:cNvSpPr>
              <a:spLocks noChangeShapeType="1"/>
            </p:cNvSpPr>
            <p:nvPr/>
          </p:nvSpPr>
          <p:spPr bwMode="auto">
            <a:xfrm flipH="1" flipV="1">
              <a:off x="3991" y="2786"/>
              <a:ext cx="36" cy="5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3" name="Line 73"/>
            <p:cNvSpPr>
              <a:spLocks noChangeShapeType="1"/>
            </p:cNvSpPr>
            <p:nvPr/>
          </p:nvSpPr>
          <p:spPr bwMode="auto">
            <a:xfrm flipH="1" flipV="1">
              <a:off x="4046" y="2786"/>
              <a:ext cx="37" cy="5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4" name="Line 74"/>
            <p:cNvSpPr>
              <a:spLocks noChangeShapeType="1"/>
            </p:cNvSpPr>
            <p:nvPr/>
          </p:nvSpPr>
          <p:spPr bwMode="auto">
            <a:xfrm flipH="1" flipV="1">
              <a:off x="4671" y="2796"/>
              <a:ext cx="26" cy="36"/>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5" name="Oval 75"/>
            <p:cNvSpPr>
              <a:spLocks noChangeArrowheads="1"/>
            </p:cNvSpPr>
            <p:nvPr/>
          </p:nvSpPr>
          <p:spPr bwMode="auto">
            <a:xfrm>
              <a:off x="4771" y="2926"/>
              <a:ext cx="68" cy="68"/>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33816" name="Line 76"/>
            <p:cNvSpPr>
              <a:spLocks noChangeShapeType="1"/>
            </p:cNvSpPr>
            <p:nvPr/>
          </p:nvSpPr>
          <p:spPr bwMode="auto">
            <a:xfrm flipH="1" flipV="1">
              <a:off x="4750" y="2836"/>
              <a:ext cx="44" cy="88"/>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7" name="Line 77"/>
            <p:cNvSpPr>
              <a:spLocks noChangeShapeType="1"/>
            </p:cNvSpPr>
            <p:nvPr/>
          </p:nvSpPr>
          <p:spPr bwMode="auto">
            <a:xfrm flipV="1">
              <a:off x="4821" y="2836"/>
              <a:ext cx="37" cy="88"/>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8" name="Line 78"/>
            <p:cNvSpPr>
              <a:spLocks noChangeShapeType="1"/>
            </p:cNvSpPr>
            <p:nvPr/>
          </p:nvSpPr>
          <p:spPr bwMode="auto">
            <a:xfrm>
              <a:off x="4677" y="2836"/>
              <a:ext cx="245" cy="1"/>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9" name="Line 79"/>
            <p:cNvSpPr>
              <a:spLocks noChangeShapeType="1"/>
            </p:cNvSpPr>
            <p:nvPr/>
          </p:nvSpPr>
          <p:spPr bwMode="auto">
            <a:xfrm flipH="1" flipV="1">
              <a:off x="4714" y="2786"/>
              <a:ext cx="36" cy="5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20" name="Line 80"/>
            <p:cNvSpPr>
              <a:spLocks noChangeShapeType="1"/>
            </p:cNvSpPr>
            <p:nvPr/>
          </p:nvSpPr>
          <p:spPr bwMode="auto">
            <a:xfrm flipH="1" flipV="1">
              <a:off x="4767" y="2786"/>
              <a:ext cx="37" cy="5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21" name="Line 81"/>
            <p:cNvSpPr>
              <a:spLocks noChangeShapeType="1"/>
            </p:cNvSpPr>
            <p:nvPr/>
          </p:nvSpPr>
          <p:spPr bwMode="auto">
            <a:xfrm flipH="1" flipV="1">
              <a:off x="4822" y="2786"/>
              <a:ext cx="36" cy="5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22" name="Line 82"/>
            <p:cNvSpPr>
              <a:spLocks noChangeShapeType="1"/>
            </p:cNvSpPr>
            <p:nvPr/>
          </p:nvSpPr>
          <p:spPr bwMode="auto">
            <a:xfrm flipH="1" flipV="1">
              <a:off x="4877" y="2786"/>
              <a:ext cx="37" cy="5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23" name="Line 83"/>
            <p:cNvSpPr>
              <a:spLocks noChangeShapeType="1"/>
            </p:cNvSpPr>
            <p:nvPr/>
          </p:nvSpPr>
          <p:spPr bwMode="auto">
            <a:xfrm>
              <a:off x="4392" y="3793"/>
              <a:ext cx="0" cy="353"/>
            </a:xfrm>
            <a:prstGeom prst="line">
              <a:avLst/>
            </a:prstGeom>
            <a:noFill/>
            <a:ln w="38100">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24" name="Rectangle 84"/>
            <p:cNvSpPr>
              <a:spLocks noChangeArrowheads="1"/>
            </p:cNvSpPr>
            <p:nvPr/>
          </p:nvSpPr>
          <p:spPr bwMode="auto">
            <a:xfrm>
              <a:off x="4382" y="3914"/>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a:solidFill>
                    <a:srgbClr val="FF0000"/>
                  </a:solidFill>
                  <a:latin typeface="Times New Roman" panose="02020603050405020304" pitchFamily="18" charset="0"/>
                  <a:ea typeface="宋体" panose="02010600030101010101" pitchFamily="2" charset="-122"/>
                </a:rPr>
                <a:t>F</a:t>
              </a:r>
              <a:endParaRPr kumimoji="1" lang="en-US" altLang="zh-CN" sz="2000" b="1" i="1">
                <a:solidFill>
                  <a:srgbClr val="FF9900"/>
                </a:solidFill>
                <a:latin typeface="Times New Roman" panose="02020603050405020304" pitchFamily="18" charset="0"/>
                <a:ea typeface="宋体" panose="02010600030101010101" pitchFamily="2" charset="-122"/>
              </a:endParaRPr>
            </a:p>
          </p:txBody>
        </p:sp>
        <p:sp>
          <p:nvSpPr>
            <p:cNvPr id="33825" name="Arc 85"/>
            <p:cNvSpPr>
              <a:spLocks/>
            </p:cNvSpPr>
            <p:nvPr/>
          </p:nvSpPr>
          <p:spPr bwMode="auto">
            <a:xfrm>
              <a:off x="4293" y="3513"/>
              <a:ext cx="100" cy="50"/>
            </a:xfrm>
            <a:custGeom>
              <a:avLst/>
              <a:gdLst>
                <a:gd name="T0" fmla="*/ 0 w 21596"/>
                <a:gd name="T1" fmla="*/ 49 h 21599"/>
                <a:gd name="T2" fmla="*/ 99 w 21596"/>
                <a:gd name="T3" fmla="*/ 0 h 21599"/>
                <a:gd name="T4" fmla="*/ 100 w 21596"/>
                <a:gd name="T5" fmla="*/ 50 h 21599"/>
                <a:gd name="T6" fmla="*/ 0 60000 65536"/>
                <a:gd name="T7" fmla="*/ 0 60000 65536"/>
                <a:gd name="T8" fmla="*/ 0 60000 65536"/>
              </a:gdLst>
              <a:ahLst/>
              <a:cxnLst>
                <a:cxn ang="T6">
                  <a:pos x="T0" y="T1"/>
                </a:cxn>
                <a:cxn ang="T7">
                  <a:pos x="T2" y="T3"/>
                </a:cxn>
                <a:cxn ang="T8">
                  <a:pos x="T4" y="T5"/>
                </a:cxn>
              </a:cxnLst>
              <a:rect l="0" t="0" r="r" b="b"/>
              <a:pathLst>
                <a:path w="21596" h="21599" fill="none" extrusionOk="0">
                  <a:moveTo>
                    <a:pt x="0" y="21171"/>
                  </a:moveTo>
                  <a:cubicBezTo>
                    <a:pt x="231" y="9493"/>
                    <a:pt x="9703" y="115"/>
                    <a:pt x="21382" y="0"/>
                  </a:cubicBezTo>
                </a:path>
                <a:path w="21596" h="21599" stroke="0" extrusionOk="0">
                  <a:moveTo>
                    <a:pt x="0" y="21171"/>
                  </a:moveTo>
                  <a:cubicBezTo>
                    <a:pt x="231" y="9493"/>
                    <a:pt x="9703" y="115"/>
                    <a:pt x="21382" y="0"/>
                  </a:cubicBezTo>
                  <a:lnTo>
                    <a:pt x="21596" y="21599"/>
                  </a:lnTo>
                  <a:lnTo>
                    <a:pt x="0" y="21171"/>
                  </a:lnTo>
                  <a:close/>
                </a:path>
              </a:pathLst>
            </a:custGeom>
            <a:noFill/>
            <a:ln w="254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26" name="Arc 86"/>
            <p:cNvSpPr>
              <a:spLocks/>
            </p:cNvSpPr>
            <p:nvPr/>
          </p:nvSpPr>
          <p:spPr bwMode="auto">
            <a:xfrm>
              <a:off x="4392" y="3512"/>
              <a:ext cx="101" cy="51"/>
            </a:xfrm>
            <a:custGeom>
              <a:avLst/>
              <a:gdLst>
                <a:gd name="T0" fmla="*/ 0 w 21810"/>
                <a:gd name="T1" fmla="*/ 0 h 21600"/>
                <a:gd name="T2" fmla="*/ 101 w 21810"/>
                <a:gd name="T3" fmla="*/ 50 h 21600"/>
                <a:gd name="T4" fmla="*/ 1 w 21810"/>
                <a:gd name="T5" fmla="*/ 51 h 21600"/>
                <a:gd name="T6" fmla="*/ 0 60000 65536"/>
                <a:gd name="T7" fmla="*/ 0 60000 65536"/>
                <a:gd name="T8" fmla="*/ 0 60000 65536"/>
              </a:gdLst>
              <a:ahLst/>
              <a:cxnLst>
                <a:cxn ang="T6">
                  <a:pos x="T0" y="T1"/>
                </a:cxn>
                <a:cxn ang="T7">
                  <a:pos x="T2" y="T3"/>
                </a:cxn>
                <a:cxn ang="T8">
                  <a:pos x="T4" y="T5"/>
                </a:cxn>
              </a:cxnLst>
              <a:rect l="0" t="0" r="r" b="b"/>
              <a:pathLst>
                <a:path w="21810" h="21600" fill="none" extrusionOk="0">
                  <a:moveTo>
                    <a:pt x="0" y="1"/>
                  </a:moveTo>
                  <a:cubicBezTo>
                    <a:pt x="71" y="0"/>
                    <a:pt x="142" y="0"/>
                    <a:pt x="214" y="0"/>
                  </a:cubicBezTo>
                  <a:cubicBezTo>
                    <a:pt x="11976" y="0"/>
                    <a:pt x="21576" y="9411"/>
                    <a:pt x="21809" y="21172"/>
                  </a:cubicBezTo>
                </a:path>
                <a:path w="21810" h="21600" stroke="0" extrusionOk="0">
                  <a:moveTo>
                    <a:pt x="0" y="1"/>
                  </a:moveTo>
                  <a:cubicBezTo>
                    <a:pt x="71" y="0"/>
                    <a:pt x="142" y="0"/>
                    <a:pt x="214" y="0"/>
                  </a:cubicBezTo>
                  <a:cubicBezTo>
                    <a:pt x="11976" y="0"/>
                    <a:pt x="21576" y="9411"/>
                    <a:pt x="21809" y="21172"/>
                  </a:cubicBezTo>
                  <a:lnTo>
                    <a:pt x="214" y="21600"/>
                  </a:lnTo>
                  <a:lnTo>
                    <a:pt x="0" y="1"/>
                  </a:lnTo>
                  <a:close/>
                </a:path>
              </a:pathLst>
            </a:custGeom>
            <a:noFill/>
            <a:ln w="254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3827" name="Object 87"/>
            <p:cNvGraphicFramePr>
              <a:graphicFrameLocks/>
            </p:cNvGraphicFramePr>
            <p:nvPr>
              <p:extLst>
                <p:ext uri="{D42A27DB-BD31-4B8C-83A1-F6EECF244321}">
                  <p14:modId xmlns:p14="http://schemas.microsoft.com/office/powerpoint/2010/main" val="3286129347"/>
                </p:ext>
              </p:extLst>
            </p:nvPr>
          </p:nvGraphicFramePr>
          <p:xfrm>
            <a:off x="4267" y="3313"/>
            <a:ext cx="243" cy="185"/>
          </p:xfrm>
          <a:graphic>
            <a:graphicData uri="http://schemas.openxmlformats.org/presentationml/2006/ole">
              <mc:AlternateContent xmlns:mc="http://schemas.openxmlformats.org/markup-compatibility/2006">
                <mc:Choice xmlns:v="urn:schemas-microsoft-com:vml" Requires="v">
                  <p:oleObj name="Equation" r:id="rId16" imgW="228600" imgH="177480" progId="Equation.DSMT4">
                    <p:embed/>
                  </p:oleObj>
                </mc:Choice>
                <mc:Fallback>
                  <p:oleObj name="Equation" r:id="rId16" imgW="228600" imgH="177480" progId="Equation.DSMT4">
                    <p:embed/>
                    <p:pic>
                      <p:nvPicPr>
                        <p:cNvPr id="0" name=""/>
                        <p:cNvPicPr>
                          <a:picLocks noChangeArrowheads="1"/>
                        </p:cNvPicPr>
                        <p:nvPr/>
                      </p:nvPicPr>
                      <p:blipFill>
                        <a:blip r:embed="rId17"/>
                        <a:srcRect/>
                        <a:stretch>
                          <a:fillRect/>
                        </a:stretch>
                      </p:blipFill>
                      <p:spPr bwMode="auto">
                        <a:xfrm>
                          <a:off x="4267" y="3313"/>
                          <a:ext cx="243" cy="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828" name="Oval 88"/>
            <p:cNvSpPr>
              <a:spLocks noChangeArrowheads="1"/>
            </p:cNvSpPr>
            <p:nvPr/>
          </p:nvSpPr>
          <p:spPr bwMode="auto">
            <a:xfrm>
              <a:off x="4353" y="3744"/>
              <a:ext cx="68" cy="68"/>
            </a:xfrm>
            <a:prstGeom prst="ellipse">
              <a:avLst/>
            </a:prstGeom>
            <a:solidFill>
              <a:schemeClr val="accent1"/>
            </a:solidFill>
            <a:ln w="254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grpSp>
      <p:sp>
        <p:nvSpPr>
          <p:cNvPr id="186459" name="Rectangle 91"/>
          <p:cNvSpPr>
            <a:spLocks noChangeArrowheads="1"/>
          </p:cNvSpPr>
          <p:nvPr/>
        </p:nvSpPr>
        <p:spPr bwMode="auto">
          <a:xfrm>
            <a:off x="316921" y="1830388"/>
            <a:ext cx="8458200" cy="831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solidFill>
                  <a:srgbClr val="FF0000"/>
                </a:solidFill>
                <a:latin typeface="Times New Roman" panose="02020603050405020304" pitchFamily="18" charset="0"/>
                <a:ea typeface="华文楷体" panose="02010600040101010101" pitchFamily="2" charset="-122"/>
              </a:rPr>
              <a:t>超静定结构或静不定结构</a:t>
            </a:r>
            <a:r>
              <a:rPr kumimoji="1" lang="en-US" altLang="zh-CN" sz="2400" b="1" dirty="0">
                <a:solidFill>
                  <a:srgbClr val="FF0000"/>
                </a:solidFill>
                <a:latin typeface="Times New Roman" panose="02020603050405020304" pitchFamily="18" charset="0"/>
                <a:ea typeface="华文楷体" panose="02010600040101010101" pitchFamily="2" charset="-122"/>
              </a:rPr>
              <a:t>(</a:t>
            </a:r>
            <a:r>
              <a:rPr kumimoji="1" lang="en-US" altLang="zh-CN" sz="2400" dirty="0">
                <a:solidFill>
                  <a:srgbClr val="FF0000"/>
                </a:solidFill>
                <a:latin typeface="Times New Roman" panose="02020603050405020304" pitchFamily="18" charset="0"/>
                <a:ea typeface="华文楷体" panose="02010600040101010101" pitchFamily="2" charset="-122"/>
              </a:rPr>
              <a:t>Statically indeterminate structure</a:t>
            </a:r>
            <a:r>
              <a:rPr kumimoji="1" lang="en-US" altLang="zh-CN" sz="2400" b="1" dirty="0">
                <a:solidFill>
                  <a:srgbClr val="FF0000"/>
                </a:solidFill>
                <a:latin typeface="Times New Roman" panose="02020603050405020304" pitchFamily="18" charset="0"/>
                <a:ea typeface="华文楷体" panose="02010600040101010101" pitchFamily="2" charset="-122"/>
              </a:rPr>
              <a:t>)</a:t>
            </a:r>
            <a:r>
              <a:rPr kumimoji="1" lang="zh-CN" altLang="en-US" sz="2400" b="1" dirty="0">
                <a:solidFill>
                  <a:srgbClr val="FF0000"/>
                </a:solidFill>
                <a:latin typeface="Times New Roman" panose="02020603050405020304" pitchFamily="18" charset="0"/>
                <a:ea typeface="华文楷体" panose="02010600040101010101" pitchFamily="2" charset="-122"/>
              </a:rPr>
              <a:t>：</a:t>
            </a:r>
            <a:r>
              <a:rPr kumimoji="1" lang="zh-CN" altLang="en-US" sz="2400" b="1" dirty="0">
                <a:latin typeface="Times New Roman" panose="02020603050405020304" pitchFamily="18" charset="0"/>
                <a:ea typeface="华文楷体" panose="02010600040101010101" pitchFamily="2" charset="-122"/>
              </a:rPr>
              <a:t>仅仅用平衡方程不能求得所有未知力的结构。</a:t>
            </a:r>
          </a:p>
        </p:txBody>
      </p:sp>
      <p:sp>
        <p:nvSpPr>
          <p:cNvPr id="33800" name="Rectangle 92"/>
          <p:cNvSpPr>
            <a:spLocks noChangeArrowheads="1"/>
          </p:cNvSpPr>
          <p:nvPr/>
        </p:nvSpPr>
        <p:spPr bwMode="auto">
          <a:xfrm>
            <a:off x="380421" y="355361"/>
            <a:ext cx="4165600" cy="585418"/>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3200" b="1" dirty="0">
                <a:solidFill>
                  <a:srgbClr val="0000CC"/>
                </a:solidFill>
                <a:latin typeface="Times New Roman" panose="02020603050405020304" pitchFamily="18" charset="0"/>
                <a:ea typeface="隶书" panose="02010509060101010101" pitchFamily="49" charset="-122"/>
              </a:rPr>
              <a:t>6-6  </a:t>
            </a:r>
            <a:r>
              <a:rPr kumimoji="1" lang="zh-CN" altLang="en-US" sz="3200" b="1" dirty="0">
                <a:solidFill>
                  <a:srgbClr val="0000CC"/>
                </a:solidFill>
                <a:latin typeface="Times New Roman" panose="02020603050405020304" pitchFamily="18" charset="0"/>
                <a:ea typeface="隶书" panose="02010509060101010101" pitchFamily="49" charset="-122"/>
              </a:rPr>
              <a:t>拉压静不定问题</a:t>
            </a:r>
          </a:p>
        </p:txBody>
      </p:sp>
      <p:sp>
        <p:nvSpPr>
          <p:cNvPr id="186461" name="Rectangle 93"/>
          <p:cNvSpPr>
            <a:spLocks noChangeArrowheads="1"/>
          </p:cNvSpPr>
          <p:nvPr/>
        </p:nvSpPr>
        <p:spPr bwMode="auto">
          <a:xfrm>
            <a:off x="239713" y="4364267"/>
            <a:ext cx="8382000" cy="919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defRPr/>
            </a:pPr>
            <a:r>
              <a:rPr kumimoji="1" lang="zh-CN" altLang="en-US" sz="2400" b="1" dirty="0">
                <a:solidFill>
                  <a:srgbClr val="FF0000"/>
                </a:solidFill>
                <a:latin typeface="黑体" panose="02010609060101010101" pitchFamily="49" charset="-122"/>
                <a:ea typeface="黑体" panose="02010609060101010101" pitchFamily="49" charset="-122"/>
              </a:rPr>
              <a:t>多余约束：</a:t>
            </a:r>
            <a:r>
              <a:rPr kumimoji="1" lang="zh-CN" altLang="en-US" sz="2400" b="1" dirty="0">
                <a:solidFill>
                  <a:srgbClr val="080808"/>
                </a:solidFill>
                <a:latin typeface="黑体" panose="02010609060101010101" pitchFamily="49" charset="-122"/>
                <a:ea typeface="黑体" panose="02010609060101010101" pitchFamily="49" charset="-122"/>
              </a:rPr>
              <a:t>维持平衡所不需要的约束。</a:t>
            </a:r>
          </a:p>
          <a:p>
            <a:pPr>
              <a:lnSpc>
                <a:spcPct val="120000"/>
              </a:lnSpc>
              <a:defRPr/>
            </a:pPr>
            <a:r>
              <a:rPr kumimoji="1" lang="zh-CN" altLang="en-US" sz="2400" b="1" dirty="0">
                <a:solidFill>
                  <a:srgbClr val="FF0000"/>
                </a:solidFill>
                <a:latin typeface="黑体" panose="02010609060101010101" pitchFamily="49" charset="-122"/>
                <a:ea typeface="黑体" panose="02010609060101010101" pitchFamily="49" charset="-122"/>
              </a:rPr>
              <a:t>静不定次数：</a:t>
            </a:r>
            <a:r>
              <a:rPr kumimoji="1" lang="zh-CN" altLang="en-US" sz="2400" b="1" dirty="0">
                <a:solidFill>
                  <a:srgbClr val="080808"/>
                </a:solidFill>
                <a:latin typeface="黑体" panose="02010609060101010101" pitchFamily="49" charset="-122"/>
                <a:ea typeface="黑体" panose="02010609060101010101" pitchFamily="49" charset="-122"/>
              </a:rPr>
              <a:t>未知力数目与独立平衡方程数之差。</a:t>
            </a:r>
          </a:p>
        </p:txBody>
      </p:sp>
      <p:sp>
        <p:nvSpPr>
          <p:cNvPr id="186462" name="Rectangle 94"/>
          <p:cNvSpPr>
            <a:spLocks noChangeArrowheads="1"/>
          </p:cNvSpPr>
          <p:nvPr/>
        </p:nvSpPr>
        <p:spPr bwMode="auto">
          <a:xfrm>
            <a:off x="668338" y="5511800"/>
            <a:ext cx="621638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defRPr/>
            </a:pPr>
            <a:r>
              <a:rPr kumimoji="1" lang="zh-CN" altLang="en-US" sz="2400" b="1" dirty="0">
                <a:solidFill>
                  <a:srgbClr val="080808"/>
                </a:solidFill>
                <a:latin typeface="楷体" panose="02010609060101010101" pitchFamily="49" charset="-122"/>
                <a:ea typeface="楷体" panose="02010609060101010101" pitchFamily="49" charset="-122"/>
              </a:rPr>
              <a:t>多余约束的求解需要补充方程才能确定，补充方程往往是</a:t>
            </a:r>
            <a:r>
              <a:rPr kumimoji="1" lang="zh-CN" altLang="en-US" sz="2400" b="1" dirty="0">
                <a:solidFill>
                  <a:srgbClr val="FF0000"/>
                </a:solidFill>
                <a:latin typeface="楷体" panose="02010609060101010101" pitchFamily="49" charset="-122"/>
                <a:ea typeface="楷体" panose="02010609060101010101" pitchFamily="49" charset="-122"/>
              </a:rPr>
              <a:t>几何方程（变形协调方程）</a:t>
            </a:r>
            <a:r>
              <a:rPr kumimoji="1" lang="zh-CN" altLang="en-US" sz="2400" b="1" dirty="0">
                <a:solidFill>
                  <a:srgbClr val="333333"/>
                </a:solidFill>
                <a:latin typeface="楷体" panose="02010609060101010101" pitchFamily="49" charset="-122"/>
                <a:ea typeface="楷体" panose="02010609060101010101" pitchFamily="49" charset="-122"/>
              </a:rPr>
              <a:t>。</a:t>
            </a:r>
          </a:p>
        </p:txBody>
      </p:sp>
    </p:spTree>
    <p:extLst>
      <p:ext uri="{BB962C8B-B14F-4D97-AF65-F5344CB8AC3E}">
        <p14:creationId xmlns:p14="http://schemas.microsoft.com/office/powerpoint/2010/main" val="321252164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6377"/>
                                        </p:tgtEl>
                                        <p:attrNameLst>
                                          <p:attrName>style.visibility</p:attrName>
                                        </p:attrNameLst>
                                      </p:cBhvr>
                                      <p:to>
                                        <p:strVal val="visible"/>
                                      </p:to>
                                    </p:set>
                                    <p:animEffect transition="in" filter="blinds(horizontal)">
                                      <p:cBhvr>
                                        <p:cTn id="7" dur="500"/>
                                        <p:tgtEl>
                                          <p:spTgt spid="18637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6459"/>
                                        </p:tgtEl>
                                        <p:attrNameLst>
                                          <p:attrName>style.visibility</p:attrName>
                                        </p:attrNameLst>
                                      </p:cBhvr>
                                      <p:to>
                                        <p:strVal val="visible"/>
                                      </p:to>
                                    </p:set>
                                    <p:animEffect transition="in" filter="blinds(horizontal)">
                                      <p:cBhvr>
                                        <p:cTn id="12" dur="500"/>
                                        <p:tgtEl>
                                          <p:spTgt spid="18645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86430"/>
                                        </p:tgtEl>
                                        <p:attrNameLst>
                                          <p:attrName>style.visibility</p:attrName>
                                        </p:attrNameLst>
                                      </p:cBhvr>
                                      <p:to>
                                        <p:strVal val="visible"/>
                                      </p:to>
                                    </p:set>
                                    <p:animEffect transition="in" filter="blinds(horizontal)">
                                      <p:cBhvr>
                                        <p:cTn id="17" dur="500"/>
                                        <p:tgtEl>
                                          <p:spTgt spid="18643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86378"/>
                                        </p:tgtEl>
                                        <p:attrNameLst>
                                          <p:attrName>style.visibility</p:attrName>
                                        </p:attrNameLst>
                                      </p:cBhvr>
                                      <p:to>
                                        <p:strVal val="visible"/>
                                      </p:to>
                                    </p:set>
                                    <p:animEffect transition="in" filter="blinds(horizontal)">
                                      <p:cBhvr>
                                        <p:cTn id="22" dur="500"/>
                                        <p:tgtEl>
                                          <p:spTgt spid="18637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86417"/>
                                        </p:tgtEl>
                                        <p:attrNameLst>
                                          <p:attrName>style.visibility</p:attrName>
                                        </p:attrNameLst>
                                      </p:cBhvr>
                                      <p:to>
                                        <p:strVal val="visible"/>
                                      </p:to>
                                    </p:set>
                                    <p:animEffect transition="in" filter="blinds(horizontal)">
                                      <p:cBhvr>
                                        <p:cTn id="27" dur="500"/>
                                        <p:tgtEl>
                                          <p:spTgt spid="186417"/>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3878"/>
                                        </p:tgtEl>
                                        <p:attrNameLst>
                                          <p:attrName>style.visibility</p:attrName>
                                        </p:attrNameLst>
                                      </p:cBhvr>
                                      <p:to>
                                        <p:strVal val="visible"/>
                                      </p:to>
                                    </p:set>
                                    <p:animEffect transition="in" filter="blinds(horizontal)">
                                      <p:cBhvr>
                                        <p:cTn id="32" dur="500"/>
                                        <p:tgtEl>
                                          <p:spTgt spid="33878"/>
                                        </p:tgtEl>
                                      </p:cBhvr>
                                    </p:animEffect>
                                  </p:childTnLst>
                                </p:cTn>
                              </p:par>
                              <p:par>
                                <p:cTn id="33" presetID="3" presetClass="entr" presetSubtype="10" fill="hold" nodeType="withEffect">
                                  <p:stCondLst>
                                    <p:cond delay="0"/>
                                  </p:stCondLst>
                                  <p:childTnLst>
                                    <p:set>
                                      <p:cBhvr>
                                        <p:cTn id="34" dur="1" fill="hold">
                                          <p:stCondLst>
                                            <p:cond delay="0"/>
                                          </p:stCondLst>
                                        </p:cTn>
                                        <p:tgtEl>
                                          <p:spTgt spid="33879"/>
                                        </p:tgtEl>
                                        <p:attrNameLst>
                                          <p:attrName>style.visibility</p:attrName>
                                        </p:attrNameLst>
                                      </p:cBhvr>
                                      <p:to>
                                        <p:strVal val="visible"/>
                                      </p:to>
                                    </p:set>
                                    <p:animEffect transition="in" filter="blinds(horizontal)">
                                      <p:cBhvr>
                                        <p:cTn id="35" dur="500"/>
                                        <p:tgtEl>
                                          <p:spTgt spid="33879"/>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4" presetClass="entr" presetSubtype="32" fill="hold" grpId="0" nodeType="clickEffect">
                                  <p:stCondLst>
                                    <p:cond delay="0"/>
                                  </p:stCondLst>
                                  <p:childTnLst>
                                    <p:set>
                                      <p:cBhvr>
                                        <p:cTn id="39" dur="1" fill="hold">
                                          <p:stCondLst>
                                            <p:cond delay="0"/>
                                          </p:stCondLst>
                                        </p:cTn>
                                        <p:tgtEl>
                                          <p:spTgt spid="186461">
                                            <p:txEl>
                                              <p:pRg st="0" end="0"/>
                                            </p:txEl>
                                          </p:spTgt>
                                        </p:tgtEl>
                                        <p:attrNameLst>
                                          <p:attrName>style.visibility</p:attrName>
                                        </p:attrNameLst>
                                      </p:cBhvr>
                                      <p:to>
                                        <p:strVal val="visible"/>
                                      </p:to>
                                    </p:set>
                                    <p:animEffect transition="in" filter="box(out)">
                                      <p:cBhvr>
                                        <p:cTn id="40" dur="500"/>
                                        <p:tgtEl>
                                          <p:spTgt spid="186461">
                                            <p:txEl>
                                              <p:pRg st="0" end="0"/>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4" presetClass="entr" presetSubtype="32" fill="hold" grpId="0" nodeType="clickEffect">
                                  <p:stCondLst>
                                    <p:cond delay="0"/>
                                  </p:stCondLst>
                                  <p:childTnLst>
                                    <p:set>
                                      <p:cBhvr>
                                        <p:cTn id="44" dur="1" fill="hold">
                                          <p:stCondLst>
                                            <p:cond delay="0"/>
                                          </p:stCondLst>
                                        </p:cTn>
                                        <p:tgtEl>
                                          <p:spTgt spid="186461">
                                            <p:txEl>
                                              <p:pRg st="1" end="1"/>
                                            </p:txEl>
                                          </p:spTgt>
                                        </p:tgtEl>
                                        <p:attrNameLst>
                                          <p:attrName>style.visibility</p:attrName>
                                        </p:attrNameLst>
                                      </p:cBhvr>
                                      <p:to>
                                        <p:strVal val="visible"/>
                                      </p:to>
                                    </p:set>
                                    <p:animEffect transition="in" filter="box(out)">
                                      <p:cBhvr>
                                        <p:cTn id="45" dur="500"/>
                                        <p:tgtEl>
                                          <p:spTgt spid="186461">
                                            <p:txEl>
                                              <p:pRg st="1" end="1"/>
                                            </p:txEl>
                                          </p:spTgt>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4" presetClass="entr" presetSubtype="32" fill="hold" grpId="0" nodeType="clickEffect">
                                  <p:stCondLst>
                                    <p:cond delay="0"/>
                                  </p:stCondLst>
                                  <p:childTnLst>
                                    <p:set>
                                      <p:cBhvr>
                                        <p:cTn id="49" dur="1" fill="hold">
                                          <p:stCondLst>
                                            <p:cond delay="0"/>
                                          </p:stCondLst>
                                        </p:cTn>
                                        <p:tgtEl>
                                          <p:spTgt spid="186462">
                                            <p:txEl>
                                              <p:pRg st="0" end="0"/>
                                            </p:txEl>
                                          </p:spTgt>
                                        </p:tgtEl>
                                        <p:attrNameLst>
                                          <p:attrName>style.visibility</p:attrName>
                                        </p:attrNameLst>
                                      </p:cBhvr>
                                      <p:to>
                                        <p:strVal val="visible"/>
                                      </p:to>
                                    </p:set>
                                    <p:animEffect transition="in" filter="box(out)">
                                      <p:cBhvr>
                                        <p:cTn id="50" dur="500"/>
                                        <p:tgtEl>
                                          <p:spTgt spid="18646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7" grpId="0" autoUpdateAnimBg="0"/>
      <p:bldP spid="186459" grpId="0" autoUpdateAnimBg="0"/>
      <p:bldP spid="186461" grpId="0" build="p" autoUpdateAnimBg="0"/>
      <p:bldP spid="186462" grpId="0" build="p"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ChangeArrowheads="1"/>
          </p:cNvSpPr>
          <p:nvPr/>
        </p:nvSpPr>
        <p:spPr bwMode="auto">
          <a:xfrm>
            <a:off x="3390900" y="1026829"/>
            <a:ext cx="490272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eaLnBrk="0" hangingPunct="0"/>
            <a:r>
              <a:rPr kumimoji="1" lang="zh-CN" altLang="en-US" b="1" dirty="0">
                <a:solidFill>
                  <a:srgbClr val="FF0000"/>
                </a:solidFill>
                <a:latin typeface="楷体" panose="02010609060101010101" pitchFamily="49" charset="-122"/>
                <a:ea typeface="楷体" panose="02010609060101010101" pitchFamily="49" charset="-122"/>
              </a:rPr>
              <a:t>例</a:t>
            </a:r>
            <a:r>
              <a:rPr kumimoji="1" lang="en-US" altLang="zh-CN" b="1" dirty="0">
                <a:solidFill>
                  <a:srgbClr val="FF0000"/>
                </a:solidFill>
                <a:latin typeface="楷体" panose="02010609060101010101" pitchFamily="49" charset="-122"/>
                <a:ea typeface="楷体" panose="02010609060101010101" pitchFamily="49" charset="-122"/>
              </a:rPr>
              <a:t>  </a:t>
            </a:r>
            <a:r>
              <a:rPr kumimoji="1" lang="zh-CN" altLang="en-US" b="1" dirty="0">
                <a:latin typeface="楷体" panose="02010609060101010101" pitchFamily="49" charset="-122"/>
                <a:ea typeface="楷体" panose="02010609060101010101" pitchFamily="49" charset="-122"/>
              </a:rPr>
              <a:t>求两端固定直杆的约束反力。</a:t>
            </a:r>
          </a:p>
        </p:txBody>
      </p:sp>
      <p:grpSp>
        <p:nvGrpSpPr>
          <p:cNvPr id="62467" name="Group 3"/>
          <p:cNvGrpSpPr>
            <a:grpSpLocks/>
          </p:cNvGrpSpPr>
          <p:nvPr/>
        </p:nvGrpSpPr>
        <p:grpSpPr bwMode="auto">
          <a:xfrm>
            <a:off x="373062" y="1150938"/>
            <a:ext cx="2792413" cy="1368425"/>
            <a:chOff x="278" y="625"/>
            <a:chExt cx="1759" cy="862"/>
          </a:xfrm>
        </p:grpSpPr>
        <p:sp>
          <p:nvSpPr>
            <p:cNvPr id="62468" name="Rectangle 4"/>
            <p:cNvSpPr>
              <a:spLocks noChangeArrowheads="1"/>
            </p:cNvSpPr>
            <p:nvPr/>
          </p:nvSpPr>
          <p:spPr bwMode="auto">
            <a:xfrm>
              <a:off x="484" y="819"/>
              <a:ext cx="1336" cy="280"/>
            </a:xfrm>
            <a:prstGeom prst="rect">
              <a:avLst/>
            </a:prstGeom>
            <a:solidFill>
              <a:srgbClr val="99C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69" name="Line 5"/>
            <p:cNvSpPr>
              <a:spLocks noChangeShapeType="1"/>
            </p:cNvSpPr>
            <p:nvPr/>
          </p:nvSpPr>
          <p:spPr bwMode="auto">
            <a:xfrm>
              <a:off x="480" y="719"/>
              <a:ext cx="0" cy="480"/>
            </a:xfrm>
            <a:prstGeom prst="line">
              <a:avLst/>
            </a:prstGeom>
            <a:noFill/>
            <a:ln w="50800">
              <a:solidFill>
                <a:srgbClr val="FF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70" name="Line 6"/>
            <p:cNvSpPr>
              <a:spLocks noChangeShapeType="1"/>
            </p:cNvSpPr>
            <p:nvPr/>
          </p:nvSpPr>
          <p:spPr bwMode="auto">
            <a:xfrm>
              <a:off x="1824" y="719"/>
              <a:ext cx="0" cy="480"/>
            </a:xfrm>
            <a:prstGeom prst="line">
              <a:avLst/>
            </a:prstGeom>
            <a:noFill/>
            <a:ln w="50800">
              <a:solidFill>
                <a:srgbClr val="FF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71" name="Line 7"/>
            <p:cNvSpPr>
              <a:spLocks noChangeShapeType="1"/>
            </p:cNvSpPr>
            <p:nvPr/>
          </p:nvSpPr>
          <p:spPr bwMode="auto">
            <a:xfrm>
              <a:off x="912" y="959"/>
              <a:ext cx="384" cy="0"/>
            </a:xfrm>
            <a:prstGeom prst="line">
              <a:avLst/>
            </a:prstGeom>
            <a:noFill/>
            <a:ln w="38100">
              <a:solidFill>
                <a:srgbClr val="FF33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72" name="Rectangle 8"/>
            <p:cNvSpPr>
              <a:spLocks noChangeArrowheads="1"/>
            </p:cNvSpPr>
            <p:nvPr/>
          </p:nvSpPr>
          <p:spPr bwMode="auto">
            <a:xfrm>
              <a:off x="1251" y="821"/>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b="1" i="1">
                  <a:solidFill>
                    <a:srgbClr val="FF0000"/>
                  </a:solidFill>
                  <a:latin typeface="Times New Roman" panose="02020603050405020304" pitchFamily="18" charset="0"/>
                  <a:ea typeface="宋体" panose="02010600030101010101" pitchFamily="2" charset="-122"/>
                </a:rPr>
                <a:t>F</a:t>
              </a:r>
            </a:p>
          </p:txBody>
        </p:sp>
        <p:sp>
          <p:nvSpPr>
            <p:cNvPr id="62473" name="Line 9"/>
            <p:cNvSpPr>
              <a:spLocks noChangeShapeType="1"/>
            </p:cNvSpPr>
            <p:nvPr/>
          </p:nvSpPr>
          <p:spPr bwMode="auto">
            <a:xfrm>
              <a:off x="912" y="815"/>
              <a:ext cx="0" cy="28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74" name="Line 10"/>
            <p:cNvSpPr>
              <a:spLocks noChangeShapeType="1"/>
            </p:cNvSpPr>
            <p:nvPr/>
          </p:nvSpPr>
          <p:spPr bwMode="auto">
            <a:xfrm>
              <a:off x="480" y="1247"/>
              <a:ext cx="0" cy="24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75" name="Line 11"/>
            <p:cNvSpPr>
              <a:spLocks noChangeShapeType="1"/>
            </p:cNvSpPr>
            <p:nvPr/>
          </p:nvSpPr>
          <p:spPr bwMode="auto">
            <a:xfrm>
              <a:off x="1824" y="1247"/>
              <a:ext cx="0" cy="24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76" name="Line 12"/>
            <p:cNvSpPr>
              <a:spLocks noChangeShapeType="1"/>
            </p:cNvSpPr>
            <p:nvPr/>
          </p:nvSpPr>
          <p:spPr bwMode="auto">
            <a:xfrm>
              <a:off x="912" y="1199"/>
              <a:ext cx="0" cy="28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77" name="Line 13"/>
            <p:cNvSpPr>
              <a:spLocks noChangeShapeType="1"/>
            </p:cNvSpPr>
            <p:nvPr/>
          </p:nvSpPr>
          <p:spPr bwMode="auto">
            <a:xfrm>
              <a:off x="480" y="1391"/>
              <a:ext cx="432" cy="0"/>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78" name="Line 14"/>
            <p:cNvSpPr>
              <a:spLocks noChangeShapeType="1"/>
            </p:cNvSpPr>
            <p:nvPr/>
          </p:nvSpPr>
          <p:spPr bwMode="auto">
            <a:xfrm>
              <a:off x="912" y="1391"/>
              <a:ext cx="912" cy="0"/>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79" name="Rectangle 15"/>
            <p:cNvSpPr>
              <a:spLocks noChangeArrowheads="1"/>
            </p:cNvSpPr>
            <p:nvPr/>
          </p:nvSpPr>
          <p:spPr bwMode="auto">
            <a:xfrm>
              <a:off x="612" y="1179"/>
              <a:ext cx="19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i="1" dirty="0">
                  <a:latin typeface="Times New Roman" panose="02020603050405020304" pitchFamily="18" charset="0"/>
                  <a:ea typeface="宋体" panose="02010600030101010101" pitchFamily="2" charset="-122"/>
                </a:rPr>
                <a:t>a</a:t>
              </a:r>
            </a:p>
          </p:txBody>
        </p:sp>
        <p:sp>
          <p:nvSpPr>
            <p:cNvPr id="62480" name="Rectangle 16"/>
            <p:cNvSpPr>
              <a:spLocks noChangeArrowheads="1"/>
            </p:cNvSpPr>
            <p:nvPr/>
          </p:nvSpPr>
          <p:spPr bwMode="auto">
            <a:xfrm>
              <a:off x="1269" y="1182"/>
              <a:ext cx="19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i="1" dirty="0">
                  <a:latin typeface="Times New Roman" panose="02020603050405020304" pitchFamily="18" charset="0"/>
                  <a:ea typeface="宋体" panose="02010600030101010101" pitchFamily="2" charset="-122"/>
                </a:rPr>
                <a:t>b</a:t>
              </a:r>
            </a:p>
          </p:txBody>
        </p:sp>
        <p:graphicFrame>
          <p:nvGraphicFramePr>
            <p:cNvPr id="62481" name="Object 17"/>
            <p:cNvGraphicFramePr>
              <a:graphicFrameLocks/>
            </p:cNvGraphicFramePr>
            <p:nvPr/>
          </p:nvGraphicFramePr>
          <p:xfrm>
            <a:off x="563" y="626"/>
            <a:ext cx="240" cy="162"/>
          </p:xfrm>
          <a:graphic>
            <a:graphicData uri="http://schemas.openxmlformats.org/presentationml/2006/ole">
              <mc:AlternateContent xmlns:mc="http://schemas.openxmlformats.org/markup-compatibility/2006">
                <mc:Choice xmlns:v="urn:schemas-microsoft-com:vml" Requires="v">
                  <p:oleObj name="公式" r:id="rId2" imgW="241200" imgH="164880" progId="Equation.3">
                    <p:embed/>
                  </p:oleObj>
                </mc:Choice>
                <mc:Fallback>
                  <p:oleObj name="公式" r:id="rId2" imgW="241200" imgH="164880" progId="Equation.3">
                    <p:embed/>
                    <p:pic>
                      <p:nvPicPr>
                        <p:cNvPr id="0" nam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 y="626"/>
                          <a:ext cx="240" cy="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2482" name="Object 18"/>
            <p:cNvGraphicFramePr>
              <a:graphicFrameLocks/>
            </p:cNvGraphicFramePr>
            <p:nvPr/>
          </p:nvGraphicFramePr>
          <p:xfrm>
            <a:off x="1236" y="625"/>
            <a:ext cx="233" cy="158"/>
          </p:xfrm>
          <a:graphic>
            <a:graphicData uri="http://schemas.openxmlformats.org/presentationml/2006/ole">
              <mc:AlternateContent xmlns:mc="http://schemas.openxmlformats.org/markup-compatibility/2006">
                <mc:Choice xmlns:v="urn:schemas-microsoft-com:vml" Requires="v">
                  <p:oleObj name="公式" r:id="rId4" imgW="241200" imgH="164880" progId="Equation.3">
                    <p:embed/>
                  </p:oleObj>
                </mc:Choice>
                <mc:Fallback>
                  <p:oleObj name="公式" r:id="rId4" imgW="241200" imgH="164880" progId="Equation.3">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6" y="625"/>
                          <a:ext cx="233" cy="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2483" name="Rectangle 19"/>
            <p:cNvSpPr>
              <a:spLocks noChangeArrowheads="1"/>
            </p:cNvSpPr>
            <p:nvPr/>
          </p:nvSpPr>
          <p:spPr bwMode="auto">
            <a:xfrm>
              <a:off x="1814" y="835"/>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b="1" i="1">
                  <a:latin typeface="Times New Roman" panose="02020603050405020304" pitchFamily="18" charset="0"/>
                  <a:ea typeface="宋体" panose="02010600030101010101" pitchFamily="2" charset="-122"/>
                </a:rPr>
                <a:t>B</a:t>
              </a:r>
            </a:p>
          </p:txBody>
        </p:sp>
        <p:sp>
          <p:nvSpPr>
            <p:cNvPr id="62484" name="Rectangle 20"/>
            <p:cNvSpPr>
              <a:spLocks noChangeArrowheads="1"/>
            </p:cNvSpPr>
            <p:nvPr/>
          </p:nvSpPr>
          <p:spPr bwMode="auto">
            <a:xfrm>
              <a:off x="278" y="835"/>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b="1" i="1">
                  <a:latin typeface="Times New Roman" panose="02020603050405020304" pitchFamily="18" charset="0"/>
                  <a:ea typeface="宋体" panose="02010600030101010101" pitchFamily="2" charset="-122"/>
                </a:rPr>
                <a:t>A</a:t>
              </a:r>
            </a:p>
          </p:txBody>
        </p:sp>
      </p:grpSp>
      <p:graphicFrame>
        <p:nvGraphicFramePr>
          <p:cNvPr id="62485" name="Object 21"/>
          <p:cNvGraphicFramePr>
            <a:graphicFrameLocks/>
          </p:cNvGraphicFramePr>
          <p:nvPr>
            <p:extLst>
              <p:ext uri="{D42A27DB-BD31-4B8C-83A1-F6EECF244321}">
                <p14:modId xmlns:p14="http://schemas.microsoft.com/office/powerpoint/2010/main" val="388205283"/>
              </p:ext>
            </p:extLst>
          </p:nvPr>
        </p:nvGraphicFramePr>
        <p:xfrm>
          <a:off x="4932040" y="2542468"/>
          <a:ext cx="2709862" cy="481012"/>
        </p:xfrm>
        <a:graphic>
          <a:graphicData uri="http://schemas.openxmlformats.org/presentationml/2006/ole">
            <mc:AlternateContent xmlns:mc="http://schemas.openxmlformats.org/markup-compatibility/2006">
              <mc:Choice xmlns:v="urn:schemas-microsoft-com:vml" Requires="v">
                <p:oleObj name="Equation" r:id="rId6" imgW="1257120" imgH="228600" progId="Equation.DSMT4">
                  <p:embed/>
                </p:oleObj>
              </mc:Choice>
              <mc:Fallback>
                <p:oleObj name="Equation" r:id="rId6" imgW="1257120" imgH="228600" progId="Equation.DSMT4">
                  <p:embed/>
                  <p:pic>
                    <p:nvPicPr>
                      <p:cNvPr id="0" name=""/>
                      <p:cNvPicPr>
                        <a:picLocks noChangeArrowheads="1"/>
                      </p:cNvPicPr>
                      <p:nvPr/>
                    </p:nvPicPr>
                    <p:blipFill>
                      <a:blip r:embed="rId7"/>
                      <a:srcRect/>
                      <a:stretch>
                        <a:fillRect/>
                      </a:stretch>
                    </p:blipFill>
                    <p:spPr bwMode="auto">
                      <a:xfrm>
                        <a:off x="4932040" y="2542468"/>
                        <a:ext cx="2709862" cy="481012"/>
                      </a:xfrm>
                      <a:prstGeom prst="rect">
                        <a:avLst/>
                      </a:prstGeom>
                      <a:noFill/>
                      <a:ln>
                        <a:noFill/>
                      </a:ln>
                      <a:effectLst/>
                    </p:spPr>
                  </p:pic>
                </p:oleObj>
              </mc:Fallback>
            </mc:AlternateContent>
          </a:graphicData>
        </a:graphic>
      </p:graphicFrame>
      <p:sp>
        <p:nvSpPr>
          <p:cNvPr id="62486" name="Rectangle 22"/>
          <p:cNvSpPr>
            <a:spLocks noChangeArrowheads="1"/>
          </p:cNvSpPr>
          <p:nvPr/>
        </p:nvSpPr>
        <p:spPr bwMode="auto">
          <a:xfrm>
            <a:off x="3421063" y="1524526"/>
            <a:ext cx="114300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kumimoji="1" lang="zh-CN" altLang="en-US" b="1" dirty="0">
                <a:solidFill>
                  <a:srgbClr val="FF0000"/>
                </a:solidFill>
                <a:latin typeface="楷体" panose="02010609060101010101" pitchFamily="49" charset="-122"/>
                <a:ea typeface="楷体" panose="02010609060101010101" pitchFamily="49" charset="-122"/>
              </a:rPr>
              <a:t>解：</a:t>
            </a:r>
          </a:p>
        </p:txBody>
      </p:sp>
      <p:sp>
        <p:nvSpPr>
          <p:cNvPr id="62487" name="Rectangle 23"/>
          <p:cNvSpPr>
            <a:spLocks noChangeArrowheads="1"/>
          </p:cNvSpPr>
          <p:nvPr/>
        </p:nvSpPr>
        <p:spPr bwMode="auto">
          <a:xfrm>
            <a:off x="3421061" y="3153237"/>
            <a:ext cx="1732847"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zh-CN" altLang="en-US" b="1" dirty="0">
                <a:solidFill>
                  <a:srgbClr val="FF0000"/>
                </a:solidFill>
                <a:latin typeface="楷体" panose="02010609060101010101" pitchFamily="49" charset="-122"/>
                <a:ea typeface="楷体" panose="02010609060101010101" pitchFamily="49" charset="-122"/>
              </a:rPr>
              <a:t>几何方程：</a:t>
            </a:r>
          </a:p>
        </p:txBody>
      </p:sp>
      <p:graphicFrame>
        <p:nvGraphicFramePr>
          <p:cNvPr id="62488" name="Object 24"/>
          <p:cNvGraphicFramePr>
            <a:graphicFrameLocks/>
          </p:cNvGraphicFramePr>
          <p:nvPr>
            <p:extLst>
              <p:ext uri="{D42A27DB-BD31-4B8C-83A1-F6EECF244321}">
                <p14:modId xmlns:p14="http://schemas.microsoft.com/office/powerpoint/2010/main" val="2576911388"/>
              </p:ext>
            </p:extLst>
          </p:nvPr>
        </p:nvGraphicFramePr>
        <p:xfrm>
          <a:off x="5017302" y="3541723"/>
          <a:ext cx="3687763" cy="927100"/>
        </p:xfrm>
        <a:graphic>
          <a:graphicData uri="http://schemas.openxmlformats.org/presentationml/2006/ole">
            <mc:AlternateContent xmlns:mc="http://schemas.openxmlformats.org/markup-compatibility/2006">
              <mc:Choice xmlns:v="urn:schemas-microsoft-com:vml" Requires="v">
                <p:oleObj name="Equation" r:id="rId8" imgW="1612800" imgH="431640" progId="Equation.DSMT4">
                  <p:embed/>
                </p:oleObj>
              </mc:Choice>
              <mc:Fallback>
                <p:oleObj name="Equation" r:id="rId8" imgW="1612800" imgH="431640" progId="Equation.DSMT4">
                  <p:embed/>
                  <p:pic>
                    <p:nvPicPr>
                      <p:cNvPr id="0" name=""/>
                      <p:cNvPicPr>
                        <a:picLocks noChangeArrowheads="1"/>
                      </p:cNvPicPr>
                      <p:nvPr/>
                    </p:nvPicPr>
                    <p:blipFill>
                      <a:blip r:embed="rId9"/>
                      <a:srcRect/>
                      <a:stretch>
                        <a:fillRect/>
                      </a:stretch>
                    </p:blipFill>
                    <p:spPr bwMode="auto">
                      <a:xfrm>
                        <a:off x="5017302" y="3541723"/>
                        <a:ext cx="3687763" cy="92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2489" name="Rectangle 25"/>
          <p:cNvSpPr>
            <a:spLocks noChangeArrowheads="1"/>
          </p:cNvSpPr>
          <p:nvPr/>
        </p:nvSpPr>
        <p:spPr bwMode="auto">
          <a:xfrm>
            <a:off x="3383313" y="3728215"/>
            <a:ext cx="1732847"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zh-CN" altLang="en-US" b="1" dirty="0">
                <a:solidFill>
                  <a:srgbClr val="FF0000"/>
                </a:solidFill>
                <a:latin typeface="楷体" panose="02010609060101010101" pitchFamily="49" charset="-122"/>
                <a:ea typeface="楷体" panose="02010609060101010101" pitchFamily="49" charset="-122"/>
              </a:rPr>
              <a:t>物理方程：</a:t>
            </a:r>
          </a:p>
        </p:txBody>
      </p:sp>
      <p:sp>
        <p:nvSpPr>
          <p:cNvPr id="62490" name="Rectangle 26"/>
          <p:cNvSpPr>
            <a:spLocks noChangeArrowheads="1"/>
          </p:cNvSpPr>
          <p:nvPr/>
        </p:nvSpPr>
        <p:spPr bwMode="auto">
          <a:xfrm>
            <a:off x="3352800" y="4660900"/>
            <a:ext cx="220980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kumimoji="1" lang="zh-CN" altLang="en-US" b="1" dirty="0">
                <a:solidFill>
                  <a:srgbClr val="0000FF"/>
                </a:solidFill>
                <a:latin typeface="楷体" panose="02010609060101010101" pitchFamily="49" charset="-122"/>
                <a:ea typeface="楷体" panose="02010609060101010101" pitchFamily="49" charset="-122"/>
              </a:rPr>
              <a:t>补充方程：</a:t>
            </a:r>
          </a:p>
        </p:txBody>
      </p:sp>
      <p:sp>
        <p:nvSpPr>
          <p:cNvPr id="62494" name="Rectangle 30"/>
          <p:cNvSpPr>
            <a:spLocks noChangeArrowheads="1"/>
          </p:cNvSpPr>
          <p:nvPr/>
        </p:nvSpPr>
        <p:spPr bwMode="auto">
          <a:xfrm>
            <a:off x="3367168" y="2030258"/>
            <a:ext cx="1732847"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zh-CN" altLang="en-US" b="1" dirty="0">
                <a:solidFill>
                  <a:srgbClr val="FF0000"/>
                </a:solidFill>
                <a:latin typeface="楷体" panose="02010609060101010101" pitchFamily="49" charset="-122"/>
                <a:ea typeface="楷体" panose="02010609060101010101" pitchFamily="49" charset="-122"/>
              </a:rPr>
              <a:t>平衡方程：</a:t>
            </a:r>
            <a:endParaRPr kumimoji="1" lang="zh-CN" altLang="en-US" b="1" dirty="0">
              <a:latin typeface="楷体" panose="02010609060101010101" pitchFamily="49" charset="-122"/>
              <a:ea typeface="楷体" panose="02010609060101010101" pitchFamily="49" charset="-122"/>
            </a:endParaRPr>
          </a:p>
        </p:txBody>
      </p:sp>
      <p:sp>
        <p:nvSpPr>
          <p:cNvPr id="62495" name="Rectangle 31"/>
          <p:cNvSpPr>
            <a:spLocks noChangeArrowheads="1"/>
          </p:cNvSpPr>
          <p:nvPr/>
        </p:nvSpPr>
        <p:spPr bwMode="auto">
          <a:xfrm>
            <a:off x="4014789" y="1518812"/>
            <a:ext cx="4055842"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eaLnBrk="0" hangingPunct="0"/>
            <a:r>
              <a:rPr kumimoji="1" lang="zh-CN" altLang="en-US" b="1" dirty="0">
                <a:latin typeface="楷体" panose="02010609060101010101" pitchFamily="49" charset="-122"/>
                <a:ea typeface="楷体" panose="02010609060101010101" pitchFamily="49" charset="-122"/>
              </a:rPr>
              <a:t>解除约束，以约束反力代替</a:t>
            </a:r>
          </a:p>
        </p:txBody>
      </p:sp>
      <p:graphicFrame>
        <p:nvGraphicFramePr>
          <p:cNvPr id="62496" name="Object 32"/>
          <p:cNvGraphicFramePr>
            <a:graphicFrameLocks/>
          </p:cNvGraphicFramePr>
          <p:nvPr>
            <p:extLst>
              <p:ext uri="{D42A27DB-BD31-4B8C-83A1-F6EECF244321}">
                <p14:modId xmlns:p14="http://schemas.microsoft.com/office/powerpoint/2010/main" val="1522076961"/>
              </p:ext>
            </p:extLst>
          </p:nvPr>
        </p:nvGraphicFramePr>
        <p:xfrm>
          <a:off x="5268932" y="3109335"/>
          <a:ext cx="2583705" cy="515938"/>
        </p:xfrm>
        <a:graphic>
          <a:graphicData uri="http://schemas.openxmlformats.org/presentationml/2006/ole">
            <mc:AlternateContent xmlns:mc="http://schemas.openxmlformats.org/markup-compatibility/2006">
              <mc:Choice xmlns:v="urn:schemas-microsoft-com:vml" Requires="v">
                <p:oleObj name="Equation" r:id="rId10" imgW="1143000" imgH="228600" progId="Equation.DSMT4">
                  <p:embed/>
                </p:oleObj>
              </mc:Choice>
              <mc:Fallback>
                <p:oleObj name="Equation" r:id="rId10" imgW="1143000" imgH="228600" progId="Equation.DSMT4">
                  <p:embed/>
                  <p:pic>
                    <p:nvPicPr>
                      <p:cNvPr id="0" name=""/>
                      <p:cNvPicPr>
                        <a:picLocks noChangeArrowheads="1"/>
                      </p:cNvPicPr>
                      <p:nvPr/>
                    </p:nvPicPr>
                    <p:blipFill>
                      <a:blip r:embed="rId11"/>
                      <a:srcRect/>
                      <a:stretch>
                        <a:fillRect/>
                      </a:stretch>
                    </p:blipFill>
                    <p:spPr bwMode="auto">
                      <a:xfrm>
                        <a:off x="5268932" y="3109335"/>
                        <a:ext cx="2583705" cy="515938"/>
                      </a:xfrm>
                      <a:prstGeom prst="rect">
                        <a:avLst/>
                      </a:prstGeom>
                      <a:noFill/>
                      <a:ln>
                        <a:noFill/>
                      </a:ln>
                      <a:effectLst/>
                    </p:spPr>
                  </p:pic>
                </p:oleObj>
              </mc:Fallback>
            </mc:AlternateContent>
          </a:graphicData>
        </a:graphic>
      </p:graphicFrame>
      <p:sp>
        <p:nvSpPr>
          <p:cNvPr id="62522" name="Rectangle 92"/>
          <p:cNvSpPr>
            <a:spLocks noChangeArrowheads="1"/>
          </p:cNvSpPr>
          <p:nvPr/>
        </p:nvSpPr>
        <p:spPr bwMode="auto">
          <a:xfrm>
            <a:off x="533400" y="452679"/>
            <a:ext cx="3971925" cy="585418"/>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3200" b="1" dirty="0">
                <a:solidFill>
                  <a:srgbClr val="0000CC"/>
                </a:solidFill>
                <a:latin typeface="Times New Roman" panose="02020603050405020304" pitchFamily="18" charset="0"/>
                <a:ea typeface="隶书" panose="02010509060101010101" pitchFamily="49" charset="-122"/>
              </a:rPr>
              <a:t>6-6  </a:t>
            </a:r>
            <a:r>
              <a:rPr kumimoji="1" lang="zh-CN" altLang="en-US" sz="3200" b="1" dirty="0">
                <a:solidFill>
                  <a:srgbClr val="0000CC"/>
                </a:solidFill>
                <a:latin typeface="Times New Roman" panose="02020603050405020304" pitchFamily="18" charset="0"/>
                <a:ea typeface="隶书" panose="02010509060101010101" pitchFamily="49" charset="-122"/>
              </a:rPr>
              <a:t>拉压静不定问题</a:t>
            </a:r>
          </a:p>
        </p:txBody>
      </p:sp>
      <p:grpSp>
        <p:nvGrpSpPr>
          <p:cNvPr id="2" name="组合 1"/>
          <p:cNvGrpSpPr/>
          <p:nvPr/>
        </p:nvGrpSpPr>
        <p:grpSpPr>
          <a:xfrm>
            <a:off x="335939" y="2999179"/>
            <a:ext cx="3031229" cy="695333"/>
            <a:chOff x="335939" y="2999179"/>
            <a:chExt cx="3031229" cy="695333"/>
          </a:xfrm>
        </p:grpSpPr>
        <p:grpSp>
          <p:nvGrpSpPr>
            <p:cNvPr id="62511" name="Group 47"/>
            <p:cNvGrpSpPr>
              <a:grpSpLocks/>
            </p:cNvGrpSpPr>
            <p:nvPr/>
          </p:nvGrpSpPr>
          <p:grpSpPr bwMode="auto">
            <a:xfrm>
              <a:off x="335939" y="3237312"/>
              <a:ext cx="3024188" cy="457200"/>
              <a:chOff x="117" y="2894"/>
              <a:chExt cx="1905" cy="288"/>
            </a:xfrm>
          </p:grpSpPr>
          <p:sp>
            <p:nvSpPr>
              <p:cNvPr id="62512" name="Line 48"/>
              <p:cNvSpPr>
                <a:spLocks noChangeShapeType="1"/>
              </p:cNvSpPr>
              <p:nvPr/>
            </p:nvSpPr>
            <p:spPr bwMode="auto">
              <a:xfrm flipH="1">
                <a:off x="1734" y="3047"/>
                <a:ext cx="288" cy="0"/>
              </a:xfrm>
              <a:prstGeom prst="line">
                <a:avLst/>
              </a:prstGeom>
              <a:noFill/>
              <a:ln w="38100">
                <a:solidFill>
                  <a:srgbClr val="FF0000"/>
                </a:solidFill>
                <a:round/>
                <a:headEnd type="triangle"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14" name="Rectangle 50"/>
              <p:cNvSpPr>
                <a:spLocks noChangeArrowheads="1"/>
              </p:cNvSpPr>
              <p:nvPr/>
            </p:nvSpPr>
            <p:spPr bwMode="auto">
              <a:xfrm>
                <a:off x="410" y="2898"/>
                <a:ext cx="1336" cy="280"/>
              </a:xfrm>
              <a:prstGeom prst="rect">
                <a:avLst/>
              </a:prstGeom>
              <a:solidFill>
                <a:srgbClr val="99C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15" name="Line 51"/>
              <p:cNvSpPr>
                <a:spLocks noChangeShapeType="1"/>
              </p:cNvSpPr>
              <p:nvPr/>
            </p:nvSpPr>
            <p:spPr bwMode="auto">
              <a:xfrm>
                <a:off x="838" y="3038"/>
                <a:ext cx="384" cy="0"/>
              </a:xfrm>
              <a:prstGeom prst="line">
                <a:avLst/>
              </a:prstGeom>
              <a:noFill/>
              <a:ln w="38100">
                <a:solidFill>
                  <a:srgbClr val="FF33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16" name="Rectangle 52"/>
              <p:cNvSpPr>
                <a:spLocks noChangeArrowheads="1"/>
              </p:cNvSpPr>
              <p:nvPr/>
            </p:nvSpPr>
            <p:spPr bwMode="auto">
              <a:xfrm>
                <a:off x="1175" y="2928"/>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b="1" i="1" dirty="0">
                    <a:solidFill>
                      <a:srgbClr val="FF0000"/>
                    </a:solidFill>
                    <a:latin typeface="Times New Roman" panose="02020603050405020304" pitchFamily="18" charset="0"/>
                    <a:ea typeface="宋体" panose="02010600030101010101" pitchFamily="2" charset="-122"/>
                  </a:rPr>
                  <a:t>F</a:t>
                </a:r>
              </a:p>
            </p:txBody>
          </p:sp>
          <p:sp>
            <p:nvSpPr>
              <p:cNvPr id="62517" name="Line 53"/>
              <p:cNvSpPr>
                <a:spLocks noChangeShapeType="1"/>
              </p:cNvSpPr>
              <p:nvPr/>
            </p:nvSpPr>
            <p:spPr bwMode="auto">
              <a:xfrm>
                <a:off x="838" y="2894"/>
                <a:ext cx="0" cy="28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19" name="Line 55"/>
              <p:cNvSpPr>
                <a:spLocks noChangeShapeType="1"/>
              </p:cNvSpPr>
              <p:nvPr/>
            </p:nvSpPr>
            <p:spPr bwMode="auto">
              <a:xfrm rot="10800000" flipH="1">
                <a:off x="117" y="3042"/>
                <a:ext cx="288" cy="0"/>
              </a:xfrm>
              <a:prstGeom prst="line">
                <a:avLst/>
              </a:prstGeom>
              <a:noFill/>
              <a:ln w="38100">
                <a:solidFill>
                  <a:srgbClr val="FF0000"/>
                </a:solidFill>
                <a:round/>
                <a:headEnd type="triangle"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9" name="Rectangle 52"/>
            <p:cNvSpPr>
              <a:spLocks noChangeArrowheads="1"/>
            </p:cNvSpPr>
            <p:nvPr/>
          </p:nvSpPr>
          <p:spPr bwMode="auto">
            <a:xfrm>
              <a:off x="408965" y="3032525"/>
              <a:ext cx="447751"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b="1" i="1" dirty="0">
                  <a:solidFill>
                    <a:srgbClr val="FF0000"/>
                  </a:solidFill>
                  <a:latin typeface="Times New Roman" panose="02020603050405020304" pitchFamily="18" charset="0"/>
                  <a:ea typeface="宋体" panose="02010600030101010101" pitchFamily="2" charset="-122"/>
                </a:rPr>
                <a:t>F</a:t>
              </a:r>
              <a:r>
                <a:rPr kumimoji="1" lang="en-US" altLang="zh-CN" sz="2000" b="1" i="1" baseline="-25000" dirty="0">
                  <a:solidFill>
                    <a:srgbClr val="FF0000"/>
                  </a:solidFill>
                  <a:latin typeface="Times New Roman" panose="02020603050405020304" pitchFamily="18" charset="0"/>
                  <a:ea typeface="宋体" panose="02010600030101010101" pitchFamily="2" charset="-122"/>
                </a:rPr>
                <a:t>A</a:t>
              </a:r>
            </a:p>
          </p:txBody>
        </p:sp>
        <p:sp>
          <p:nvSpPr>
            <p:cNvPr id="60" name="Rectangle 52"/>
            <p:cNvSpPr>
              <a:spLocks noChangeArrowheads="1"/>
            </p:cNvSpPr>
            <p:nvPr/>
          </p:nvSpPr>
          <p:spPr bwMode="auto">
            <a:xfrm>
              <a:off x="2895885" y="2999179"/>
              <a:ext cx="471283"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b="1" i="1" dirty="0">
                  <a:solidFill>
                    <a:srgbClr val="FF0000"/>
                  </a:solidFill>
                  <a:latin typeface="Times New Roman" panose="02020603050405020304" pitchFamily="18" charset="0"/>
                  <a:ea typeface="宋体" panose="02010600030101010101" pitchFamily="2" charset="-122"/>
                </a:rPr>
                <a:t>F</a:t>
              </a:r>
              <a:r>
                <a:rPr kumimoji="1" lang="en-US" altLang="zh-CN" sz="2000" b="1" i="1" baseline="-25000" dirty="0">
                  <a:solidFill>
                    <a:srgbClr val="FF0000"/>
                  </a:solidFill>
                  <a:latin typeface="Times New Roman" panose="02020603050405020304" pitchFamily="18" charset="0"/>
                  <a:ea typeface="宋体" panose="02010600030101010101" pitchFamily="2" charset="-122"/>
                </a:rPr>
                <a:t>B</a:t>
              </a:r>
            </a:p>
          </p:txBody>
        </p:sp>
      </p:grpSp>
      <p:graphicFrame>
        <p:nvGraphicFramePr>
          <p:cNvPr id="61" name="Object 24"/>
          <p:cNvGraphicFramePr>
            <a:graphicFrameLocks/>
          </p:cNvGraphicFramePr>
          <p:nvPr>
            <p:extLst>
              <p:ext uri="{D42A27DB-BD31-4B8C-83A1-F6EECF244321}">
                <p14:modId xmlns:p14="http://schemas.microsoft.com/office/powerpoint/2010/main" val="2458194712"/>
              </p:ext>
            </p:extLst>
          </p:nvPr>
        </p:nvGraphicFramePr>
        <p:xfrm>
          <a:off x="5109017" y="4471482"/>
          <a:ext cx="2903537" cy="927100"/>
        </p:xfrm>
        <a:graphic>
          <a:graphicData uri="http://schemas.openxmlformats.org/presentationml/2006/ole">
            <mc:AlternateContent xmlns:mc="http://schemas.openxmlformats.org/markup-compatibility/2006">
              <mc:Choice xmlns:v="urn:schemas-microsoft-com:vml" Requires="v">
                <p:oleObj name="Equation" r:id="rId12" imgW="1269720" imgH="431640" progId="Equation.DSMT4">
                  <p:embed/>
                </p:oleObj>
              </mc:Choice>
              <mc:Fallback>
                <p:oleObj name="Equation" r:id="rId12" imgW="1269720" imgH="431640" progId="Equation.DSMT4">
                  <p:embed/>
                  <p:pic>
                    <p:nvPicPr>
                      <p:cNvPr id="0" name=""/>
                      <p:cNvPicPr>
                        <a:picLocks noChangeArrowheads="1"/>
                      </p:cNvPicPr>
                      <p:nvPr/>
                    </p:nvPicPr>
                    <p:blipFill>
                      <a:blip r:embed="rId13"/>
                      <a:srcRect/>
                      <a:stretch>
                        <a:fillRect/>
                      </a:stretch>
                    </p:blipFill>
                    <p:spPr bwMode="auto">
                      <a:xfrm>
                        <a:off x="5109017" y="4471482"/>
                        <a:ext cx="2903537" cy="92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2" name="Object 24"/>
          <p:cNvGraphicFramePr>
            <a:graphicFrameLocks/>
          </p:cNvGraphicFramePr>
          <p:nvPr>
            <p:extLst>
              <p:ext uri="{D42A27DB-BD31-4B8C-83A1-F6EECF244321}">
                <p14:modId xmlns:p14="http://schemas.microsoft.com/office/powerpoint/2010/main" val="98251678"/>
              </p:ext>
            </p:extLst>
          </p:nvPr>
        </p:nvGraphicFramePr>
        <p:xfrm>
          <a:off x="2057847" y="5437908"/>
          <a:ext cx="1857375" cy="927100"/>
        </p:xfrm>
        <a:graphic>
          <a:graphicData uri="http://schemas.openxmlformats.org/presentationml/2006/ole">
            <mc:AlternateContent xmlns:mc="http://schemas.openxmlformats.org/markup-compatibility/2006">
              <mc:Choice xmlns:v="urn:schemas-microsoft-com:vml" Requires="v">
                <p:oleObj name="Equation" r:id="rId14" imgW="812520" imgH="431640" progId="Equation.DSMT4">
                  <p:embed/>
                </p:oleObj>
              </mc:Choice>
              <mc:Fallback>
                <p:oleObj name="Equation" r:id="rId14" imgW="812520" imgH="431640" progId="Equation.DSMT4">
                  <p:embed/>
                  <p:pic>
                    <p:nvPicPr>
                      <p:cNvPr id="0" name=""/>
                      <p:cNvPicPr>
                        <a:picLocks noChangeArrowheads="1"/>
                      </p:cNvPicPr>
                      <p:nvPr/>
                    </p:nvPicPr>
                    <p:blipFill>
                      <a:blip r:embed="rId15"/>
                      <a:srcRect/>
                      <a:stretch>
                        <a:fillRect/>
                      </a:stretch>
                    </p:blipFill>
                    <p:spPr bwMode="auto">
                      <a:xfrm>
                        <a:off x="2057847" y="5437908"/>
                        <a:ext cx="1857375" cy="92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3" name="Object 24"/>
          <p:cNvGraphicFramePr>
            <a:graphicFrameLocks/>
          </p:cNvGraphicFramePr>
          <p:nvPr>
            <p:extLst>
              <p:ext uri="{D42A27DB-BD31-4B8C-83A1-F6EECF244321}">
                <p14:modId xmlns:p14="http://schemas.microsoft.com/office/powerpoint/2010/main" val="633946103"/>
              </p:ext>
            </p:extLst>
          </p:nvPr>
        </p:nvGraphicFramePr>
        <p:xfrm>
          <a:off x="4555594" y="5467031"/>
          <a:ext cx="1624012" cy="927100"/>
        </p:xfrm>
        <a:graphic>
          <a:graphicData uri="http://schemas.openxmlformats.org/presentationml/2006/ole">
            <mc:AlternateContent xmlns:mc="http://schemas.openxmlformats.org/markup-compatibility/2006">
              <mc:Choice xmlns:v="urn:schemas-microsoft-com:vml" Requires="v">
                <p:oleObj name="Equation" r:id="rId16" imgW="711000" imgH="431640" progId="Equation.DSMT4">
                  <p:embed/>
                </p:oleObj>
              </mc:Choice>
              <mc:Fallback>
                <p:oleObj name="Equation" r:id="rId16" imgW="711000" imgH="431640" progId="Equation.DSMT4">
                  <p:embed/>
                  <p:pic>
                    <p:nvPicPr>
                      <p:cNvPr id="0" name=""/>
                      <p:cNvPicPr>
                        <a:picLocks noChangeArrowheads="1"/>
                      </p:cNvPicPr>
                      <p:nvPr/>
                    </p:nvPicPr>
                    <p:blipFill>
                      <a:blip r:embed="rId17"/>
                      <a:srcRect/>
                      <a:stretch>
                        <a:fillRect/>
                      </a:stretch>
                    </p:blipFill>
                    <p:spPr bwMode="auto">
                      <a:xfrm>
                        <a:off x="4555594" y="5467031"/>
                        <a:ext cx="1624012" cy="92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62506" name="Group 42"/>
          <p:cNvGrpSpPr>
            <a:grpSpLocks/>
          </p:cNvGrpSpPr>
          <p:nvPr/>
        </p:nvGrpSpPr>
        <p:grpSpPr bwMode="auto">
          <a:xfrm>
            <a:off x="872861" y="3032525"/>
            <a:ext cx="1795462" cy="1195387"/>
            <a:chOff x="501" y="1959"/>
            <a:chExt cx="1131" cy="753"/>
          </a:xfrm>
        </p:grpSpPr>
        <p:sp>
          <p:nvSpPr>
            <p:cNvPr id="62507" name="Line 43"/>
            <p:cNvSpPr>
              <a:spLocks noChangeShapeType="1"/>
            </p:cNvSpPr>
            <p:nvPr/>
          </p:nvSpPr>
          <p:spPr bwMode="auto">
            <a:xfrm>
              <a:off x="672" y="1959"/>
              <a:ext cx="0" cy="576"/>
            </a:xfrm>
            <a:prstGeom prst="line">
              <a:avLst/>
            </a:prstGeom>
            <a:noFill/>
            <a:ln w="28575">
              <a:solidFill>
                <a:srgbClr val="993366"/>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08" name="Text Box 44"/>
            <p:cNvSpPr txBox="1">
              <a:spLocks noChangeArrowheads="1"/>
            </p:cNvSpPr>
            <p:nvPr/>
          </p:nvSpPr>
          <p:spPr bwMode="auto">
            <a:xfrm>
              <a:off x="501" y="2412"/>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dirty="0">
                  <a:solidFill>
                    <a:srgbClr val="080808"/>
                  </a:solidFill>
                  <a:latin typeface="Times New Roman" panose="02020603050405020304" pitchFamily="18" charset="0"/>
                  <a:ea typeface="宋体-方正超大字符集" pitchFamily="65" charset="-122"/>
                </a:rPr>
                <a:t>1</a:t>
              </a:r>
            </a:p>
          </p:txBody>
        </p:sp>
        <p:sp>
          <p:nvSpPr>
            <p:cNvPr id="62509" name="Line 45"/>
            <p:cNvSpPr>
              <a:spLocks noChangeShapeType="1"/>
            </p:cNvSpPr>
            <p:nvPr/>
          </p:nvSpPr>
          <p:spPr bwMode="auto">
            <a:xfrm>
              <a:off x="1515" y="1971"/>
              <a:ext cx="0" cy="576"/>
            </a:xfrm>
            <a:prstGeom prst="line">
              <a:avLst/>
            </a:prstGeom>
            <a:noFill/>
            <a:ln w="28575">
              <a:solidFill>
                <a:srgbClr val="993366"/>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10" name="Text Box 46"/>
            <p:cNvSpPr txBox="1">
              <a:spLocks noChangeArrowheads="1"/>
            </p:cNvSpPr>
            <p:nvPr/>
          </p:nvSpPr>
          <p:spPr bwMode="auto">
            <a:xfrm>
              <a:off x="1344" y="2424"/>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dirty="0">
                  <a:solidFill>
                    <a:srgbClr val="080808"/>
                  </a:solidFill>
                  <a:latin typeface="Times New Roman" panose="02020603050405020304" pitchFamily="18" charset="0"/>
                  <a:ea typeface="宋体-方正超大字符集" pitchFamily="65" charset="-122"/>
                </a:rPr>
                <a:t>2</a:t>
              </a:r>
            </a:p>
          </p:txBody>
        </p:sp>
      </p:grpSp>
      <p:graphicFrame>
        <p:nvGraphicFramePr>
          <p:cNvPr id="49" name="Object 21"/>
          <p:cNvGraphicFramePr>
            <a:graphicFrameLocks/>
          </p:cNvGraphicFramePr>
          <p:nvPr>
            <p:extLst>
              <p:ext uri="{D42A27DB-BD31-4B8C-83A1-F6EECF244321}">
                <p14:modId xmlns:p14="http://schemas.microsoft.com/office/powerpoint/2010/main" val="193916390"/>
              </p:ext>
            </p:extLst>
          </p:nvPr>
        </p:nvGraphicFramePr>
        <p:xfrm>
          <a:off x="5212316" y="2034416"/>
          <a:ext cx="1641475" cy="481013"/>
        </p:xfrm>
        <a:graphic>
          <a:graphicData uri="http://schemas.openxmlformats.org/presentationml/2006/ole">
            <mc:AlternateContent xmlns:mc="http://schemas.openxmlformats.org/markup-compatibility/2006">
              <mc:Choice xmlns:v="urn:schemas-microsoft-com:vml" Requires="v">
                <p:oleObj name="Equation" r:id="rId18" imgW="761760" imgH="228600" progId="Equation.DSMT4">
                  <p:embed/>
                </p:oleObj>
              </mc:Choice>
              <mc:Fallback>
                <p:oleObj name="Equation" r:id="rId18" imgW="761760" imgH="228600" progId="Equation.DSMT4">
                  <p:embed/>
                  <p:pic>
                    <p:nvPicPr>
                      <p:cNvPr id="0" name=""/>
                      <p:cNvPicPr>
                        <a:picLocks noChangeArrowheads="1"/>
                      </p:cNvPicPr>
                      <p:nvPr/>
                    </p:nvPicPr>
                    <p:blipFill>
                      <a:blip r:embed="rId19"/>
                      <a:srcRect/>
                      <a:stretch>
                        <a:fillRect/>
                      </a:stretch>
                    </p:blipFill>
                    <p:spPr bwMode="auto">
                      <a:xfrm>
                        <a:off x="5212316" y="2034416"/>
                        <a:ext cx="1641475" cy="481013"/>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75002317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62486"/>
                                        </p:tgtEl>
                                        <p:attrNameLst>
                                          <p:attrName>style.visibility</p:attrName>
                                        </p:attrNameLst>
                                      </p:cBhvr>
                                      <p:to>
                                        <p:strVal val="visible"/>
                                      </p:to>
                                    </p:set>
                                    <p:animEffect transition="in" filter="box(out)">
                                      <p:cBhvr>
                                        <p:cTn id="7" dur="500"/>
                                        <p:tgtEl>
                                          <p:spTgt spid="624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62495"/>
                                        </p:tgtEl>
                                        <p:attrNameLst>
                                          <p:attrName>style.visibility</p:attrName>
                                        </p:attrNameLst>
                                      </p:cBhvr>
                                      <p:to>
                                        <p:strVal val="visible"/>
                                      </p:to>
                                    </p:set>
                                    <p:animEffect transition="in" filter="box(out)">
                                      <p:cBhvr>
                                        <p:cTn id="12" dur="500"/>
                                        <p:tgtEl>
                                          <p:spTgt spid="6249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2494">
                                            <p:txEl>
                                              <p:pRg st="0" end="0"/>
                                            </p:txEl>
                                          </p:spTgt>
                                        </p:tgtEl>
                                        <p:attrNameLst>
                                          <p:attrName>style.visibility</p:attrName>
                                        </p:attrNameLst>
                                      </p:cBhvr>
                                      <p:to>
                                        <p:strVal val="visible"/>
                                      </p:to>
                                    </p:set>
                                    <p:animEffect transition="in" filter="wipe(left)">
                                      <p:cBhvr>
                                        <p:cTn id="22" dur="500"/>
                                        <p:tgtEl>
                                          <p:spTgt spid="62494">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49"/>
                                        </p:tgtEl>
                                        <p:attrNameLst>
                                          <p:attrName>style.visibility</p:attrName>
                                        </p:attrNameLst>
                                      </p:cBhvr>
                                      <p:to>
                                        <p:strVal val="visible"/>
                                      </p:to>
                                    </p:set>
                                    <p:animEffect transition="in" filter="box(out)">
                                      <p:cBhvr>
                                        <p:cTn id="27" dur="500"/>
                                        <p:tgtEl>
                                          <p:spTgt spid="49"/>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62506"/>
                                        </p:tgtEl>
                                        <p:attrNameLst>
                                          <p:attrName>style.visibility</p:attrName>
                                        </p:attrNameLst>
                                      </p:cBhvr>
                                      <p:to>
                                        <p:strVal val="visible"/>
                                      </p:to>
                                    </p:set>
                                    <p:animEffect transition="in" filter="fade">
                                      <p:cBhvr>
                                        <p:cTn id="32" dur="1000"/>
                                        <p:tgtEl>
                                          <p:spTgt spid="62506"/>
                                        </p:tgtEl>
                                      </p:cBhvr>
                                    </p:animEffect>
                                    <p:anim calcmode="lin" valueType="num">
                                      <p:cBhvr>
                                        <p:cTn id="33" dur="1000" fill="hold"/>
                                        <p:tgtEl>
                                          <p:spTgt spid="62506"/>
                                        </p:tgtEl>
                                        <p:attrNameLst>
                                          <p:attrName>ppt_x</p:attrName>
                                        </p:attrNameLst>
                                      </p:cBhvr>
                                      <p:tavLst>
                                        <p:tav tm="0">
                                          <p:val>
                                            <p:strVal val="#ppt_x"/>
                                          </p:val>
                                        </p:tav>
                                        <p:tav tm="100000">
                                          <p:val>
                                            <p:strVal val="#ppt_x"/>
                                          </p:val>
                                        </p:tav>
                                      </p:tavLst>
                                    </p:anim>
                                    <p:anim calcmode="lin" valueType="num">
                                      <p:cBhvr>
                                        <p:cTn id="34" dur="1000" fill="hold"/>
                                        <p:tgtEl>
                                          <p:spTgt spid="62506"/>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 presetClass="entr" presetSubtype="32" fill="hold" nodeType="clickEffect">
                                  <p:stCondLst>
                                    <p:cond delay="0"/>
                                  </p:stCondLst>
                                  <p:childTnLst>
                                    <p:set>
                                      <p:cBhvr>
                                        <p:cTn id="38" dur="1" fill="hold">
                                          <p:stCondLst>
                                            <p:cond delay="0"/>
                                          </p:stCondLst>
                                        </p:cTn>
                                        <p:tgtEl>
                                          <p:spTgt spid="62485"/>
                                        </p:tgtEl>
                                        <p:attrNameLst>
                                          <p:attrName>style.visibility</p:attrName>
                                        </p:attrNameLst>
                                      </p:cBhvr>
                                      <p:to>
                                        <p:strVal val="visible"/>
                                      </p:to>
                                    </p:set>
                                    <p:animEffect transition="in" filter="box(out)">
                                      <p:cBhvr>
                                        <p:cTn id="39" dur="500"/>
                                        <p:tgtEl>
                                          <p:spTgt spid="62485"/>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62487"/>
                                        </p:tgtEl>
                                        <p:attrNameLst>
                                          <p:attrName>style.visibility</p:attrName>
                                        </p:attrNameLst>
                                      </p:cBhvr>
                                      <p:to>
                                        <p:strVal val="visible"/>
                                      </p:to>
                                    </p:set>
                                    <p:animEffect transition="in" filter="wipe(left)">
                                      <p:cBhvr>
                                        <p:cTn id="44" dur="500"/>
                                        <p:tgtEl>
                                          <p:spTgt spid="62487"/>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1" fill="hold" nodeType="clickEffect">
                                  <p:stCondLst>
                                    <p:cond delay="0"/>
                                  </p:stCondLst>
                                  <p:childTnLst>
                                    <p:set>
                                      <p:cBhvr>
                                        <p:cTn id="48" dur="1" fill="hold">
                                          <p:stCondLst>
                                            <p:cond delay="0"/>
                                          </p:stCondLst>
                                        </p:cTn>
                                        <p:tgtEl>
                                          <p:spTgt spid="62496"/>
                                        </p:tgtEl>
                                        <p:attrNameLst>
                                          <p:attrName>style.visibility</p:attrName>
                                        </p:attrNameLst>
                                      </p:cBhvr>
                                      <p:to>
                                        <p:strVal val="visible"/>
                                      </p:to>
                                    </p:set>
                                    <p:animEffect transition="in" filter="slide(fromTop)">
                                      <p:cBhvr>
                                        <p:cTn id="49" dur="500"/>
                                        <p:tgtEl>
                                          <p:spTgt spid="62496"/>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62489"/>
                                        </p:tgtEl>
                                        <p:attrNameLst>
                                          <p:attrName>style.visibility</p:attrName>
                                        </p:attrNameLst>
                                      </p:cBhvr>
                                      <p:to>
                                        <p:strVal val="visible"/>
                                      </p:to>
                                    </p:set>
                                    <p:animEffect transition="in" filter="wipe(left)">
                                      <p:cBhvr>
                                        <p:cTn id="54" dur="500"/>
                                        <p:tgtEl>
                                          <p:spTgt spid="62489"/>
                                        </p:tgtEl>
                                      </p:cBhvr>
                                    </p:animEffect>
                                  </p:childTnLst>
                                </p:cTn>
                              </p:par>
                            </p:childTnLst>
                          </p:cTn>
                        </p:par>
                      </p:childTnLst>
                    </p:cTn>
                  </p:par>
                  <p:par>
                    <p:cTn id="55" fill="hold">
                      <p:stCondLst>
                        <p:cond delay="indefinite"/>
                      </p:stCondLst>
                      <p:childTnLst>
                        <p:par>
                          <p:cTn id="56" fill="hold">
                            <p:stCondLst>
                              <p:cond delay="0"/>
                            </p:stCondLst>
                            <p:childTnLst>
                              <p:par>
                                <p:cTn id="57" presetID="12" presetClass="entr" presetSubtype="1" fill="hold" nodeType="clickEffect">
                                  <p:stCondLst>
                                    <p:cond delay="0"/>
                                  </p:stCondLst>
                                  <p:childTnLst>
                                    <p:set>
                                      <p:cBhvr>
                                        <p:cTn id="58" dur="1" fill="hold">
                                          <p:stCondLst>
                                            <p:cond delay="0"/>
                                          </p:stCondLst>
                                        </p:cTn>
                                        <p:tgtEl>
                                          <p:spTgt spid="62488"/>
                                        </p:tgtEl>
                                        <p:attrNameLst>
                                          <p:attrName>style.visibility</p:attrName>
                                        </p:attrNameLst>
                                      </p:cBhvr>
                                      <p:to>
                                        <p:strVal val="visible"/>
                                      </p:to>
                                    </p:set>
                                    <p:animEffect transition="in" filter="slide(fromTop)">
                                      <p:cBhvr>
                                        <p:cTn id="59" dur="500"/>
                                        <p:tgtEl>
                                          <p:spTgt spid="62488"/>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62490"/>
                                        </p:tgtEl>
                                        <p:attrNameLst>
                                          <p:attrName>style.visibility</p:attrName>
                                        </p:attrNameLst>
                                      </p:cBhvr>
                                      <p:to>
                                        <p:strVal val="visible"/>
                                      </p:to>
                                    </p:set>
                                    <p:animEffect transition="in" filter="wipe(left)">
                                      <p:cBhvr>
                                        <p:cTn id="64" dur="500"/>
                                        <p:tgtEl>
                                          <p:spTgt spid="62490"/>
                                        </p:tgtEl>
                                      </p:cBhvr>
                                    </p:animEffect>
                                  </p:childTnLst>
                                </p:cTn>
                              </p:par>
                            </p:childTnLst>
                          </p:cTn>
                        </p:par>
                      </p:childTnLst>
                    </p:cTn>
                  </p:par>
                  <p:par>
                    <p:cTn id="65" fill="hold">
                      <p:stCondLst>
                        <p:cond delay="indefinite"/>
                      </p:stCondLst>
                      <p:childTnLst>
                        <p:par>
                          <p:cTn id="66" fill="hold">
                            <p:stCondLst>
                              <p:cond delay="0"/>
                            </p:stCondLst>
                            <p:childTnLst>
                              <p:par>
                                <p:cTn id="67" presetID="12" presetClass="entr" presetSubtype="1" fill="hold" nodeType="clickEffect">
                                  <p:stCondLst>
                                    <p:cond delay="0"/>
                                  </p:stCondLst>
                                  <p:childTnLst>
                                    <p:set>
                                      <p:cBhvr>
                                        <p:cTn id="68" dur="1" fill="hold">
                                          <p:stCondLst>
                                            <p:cond delay="0"/>
                                          </p:stCondLst>
                                        </p:cTn>
                                        <p:tgtEl>
                                          <p:spTgt spid="61"/>
                                        </p:tgtEl>
                                        <p:attrNameLst>
                                          <p:attrName>style.visibility</p:attrName>
                                        </p:attrNameLst>
                                      </p:cBhvr>
                                      <p:to>
                                        <p:strVal val="visible"/>
                                      </p:to>
                                    </p:set>
                                    <p:animEffect transition="in" filter="slide(fromTop)">
                                      <p:cBhvr>
                                        <p:cTn id="69" dur="500"/>
                                        <p:tgtEl>
                                          <p:spTgt spid="61"/>
                                        </p:tgtEl>
                                      </p:cBhvr>
                                    </p:animEffect>
                                  </p:childTnLst>
                                </p:cTn>
                              </p:par>
                            </p:childTnLst>
                          </p:cTn>
                        </p:par>
                      </p:childTnLst>
                    </p:cTn>
                  </p:par>
                  <p:par>
                    <p:cTn id="70" fill="hold">
                      <p:stCondLst>
                        <p:cond delay="indefinite"/>
                      </p:stCondLst>
                      <p:childTnLst>
                        <p:par>
                          <p:cTn id="71" fill="hold">
                            <p:stCondLst>
                              <p:cond delay="0"/>
                            </p:stCondLst>
                            <p:childTnLst>
                              <p:par>
                                <p:cTn id="72" presetID="12" presetClass="entr" presetSubtype="1" fill="hold" nodeType="clickEffect">
                                  <p:stCondLst>
                                    <p:cond delay="0"/>
                                  </p:stCondLst>
                                  <p:childTnLst>
                                    <p:set>
                                      <p:cBhvr>
                                        <p:cTn id="73" dur="1" fill="hold">
                                          <p:stCondLst>
                                            <p:cond delay="0"/>
                                          </p:stCondLst>
                                        </p:cTn>
                                        <p:tgtEl>
                                          <p:spTgt spid="62"/>
                                        </p:tgtEl>
                                        <p:attrNameLst>
                                          <p:attrName>style.visibility</p:attrName>
                                        </p:attrNameLst>
                                      </p:cBhvr>
                                      <p:to>
                                        <p:strVal val="visible"/>
                                      </p:to>
                                    </p:set>
                                    <p:animEffect transition="in" filter="slide(fromTop)">
                                      <p:cBhvr>
                                        <p:cTn id="74" dur="500"/>
                                        <p:tgtEl>
                                          <p:spTgt spid="62"/>
                                        </p:tgtEl>
                                      </p:cBhvr>
                                    </p:animEffect>
                                  </p:childTnLst>
                                </p:cTn>
                              </p:par>
                            </p:childTnLst>
                          </p:cTn>
                        </p:par>
                      </p:childTnLst>
                    </p:cTn>
                  </p:par>
                  <p:par>
                    <p:cTn id="75" fill="hold">
                      <p:stCondLst>
                        <p:cond delay="indefinite"/>
                      </p:stCondLst>
                      <p:childTnLst>
                        <p:par>
                          <p:cTn id="76" fill="hold">
                            <p:stCondLst>
                              <p:cond delay="0"/>
                            </p:stCondLst>
                            <p:childTnLst>
                              <p:par>
                                <p:cTn id="77" presetID="12" presetClass="entr" presetSubtype="1" fill="hold" nodeType="clickEffect">
                                  <p:stCondLst>
                                    <p:cond delay="0"/>
                                  </p:stCondLst>
                                  <p:childTnLst>
                                    <p:set>
                                      <p:cBhvr>
                                        <p:cTn id="78" dur="1" fill="hold">
                                          <p:stCondLst>
                                            <p:cond delay="0"/>
                                          </p:stCondLst>
                                        </p:cTn>
                                        <p:tgtEl>
                                          <p:spTgt spid="63"/>
                                        </p:tgtEl>
                                        <p:attrNameLst>
                                          <p:attrName>style.visibility</p:attrName>
                                        </p:attrNameLst>
                                      </p:cBhvr>
                                      <p:to>
                                        <p:strVal val="visible"/>
                                      </p:to>
                                    </p:set>
                                    <p:animEffect transition="in" filter="slide(fromTop)">
                                      <p:cBhvr>
                                        <p:cTn id="79"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86" grpId="0" autoUpdateAnimBg="0"/>
      <p:bldP spid="62487" grpId="0" autoUpdateAnimBg="0"/>
      <p:bldP spid="62489" grpId="0" autoUpdateAnimBg="0"/>
      <p:bldP spid="62490" grpId="0" autoUpdateAnimBg="0"/>
      <p:bldP spid="62494" grpId="0" build="p" autoUpdateAnimBg="0" rev="1"/>
      <p:bldP spid="62495"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72331" y="508941"/>
            <a:ext cx="3816424" cy="461665"/>
          </a:xfrm>
          <a:prstGeom prst="rect">
            <a:avLst/>
          </a:prstGeom>
          <a:noFill/>
        </p:spPr>
        <p:txBody>
          <a:bodyPr wrap="square" rtlCol="0">
            <a:spAutoFit/>
          </a:bodyPr>
          <a:lstStyle/>
          <a:p>
            <a:r>
              <a:rPr lang="zh-CN" altLang="en-US" b="1" dirty="0">
                <a:solidFill>
                  <a:srgbClr val="FF0000"/>
                </a:solidFill>
                <a:latin typeface="黑体" panose="02010609060101010101" pitchFamily="49" charset="-122"/>
                <a:ea typeface="黑体" panose="02010609060101010101" pitchFamily="49" charset="-122"/>
              </a:rPr>
              <a:t>求解静不定问题的步骤：</a:t>
            </a:r>
          </a:p>
        </p:txBody>
      </p:sp>
      <p:sp>
        <p:nvSpPr>
          <p:cNvPr id="3" name="Text Box 51"/>
          <p:cNvSpPr txBox="1">
            <a:spLocks noChangeArrowheads="1"/>
          </p:cNvSpPr>
          <p:nvPr/>
        </p:nvSpPr>
        <p:spPr bwMode="auto">
          <a:xfrm>
            <a:off x="821821" y="1040194"/>
            <a:ext cx="648072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2400" b="1" dirty="0">
                <a:latin typeface="楷体" panose="02010609060101010101" pitchFamily="49" charset="-122"/>
                <a:ea typeface="楷体" panose="02010609060101010101" pitchFamily="49" charset="-122"/>
              </a:rPr>
              <a:t>1</a:t>
            </a:r>
            <a:r>
              <a:rPr kumimoji="1" lang="zh-CN" altLang="en-US" sz="2400" b="1" dirty="0">
                <a:latin typeface="楷体" panose="02010609060101010101" pitchFamily="49" charset="-122"/>
                <a:ea typeface="楷体" panose="02010609060101010101" pitchFamily="49" charset="-122"/>
              </a:rPr>
              <a:t>、解除</a:t>
            </a:r>
            <a:r>
              <a:rPr lang="zh-CN" altLang="en-US" b="1" dirty="0">
                <a:latin typeface="楷体" panose="02010609060101010101" pitchFamily="49" charset="-122"/>
                <a:ea typeface="楷体" panose="02010609060101010101" pitchFamily="49" charset="-122"/>
              </a:rPr>
              <a:t>约束，列出</a:t>
            </a:r>
            <a:r>
              <a:rPr kumimoji="1" lang="zh-CN" altLang="en-US" sz="2400" b="1" dirty="0">
                <a:latin typeface="楷体" panose="02010609060101010101" pitchFamily="49" charset="-122"/>
                <a:ea typeface="楷体" panose="02010609060101010101" pitchFamily="49" charset="-122"/>
              </a:rPr>
              <a:t>静力平衡方程，求出内力。</a:t>
            </a:r>
            <a:endParaRPr kumimoji="1" lang="en-US" altLang="zh-CN" sz="2400" b="1" dirty="0">
              <a:latin typeface="楷体" panose="02010609060101010101" pitchFamily="49" charset="-122"/>
              <a:ea typeface="楷体" panose="02010609060101010101" pitchFamily="49" charset="-122"/>
            </a:endParaRPr>
          </a:p>
          <a:p>
            <a:r>
              <a:rPr kumimoji="1" lang="zh-CN" altLang="en-US" sz="2400" b="1" dirty="0">
                <a:latin typeface="楷体" panose="02010609060101010101" pitchFamily="49" charset="-122"/>
                <a:ea typeface="楷体" panose="02010609060101010101" pitchFamily="49" charset="-122"/>
              </a:rPr>
              <a:t>   判定静不定次数。</a:t>
            </a:r>
          </a:p>
        </p:txBody>
      </p:sp>
      <p:sp>
        <p:nvSpPr>
          <p:cNvPr id="4" name="Text Box 51"/>
          <p:cNvSpPr txBox="1">
            <a:spLocks noChangeArrowheads="1"/>
          </p:cNvSpPr>
          <p:nvPr/>
        </p:nvSpPr>
        <p:spPr bwMode="auto">
          <a:xfrm>
            <a:off x="821821" y="1871191"/>
            <a:ext cx="648072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2400" b="1" dirty="0">
                <a:latin typeface="楷体" panose="02010609060101010101" pitchFamily="49" charset="-122"/>
                <a:ea typeface="楷体" panose="02010609060101010101" pitchFamily="49" charset="-122"/>
              </a:rPr>
              <a:t>2</a:t>
            </a:r>
            <a:r>
              <a:rPr kumimoji="1" lang="zh-CN" altLang="en-US" sz="2400" b="1" dirty="0">
                <a:latin typeface="楷体" panose="02010609060101010101" pitchFamily="49" charset="-122"/>
                <a:ea typeface="楷体" panose="02010609060101010101" pitchFamily="49" charset="-122"/>
              </a:rPr>
              <a:t>、根据变形协调条件写出几何方程。</a:t>
            </a:r>
            <a:endParaRPr kumimoji="1" lang="en-US" altLang="zh-CN" sz="2400" b="1" dirty="0">
              <a:latin typeface="楷体" panose="02010609060101010101" pitchFamily="49" charset="-122"/>
              <a:ea typeface="楷体" panose="02010609060101010101" pitchFamily="49" charset="-122"/>
            </a:endParaRPr>
          </a:p>
          <a:p>
            <a:r>
              <a:rPr kumimoji="1" lang="zh-CN" altLang="en-US" sz="2400" b="1" dirty="0">
                <a:latin typeface="楷体" panose="02010609060101010101" pitchFamily="49" charset="-122"/>
                <a:ea typeface="楷体" panose="02010609060101010101" pitchFamily="49" charset="-122"/>
              </a:rPr>
              <a:t>   静不定次数</a:t>
            </a:r>
            <a:r>
              <a:rPr kumimoji="1" lang="en-US" altLang="zh-CN" sz="2400" b="1" dirty="0">
                <a:latin typeface="楷体" panose="02010609060101010101" pitchFamily="49" charset="-122"/>
                <a:ea typeface="楷体" panose="02010609060101010101" pitchFamily="49" charset="-122"/>
              </a:rPr>
              <a:t>=</a:t>
            </a:r>
            <a:r>
              <a:rPr kumimoji="1" lang="zh-CN" altLang="en-US" sz="2400" b="1" dirty="0">
                <a:latin typeface="楷体" panose="02010609060101010101" pitchFamily="49" charset="-122"/>
                <a:ea typeface="楷体" panose="02010609060101010101" pitchFamily="49" charset="-122"/>
              </a:rPr>
              <a:t>几何方程个数</a:t>
            </a:r>
          </a:p>
        </p:txBody>
      </p:sp>
      <p:sp>
        <p:nvSpPr>
          <p:cNvPr id="5" name="Text Box 51"/>
          <p:cNvSpPr txBox="1">
            <a:spLocks noChangeArrowheads="1"/>
          </p:cNvSpPr>
          <p:nvPr/>
        </p:nvSpPr>
        <p:spPr bwMode="auto">
          <a:xfrm>
            <a:off x="841458" y="2712707"/>
            <a:ext cx="734481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2400" b="1" dirty="0">
                <a:latin typeface="楷体" panose="02010609060101010101" pitchFamily="49" charset="-122"/>
                <a:ea typeface="楷体" panose="02010609060101010101" pitchFamily="49" charset="-122"/>
              </a:rPr>
              <a:t>3</a:t>
            </a:r>
            <a:r>
              <a:rPr kumimoji="1" lang="zh-CN" altLang="en-US" sz="2400" b="1" dirty="0">
                <a:latin typeface="楷体" panose="02010609060101010101" pitchFamily="49" charset="-122"/>
                <a:ea typeface="楷体" panose="02010609060101010101" pitchFamily="49" charset="-122"/>
              </a:rPr>
              <a:t>、由力与变形的关系，即胡克定律得到物理方程。</a:t>
            </a:r>
            <a:endParaRPr kumimoji="1" lang="en-US" altLang="zh-CN" sz="2400" b="1" dirty="0">
              <a:latin typeface="楷体" panose="02010609060101010101" pitchFamily="49" charset="-122"/>
              <a:ea typeface="楷体" panose="02010609060101010101" pitchFamily="49" charset="-122"/>
            </a:endParaRPr>
          </a:p>
        </p:txBody>
      </p:sp>
      <p:sp>
        <p:nvSpPr>
          <p:cNvPr id="6" name="Text Box 51"/>
          <p:cNvSpPr txBox="1">
            <a:spLocks noChangeArrowheads="1"/>
          </p:cNvSpPr>
          <p:nvPr/>
        </p:nvSpPr>
        <p:spPr bwMode="auto">
          <a:xfrm>
            <a:off x="841458" y="3198708"/>
            <a:ext cx="734481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2400" b="1" dirty="0">
                <a:latin typeface="楷体" panose="02010609060101010101" pitchFamily="49" charset="-122"/>
                <a:ea typeface="楷体" panose="02010609060101010101" pitchFamily="49" charset="-122"/>
              </a:rPr>
              <a:t>4</a:t>
            </a:r>
            <a:r>
              <a:rPr kumimoji="1" lang="zh-CN" altLang="en-US" sz="2400" b="1" dirty="0">
                <a:latin typeface="楷体" panose="02010609060101010101" pitchFamily="49" charset="-122"/>
                <a:ea typeface="楷体" panose="02010609060101010101" pitchFamily="49" charset="-122"/>
              </a:rPr>
              <a:t>、联立求解。</a:t>
            </a:r>
            <a:endParaRPr kumimoji="1" lang="en-US" altLang="zh-CN" sz="2400" b="1" dirty="0">
              <a:latin typeface="楷体" panose="02010609060101010101" pitchFamily="49" charset="-122"/>
              <a:ea typeface="楷体" panose="02010609060101010101" pitchFamily="49" charset="-122"/>
            </a:endParaRPr>
          </a:p>
        </p:txBody>
      </p:sp>
      <p:sp>
        <p:nvSpPr>
          <p:cNvPr id="7" name="Text Box 51"/>
          <p:cNvSpPr txBox="1">
            <a:spLocks noChangeArrowheads="1"/>
          </p:cNvSpPr>
          <p:nvPr/>
        </p:nvSpPr>
        <p:spPr bwMode="auto">
          <a:xfrm>
            <a:off x="821821" y="4221597"/>
            <a:ext cx="749459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2400" b="1" dirty="0">
                <a:solidFill>
                  <a:srgbClr val="0000FF"/>
                </a:solidFill>
                <a:latin typeface="楷体" panose="02010609060101010101" pitchFamily="49" charset="-122"/>
                <a:ea typeface="楷体" panose="02010609060101010101" pitchFamily="49" charset="-122"/>
              </a:rPr>
              <a:t>1</a:t>
            </a:r>
            <a:r>
              <a:rPr kumimoji="1" lang="zh-CN" altLang="en-US" sz="2400" b="1" dirty="0">
                <a:solidFill>
                  <a:srgbClr val="0000FF"/>
                </a:solidFill>
                <a:latin typeface="楷体" panose="02010609060101010101" pitchFamily="49" charset="-122"/>
                <a:ea typeface="楷体" panose="02010609060101010101" pitchFamily="49" charset="-122"/>
              </a:rPr>
              <a:t>、静力平衡条件、变形几何关系、物理条件是解决静</a:t>
            </a:r>
            <a:r>
              <a:rPr lang="zh-CN" altLang="en-US" b="1" dirty="0">
                <a:solidFill>
                  <a:srgbClr val="0000FF"/>
                </a:solidFill>
                <a:latin typeface="楷体" panose="02010609060101010101" pitchFamily="49" charset="-122"/>
                <a:ea typeface="楷体" panose="02010609060101010101" pitchFamily="49" charset="-122"/>
              </a:rPr>
              <a:t>不</a:t>
            </a:r>
            <a:r>
              <a:rPr kumimoji="1" lang="zh-CN" altLang="en-US" sz="2400" b="1" dirty="0">
                <a:solidFill>
                  <a:srgbClr val="0000FF"/>
                </a:solidFill>
                <a:latin typeface="楷体" panose="02010609060101010101" pitchFamily="49" charset="-122"/>
                <a:ea typeface="楷体" panose="02010609060101010101" pitchFamily="49" charset="-122"/>
              </a:rPr>
              <a:t>定问题的基本思想。具有广泛一般意义。</a:t>
            </a:r>
            <a:endParaRPr kumimoji="1" lang="en-US" altLang="zh-CN" sz="2400" b="1" dirty="0">
              <a:solidFill>
                <a:srgbClr val="0000FF"/>
              </a:solidFill>
              <a:latin typeface="楷体" panose="02010609060101010101" pitchFamily="49" charset="-122"/>
              <a:ea typeface="楷体" panose="02010609060101010101" pitchFamily="49" charset="-122"/>
            </a:endParaRPr>
          </a:p>
        </p:txBody>
      </p:sp>
      <p:sp>
        <p:nvSpPr>
          <p:cNvPr id="8" name="文本框 7"/>
          <p:cNvSpPr txBox="1"/>
          <p:nvPr/>
        </p:nvSpPr>
        <p:spPr>
          <a:xfrm>
            <a:off x="841458" y="3732657"/>
            <a:ext cx="1353120" cy="461665"/>
          </a:xfrm>
          <a:prstGeom prst="rect">
            <a:avLst/>
          </a:prstGeom>
          <a:noFill/>
        </p:spPr>
        <p:txBody>
          <a:bodyPr wrap="square" rtlCol="0">
            <a:spAutoFit/>
          </a:bodyPr>
          <a:lstStyle/>
          <a:p>
            <a:r>
              <a:rPr lang="zh-CN" altLang="en-US" b="1" dirty="0">
                <a:solidFill>
                  <a:srgbClr val="FF0000"/>
                </a:solidFill>
                <a:latin typeface="黑体" panose="02010609060101010101" pitchFamily="49" charset="-122"/>
                <a:ea typeface="黑体" panose="02010609060101010101" pitchFamily="49" charset="-122"/>
              </a:rPr>
              <a:t>说明：</a:t>
            </a:r>
          </a:p>
        </p:txBody>
      </p:sp>
      <p:sp>
        <p:nvSpPr>
          <p:cNvPr id="9" name="Text Box 51"/>
          <p:cNvSpPr txBox="1">
            <a:spLocks noChangeArrowheads="1"/>
          </p:cNvSpPr>
          <p:nvPr/>
        </p:nvSpPr>
        <p:spPr bwMode="auto">
          <a:xfrm>
            <a:off x="841458" y="5171045"/>
            <a:ext cx="749459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2400" b="1" dirty="0">
                <a:solidFill>
                  <a:srgbClr val="0000FF"/>
                </a:solidFill>
                <a:latin typeface="楷体" panose="02010609060101010101" pitchFamily="49" charset="-122"/>
                <a:ea typeface="楷体" panose="02010609060101010101" pitchFamily="49" charset="-122"/>
              </a:rPr>
              <a:t>2</a:t>
            </a:r>
            <a:r>
              <a:rPr kumimoji="1" lang="zh-CN" altLang="en-US" sz="2400" b="1" dirty="0">
                <a:solidFill>
                  <a:srgbClr val="0000FF"/>
                </a:solidFill>
                <a:latin typeface="楷体" panose="02010609060101010101" pitchFamily="49" charset="-122"/>
                <a:ea typeface="楷体" panose="02010609060101010101" pitchFamily="49" charset="-122"/>
              </a:rPr>
              <a:t>、求解静</a:t>
            </a:r>
            <a:r>
              <a:rPr lang="zh-CN" altLang="en-US" b="1" dirty="0">
                <a:solidFill>
                  <a:srgbClr val="0000FF"/>
                </a:solidFill>
                <a:latin typeface="楷体" panose="02010609060101010101" pitchFamily="49" charset="-122"/>
                <a:ea typeface="楷体" panose="02010609060101010101" pitchFamily="49" charset="-122"/>
              </a:rPr>
              <a:t>不</a:t>
            </a:r>
            <a:r>
              <a:rPr kumimoji="1" lang="zh-CN" altLang="en-US" sz="2400" b="1" dirty="0">
                <a:solidFill>
                  <a:srgbClr val="0000FF"/>
                </a:solidFill>
                <a:latin typeface="楷体" panose="02010609060101010101" pitchFamily="49" charset="-122"/>
                <a:ea typeface="楷体" panose="02010609060101010101" pitchFamily="49" charset="-122"/>
              </a:rPr>
              <a:t>定问题，建立</a:t>
            </a:r>
            <a:r>
              <a:rPr lang="zh-CN" altLang="en-US" b="1" dirty="0">
                <a:solidFill>
                  <a:srgbClr val="0000FF"/>
                </a:solidFill>
                <a:latin typeface="楷体" panose="02010609060101010101" pitchFamily="49" charset="-122"/>
                <a:ea typeface="楷体" panose="02010609060101010101" pitchFamily="49" charset="-122"/>
              </a:rPr>
              <a:t>补充方程时，应保证力与变形的一致性（拉为正）</a:t>
            </a:r>
            <a:r>
              <a:rPr kumimoji="1" lang="zh-CN" altLang="en-US" sz="2400" b="1" dirty="0">
                <a:solidFill>
                  <a:srgbClr val="0000FF"/>
                </a:solidFill>
                <a:latin typeface="楷体" panose="02010609060101010101" pitchFamily="49" charset="-122"/>
                <a:ea typeface="楷体" panose="02010609060101010101" pitchFamily="49" charset="-122"/>
              </a:rPr>
              <a:t>。但是当力的方向不能判定时，可采用设正法。</a:t>
            </a:r>
            <a:endParaRPr kumimoji="1" lang="en-US" altLang="zh-CN" sz="2400" b="1" dirty="0">
              <a:solidFill>
                <a:srgbClr val="0000FF"/>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019559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dissolv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dissolv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dissolve">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dissolve">
                                      <p:cBhvr>
                                        <p:cTn id="3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 grpId="0" autoUpdateAnimBg="0"/>
      <p:bldP spid="5" grpId="0" autoUpdateAnimBg="0"/>
      <p:bldP spid="6" grpId="0" autoUpdateAnimBg="0"/>
      <p:bldP spid="7" grpId="0" autoUpdateAnimBg="0"/>
      <p:bldP spid="8" grpId="0"/>
      <p:bldP spid="9"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539552" y="404664"/>
            <a:ext cx="828092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b="1" dirty="0">
                <a:solidFill>
                  <a:srgbClr val="FF0000"/>
                </a:solidFill>
                <a:latin typeface="+mn-lt"/>
                <a:ea typeface="楷体" panose="02010609060101010101" pitchFamily="49" charset="-122"/>
                <a:cs typeface="Times New Roman" panose="02020603050405020304" pitchFamily="18" charset="0"/>
              </a:rPr>
              <a:t>例</a:t>
            </a:r>
            <a:r>
              <a:rPr kumimoji="0" lang="zh-CN" altLang="en-US" b="1" dirty="0">
                <a:latin typeface="+mn-lt"/>
                <a:ea typeface="楷体" panose="02010609060101010101" pitchFamily="49" charset="-122"/>
                <a:cs typeface="Times New Roman" panose="02020603050405020304" pitchFamily="18" charset="0"/>
              </a:rPr>
              <a:t> </a:t>
            </a:r>
            <a:r>
              <a:rPr kumimoji="0" lang="zh-CN" altLang="zh-CN" b="1" i="0"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图示结构，载荷</a:t>
            </a:r>
            <a:r>
              <a:rPr kumimoji="0" lang="en-US" altLang="zh-CN" i="1"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F</a:t>
            </a:r>
            <a:r>
              <a:rPr kumimoji="0" lang="zh-CN" altLang="en-US" b="1" i="0"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作用在刚性平板上，铝杆在钢管的中间。铝杆的弹性模量</a:t>
            </a:r>
            <a:r>
              <a:rPr kumimoji="0" lang="en-US" altLang="zh-CN" i="1"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E</a:t>
            </a:r>
            <a:r>
              <a:rPr kumimoji="0" lang="en-US" altLang="zh-CN" i="0" u="none" strike="noStrike" cap="none" normalizeH="0" baseline="-30000" dirty="0">
                <a:ln>
                  <a:noFill/>
                </a:ln>
                <a:solidFill>
                  <a:schemeClr val="tx1"/>
                </a:solidFill>
                <a:effectLst/>
                <a:latin typeface="+mn-lt"/>
                <a:ea typeface="楷体" panose="02010609060101010101" pitchFamily="49" charset="-122"/>
                <a:cs typeface="Times New Roman" panose="02020603050405020304" pitchFamily="18" charset="0"/>
              </a:rPr>
              <a:t>1</a:t>
            </a:r>
            <a:r>
              <a:rPr kumimoji="0" lang="zh-CN" altLang="en-US" b="1" i="0"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a:t>
            </a:r>
            <a:r>
              <a:rPr kumimoji="0" lang="en-US" altLang="zh-CN" i="0"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70GPa</a:t>
            </a:r>
            <a:r>
              <a:rPr kumimoji="0" lang="zh-CN" altLang="en-US" b="1" i="0"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，横截面积</a:t>
            </a:r>
            <a:r>
              <a:rPr kumimoji="0" lang="en-US" altLang="zh-CN" i="1"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A</a:t>
            </a:r>
            <a:r>
              <a:rPr kumimoji="0" lang="en-US" altLang="zh-CN" i="0" u="none" strike="noStrike" cap="none" normalizeH="0" baseline="-30000" dirty="0">
                <a:ln>
                  <a:noFill/>
                </a:ln>
                <a:solidFill>
                  <a:schemeClr val="tx1"/>
                </a:solidFill>
                <a:effectLst/>
                <a:latin typeface="+mn-lt"/>
                <a:ea typeface="楷体" panose="02010609060101010101" pitchFamily="49" charset="-122"/>
                <a:cs typeface="Times New Roman" panose="02020603050405020304" pitchFamily="18" charset="0"/>
              </a:rPr>
              <a:t>1</a:t>
            </a:r>
            <a:r>
              <a:rPr kumimoji="0" lang="zh-CN" altLang="en-US" b="1" i="0"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a:t>
            </a:r>
            <a:r>
              <a:rPr kumimoji="0" lang="en-US" altLang="zh-CN" i="0"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2000</a:t>
            </a:r>
            <a:r>
              <a:rPr kumimoji="0" lang="en-US" altLang="zh-CN" i="0" u="none" strike="noStrike" cap="none" normalizeH="0" baseline="30000" dirty="0">
                <a:ln>
                  <a:noFill/>
                </a:ln>
                <a:solidFill>
                  <a:schemeClr val="tx1"/>
                </a:solidFill>
                <a:effectLst/>
                <a:latin typeface="+mn-lt"/>
                <a:ea typeface="楷体" panose="02010609060101010101" pitchFamily="49" charset="-122"/>
                <a:cs typeface="Times New Roman" panose="02020603050405020304" pitchFamily="18" charset="0"/>
              </a:rPr>
              <a:t> </a:t>
            </a:r>
            <a:r>
              <a:rPr kumimoji="0" lang="en-US" altLang="zh-CN" i="0"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mm</a:t>
            </a:r>
            <a:r>
              <a:rPr kumimoji="0" lang="en-US" altLang="zh-CN" i="0" u="none" strike="noStrike" cap="none" normalizeH="0" baseline="30000" dirty="0">
                <a:ln>
                  <a:noFill/>
                </a:ln>
                <a:solidFill>
                  <a:schemeClr val="tx1"/>
                </a:solidFill>
                <a:effectLst/>
                <a:latin typeface="+mn-lt"/>
                <a:ea typeface="楷体" panose="02010609060101010101" pitchFamily="49" charset="-122"/>
                <a:cs typeface="Times New Roman" panose="02020603050405020304" pitchFamily="18" charset="0"/>
              </a:rPr>
              <a:t>2</a:t>
            </a:r>
            <a:r>
              <a:rPr kumimoji="0" lang="zh-CN" altLang="en-US" b="1" i="0"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，钢管的弹性模量</a:t>
            </a:r>
            <a:r>
              <a:rPr kumimoji="0" lang="en-US" altLang="zh-CN" i="1"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E</a:t>
            </a:r>
            <a:r>
              <a:rPr kumimoji="0" lang="en-US" altLang="zh-CN" u="none" strike="noStrike" cap="none" normalizeH="0" baseline="-30000" dirty="0">
                <a:ln>
                  <a:noFill/>
                </a:ln>
                <a:solidFill>
                  <a:schemeClr val="tx1"/>
                </a:solidFill>
                <a:effectLst/>
                <a:latin typeface="+mn-lt"/>
                <a:ea typeface="楷体" panose="02010609060101010101" pitchFamily="49" charset="-122"/>
                <a:cs typeface="Times New Roman" panose="02020603050405020304" pitchFamily="18" charset="0"/>
              </a:rPr>
              <a:t>2</a:t>
            </a:r>
            <a:r>
              <a:rPr kumimoji="0" lang="zh-CN" altLang="en-US" b="1" i="0"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a:t>
            </a:r>
            <a:r>
              <a:rPr kumimoji="0" lang="en-US" altLang="zh-CN" i="0"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200GPa</a:t>
            </a:r>
            <a:r>
              <a:rPr kumimoji="0" lang="zh-CN" altLang="en-US" b="1" i="0"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，横截面积</a:t>
            </a:r>
            <a:r>
              <a:rPr kumimoji="0" lang="en-US" altLang="zh-CN" i="1"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A</a:t>
            </a:r>
            <a:r>
              <a:rPr kumimoji="0" lang="en-US" altLang="zh-CN" i="0" u="none" strike="noStrike" cap="none" normalizeH="0" baseline="-30000" dirty="0">
                <a:ln>
                  <a:noFill/>
                </a:ln>
                <a:solidFill>
                  <a:schemeClr val="tx1"/>
                </a:solidFill>
                <a:effectLst/>
                <a:latin typeface="+mn-lt"/>
                <a:ea typeface="楷体" panose="02010609060101010101" pitchFamily="49" charset="-122"/>
                <a:cs typeface="Times New Roman" panose="02020603050405020304" pitchFamily="18" charset="0"/>
              </a:rPr>
              <a:t>2</a:t>
            </a:r>
            <a:r>
              <a:rPr kumimoji="0" lang="zh-CN" altLang="en-US" b="1" i="0"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a:t>
            </a:r>
            <a:r>
              <a:rPr kumimoji="0" lang="en-US" altLang="zh-CN" i="0"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2000</a:t>
            </a:r>
            <a:r>
              <a:rPr kumimoji="0" lang="en-US" altLang="zh-CN" i="0" u="none" strike="noStrike" cap="none" normalizeH="0" baseline="30000" dirty="0">
                <a:ln>
                  <a:noFill/>
                </a:ln>
                <a:solidFill>
                  <a:schemeClr val="tx1"/>
                </a:solidFill>
                <a:effectLst/>
                <a:latin typeface="+mn-lt"/>
                <a:ea typeface="楷体" panose="02010609060101010101" pitchFamily="49" charset="-122"/>
                <a:cs typeface="Times New Roman" panose="02020603050405020304" pitchFamily="18" charset="0"/>
              </a:rPr>
              <a:t> </a:t>
            </a:r>
            <a:r>
              <a:rPr kumimoji="0" lang="en-US" altLang="zh-CN" i="0"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mm</a:t>
            </a:r>
            <a:r>
              <a:rPr kumimoji="0" lang="en-US" altLang="zh-CN" i="0" u="none" strike="noStrike" cap="none" normalizeH="0" baseline="30000" dirty="0">
                <a:ln>
                  <a:noFill/>
                </a:ln>
                <a:solidFill>
                  <a:schemeClr val="tx1"/>
                </a:solidFill>
                <a:effectLst/>
                <a:latin typeface="+mn-lt"/>
                <a:ea typeface="楷体" panose="02010609060101010101" pitchFamily="49" charset="-122"/>
                <a:cs typeface="Times New Roman" panose="02020603050405020304" pitchFamily="18" charset="0"/>
              </a:rPr>
              <a:t>2</a:t>
            </a:r>
            <a:r>
              <a:rPr kumimoji="0" lang="zh-CN" altLang="en-US" b="1" i="0"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，铝杆的长度比钢管长</a:t>
            </a:r>
            <a:r>
              <a:rPr kumimoji="0" lang="en-US" altLang="zh-CN" i="0"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Δ</a:t>
            </a:r>
            <a:r>
              <a:rPr kumimoji="0" lang="zh-CN" altLang="en-US" b="1" i="0"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a:t>
            </a:r>
            <a:r>
              <a:rPr kumimoji="0" lang="en-US" altLang="zh-CN" i="0"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0.04</a:t>
            </a:r>
            <a:r>
              <a:rPr kumimoji="0" lang="en-US" altLang="zh-CN" i="0" u="none" strike="noStrike" cap="none" normalizeH="0" baseline="30000" dirty="0">
                <a:ln>
                  <a:noFill/>
                </a:ln>
                <a:solidFill>
                  <a:schemeClr val="tx1"/>
                </a:solidFill>
                <a:effectLst/>
                <a:latin typeface="+mn-lt"/>
                <a:ea typeface="楷体" panose="02010609060101010101" pitchFamily="49" charset="-122"/>
                <a:cs typeface="Times New Roman" panose="02020603050405020304" pitchFamily="18" charset="0"/>
              </a:rPr>
              <a:t> </a:t>
            </a:r>
            <a:r>
              <a:rPr kumimoji="0" lang="en-US" altLang="zh-CN" i="0"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mm</a:t>
            </a:r>
            <a:r>
              <a:rPr kumimoji="0" lang="zh-CN" altLang="en-US" b="1" i="0"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。试求使铝杆和钢管的应力相等时的载荷</a:t>
            </a:r>
            <a:r>
              <a:rPr kumimoji="0" lang="en-US" altLang="zh-CN" i="1"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F</a:t>
            </a:r>
            <a:r>
              <a:rPr kumimoji="0" lang="zh-CN" altLang="en-US" b="1" i="0"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a:t>
            </a:r>
            <a:endParaRPr kumimoji="0" lang="zh-CN" altLang="en-US" b="1" i="0" u="none" strike="noStrike" cap="none" normalizeH="0" baseline="0" dirty="0">
              <a:ln>
                <a:noFill/>
              </a:ln>
              <a:solidFill>
                <a:schemeClr val="tx1"/>
              </a:solidFill>
              <a:effectLst/>
              <a:latin typeface="+mn-lt"/>
              <a:ea typeface="楷体" panose="02010609060101010101" pitchFamily="49" charset="-122"/>
            </a:endParaRPr>
          </a:p>
        </p:txBody>
      </p:sp>
      <p:grpSp>
        <p:nvGrpSpPr>
          <p:cNvPr id="61" name="组合 60"/>
          <p:cNvGrpSpPr/>
          <p:nvPr/>
        </p:nvGrpSpPr>
        <p:grpSpPr>
          <a:xfrm>
            <a:off x="6262794" y="1950306"/>
            <a:ext cx="2325164" cy="2287524"/>
            <a:chOff x="6228185" y="1916832"/>
            <a:chExt cx="2325164" cy="2287524"/>
          </a:xfrm>
        </p:grpSpPr>
        <p:grpSp>
          <p:nvGrpSpPr>
            <p:cNvPr id="3" name="Group 81"/>
            <p:cNvGrpSpPr>
              <a:grpSpLocks noChangeAspect="1"/>
            </p:cNvGrpSpPr>
            <p:nvPr/>
          </p:nvGrpSpPr>
          <p:grpSpPr bwMode="auto">
            <a:xfrm>
              <a:off x="6228185" y="1916832"/>
              <a:ext cx="2325164" cy="2287524"/>
              <a:chOff x="4764" y="2532"/>
              <a:chExt cx="2409" cy="2370"/>
            </a:xfrm>
          </p:grpSpPr>
          <p:sp>
            <p:nvSpPr>
              <p:cNvPr id="4" name="Rectangle 82"/>
              <p:cNvSpPr>
                <a:spLocks noChangeArrowheads="1"/>
              </p:cNvSpPr>
              <p:nvPr/>
            </p:nvSpPr>
            <p:spPr bwMode="auto">
              <a:xfrm>
                <a:off x="5176" y="3126"/>
                <a:ext cx="1257" cy="215"/>
              </a:xfrm>
              <a:prstGeom prst="rect">
                <a:avLst/>
              </a:prstGeom>
              <a:solidFill>
                <a:srgbClr val="FFFFFF"/>
              </a:solidFill>
              <a:ln w="222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5" name="Rectangle 83"/>
              <p:cNvSpPr>
                <a:spLocks noChangeArrowheads="1"/>
              </p:cNvSpPr>
              <p:nvPr/>
            </p:nvSpPr>
            <p:spPr bwMode="auto">
              <a:xfrm>
                <a:off x="5522" y="3342"/>
                <a:ext cx="595" cy="1304"/>
              </a:xfrm>
              <a:prstGeom prst="rect">
                <a:avLst/>
              </a:prstGeom>
              <a:solidFill>
                <a:srgbClr val="FFFFFF"/>
              </a:solidFill>
              <a:ln w="190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6" name="Line 84"/>
              <p:cNvCxnSpPr>
                <a:cxnSpLocks noChangeShapeType="1"/>
              </p:cNvCxnSpPr>
              <p:nvPr/>
            </p:nvCxnSpPr>
            <p:spPr bwMode="auto">
              <a:xfrm>
                <a:off x="4764" y="4647"/>
                <a:ext cx="2086"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grpSp>
            <p:nvGrpSpPr>
              <p:cNvPr id="7" name="Group 85"/>
              <p:cNvGrpSpPr>
                <a:grpSpLocks/>
              </p:cNvGrpSpPr>
              <p:nvPr/>
            </p:nvGrpSpPr>
            <p:grpSpPr bwMode="auto">
              <a:xfrm>
                <a:off x="4797" y="4733"/>
                <a:ext cx="1858" cy="0"/>
                <a:chOff x="2760" y="4129"/>
                <a:chExt cx="1858" cy="0"/>
              </a:xfrm>
            </p:grpSpPr>
            <p:cxnSp>
              <p:nvCxnSpPr>
                <p:cNvPr id="30" name="Line 86"/>
                <p:cNvCxnSpPr>
                  <a:cxnSpLocks noChangeShapeType="1"/>
                </p:cNvCxnSpPr>
                <p:nvPr/>
              </p:nvCxnSpPr>
              <p:spPr bwMode="auto">
                <a:xfrm rot="18900000" flipH="1">
                  <a:off x="2760" y="4129"/>
                  <a:ext cx="238"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1" name="Line 87"/>
                <p:cNvCxnSpPr>
                  <a:cxnSpLocks noChangeShapeType="1"/>
                </p:cNvCxnSpPr>
                <p:nvPr/>
              </p:nvCxnSpPr>
              <p:spPr bwMode="auto">
                <a:xfrm rot="18900000" flipH="1">
                  <a:off x="2940" y="4129"/>
                  <a:ext cx="238"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2" name="Line 88"/>
                <p:cNvCxnSpPr>
                  <a:cxnSpLocks noChangeShapeType="1"/>
                </p:cNvCxnSpPr>
                <p:nvPr/>
              </p:nvCxnSpPr>
              <p:spPr bwMode="auto">
                <a:xfrm rot="18900000" flipH="1">
                  <a:off x="3120" y="4129"/>
                  <a:ext cx="238"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3" name="Line 89"/>
                <p:cNvCxnSpPr>
                  <a:cxnSpLocks noChangeShapeType="1"/>
                </p:cNvCxnSpPr>
                <p:nvPr/>
              </p:nvCxnSpPr>
              <p:spPr bwMode="auto">
                <a:xfrm rot="18900000" flipH="1">
                  <a:off x="3300" y="4129"/>
                  <a:ext cx="238"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4" name="Line 90"/>
                <p:cNvCxnSpPr>
                  <a:cxnSpLocks noChangeShapeType="1"/>
                </p:cNvCxnSpPr>
                <p:nvPr/>
              </p:nvCxnSpPr>
              <p:spPr bwMode="auto">
                <a:xfrm rot="18900000" flipH="1">
                  <a:off x="3480" y="4129"/>
                  <a:ext cx="238"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5" name="Line 91"/>
                <p:cNvCxnSpPr>
                  <a:cxnSpLocks noChangeShapeType="1"/>
                </p:cNvCxnSpPr>
                <p:nvPr/>
              </p:nvCxnSpPr>
              <p:spPr bwMode="auto">
                <a:xfrm rot="18900000" flipH="1">
                  <a:off x="3660" y="4129"/>
                  <a:ext cx="238"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6" name="Line 92"/>
                <p:cNvCxnSpPr>
                  <a:cxnSpLocks noChangeShapeType="1"/>
                </p:cNvCxnSpPr>
                <p:nvPr/>
              </p:nvCxnSpPr>
              <p:spPr bwMode="auto">
                <a:xfrm rot="18900000" flipH="1">
                  <a:off x="3840" y="4129"/>
                  <a:ext cx="238"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7" name="Line 93"/>
                <p:cNvCxnSpPr>
                  <a:cxnSpLocks noChangeShapeType="1"/>
                </p:cNvCxnSpPr>
                <p:nvPr/>
              </p:nvCxnSpPr>
              <p:spPr bwMode="auto">
                <a:xfrm rot="18900000" flipH="1">
                  <a:off x="4020" y="4129"/>
                  <a:ext cx="238"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8" name="Line 94"/>
                <p:cNvCxnSpPr>
                  <a:cxnSpLocks noChangeShapeType="1"/>
                </p:cNvCxnSpPr>
                <p:nvPr/>
              </p:nvCxnSpPr>
              <p:spPr bwMode="auto">
                <a:xfrm rot="18900000" flipH="1">
                  <a:off x="4200" y="4129"/>
                  <a:ext cx="238"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9" name="Line 95"/>
                <p:cNvCxnSpPr>
                  <a:cxnSpLocks noChangeShapeType="1"/>
                </p:cNvCxnSpPr>
                <p:nvPr/>
              </p:nvCxnSpPr>
              <p:spPr bwMode="auto">
                <a:xfrm rot="18900000" flipH="1">
                  <a:off x="4380" y="4129"/>
                  <a:ext cx="238"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grpSp>
          <p:sp>
            <p:nvSpPr>
              <p:cNvPr id="8" name="Rectangle 96" descr="浅色上对角线"/>
              <p:cNvSpPr>
                <a:spLocks noChangeArrowheads="1"/>
              </p:cNvSpPr>
              <p:nvPr/>
            </p:nvSpPr>
            <p:spPr bwMode="auto">
              <a:xfrm>
                <a:off x="6190" y="3495"/>
                <a:ext cx="262" cy="1151"/>
              </a:xfrm>
              <a:prstGeom prst="rect">
                <a:avLst/>
              </a:prstGeom>
              <a:pattFill prst="ltUpDiag">
                <a:fgClr>
                  <a:srgbClr val="000000"/>
                </a:fgClr>
                <a:bgClr>
                  <a:srgbClr val="FFFFFF"/>
                </a:bgClr>
              </a:pattFill>
              <a:ln w="1905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rot="0" vert="horz" wrap="square" lIns="91440" tIns="45720" rIns="91440" bIns="45720" anchor="t" anchorCtr="0" upright="1">
                <a:noAutofit/>
              </a:bodyPr>
              <a:lstStyle/>
              <a:p>
                <a:endParaRPr lang="zh-CN" altLang="en-US"/>
              </a:p>
            </p:txBody>
          </p:sp>
          <p:sp>
            <p:nvSpPr>
              <p:cNvPr id="9" name="Rectangle 97" descr="浅色上对角线"/>
              <p:cNvSpPr>
                <a:spLocks noChangeArrowheads="1"/>
              </p:cNvSpPr>
              <p:nvPr/>
            </p:nvSpPr>
            <p:spPr bwMode="auto">
              <a:xfrm>
                <a:off x="5168" y="3496"/>
                <a:ext cx="285" cy="1151"/>
              </a:xfrm>
              <a:prstGeom prst="rect">
                <a:avLst/>
              </a:prstGeom>
              <a:pattFill prst="ltUpDiag">
                <a:fgClr>
                  <a:srgbClr val="000000"/>
                </a:fgClr>
                <a:bgClr>
                  <a:srgbClr val="FFFFFF"/>
                </a:bgClr>
              </a:pattFill>
              <a:ln w="1905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rot="0" vert="horz" wrap="square" lIns="91440" tIns="45720" rIns="91440" bIns="45720" anchor="t" anchorCtr="0" upright="1">
                <a:noAutofit/>
              </a:bodyPr>
              <a:lstStyle/>
              <a:p>
                <a:endParaRPr lang="zh-CN" altLang="en-US"/>
              </a:p>
            </p:txBody>
          </p:sp>
          <p:cxnSp>
            <p:nvCxnSpPr>
              <p:cNvPr id="10" name="Line 98"/>
              <p:cNvCxnSpPr>
                <a:cxnSpLocks noChangeShapeType="1"/>
              </p:cNvCxnSpPr>
              <p:nvPr/>
            </p:nvCxnSpPr>
            <p:spPr bwMode="auto">
              <a:xfrm>
                <a:off x="5820" y="3030"/>
                <a:ext cx="0" cy="1872"/>
              </a:xfrm>
              <a:prstGeom prst="line">
                <a:avLst/>
              </a:prstGeom>
              <a:noFill/>
              <a:ln w="9525">
                <a:solidFill>
                  <a:srgbClr val="000000"/>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grpSp>
            <p:nvGrpSpPr>
              <p:cNvPr id="11" name="Group 99"/>
              <p:cNvGrpSpPr>
                <a:grpSpLocks/>
              </p:cNvGrpSpPr>
              <p:nvPr/>
            </p:nvGrpSpPr>
            <p:grpSpPr bwMode="auto">
              <a:xfrm>
                <a:off x="5775" y="2532"/>
                <a:ext cx="540" cy="595"/>
                <a:chOff x="5775" y="2532"/>
                <a:chExt cx="540" cy="595"/>
              </a:xfrm>
            </p:grpSpPr>
            <p:sp>
              <p:nvSpPr>
                <p:cNvPr id="27" name="AutoShape 100"/>
                <p:cNvSpPr>
                  <a:spLocks noChangeAspect="1" noChangeArrowheads="1"/>
                </p:cNvSpPr>
                <p:nvPr/>
              </p:nvSpPr>
              <p:spPr bwMode="auto">
                <a:xfrm>
                  <a:off x="5780" y="2940"/>
                  <a:ext cx="79" cy="187"/>
                </a:xfrm>
                <a:prstGeom prst="flowChartMerge">
                  <a:avLst/>
                </a:prstGeom>
                <a:solidFill>
                  <a:srgbClr val="000000"/>
                </a:soli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28" name="Line 101"/>
                <p:cNvCxnSpPr>
                  <a:cxnSpLocks noChangeAspect="1" noChangeShapeType="1"/>
                </p:cNvCxnSpPr>
                <p:nvPr/>
              </p:nvCxnSpPr>
              <p:spPr bwMode="auto">
                <a:xfrm>
                  <a:off x="5823" y="2636"/>
                  <a:ext cx="1" cy="3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9" name="Text Box 102"/>
                <p:cNvSpPr txBox="1">
                  <a:spLocks noChangeArrowheads="1"/>
                </p:cNvSpPr>
                <p:nvPr/>
              </p:nvSpPr>
              <p:spPr bwMode="auto">
                <a:xfrm>
                  <a:off x="5775" y="2532"/>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spcAft>
                      <a:spcPts val="0"/>
                    </a:spcAft>
                  </a:pPr>
                  <a:r>
                    <a:rPr lang="en-US" sz="1800" b="1" i="1" kern="100" dirty="0">
                      <a:effectLst/>
                      <a:ea typeface="宋体" panose="02010600030101010101" pitchFamily="2" charset="-122"/>
                      <a:cs typeface="Times New Roman" panose="02020603050405020304" pitchFamily="18" charset="0"/>
                    </a:rPr>
                    <a:t>F</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p:txBody>
            </p:sp>
          </p:grpSp>
          <p:sp>
            <p:nvSpPr>
              <p:cNvPr id="12" name="Text Box 103"/>
              <p:cNvSpPr txBox="1">
                <a:spLocks noChangeArrowheads="1"/>
              </p:cNvSpPr>
              <p:nvPr/>
            </p:nvSpPr>
            <p:spPr bwMode="auto">
              <a:xfrm>
                <a:off x="5117" y="3690"/>
                <a:ext cx="364" cy="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spcAft>
                    <a:spcPts val="0"/>
                  </a:spcAft>
                </a:pPr>
                <a:r>
                  <a:rPr lang="zh-CN" sz="1600" b="1" kern="100" dirty="0">
                    <a:effectLst/>
                    <a:latin typeface="Calibri" panose="020F0502020204030204" pitchFamily="34" charset="0"/>
                    <a:ea typeface="宋体" panose="02010600030101010101" pitchFamily="2" charset="-122"/>
                    <a:cs typeface="Times New Roman" panose="02020603050405020304" pitchFamily="18" charset="0"/>
                  </a:rPr>
                  <a:t>钢</a:t>
                </a:r>
              </a:p>
              <a:p>
                <a:pPr algn="just">
                  <a:spcAft>
                    <a:spcPts val="0"/>
                  </a:spcAft>
                </a:pPr>
                <a:r>
                  <a:rPr lang="zh-CN" sz="1600" b="1" kern="100" dirty="0">
                    <a:effectLst/>
                    <a:latin typeface="Calibri" panose="020F0502020204030204" pitchFamily="34" charset="0"/>
                    <a:ea typeface="宋体" panose="02010600030101010101" pitchFamily="2" charset="-122"/>
                    <a:cs typeface="Times New Roman" panose="02020603050405020304" pitchFamily="18" charset="0"/>
                  </a:rPr>
                  <a:t>管</a:t>
                </a:r>
              </a:p>
            </p:txBody>
          </p:sp>
          <p:sp>
            <p:nvSpPr>
              <p:cNvPr id="13" name="Text Box 104"/>
              <p:cNvSpPr txBox="1">
                <a:spLocks noChangeArrowheads="1"/>
              </p:cNvSpPr>
              <p:nvPr/>
            </p:nvSpPr>
            <p:spPr bwMode="auto">
              <a:xfrm>
                <a:off x="5440" y="3705"/>
                <a:ext cx="720" cy="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spcAft>
                    <a:spcPts val="0"/>
                  </a:spcAft>
                </a:pPr>
                <a:r>
                  <a:rPr lang="zh-CN" sz="1600" b="1" kern="100" dirty="0">
                    <a:effectLst/>
                    <a:latin typeface="Calibri" panose="020F0502020204030204" pitchFamily="34" charset="0"/>
                    <a:ea typeface="宋体" panose="02010600030101010101" pitchFamily="2" charset="-122"/>
                    <a:cs typeface="Times New Roman" panose="02020603050405020304" pitchFamily="18" charset="0"/>
                  </a:rPr>
                  <a:t>铝</a:t>
                </a:r>
              </a:p>
              <a:p>
                <a:pPr algn="just">
                  <a:spcAft>
                    <a:spcPts val="0"/>
                  </a:spcAft>
                </a:pPr>
                <a:r>
                  <a:rPr lang="zh-CN" sz="1600" b="1" kern="100" dirty="0">
                    <a:effectLst/>
                    <a:latin typeface="Calibri" panose="020F0502020204030204" pitchFamily="34" charset="0"/>
                    <a:ea typeface="宋体" panose="02010600030101010101" pitchFamily="2" charset="-122"/>
                    <a:cs typeface="Times New Roman" panose="02020603050405020304" pitchFamily="18" charset="0"/>
                  </a:rPr>
                  <a:t>杆</a:t>
                </a:r>
              </a:p>
            </p:txBody>
          </p:sp>
          <p:sp>
            <p:nvSpPr>
              <p:cNvPr id="14" name="Text Box 105"/>
              <p:cNvSpPr txBox="1">
                <a:spLocks noChangeArrowheads="1"/>
              </p:cNvSpPr>
              <p:nvPr/>
            </p:nvSpPr>
            <p:spPr bwMode="auto">
              <a:xfrm>
                <a:off x="6444" y="3895"/>
                <a:ext cx="72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spcAft>
                    <a:spcPts val="0"/>
                  </a:spcAft>
                </a:pPr>
                <a:r>
                  <a:rPr lang="en-US" sz="1600" kern="100" dirty="0">
                    <a:effectLst/>
                    <a:ea typeface="宋体" panose="02010600030101010101" pitchFamily="2" charset="-122"/>
                    <a:cs typeface="Times New Roman" panose="02020603050405020304" pitchFamily="18" charset="0"/>
                  </a:rPr>
                  <a:t>250</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15" name="Text Box 106"/>
              <p:cNvSpPr txBox="1">
                <a:spLocks noChangeArrowheads="1"/>
              </p:cNvSpPr>
              <p:nvPr/>
            </p:nvSpPr>
            <p:spPr bwMode="auto">
              <a:xfrm>
                <a:off x="6633" y="3006"/>
                <a:ext cx="54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spcAft>
                    <a:spcPts val="0"/>
                  </a:spcAft>
                </a:pPr>
                <a:r>
                  <a:rPr lang="zh-CN" sz="1800" kern="100" dirty="0">
                    <a:effectLst/>
                    <a:latin typeface="+mn-lt"/>
                    <a:ea typeface="宋体" panose="02010600030101010101" pitchFamily="2" charset="-122"/>
                    <a:cs typeface="Times New Roman" panose="02020603050405020304" pitchFamily="18" charset="0"/>
                  </a:rPr>
                  <a:t>Δ</a:t>
                </a:r>
              </a:p>
            </p:txBody>
          </p:sp>
          <p:cxnSp>
            <p:nvCxnSpPr>
              <p:cNvPr id="16" name="Line 107"/>
              <p:cNvCxnSpPr>
                <a:cxnSpLocks noChangeShapeType="1"/>
              </p:cNvCxnSpPr>
              <p:nvPr/>
            </p:nvCxnSpPr>
            <p:spPr bwMode="auto">
              <a:xfrm>
                <a:off x="6519" y="3492"/>
                <a:ext cx="306"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7" name="Line 108"/>
              <p:cNvCxnSpPr>
                <a:cxnSpLocks noChangeShapeType="1"/>
              </p:cNvCxnSpPr>
              <p:nvPr/>
            </p:nvCxnSpPr>
            <p:spPr bwMode="auto">
              <a:xfrm>
                <a:off x="6519" y="3339"/>
                <a:ext cx="306"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8" name="AutoShape 109"/>
              <p:cNvSpPr>
                <a:spLocks noChangeArrowheads="1"/>
              </p:cNvSpPr>
              <p:nvPr/>
            </p:nvSpPr>
            <p:spPr bwMode="auto">
              <a:xfrm rot="10800000">
                <a:off x="6660" y="3500"/>
                <a:ext cx="28" cy="81"/>
              </a:xfrm>
              <a:prstGeom prst="flowChartMerge">
                <a:avLst/>
              </a:prstGeom>
              <a:solidFill>
                <a:srgbClr val="000000"/>
              </a:soli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19" name="Line 110"/>
              <p:cNvCxnSpPr>
                <a:cxnSpLocks noChangeShapeType="1"/>
              </p:cNvCxnSpPr>
              <p:nvPr/>
            </p:nvCxnSpPr>
            <p:spPr bwMode="auto">
              <a:xfrm rot="10800000">
                <a:off x="6673" y="3556"/>
                <a:ext cx="0" cy="3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20" name="AutoShape 111"/>
              <p:cNvSpPr>
                <a:spLocks noChangeArrowheads="1"/>
              </p:cNvSpPr>
              <p:nvPr/>
            </p:nvSpPr>
            <p:spPr bwMode="auto">
              <a:xfrm rot="10800000" flipV="1">
                <a:off x="6660" y="4545"/>
                <a:ext cx="28" cy="81"/>
              </a:xfrm>
              <a:prstGeom prst="flowChartMerge">
                <a:avLst/>
              </a:prstGeom>
              <a:solidFill>
                <a:srgbClr val="000000"/>
              </a:soli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21" name="Line 112"/>
              <p:cNvCxnSpPr>
                <a:cxnSpLocks noChangeShapeType="1"/>
              </p:cNvCxnSpPr>
              <p:nvPr/>
            </p:nvCxnSpPr>
            <p:spPr bwMode="auto">
              <a:xfrm rot="10800000" flipV="1">
                <a:off x="6673" y="4184"/>
                <a:ext cx="0" cy="3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grpSp>
            <p:nvGrpSpPr>
              <p:cNvPr id="22" name="Group 113"/>
              <p:cNvGrpSpPr>
                <a:grpSpLocks/>
              </p:cNvGrpSpPr>
              <p:nvPr/>
            </p:nvGrpSpPr>
            <p:grpSpPr bwMode="auto">
              <a:xfrm flipV="1">
                <a:off x="6660" y="3051"/>
                <a:ext cx="28" cy="286"/>
                <a:chOff x="2267" y="6799"/>
                <a:chExt cx="28" cy="286"/>
              </a:xfrm>
            </p:grpSpPr>
            <p:sp>
              <p:nvSpPr>
                <p:cNvPr id="25" name="AutoShape 114"/>
                <p:cNvSpPr>
                  <a:spLocks noChangeArrowheads="1"/>
                </p:cNvSpPr>
                <p:nvPr/>
              </p:nvSpPr>
              <p:spPr bwMode="auto">
                <a:xfrm rot="10800000">
                  <a:off x="2267" y="6799"/>
                  <a:ext cx="28" cy="81"/>
                </a:xfrm>
                <a:prstGeom prst="flowChartMerge">
                  <a:avLst/>
                </a:prstGeom>
                <a:solidFill>
                  <a:srgbClr val="000000"/>
                </a:soli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26" name="Line 115"/>
                <p:cNvCxnSpPr>
                  <a:cxnSpLocks noChangeShapeType="1"/>
                </p:cNvCxnSpPr>
                <p:nvPr/>
              </p:nvCxnSpPr>
              <p:spPr bwMode="auto">
                <a:xfrm rot="10800000">
                  <a:off x="2281" y="6875"/>
                  <a:ext cx="0" cy="21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grpSp>
          <p:cxnSp>
            <p:nvCxnSpPr>
              <p:cNvPr id="23" name="Line 116"/>
              <p:cNvCxnSpPr>
                <a:cxnSpLocks noChangeShapeType="1"/>
              </p:cNvCxnSpPr>
              <p:nvPr/>
            </p:nvCxnSpPr>
            <p:spPr bwMode="auto">
              <a:xfrm>
                <a:off x="6111" y="3495"/>
                <a:ext cx="238"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4" name="Line 117"/>
              <p:cNvCxnSpPr>
                <a:cxnSpLocks noChangeShapeType="1"/>
              </p:cNvCxnSpPr>
              <p:nvPr/>
            </p:nvCxnSpPr>
            <p:spPr bwMode="auto">
              <a:xfrm>
                <a:off x="5289" y="3495"/>
                <a:ext cx="238"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grpSp>
        <p:cxnSp>
          <p:nvCxnSpPr>
            <p:cNvPr id="40" name="Line 87"/>
            <p:cNvCxnSpPr>
              <a:cxnSpLocks noChangeShapeType="1"/>
            </p:cNvCxnSpPr>
            <p:nvPr/>
          </p:nvCxnSpPr>
          <p:spPr bwMode="auto">
            <a:xfrm rot="18900000" flipH="1">
              <a:off x="7081057" y="4022618"/>
              <a:ext cx="15113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1" name="Line 87"/>
            <p:cNvCxnSpPr>
              <a:cxnSpLocks noChangeShapeType="1"/>
            </p:cNvCxnSpPr>
            <p:nvPr/>
          </p:nvCxnSpPr>
          <p:spPr bwMode="auto">
            <a:xfrm rot="18900000" flipH="1">
              <a:off x="7265494" y="4018484"/>
              <a:ext cx="15113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2" name="Line 87"/>
            <p:cNvCxnSpPr>
              <a:cxnSpLocks noChangeShapeType="1"/>
            </p:cNvCxnSpPr>
            <p:nvPr/>
          </p:nvCxnSpPr>
          <p:spPr bwMode="auto">
            <a:xfrm rot="18900000" flipH="1">
              <a:off x="6894768" y="4007687"/>
              <a:ext cx="15113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3" name="Line 87"/>
            <p:cNvCxnSpPr>
              <a:cxnSpLocks noChangeShapeType="1"/>
            </p:cNvCxnSpPr>
            <p:nvPr/>
          </p:nvCxnSpPr>
          <p:spPr bwMode="auto">
            <a:xfrm rot="18900000" flipH="1">
              <a:off x="7434516" y="4018485"/>
              <a:ext cx="15113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4" name="Line 87"/>
            <p:cNvCxnSpPr>
              <a:cxnSpLocks noChangeShapeType="1"/>
            </p:cNvCxnSpPr>
            <p:nvPr/>
          </p:nvCxnSpPr>
          <p:spPr bwMode="auto">
            <a:xfrm rot="18900000" flipH="1">
              <a:off x="7593063" y="4019376"/>
              <a:ext cx="15113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5" name="Line 87"/>
            <p:cNvCxnSpPr>
              <a:cxnSpLocks noChangeShapeType="1"/>
            </p:cNvCxnSpPr>
            <p:nvPr/>
          </p:nvCxnSpPr>
          <p:spPr bwMode="auto">
            <a:xfrm rot="18900000" flipH="1">
              <a:off x="7773889" y="4018484"/>
              <a:ext cx="15113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6" name="Line 87"/>
            <p:cNvCxnSpPr>
              <a:cxnSpLocks noChangeShapeType="1"/>
            </p:cNvCxnSpPr>
            <p:nvPr/>
          </p:nvCxnSpPr>
          <p:spPr bwMode="auto">
            <a:xfrm rot="18900000" flipH="1">
              <a:off x="6660768" y="4012627"/>
              <a:ext cx="15113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7" name="Line 87"/>
            <p:cNvCxnSpPr>
              <a:cxnSpLocks noChangeShapeType="1"/>
            </p:cNvCxnSpPr>
            <p:nvPr/>
          </p:nvCxnSpPr>
          <p:spPr bwMode="auto">
            <a:xfrm rot="18900000" flipH="1">
              <a:off x="6471408" y="4005872"/>
              <a:ext cx="15113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grpSp>
      <p:sp>
        <p:nvSpPr>
          <p:cNvPr id="49" name="Rectangle 22"/>
          <p:cNvSpPr>
            <a:spLocks noChangeArrowheads="1"/>
          </p:cNvSpPr>
          <p:nvPr/>
        </p:nvSpPr>
        <p:spPr bwMode="auto">
          <a:xfrm>
            <a:off x="611560" y="2384483"/>
            <a:ext cx="114300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kumimoji="1" lang="zh-CN" altLang="en-US" b="1" dirty="0">
                <a:solidFill>
                  <a:srgbClr val="FF0000"/>
                </a:solidFill>
                <a:latin typeface="楷体" panose="02010609060101010101" pitchFamily="49" charset="-122"/>
                <a:ea typeface="楷体" panose="02010609060101010101" pitchFamily="49" charset="-122"/>
              </a:rPr>
              <a:t>解：</a:t>
            </a:r>
          </a:p>
        </p:txBody>
      </p:sp>
      <p:sp>
        <p:nvSpPr>
          <p:cNvPr id="50" name="Rectangle 23"/>
          <p:cNvSpPr>
            <a:spLocks noChangeArrowheads="1"/>
          </p:cNvSpPr>
          <p:nvPr/>
        </p:nvSpPr>
        <p:spPr bwMode="auto">
          <a:xfrm>
            <a:off x="560394" y="3482627"/>
            <a:ext cx="1732847"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zh-CN" altLang="en-US" b="1" dirty="0">
                <a:solidFill>
                  <a:srgbClr val="FF0000"/>
                </a:solidFill>
                <a:latin typeface="楷体" panose="02010609060101010101" pitchFamily="49" charset="-122"/>
                <a:ea typeface="楷体" panose="02010609060101010101" pitchFamily="49" charset="-122"/>
              </a:rPr>
              <a:t>几何方程：</a:t>
            </a:r>
          </a:p>
        </p:txBody>
      </p:sp>
      <p:graphicFrame>
        <p:nvGraphicFramePr>
          <p:cNvPr id="51" name="Object 24"/>
          <p:cNvGraphicFramePr>
            <a:graphicFrameLocks/>
          </p:cNvGraphicFramePr>
          <p:nvPr>
            <p:extLst>
              <p:ext uri="{D42A27DB-BD31-4B8C-83A1-F6EECF244321}">
                <p14:modId xmlns:p14="http://schemas.microsoft.com/office/powerpoint/2010/main" val="4161293829"/>
              </p:ext>
            </p:extLst>
          </p:nvPr>
        </p:nvGraphicFramePr>
        <p:xfrm>
          <a:off x="2168315" y="4216224"/>
          <a:ext cx="3672805" cy="849395"/>
        </p:xfrm>
        <a:graphic>
          <a:graphicData uri="http://schemas.openxmlformats.org/presentationml/2006/ole">
            <mc:AlternateContent xmlns:mc="http://schemas.openxmlformats.org/markup-compatibility/2006">
              <mc:Choice xmlns:v="urn:schemas-microsoft-com:vml" Requires="v">
                <p:oleObj name="Equation" r:id="rId2" imgW="1688760" imgH="431640" progId="Equation.DSMT4">
                  <p:embed/>
                </p:oleObj>
              </mc:Choice>
              <mc:Fallback>
                <p:oleObj name="Equation" r:id="rId2" imgW="1688760" imgH="431640" progId="Equation.DSMT4">
                  <p:embed/>
                  <p:pic>
                    <p:nvPicPr>
                      <p:cNvPr id="0" name=""/>
                      <p:cNvPicPr>
                        <a:picLocks noChangeArrowheads="1"/>
                      </p:cNvPicPr>
                      <p:nvPr/>
                    </p:nvPicPr>
                    <p:blipFill>
                      <a:blip r:embed="rId3"/>
                      <a:srcRect/>
                      <a:stretch>
                        <a:fillRect/>
                      </a:stretch>
                    </p:blipFill>
                    <p:spPr bwMode="auto">
                      <a:xfrm>
                        <a:off x="2168315" y="4216224"/>
                        <a:ext cx="3672805" cy="849395"/>
                      </a:xfrm>
                      <a:prstGeom prst="rect">
                        <a:avLst/>
                      </a:prstGeom>
                      <a:noFill/>
                      <a:ln>
                        <a:noFill/>
                      </a:ln>
                      <a:effectLst/>
                    </p:spPr>
                  </p:pic>
                </p:oleObj>
              </mc:Fallback>
            </mc:AlternateContent>
          </a:graphicData>
        </a:graphic>
      </p:graphicFrame>
      <p:sp>
        <p:nvSpPr>
          <p:cNvPr id="52" name="Rectangle 25"/>
          <p:cNvSpPr>
            <a:spLocks noChangeArrowheads="1"/>
          </p:cNvSpPr>
          <p:nvPr/>
        </p:nvSpPr>
        <p:spPr bwMode="auto">
          <a:xfrm>
            <a:off x="560394" y="4400954"/>
            <a:ext cx="1732847"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zh-CN" altLang="en-US" b="1" dirty="0">
                <a:solidFill>
                  <a:srgbClr val="FF0000"/>
                </a:solidFill>
                <a:latin typeface="楷体" panose="02010609060101010101" pitchFamily="49" charset="-122"/>
                <a:ea typeface="楷体" panose="02010609060101010101" pitchFamily="49" charset="-122"/>
              </a:rPr>
              <a:t>物理方程：</a:t>
            </a:r>
          </a:p>
        </p:txBody>
      </p:sp>
      <p:sp>
        <p:nvSpPr>
          <p:cNvPr id="53" name="Rectangle 30"/>
          <p:cNvSpPr>
            <a:spLocks noChangeArrowheads="1"/>
          </p:cNvSpPr>
          <p:nvPr/>
        </p:nvSpPr>
        <p:spPr bwMode="auto">
          <a:xfrm>
            <a:off x="560394" y="2841815"/>
            <a:ext cx="1732847"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zh-CN" altLang="en-US" b="1" dirty="0">
                <a:solidFill>
                  <a:srgbClr val="FF0000"/>
                </a:solidFill>
                <a:latin typeface="楷体" panose="02010609060101010101" pitchFamily="49" charset="-122"/>
                <a:ea typeface="楷体" panose="02010609060101010101" pitchFamily="49" charset="-122"/>
              </a:rPr>
              <a:t>平衡方程：</a:t>
            </a:r>
            <a:endParaRPr kumimoji="1" lang="zh-CN" altLang="en-US" b="1" dirty="0">
              <a:latin typeface="楷体" panose="02010609060101010101" pitchFamily="49" charset="-122"/>
              <a:ea typeface="楷体" panose="02010609060101010101" pitchFamily="49" charset="-122"/>
            </a:endParaRPr>
          </a:p>
        </p:txBody>
      </p:sp>
      <p:graphicFrame>
        <p:nvGraphicFramePr>
          <p:cNvPr id="55" name="Object 32"/>
          <p:cNvGraphicFramePr>
            <a:graphicFrameLocks/>
          </p:cNvGraphicFramePr>
          <p:nvPr>
            <p:extLst>
              <p:ext uri="{D42A27DB-BD31-4B8C-83A1-F6EECF244321}">
                <p14:modId xmlns:p14="http://schemas.microsoft.com/office/powerpoint/2010/main" val="2155450953"/>
              </p:ext>
            </p:extLst>
          </p:nvPr>
        </p:nvGraphicFramePr>
        <p:xfrm>
          <a:off x="2228417" y="3499255"/>
          <a:ext cx="1981200" cy="515937"/>
        </p:xfrm>
        <a:graphic>
          <a:graphicData uri="http://schemas.openxmlformats.org/presentationml/2006/ole">
            <mc:AlternateContent xmlns:mc="http://schemas.openxmlformats.org/markup-compatibility/2006">
              <mc:Choice xmlns:v="urn:schemas-microsoft-com:vml" Requires="v">
                <p:oleObj name="Equation" r:id="rId4" imgW="876240" imgH="228600" progId="Equation.DSMT4">
                  <p:embed/>
                </p:oleObj>
              </mc:Choice>
              <mc:Fallback>
                <p:oleObj name="Equation" r:id="rId4" imgW="876240" imgH="228600" progId="Equation.DSMT4">
                  <p:embed/>
                  <p:pic>
                    <p:nvPicPr>
                      <p:cNvPr id="0" name=""/>
                      <p:cNvPicPr>
                        <a:picLocks noChangeArrowheads="1"/>
                      </p:cNvPicPr>
                      <p:nvPr/>
                    </p:nvPicPr>
                    <p:blipFill>
                      <a:blip r:embed="rId5"/>
                      <a:srcRect/>
                      <a:stretch>
                        <a:fillRect/>
                      </a:stretch>
                    </p:blipFill>
                    <p:spPr bwMode="auto">
                      <a:xfrm>
                        <a:off x="2228417" y="3499255"/>
                        <a:ext cx="1981200" cy="515937"/>
                      </a:xfrm>
                      <a:prstGeom prst="rect">
                        <a:avLst/>
                      </a:prstGeom>
                      <a:noFill/>
                      <a:ln>
                        <a:noFill/>
                      </a:ln>
                      <a:effectLst/>
                    </p:spPr>
                  </p:pic>
                </p:oleObj>
              </mc:Fallback>
            </mc:AlternateContent>
          </a:graphicData>
        </a:graphic>
      </p:graphicFrame>
      <p:graphicFrame>
        <p:nvGraphicFramePr>
          <p:cNvPr id="58" name="对象 57"/>
          <p:cNvGraphicFramePr>
            <a:graphicFrameLocks noChangeAspect="1"/>
          </p:cNvGraphicFramePr>
          <p:nvPr>
            <p:extLst>
              <p:ext uri="{D42A27DB-BD31-4B8C-83A1-F6EECF244321}">
                <p14:modId xmlns:p14="http://schemas.microsoft.com/office/powerpoint/2010/main" val="3423804280"/>
              </p:ext>
            </p:extLst>
          </p:nvPr>
        </p:nvGraphicFramePr>
        <p:xfrm>
          <a:off x="2270490" y="2879560"/>
          <a:ext cx="1463675" cy="469900"/>
        </p:xfrm>
        <a:graphic>
          <a:graphicData uri="http://schemas.openxmlformats.org/presentationml/2006/ole">
            <mc:AlternateContent xmlns:mc="http://schemas.openxmlformats.org/markup-compatibility/2006">
              <mc:Choice xmlns:v="urn:schemas-microsoft-com:vml" Requires="v">
                <p:oleObj name="Equation" r:id="rId6" imgW="723600" imgH="228600" progId="Equation.DSMT4">
                  <p:embed/>
                </p:oleObj>
              </mc:Choice>
              <mc:Fallback>
                <p:oleObj name="Equation" r:id="rId6" imgW="723600" imgH="228600" progId="Equation.DSMT4">
                  <p:embed/>
                  <p:pic>
                    <p:nvPicPr>
                      <p:cNvPr id="0" name="Object 2"/>
                      <p:cNvPicPr>
                        <a:picLocks noChangeAspect="1" noChangeArrowheads="1"/>
                      </p:cNvPicPr>
                      <p:nvPr/>
                    </p:nvPicPr>
                    <p:blipFill>
                      <a:blip r:embed="rId7"/>
                      <a:srcRect/>
                      <a:stretch>
                        <a:fillRect/>
                      </a:stretch>
                    </p:blipFill>
                    <p:spPr bwMode="auto">
                      <a:xfrm>
                        <a:off x="2270490" y="2879560"/>
                        <a:ext cx="1463675" cy="469900"/>
                      </a:xfrm>
                      <a:prstGeom prst="rect">
                        <a:avLst/>
                      </a:prstGeom>
                      <a:noFill/>
                    </p:spPr>
                  </p:pic>
                </p:oleObj>
              </mc:Fallback>
            </mc:AlternateContent>
          </a:graphicData>
        </a:graphic>
      </p:graphicFrame>
      <p:graphicFrame>
        <p:nvGraphicFramePr>
          <p:cNvPr id="60" name="对象 59"/>
          <p:cNvGraphicFramePr>
            <a:graphicFrameLocks noChangeAspect="1"/>
          </p:cNvGraphicFramePr>
          <p:nvPr>
            <p:extLst>
              <p:ext uri="{D42A27DB-BD31-4B8C-83A1-F6EECF244321}">
                <p14:modId xmlns:p14="http://schemas.microsoft.com/office/powerpoint/2010/main" val="3632985282"/>
              </p:ext>
            </p:extLst>
          </p:nvPr>
        </p:nvGraphicFramePr>
        <p:xfrm>
          <a:off x="2123728" y="5322261"/>
          <a:ext cx="3576451" cy="815041"/>
        </p:xfrm>
        <a:graphic>
          <a:graphicData uri="http://schemas.openxmlformats.org/presentationml/2006/ole">
            <mc:AlternateContent xmlns:mc="http://schemas.openxmlformats.org/markup-compatibility/2006">
              <mc:Choice xmlns:v="urn:schemas-microsoft-com:vml" Requires="v">
                <p:oleObj name="Equation" r:id="rId8" imgW="1637589" imgH="431613" progId="Equation.DSMT4">
                  <p:embed/>
                </p:oleObj>
              </mc:Choice>
              <mc:Fallback>
                <p:oleObj name="Equation" r:id="rId8" imgW="1637589" imgH="431613" progId="Equation.DSMT4">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23728" y="5322261"/>
                        <a:ext cx="3576451" cy="815041"/>
                      </a:xfrm>
                      <a:prstGeom prst="rect">
                        <a:avLst/>
                      </a:prstGeom>
                      <a:noFill/>
                    </p:spPr>
                  </p:pic>
                </p:oleObj>
              </mc:Fallback>
            </mc:AlternateContent>
          </a:graphicData>
        </a:graphic>
      </p:graphicFrame>
      <p:graphicFrame>
        <p:nvGraphicFramePr>
          <p:cNvPr id="62" name="对象 61"/>
          <p:cNvGraphicFramePr>
            <a:graphicFrameLocks noChangeAspect="1"/>
          </p:cNvGraphicFramePr>
          <p:nvPr>
            <p:extLst>
              <p:ext uri="{D42A27DB-BD31-4B8C-83A1-F6EECF244321}">
                <p14:modId xmlns:p14="http://schemas.microsoft.com/office/powerpoint/2010/main" val="764022600"/>
              </p:ext>
            </p:extLst>
          </p:nvPr>
        </p:nvGraphicFramePr>
        <p:xfrm>
          <a:off x="4514957" y="2727292"/>
          <a:ext cx="1747837" cy="809625"/>
        </p:xfrm>
        <a:graphic>
          <a:graphicData uri="http://schemas.openxmlformats.org/presentationml/2006/ole">
            <mc:AlternateContent xmlns:mc="http://schemas.openxmlformats.org/markup-compatibility/2006">
              <mc:Choice xmlns:v="urn:schemas-microsoft-com:vml" Requires="v">
                <p:oleObj name="Equation" r:id="rId10" imgW="863280" imgH="393480" progId="Equation.DSMT4">
                  <p:embed/>
                </p:oleObj>
              </mc:Choice>
              <mc:Fallback>
                <p:oleObj name="Equation" r:id="rId10" imgW="863280" imgH="393480" progId="Equation.DSMT4">
                  <p:embed/>
                  <p:pic>
                    <p:nvPicPr>
                      <p:cNvPr id="0" name=""/>
                      <p:cNvPicPr>
                        <a:picLocks noChangeAspect="1" noChangeArrowheads="1"/>
                      </p:cNvPicPr>
                      <p:nvPr/>
                    </p:nvPicPr>
                    <p:blipFill>
                      <a:blip r:embed="rId11"/>
                      <a:srcRect/>
                      <a:stretch>
                        <a:fillRect/>
                      </a:stretch>
                    </p:blipFill>
                    <p:spPr bwMode="auto">
                      <a:xfrm>
                        <a:off x="4514957" y="2727292"/>
                        <a:ext cx="1747837" cy="809625"/>
                      </a:xfrm>
                      <a:prstGeom prst="rect">
                        <a:avLst/>
                      </a:prstGeom>
                      <a:noFill/>
                    </p:spPr>
                  </p:pic>
                </p:oleObj>
              </mc:Fallback>
            </mc:AlternateContent>
          </a:graphicData>
        </a:graphic>
      </p:graphicFrame>
    </p:spTree>
    <p:extLst>
      <p:ext uri="{BB962C8B-B14F-4D97-AF65-F5344CB8AC3E}">
        <p14:creationId xmlns:p14="http://schemas.microsoft.com/office/powerpoint/2010/main" val="3632666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box(out)">
                                      <p:cBhvr>
                                        <p:cTn id="7" dur="500"/>
                                        <p:tgtEl>
                                          <p:spTgt spid="4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3">
                                            <p:txEl>
                                              <p:pRg st="0" end="0"/>
                                            </p:txEl>
                                          </p:spTgt>
                                        </p:tgtEl>
                                        <p:attrNameLst>
                                          <p:attrName>style.visibility</p:attrName>
                                        </p:attrNameLst>
                                      </p:cBhvr>
                                      <p:to>
                                        <p:strVal val="visible"/>
                                      </p:to>
                                    </p:set>
                                    <p:animEffect transition="in" filter="wipe(left)">
                                      <p:cBhvr>
                                        <p:cTn id="12" dur="500"/>
                                        <p:tgtEl>
                                          <p:spTgt spid="5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8"/>
                                        </p:tgtEl>
                                        <p:attrNameLst>
                                          <p:attrName>style.visibility</p:attrName>
                                        </p:attrNameLst>
                                      </p:cBhvr>
                                      <p:to>
                                        <p:strVal val="visible"/>
                                      </p:to>
                                    </p:set>
                                    <p:animEffect transition="in" filter="fade">
                                      <p:cBhvr>
                                        <p:cTn id="17" dur="500"/>
                                        <p:tgtEl>
                                          <p:spTgt spid="58"/>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6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0"/>
                                        </p:tgtEl>
                                        <p:attrNameLst>
                                          <p:attrName>style.visibility</p:attrName>
                                        </p:attrNameLst>
                                      </p:cBhvr>
                                      <p:to>
                                        <p:strVal val="visible"/>
                                      </p:to>
                                    </p:set>
                                    <p:animEffect transition="in" filter="wipe(left)">
                                      <p:cBhvr>
                                        <p:cTn id="26" dur="500"/>
                                        <p:tgtEl>
                                          <p:spTgt spid="50"/>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1" fill="hold" nodeType="clickEffect">
                                  <p:stCondLst>
                                    <p:cond delay="0"/>
                                  </p:stCondLst>
                                  <p:childTnLst>
                                    <p:set>
                                      <p:cBhvr>
                                        <p:cTn id="30" dur="1" fill="hold">
                                          <p:stCondLst>
                                            <p:cond delay="0"/>
                                          </p:stCondLst>
                                        </p:cTn>
                                        <p:tgtEl>
                                          <p:spTgt spid="55"/>
                                        </p:tgtEl>
                                        <p:attrNameLst>
                                          <p:attrName>style.visibility</p:attrName>
                                        </p:attrNameLst>
                                      </p:cBhvr>
                                      <p:to>
                                        <p:strVal val="visible"/>
                                      </p:to>
                                    </p:set>
                                    <p:animEffect transition="in" filter="slide(fromTop)">
                                      <p:cBhvr>
                                        <p:cTn id="31" dur="500"/>
                                        <p:tgtEl>
                                          <p:spTgt spid="5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52"/>
                                        </p:tgtEl>
                                        <p:attrNameLst>
                                          <p:attrName>style.visibility</p:attrName>
                                        </p:attrNameLst>
                                      </p:cBhvr>
                                      <p:to>
                                        <p:strVal val="visible"/>
                                      </p:to>
                                    </p:set>
                                    <p:animEffect transition="in" filter="wipe(left)">
                                      <p:cBhvr>
                                        <p:cTn id="36" dur="500"/>
                                        <p:tgtEl>
                                          <p:spTgt spid="52"/>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1" fill="hold" nodeType="clickEffect">
                                  <p:stCondLst>
                                    <p:cond delay="0"/>
                                  </p:stCondLst>
                                  <p:childTnLst>
                                    <p:set>
                                      <p:cBhvr>
                                        <p:cTn id="40" dur="1" fill="hold">
                                          <p:stCondLst>
                                            <p:cond delay="0"/>
                                          </p:stCondLst>
                                        </p:cTn>
                                        <p:tgtEl>
                                          <p:spTgt spid="51"/>
                                        </p:tgtEl>
                                        <p:attrNameLst>
                                          <p:attrName>style.visibility</p:attrName>
                                        </p:attrNameLst>
                                      </p:cBhvr>
                                      <p:to>
                                        <p:strVal val="visible"/>
                                      </p:to>
                                    </p:set>
                                    <p:animEffect transition="in" filter="slide(fromTop)">
                                      <p:cBhvr>
                                        <p:cTn id="41" dur="500"/>
                                        <p:tgtEl>
                                          <p:spTgt spid="51"/>
                                        </p:tgtEl>
                                      </p:cBhvr>
                                    </p:animEffect>
                                  </p:childTnLst>
                                </p:cTn>
                              </p:par>
                            </p:childTnLst>
                          </p:cTn>
                        </p:par>
                      </p:childTnLst>
                    </p:cTn>
                  </p:par>
                  <p:par>
                    <p:cTn id="42" fill="hold">
                      <p:stCondLst>
                        <p:cond delay="indefinite"/>
                      </p:stCondLst>
                      <p:childTnLst>
                        <p:par>
                          <p:cTn id="43" fill="hold">
                            <p:stCondLst>
                              <p:cond delay="0"/>
                            </p:stCondLst>
                            <p:childTnLst>
                              <p:par>
                                <p:cTn id="44" presetID="16" presetClass="entr" presetSubtype="37" fill="hold" nodeType="clickEffect">
                                  <p:stCondLst>
                                    <p:cond delay="0"/>
                                  </p:stCondLst>
                                  <p:childTnLst>
                                    <p:set>
                                      <p:cBhvr>
                                        <p:cTn id="45" dur="1" fill="hold">
                                          <p:stCondLst>
                                            <p:cond delay="0"/>
                                          </p:stCondLst>
                                        </p:cTn>
                                        <p:tgtEl>
                                          <p:spTgt spid="60"/>
                                        </p:tgtEl>
                                        <p:attrNameLst>
                                          <p:attrName>style.visibility</p:attrName>
                                        </p:attrNameLst>
                                      </p:cBhvr>
                                      <p:to>
                                        <p:strVal val="visible"/>
                                      </p:to>
                                    </p:set>
                                    <p:animEffect transition="in" filter="barn(outVertical)">
                                      <p:cBhvr>
                                        <p:cTn id="46"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utoUpdateAnimBg="0"/>
      <p:bldP spid="50" grpId="0" autoUpdateAnimBg="0"/>
      <p:bldP spid="52" grpId="0" autoUpdateAnimBg="0"/>
      <p:bldP spid="53" grpId="0" build="p" autoUpdateAnimBg="0" rev="1"/>
    </p:bldLst>
  </p:timing>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63490" name="Group 2"/>
          <p:cNvGrpSpPr>
            <a:grpSpLocks/>
          </p:cNvGrpSpPr>
          <p:nvPr/>
        </p:nvGrpSpPr>
        <p:grpSpPr bwMode="auto">
          <a:xfrm>
            <a:off x="5066508" y="739776"/>
            <a:ext cx="3614738" cy="2868613"/>
            <a:chOff x="3274" y="297"/>
            <a:chExt cx="2277" cy="1807"/>
          </a:xfrm>
        </p:grpSpPr>
        <p:grpSp>
          <p:nvGrpSpPr>
            <p:cNvPr id="63491" name="Group 3"/>
            <p:cNvGrpSpPr>
              <a:grpSpLocks/>
            </p:cNvGrpSpPr>
            <p:nvPr/>
          </p:nvGrpSpPr>
          <p:grpSpPr bwMode="auto">
            <a:xfrm>
              <a:off x="3547" y="297"/>
              <a:ext cx="1832" cy="120"/>
              <a:chOff x="240" y="2880"/>
              <a:chExt cx="1392" cy="96"/>
            </a:xfrm>
          </p:grpSpPr>
          <p:grpSp>
            <p:nvGrpSpPr>
              <p:cNvPr id="63492" name="Group 4"/>
              <p:cNvGrpSpPr>
                <a:grpSpLocks/>
              </p:cNvGrpSpPr>
              <p:nvPr/>
            </p:nvGrpSpPr>
            <p:grpSpPr bwMode="auto">
              <a:xfrm>
                <a:off x="240" y="2880"/>
                <a:ext cx="720" cy="96"/>
                <a:chOff x="240" y="2880"/>
                <a:chExt cx="720" cy="96"/>
              </a:xfrm>
            </p:grpSpPr>
            <p:sp>
              <p:nvSpPr>
                <p:cNvPr id="63493" name="Line 5"/>
                <p:cNvSpPr>
                  <a:spLocks noChangeShapeType="1"/>
                </p:cNvSpPr>
                <p:nvPr/>
              </p:nvSpPr>
              <p:spPr bwMode="auto">
                <a:xfrm flipH="1">
                  <a:off x="240" y="2976"/>
                  <a:ext cx="655"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494" name="Line 6"/>
                <p:cNvSpPr>
                  <a:spLocks noChangeShapeType="1"/>
                </p:cNvSpPr>
                <p:nvPr/>
              </p:nvSpPr>
              <p:spPr bwMode="auto">
                <a:xfrm flipH="1">
                  <a:off x="827" y="2880"/>
                  <a:ext cx="133"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495" name="Line 7"/>
                <p:cNvSpPr>
                  <a:spLocks noChangeShapeType="1"/>
                </p:cNvSpPr>
                <p:nvPr/>
              </p:nvSpPr>
              <p:spPr bwMode="auto">
                <a:xfrm flipH="1">
                  <a:off x="698" y="2880"/>
                  <a:ext cx="129"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496" name="Line 8"/>
                <p:cNvSpPr>
                  <a:spLocks noChangeShapeType="1"/>
                </p:cNvSpPr>
                <p:nvPr/>
              </p:nvSpPr>
              <p:spPr bwMode="auto">
                <a:xfrm flipH="1">
                  <a:off x="568" y="2880"/>
                  <a:ext cx="130"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497" name="Line 9"/>
                <p:cNvSpPr>
                  <a:spLocks noChangeShapeType="1"/>
                </p:cNvSpPr>
                <p:nvPr/>
              </p:nvSpPr>
              <p:spPr bwMode="auto">
                <a:xfrm flipH="1">
                  <a:off x="436" y="2880"/>
                  <a:ext cx="132"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498" name="Line 10"/>
                <p:cNvSpPr>
                  <a:spLocks noChangeShapeType="1"/>
                </p:cNvSpPr>
                <p:nvPr/>
              </p:nvSpPr>
              <p:spPr bwMode="auto">
                <a:xfrm flipH="1">
                  <a:off x="305" y="2880"/>
                  <a:ext cx="131"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3499" name="Group 11"/>
              <p:cNvGrpSpPr>
                <a:grpSpLocks/>
              </p:cNvGrpSpPr>
              <p:nvPr/>
            </p:nvGrpSpPr>
            <p:grpSpPr bwMode="auto">
              <a:xfrm>
                <a:off x="912" y="2880"/>
                <a:ext cx="720" cy="96"/>
                <a:chOff x="912" y="2880"/>
                <a:chExt cx="720" cy="96"/>
              </a:xfrm>
            </p:grpSpPr>
            <p:sp>
              <p:nvSpPr>
                <p:cNvPr id="63500" name="Line 12"/>
                <p:cNvSpPr>
                  <a:spLocks noChangeShapeType="1"/>
                </p:cNvSpPr>
                <p:nvPr/>
              </p:nvSpPr>
              <p:spPr bwMode="auto">
                <a:xfrm flipH="1">
                  <a:off x="912" y="2976"/>
                  <a:ext cx="655"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01" name="Line 13"/>
                <p:cNvSpPr>
                  <a:spLocks noChangeShapeType="1"/>
                </p:cNvSpPr>
                <p:nvPr/>
              </p:nvSpPr>
              <p:spPr bwMode="auto">
                <a:xfrm flipH="1">
                  <a:off x="1499" y="2880"/>
                  <a:ext cx="133"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02" name="Line 14"/>
                <p:cNvSpPr>
                  <a:spLocks noChangeShapeType="1"/>
                </p:cNvSpPr>
                <p:nvPr/>
              </p:nvSpPr>
              <p:spPr bwMode="auto">
                <a:xfrm flipH="1">
                  <a:off x="1370" y="2880"/>
                  <a:ext cx="129"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03" name="Line 15"/>
                <p:cNvSpPr>
                  <a:spLocks noChangeShapeType="1"/>
                </p:cNvSpPr>
                <p:nvPr/>
              </p:nvSpPr>
              <p:spPr bwMode="auto">
                <a:xfrm flipH="1">
                  <a:off x="1240" y="2880"/>
                  <a:ext cx="130"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04" name="Line 16"/>
                <p:cNvSpPr>
                  <a:spLocks noChangeShapeType="1"/>
                </p:cNvSpPr>
                <p:nvPr/>
              </p:nvSpPr>
              <p:spPr bwMode="auto">
                <a:xfrm flipH="1">
                  <a:off x="1108" y="2880"/>
                  <a:ext cx="132"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05" name="Line 17"/>
                <p:cNvSpPr>
                  <a:spLocks noChangeShapeType="1"/>
                </p:cNvSpPr>
                <p:nvPr/>
              </p:nvSpPr>
              <p:spPr bwMode="auto">
                <a:xfrm flipH="1">
                  <a:off x="977" y="2880"/>
                  <a:ext cx="131"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63506" name="Oval 18"/>
            <p:cNvSpPr>
              <a:spLocks noChangeArrowheads="1"/>
            </p:cNvSpPr>
            <p:nvPr/>
          </p:nvSpPr>
          <p:spPr bwMode="auto">
            <a:xfrm>
              <a:off x="4374" y="362"/>
              <a:ext cx="115" cy="11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07" name="Line 19"/>
            <p:cNvSpPr>
              <a:spLocks noChangeShapeType="1"/>
            </p:cNvSpPr>
            <p:nvPr/>
          </p:nvSpPr>
          <p:spPr bwMode="auto">
            <a:xfrm>
              <a:off x="4432" y="477"/>
              <a:ext cx="0" cy="9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08" name="Oval 20"/>
            <p:cNvSpPr>
              <a:spLocks noChangeArrowheads="1"/>
            </p:cNvSpPr>
            <p:nvPr/>
          </p:nvSpPr>
          <p:spPr bwMode="auto">
            <a:xfrm>
              <a:off x="4374" y="1387"/>
              <a:ext cx="115" cy="11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09" name="Rectangle 21" descr="编织物"/>
            <p:cNvSpPr>
              <a:spLocks noChangeArrowheads="1"/>
            </p:cNvSpPr>
            <p:nvPr/>
          </p:nvSpPr>
          <p:spPr bwMode="auto">
            <a:xfrm>
              <a:off x="3616" y="1502"/>
              <a:ext cx="1694" cy="110"/>
            </a:xfrm>
            <a:prstGeom prst="rect">
              <a:avLst/>
            </a:prstGeom>
            <a:blipFill dpi="0" rotWithShape="0">
              <a:blip r:embed="rId2"/>
              <a:srcRect/>
              <a:tile tx="0" ty="0" sx="100000" sy="100000" flip="none" algn="tl"/>
            </a:bli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10" name="Line 22"/>
            <p:cNvSpPr>
              <a:spLocks noChangeShapeType="1"/>
            </p:cNvSpPr>
            <p:nvPr/>
          </p:nvSpPr>
          <p:spPr bwMode="auto">
            <a:xfrm>
              <a:off x="3663" y="1203"/>
              <a:ext cx="757" cy="0"/>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11" name="Line 23"/>
            <p:cNvSpPr>
              <a:spLocks noChangeShapeType="1"/>
            </p:cNvSpPr>
            <p:nvPr/>
          </p:nvSpPr>
          <p:spPr bwMode="auto">
            <a:xfrm>
              <a:off x="4431" y="1197"/>
              <a:ext cx="758" cy="0"/>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12" name="Rectangle 24"/>
            <p:cNvSpPr>
              <a:spLocks noChangeArrowheads="1"/>
            </p:cNvSpPr>
            <p:nvPr/>
          </p:nvSpPr>
          <p:spPr bwMode="auto">
            <a:xfrm>
              <a:off x="3934" y="970"/>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b="1" i="1">
                  <a:solidFill>
                    <a:srgbClr val="000000"/>
                  </a:solidFill>
                  <a:latin typeface="Times New Roman" panose="02020603050405020304" pitchFamily="18" charset="0"/>
                  <a:ea typeface="宋体" panose="02010600030101010101" pitchFamily="2" charset="-122"/>
                </a:rPr>
                <a:t>a</a:t>
              </a:r>
            </a:p>
          </p:txBody>
        </p:sp>
        <p:sp>
          <p:nvSpPr>
            <p:cNvPr id="63513" name="Rectangle 25"/>
            <p:cNvSpPr>
              <a:spLocks noChangeArrowheads="1"/>
            </p:cNvSpPr>
            <p:nvPr/>
          </p:nvSpPr>
          <p:spPr bwMode="auto">
            <a:xfrm>
              <a:off x="4692" y="970"/>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b="1" i="1">
                  <a:solidFill>
                    <a:srgbClr val="000000"/>
                  </a:solidFill>
                  <a:latin typeface="Times New Roman" panose="02020603050405020304" pitchFamily="18" charset="0"/>
                  <a:ea typeface="宋体" panose="02010600030101010101" pitchFamily="2" charset="-122"/>
                </a:rPr>
                <a:t>a</a:t>
              </a:r>
            </a:p>
          </p:txBody>
        </p:sp>
        <p:sp>
          <p:nvSpPr>
            <p:cNvPr id="63514" name="Rectangle 26"/>
            <p:cNvSpPr>
              <a:spLocks noChangeArrowheads="1"/>
            </p:cNvSpPr>
            <p:nvPr/>
          </p:nvSpPr>
          <p:spPr bwMode="auto">
            <a:xfrm>
              <a:off x="4225" y="765"/>
              <a:ext cx="19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dirty="0">
                  <a:solidFill>
                    <a:srgbClr val="000000"/>
                  </a:solidFill>
                  <a:latin typeface="Times New Roman" panose="02020603050405020304" pitchFamily="18" charset="0"/>
                  <a:ea typeface="宋体" panose="02010600030101010101" pitchFamily="2" charset="-122"/>
                </a:rPr>
                <a:t>1</a:t>
              </a:r>
            </a:p>
          </p:txBody>
        </p:sp>
        <p:grpSp>
          <p:nvGrpSpPr>
            <p:cNvPr id="63515" name="Group 27"/>
            <p:cNvGrpSpPr>
              <a:grpSpLocks/>
            </p:cNvGrpSpPr>
            <p:nvPr/>
          </p:nvGrpSpPr>
          <p:grpSpPr bwMode="auto">
            <a:xfrm>
              <a:off x="5136" y="363"/>
              <a:ext cx="115" cy="1130"/>
              <a:chOff x="868" y="2932"/>
              <a:chExt cx="88" cy="904"/>
            </a:xfrm>
          </p:grpSpPr>
          <p:sp>
            <p:nvSpPr>
              <p:cNvPr id="63516" name="Oval 28"/>
              <p:cNvSpPr>
                <a:spLocks noChangeArrowheads="1"/>
              </p:cNvSpPr>
              <p:nvPr/>
            </p:nvSpPr>
            <p:spPr bwMode="auto">
              <a:xfrm>
                <a:off x="868" y="2932"/>
                <a:ext cx="88" cy="88"/>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17" name="Line 29"/>
              <p:cNvSpPr>
                <a:spLocks noChangeShapeType="1"/>
              </p:cNvSpPr>
              <p:nvPr/>
            </p:nvSpPr>
            <p:spPr bwMode="auto">
              <a:xfrm>
                <a:off x="912" y="3024"/>
                <a:ext cx="0" cy="72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18" name="Oval 30"/>
              <p:cNvSpPr>
                <a:spLocks noChangeArrowheads="1"/>
              </p:cNvSpPr>
              <p:nvPr/>
            </p:nvSpPr>
            <p:spPr bwMode="auto">
              <a:xfrm>
                <a:off x="868" y="3748"/>
                <a:ext cx="88" cy="88"/>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3519" name="Line 31"/>
            <p:cNvSpPr>
              <a:spLocks noChangeShapeType="1"/>
            </p:cNvSpPr>
            <p:nvPr/>
          </p:nvSpPr>
          <p:spPr bwMode="auto">
            <a:xfrm flipV="1">
              <a:off x="3652" y="1104"/>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63520" name="Oval 32"/>
            <p:cNvSpPr>
              <a:spLocks noChangeArrowheads="1"/>
            </p:cNvSpPr>
            <p:nvPr/>
          </p:nvSpPr>
          <p:spPr bwMode="auto">
            <a:xfrm>
              <a:off x="3505" y="1505"/>
              <a:ext cx="115" cy="11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21" name="Line 33"/>
            <p:cNvSpPr>
              <a:spLocks noChangeShapeType="1"/>
            </p:cNvSpPr>
            <p:nvPr/>
          </p:nvSpPr>
          <p:spPr bwMode="auto">
            <a:xfrm flipH="1" flipV="1">
              <a:off x="3370" y="1449"/>
              <a:ext cx="144"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3522" name="Line 34"/>
            <p:cNvSpPr>
              <a:spLocks noChangeShapeType="1"/>
            </p:cNvSpPr>
            <p:nvPr/>
          </p:nvSpPr>
          <p:spPr bwMode="auto">
            <a:xfrm flipH="1">
              <a:off x="3375" y="1593"/>
              <a:ext cx="144"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3523" name="Line 35"/>
            <p:cNvSpPr>
              <a:spLocks noChangeShapeType="1"/>
            </p:cNvSpPr>
            <p:nvPr/>
          </p:nvSpPr>
          <p:spPr bwMode="auto">
            <a:xfrm>
              <a:off x="3375" y="1353"/>
              <a:ext cx="0" cy="43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63524" name="Rectangle 36"/>
            <p:cNvSpPr>
              <a:spLocks noChangeArrowheads="1"/>
            </p:cNvSpPr>
            <p:nvPr/>
          </p:nvSpPr>
          <p:spPr bwMode="auto">
            <a:xfrm>
              <a:off x="4993" y="756"/>
              <a:ext cx="19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dirty="0">
                  <a:solidFill>
                    <a:srgbClr val="000000"/>
                  </a:solidFill>
                  <a:latin typeface="Times New Roman" panose="02020603050405020304" pitchFamily="18" charset="0"/>
                  <a:ea typeface="宋体" panose="02010600030101010101" pitchFamily="2" charset="-122"/>
                </a:rPr>
                <a:t>2</a:t>
              </a:r>
            </a:p>
          </p:txBody>
        </p:sp>
        <p:sp>
          <p:nvSpPr>
            <p:cNvPr id="63525" name="Line 37"/>
            <p:cNvSpPr>
              <a:spLocks noChangeShapeType="1"/>
            </p:cNvSpPr>
            <p:nvPr/>
          </p:nvSpPr>
          <p:spPr bwMode="auto">
            <a:xfrm flipH="1">
              <a:off x="3274" y="1401"/>
              <a:ext cx="96"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63526" name="Line 38"/>
            <p:cNvSpPr>
              <a:spLocks noChangeShapeType="1"/>
            </p:cNvSpPr>
            <p:nvPr/>
          </p:nvSpPr>
          <p:spPr bwMode="auto">
            <a:xfrm flipH="1">
              <a:off x="3274" y="1497"/>
              <a:ext cx="96"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63527" name="Line 39"/>
            <p:cNvSpPr>
              <a:spLocks noChangeShapeType="1"/>
            </p:cNvSpPr>
            <p:nvPr/>
          </p:nvSpPr>
          <p:spPr bwMode="auto">
            <a:xfrm flipH="1">
              <a:off x="3274" y="1593"/>
              <a:ext cx="96"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63528" name="Line 40"/>
            <p:cNvSpPr>
              <a:spLocks noChangeShapeType="1"/>
            </p:cNvSpPr>
            <p:nvPr/>
          </p:nvSpPr>
          <p:spPr bwMode="auto">
            <a:xfrm flipH="1">
              <a:off x="3274" y="1689"/>
              <a:ext cx="96"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63529" name="Line 41"/>
            <p:cNvSpPr>
              <a:spLocks noChangeShapeType="1"/>
            </p:cNvSpPr>
            <p:nvPr/>
          </p:nvSpPr>
          <p:spPr bwMode="auto">
            <a:xfrm>
              <a:off x="5202" y="1623"/>
              <a:ext cx="0" cy="480"/>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63530" name="Rectangle 42"/>
            <p:cNvSpPr>
              <a:spLocks noChangeArrowheads="1"/>
            </p:cNvSpPr>
            <p:nvPr/>
          </p:nvSpPr>
          <p:spPr bwMode="auto">
            <a:xfrm>
              <a:off x="4930" y="1813"/>
              <a:ext cx="26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kumimoji="1" lang="en-US" altLang="zh-CN" b="1" i="1" dirty="0">
                  <a:solidFill>
                    <a:srgbClr val="FF0000"/>
                  </a:solidFill>
                  <a:latin typeface="Times New Roman" panose="02020603050405020304" pitchFamily="18" charset="0"/>
                  <a:ea typeface="宋体" panose="02010600030101010101" pitchFamily="2" charset="-122"/>
                </a:rPr>
                <a:t>F</a:t>
              </a:r>
            </a:p>
          </p:txBody>
        </p:sp>
        <p:sp>
          <p:nvSpPr>
            <p:cNvPr id="63531" name="Line 43"/>
            <p:cNvSpPr>
              <a:spLocks noChangeShapeType="1"/>
            </p:cNvSpPr>
            <p:nvPr/>
          </p:nvSpPr>
          <p:spPr bwMode="auto">
            <a:xfrm>
              <a:off x="5443" y="417"/>
              <a:ext cx="0" cy="1056"/>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3532" name="Line 44"/>
            <p:cNvSpPr>
              <a:spLocks noChangeShapeType="1"/>
            </p:cNvSpPr>
            <p:nvPr/>
          </p:nvSpPr>
          <p:spPr bwMode="auto">
            <a:xfrm>
              <a:off x="5359" y="1497"/>
              <a:ext cx="19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63533" name="Line 45"/>
            <p:cNvSpPr>
              <a:spLocks noChangeShapeType="1"/>
            </p:cNvSpPr>
            <p:nvPr/>
          </p:nvSpPr>
          <p:spPr bwMode="auto">
            <a:xfrm>
              <a:off x="5347" y="420"/>
              <a:ext cx="19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63534" name="Rectangle 46"/>
            <p:cNvSpPr>
              <a:spLocks noChangeArrowheads="1"/>
            </p:cNvSpPr>
            <p:nvPr/>
          </p:nvSpPr>
          <p:spPr bwMode="auto">
            <a:xfrm>
              <a:off x="5265" y="777"/>
              <a:ext cx="20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i="1" dirty="0">
                  <a:solidFill>
                    <a:srgbClr val="000000"/>
                  </a:solidFill>
                  <a:latin typeface="Times New Roman" panose="02020603050405020304" pitchFamily="18" charset="0"/>
                  <a:ea typeface="宋体" panose="02010600030101010101" pitchFamily="2" charset="-122"/>
                </a:rPr>
                <a:t>L</a:t>
              </a:r>
            </a:p>
          </p:txBody>
        </p:sp>
        <p:sp>
          <p:nvSpPr>
            <p:cNvPr id="63535" name="Rectangle 47"/>
            <p:cNvSpPr>
              <a:spLocks noChangeArrowheads="1"/>
            </p:cNvSpPr>
            <p:nvPr/>
          </p:nvSpPr>
          <p:spPr bwMode="auto">
            <a:xfrm>
              <a:off x="4951" y="1292"/>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b="1" i="1">
                  <a:solidFill>
                    <a:srgbClr val="000000"/>
                  </a:solidFill>
                  <a:latin typeface="Times New Roman" panose="02020603050405020304" pitchFamily="18" charset="0"/>
                  <a:ea typeface="宋体" panose="02010600030101010101" pitchFamily="2" charset="-122"/>
                </a:rPr>
                <a:t>C</a:t>
              </a:r>
            </a:p>
          </p:txBody>
        </p:sp>
        <p:sp>
          <p:nvSpPr>
            <p:cNvPr id="63536" name="Rectangle 48"/>
            <p:cNvSpPr>
              <a:spLocks noChangeArrowheads="1"/>
            </p:cNvSpPr>
            <p:nvPr/>
          </p:nvSpPr>
          <p:spPr bwMode="auto">
            <a:xfrm>
              <a:off x="3415" y="1292"/>
              <a:ext cx="24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kumimoji="1" lang="en-US" altLang="zh-CN" sz="2000" b="1" i="1">
                  <a:solidFill>
                    <a:srgbClr val="000000"/>
                  </a:solidFill>
                  <a:latin typeface="Times New Roman" panose="02020603050405020304" pitchFamily="18" charset="0"/>
                  <a:ea typeface="宋体" panose="02010600030101010101" pitchFamily="2" charset="-122"/>
                </a:rPr>
                <a:t>A</a:t>
              </a:r>
            </a:p>
          </p:txBody>
        </p:sp>
        <p:sp>
          <p:nvSpPr>
            <p:cNvPr id="63537" name="Rectangle 49"/>
            <p:cNvSpPr>
              <a:spLocks noChangeArrowheads="1"/>
            </p:cNvSpPr>
            <p:nvPr/>
          </p:nvSpPr>
          <p:spPr bwMode="auto">
            <a:xfrm>
              <a:off x="4180" y="1292"/>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b="1" i="1">
                  <a:solidFill>
                    <a:srgbClr val="000000"/>
                  </a:solidFill>
                  <a:latin typeface="Times New Roman" panose="02020603050405020304" pitchFamily="18" charset="0"/>
                  <a:ea typeface="宋体" panose="02010600030101010101" pitchFamily="2" charset="-122"/>
                </a:rPr>
                <a:t>B</a:t>
              </a:r>
            </a:p>
          </p:txBody>
        </p:sp>
      </p:grpSp>
      <p:sp>
        <p:nvSpPr>
          <p:cNvPr id="63538" name="Rectangle 50"/>
          <p:cNvSpPr>
            <a:spLocks noChangeArrowheads="1"/>
          </p:cNvSpPr>
          <p:nvPr/>
        </p:nvSpPr>
        <p:spPr bwMode="auto">
          <a:xfrm>
            <a:off x="508364" y="690562"/>
            <a:ext cx="5008127" cy="831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eaLnBrk="0" hangingPunct="0"/>
            <a:r>
              <a:rPr kumimoji="1" lang="zh-CN" altLang="en-US" sz="2400" b="1" dirty="0">
                <a:solidFill>
                  <a:srgbClr val="FF0000"/>
                </a:solidFill>
                <a:latin typeface="+mn-lt"/>
                <a:ea typeface="楷体" panose="02010609060101010101" pitchFamily="49" charset="-122"/>
              </a:rPr>
              <a:t>例</a:t>
            </a:r>
            <a:r>
              <a:rPr kumimoji="1" lang="en-US" altLang="zh-CN" sz="2400" b="1" dirty="0">
                <a:solidFill>
                  <a:srgbClr val="000000"/>
                </a:solidFill>
                <a:latin typeface="+mn-lt"/>
                <a:ea typeface="楷体" panose="02010609060101010101" pitchFamily="49" charset="-122"/>
              </a:rPr>
              <a:t>    </a:t>
            </a:r>
            <a:r>
              <a:rPr kumimoji="1" lang="en-US" altLang="zh-CN" sz="2400" dirty="0">
                <a:solidFill>
                  <a:srgbClr val="000000"/>
                </a:solidFill>
                <a:latin typeface="+mn-lt"/>
                <a:ea typeface="楷体" panose="02010609060101010101" pitchFamily="49" charset="-122"/>
              </a:rPr>
              <a:t>1</a:t>
            </a:r>
            <a:r>
              <a:rPr kumimoji="1" lang="zh-CN" altLang="en-US" sz="2400" dirty="0">
                <a:solidFill>
                  <a:srgbClr val="000000"/>
                </a:solidFill>
                <a:latin typeface="+mn-lt"/>
                <a:ea typeface="楷体" panose="02010609060101010101" pitchFamily="49" charset="-122"/>
              </a:rPr>
              <a:t>、</a:t>
            </a:r>
            <a:r>
              <a:rPr kumimoji="1" lang="en-US" altLang="zh-CN" sz="2400" dirty="0">
                <a:solidFill>
                  <a:srgbClr val="000000"/>
                </a:solidFill>
                <a:latin typeface="+mn-lt"/>
                <a:ea typeface="楷体" panose="02010609060101010101" pitchFamily="49" charset="-122"/>
              </a:rPr>
              <a:t>2</a:t>
            </a:r>
            <a:r>
              <a:rPr kumimoji="1" lang="zh-CN" altLang="en-US" sz="2400" b="1" dirty="0">
                <a:solidFill>
                  <a:srgbClr val="000000"/>
                </a:solidFill>
                <a:latin typeface="+mn-lt"/>
                <a:ea typeface="楷体" panose="02010609060101010101" pitchFamily="49" charset="-122"/>
              </a:rPr>
              <a:t>两根直杆的抗拉刚度分别为</a:t>
            </a:r>
            <a:r>
              <a:rPr kumimoji="1" lang="en-US" altLang="zh-CN" sz="2400" i="1" dirty="0">
                <a:solidFill>
                  <a:srgbClr val="000000"/>
                </a:solidFill>
                <a:latin typeface="+mn-lt"/>
                <a:ea typeface="楷体" panose="02010609060101010101" pitchFamily="49" charset="-122"/>
              </a:rPr>
              <a:t>E</a:t>
            </a:r>
            <a:r>
              <a:rPr kumimoji="1" lang="en-US" altLang="zh-CN" sz="2400" baseline="-25000" dirty="0">
                <a:solidFill>
                  <a:srgbClr val="000000"/>
                </a:solidFill>
                <a:latin typeface="+mn-lt"/>
                <a:ea typeface="楷体" panose="02010609060101010101" pitchFamily="49" charset="-122"/>
              </a:rPr>
              <a:t>1</a:t>
            </a:r>
            <a:r>
              <a:rPr kumimoji="1" lang="en-US" altLang="zh-CN" sz="2400" i="1" dirty="0">
                <a:solidFill>
                  <a:srgbClr val="000000"/>
                </a:solidFill>
                <a:latin typeface="+mn-lt"/>
                <a:ea typeface="楷体" panose="02010609060101010101" pitchFamily="49" charset="-122"/>
              </a:rPr>
              <a:t>A</a:t>
            </a:r>
            <a:r>
              <a:rPr kumimoji="1" lang="en-US" altLang="zh-CN" sz="2400" baseline="-25000" dirty="0">
                <a:solidFill>
                  <a:srgbClr val="000000"/>
                </a:solidFill>
                <a:latin typeface="+mn-lt"/>
                <a:ea typeface="楷体" panose="02010609060101010101" pitchFamily="49" charset="-122"/>
              </a:rPr>
              <a:t>1</a:t>
            </a:r>
            <a:r>
              <a:rPr kumimoji="1" lang="zh-CN" altLang="en-US" sz="2400" b="1" dirty="0">
                <a:solidFill>
                  <a:srgbClr val="000000"/>
                </a:solidFill>
                <a:latin typeface="+mn-lt"/>
                <a:ea typeface="楷体" panose="02010609060101010101" pitchFamily="49" charset="-122"/>
              </a:rPr>
              <a:t>和</a:t>
            </a:r>
            <a:r>
              <a:rPr kumimoji="1" lang="en-US" altLang="zh-CN" sz="2400" i="1" dirty="0">
                <a:solidFill>
                  <a:srgbClr val="000000"/>
                </a:solidFill>
                <a:latin typeface="+mn-lt"/>
                <a:ea typeface="楷体" panose="02010609060101010101" pitchFamily="49" charset="-122"/>
              </a:rPr>
              <a:t>E</a:t>
            </a:r>
            <a:r>
              <a:rPr kumimoji="1" lang="en-US" altLang="zh-CN" sz="2400" baseline="-25000" dirty="0">
                <a:solidFill>
                  <a:srgbClr val="000000"/>
                </a:solidFill>
                <a:latin typeface="+mn-lt"/>
                <a:ea typeface="楷体" panose="02010609060101010101" pitchFamily="49" charset="-122"/>
              </a:rPr>
              <a:t>2</a:t>
            </a:r>
            <a:r>
              <a:rPr kumimoji="1" lang="en-US" altLang="zh-CN" sz="2400" i="1" dirty="0">
                <a:solidFill>
                  <a:srgbClr val="000000"/>
                </a:solidFill>
                <a:latin typeface="+mn-lt"/>
                <a:ea typeface="楷体" panose="02010609060101010101" pitchFamily="49" charset="-122"/>
              </a:rPr>
              <a:t>A</a:t>
            </a:r>
            <a:r>
              <a:rPr kumimoji="1" lang="en-US" altLang="zh-CN" sz="2400" baseline="-25000" dirty="0">
                <a:solidFill>
                  <a:srgbClr val="000000"/>
                </a:solidFill>
                <a:latin typeface="+mn-lt"/>
                <a:ea typeface="楷体" panose="02010609060101010101" pitchFamily="49" charset="-122"/>
              </a:rPr>
              <a:t>2</a:t>
            </a:r>
            <a:r>
              <a:rPr kumimoji="1" lang="en-US" altLang="zh-CN" sz="2400" b="1" i="1" dirty="0">
                <a:solidFill>
                  <a:srgbClr val="000000"/>
                </a:solidFill>
                <a:latin typeface="+mn-lt"/>
                <a:ea typeface="楷体" panose="02010609060101010101" pitchFamily="49" charset="-122"/>
              </a:rPr>
              <a:t> </a:t>
            </a:r>
            <a:r>
              <a:rPr kumimoji="1" lang="zh-CN" altLang="en-US" sz="2400" b="1" dirty="0">
                <a:solidFill>
                  <a:srgbClr val="000000"/>
                </a:solidFill>
                <a:latin typeface="+mn-lt"/>
                <a:ea typeface="楷体" panose="02010609060101010101" pitchFamily="49" charset="-122"/>
              </a:rPr>
              <a:t>，求两杆的内力。</a:t>
            </a:r>
          </a:p>
        </p:txBody>
      </p:sp>
      <p:sp>
        <p:nvSpPr>
          <p:cNvPr id="63539" name="Text Box 51"/>
          <p:cNvSpPr txBox="1">
            <a:spLocks noChangeArrowheads="1"/>
          </p:cNvSpPr>
          <p:nvPr/>
        </p:nvSpPr>
        <p:spPr bwMode="auto">
          <a:xfrm>
            <a:off x="518120" y="1642675"/>
            <a:ext cx="42572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kumimoji="1" lang="zh-CN" altLang="en-US" sz="2400" b="1" dirty="0">
                <a:solidFill>
                  <a:srgbClr val="FF0000"/>
                </a:solidFill>
                <a:latin typeface="楷体" panose="02010609060101010101" pitchFamily="49" charset="-122"/>
                <a:ea typeface="楷体" panose="02010609060101010101" pitchFamily="49" charset="-122"/>
              </a:rPr>
              <a:t>解：</a:t>
            </a:r>
            <a:r>
              <a:rPr kumimoji="1" lang="en-US" altLang="zh-CN" sz="2400" b="1" dirty="0">
                <a:solidFill>
                  <a:srgbClr val="0000FF"/>
                </a:solidFill>
                <a:latin typeface="楷体" panose="02010609060101010101" pitchFamily="49" charset="-122"/>
                <a:ea typeface="楷体" panose="02010609060101010101" pitchFamily="49" charset="-122"/>
              </a:rPr>
              <a:t>1</a:t>
            </a:r>
            <a:r>
              <a:rPr kumimoji="1" lang="zh-CN" altLang="en-US" sz="2400" b="1" dirty="0">
                <a:solidFill>
                  <a:srgbClr val="0000FF"/>
                </a:solidFill>
                <a:latin typeface="楷体" panose="02010609060101010101" pitchFamily="49" charset="-122"/>
                <a:ea typeface="楷体" panose="02010609060101010101" pitchFamily="49" charset="-122"/>
              </a:rPr>
              <a:t>、判别：为一次超静定</a:t>
            </a:r>
          </a:p>
        </p:txBody>
      </p:sp>
      <p:sp>
        <p:nvSpPr>
          <p:cNvPr id="63540" name="Text Box 52"/>
          <p:cNvSpPr txBox="1">
            <a:spLocks noChangeArrowheads="1"/>
          </p:cNvSpPr>
          <p:nvPr/>
        </p:nvSpPr>
        <p:spPr bwMode="auto">
          <a:xfrm>
            <a:off x="508796" y="2144491"/>
            <a:ext cx="49863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kumimoji="1" lang="en-US" altLang="zh-CN" sz="2400" b="1" dirty="0">
                <a:solidFill>
                  <a:srgbClr val="0000FF"/>
                </a:solidFill>
                <a:latin typeface="楷体" panose="02010609060101010101" pitchFamily="49" charset="-122"/>
                <a:ea typeface="楷体" panose="02010609060101010101" pitchFamily="49" charset="-122"/>
              </a:rPr>
              <a:t>2</a:t>
            </a:r>
            <a:r>
              <a:rPr kumimoji="1" lang="zh-CN" altLang="en-US" sz="2400" b="1" dirty="0">
                <a:solidFill>
                  <a:srgbClr val="0000FF"/>
                </a:solidFill>
                <a:latin typeface="楷体" panose="02010609060101010101" pitchFamily="49" charset="-122"/>
                <a:ea typeface="楷体" panose="02010609060101010101" pitchFamily="49" charset="-122"/>
              </a:rPr>
              <a:t>、假设变形状态，确定内力方向</a:t>
            </a:r>
          </a:p>
        </p:txBody>
      </p:sp>
      <p:grpSp>
        <p:nvGrpSpPr>
          <p:cNvPr id="63541" name="Group 53"/>
          <p:cNvGrpSpPr>
            <a:grpSpLocks/>
          </p:cNvGrpSpPr>
          <p:nvPr/>
        </p:nvGrpSpPr>
        <p:grpSpPr bwMode="auto">
          <a:xfrm>
            <a:off x="515150" y="2709390"/>
            <a:ext cx="4232275" cy="498475"/>
            <a:chOff x="182" y="1750"/>
            <a:chExt cx="2666" cy="314"/>
          </a:xfrm>
        </p:grpSpPr>
        <p:sp>
          <p:nvSpPr>
            <p:cNvPr id="63542" name="Text Box 54"/>
            <p:cNvSpPr txBox="1">
              <a:spLocks noChangeArrowheads="1"/>
            </p:cNvSpPr>
            <p:nvPr/>
          </p:nvSpPr>
          <p:spPr bwMode="auto">
            <a:xfrm>
              <a:off x="182" y="1754"/>
              <a:ext cx="137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400" b="1" dirty="0">
                  <a:solidFill>
                    <a:srgbClr val="0000FF"/>
                  </a:solidFill>
                  <a:latin typeface="Times New Roman" panose="02020603050405020304" pitchFamily="18" charset="0"/>
                  <a:ea typeface="楷体_GB2312" pitchFamily="49" charset="-122"/>
                </a:rPr>
                <a:t>3</a:t>
              </a:r>
              <a:r>
                <a:rPr kumimoji="1" lang="zh-CN" altLang="en-US" sz="2400" b="1" dirty="0">
                  <a:solidFill>
                    <a:srgbClr val="0000FF"/>
                  </a:solidFill>
                  <a:latin typeface="Times New Roman" panose="02020603050405020304" pitchFamily="18" charset="0"/>
                  <a:ea typeface="楷体_GB2312" pitchFamily="49" charset="-122"/>
                </a:rPr>
                <a:t>、</a:t>
              </a:r>
              <a:r>
                <a:rPr kumimoji="1" lang="zh-CN" altLang="en-US" sz="2400" b="1" dirty="0">
                  <a:solidFill>
                    <a:srgbClr val="0000FF"/>
                  </a:solidFill>
                  <a:latin typeface="楷体" panose="02010609060101010101" pitchFamily="49" charset="-122"/>
                  <a:ea typeface="楷体" panose="02010609060101010101" pitchFamily="49" charset="-122"/>
                </a:rPr>
                <a:t>平衡方程：</a:t>
              </a:r>
            </a:p>
          </p:txBody>
        </p:sp>
        <p:graphicFrame>
          <p:nvGraphicFramePr>
            <p:cNvPr id="63543" name="Object 55"/>
            <p:cNvGraphicFramePr>
              <a:graphicFrameLocks noChangeAspect="1"/>
            </p:cNvGraphicFramePr>
            <p:nvPr>
              <p:extLst>
                <p:ext uri="{D42A27DB-BD31-4B8C-83A1-F6EECF244321}">
                  <p14:modId xmlns:p14="http://schemas.microsoft.com/office/powerpoint/2010/main" val="2569748019"/>
                </p:ext>
              </p:extLst>
            </p:nvPr>
          </p:nvGraphicFramePr>
          <p:xfrm>
            <a:off x="1435" y="1750"/>
            <a:ext cx="1413" cy="314"/>
          </p:xfrm>
          <a:graphic>
            <a:graphicData uri="http://schemas.openxmlformats.org/presentationml/2006/ole">
              <mc:AlternateContent xmlns:mc="http://schemas.openxmlformats.org/markup-compatibility/2006">
                <mc:Choice xmlns:v="urn:schemas-microsoft-com:vml" Requires="v">
                  <p:oleObj name="Equation" r:id="rId3" imgW="1028520" imgH="228600" progId="Equation.DSMT4">
                    <p:embed/>
                  </p:oleObj>
                </mc:Choice>
                <mc:Fallback>
                  <p:oleObj name="Equation" r:id="rId3" imgW="1028520" imgH="228600" progId="Equation.DSMT4">
                    <p:embed/>
                    <p:pic>
                      <p:nvPicPr>
                        <p:cNvPr id="0" name=""/>
                        <p:cNvPicPr>
                          <a:picLocks noChangeAspect="1" noChangeArrowheads="1"/>
                        </p:cNvPicPr>
                        <p:nvPr/>
                      </p:nvPicPr>
                      <p:blipFill>
                        <a:blip r:embed="rId4"/>
                        <a:srcRect/>
                        <a:stretch>
                          <a:fillRect/>
                        </a:stretch>
                      </p:blipFill>
                      <p:spPr bwMode="auto">
                        <a:xfrm>
                          <a:off x="1435" y="1750"/>
                          <a:ext cx="1413" cy="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3544" name="Group 56"/>
          <p:cNvGrpSpPr>
            <a:grpSpLocks/>
          </p:cNvGrpSpPr>
          <p:nvPr/>
        </p:nvGrpSpPr>
        <p:grpSpPr bwMode="auto">
          <a:xfrm>
            <a:off x="508364" y="3279037"/>
            <a:ext cx="3586163" cy="500063"/>
            <a:chOff x="180" y="2010"/>
            <a:chExt cx="2259" cy="315"/>
          </a:xfrm>
        </p:grpSpPr>
        <p:sp>
          <p:nvSpPr>
            <p:cNvPr id="63545" name="Text Box 57"/>
            <p:cNvSpPr txBox="1">
              <a:spLocks noChangeArrowheads="1"/>
            </p:cNvSpPr>
            <p:nvPr/>
          </p:nvSpPr>
          <p:spPr bwMode="auto">
            <a:xfrm>
              <a:off x="180" y="2015"/>
              <a:ext cx="137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400" b="1" dirty="0">
                  <a:solidFill>
                    <a:srgbClr val="0000FF"/>
                  </a:solidFill>
                  <a:latin typeface="Times New Roman" panose="02020603050405020304" pitchFamily="18" charset="0"/>
                  <a:ea typeface="楷体_GB2312" pitchFamily="49" charset="-122"/>
                </a:rPr>
                <a:t>4</a:t>
              </a:r>
              <a:r>
                <a:rPr kumimoji="1" lang="zh-CN" altLang="en-US" sz="2400" b="1" dirty="0">
                  <a:solidFill>
                    <a:srgbClr val="0000FF"/>
                  </a:solidFill>
                  <a:latin typeface="Times New Roman" panose="02020603050405020304" pitchFamily="18" charset="0"/>
                  <a:ea typeface="楷体_GB2312" pitchFamily="49" charset="-122"/>
                </a:rPr>
                <a:t>、</a:t>
              </a:r>
              <a:r>
                <a:rPr kumimoji="1" lang="zh-CN" altLang="en-US" sz="2400" b="1" dirty="0">
                  <a:solidFill>
                    <a:srgbClr val="0000FF"/>
                  </a:solidFill>
                  <a:latin typeface="楷体" panose="02010609060101010101" pitchFamily="49" charset="-122"/>
                  <a:ea typeface="楷体" panose="02010609060101010101" pitchFamily="49" charset="-122"/>
                </a:rPr>
                <a:t>几何方程：</a:t>
              </a:r>
            </a:p>
          </p:txBody>
        </p:sp>
        <p:graphicFrame>
          <p:nvGraphicFramePr>
            <p:cNvPr id="63546" name="Object 58"/>
            <p:cNvGraphicFramePr>
              <a:graphicFrameLocks noChangeAspect="1"/>
            </p:cNvGraphicFramePr>
            <p:nvPr>
              <p:extLst>
                <p:ext uri="{D42A27DB-BD31-4B8C-83A1-F6EECF244321}">
                  <p14:modId xmlns:p14="http://schemas.microsoft.com/office/powerpoint/2010/main" val="2455292089"/>
                </p:ext>
              </p:extLst>
            </p:nvPr>
          </p:nvGraphicFramePr>
          <p:xfrm>
            <a:off x="1462" y="2010"/>
            <a:ext cx="977" cy="315"/>
          </p:xfrm>
          <a:graphic>
            <a:graphicData uri="http://schemas.openxmlformats.org/presentationml/2006/ole">
              <mc:AlternateContent xmlns:mc="http://schemas.openxmlformats.org/markup-compatibility/2006">
                <mc:Choice xmlns:v="urn:schemas-microsoft-com:vml" Requires="v">
                  <p:oleObj name="Equation" r:id="rId5" imgW="711000" imgH="228600" progId="Equation.DSMT4">
                    <p:embed/>
                  </p:oleObj>
                </mc:Choice>
                <mc:Fallback>
                  <p:oleObj name="Equation" r:id="rId5" imgW="711000" imgH="228600" progId="Equation.DSMT4">
                    <p:embed/>
                    <p:pic>
                      <p:nvPicPr>
                        <p:cNvPr id="0" name=""/>
                        <p:cNvPicPr>
                          <a:picLocks noChangeAspect="1" noChangeArrowheads="1"/>
                        </p:cNvPicPr>
                        <p:nvPr/>
                      </p:nvPicPr>
                      <p:blipFill>
                        <a:blip r:embed="rId6"/>
                        <a:srcRect/>
                        <a:stretch>
                          <a:fillRect/>
                        </a:stretch>
                      </p:blipFill>
                      <p:spPr bwMode="auto">
                        <a:xfrm>
                          <a:off x="1462" y="2010"/>
                          <a:ext cx="977"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3547" name="Group 59"/>
          <p:cNvGrpSpPr>
            <a:grpSpLocks/>
          </p:cNvGrpSpPr>
          <p:nvPr/>
        </p:nvGrpSpPr>
        <p:grpSpPr bwMode="auto">
          <a:xfrm>
            <a:off x="501877" y="3744620"/>
            <a:ext cx="5497513" cy="942975"/>
            <a:chOff x="178" y="2212"/>
            <a:chExt cx="3463" cy="594"/>
          </a:xfrm>
        </p:grpSpPr>
        <p:sp>
          <p:nvSpPr>
            <p:cNvPr id="63548" name="Text Box 60"/>
            <p:cNvSpPr txBox="1">
              <a:spLocks noChangeArrowheads="1"/>
            </p:cNvSpPr>
            <p:nvPr/>
          </p:nvSpPr>
          <p:spPr bwMode="auto">
            <a:xfrm>
              <a:off x="178" y="2291"/>
              <a:ext cx="137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400" b="1" dirty="0">
                  <a:solidFill>
                    <a:srgbClr val="0000FF"/>
                  </a:solidFill>
                  <a:latin typeface="Times New Roman" panose="02020603050405020304" pitchFamily="18" charset="0"/>
                  <a:ea typeface="楷体_GB2312" pitchFamily="49" charset="-122"/>
                </a:rPr>
                <a:t>5</a:t>
              </a:r>
              <a:r>
                <a:rPr kumimoji="1" lang="zh-CN" altLang="en-US" sz="2400" b="1" dirty="0">
                  <a:solidFill>
                    <a:srgbClr val="0000FF"/>
                  </a:solidFill>
                  <a:latin typeface="Times New Roman" panose="02020603050405020304" pitchFamily="18" charset="0"/>
                  <a:ea typeface="楷体_GB2312" pitchFamily="49" charset="-122"/>
                </a:rPr>
                <a:t>、</a:t>
              </a:r>
              <a:r>
                <a:rPr kumimoji="1" lang="zh-CN" altLang="en-US" sz="2400" b="1" dirty="0">
                  <a:solidFill>
                    <a:srgbClr val="0000FF"/>
                  </a:solidFill>
                  <a:latin typeface="楷体" panose="02010609060101010101" pitchFamily="49" charset="-122"/>
                  <a:ea typeface="楷体" panose="02010609060101010101" pitchFamily="49" charset="-122"/>
                </a:rPr>
                <a:t>物理方程：</a:t>
              </a:r>
            </a:p>
          </p:txBody>
        </p:sp>
        <p:graphicFrame>
          <p:nvGraphicFramePr>
            <p:cNvPr id="63549" name="Object 61"/>
            <p:cNvGraphicFramePr>
              <a:graphicFrameLocks noChangeAspect="1"/>
            </p:cNvGraphicFramePr>
            <p:nvPr>
              <p:extLst>
                <p:ext uri="{D42A27DB-BD31-4B8C-83A1-F6EECF244321}">
                  <p14:modId xmlns:p14="http://schemas.microsoft.com/office/powerpoint/2010/main" val="173512431"/>
                </p:ext>
              </p:extLst>
            </p:nvPr>
          </p:nvGraphicFramePr>
          <p:xfrm>
            <a:off x="1426" y="2212"/>
            <a:ext cx="2215" cy="594"/>
          </p:xfrm>
          <a:graphic>
            <a:graphicData uri="http://schemas.openxmlformats.org/presentationml/2006/ole">
              <mc:AlternateContent xmlns:mc="http://schemas.openxmlformats.org/markup-compatibility/2006">
                <mc:Choice xmlns:v="urn:schemas-microsoft-com:vml" Requires="v">
                  <p:oleObj name="Equation" r:id="rId7" imgW="1612800" imgH="431640" progId="Equation.DSMT4">
                    <p:embed/>
                  </p:oleObj>
                </mc:Choice>
                <mc:Fallback>
                  <p:oleObj name="Equation" r:id="rId7" imgW="1612800" imgH="431640" progId="Equation.DSMT4">
                    <p:embed/>
                    <p:pic>
                      <p:nvPicPr>
                        <p:cNvPr id="0" name=""/>
                        <p:cNvPicPr>
                          <a:picLocks noChangeAspect="1" noChangeArrowheads="1"/>
                        </p:cNvPicPr>
                        <p:nvPr/>
                      </p:nvPicPr>
                      <p:blipFill>
                        <a:blip r:embed="rId8"/>
                        <a:srcRect/>
                        <a:stretch>
                          <a:fillRect/>
                        </a:stretch>
                      </p:blipFill>
                      <p:spPr bwMode="auto">
                        <a:xfrm>
                          <a:off x="1426" y="2212"/>
                          <a:ext cx="2215" cy="5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3550" name="Text Box 62"/>
          <p:cNvSpPr txBox="1">
            <a:spLocks noChangeArrowheads="1"/>
          </p:cNvSpPr>
          <p:nvPr/>
        </p:nvSpPr>
        <p:spPr bwMode="auto">
          <a:xfrm>
            <a:off x="494383" y="4555331"/>
            <a:ext cx="2481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400" b="1" dirty="0">
                <a:solidFill>
                  <a:srgbClr val="0000FF"/>
                </a:solidFill>
                <a:latin typeface="Times New Roman" panose="02020603050405020304" pitchFamily="18" charset="0"/>
                <a:ea typeface="楷体_GB2312" pitchFamily="49" charset="-122"/>
              </a:rPr>
              <a:t>6</a:t>
            </a:r>
            <a:r>
              <a:rPr kumimoji="1" lang="zh-CN" altLang="en-US" sz="2400" b="1" dirty="0">
                <a:solidFill>
                  <a:srgbClr val="0000FF"/>
                </a:solidFill>
                <a:latin typeface="Times New Roman" panose="02020603050405020304" pitchFamily="18" charset="0"/>
                <a:ea typeface="楷体_GB2312" pitchFamily="49" charset="-122"/>
              </a:rPr>
              <a:t>、</a:t>
            </a:r>
            <a:r>
              <a:rPr kumimoji="1" lang="zh-CN" altLang="en-US" sz="2400" b="1" dirty="0">
                <a:solidFill>
                  <a:srgbClr val="0000FF"/>
                </a:solidFill>
                <a:latin typeface="楷体" panose="02010609060101010101" pitchFamily="49" charset="-122"/>
                <a:ea typeface="楷体" panose="02010609060101010101" pitchFamily="49" charset="-122"/>
              </a:rPr>
              <a:t>联立求解得：</a:t>
            </a:r>
          </a:p>
        </p:txBody>
      </p:sp>
      <p:graphicFrame>
        <p:nvGraphicFramePr>
          <p:cNvPr id="63551" name="Object 63"/>
          <p:cNvGraphicFramePr>
            <a:graphicFrameLocks noChangeAspect="1"/>
          </p:cNvGraphicFramePr>
          <p:nvPr>
            <p:extLst>
              <p:ext uri="{D42A27DB-BD31-4B8C-83A1-F6EECF244321}">
                <p14:modId xmlns:p14="http://schemas.microsoft.com/office/powerpoint/2010/main" val="2621500902"/>
              </p:ext>
            </p:extLst>
          </p:nvPr>
        </p:nvGraphicFramePr>
        <p:xfrm>
          <a:off x="1355725" y="5226050"/>
          <a:ext cx="4179888" cy="836613"/>
        </p:xfrm>
        <a:graphic>
          <a:graphicData uri="http://schemas.openxmlformats.org/presentationml/2006/ole">
            <mc:AlternateContent xmlns:mc="http://schemas.openxmlformats.org/markup-compatibility/2006">
              <mc:Choice xmlns:v="urn:schemas-microsoft-com:vml" Requires="v">
                <p:oleObj name="Equation" r:id="rId9" imgW="2158920" imgH="431640" progId="Equation.DSMT4">
                  <p:embed/>
                </p:oleObj>
              </mc:Choice>
              <mc:Fallback>
                <p:oleObj name="Equation" r:id="rId9" imgW="2158920" imgH="431640" progId="Equation.DSMT4">
                  <p:embed/>
                  <p:pic>
                    <p:nvPicPr>
                      <p:cNvPr id="0" name=""/>
                      <p:cNvPicPr>
                        <a:picLocks noChangeAspect="1" noChangeArrowheads="1"/>
                      </p:cNvPicPr>
                      <p:nvPr/>
                    </p:nvPicPr>
                    <p:blipFill>
                      <a:blip r:embed="rId10"/>
                      <a:srcRect/>
                      <a:stretch>
                        <a:fillRect/>
                      </a:stretch>
                    </p:blipFill>
                    <p:spPr bwMode="auto">
                      <a:xfrm>
                        <a:off x="1355725" y="5226050"/>
                        <a:ext cx="4179888" cy="836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3552" name="Group 64"/>
          <p:cNvGrpSpPr>
            <a:grpSpLocks/>
          </p:cNvGrpSpPr>
          <p:nvPr/>
        </p:nvGrpSpPr>
        <p:grpSpPr bwMode="auto">
          <a:xfrm>
            <a:off x="5805681" y="4090682"/>
            <a:ext cx="2922587" cy="1566862"/>
            <a:chOff x="3785" y="2563"/>
            <a:chExt cx="1841" cy="987"/>
          </a:xfrm>
        </p:grpSpPr>
        <p:sp>
          <p:nvSpPr>
            <p:cNvPr id="63553" name="Rectangle 65" descr="编织物"/>
            <p:cNvSpPr>
              <a:spLocks noChangeArrowheads="1"/>
            </p:cNvSpPr>
            <p:nvPr/>
          </p:nvSpPr>
          <p:spPr bwMode="auto">
            <a:xfrm rot="900000">
              <a:off x="3932" y="3232"/>
              <a:ext cx="1694" cy="110"/>
            </a:xfrm>
            <a:prstGeom prst="rect">
              <a:avLst/>
            </a:prstGeom>
            <a:blipFill dpi="0" rotWithShape="0">
              <a:blip r:embed="rId2"/>
              <a:srcRect/>
              <a:tile tx="0" ty="0" sx="100000" sy="100000" flip="none" algn="tl"/>
            </a:bli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54" name="Rectangle 66"/>
            <p:cNvSpPr>
              <a:spLocks noChangeArrowheads="1"/>
            </p:cNvSpPr>
            <p:nvPr/>
          </p:nvSpPr>
          <p:spPr bwMode="auto">
            <a:xfrm>
              <a:off x="5318" y="2805"/>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b="1" i="1">
                  <a:solidFill>
                    <a:srgbClr val="000000"/>
                  </a:solidFill>
                  <a:latin typeface="Times New Roman" panose="02020603050405020304" pitchFamily="18" charset="0"/>
                  <a:ea typeface="宋体" panose="02010600030101010101" pitchFamily="2" charset="-122"/>
                </a:rPr>
                <a:t>C</a:t>
              </a:r>
            </a:p>
          </p:txBody>
        </p:sp>
        <p:sp>
          <p:nvSpPr>
            <p:cNvPr id="63555" name="Rectangle 67"/>
            <p:cNvSpPr>
              <a:spLocks noChangeArrowheads="1"/>
            </p:cNvSpPr>
            <p:nvPr/>
          </p:nvSpPr>
          <p:spPr bwMode="auto">
            <a:xfrm>
              <a:off x="3785" y="2797"/>
              <a:ext cx="24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kumimoji="1" lang="en-US" altLang="zh-CN" sz="2000" b="1" i="1" dirty="0">
                  <a:solidFill>
                    <a:srgbClr val="000000"/>
                  </a:solidFill>
                  <a:latin typeface="Times New Roman" panose="02020603050405020304" pitchFamily="18" charset="0"/>
                  <a:ea typeface="宋体" panose="02010600030101010101" pitchFamily="2" charset="-122"/>
                </a:rPr>
                <a:t>A</a:t>
              </a:r>
            </a:p>
          </p:txBody>
        </p:sp>
        <p:sp>
          <p:nvSpPr>
            <p:cNvPr id="63556" name="Rectangle 68"/>
            <p:cNvSpPr>
              <a:spLocks noChangeArrowheads="1"/>
            </p:cNvSpPr>
            <p:nvPr/>
          </p:nvSpPr>
          <p:spPr bwMode="auto">
            <a:xfrm>
              <a:off x="4552" y="2806"/>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b="1" i="1">
                  <a:solidFill>
                    <a:srgbClr val="000000"/>
                  </a:solidFill>
                  <a:latin typeface="Times New Roman" panose="02020603050405020304" pitchFamily="18" charset="0"/>
                  <a:ea typeface="宋体" panose="02010600030101010101" pitchFamily="2" charset="-122"/>
                </a:rPr>
                <a:t>B</a:t>
              </a:r>
            </a:p>
          </p:txBody>
        </p:sp>
        <p:sp>
          <p:nvSpPr>
            <p:cNvPr id="63557" name="Line 69"/>
            <p:cNvSpPr>
              <a:spLocks noChangeShapeType="1"/>
            </p:cNvSpPr>
            <p:nvPr/>
          </p:nvSpPr>
          <p:spPr bwMode="auto">
            <a:xfrm>
              <a:off x="5512" y="3015"/>
              <a:ext cx="0" cy="432"/>
            </a:xfrm>
            <a:prstGeom prst="line">
              <a:avLst/>
            </a:prstGeom>
            <a:noFill/>
            <a:ln w="31750">
              <a:solidFill>
                <a:srgbClr val="8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3558" name="Line 70"/>
            <p:cNvSpPr>
              <a:spLocks noChangeShapeType="1"/>
            </p:cNvSpPr>
            <p:nvPr/>
          </p:nvSpPr>
          <p:spPr bwMode="auto">
            <a:xfrm>
              <a:off x="4736" y="3017"/>
              <a:ext cx="0" cy="231"/>
            </a:xfrm>
            <a:prstGeom prst="line">
              <a:avLst/>
            </a:prstGeom>
            <a:noFill/>
            <a:ln w="31750">
              <a:solidFill>
                <a:srgbClr val="8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3559" name="Line 71"/>
            <p:cNvSpPr>
              <a:spLocks noChangeShapeType="1"/>
            </p:cNvSpPr>
            <p:nvPr/>
          </p:nvSpPr>
          <p:spPr bwMode="auto">
            <a:xfrm>
              <a:off x="4742" y="2563"/>
              <a:ext cx="0" cy="44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60" name="Oval 72"/>
            <p:cNvSpPr>
              <a:spLocks noChangeArrowheads="1"/>
            </p:cNvSpPr>
            <p:nvPr/>
          </p:nvSpPr>
          <p:spPr bwMode="auto">
            <a:xfrm>
              <a:off x="4684" y="3127"/>
              <a:ext cx="115" cy="11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61" name="Line 73"/>
            <p:cNvSpPr>
              <a:spLocks noChangeShapeType="1"/>
            </p:cNvSpPr>
            <p:nvPr/>
          </p:nvSpPr>
          <p:spPr bwMode="auto">
            <a:xfrm>
              <a:off x="5509" y="2568"/>
              <a:ext cx="0" cy="43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62" name="Oval 74"/>
            <p:cNvSpPr>
              <a:spLocks noChangeArrowheads="1"/>
            </p:cNvSpPr>
            <p:nvPr/>
          </p:nvSpPr>
          <p:spPr bwMode="auto">
            <a:xfrm>
              <a:off x="5451" y="3319"/>
              <a:ext cx="115" cy="11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63" name="Line 75"/>
            <p:cNvSpPr>
              <a:spLocks noChangeShapeType="1"/>
            </p:cNvSpPr>
            <p:nvPr/>
          </p:nvSpPr>
          <p:spPr bwMode="auto">
            <a:xfrm>
              <a:off x="3964" y="3015"/>
              <a:ext cx="1584" cy="0"/>
            </a:xfrm>
            <a:prstGeom prst="line">
              <a:avLst/>
            </a:prstGeom>
            <a:noFill/>
            <a:ln w="2222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63564" name="Rectangle 76"/>
            <p:cNvSpPr>
              <a:spLocks noChangeArrowheads="1"/>
            </p:cNvSpPr>
            <p:nvPr/>
          </p:nvSpPr>
          <p:spPr bwMode="auto">
            <a:xfrm>
              <a:off x="5232" y="3161"/>
              <a:ext cx="26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b="1" i="1" dirty="0">
                  <a:solidFill>
                    <a:srgbClr val="000000"/>
                  </a:solidFill>
                  <a:latin typeface="Times New Roman" panose="02020603050405020304" pitchFamily="18" charset="0"/>
                  <a:ea typeface="宋体" panose="02010600030101010101" pitchFamily="2" charset="-122"/>
                </a:rPr>
                <a:t>C</a:t>
              </a:r>
              <a:r>
                <a:rPr kumimoji="1" lang="en-US" altLang="zh-CN" sz="2000" b="1" i="1" dirty="0">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000" b="1" i="1" dirty="0">
                <a:solidFill>
                  <a:srgbClr val="000000"/>
                </a:solidFill>
                <a:latin typeface="Times New Roman" panose="02020603050405020304" pitchFamily="18" charset="0"/>
                <a:ea typeface="宋体" panose="02010600030101010101" pitchFamily="2" charset="-122"/>
              </a:endParaRPr>
            </a:p>
          </p:txBody>
        </p:sp>
        <p:sp>
          <p:nvSpPr>
            <p:cNvPr id="63565" name="Rectangle 77"/>
            <p:cNvSpPr>
              <a:spLocks noChangeArrowheads="1"/>
            </p:cNvSpPr>
            <p:nvPr/>
          </p:nvSpPr>
          <p:spPr bwMode="auto">
            <a:xfrm>
              <a:off x="4540" y="3298"/>
              <a:ext cx="26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b="1" i="1" dirty="0">
                  <a:solidFill>
                    <a:srgbClr val="000000"/>
                  </a:solidFill>
                  <a:latin typeface="Times New Roman" panose="02020603050405020304" pitchFamily="18" charset="0"/>
                  <a:ea typeface="宋体" panose="02010600030101010101" pitchFamily="2" charset="-122"/>
                </a:rPr>
                <a:t>B</a:t>
              </a:r>
              <a:r>
                <a:rPr kumimoji="1" lang="en-US" altLang="zh-CN" sz="2000" b="1" i="1" dirty="0">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000" b="1" i="1" dirty="0">
                <a:solidFill>
                  <a:srgbClr val="000000"/>
                </a:solidFill>
                <a:latin typeface="Times New Roman" panose="02020603050405020304" pitchFamily="18" charset="0"/>
                <a:ea typeface="宋体" panose="02010600030101010101" pitchFamily="2" charset="-122"/>
              </a:endParaRPr>
            </a:p>
          </p:txBody>
        </p:sp>
      </p:grpSp>
      <p:grpSp>
        <p:nvGrpSpPr>
          <p:cNvPr id="2" name="组合 1"/>
          <p:cNvGrpSpPr/>
          <p:nvPr/>
        </p:nvGrpSpPr>
        <p:grpSpPr>
          <a:xfrm>
            <a:off x="6047291" y="3725068"/>
            <a:ext cx="2510852" cy="2419350"/>
            <a:chOff x="6047291" y="3725068"/>
            <a:chExt cx="2510852" cy="2419350"/>
          </a:xfrm>
        </p:grpSpPr>
        <p:grpSp>
          <p:nvGrpSpPr>
            <p:cNvPr id="63566" name="Group 78"/>
            <p:cNvGrpSpPr>
              <a:grpSpLocks/>
            </p:cNvGrpSpPr>
            <p:nvPr/>
          </p:nvGrpSpPr>
          <p:grpSpPr bwMode="auto">
            <a:xfrm>
              <a:off x="6838881" y="3725068"/>
              <a:ext cx="1719262" cy="2419350"/>
              <a:chOff x="4437" y="2316"/>
              <a:chExt cx="1083" cy="1524"/>
            </a:xfrm>
          </p:grpSpPr>
          <p:sp>
            <p:nvSpPr>
              <p:cNvPr id="63567" name="Line 79"/>
              <p:cNvSpPr>
                <a:spLocks noChangeShapeType="1"/>
              </p:cNvSpPr>
              <p:nvPr/>
            </p:nvSpPr>
            <p:spPr bwMode="auto">
              <a:xfrm flipV="1">
                <a:off x="4736" y="2325"/>
                <a:ext cx="0" cy="240"/>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63568" name="Line 80"/>
              <p:cNvSpPr>
                <a:spLocks noChangeShapeType="1"/>
              </p:cNvSpPr>
              <p:nvPr/>
            </p:nvSpPr>
            <p:spPr bwMode="auto">
              <a:xfrm flipV="1">
                <a:off x="5509" y="2325"/>
                <a:ext cx="0" cy="240"/>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63569" name="Line 81"/>
              <p:cNvSpPr>
                <a:spLocks noChangeShapeType="1"/>
              </p:cNvSpPr>
              <p:nvPr/>
            </p:nvSpPr>
            <p:spPr bwMode="auto">
              <a:xfrm flipH="1" flipV="1">
                <a:off x="5518" y="3543"/>
                <a:ext cx="2" cy="297"/>
              </a:xfrm>
              <a:prstGeom prst="line">
                <a:avLst/>
              </a:prstGeom>
              <a:noFill/>
              <a:ln w="38100">
                <a:solidFill>
                  <a:srgbClr val="FF0000"/>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3570" name="Text Box 82"/>
              <p:cNvSpPr txBox="1">
                <a:spLocks noChangeArrowheads="1"/>
              </p:cNvSpPr>
              <p:nvPr/>
            </p:nvSpPr>
            <p:spPr bwMode="auto">
              <a:xfrm>
                <a:off x="5232" y="3552"/>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400" b="1" i="1" dirty="0">
                    <a:solidFill>
                      <a:srgbClr val="FF0000"/>
                    </a:solidFill>
                    <a:latin typeface="Times New Roman" panose="02020603050405020304" pitchFamily="18" charset="0"/>
                    <a:ea typeface="宋体" panose="02010600030101010101" pitchFamily="2" charset="-122"/>
                  </a:rPr>
                  <a:t>F</a:t>
                </a:r>
              </a:p>
            </p:txBody>
          </p:sp>
          <p:graphicFrame>
            <p:nvGraphicFramePr>
              <p:cNvPr id="63571" name="Object 83"/>
              <p:cNvGraphicFramePr>
                <a:graphicFrameLocks noChangeAspect="1"/>
              </p:cNvGraphicFramePr>
              <p:nvPr>
                <p:extLst>
                  <p:ext uri="{D42A27DB-BD31-4B8C-83A1-F6EECF244321}">
                    <p14:modId xmlns:p14="http://schemas.microsoft.com/office/powerpoint/2010/main" val="1231451104"/>
                  </p:ext>
                </p:extLst>
              </p:nvPr>
            </p:nvGraphicFramePr>
            <p:xfrm>
              <a:off x="4437" y="2324"/>
              <a:ext cx="291" cy="276"/>
            </p:xfrm>
            <a:graphic>
              <a:graphicData uri="http://schemas.openxmlformats.org/presentationml/2006/ole">
                <mc:AlternateContent xmlns:mc="http://schemas.openxmlformats.org/markup-compatibility/2006">
                  <mc:Choice xmlns:v="urn:schemas-microsoft-com:vml" Requires="v">
                    <p:oleObj name="Equation" r:id="rId11" imgW="241200" imgH="228600" progId="Equation.DSMT4">
                      <p:embed/>
                    </p:oleObj>
                  </mc:Choice>
                  <mc:Fallback>
                    <p:oleObj name="Equation" r:id="rId11" imgW="241200" imgH="228600" progId="Equation.DSMT4">
                      <p:embed/>
                      <p:pic>
                        <p:nvPicPr>
                          <p:cNvPr id="0" name=""/>
                          <p:cNvPicPr>
                            <a:picLocks noChangeAspect="1" noChangeArrowheads="1"/>
                          </p:cNvPicPr>
                          <p:nvPr/>
                        </p:nvPicPr>
                        <p:blipFill>
                          <a:blip r:embed="rId12"/>
                          <a:srcRect/>
                          <a:stretch>
                            <a:fillRect/>
                          </a:stretch>
                        </p:blipFill>
                        <p:spPr bwMode="auto">
                          <a:xfrm>
                            <a:off x="4437" y="2324"/>
                            <a:ext cx="291"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72" name="Object 84"/>
              <p:cNvGraphicFramePr>
                <a:graphicFrameLocks noChangeAspect="1"/>
              </p:cNvGraphicFramePr>
              <p:nvPr>
                <p:extLst>
                  <p:ext uri="{D42A27DB-BD31-4B8C-83A1-F6EECF244321}">
                    <p14:modId xmlns:p14="http://schemas.microsoft.com/office/powerpoint/2010/main" val="2761517675"/>
                  </p:ext>
                </p:extLst>
              </p:nvPr>
            </p:nvGraphicFramePr>
            <p:xfrm>
              <a:off x="5188" y="2316"/>
              <a:ext cx="306" cy="275"/>
            </p:xfrm>
            <a:graphic>
              <a:graphicData uri="http://schemas.openxmlformats.org/presentationml/2006/ole">
                <mc:AlternateContent xmlns:mc="http://schemas.openxmlformats.org/markup-compatibility/2006">
                  <mc:Choice xmlns:v="urn:schemas-microsoft-com:vml" Requires="v">
                    <p:oleObj name="Equation" r:id="rId13" imgW="253800" imgH="228600" progId="Equation.DSMT4">
                      <p:embed/>
                    </p:oleObj>
                  </mc:Choice>
                  <mc:Fallback>
                    <p:oleObj name="Equation" r:id="rId13" imgW="253800" imgH="228600" progId="Equation.DSMT4">
                      <p:embed/>
                      <p:pic>
                        <p:nvPicPr>
                          <p:cNvPr id="0" name=""/>
                          <p:cNvPicPr>
                            <a:picLocks noChangeAspect="1" noChangeArrowheads="1"/>
                          </p:cNvPicPr>
                          <p:nvPr/>
                        </p:nvPicPr>
                        <p:blipFill>
                          <a:blip r:embed="rId14"/>
                          <a:srcRect/>
                          <a:stretch>
                            <a:fillRect/>
                          </a:stretch>
                        </p:blipFill>
                        <p:spPr bwMode="auto">
                          <a:xfrm>
                            <a:off x="5188" y="2316"/>
                            <a:ext cx="306" cy="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85" name="Line 79"/>
            <p:cNvSpPr>
              <a:spLocks noChangeShapeType="1"/>
            </p:cNvSpPr>
            <p:nvPr/>
          </p:nvSpPr>
          <p:spPr bwMode="auto">
            <a:xfrm flipV="1">
              <a:off x="6116306" y="4439443"/>
              <a:ext cx="0" cy="381000"/>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86" name="Line 79"/>
            <p:cNvSpPr>
              <a:spLocks noChangeShapeType="1"/>
            </p:cNvSpPr>
            <p:nvPr/>
          </p:nvSpPr>
          <p:spPr bwMode="auto">
            <a:xfrm rot="5400000" flipH="1" flipV="1">
              <a:off x="6304758" y="4629943"/>
              <a:ext cx="0" cy="381000"/>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87" name="Text Box 82"/>
            <p:cNvSpPr txBox="1">
              <a:spLocks noChangeArrowheads="1"/>
            </p:cNvSpPr>
            <p:nvPr/>
          </p:nvSpPr>
          <p:spPr bwMode="auto">
            <a:xfrm>
              <a:off x="6396514" y="4400137"/>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400" b="1" i="1" dirty="0" err="1">
                  <a:solidFill>
                    <a:srgbClr val="FF0000"/>
                  </a:solidFill>
                  <a:latin typeface="Times New Roman" panose="02020603050405020304" pitchFamily="18" charset="0"/>
                  <a:ea typeface="宋体" panose="02010600030101010101" pitchFamily="2" charset="-122"/>
                </a:rPr>
                <a:t>F</a:t>
              </a:r>
              <a:r>
                <a:rPr kumimoji="1" lang="en-US" altLang="zh-CN" sz="2400" b="1" i="1" baseline="-25000" dirty="0" err="1">
                  <a:solidFill>
                    <a:srgbClr val="FF0000"/>
                  </a:solidFill>
                  <a:latin typeface="Times New Roman" panose="02020603050405020304" pitchFamily="18" charset="0"/>
                  <a:ea typeface="宋体" panose="02010600030101010101" pitchFamily="2" charset="-122"/>
                </a:rPr>
                <a:t>x</a:t>
              </a:r>
              <a:endParaRPr kumimoji="1" lang="en-US" altLang="zh-CN" sz="2400" b="1" i="1" baseline="-25000" dirty="0">
                <a:solidFill>
                  <a:srgbClr val="FF0000"/>
                </a:solidFill>
                <a:latin typeface="Times New Roman" panose="02020603050405020304" pitchFamily="18" charset="0"/>
                <a:ea typeface="宋体" panose="02010600030101010101" pitchFamily="2" charset="-122"/>
              </a:endParaRPr>
            </a:p>
          </p:txBody>
        </p:sp>
        <p:sp>
          <p:nvSpPr>
            <p:cNvPr id="88" name="Text Box 82"/>
            <p:cNvSpPr txBox="1">
              <a:spLocks noChangeArrowheads="1"/>
            </p:cNvSpPr>
            <p:nvPr/>
          </p:nvSpPr>
          <p:spPr bwMode="auto">
            <a:xfrm>
              <a:off x="6047291" y="4058179"/>
              <a:ext cx="4812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400" b="1" i="1" dirty="0" err="1">
                  <a:solidFill>
                    <a:srgbClr val="FF0000"/>
                  </a:solidFill>
                  <a:latin typeface="Times New Roman" panose="02020603050405020304" pitchFamily="18" charset="0"/>
                  <a:ea typeface="宋体" panose="02010600030101010101" pitchFamily="2" charset="-122"/>
                </a:rPr>
                <a:t>F</a:t>
              </a:r>
              <a:r>
                <a:rPr kumimoji="1" lang="en-US" altLang="zh-CN" sz="2400" b="1" i="1" baseline="-25000" dirty="0" err="1">
                  <a:solidFill>
                    <a:srgbClr val="FF0000"/>
                  </a:solidFill>
                  <a:latin typeface="Times New Roman" panose="02020603050405020304" pitchFamily="18" charset="0"/>
                  <a:ea typeface="宋体" panose="02010600030101010101" pitchFamily="2" charset="-122"/>
                </a:rPr>
                <a:t>y</a:t>
              </a:r>
              <a:endParaRPr kumimoji="1" lang="en-US" altLang="zh-CN" sz="2400" b="1" i="1" baseline="-25000" dirty="0">
                <a:solidFill>
                  <a:srgbClr val="FF0000"/>
                </a:solidFill>
                <a:latin typeface="Times New Roman" panose="02020603050405020304" pitchFamily="18" charset="0"/>
                <a:ea typeface="宋体" panose="02010600030101010101" pitchFamily="2" charset="-122"/>
              </a:endParaRPr>
            </a:p>
          </p:txBody>
        </p:sp>
      </p:grpSp>
    </p:spTree>
    <p:extLst>
      <p:ext uri="{BB962C8B-B14F-4D97-AF65-F5344CB8AC3E}">
        <p14:creationId xmlns:p14="http://schemas.microsoft.com/office/powerpoint/2010/main" val="293347182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3539"/>
                                        </p:tgtEl>
                                        <p:attrNameLst>
                                          <p:attrName>style.visibility</p:attrName>
                                        </p:attrNameLst>
                                      </p:cBhvr>
                                      <p:to>
                                        <p:strVal val="visible"/>
                                      </p:to>
                                    </p:set>
                                    <p:animEffect transition="in" filter="dissolve">
                                      <p:cBhvr>
                                        <p:cTn id="7" dur="500"/>
                                        <p:tgtEl>
                                          <p:spTgt spid="6353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3540"/>
                                        </p:tgtEl>
                                        <p:attrNameLst>
                                          <p:attrName>style.visibility</p:attrName>
                                        </p:attrNameLst>
                                      </p:cBhvr>
                                      <p:to>
                                        <p:strVal val="visible"/>
                                      </p:to>
                                    </p:set>
                                    <p:animEffect transition="in" filter="dissolve">
                                      <p:cBhvr>
                                        <p:cTn id="12" dur="500"/>
                                        <p:tgtEl>
                                          <p:spTgt spid="63540"/>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63552"/>
                                        </p:tgtEl>
                                        <p:attrNameLst>
                                          <p:attrName>style.visibility</p:attrName>
                                        </p:attrNameLst>
                                      </p:cBhvr>
                                      <p:to>
                                        <p:strVal val="visible"/>
                                      </p:to>
                                    </p:set>
                                    <p:animEffect transition="in" filter="checkerboard(across)">
                                      <p:cBhvr>
                                        <p:cTn id="17" dur="500"/>
                                        <p:tgtEl>
                                          <p:spTgt spid="6355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63541"/>
                                        </p:tgtEl>
                                        <p:attrNameLst>
                                          <p:attrName>style.visibility</p:attrName>
                                        </p:attrNameLst>
                                      </p:cBhvr>
                                      <p:to>
                                        <p:strVal val="visible"/>
                                      </p:to>
                                    </p:set>
                                    <p:animEffect transition="in" filter="dissolve">
                                      <p:cBhvr>
                                        <p:cTn id="27" dur="500"/>
                                        <p:tgtEl>
                                          <p:spTgt spid="63541"/>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63544"/>
                                        </p:tgtEl>
                                        <p:attrNameLst>
                                          <p:attrName>style.visibility</p:attrName>
                                        </p:attrNameLst>
                                      </p:cBhvr>
                                      <p:to>
                                        <p:strVal val="visible"/>
                                      </p:to>
                                    </p:set>
                                    <p:animEffect transition="in" filter="dissolve">
                                      <p:cBhvr>
                                        <p:cTn id="32" dur="500"/>
                                        <p:tgtEl>
                                          <p:spTgt spid="63544"/>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63547"/>
                                        </p:tgtEl>
                                        <p:attrNameLst>
                                          <p:attrName>style.visibility</p:attrName>
                                        </p:attrNameLst>
                                      </p:cBhvr>
                                      <p:to>
                                        <p:strVal val="visible"/>
                                      </p:to>
                                    </p:set>
                                    <p:animEffect transition="in" filter="dissolve">
                                      <p:cBhvr>
                                        <p:cTn id="37" dur="500"/>
                                        <p:tgtEl>
                                          <p:spTgt spid="63547"/>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63550"/>
                                        </p:tgtEl>
                                        <p:attrNameLst>
                                          <p:attrName>style.visibility</p:attrName>
                                        </p:attrNameLst>
                                      </p:cBhvr>
                                      <p:to>
                                        <p:strVal val="visible"/>
                                      </p:to>
                                    </p:set>
                                    <p:animEffect transition="in" filter="checkerboard(across)">
                                      <p:cBhvr>
                                        <p:cTn id="42" dur="500"/>
                                        <p:tgtEl>
                                          <p:spTgt spid="63550"/>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nodeType="clickEffect">
                                  <p:stCondLst>
                                    <p:cond delay="0"/>
                                  </p:stCondLst>
                                  <p:childTnLst>
                                    <p:set>
                                      <p:cBhvr>
                                        <p:cTn id="46" dur="1" fill="hold">
                                          <p:stCondLst>
                                            <p:cond delay="0"/>
                                          </p:stCondLst>
                                        </p:cTn>
                                        <p:tgtEl>
                                          <p:spTgt spid="63551"/>
                                        </p:tgtEl>
                                        <p:attrNameLst>
                                          <p:attrName>style.visibility</p:attrName>
                                        </p:attrNameLst>
                                      </p:cBhvr>
                                      <p:to>
                                        <p:strVal val="visible"/>
                                      </p:to>
                                    </p:set>
                                    <p:animEffect transition="in" filter="checkerboard(across)">
                                      <p:cBhvr>
                                        <p:cTn id="47" dur="500"/>
                                        <p:tgtEl>
                                          <p:spTgt spid="635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39" grpId="0" autoUpdateAnimBg="0"/>
      <p:bldP spid="63540" grpId="0" autoUpdateAnimBg="0"/>
      <p:bldP spid="63550" grpId="0"/>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0" name="Rectangle 4"/>
          <p:cNvSpPr>
            <a:spLocks noChangeArrowheads="1"/>
          </p:cNvSpPr>
          <p:nvPr/>
        </p:nvSpPr>
        <p:spPr bwMode="auto">
          <a:xfrm>
            <a:off x="666098" y="595013"/>
            <a:ext cx="5842652" cy="831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400" b="1" dirty="0">
                <a:latin typeface="+mn-lt"/>
                <a:ea typeface="华文楷体" panose="02010600040101010101" pitchFamily="2" charset="-122"/>
              </a:rPr>
              <a:t>图示结构，</a:t>
            </a:r>
            <a:r>
              <a:rPr kumimoji="1" lang="en-US" altLang="zh-CN" sz="2400" dirty="0">
                <a:latin typeface="+mn-lt"/>
                <a:ea typeface="华文楷体" panose="02010600040101010101" pitchFamily="2" charset="-122"/>
              </a:rPr>
              <a:t>1</a:t>
            </a:r>
            <a:r>
              <a:rPr kumimoji="1" lang="zh-CN" altLang="en-US" sz="2400" b="1" dirty="0">
                <a:latin typeface="+mn-lt"/>
                <a:ea typeface="华文楷体" panose="02010600040101010101" pitchFamily="2" charset="-122"/>
              </a:rPr>
              <a:t>、</a:t>
            </a:r>
            <a:r>
              <a:rPr kumimoji="1" lang="en-US" altLang="zh-CN" sz="2400" dirty="0">
                <a:latin typeface="+mn-lt"/>
                <a:ea typeface="华文楷体" panose="02010600040101010101" pitchFamily="2" charset="-122"/>
              </a:rPr>
              <a:t>2</a:t>
            </a:r>
            <a:r>
              <a:rPr kumimoji="1" lang="zh-CN" altLang="en-US" sz="2400" b="1" dirty="0">
                <a:latin typeface="+mn-lt"/>
                <a:ea typeface="华文楷体" panose="02010600040101010101" pitchFamily="2" charset="-122"/>
              </a:rPr>
              <a:t>两杆的抗拉刚度为</a:t>
            </a:r>
            <a:r>
              <a:rPr kumimoji="1" lang="en-US" altLang="zh-CN" sz="2400" i="1" dirty="0">
                <a:latin typeface="+mn-lt"/>
                <a:ea typeface="华文楷体" panose="02010600040101010101" pitchFamily="2" charset="-122"/>
              </a:rPr>
              <a:t>EA</a:t>
            </a:r>
            <a:r>
              <a:rPr kumimoji="1" lang="zh-CN" altLang="en-US" sz="2400" b="1" dirty="0">
                <a:latin typeface="+mn-lt"/>
                <a:ea typeface="华文楷体" panose="02010600040101010101" pitchFamily="2" charset="-122"/>
              </a:rPr>
              <a:t>，杆长</a:t>
            </a:r>
            <a:r>
              <a:rPr kumimoji="1" lang="en-US" altLang="zh-CN" sz="2400" i="1" dirty="0">
                <a:latin typeface="+mn-lt"/>
                <a:ea typeface="华文楷体" panose="02010600040101010101" pitchFamily="2" charset="-122"/>
              </a:rPr>
              <a:t>a</a:t>
            </a:r>
            <a:r>
              <a:rPr kumimoji="1" lang="zh-CN" altLang="en-US" sz="2400" b="1" dirty="0">
                <a:latin typeface="+mn-lt"/>
                <a:ea typeface="华文楷体" panose="02010600040101010101" pitchFamily="2" charset="-122"/>
              </a:rPr>
              <a:t>，载荷</a:t>
            </a:r>
            <a:r>
              <a:rPr kumimoji="1" lang="en-US" altLang="zh-CN" sz="2400" b="1" i="1" dirty="0">
                <a:latin typeface="+mn-lt"/>
                <a:ea typeface="华文楷体" panose="02010600040101010101" pitchFamily="2" charset="-122"/>
              </a:rPr>
              <a:t>F</a:t>
            </a:r>
            <a:r>
              <a:rPr kumimoji="1" lang="zh-CN" altLang="en-US" sz="2400" b="1" dirty="0">
                <a:latin typeface="+mn-lt"/>
                <a:ea typeface="华文楷体" panose="02010600040101010101" pitchFamily="2" charset="-122"/>
              </a:rPr>
              <a:t>，</a:t>
            </a:r>
            <a:r>
              <a:rPr kumimoji="1" lang="en-US" altLang="zh-CN" sz="2400" i="1" dirty="0">
                <a:latin typeface="+mn-lt"/>
                <a:ea typeface="华文楷体" panose="02010600040101010101" pitchFamily="2" charset="-122"/>
              </a:rPr>
              <a:t>BCD</a:t>
            </a:r>
            <a:r>
              <a:rPr kumimoji="1" lang="zh-CN" altLang="en-US" sz="2400" b="1" dirty="0">
                <a:latin typeface="+mn-lt"/>
                <a:ea typeface="华文楷体" panose="02010600040101010101" pitchFamily="2" charset="-122"/>
              </a:rPr>
              <a:t>为刚体 </a:t>
            </a:r>
            <a:r>
              <a:rPr kumimoji="1" lang="en-US" altLang="zh-CN" sz="2400" b="1" dirty="0">
                <a:latin typeface="+mn-lt"/>
                <a:ea typeface="华文楷体" panose="02010600040101010101" pitchFamily="2" charset="-122"/>
              </a:rPr>
              <a:t>,</a:t>
            </a:r>
            <a:r>
              <a:rPr kumimoji="1" lang="zh-CN" altLang="en-US" sz="2400" b="1" dirty="0">
                <a:latin typeface="+mn-lt"/>
                <a:ea typeface="华文楷体" panose="02010600040101010101" pitchFamily="2" charset="-122"/>
              </a:rPr>
              <a:t>求两杆内力。</a:t>
            </a:r>
          </a:p>
        </p:txBody>
      </p:sp>
      <p:sp>
        <p:nvSpPr>
          <p:cNvPr id="147504" name="Text Box 48"/>
          <p:cNvSpPr txBox="1">
            <a:spLocks noChangeArrowheads="1"/>
          </p:cNvSpPr>
          <p:nvPr/>
        </p:nvSpPr>
        <p:spPr bwMode="auto">
          <a:xfrm>
            <a:off x="6732240" y="444310"/>
            <a:ext cx="1656184"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solidFill>
                  <a:srgbClr val="FF3399"/>
                </a:solidFill>
                <a:latin typeface="黑体" panose="02010609060101010101" pitchFamily="49" charset="-122"/>
                <a:ea typeface="黑体" panose="02010609060101010101" pitchFamily="49" charset="-122"/>
              </a:rPr>
              <a:t>课堂练习</a:t>
            </a:r>
          </a:p>
        </p:txBody>
      </p:sp>
      <p:sp>
        <p:nvSpPr>
          <p:cNvPr id="147509" name="Text Box 53"/>
          <p:cNvSpPr txBox="1">
            <a:spLocks noChangeArrowheads="1"/>
          </p:cNvSpPr>
          <p:nvPr/>
        </p:nvSpPr>
        <p:spPr bwMode="auto">
          <a:xfrm>
            <a:off x="4889535" y="1717567"/>
            <a:ext cx="20875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dirty="0">
                <a:solidFill>
                  <a:srgbClr val="0033CC"/>
                </a:solidFill>
                <a:ea typeface="华文楷体" panose="02010600040101010101" pitchFamily="2" charset="-122"/>
              </a:rPr>
              <a:t>平衡方程</a:t>
            </a:r>
          </a:p>
        </p:txBody>
      </p:sp>
      <p:graphicFrame>
        <p:nvGraphicFramePr>
          <p:cNvPr id="147513" name="Object 2"/>
          <p:cNvGraphicFramePr>
            <a:graphicFrameLocks noGrp="1" noChangeAspect="1"/>
          </p:cNvGraphicFramePr>
          <p:nvPr>
            <p:ph sz="quarter" idx="3"/>
            <p:extLst>
              <p:ext uri="{D42A27DB-BD31-4B8C-83A1-F6EECF244321}">
                <p14:modId xmlns:p14="http://schemas.microsoft.com/office/powerpoint/2010/main" val="2690531623"/>
              </p:ext>
            </p:extLst>
          </p:nvPr>
        </p:nvGraphicFramePr>
        <p:xfrm>
          <a:off x="6512875" y="1676495"/>
          <a:ext cx="2162616" cy="520299"/>
        </p:xfrm>
        <a:graphic>
          <a:graphicData uri="http://schemas.openxmlformats.org/presentationml/2006/ole">
            <mc:AlternateContent xmlns:mc="http://schemas.openxmlformats.org/markup-compatibility/2006">
              <mc:Choice xmlns:v="urn:schemas-microsoft-com:vml" Requires="v">
                <p:oleObj name="Equation" r:id="rId2" imgW="1054080" imgH="253800" progId="Equation.DSMT4">
                  <p:embed/>
                </p:oleObj>
              </mc:Choice>
              <mc:Fallback>
                <p:oleObj name="Equation" r:id="rId2" imgW="1054080" imgH="253800" progId="Equation.DSMT4">
                  <p:embed/>
                  <p:pic>
                    <p:nvPicPr>
                      <p:cNvPr id="0" name=""/>
                      <p:cNvPicPr>
                        <a:picLocks noChangeAspect="1" noChangeArrowheads="1"/>
                      </p:cNvPicPr>
                      <p:nvPr/>
                    </p:nvPicPr>
                    <p:blipFill>
                      <a:blip r:embed="rId3"/>
                      <a:srcRect/>
                      <a:stretch>
                        <a:fillRect/>
                      </a:stretch>
                    </p:blipFill>
                    <p:spPr bwMode="auto">
                      <a:xfrm>
                        <a:off x="6512875" y="1676495"/>
                        <a:ext cx="2162616" cy="520299"/>
                      </a:xfrm>
                      <a:prstGeom prst="rect">
                        <a:avLst/>
                      </a:prstGeom>
                      <a:noFill/>
                      <a:ln>
                        <a:noFill/>
                      </a:ln>
                      <a:effectLst/>
                    </p:spPr>
                  </p:pic>
                </p:oleObj>
              </mc:Fallback>
            </mc:AlternateContent>
          </a:graphicData>
        </a:graphic>
      </p:graphicFrame>
      <p:grpSp>
        <p:nvGrpSpPr>
          <p:cNvPr id="2" name="Group 102"/>
          <p:cNvGrpSpPr>
            <a:grpSpLocks/>
          </p:cNvGrpSpPr>
          <p:nvPr/>
        </p:nvGrpSpPr>
        <p:grpSpPr bwMode="auto">
          <a:xfrm>
            <a:off x="759193" y="1611486"/>
            <a:ext cx="4491038" cy="3105149"/>
            <a:chOff x="204" y="1348"/>
            <a:chExt cx="2829" cy="1956"/>
          </a:xfrm>
        </p:grpSpPr>
        <p:grpSp>
          <p:nvGrpSpPr>
            <p:cNvPr id="27667" name="Group 64"/>
            <p:cNvGrpSpPr>
              <a:grpSpLocks/>
            </p:cNvGrpSpPr>
            <p:nvPr/>
          </p:nvGrpSpPr>
          <p:grpSpPr bwMode="auto">
            <a:xfrm rot="-5400000">
              <a:off x="2426" y="2986"/>
              <a:ext cx="182" cy="453"/>
              <a:chOff x="657" y="1661"/>
              <a:chExt cx="182" cy="453"/>
            </a:xfrm>
          </p:grpSpPr>
          <p:grpSp>
            <p:nvGrpSpPr>
              <p:cNvPr id="27698" name="Group 65"/>
              <p:cNvGrpSpPr>
                <a:grpSpLocks/>
              </p:cNvGrpSpPr>
              <p:nvPr/>
            </p:nvGrpSpPr>
            <p:grpSpPr bwMode="auto">
              <a:xfrm>
                <a:off x="657" y="1661"/>
                <a:ext cx="91" cy="453"/>
                <a:chOff x="1156" y="1480"/>
                <a:chExt cx="91" cy="453"/>
              </a:xfrm>
            </p:grpSpPr>
            <p:sp>
              <p:nvSpPr>
                <p:cNvPr id="27700" name="Line 66"/>
                <p:cNvSpPr>
                  <a:spLocks noChangeShapeType="1"/>
                </p:cNvSpPr>
                <p:nvPr/>
              </p:nvSpPr>
              <p:spPr bwMode="auto">
                <a:xfrm>
                  <a:off x="1247" y="1480"/>
                  <a:ext cx="0" cy="45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701" name="Line 67"/>
                <p:cNvSpPr>
                  <a:spLocks noChangeShapeType="1"/>
                </p:cNvSpPr>
                <p:nvPr/>
              </p:nvSpPr>
              <p:spPr bwMode="auto">
                <a:xfrm flipH="1">
                  <a:off x="1156" y="1525"/>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702" name="Line 68"/>
                <p:cNvSpPr>
                  <a:spLocks noChangeShapeType="1"/>
                </p:cNvSpPr>
                <p:nvPr/>
              </p:nvSpPr>
              <p:spPr bwMode="auto">
                <a:xfrm flipH="1">
                  <a:off x="1156" y="1605"/>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703" name="Line 69"/>
                <p:cNvSpPr>
                  <a:spLocks noChangeShapeType="1"/>
                </p:cNvSpPr>
                <p:nvPr/>
              </p:nvSpPr>
              <p:spPr bwMode="auto">
                <a:xfrm flipH="1">
                  <a:off x="1156" y="1684"/>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704" name="Line 70"/>
                <p:cNvSpPr>
                  <a:spLocks noChangeShapeType="1"/>
                </p:cNvSpPr>
                <p:nvPr/>
              </p:nvSpPr>
              <p:spPr bwMode="auto">
                <a:xfrm flipH="1">
                  <a:off x="1156" y="1763"/>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705" name="Line 71"/>
                <p:cNvSpPr>
                  <a:spLocks noChangeShapeType="1"/>
                </p:cNvSpPr>
                <p:nvPr/>
              </p:nvSpPr>
              <p:spPr bwMode="auto">
                <a:xfrm flipH="1">
                  <a:off x="1156" y="1842"/>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7699" name="Oval 72"/>
              <p:cNvSpPr>
                <a:spLocks noChangeAspect="1" noChangeArrowheads="1"/>
              </p:cNvSpPr>
              <p:nvPr/>
            </p:nvSpPr>
            <p:spPr bwMode="auto">
              <a:xfrm>
                <a:off x="748" y="1842"/>
                <a:ext cx="91" cy="91"/>
              </a:xfrm>
              <a:prstGeom prst="ellipse">
                <a:avLst/>
              </a:prstGeom>
              <a:solidFill>
                <a:schemeClr val="accent1"/>
              </a:solidFill>
              <a:ln w="25400">
                <a:solidFill>
                  <a:srgbClr val="00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27668" name="Line 73"/>
            <p:cNvSpPr>
              <a:spLocks noChangeAspect="1" noChangeShapeType="1"/>
            </p:cNvSpPr>
            <p:nvPr/>
          </p:nvSpPr>
          <p:spPr bwMode="auto">
            <a:xfrm>
              <a:off x="385" y="1616"/>
              <a:ext cx="816"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9" name="Line 74"/>
            <p:cNvSpPr>
              <a:spLocks noChangeAspect="1" noChangeShapeType="1"/>
            </p:cNvSpPr>
            <p:nvPr/>
          </p:nvSpPr>
          <p:spPr bwMode="auto">
            <a:xfrm rot="-5400000">
              <a:off x="2109" y="2704"/>
              <a:ext cx="816"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0" name="AutoShape 75" descr="棕色大理石"/>
            <p:cNvSpPr>
              <a:spLocks noChangeArrowheads="1"/>
            </p:cNvSpPr>
            <p:nvPr/>
          </p:nvSpPr>
          <p:spPr bwMode="auto">
            <a:xfrm>
              <a:off x="1202" y="1616"/>
              <a:ext cx="1315" cy="681"/>
            </a:xfrm>
            <a:prstGeom prst="rtTriangle">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7671" name="Oval 76"/>
            <p:cNvSpPr>
              <a:spLocks noChangeAspect="1" noChangeArrowheads="1"/>
            </p:cNvSpPr>
            <p:nvPr/>
          </p:nvSpPr>
          <p:spPr bwMode="auto">
            <a:xfrm>
              <a:off x="1165" y="1570"/>
              <a:ext cx="91" cy="91"/>
            </a:xfrm>
            <a:prstGeom prst="ellipse">
              <a:avLst/>
            </a:prstGeom>
            <a:solidFill>
              <a:schemeClr val="accent1"/>
            </a:solidFill>
            <a:ln w="25400">
              <a:solidFill>
                <a:srgbClr val="00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7672" name="Oval 77"/>
            <p:cNvSpPr>
              <a:spLocks noChangeAspect="1" noChangeArrowheads="1"/>
            </p:cNvSpPr>
            <p:nvPr/>
          </p:nvSpPr>
          <p:spPr bwMode="auto">
            <a:xfrm>
              <a:off x="2471" y="2251"/>
              <a:ext cx="91" cy="91"/>
            </a:xfrm>
            <a:prstGeom prst="ellipse">
              <a:avLst/>
            </a:prstGeom>
            <a:solidFill>
              <a:schemeClr val="accent1"/>
            </a:solidFill>
            <a:ln w="25400">
              <a:solidFill>
                <a:srgbClr val="00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27673" name="Group 78"/>
            <p:cNvGrpSpPr>
              <a:grpSpLocks/>
            </p:cNvGrpSpPr>
            <p:nvPr/>
          </p:nvGrpSpPr>
          <p:grpSpPr bwMode="auto">
            <a:xfrm rot="-2852874">
              <a:off x="1065" y="2115"/>
              <a:ext cx="182" cy="453"/>
              <a:chOff x="657" y="1661"/>
              <a:chExt cx="182" cy="453"/>
            </a:xfrm>
          </p:grpSpPr>
          <p:grpSp>
            <p:nvGrpSpPr>
              <p:cNvPr id="27690" name="Group 79"/>
              <p:cNvGrpSpPr>
                <a:grpSpLocks/>
              </p:cNvGrpSpPr>
              <p:nvPr/>
            </p:nvGrpSpPr>
            <p:grpSpPr bwMode="auto">
              <a:xfrm>
                <a:off x="657" y="1661"/>
                <a:ext cx="91" cy="453"/>
                <a:chOff x="1156" y="1480"/>
                <a:chExt cx="91" cy="453"/>
              </a:xfrm>
            </p:grpSpPr>
            <p:sp>
              <p:nvSpPr>
                <p:cNvPr id="27692" name="Line 80"/>
                <p:cNvSpPr>
                  <a:spLocks noChangeShapeType="1"/>
                </p:cNvSpPr>
                <p:nvPr/>
              </p:nvSpPr>
              <p:spPr bwMode="auto">
                <a:xfrm>
                  <a:off x="1247" y="1480"/>
                  <a:ext cx="0" cy="45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93" name="Line 81"/>
                <p:cNvSpPr>
                  <a:spLocks noChangeShapeType="1"/>
                </p:cNvSpPr>
                <p:nvPr/>
              </p:nvSpPr>
              <p:spPr bwMode="auto">
                <a:xfrm flipH="1">
                  <a:off x="1156" y="1525"/>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94" name="Line 82"/>
                <p:cNvSpPr>
                  <a:spLocks noChangeShapeType="1"/>
                </p:cNvSpPr>
                <p:nvPr/>
              </p:nvSpPr>
              <p:spPr bwMode="auto">
                <a:xfrm flipH="1">
                  <a:off x="1156" y="1605"/>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95" name="Line 83"/>
                <p:cNvSpPr>
                  <a:spLocks noChangeShapeType="1"/>
                </p:cNvSpPr>
                <p:nvPr/>
              </p:nvSpPr>
              <p:spPr bwMode="auto">
                <a:xfrm flipH="1">
                  <a:off x="1156" y="1684"/>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96" name="Line 84"/>
                <p:cNvSpPr>
                  <a:spLocks noChangeShapeType="1"/>
                </p:cNvSpPr>
                <p:nvPr/>
              </p:nvSpPr>
              <p:spPr bwMode="auto">
                <a:xfrm flipH="1">
                  <a:off x="1156" y="1763"/>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97" name="Line 85"/>
                <p:cNvSpPr>
                  <a:spLocks noChangeShapeType="1"/>
                </p:cNvSpPr>
                <p:nvPr/>
              </p:nvSpPr>
              <p:spPr bwMode="auto">
                <a:xfrm flipH="1">
                  <a:off x="1156" y="1842"/>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7691" name="Oval 86"/>
              <p:cNvSpPr>
                <a:spLocks noChangeAspect="1" noChangeArrowheads="1"/>
              </p:cNvSpPr>
              <p:nvPr/>
            </p:nvSpPr>
            <p:spPr bwMode="auto">
              <a:xfrm>
                <a:off x="748" y="1842"/>
                <a:ext cx="91" cy="91"/>
              </a:xfrm>
              <a:prstGeom prst="ellipse">
                <a:avLst/>
              </a:prstGeom>
              <a:solidFill>
                <a:schemeClr val="accent1"/>
              </a:solidFill>
              <a:ln w="25400">
                <a:solidFill>
                  <a:srgbClr val="00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27674" name="Line 87"/>
            <p:cNvSpPr>
              <a:spLocks noChangeShapeType="1"/>
            </p:cNvSpPr>
            <p:nvPr/>
          </p:nvSpPr>
          <p:spPr bwMode="auto">
            <a:xfrm>
              <a:off x="1247" y="1616"/>
              <a:ext cx="499"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75" name="Text Box 88"/>
            <p:cNvSpPr txBox="1">
              <a:spLocks noChangeArrowheads="1"/>
            </p:cNvSpPr>
            <p:nvPr/>
          </p:nvSpPr>
          <p:spPr bwMode="auto">
            <a:xfrm>
              <a:off x="1738" y="1475"/>
              <a:ext cx="49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i="1" dirty="0">
                  <a:solidFill>
                    <a:srgbClr val="FF0000"/>
                  </a:solidFill>
                  <a:latin typeface="+mn-lt"/>
                </a:rPr>
                <a:t>F</a:t>
              </a:r>
            </a:p>
          </p:txBody>
        </p:sp>
        <p:sp>
          <p:nvSpPr>
            <p:cNvPr id="27676" name="Text Box 89"/>
            <p:cNvSpPr txBox="1">
              <a:spLocks noChangeArrowheads="1"/>
            </p:cNvSpPr>
            <p:nvPr/>
          </p:nvSpPr>
          <p:spPr bwMode="auto">
            <a:xfrm>
              <a:off x="657" y="1348"/>
              <a:ext cx="49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dirty="0">
                  <a:solidFill>
                    <a:srgbClr val="0033CC"/>
                  </a:solidFill>
                  <a:latin typeface="+mn-lt"/>
                </a:rPr>
                <a:t>a</a:t>
              </a:r>
            </a:p>
          </p:txBody>
        </p:sp>
        <p:sp>
          <p:nvSpPr>
            <p:cNvPr id="27677" name="Text Box 90"/>
            <p:cNvSpPr txBox="1">
              <a:spLocks noChangeArrowheads="1"/>
            </p:cNvSpPr>
            <p:nvPr/>
          </p:nvSpPr>
          <p:spPr bwMode="auto">
            <a:xfrm>
              <a:off x="2290" y="2568"/>
              <a:ext cx="49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dirty="0">
                  <a:solidFill>
                    <a:srgbClr val="0033CC"/>
                  </a:solidFill>
                  <a:latin typeface="+mn-lt"/>
                </a:rPr>
                <a:t>a</a:t>
              </a:r>
            </a:p>
          </p:txBody>
        </p:sp>
        <p:sp>
          <p:nvSpPr>
            <p:cNvPr id="27678" name="Text Box 91"/>
            <p:cNvSpPr txBox="1">
              <a:spLocks noChangeArrowheads="1"/>
            </p:cNvSpPr>
            <p:nvPr/>
          </p:nvSpPr>
          <p:spPr bwMode="auto">
            <a:xfrm>
              <a:off x="473" y="1620"/>
              <a:ext cx="49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33CC"/>
                  </a:solidFill>
                </a:rPr>
                <a:t>1</a:t>
              </a:r>
              <a:r>
                <a:rPr lang="zh-CN" altLang="en-US" b="1" dirty="0">
                  <a:solidFill>
                    <a:srgbClr val="0033CC"/>
                  </a:solidFill>
                  <a:latin typeface="楷体" panose="02010609060101010101" pitchFamily="49" charset="-122"/>
                  <a:ea typeface="楷体" panose="02010609060101010101" pitchFamily="49" charset="-122"/>
                </a:rPr>
                <a:t>杆</a:t>
              </a:r>
            </a:p>
          </p:txBody>
        </p:sp>
        <p:sp>
          <p:nvSpPr>
            <p:cNvPr id="27679" name="Text Box 92"/>
            <p:cNvSpPr txBox="1">
              <a:spLocks noChangeArrowheads="1"/>
            </p:cNvSpPr>
            <p:nvPr/>
          </p:nvSpPr>
          <p:spPr bwMode="auto">
            <a:xfrm>
              <a:off x="2534" y="2799"/>
              <a:ext cx="49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33CC"/>
                  </a:solidFill>
                </a:rPr>
                <a:t>2</a:t>
              </a:r>
              <a:r>
                <a:rPr lang="zh-CN" altLang="en-US" b="1" dirty="0">
                  <a:solidFill>
                    <a:srgbClr val="0033CC"/>
                  </a:solidFill>
                  <a:latin typeface="楷体" panose="02010609060101010101" pitchFamily="49" charset="-122"/>
                  <a:ea typeface="楷体" panose="02010609060101010101" pitchFamily="49" charset="-122"/>
                </a:rPr>
                <a:t>杆</a:t>
              </a:r>
            </a:p>
          </p:txBody>
        </p:sp>
        <p:grpSp>
          <p:nvGrpSpPr>
            <p:cNvPr id="27680" name="Group 93"/>
            <p:cNvGrpSpPr>
              <a:grpSpLocks/>
            </p:cNvGrpSpPr>
            <p:nvPr/>
          </p:nvGrpSpPr>
          <p:grpSpPr bwMode="auto">
            <a:xfrm>
              <a:off x="204" y="1389"/>
              <a:ext cx="182" cy="453"/>
              <a:chOff x="657" y="1661"/>
              <a:chExt cx="182" cy="453"/>
            </a:xfrm>
          </p:grpSpPr>
          <p:grpSp>
            <p:nvGrpSpPr>
              <p:cNvPr id="27682" name="Group 94"/>
              <p:cNvGrpSpPr>
                <a:grpSpLocks/>
              </p:cNvGrpSpPr>
              <p:nvPr/>
            </p:nvGrpSpPr>
            <p:grpSpPr bwMode="auto">
              <a:xfrm>
                <a:off x="657" y="1661"/>
                <a:ext cx="91" cy="453"/>
                <a:chOff x="1156" y="1480"/>
                <a:chExt cx="91" cy="453"/>
              </a:xfrm>
            </p:grpSpPr>
            <p:sp>
              <p:nvSpPr>
                <p:cNvPr id="27684" name="Line 95"/>
                <p:cNvSpPr>
                  <a:spLocks noChangeShapeType="1"/>
                </p:cNvSpPr>
                <p:nvPr/>
              </p:nvSpPr>
              <p:spPr bwMode="auto">
                <a:xfrm>
                  <a:off x="1247" y="1480"/>
                  <a:ext cx="0" cy="45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85" name="Line 96"/>
                <p:cNvSpPr>
                  <a:spLocks noChangeShapeType="1"/>
                </p:cNvSpPr>
                <p:nvPr/>
              </p:nvSpPr>
              <p:spPr bwMode="auto">
                <a:xfrm flipH="1">
                  <a:off x="1156" y="1525"/>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86" name="Line 97"/>
                <p:cNvSpPr>
                  <a:spLocks noChangeShapeType="1"/>
                </p:cNvSpPr>
                <p:nvPr/>
              </p:nvSpPr>
              <p:spPr bwMode="auto">
                <a:xfrm flipH="1">
                  <a:off x="1156" y="1605"/>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87" name="Line 98"/>
                <p:cNvSpPr>
                  <a:spLocks noChangeShapeType="1"/>
                </p:cNvSpPr>
                <p:nvPr/>
              </p:nvSpPr>
              <p:spPr bwMode="auto">
                <a:xfrm flipH="1">
                  <a:off x="1156" y="1684"/>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88" name="Line 99"/>
                <p:cNvSpPr>
                  <a:spLocks noChangeShapeType="1"/>
                </p:cNvSpPr>
                <p:nvPr/>
              </p:nvSpPr>
              <p:spPr bwMode="auto">
                <a:xfrm flipH="1">
                  <a:off x="1156" y="1763"/>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89" name="Line 100"/>
                <p:cNvSpPr>
                  <a:spLocks noChangeShapeType="1"/>
                </p:cNvSpPr>
                <p:nvPr/>
              </p:nvSpPr>
              <p:spPr bwMode="auto">
                <a:xfrm flipH="1">
                  <a:off x="1156" y="1842"/>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7683" name="Oval 101"/>
              <p:cNvSpPr>
                <a:spLocks noChangeAspect="1" noChangeArrowheads="1"/>
              </p:cNvSpPr>
              <p:nvPr/>
            </p:nvSpPr>
            <p:spPr bwMode="auto">
              <a:xfrm>
                <a:off x="748" y="1842"/>
                <a:ext cx="91" cy="91"/>
              </a:xfrm>
              <a:prstGeom prst="ellipse">
                <a:avLst/>
              </a:prstGeom>
              <a:solidFill>
                <a:schemeClr val="accent1"/>
              </a:solidFill>
              <a:ln w="25400">
                <a:solidFill>
                  <a:srgbClr val="00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aphicFrame>
          <p:nvGraphicFramePr>
            <p:cNvPr id="27681" name="Object 8"/>
            <p:cNvGraphicFramePr>
              <a:graphicFrameLocks noChangeAspect="1"/>
            </p:cNvGraphicFramePr>
            <p:nvPr>
              <p:extLst>
                <p:ext uri="{D42A27DB-BD31-4B8C-83A1-F6EECF244321}">
                  <p14:modId xmlns:p14="http://schemas.microsoft.com/office/powerpoint/2010/main" val="1344169536"/>
                </p:ext>
              </p:extLst>
            </p:nvPr>
          </p:nvGraphicFramePr>
          <p:xfrm>
            <a:off x="2100" y="2140"/>
            <a:ext cx="217" cy="152"/>
          </p:xfrm>
          <a:graphic>
            <a:graphicData uri="http://schemas.openxmlformats.org/presentationml/2006/ole">
              <mc:AlternateContent xmlns:mc="http://schemas.openxmlformats.org/markup-compatibility/2006">
                <mc:Choice xmlns:v="urn:schemas-microsoft-com:vml" Requires="v">
                  <p:oleObj name="Equation" r:id="rId5" imgW="243768" imgH="167616" progId="Equation.DSMT4">
                    <p:embed/>
                  </p:oleObj>
                </mc:Choice>
                <mc:Fallback>
                  <p:oleObj name="Equation" r:id="rId5" imgW="243768" imgH="167616"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00" y="2140"/>
                          <a:ext cx="217" cy="1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47559" name="Text Box 103"/>
          <p:cNvSpPr txBox="1">
            <a:spLocks noChangeArrowheads="1"/>
          </p:cNvSpPr>
          <p:nvPr/>
        </p:nvSpPr>
        <p:spPr bwMode="auto">
          <a:xfrm>
            <a:off x="4943146" y="2626096"/>
            <a:ext cx="20875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dirty="0">
                <a:solidFill>
                  <a:srgbClr val="0033CC"/>
                </a:solidFill>
                <a:ea typeface="华文楷体" panose="02010600040101010101" pitchFamily="2" charset="-122"/>
              </a:rPr>
              <a:t>变形方程</a:t>
            </a:r>
          </a:p>
        </p:txBody>
      </p:sp>
      <p:graphicFrame>
        <p:nvGraphicFramePr>
          <p:cNvPr id="147560" name="Object 5"/>
          <p:cNvGraphicFramePr>
            <a:graphicFrameLocks noChangeAspect="1"/>
          </p:cNvGraphicFramePr>
          <p:nvPr>
            <p:extLst>
              <p:ext uri="{D42A27DB-BD31-4B8C-83A1-F6EECF244321}">
                <p14:modId xmlns:p14="http://schemas.microsoft.com/office/powerpoint/2010/main" val="2315270389"/>
              </p:ext>
            </p:extLst>
          </p:nvPr>
        </p:nvGraphicFramePr>
        <p:xfrm>
          <a:off x="6540326" y="2424965"/>
          <a:ext cx="2001837" cy="928688"/>
        </p:xfrm>
        <a:graphic>
          <a:graphicData uri="http://schemas.openxmlformats.org/presentationml/2006/ole">
            <mc:AlternateContent xmlns:mc="http://schemas.openxmlformats.org/markup-compatibility/2006">
              <mc:Choice xmlns:v="urn:schemas-microsoft-com:vml" Requires="v">
                <p:oleObj name="Equation" r:id="rId7" imgW="1015920" imgH="444240" progId="Equation.DSMT4">
                  <p:embed/>
                </p:oleObj>
              </mc:Choice>
              <mc:Fallback>
                <p:oleObj name="Equation" r:id="rId7" imgW="1015920" imgH="444240" progId="Equation.DSMT4">
                  <p:embed/>
                  <p:pic>
                    <p:nvPicPr>
                      <p:cNvPr id="0" name=""/>
                      <p:cNvPicPr>
                        <a:picLocks noChangeAspect="1" noChangeArrowheads="1"/>
                      </p:cNvPicPr>
                      <p:nvPr/>
                    </p:nvPicPr>
                    <p:blipFill>
                      <a:blip r:embed="rId8"/>
                      <a:srcRect/>
                      <a:stretch>
                        <a:fillRect/>
                      </a:stretch>
                    </p:blipFill>
                    <p:spPr bwMode="auto">
                      <a:xfrm>
                        <a:off x="6540326" y="2424965"/>
                        <a:ext cx="2001837" cy="928688"/>
                      </a:xfrm>
                      <a:prstGeom prst="rect">
                        <a:avLst/>
                      </a:prstGeom>
                      <a:noFill/>
                      <a:ln>
                        <a:noFill/>
                      </a:ln>
                      <a:effectLst/>
                    </p:spPr>
                  </p:pic>
                </p:oleObj>
              </mc:Fallback>
            </mc:AlternateContent>
          </a:graphicData>
        </a:graphic>
      </p:graphicFrame>
      <p:grpSp>
        <p:nvGrpSpPr>
          <p:cNvPr id="9" name="Group 109"/>
          <p:cNvGrpSpPr>
            <a:grpSpLocks/>
          </p:cNvGrpSpPr>
          <p:nvPr/>
        </p:nvGrpSpPr>
        <p:grpSpPr bwMode="auto">
          <a:xfrm>
            <a:off x="2379236" y="2058859"/>
            <a:ext cx="2087563" cy="1584325"/>
            <a:chOff x="1202" y="1616"/>
            <a:chExt cx="1315" cy="998"/>
          </a:xfrm>
        </p:grpSpPr>
        <p:grpSp>
          <p:nvGrpSpPr>
            <p:cNvPr id="27663" name="Group 107"/>
            <p:cNvGrpSpPr>
              <a:grpSpLocks/>
            </p:cNvGrpSpPr>
            <p:nvPr/>
          </p:nvGrpSpPr>
          <p:grpSpPr bwMode="auto">
            <a:xfrm>
              <a:off x="1202" y="1616"/>
              <a:ext cx="1315" cy="998"/>
              <a:chOff x="1202" y="1616"/>
              <a:chExt cx="1315" cy="998"/>
            </a:xfrm>
          </p:grpSpPr>
          <p:sp>
            <p:nvSpPr>
              <p:cNvPr id="27665" name="Line 105"/>
              <p:cNvSpPr>
                <a:spLocks noChangeShapeType="1"/>
              </p:cNvSpPr>
              <p:nvPr/>
            </p:nvSpPr>
            <p:spPr bwMode="auto">
              <a:xfrm flipH="1">
                <a:off x="1202" y="1616"/>
                <a:ext cx="181" cy="635"/>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6" name="Line 106"/>
              <p:cNvSpPr>
                <a:spLocks noChangeShapeType="1"/>
              </p:cNvSpPr>
              <p:nvPr/>
            </p:nvSpPr>
            <p:spPr bwMode="auto">
              <a:xfrm>
                <a:off x="1202" y="2251"/>
                <a:ext cx="1315" cy="363"/>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7664" name="Line 108"/>
            <p:cNvSpPr>
              <a:spLocks noChangeShapeType="1"/>
            </p:cNvSpPr>
            <p:nvPr/>
          </p:nvSpPr>
          <p:spPr bwMode="auto">
            <a:xfrm>
              <a:off x="1383" y="1616"/>
              <a:ext cx="1134" cy="998"/>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147566" name="Object 6"/>
          <p:cNvGraphicFramePr>
            <a:graphicFrameLocks noChangeAspect="1"/>
          </p:cNvGraphicFramePr>
          <p:nvPr>
            <p:extLst>
              <p:ext uri="{D42A27DB-BD31-4B8C-83A1-F6EECF244321}">
                <p14:modId xmlns:p14="http://schemas.microsoft.com/office/powerpoint/2010/main" val="3778342537"/>
              </p:ext>
            </p:extLst>
          </p:nvPr>
        </p:nvGraphicFramePr>
        <p:xfrm>
          <a:off x="6051996" y="4182725"/>
          <a:ext cx="1360488" cy="842962"/>
        </p:xfrm>
        <a:graphic>
          <a:graphicData uri="http://schemas.openxmlformats.org/presentationml/2006/ole">
            <mc:AlternateContent xmlns:mc="http://schemas.openxmlformats.org/markup-compatibility/2006">
              <mc:Choice xmlns:v="urn:schemas-microsoft-com:vml" Requires="v">
                <p:oleObj name="Equation" r:id="rId9" imgW="634680" imgH="393480" progId="Equation.DSMT4">
                  <p:embed/>
                </p:oleObj>
              </mc:Choice>
              <mc:Fallback>
                <p:oleObj name="Equation" r:id="rId9" imgW="634680" imgH="393480" progId="Equation.DSMT4">
                  <p:embed/>
                  <p:pic>
                    <p:nvPicPr>
                      <p:cNvPr id="0" name=""/>
                      <p:cNvPicPr>
                        <a:picLocks noChangeAspect="1" noChangeArrowheads="1"/>
                      </p:cNvPicPr>
                      <p:nvPr/>
                    </p:nvPicPr>
                    <p:blipFill>
                      <a:blip r:embed="rId10"/>
                      <a:srcRect/>
                      <a:stretch>
                        <a:fillRect/>
                      </a:stretch>
                    </p:blipFill>
                    <p:spPr bwMode="auto">
                      <a:xfrm>
                        <a:off x="6051996" y="4182725"/>
                        <a:ext cx="1360488" cy="842962"/>
                      </a:xfrm>
                      <a:prstGeom prst="rect">
                        <a:avLst/>
                      </a:prstGeom>
                      <a:noFill/>
                      <a:ln>
                        <a:noFill/>
                      </a:ln>
                      <a:effectLst/>
                    </p:spPr>
                  </p:pic>
                </p:oleObj>
              </mc:Fallback>
            </mc:AlternateContent>
          </a:graphicData>
        </a:graphic>
      </p:graphicFrame>
      <p:graphicFrame>
        <p:nvGraphicFramePr>
          <p:cNvPr id="147567" name="Object 7"/>
          <p:cNvGraphicFramePr>
            <a:graphicFrameLocks noChangeAspect="1"/>
          </p:cNvGraphicFramePr>
          <p:nvPr>
            <p:extLst>
              <p:ext uri="{D42A27DB-BD31-4B8C-83A1-F6EECF244321}">
                <p14:modId xmlns:p14="http://schemas.microsoft.com/office/powerpoint/2010/main" val="3142429529"/>
              </p:ext>
            </p:extLst>
          </p:nvPr>
        </p:nvGraphicFramePr>
        <p:xfrm>
          <a:off x="6056729" y="5132477"/>
          <a:ext cx="1452563" cy="868362"/>
        </p:xfrm>
        <a:graphic>
          <a:graphicData uri="http://schemas.openxmlformats.org/presentationml/2006/ole">
            <mc:AlternateContent xmlns:mc="http://schemas.openxmlformats.org/markup-compatibility/2006">
              <mc:Choice xmlns:v="urn:schemas-microsoft-com:vml" Requires="v">
                <p:oleObj name="Equation" r:id="rId11" imgW="761760" imgH="431640" progId="Equation.DSMT4">
                  <p:embed/>
                </p:oleObj>
              </mc:Choice>
              <mc:Fallback>
                <p:oleObj name="Equation" r:id="rId11" imgW="761760" imgH="431640" progId="Equation.DSMT4">
                  <p:embed/>
                  <p:pic>
                    <p:nvPicPr>
                      <p:cNvPr id="0" name=""/>
                      <p:cNvPicPr>
                        <a:picLocks noChangeAspect="1" noChangeArrowheads="1"/>
                      </p:cNvPicPr>
                      <p:nvPr/>
                    </p:nvPicPr>
                    <p:blipFill>
                      <a:blip r:embed="rId12"/>
                      <a:srcRect/>
                      <a:stretch>
                        <a:fillRect/>
                      </a:stretch>
                    </p:blipFill>
                    <p:spPr bwMode="auto">
                      <a:xfrm>
                        <a:off x="6056729" y="5132477"/>
                        <a:ext cx="1452563" cy="868362"/>
                      </a:xfrm>
                      <a:prstGeom prst="rect">
                        <a:avLst/>
                      </a:prstGeom>
                      <a:noFill/>
                      <a:ln>
                        <a:noFill/>
                      </a:ln>
                      <a:effectLst/>
                    </p:spPr>
                  </p:pic>
                </p:oleObj>
              </mc:Fallback>
            </mc:AlternateContent>
          </a:graphicData>
        </a:graphic>
      </p:graphicFrame>
      <p:sp>
        <p:nvSpPr>
          <p:cNvPr id="58" name="Text Box 88"/>
          <p:cNvSpPr txBox="1">
            <a:spLocks noChangeArrowheads="1"/>
          </p:cNvSpPr>
          <p:nvPr/>
        </p:nvSpPr>
        <p:spPr bwMode="auto">
          <a:xfrm>
            <a:off x="2258587" y="1585854"/>
            <a:ext cx="350046"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dirty="0">
                <a:latin typeface="+mn-lt"/>
              </a:rPr>
              <a:t>B</a:t>
            </a:r>
          </a:p>
        </p:txBody>
      </p:sp>
      <p:sp>
        <p:nvSpPr>
          <p:cNvPr id="59" name="Text Box 88"/>
          <p:cNvSpPr txBox="1">
            <a:spLocks noChangeArrowheads="1"/>
          </p:cNvSpPr>
          <p:nvPr/>
        </p:nvSpPr>
        <p:spPr bwMode="auto">
          <a:xfrm>
            <a:off x="2005380" y="2652291"/>
            <a:ext cx="43788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dirty="0">
                <a:latin typeface="+mn-lt"/>
              </a:rPr>
              <a:t>C</a:t>
            </a:r>
          </a:p>
        </p:txBody>
      </p:sp>
      <p:sp>
        <p:nvSpPr>
          <p:cNvPr id="60" name="Text Box 88"/>
          <p:cNvSpPr txBox="1">
            <a:spLocks noChangeArrowheads="1"/>
          </p:cNvSpPr>
          <p:nvPr/>
        </p:nvSpPr>
        <p:spPr bwMode="auto">
          <a:xfrm>
            <a:off x="4264393" y="2669158"/>
            <a:ext cx="7921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dirty="0">
                <a:latin typeface="+mn-lt"/>
              </a:rPr>
              <a:t>D</a:t>
            </a:r>
          </a:p>
        </p:txBody>
      </p:sp>
      <p:grpSp>
        <p:nvGrpSpPr>
          <p:cNvPr id="3" name="组合 2"/>
          <p:cNvGrpSpPr/>
          <p:nvPr/>
        </p:nvGrpSpPr>
        <p:grpSpPr>
          <a:xfrm>
            <a:off x="421280" y="4215986"/>
            <a:ext cx="3384207" cy="2069694"/>
            <a:chOff x="603664" y="4166870"/>
            <a:chExt cx="3384207" cy="2069694"/>
          </a:xfrm>
        </p:grpSpPr>
        <p:sp>
          <p:nvSpPr>
            <p:cNvPr id="61" name="AutoShape 75" descr="棕色大理石"/>
            <p:cNvSpPr>
              <a:spLocks noChangeArrowheads="1"/>
            </p:cNvSpPr>
            <p:nvPr/>
          </p:nvSpPr>
          <p:spPr bwMode="auto">
            <a:xfrm>
              <a:off x="1642698" y="4568537"/>
              <a:ext cx="2087563" cy="1081087"/>
            </a:xfrm>
            <a:prstGeom prst="rtTriangle">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2" name="Line 87"/>
            <p:cNvSpPr>
              <a:spLocks noChangeShapeType="1"/>
            </p:cNvSpPr>
            <p:nvPr/>
          </p:nvSpPr>
          <p:spPr bwMode="auto">
            <a:xfrm>
              <a:off x="1642698" y="4568537"/>
              <a:ext cx="792163"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 name="Text Box 88"/>
            <p:cNvSpPr txBox="1">
              <a:spLocks noChangeArrowheads="1"/>
            </p:cNvSpPr>
            <p:nvPr/>
          </p:nvSpPr>
          <p:spPr bwMode="auto">
            <a:xfrm>
              <a:off x="2394933" y="4396009"/>
              <a:ext cx="7921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i="1" dirty="0">
                  <a:solidFill>
                    <a:srgbClr val="FF0000"/>
                  </a:solidFill>
                  <a:latin typeface="+mn-lt"/>
                </a:rPr>
                <a:t>F</a:t>
              </a:r>
            </a:p>
          </p:txBody>
        </p:sp>
        <p:sp>
          <p:nvSpPr>
            <p:cNvPr id="64" name="Line 87"/>
            <p:cNvSpPr>
              <a:spLocks noChangeShapeType="1"/>
            </p:cNvSpPr>
            <p:nvPr/>
          </p:nvSpPr>
          <p:spPr bwMode="auto">
            <a:xfrm rot="16200000">
              <a:off x="3391309" y="5930564"/>
              <a:ext cx="612000"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 name="Line 87"/>
            <p:cNvSpPr>
              <a:spLocks noChangeShapeType="1"/>
            </p:cNvSpPr>
            <p:nvPr/>
          </p:nvSpPr>
          <p:spPr bwMode="auto">
            <a:xfrm rot="10800000">
              <a:off x="1048703" y="4568537"/>
              <a:ext cx="612000"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6" name="Text Box 88"/>
            <p:cNvSpPr txBox="1">
              <a:spLocks noChangeArrowheads="1"/>
            </p:cNvSpPr>
            <p:nvPr/>
          </p:nvSpPr>
          <p:spPr bwMode="auto">
            <a:xfrm>
              <a:off x="603664" y="4415168"/>
              <a:ext cx="7921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i="1" dirty="0">
                  <a:solidFill>
                    <a:srgbClr val="FF0000"/>
                  </a:solidFill>
                  <a:latin typeface="+mn-lt"/>
                </a:rPr>
                <a:t>F</a:t>
              </a:r>
              <a:r>
                <a:rPr lang="en-US" altLang="zh-CN" b="1" baseline="-25000" dirty="0">
                  <a:solidFill>
                    <a:srgbClr val="FF0000"/>
                  </a:solidFill>
                  <a:latin typeface="+mn-lt"/>
                </a:rPr>
                <a:t>N1</a:t>
              </a:r>
            </a:p>
          </p:txBody>
        </p:sp>
        <p:sp>
          <p:nvSpPr>
            <p:cNvPr id="67" name="Text Box 88"/>
            <p:cNvSpPr txBox="1">
              <a:spLocks noChangeArrowheads="1"/>
            </p:cNvSpPr>
            <p:nvPr/>
          </p:nvSpPr>
          <p:spPr bwMode="auto">
            <a:xfrm>
              <a:off x="3069608" y="5649624"/>
              <a:ext cx="7921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i="1" dirty="0">
                  <a:solidFill>
                    <a:srgbClr val="FF0000"/>
                  </a:solidFill>
                  <a:latin typeface="+mn-lt"/>
                </a:rPr>
                <a:t>F</a:t>
              </a:r>
              <a:r>
                <a:rPr lang="en-US" altLang="zh-CN" b="1" baseline="-25000" dirty="0">
                  <a:solidFill>
                    <a:srgbClr val="FF0000"/>
                  </a:solidFill>
                  <a:latin typeface="+mn-lt"/>
                </a:rPr>
                <a:t>N2</a:t>
              </a:r>
            </a:p>
          </p:txBody>
        </p:sp>
        <p:sp>
          <p:nvSpPr>
            <p:cNvPr id="68" name="Line 79"/>
            <p:cNvSpPr>
              <a:spLocks noChangeShapeType="1"/>
            </p:cNvSpPr>
            <p:nvPr/>
          </p:nvSpPr>
          <p:spPr bwMode="auto">
            <a:xfrm flipV="1">
              <a:off x="1640276" y="5278528"/>
              <a:ext cx="0" cy="381000"/>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69" name="Line 79"/>
            <p:cNvSpPr>
              <a:spLocks noChangeShapeType="1"/>
            </p:cNvSpPr>
            <p:nvPr/>
          </p:nvSpPr>
          <p:spPr bwMode="auto">
            <a:xfrm rot="5400000" flipH="1" flipV="1">
              <a:off x="1828728" y="5469028"/>
              <a:ext cx="0" cy="381000"/>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70" name="Text Box 82"/>
            <p:cNvSpPr txBox="1">
              <a:spLocks noChangeArrowheads="1"/>
            </p:cNvSpPr>
            <p:nvPr/>
          </p:nvSpPr>
          <p:spPr bwMode="auto">
            <a:xfrm>
              <a:off x="1838762" y="5625160"/>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400" b="1" i="1" dirty="0" err="1">
                  <a:solidFill>
                    <a:srgbClr val="FF0000"/>
                  </a:solidFill>
                  <a:latin typeface="Times New Roman" panose="02020603050405020304" pitchFamily="18" charset="0"/>
                  <a:ea typeface="宋体" panose="02010600030101010101" pitchFamily="2" charset="-122"/>
                </a:rPr>
                <a:t>F</a:t>
              </a:r>
              <a:r>
                <a:rPr kumimoji="1" lang="en-US" altLang="zh-CN" sz="2400" b="1" i="1" baseline="-25000" dirty="0" err="1">
                  <a:solidFill>
                    <a:srgbClr val="FF0000"/>
                  </a:solidFill>
                  <a:latin typeface="Times New Roman" panose="02020603050405020304" pitchFamily="18" charset="0"/>
                  <a:ea typeface="宋体" panose="02010600030101010101" pitchFamily="2" charset="-122"/>
                </a:rPr>
                <a:t>x</a:t>
              </a:r>
              <a:endParaRPr kumimoji="1" lang="en-US" altLang="zh-CN" sz="2400" b="1" i="1" baseline="-25000" dirty="0">
                <a:solidFill>
                  <a:srgbClr val="FF0000"/>
                </a:solidFill>
                <a:latin typeface="Times New Roman" panose="02020603050405020304" pitchFamily="18" charset="0"/>
                <a:ea typeface="宋体" panose="02010600030101010101" pitchFamily="2" charset="-122"/>
              </a:endParaRPr>
            </a:p>
          </p:txBody>
        </p:sp>
        <p:sp>
          <p:nvSpPr>
            <p:cNvPr id="71" name="Text Box 82"/>
            <p:cNvSpPr txBox="1">
              <a:spLocks noChangeArrowheads="1"/>
            </p:cNvSpPr>
            <p:nvPr/>
          </p:nvSpPr>
          <p:spPr bwMode="auto">
            <a:xfrm>
              <a:off x="1168383" y="5007363"/>
              <a:ext cx="4812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400" b="1" i="1" dirty="0" err="1">
                  <a:solidFill>
                    <a:srgbClr val="FF0000"/>
                  </a:solidFill>
                  <a:latin typeface="Times New Roman" panose="02020603050405020304" pitchFamily="18" charset="0"/>
                  <a:ea typeface="宋体" panose="02010600030101010101" pitchFamily="2" charset="-122"/>
                </a:rPr>
                <a:t>F</a:t>
              </a:r>
              <a:r>
                <a:rPr kumimoji="1" lang="en-US" altLang="zh-CN" sz="2400" b="1" i="1" baseline="-25000" dirty="0" err="1">
                  <a:solidFill>
                    <a:srgbClr val="FF0000"/>
                  </a:solidFill>
                  <a:latin typeface="Times New Roman" panose="02020603050405020304" pitchFamily="18" charset="0"/>
                  <a:ea typeface="宋体" panose="02010600030101010101" pitchFamily="2" charset="-122"/>
                </a:rPr>
                <a:t>y</a:t>
              </a:r>
              <a:endParaRPr kumimoji="1" lang="en-US" altLang="zh-CN" sz="2400" b="1" i="1" baseline="-25000" dirty="0">
                <a:solidFill>
                  <a:srgbClr val="FF0000"/>
                </a:solidFill>
                <a:latin typeface="Times New Roman" panose="02020603050405020304" pitchFamily="18" charset="0"/>
                <a:ea typeface="宋体" panose="02010600030101010101" pitchFamily="2" charset="-122"/>
              </a:endParaRPr>
            </a:p>
          </p:txBody>
        </p:sp>
        <p:sp>
          <p:nvSpPr>
            <p:cNvPr id="72" name="Text Box 88"/>
            <p:cNvSpPr txBox="1">
              <a:spLocks noChangeArrowheads="1"/>
            </p:cNvSpPr>
            <p:nvPr/>
          </p:nvSpPr>
          <p:spPr bwMode="auto">
            <a:xfrm>
              <a:off x="1489650" y="4166870"/>
              <a:ext cx="350046"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dirty="0">
                  <a:latin typeface="+mn-lt"/>
                </a:rPr>
                <a:t>B</a:t>
              </a:r>
            </a:p>
          </p:txBody>
        </p:sp>
        <p:sp>
          <p:nvSpPr>
            <p:cNvPr id="73" name="Text Box 88"/>
            <p:cNvSpPr txBox="1">
              <a:spLocks noChangeArrowheads="1"/>
            </p:cNvSpPr>
            <p:nvPr/>
          </p:nvSpPr>
          <p:spPr bwMode="auto">
            <a:xfrm>
              <a:off x="1269896" y="5508941"/>
              <a:ext cx="43788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dirty="0">
                  <a:latin typeface="+mn-lt"/>
                </a:rPr>
                <a:t>C</a:t>
              </a:r>
            </a:p>
          </p:txBody>
        </p:sp>
        <p:sp>
          <p:nvSpPr>
            <p:cNvPr id="74" name="Text Box 88"/>
            <p:cNvSpPr txBox="1">
              <a:spLocks noChangeArrowheads="1"/>
            </p:cNvSpPr>
            <p:nvPr/>
          </p:nvSpPr>
          <p:spPr bwMode="auto">
            <a:xfrm>
              <a:off x="3547274" y="5220879"/>
              <a:ext cx="44059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dirty="0">
                  <a:latin typeface="+mn-lt"/>
                </a:rPr>
                <a:t>D</a:t>
              </a:r>
            </a:p>
          </p:txBody>
        </p:sp>
      </p:grpSp>
    </p:spTree>
    <p:extLst>
      <p:ext uri="{BB962C8B-B14F-4D97-AF65-F5344CB8AC3E}">
        <p14:creationId xmlns:p14="http://schemas.microsoft.com/office/powerpoint/2010/main" val="4181425720"/>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47509"/>
                                        </p:tgtEl>
                                        <p:attrNameLst>
                                          <p:attrName>style.visibility</p:attrName>
                                        </p:attrNameLst>
                                      </p:cBhvr>
                                      <p:to>
                                        <p:strVal val="visible"/>
                                      </p:to>
                                    </p:set>
                                    <p:animEffect transition="in" filter="slide(fromBottom)">
                                      <p:cBhvr>
                                        <p:cTn id="12" dur="500"/>
                                        <p:tgtEl>
                                          <p:spTgt spid="147509"/>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147513"/>
                                        </p:tgtEl>
                                        <p:attrNameLst>
                                          <p:attrName>style.visibility</p:attrName>
                                        </p:attrNameLst>
                                      </p:cBhvr>
                                      <p:to>
                                        <p:strVal val="visible"/>
                                      </p:to>
                                    </p:set>
                                    <p:animEffect transition="in" filter="slide(fromBottom)">
                                      <p:cBhvr>
                                        <p:cTn id="17" dur="500"/>
                                        <p:tgtEl>
                                          <p:spTgt spid="147513"/>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47559"/>
                                        </p:tgtEl>
                                        <p:attrNameLst>
                                          <p:attrName>style.visibility</p:attrName>
                                        </p:attrNameLst>
                                      </p:cBhvr>
                                      <p:to>
                                        <p:strVal val="visible"/>
                                      </p:to>
                                    </p:set>
                                    <p:animEffect transition="in" filter="slide(fromBottom)">
                                      <p:cBhvr>
                                        <p:cTn id="22" dur="500"/>
                                        <p:tgtEl>
                                          <p:spTgt spid="147559"/>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slide(fromBottom)">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nodeType="clickEffect">
                                  <p:stCondLst>
                                    <p:cond delay="0"/>
                                  </p:stCondLst>
                                  <p:childTnLst>
                                    <p:set>
                                      <p:cBhvr>
                                        <p:cTn id="31" dur="1" fill="hold">
                                          <p:stCondLst>
                                            <p:cond delay="0"/>
                                          </p:stCondLst>
                                        </p:cTn>
                                        <p:tgtEl>
                                          <p:spTgt spid="147560"/>
                                        </p:tgtEl>
                                        <p:attrNameLst>
                                          <p:attrName>style.visibility</p:attrName>
                                        </p:attrNameLst>
                                      </p:cBhvr>
                                      <p:to>
                                        <p:strVal val="visible"/>
                                      </p:to>
                                    </p:set>
                                    <p:animEffect transition="in" filter="slide(fromBottom)">
                                      <p:cBhvr>
                                        <p:cTn id="32" dur="500"/>
                                        <p:tgtEl>
                                          <p:spTgt spid="147560"/>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nodeType="clickEffect">
                                  <p:stCondLst>
                                    <p:cond delay="0"/>
                                  </p:stCondLst>
                                  <p:childTnLst>
                                    <p:set>
                                      <p:cBhvr>
                                        <p:cTn id="36" dur="1" fill="hold">
                                          <p:stCondLst>
                                            <p:cond delay="0"/>
                                          </p:stCondLst>
                                        </p:cTn>
                                        <p:tgtEl>
                                          <p:spTgt spid="147566"/>
                                        </p:tgtEl>
                                        <p:attrNameLst>
                                          <p:attrName>style.visibility</p:attrName>
                                        </p:attrNameLst>
                                      </p:cBhvr>
                                      <p:to>
                                        <p:strVal val="visible"/>
                                      </p:to>
                                    </p:set>
                                    <p:animEffect transition="in" filter="slide(fromBottom)">
                                      <p:cBhvr>
                                        <p:cTn id="37" dur="500"/>
                                        <p:tgtEl>
                                          <p:spTgt spid="147566"/>
                                        </p:tgtEl>
                                      </p:cBhvr>
                                    </p:animEffect>
                                  </p:childTnLst>
                                </p:cTn>
                              </p:par>
                              <p:par>
                                <p:cTn id="38" presetID="12" presetClass="entr" presetSubtype="4" fill="hold" nodeType="withEffect">
                                  <p:stCondLst>
                                    <p:cond delay="0"/>
                                  </p:stCondLst>
                                  <p:childTnLst>
                                    <p:set>
                                      <p:cBhvr>
                                        <p:cTn id="39" dur="1" fill="hold">
                                          <p:stCondLst>
                                            <p:cond delay="0"/>
                                          </p:stCondLst>
                                        </p:cTn>
                                        <p:tgtEl>
                                          <p:spTgt spid="147567"/>
                                        </p:tgtEl>
                                        <p:attrNameLst>
                                          <p:attrName>style.visibility</p:attrName>
                                        </p:attrNameLst>
                                      </p:cBhvr>
                                      <p:to>
                                        <p:strVal val="visible"/>
                                      </p:to>
                                    </p:set>
                                    <p:animEffect transition="in" filter="slide(fromBottom)">
                                      <p:cBhvr>
                                        <p:cTn id="40" dur="500"/>
                                        <p:tgtEl>
                                          <p:spTgt spid="1475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509" grpId="0"/>
      <p:bldP spid="147559" grpId="0"/>
    </p:bld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4" name="Rectangle 50"/>
          <p:cNvSpPr>
            <a:spLocks noChangeArrowheads="1"/>
          </p:cNvSpPr>
          <p:nvPr/>
        </p:nvSpPr>
        <p:spPr bwMode="auto">
          <a:xfrm>
            <a:off x="640750" y="700882"/>
            <a:ext cx="7867979" cy="831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400" b="1" dirty="0">
                <a:latin typeface="+mn-lt"/>
                <a:ea typeface="华文楷体" panose="02010600040101010101" pitchFamily="2" charset="-122"/>
              </a:rPr>
              <a:t>图示结构，</a:t>
            </a:r>
            <a:r>
              <a:rPr kumimoji="1" lang="en-US" altLang="zh-CN" sz="2400" dirty="0">
                <a:latin typeface="+mn-lt"/>
                <a:ea typeface="华文楷体" panose="02010600040101010101" pitchFamily="2" charset="-122"/>
              </a:rPr>
              <a:t>1</a:t>
            </a:r>
            <a:r>
              <a:rPr kumimoji="1" lang="zh-CN" altLang="en-US" sz="2400" b="1" dirty="0">
                <a:latin typeface="+mn-lt"/>
                <a:ea typeface="华文楷体" panose="02010600040101010101" pitchFamily="2" charset="-122"/>
              </a:rPr>
              <a:t>、</a:t>
            </a:r>
            <a:r>
              <a:rPr kumimoji="1" lang="en-US" altLang="zh-CN" sz="2400" dirty="0">
                <a:latin typeface="+mn-lt"/>
                <a:ea typeface="华文楷体" panose="02010600040101010101" pitchFamily="2" charset="-122"/>
              </a:rPr>
              <a:t>2</a:t>
            </a:r>
            <a:r>
              <a:rPr kumimoji="1" lang="zh-CN" altLang="en-US" sz="2400" b="1" dirty="0">
                <a:latin typeface="+mn-lt"/>
                <a:ea typeface="华文楷体" panose="02010600040101010101" pitchFamily="2" charset="-122"/>
              </a:rPr>
              <a:t>两杆的抗拉刚度为</a:t>
            </a:r>
            <a:r>
              <a:rPr kumimoji="1" lang="en-US" altLang="zh-CN" sz="2400" i="1" dirty="0">
                <a:latin typeface="+mn-lt"/>
                <a:ea typeface="华文楷体" panose="02010600040101010101" pitchFamily="2" charset="-122"/>
              </a:rPr>
              <a:t>EA</a:t>
            </a:r>
            <a:r>
              <a:rPr kumimoji="1" lang="zh-CN" altLang="en-US" sz="2400" b="1" dirty="0">
                <a:latin typeface="+mn-lt"/>
                <a:ea typeface="华文楷体" panose="02010600040101010101" pitchFamily="2" charset="-122"/>
              </a:rPr>
              <a:t>，</a:t>
            </a:r>
            <a:r>
              <a:rPr kumimoji="1" lang="en-US" altLang="zh-CN" sz="2400" i="1" dirty="0">
                <a:latin typeface="+mn-lt"/>
                <a:ea typeface="华文楷体" panose="02010600040101010101" pitchFamily="2" charset="-122"/>
              </a:rPr>
              <a:t>a</a:t>
            </a:r>
            <a:r>
              <a:rPr kumimoji="1" lang="zh-CN" altLang="en-US" sz="2400" b="1" dirty="0">
                <a:latin typeface="+mn-lt"/>
                <a:ea typeface="华文楷体" panose="02010600040101010101" pitchFamily="2" charset="-122"/>
              </a:rPr>
              <a:t>，载荷</a:t>
            </a:r>
            <a:r>
              <a:rPr kumimoji="1" lang="en-US" altLang="zh-CN" sz="2400" b="1" i="1" dirty="0">
                <a:latin typeface="+mn-lt"/>
                <a:ea typeface="华文楷体" panose="02010600040101010101" pitchFamily="2" charset="-122"/>
              </a:rPr>
              <a:t>F</a:t>
            </a:r>
            <a:r>
              <a:rPr kumimoji="1" lang="zh-CN" altLang="en-US" sz="2400" b="1" dirty="0">
                <a:latin typeface="+mn-lt"/>
                <a:ea typeface="华文楷体" panose="02010600040101010101" pitchFamily="2" charset="-122"/>
              </a:rPr>
              <a:t>，</a:t>
            </a:r>
            <a:r>
              <a:rPr kumimoji="1" lang="en-US" altLang="zh-CN" sz="2400" i="1" dirty="0">
                <a:latin typeface="+mn-lt"/>
                <a:ea typeface="华文楷体" panose="02010600040101010101" pitchFamily="2" charset="-122"/>
              </a:rPr>
              <a:t>BDEG</a:t>
            </a:r>
            <a:r>
              <a:rPr kumimoji="1" lang="zh-CN" altLang="en-US" sz="2400" b="1" dirty="0">
                <a:latin typeface="+mn-lt"/>
                <a:ea typeface="华文楷体" panose="02010600040101010101" pitchFamily="2" charset="-122"/>
              </a:rPr>
              <a:t>为刚体 </a:t>
            </a:r>
            <a:r>
              <a:rPr kumimoji="1" lang="en-US" altLang="zh-CN" sz="2400" b="1" dirty="0">
                <a:latin typeface="+mn-lt"/>
                <a:ea typeface="华文楷体" panose="02010600040101010101" pitchFamily="2" charset="-122"/>
              </a:rPr>
              <a:t>, </a:t>
            </a:r>
            <a:r>
              <a:rPr kumimoji="1" lang="zh-CN" altLang="en-US" sz="2400" b="1" dirty="0">
                <a:latin typeface="+mn-lt"/>
                <a:ea typeface="华文楷体" panose="02010600040101010101" pitchFamily="2" charset="-122"/>
              </a:rPr>
              <a:t>求两杆内力。</a:t>
            </a:r>
          </a:p>
        </p:txBody>
      </p:sp>
      <p:grpSp>
        <p:nvGrpSpPr>
          <p:cNvPr id="2" name="Group 72"/>
          <p:cNvGrpSpPr>
            <a:grpSpLocks/>
          </p:cNvGrpSpPr>
          <p:nvPr/>
        </p:nvGrpSpPr>
        <p:grpSpPr bwMode="auto">
          <a:xfrm>
            <a:off x="827584" y="1751115"/>
            <a:ext cx="4284662" cy="3240088"/>
            <a:chOff x="612" y="1570"/>
            <a:chExt cx="2699" cy="2041"/>
          </a:xfrm>
        </p:grpSpPr>
        <p:sp>
          <p:nvSpPr>
            <p:cNvPr id="28691" name="Oval 13"/>
            <p:cNvSpPr>
              <a:spLocks noChangeAspect="1" noChangeArrowheads="1"/>
            </p:cNvSpPr>
            <p:nvPr/>
          </p:nvSpPr>
          <p:spPr bwMode="auto">
            <a:xfrm>
              <a:off x="703" y="1706"/>
              <a:ext cx="91" cy="91"/>
            </a:xfrm>
            <a:prstGeom prst="ellipse">
              <a:avLst/>
            </a:prstGeom>
            <a:solidFill>
              <a:schemeClr val="accent1"/>
            </a:solidFill>
            <a:ln w="25400">
              <a:solidFill>
                <a:srgbClr val="00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8692" name="Line 23"/>
            <p:cNvSpPr>
              <a:spLocks noChangeShapeType="1"/>
            </p:cNvSpPr>
            <p:nvPr/>
          </p:nvSpPr>
          <p:spPr bwMode="auto">
            <a:xfrm>
              <a:off x="794" y="1752"/>
              <a:ext cx="1451" cy="54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93" name="Oval 26"/>
            <p:cNvSpPr>
              <a:spLocks noChangeAspect="1" noChangeArrowheads="1"/>
            </p:cNvSpPr>
            <p:nvPr/>
          </p:nvSpPr>
          <p:spPr bwMode="auto">
            <a:xfrm>
              <a:off x="703" y="2350"/>
              <a:ext cx="91" cy="91"/>
            </a:xfrm>
            <a:prstGeom prst="ellipse">
              <a:avLst/>
            </a:prstGeom>
            <a:solidFill>
              <a:schemeClr val="accent1"/>
            </a:solidFill>
            <a:ln w="25400">
              <a:solidFill>
                <a:srgbClr val="00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8694" name="Oval 27"/>
            <p:cNvSpPr>
              <a:spLocks noChangeAspect="1" noChangeArrowheads="1"/>
            </p:cNvSpPr>
            <p:nvPr/>
          </p:nvSpPr>
          <p:spPr bwMode="auto">
            <a:xfrm>
              <a:off x="2210" y="2251"/>
              <a:ext cx="91" cy="91"/>
            </a:xfrm>
            <a:prstGeom prst="ellipse">
              <a:avLst/>
            </a:prstGeom>
            <a:solidFill>
              <a:schemeClr val="accent1"/>
            </a:solidFill>
            <a:ln w="25400">
              <a:solidFill>
                <a:srgbClr val="00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8695" name="Line 37"/>
            <p:cNvSpPr>
              <a:spLocks noChangeShapeType="1"/>
            </p:cNvSpPr>
            <p:nvPr/>
          </p:nvSpPr>
          <p:spPr bwMode="auto">
            <a:xfrm rot="5400000">
              <a:off x="2866" y="2673"/>
              <a:ext cx="476" cy="0"/>
            </a:xfrm>
            <a:prstGeom prst="line">
              <a:avLst/>
            </a:prstGeom>
            <a:noFill/>
            <a:ln w="508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696" name="Text Box 38"/>
            <p:cNvSpPr txBox="1">
              <a:spLocks noChangeArrowheads="1"/>
            </p:cNvSpPr>
            <p:nvPr/>
          </p:nvSpPr>
          <p:spPr bwMode="auto">
            <a:xfrm>
              <a:off x="2812" y="2736"/>
              <a:ext cx="49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i="1" dirty="0">
                  <a:solidFill>
                    <a:srgbClr val="FF0000"/>
                  </a:solidFill>
                  <a:latin typeface="+mn-lt"/>
                </a:rPr>
                <a:t>F</a:t>
              </a:r>
            </a:p>
          </p:txBody>
        </p:sp>
        <p:sp>
          <p:nvSpPr>
            <p:cNvPr id="28697" name="Text Box 39"/>
            <p:cNvSpPr txBox="1">
              <a:spLocks noChangeArrowheads="1"/>
            </p:cNvSpPr>
            <p:nvPr/>
          </p:nvSpPr>
          <p:spPr bwMode="auto">
            <a:xfrm>
              <a:off x="1768" y="2355"/>
              <a:ext cx="49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dirty="0">
                  <a:latin typeface="+mn-lt"/>
                </a:rPr>
                <a:t>a</a:t>
              </a:r>
            </a:p>
          </p:txBody>
        </p:sp>
        <p:sp>
          <p:nvSpPr>
            <p:cNvPr id="28698" name="Text Box 40"/>
            <p:cNvSpPr txBox="1">
              <a:spLocks noChangeArrowheads="1"/>
            </p:cNvSpPr>
            <p:nvPr/>
          </p:nvSpPr>
          <p:spPr bwMode="auto">
            <a:xfrm>
              <a:off x="2767" y="2364"/>
              <a:ext cx="49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dirty="0">
                  <a:latin typeface="+mn-lt"/>
                </a:rPr>
                <a:t>a</a:t>
              </a:r>
            </a:p>
          </p:txBody>
        </p:sp>
        <p:sp>
          <p:nvSpPr>
            <p:cNvPr id="28699" name="Text Box 41"/>
            <p:cNvSpPr txBox="1">
              <a:spLocks noChangeArrowheads="1"/>
            </p:cNvSpPr>
            <p:nvPr/>
          </p:nvSpPr>
          <p:spPr bwMode="auto">
            <a:xfrm>
              <a:off x="975" y="1616"/>
              <a:ext cx="49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latin typeface="+mn-lt"/>
                </a:rPr>
                <a:t>1</a:t>
              </a:r>
              <a:r>
                <a:rPr lang="zh-CN" altLang="en-US" b="1" dirty="0">
                  <a:latin typeface="楷体" panose="02010609060101010101" pitchFamily="49" charset="-122"/>
                  <a:ea typeface="楷体" panose="02010609060101010101" pitchFamily="49" charset="-122"/>
                </a:rPr>
                <a:t>杆</a:t>
              </a:r>
            </a:p>
          </p:txBody>
        </p:sp>
        <p:sp>
          <p:nvSpPr>
            <p:cNvPr id="28700" name="Text Box 42"/>
            <p:cNvSpPr txBox="1">
              <a:spLocks noChangeArrowheads="1"/>
            </p:cNvSpPr>
            <p:nvPr/>
          </p:nvSpPr>
          <p:spPr bwMode="auto">
            <a:xfrm>
              <a:off x="1040" y="2976"/>
              <a:ext cx="49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latin typeface="+mn-lt"/>
                </a:rPr>
                <a:t>2</a:t>
              </a:r>
              <a:r>
                <a:rPr lang="zh-CN" altLang="en-US" b="1" dirty="0">
                  <a:latin typeface="楷体" panose="02010609060101010101" pitchFamily="49" charset="-122"/>
                  <a:ea typeface="楷体" panose="02010609060101010101" pitchFamily="49" charset="-122"/>
                </a:rPr>
                <a:t>杆</a:t>
              </a:r>
            </a:p>
          </p:txBody>
        </p:sp>
        <p:grpSp>
          <p:nvGrpSpPr>
            <p:cNvPr id="28701" name="Group 49"/>
            <p:cNvGrpSpPr>
              <a:grpSpLocks/>
            </p:cNvGrpSpPr>
            <p:nvPr/>
          </p:nvGrpSpPr>
          <p:grpSpPr bwMode="auto">
            <a:xfrm>
              <a:off x="612" y="1570"/>
              <a:ext cx="91" cy="2041"/>
              <a:chOff x="793" y="1389"/>
              <a:chExt cx="91" cy="1497"/>
            </a:xfrm>
          </p:grpSpPr>
          <p:sp>
            <p:nvSpPr>
              <p:cNvPr id="28709" name="Line 7"/>
              <p:cNvSpPr>
                <a:spLocks noChangeAspect="1" noChangeShapeType="1"/>
              </p:cNvSpPr>
              <p:nvPr/>
            </p:nvSpPr>
            <p:spPr bwMode="auto">
              <a:xfrm>
                <a:off x="884" y="1389"/>
                <a:ext cx="0" cy="149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10" name="Line 8"/>
              <p:cNvSpPr>
                <a:spLocks noChangeShapeType="1"/>
              </p:cNvSpPr>
              <p:nvPr/>
            </p:nvSpPr>
            <p:spPr bwMode="auto">
              <a:xfrm flipH="1">
                <a:off x="793" y="1434"/>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11" name="Line 9"/>
              <p:cNvSpPr>
                <a:spLocks noChangeShapeType="1"/>
              </p:cNvSpPr>
              <p:nvPr/>
            </p:nvSpPr>
            <p:spPr bwMode="auto">
              <a:xfrm flipH="1">
                <a:off x="793" y="1564"/>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12" name="Line 10"/>
              <p:cNvSpPr>
                <a:spLocks noChangeShapeType="1"/>
              </p:cNvSpPr>
              <p:nvPr/>
            </p:nvSpPr>
            <p:spPr bwMode="auto">
              <a:xfrm flipH="1">
                <a:off x="793" y="1695"/>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13" name="Line 11"/>
              <p:cNvSpPr>
                <a:spLocks noChangeShapeType="1"/>
              </p:cNvSpPr>
              <p:nvPr/>
            </p:nvSpPr>
            <p:spPr bwMode="auto">
              <a:xfrm flipH="1">
                <a:off x="793" y="1825"/>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14" name="Line 12"/>
              <p:cNvSpPr>
                <a:spLocks noChangeShapeType="1"/>
              </p:cNvSpPr>
              <p:nvPr/>
            </p:nvSpPr>
            <p:spPr bwMode="auto">
              <a:xfrm flipH="1">
                <a:off x="793" y="1956"/>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15" name="Line 43"/>
              <p:cNvSpPr>
                <a:spLocks noChangeShapeType="1"/>
              </p:cNvSpPr>
              <p:nvPr/>
            </p:nvSpPr>
            <p:spPr bwMode="auto">
              <a:xfrm flipH="1">
                <a:off x="793" y="2087"/>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16" name="Line 44"/>
              <p:cNvSpPr>
                <a:spLocks noChangeShapeType="1"/>
              </p:cNvSpPr>
              <p:nvPr/>
            </p:nvSpPr>
            <p:spPr bwMode="auto">
              <a:xfrm flipH="1">
                <a:off x="793" y="2217"/>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17" name="Line 45"/>
              <p:cNvSpPr>
                <a:spLocks noChangeShapeType="1"/>
              </p:cNvSpPr>
              <p:nvPr/>
            </p:nvSpPr>
            <p:spPr bwMode="auto">
              <a:xfrm flipH="1">
                <a:off x="793" y="2348"/>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18" name="Line 46"/>
              <p:cNvSpPr>
                <a:spLocks noChangeShapeType="1"/>
              </p:cNvSpPr>
              <p:nvPr/>
            </p:nvSpPr>
            <p:spPr bwMode="auto">
              <a:xfrm flipH="1">
                <a:off x="793" y="2478"/>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19" name="Line 47"/>
              <p:cNvSpPr>
                <a:spLocks noChangeShapeType="1"/>
              </p:cNvSpPr>
              <p:nvPr/>
            </p:nvSpPr>
            <p:spPr bwMode="auto">
              <a:xfrm flipH="1">
                <a:off x="793" y="2609"/>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20" name="Line 48"/>
              <p:cNvSpPr>
                <a:spLocks noChangeShapeType="1"/>
              </p:cNvSpPr>
              <p:nvPr/>
            </p:nvSpPr>
            <p:spPr bwMode="auto">
              <a:xfrm flipH="1">
                <a:off x="793" y="2740"/>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8702" name="Rectangle 51" descr="胡桃"/>
            <p:cNvSpPr>
              <a:spLocks noChangeArrowheads="1"/>
            </p:cNvSpPr>
            <p:nvPr/>
          </p:nvSpPr>
          <p:spPr bwMode="auto">
            <a:xfrm>
              <a:off x="798" y="2341"/>
              <a:ext cx="2395" cy="109"/>
            </a:xfrm>
            <a:prstGeom prst="rect">
              <a:avLst/>
            </a:prstGeom>
            <a:blipFill dpi="0" rotWithShape="1">
              <a:blip r:embed="rId2"/>
              <a:srcRect/>
              <a:tile tx="0" ty="0" sx="100000" sy="100000" flip="none" algn="tl"/>
            </a:blip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8703" name="Line 54"/>
            <p:cNvSpPr>
              <a:spLocks noChangeShapeType="1"/>
            </p:cNvSpPr>
            <p:nvPr/>
          </p:nvSpPr>
          <p:spPr bwMode="auto">
            <a:xfrm flipV="1">
              <a:off x="748" y="2478"/>
              <a:ext cx="681" cy="99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04" name="Oval 52"/>
            <p:cNvSpPr>
              <a:spLocks noChangeAspect="1" noChangeArrowheads="1"/>
            </p:cNvSpPr>
            <p:nvPr/>
          </p:nvSpPr>
          <p:spPr bwMode="auto">
            <a:xfrm>
              <a:off x="1383" y="2432"/>
              <a:ext cx="91" cy="91"/>
            </a:xfrm>
            <a:prstGeom prst="ellipse">
              <a:avLst/>
            </a:prstGeom>
            <a:solidFill>
              <a:schemeClr val="accent1"/>
            </a:solidFill>
            <a:ln w="25400">
              <a:solidFill>
                <a:srgbClr val="00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8705" name="Oval 53"/>
            <p:cNvSpPr>
              <a:spLocks noChangeAspect="1" noChangeArrowheads="1"/>
            </p:cNvSpPr>
            <p:nvPr/>
          </p:nvSpPr>
          <p:spPr bwMode="auto">
            <a:xfrm>
              <a:off x="703" y="3430"/>
              <a:ext cx="91" cy="91"/>
            </a:xfrm>
            <a:prstGeom prst="ellipse">
              <a:avLst/>
            </a:prstGeom>
            <a:solidFill>
              <a:schemeClr val="accent1"/>
            </a:solidFill>
            <a:ln w="25400">
              <a:solidFill>
                <a:srgbClr val="00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8706" name="Text Box 55"/>
            <p:cNvSpPr txBox="1">
              <a:spLocks noChangeArrowheads="1"/>
            </p:cNvSpPr>
            <p:nvPr/>
          </p:nvSpPr>
          <p:spPr bwMode="auto">
            <a:xfrm>
              <a:off x="989" y="2368"/>
              <a:ext cx="49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dirty="0">
                  <a:latin typeface="+mn-lt"/>
                </a:rPr>
                <a:t>a</a:t>
              </a:r>
            </a:p>
          </p:txBody>
        </p:sp>
        <p:graphicFrame>
          <p:nvGraphicFramePr>
            <p:cNvPr id="28707" name="Object 5"/>
            <p:cNvGraphicFramePr>
              <a:graphicFrameLocks noChangeAspect="1"/>
            </p:cNvGraphicFramePr>
            <p:nvPr>
              <p:extLst>
                <p:ext uri="{D42A27DB-BD31-4B8C-83A1-F6EECF244321}">
                  <p14:modId xmlns:p14="http://schemas.microsoft.com/office/powerpoint/2010/main" val="1675091923"/>
                </p:ext>
              </p:extLst>
            </p:nvPr>
          </p:nvGraphicFramePr>
          <p:xfrm>
            <a:off x="1799" y="2192"/>
            <a:ext cx="268" cy="176"/>
          </p:xfrm>
          <a:graphic>
            <a:graphicData uri="http://schemas.openxmlformats.org/presentationml/2006/ole">
              <mc:AlternateContent xmlns:mc="http://schemas.openxmlformats.org/markup-compatibility/2006">
                <mc:Choice xmlns:v="urn:schemas-microsoft-com:vml" Requires="v">
                  <p:oleObj name="Equation" r:id="rId3" imgW="253800" imgH="177480" progId="Equation.DSMT4">
                    <p:embed/>
                  </p:oleObj>
                </mc:Choice>
                <mc:Fallback>
                  <p:oleObj name="Equation" r:id="rId3" imgW="253800" imgH="177480" progId="Equation.DSMT4">
                    <p:embed/>
                    <p:pic>
                      <p:nvPicPr>
                        <p:cNvPr id="0" name=""/>
                        <p:cNvPicPr>
                          <a:picLocks noChangeAspect="1" noChangeArrowheads="1"/>
                        </p:cNvPicPr>
                        <p:nvPr/>
                      </p:nvPicPr>
                      <p:blipFill>
                        <a:blip r:embed="rId4"/>
                        <a:srcRect/>
                        <a:stretch>
                          <a:fillRect/>
                        </a:stretch>
                      </p:blipFill>
                      <p:spPr bwMode="auto">
                        <a:xfrm>
                          <a:off x="1799" y="2192"/>
                          <a:ext cx="268" cy="176"/>
                        </a:xfrm>
                        <a:prstGeom prst="rect">
                          <a:avLst/>
                        </a:prstGeom>
                        <a:noFill/>
                        <a:ln>
                          <a:noFill/>
                        </a:ln>
                        <a:effectLst/>
                      </p:spPr>
                    </p:pic>
                  </p:oleObj>
                </mc:Fallback>
              </mc:AlternateContent>
            </a:graphicData>
          </a:graphic>
        </p:graphicFrame>
        <p:graphicFrame>
          <p:nvGraphicFramePr>
            <p:cNvPr id="28708" name="Object 6"/>
            <p:cNvGraphicFramePr>
              <a:graphicFrameLocks noChangeAspect="1"/>
            </p:cNvGraphicFramePr>
            <p:nvPr>
              <p:extLst>
                <p:ext uri="{D42A27DB-BD31-4B8C-83A1-F6EECF244321}">
                  <p14:modId xmlns:p14="http://schemas.microsoft.com/office/powerpoint/2010/main" val="2970170055"/>
                </p:ext>
              </p:extLst>
            </p:nvPr>
          </p:nvGraphicFramePr>
          <p:xfrm>
            <a:off x="731" y="3034"/>
            <a:ext cx="260" cy="183"/>
          </p:xfrm>
          <a:graphic>
            <a:graphicData uri="http://schemas.openxmlformats.org/presentationml/2006/ole">
              <mc:AlternateContent xmlns:mc="http://schemas.openxmlformats.org/markup-compatibility/2006">
                <mc:Choice xmlns:v="urn:schemas-microsoft-com:vml" Requires="v">
                  <p:oleObj name="Equation" r:id="rId5" imgW="253800" imgH="177480" progId="Equation.DSMT4">
                    <p:embed/>
                  </p:oleObj>
                </mc:Choice>
                <mc:Fallback>
                  <p:oleObj name="Equation" r:id="rId5" imgW="253800" imgH="177480" progId="Equation.DSMT4">
                    <p:embed/>
                    <p:pic>
                      <p:nvPicPr>
                        <p:cNvPr id="0" name=""/>
                        <p:cNvPicPr>
                          <a:picLocks noChangeAspect="1" noChangeArrowheads="1"/>
                        </p:cNvPicPr>
                        <p:nvPr/>
                      </p:nvPicPr>
                      <p:blipFill>
                        <a:blip r:embed="rId6"/>
                        <a:srcRect/>
                        <a:stretch>
                          <a:fillRect/>
                        </a:stretch>
                      </p:blipFill>
                      <p:spPr bwMode="auto">
                        <a:xfrm>
                          <a:off x="731" y="3034"/>
                          <a:ext cx="260" cy="183"/>
                        </a:xfrm>
                        <a:prstGeom prst="rect">
                          <a:avLst/>
                        </a:prstGeom>
                        <a:noFill/>
                        <a:ln>
                          <a:noFill/>
                        </a:ln>
                        <a:effectLst/>
                      </p:spPr>
                    </p:pic>
                  </p:oleObj>
                </mc:Fallback>
              </mc:AlternateContent>
            </a:graphicData>
          </a:graphic>
        </p:graphicFrame>
      </p:grpSp>
      <p:sp>
        <p:nvSpPr>
          <p:cNvPr id="148553" name="Text Box 73"/>
          <p:cNvSpPr txBox="1">
            <a:spLocks noChangeArrowheads="1"/>
          </p:cNvSpPr>
          <p:nvPr/>
        </p:nvSpPr>
        <p:spPr bwMode="auto">
          <a:xfrm>
            <a:off x="1138039" y="5500621"/>
            <a:ext cx="20875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solidFill>
                  <a:srgbClr val="FF3399"/>
                </a:solidFill>
                <a:latin typeface="黑体" panose="02010609060101010101" pitchFamily="49" charset="-122"/>
                <a:ea typeface="黑体" panose="02010609060101010101" pitchFamily="49" charset="-122"/>
              </a:rPr>
              <a:t>课堂练习</a:t>
            </a:r>
          </a:p>
        </p:txBody>
      </p:sp>
      <p:sp>
        <p:nvSpPr>
          <p:cNvPr id="148554" name="Text Box 74"/>
          <p:cNvSpPr txBox="1">
            <a:spLocks noChangeArrowheads="1"/>
          </p:cNvSpPr>
          <p:nvPr/>
        </p:nvSpPr>
        <p:spPr bwMode="auto">
          <a:xfrm>
            <a:off x="5515010" y="1666069"/>
            <a:ext cx="151157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dirty="0">
                <a:solidFill>
                  <a:srgbClr val="0033CC"/>
                </a:solidFill>
                <a:ea typeface="华文楷体" panose="02010600040101010101" pitchFamily="2" charset="-122"/>
              </a:rPr>
              <a:t>平衡方程</a:t>
            </a:r>
          </a:p>
        </p:txBody>
      </p:sp>
      <p:graphicFrame>
        <p:nvGraphicFramePr>
          <p:cNvPr id="148555" name="Object 2"/>
          <p:cNvGraphicFramePr>
            <a:graphicFrameLocks noChangeAspect="1"/>
          </p:cNvGraphicFramePr>
          <p:nvPr>
            <p:extLst>
              <p:ext uri="{D42A27DB-BD31-4B8C-83A1-F6EECF244321}">
                <p14:modId xmlns:p14="http://schemas.microsoft.com/office/powerpoint/2010/main" val="3073558863"/>
              </p:ext>
            </p:extLst>
          </p:nvPr>
        </p:nvGraphicFramePr>
        <p:xfrm>
          <a:off x="5599634" y="2142692"/>
          <a:ext cx="2201863" cy="901700"/>
        </p:xfrm>
        <a:graphic>
          <a:graphicData uri="http://schemas.openxmlformats.org/presentationml/2006/ole">
            <mc:AlternateContent xmlns:mc="http://schemas.openxmlformats.org/markup-compatibility/2006">
              <mc:Choice xmlns:v="urn:schemas-microsoft-com:vml" Requires="v">
                <p:oleObj name="Equation" r:id="rId7" imgW="1168200" imgH="431640" progId="Equation.DSMT4">
                  <p:embed/>
                </p:oleObj>
              </mc:Choice>
              <mc:Fallback>
                <p:oleObj name="Equation" r:id="rId7" imgW="1168200" imgH="431640" progId="Equation.DSMT4">
                  <p:embed/>
                  <p:pic>
                    <p:nvPicPr>
                      <p:cNvPr id="0" name=""/>
                      <p:cNvPicPr>
                        <a:picLocks noChangeAspect="1" noChangeArrowheads="1"/>
                      </p:cNvPicPr>
                      <p:nvPr/>
                    </p:nvPicPr>
                    <p:blipFill>
                      <a:blip r:embed="rId8"/>
                      <a:srcRect/>
                      <a:stretch>
                        <a:fillRect/>
                      </a:stretch>
                    </p:blipFill>
                    <p:spPr bwMode="auto">
                      <a:xfrm>
                        <a:off x="5599634" y="2142692"/>
                        <a:ext cx="2201863" cy="901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8556" name="Object 3"/>
          <p:cNvGraphicFramePr>
            <a:graphicFrameLocks noChangeAspect="1"/>
          </p:cNvGraphicFramePr>
          <p:nvPr>
            <p:extLst>
              <p:ext uri="{D42A27DB-BD31-4B8C-83A1-F6EECF244321}">
                <p14:modId xmlns:p14="http://schemas.microsoft.com/office/powerpoint/2010/main" val="2189491265"/>
              </p:ext>
            </p:extLst>
          </p:nvPr>
        </p:nvGraphicFramePr>
        <p:xfrm>
          <a:off x="4702175" y="4670425"/>
          <a:ext cx="3576638" cy="984250"/>
        </p:xfrm>
        <a:graphic>
          <a:graphicData uri="http://schemas.openxmlformats.org/presentationml/2006/ole">
            <mc:AlternateContent xmlns:mc="http://schemas.openxmlformats.org/markup-compatibility/2006">
              <mc:Choice xmlns:v="urn:schemas-microsoft-com:vml" Requires="v">
                <p:oleObj name="Equation" r:id="rId9" imgW="1333440" imgH="419040" progId="Equation.DSMT4">
                  <p:embed/>
                </p:oleObj>
              </mc:Choice>
              <mc:Fallback>
                <p:oleObj name="Equation" r:id="rId9" imgW="1333440" imgH="419040" progId="Equation.DSMT4">
                  <p:embed/>
                  <p:pic>
                    <p:nvPicPr>
                      <p:cNvPr id="0" name=""/>
                      <p:cNvPicPr>
                        <a:picLocks noChangeAspect="1" noChangeArrowheads="1"/>
                      </p:cNvPicPr>
                      <p:nvPr/>
                    </p:nvPicPr>
                    <p:blipFill>
                      <a:blip r:embed="rId10"/>
                      <a:srcRect/>
                      <a:stretch>
                        <a:fillRect/>
                      </a:stretch>
                    </p:blipFill>
                    <p:spPr bwMode="auto">
                      <a:xfrm>
                        <a:off x="4702175" y="4670425"/>
                        <a:ext cx="3576638" cy="984250"/>
                      </a:xfrm>
                      <a:prstGeom prst="rect">
                        <a:avLst/>
                      </a:prstGeom>
                      <a:noFill/>
                      <a:ln>
                        <a:noFill/>
                      </a:ln>
                      <a:effectLst/>
                    </p:spPr>
                  </p:pic>
                </p:oleObj>
              </mc:Fallback>
            </mc:AlternateContent>
          </a:graphicData>
        </a:graphic>
      </p:graphicFrame>
      <p:sp>
        <p:nvSpPr>
          <p:cNvPr id="148558" name="Text Box 78"/>
          <p:cNvSpPr txBox="1">
            <a:spLocks noChangeArrowheads="1"/>
          </p:cNvSpPr>
          <p:nvPr/>
        </p:nvSpPr>
        <p:spPr bwMode="auto">
          <a:xfrm>
            <a:off x="5546526" y="3248438"/>
            <a:ext cx="20875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dirty="0">
                <a:solidFill>
                  <a:srgbClr val="0033CC"/>
                </a:solidFill>
                <a:ea typeface="华文楷体" panose="02010600040101010101" pitchFamily="2" charset="-122"/>
              </a:rPr>
              <a:t>变形方程</a:t>
            </a:r>
          </a:p>
        </p:txBody>
      </p:sp>
      <p:graphicFrame>
        <p:nvGraphicFramePr>
          <p:cNvPr id="148559" name="Object 4"/>
          <p:cNvGraphicFramePr>
            <a:graphicFrameLocks noChangeAspect="1"/>
          </p:cNvGraphicFramePr>
          <p:nvPr>
            <p:extLst>
              <p:ext uri="{D42A27DB-BD31-4B8C-83A1-F6EECF244321}">
                <p14:modId xmlns:p14="http://schemas.microsoft.com/office/powerpoint/2010/main" val="207144472"/>
              </p:ext>
            </p:extLst>
          </p:nvPr>
        </p:nvGraphicFramePr>
        <p:xfrm>
          <a:off x="5723952" y="3929790"/>
          <a:ext cx="1732710" cy="503238"/>
        </p:xfrm>
        <a:graphic>
          <a:graphicData uri="http://schemas.openxmlformats.org/presentationml/2006/ole">
            <mc:AlternateContent xmlns:mc="http://schemas.openxmlformats.org/markup-compatibility/2006">
              <mc:Choice xmlns:v="urn:schemas-microsoft-com:vml" Requires="v">
                <p:oleObj name="公式" r:id="rId11" imgW="888614" imgH="241195" progId="Equation.3">
                  <p:embed/>
                </p:oleObj>
              </mc:Choice>
              <mc:Fallback>
                <p:oleObj name="公式" r:id="rId11" imgW="888614" imgH="241195"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723952" y="3929790"/>
                        <a:ext cx="1732710" cy="503238"/>
                      </a:xfrm>
                      <a:prstGeom prst="rect">
                        <a:avLst/>
                      </a:prstGeom>
                      <a:noFill/>
                      <a:ln>
                        <a:noFill/>
                      </a:ln>
                      <a:effectLst/>
                    </p:spPr>
                  </p:pic>
                </p:oleObj>
              </mc:Fallback>
            </mc:AlternateContent>
          </a:graphicData>
        </a:graphic>
      </p:graphicFrame>
      <p:grpSp>
        <p:nvGrpSpPr>
          <p:cNvPr id="4" name="Group 91"/>
          <p:cNvGrpSpPr>
            <a:grpSpLocks/>
          </p:cNvGrpSpPr>
          <p:nvPr/>
        </p:nvGrpSpPr>
        <p:grpSpPr bwMode="auto">
          <a:xfrm>
            <a:off x="1116509" y="2902053"/>
            <a:ext cx="3816350" cy="1873250"/>
            <a:chOff x="431" y="2069"/>
            <a:chExt cx="2404" cy="1180"/>
          </a:xfrm>
        </p:grpSpPr>
        <p:sp>
          <p:nvSpPr>
            <p:cNvPr id="28684" name="Line 80"/>
            <p:cNvSpPr>
              <a:spLocks noChangeShapeType="1"/>
            </p:cNvSpPr>
            <p:nvPr/>
          </p:nvSpPr>
          <p:spPr bwMode="auto">
            <a:xfrm>
              <a:off x="431" y="2205"/>
              <a:ext cx="2404" cy="10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8685" name="Group 86"/>
            <p:cNvGrpSpPr>
              <a:grpSpLocks/>
            </p:cNvGrpSpPr>
            <p:nvPr/>
          </p:nvGrpSpPr>
          <p:grpSpPr bwMode="auto">
            <a:xfrm>
              <a:off x="975" y="2069"/>
              <a:ext cx="1497" cy="771"/>
              <a:chOff x="975" y="2069"/>
              <a:chExt cx="1497" cy="771"/>
            </a:xfrm>
          </p:grpSpPr>
          <p:sp>
            <p:nvSpPr>
              <p:cNvPr id="28686" name="Line 81"/>
              <p:cNvSpPr>
                <a:spLocks noChangeShapeType="1"/>
              </p:cNvSpPr>
              <p:nvPr/>
            </p:nvSpPr>
            <p:spPr bwMode="auto">
              <a:xfrm>
                <a:off x="1882" y="2069"/>
                <a:ext cx="0" cy="771"/>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7" name="Line 82"/>
              <p:cNvSpPr>
                <a:spLocks noChangeShapeType="1"/>
              </p:cNvSpPr>
              <p:nvPr/>
            </p:nvSpPr>
            <p:spPr bwMode="auto">
              <a:xfrm flipV="1">
                <a:off x="1882" y="2205"/>
                <a:ext cx="318" cy="635"/>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8" name="Line 83"/>
              <p:cNvSpPr>
                <a:spLocks noChangeShapeType="1"/>
              </p:cNvSpPr>
              <p:nvPr/>
            </p:nvSpPr>
            <p:spPr bwMode="auto">
              <a:xfrm>
                <a:off x="1882" y="2069"/>
                <a:ext cx="590" cy="227"/>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9" name="Line 84"/>
              <p:cNvSpPr>
                <a:spLocks noChangeShapeType="1"/>
              </p:cNvSpPr>
              <p:nvPr/>
            </p:nvSpPr>
            <p:spPr bwMode="auto">
              <a:xfrm>
                <a:off x="1066" y="2296"/>
                <a:ext cx="0" cy="182"/>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90" name="Line 85"/>
              <p:cNvSpPr>
                <a:spLocks noChangeShapeType="1"/>
              </p:cNvSpPr>
              <p:nvPr/>
            </p:nvSpPr>
            <p:spPr bwMode="auto">
              <a:xfrm>
                <a:off x="975" y="2387"/>
                <a:ext cx="91" cy="91"/>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49" name="Text Box 38"/>
          <p:cNvSpPr txBox="1">
            <a:spLocks noChangeArrowheads="1"/>
          </p:cNvSpPr>
          <p:nvPr/>
        </p:nvSpPr>
        <p:spPr bwMode="auto">
          <a:xfrm>
            <a:off x="988368" y="2549627"/>
            <a:ext cx="393699"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dirty="0">
                <a:latin typeface="+mn-lt"/>
              </a:rPr>
              <a:t>B</a:t>
            </a:r>
          </a:p>
        </p:txBody>
      </p:sp>
      <p:sp>
        <p:nvSpPr>
          <p:cNvPr id="50" name="Text Box 38"/>
          <p:cNvSpPr txBox="1">
            <a:spLocks noChangeArrowheads="1"/>
          </p:cNvSpPr>
          <p:nvPr/>
        </p:nvSpPr>
        <p:spPr bwMode="auto">
          <a:xfrm>
            <a:off x="1946772" y="2595665"/>
            <a:ext cx="393699"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dirty="0">
                <a:latin typeface="+mn-lt"/>
              </a:rPr>
              <a:t>D</a:t>
            </a:r>
          </a:p>
        </p:txBody>
      </p:sp>
      <p:sp>
        <p:nvSpPr>
          <p:cNvPr id="51" name="Text Box 38"/>
          <p:cNvSpPr txBox="1">
            <a:spLocks noChangeArrowheads="1"/>
          </p:cNvSpPr>
          <p:nvPr/>
        </p:nvSpPr>
        <p:spPr bwMode="auto">
          <a:xfrm>
            <a:off x="3467059" y="2561534"/>
            <a:ext cx="393699"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dirty="0">
                <a:latin typeface="+mn-lt"/>
              </a:rPr>
              <a:t>E</a:t>
            </a:r>
          </a:p>
        </p:txBody>
      </p:sp>
      <p:sp>
        <p:nvSpPr>
          <p:cNvPr id="52" name="Text Box 38"/>
          <p:cNvSpPr txBox="1">
            <a:spLocks noChangeArrowheads="1"/>
          </p:cNvSpPr>
          <p:nvPr/>
        </p:nvSpPr>
        <p:spPr bwMode="auto">
          <a:xfrm>
            <a:off x="4748171" y="2600468"/>
            <a:ext cx="393699"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dirty="0">
                <a:latin typeface="+mn-lt"/>
              </a:rPr>
              <a:t>G</a:t>
            </a:r>
          </a:p>
        </p:txBody>
      </p:sp>
      <p:grpSp>
        <p:nvGrpSpPr>
          <p:cNvPr id="5" name="组合 4"/>
          <p:cNvGrpSpPr/>
          <p:nvPr/>
        </p:nvGrpSpPr>
        <p:grpSpPr>
          <a:xfrm>
            <a:off x="1170484" y="2157987"/>
            <a:ext cx="2279597" cy="1837630"/>
            <a:chOff x="2295142" y="4873763"/>
            <a:chExt cx="2279597" cy="1837630"/>
          </a:xfrm>
        </p:grpSpPr>
        <p:grpSp>
          <p:nvGrpSpPr>
            <p:cNvPr id="3" name="组合 2"/>
            <p:cNvGrpSpPr/>
            <p:nvPr/>
          </p:nvGrpSpPr>
          <p:grpSpPr>
            <a:xfrm>
              <a:off x="2851499" y="4873763"/>
              <a:ext cx="1723240" cy="1837630"/>
              <a:chOff x="1708894" y="2180894"/>
              <a:chExt cx="1723240" cy="1837630"/>
            </a:xfrm>
          </p:grpSpPr>
          <p:sp>
            <p:nvSpPr>
              <p:cNvPr id="53" name="Line 23"/>
              <p:cNvSpPr>
                <a:spLocks noChangeAspect="1" noChangeShapeType="1"/>
              </p:cNvSpPr>
              <p:nvPr/>
            </p:nvSpPr>
            <p:spPr bwMode="auto">
              <a:xfrm>
                <a:off x="2476799" y="2550864"/>
                <a:ext cx="927811" cy="347821"/>
              </a:xfrm>
              <a:prstGeom prst="line">
                <a:avLst/>
              </a:prstGeom>
              <a:noFill/>
              <a:ln w="38100">
                <a:solidFill>
                  <a:srgbClr val="FF0000"/>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54" name="Line 23"/>
              <p:cNvSpPr>
                <a:spLocks noChangeAspect="1" noChangeShapeType="1"/>
              </p:cNvSpPr>
              <p:nvPr/>
            </p:nvSpPr>
            <p:spPr bwMode="auto">
              <a:xfrm rot="6180000">
                <a:off x="1418899" y="3380708"/>
                <a:ext cx="927811" cy="347821"/>
              </a:xfrm>
              <a:prstGeom prst="line">
                <a:avLst/>
              </a:prstGeom>
              <a:noFill/>
              <a:ln w="38100">
                <a:solidFill>
                  <a:srgbClr val="FF0000"/>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55" name="Text Box 88"/>
              <p:cNvSpPr txBox="1">
                <a:spLocks noChangeArrowheads="1"/>
              </p:cNvSpPr>
              <p:nvPr/>
            </p:nvSpPr>
            <p:spPr bwMode="auto">
              <a:xfrm>
                <a:off x="2639971" y="2180894"/>
                <a:ext cx="7921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i="1" dirty="0">
                    <a:solidFill>
                      <a:srgbClr val="FF0000"/>
                    </a:solidFill>
                    <a:latin typeface="+mn-lt"/>
                  </a:rPr>
                  <a:t>F</a:t>
                </a:r>
                <a:r>
                  <a:rPr lang="en-US" altLang="zh-CN" b="1" baseline="-25000" dirty="0">
                    <a:solidFill>
                      <a:srgbClr val="FF0000"/>
                    </a:solidFill>
                    <a:latin typeface="+mn-lt"/>
                  </a:rPr>
                  <a:t>N1</a:t>
                </a:r>
              </a:p>
            </p:txBody>
          </p:sp>
        </p:grpSp>
        <p:sp>
          <p:nvSpPr>
            <p:cNvPr id="56" name="Text Box 88"/>
            <p:cNvSpPr txBox="1">
              <a:spLocks noChangeArrowheads="1"/>
            </p:cNvSpPr>
            <p:nvPr/>
          </p:nvSpPr>
          <p:spPr bwMode="auto">
            <a:xfrm>
              <a:off x="2295142" y="6016506"/>
              <a:ext cx="7921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i="1" dirty="0">
                  <a:solidFill>
                    <a:srgbClr val="FF0000"/>
                  </a:solidFill>
                  <a:latin typeface="+mn-lt"/>
                </a:rPr>
                <a:t>F</a:t>
              </a:r>
              <a:r>
                <a:rPr lang="en-US" altLang="zh-CN" b="1" baseline="-25000" dirty="0">
                  <a:solidFill>
                    <a:srgbClr val="FF0000"/>
                  </a:solidFill>
                  <a:latin typeface="+mn-lt"/>
                </a:rPr>
                <a:t>N2</a:t>
              </a:r>
            </a:p>
          </p:txBody>
        </p:sp>
      </p:grpSp>
    </p:spTree>
    <p:extLst>
      <p:ext uri="{BB962C8B-B14F-4D97-AF65-F5344CB8AC3E}">
        <p14:creationId xmlns:p14="http://schemas.microsoft.com/office/powerpoint/2010/main" val="2074318544"/>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p:stCondLst>
                                    <p:cond delay="0"/>
                                  </p:stCondLst>
                                  <p:childTnLst>
                                    <p:set>
                                      <p:cBhvr>
                                        <p:cTn id="13" dur="1" fill="hold">
                                          <p:stCondLst>
                                            <p:cond delay="0"/>
                                          </p:stCondLst>
                                        </p:cTn>
                                        <p:tgtEl>
                                          <p:spTgt spid="148554"/>
                                        </p:tgtEl>
                                        <p:attrNameLst>
                                          <p:attrName>style.visibility</p:attrName>
                                        </p:attrNameLst>
                                      </p:cBhvr>
                                      <p:to>
                                        <p:strVal val="visible"/>
                                      </p:to>
                                    </p:set>
                                    <p:animEffect transition="in" filter="slide(fromBottom)">
                                      <p:cBhvr>
                                        <p:cTn id="14" dur="500"/>
                                        <p:tgtEl>
                                          <p:spTgt spid="148554"/>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148555"/>
                                        </p:tgtEl>
                                        <p:attrNameLst>
                                          <p:attrName>style.visibility</p:attrName>
                                        </p:attrNameLst>
                                      </p:cBhvr>
                                      <p:to>
                                        <p:strVal val="visible"/>
                                      </p:to>
                                    </p:set>
                                    <p:animEffect transition="in" filter="slide(fromBottom)">
                                      <p:cBhvr>
                                        <p:cTn id="19" dur="500"/>
                                        <p:tgtEl>
                                          <p:spTgt spid="148555"/>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grpId="0" nodeType="clickEffect">
                                  <p:stCondLst>
                                    <p:cond delay="0"/>
                                  </p:stCondLst>
                                  <p:childTnLst>
                                    <p:set>
                                      <p:cBhvr>
                                        <p:cTn id="23" dur="1" fill="hold">
                                          <p:stCondLst>
                                            <p:cond delay="0"/>
                                          </p:stCondLst>
                                        </p:cTn>
                                        <p:tgtEl>
                                          <p:spTgt spid="148558"/>
                                        </p:tgtEl>
                                        <p:attrNameLst>
                                          <p:attrName>style.visibility</p:attrName>
                                        </p:attrNameLst>
                                      </p:cBhvr>
                                      <p:to>
                                        <p:strVal val="visible"/>
                                      </p:to>
                                    </p:set>
                                    <p:animEffect transition="in" filter="slide(fromBottom)">
                                      <p:cBhvr>
                                        <p:cTn id="24" dur="500"/>
                                        <p:tgtEl>
                                          <p:spTgt spid="148558"/>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4"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slide(fromBottom)">
                                      <p:cBhvr>
                                        <p:cTn id="29" dur="500"/>
                                        <p:tgtEl>
                                          <p:spTgt spid="4"/>
                                        </p:tgtEl>
                                      </p:cBhvr>
                                    </p:animEffect>
                                  </p:childTnLst>
                                </p:cTn>
                              </p:par>
                            </p:childTnLst>
                          </p:cTn>
                        </p:par>
                      </p:childTnLst>
                    </p:cTn>
                  </p:par>
                  <p:par>
                    <p:cTn id="30" fill="hold">
                      <p:stCondLst>
                        <p:cond delay="indefinite"/>
                      </p:stCondLst>
                      <p:childTnLst>
                        <p:par>
                          <p:cTn id="31" fill="hold">
                            <p:stCondLst>
                              <p:cond delay="0"/>
                            </p:stCondLst>
                            <p:childTnLst>
                              <p:par>
                                <p:cTn id="32" presetID="12" presetClass="entr" presetSubtype="4" fill="hold" nodeType="clickEffect">
                                  <p:stCondLst>
                                    <p:cond delay="0"/>
                                  </p:stCondLst>
                                  <p:childTnLst>
                                    <p:set>
                                      <p:cBhvr>
                                        <p:cTn id="33" dur="1" fill="hold">
                                          <p:stCondLst>
                                            <p:cond delay="0"/>
                                          </p:stCondLst>
                                        </p:cTn>
                                        <p:tgtEl>
                                          <p:spTgt spid="148559"/>
                                        </p:tgtEl>
                                        <p:attrNameLst>
                                          <p:attrName>style.visibility</p:attrName>
                                        </p:attrNameLst>
                                      </p:cBhvr>
                                      <p:to>
                                        <p:strVal val="visible"/>
                                      </p:to>
                                    </p:set>
                                    <p:animEffect transition="in" filter="slide(fromBottom)">
                                      <p:cBhvr>
                                        <p:cTn id="34" dur="500"/>
                                        <p:tgtEl>
                                          <p:spTgt spid="148559"/>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4" fill="hold" nodeType="clickEffect">
                                  <p:stCondLst>
                                    <p:cond delay="0"/>
                                  </p:stCondLst>
                                  <p:childTnLst>
                                    <p:set>
                                      <p:cBhvr>
                                        <p:cTn id="38" dur="1" fill="hold">
                                          <p:stCondLst>
                                            <p:cond delay="0"/>
                                          </p:stCondLst>
                                        </p:cTn>
                                        <p:tgtEl>
                                          <p:spTgt spid="148556"/>
                                        </p:tgtEl>
                                        <p:attrNameLst>
                                          <p:attrName>style.visibility</p:attrName>
                                        </p:attrNameLst>
                                      </p:cBhvr>
                                      <p:to>
                                        <p:strVal val="visible"/>
                                      </p:to>
                                    </p:set>
                                    <p:animEffect transition="in" filter="slide(fromBottom)">
                                      <p:cBhvr>
                                        <p:cTn id="39" dur="500"/>
                                        <p:tgtEl>
                                          <p:spTgt spid="1485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554" grpId="0"/>
      <p:bldP spid="14855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0"/>
          <p:cNvSpPr>
            <a:spLocks noChangeArrowheads="1"/>
          </p:cNvSpPr>
          <p:nvPr/>
        </p:nvSpPr>
        <p:spPr bwMode="auto">
          <a:xfrm>
            <a:off x="539552" y="548680"/>
            <a:ext cx="8280920" cy="831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r>
              <a:rPr kumimoji="1" lang="zh-CN" altLang="en-US" sz="2400" b="1" dirty="0">
                <a:solidFill>
                  <a:srgbClr val="FF0000"/>
                </a:solidFill>
                <a:latin typeface="+mn-lt"/>
                <a:ea typeface="楷体" panose="02010609060101010101" pitchFamily="49" charset="-122"/>
              </a:rPr>
              <a:t>例</a:t>
            </a:r>
            <a:r>
              <a:rPr kumimoji="1" lang="en-US" altLang="zh-CN" sz="2400" b="1" dirty="0">
                <a:solidFill>
                  <a:srgbClr val="000000"/>
                </a:solidFill>
                <a:latin typeface="+mn-lt"/>
                <a:ea typeface="楷体" panose="02010609060101010101" pitchFamily="49" charset="-122"/>
              </a:rPr>
              <a:t>   </a:t>
            </a:r>
            <a:r>
              <a:rPr kumimoji="1" lang="zh-CN" altLang="en-US" sz="2400" b="1" dirty="0">
                <a:solidFill>
                  <a:srgbClr val="000000"/>
                </a:solidFill>
                <a:latin typeface="+mn-lt"/>
                <a:ea typeface="楷体" panose="02010609060101010101" pitchFamily="49" charset="-122"/>
              </a:rPr>
              <a:t>图示桁架，已知</a:t>
            </a:r>
            <a:r>
              <a:rPr kumimoji="1" lang="en-US" altLang="zh-CN" sz="2400" dirty="0">
                <a:solidFill>
                  <a:srgbClr val="000000"/>
                </a:solidFill>
                <a:latin typeface="+mn-lt"/>
                <a:ea typeface="楷体" panose="02010609060101010101" pitchFamily="49" charset="-122"/>
              </a:rPr>
              <a:t>3</a:t>
            </a:r>
            <a:r>
              <a:rPr kumimoji="1" lang="zh-CN" altLang="en-US" sz="2400" b="1" dirty="0">
                <a:solidFill>
                  <a:srgbClr val="000000"/>
                </a:solidFill>
                <a:latin typeface="+mn-lt"/>
                <a:ea typeface="楷体" panose="02010609060101010101" pitchFamily="49" charset="-122"/>
              </a:rPr>
              <a:t>根杆</a:t>
            </a:r>
            <a:r>
              <a:rPr lang="zh-CN" altLang="en-US" b="1" dirty="0">
                <a:solidFill>
                  <a:srgbClr val="000000"/>
                </a:solidFill>
                <a:latin typeface="+mn-lt"/>
                <a:ea typeface="楷体" panose="02010609060101010101" pitchFamily="49" charset="-122"/>
              </a:rPr>
              <a:t>的抗拉压刚度相同，求各杆内力，并求</a:t>
            </a:r>
            <a:r>
              <a:rPr lang="en-US" altLang="zh-CN" i="1" dirty="0">
                <a:solidFill>
                  <a:srgbClr val="000000"/>
                </a:solidFill>
                <a:latin typeface="+mn-lt"/>
                <a:ea typeface="楷体" panose="02010609060101010101" pitchFamily="49" charset="-122"/>
              </a:rPr>
              <a:t>A</a:t>
            </a:r>
            <a:r>
              <a:rPr lang="zh-CN" altLang="en-US" b="1" dirty="0">
                <a:solidFill>
                  <a:srgbClr val="000000"/>
                </a:solidFill>
                <a:latin typeface="+mn-lt"/>
                <a:ea typeface="楷体" panose="02010609060101010101" pitchFamily="49" charset="-122"/>
              </a:rPr>
              <a:t>点的水平和垂直位移。</a:t>
            </a:r>
            <a:endParaRPr kumimoji="1" lang="zh-CN" altLang="en-US" sz="2400" b="1" dirty="0">
              <a:solidFill>
                <a:srgbClr val="000000"/>
              </a:solidFill>
              <a:latin typeface="+mn-lt"/>
              <a:ea typeface="楷体" panose="02010609060101010101" pitchFamily="49" charset="-122"/>
            </a:endParaRPr>
          </a:p>
        </p:txBody>
      </p:sp>
      <p:grpSp>
        <p:nvGrpSpPr>
          <p:cNvPr id="87" name="组合 86"/>
          <p:cNvGrpSpPr/>
          <p:nvPr/>
        </p:nvGrpSpPr>
        <p:grpSpPr>
          <a:xfrm>
            <a:off x="5508104" y="1124744"/>
            <a:ext cx="2924273" cy="2051546"/>
            <a:chOff x="5008063" y="1387696"/>
            <a:chExt cx="2924273" cy="2051546"/>
          </a:xfrm>
        </p:grpSpPr>
        <p:grpSp>
          <p:nvGrpSpPr>
            <p:cNvPr id="37" name="Group 4"/>
            <p:cNvGrpSpPr>
              <a:grpSpLocks/>
            </p:cNvGrpSpPr>
            <p:nvPr/>
          </p:nvGrpSpPr>
          <p:grpSpPr bwMode="auto">
            <a:xfrm>
              <a:off x="5176788" y="1388241"/>
              <a:ext cx="1225933" cy="124327"/>
              <a:chOff x="240" y="2880"/>
              <a:chExt cx="720" cy="96"/>
            </a:xfrm>
          </p:grpSpPr>
          <p:sp>
            <p:nvSpPr>
              <p:cNvPr id="45" name="Line 5"/>
              <p:cNvSpPr>
                <a:spLocks noChangeShapeType="1"/>
              </p:cNvSpPr>
              <p:nvPr/>
            </p:nvSpPr>
            <p:spPr bwMode="auto">
              <a:xfrm flipH="1">
                <a:off x="240" y="2976"/>
                <a:ext cx="655"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Line 6"/>
              <p:cNvSpPr>
                <a:spLocks noChangeShapeType="1"/>
              </p:cNvSpPr>
              <p:nvPr/>
            </p:nvSpPr>
            <p:spPr bwMode="auto">
              <a:xfrm flipH="1">
                <a:off x="827" y="2880"/>
                <a:ext cx="133"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7"/>
              <p:cNvSpPr>
                <a:spLocks noChangeShapeType="1"/>
              </p:cNvSpPr>
              <p:nvPr/>
            </p:nvSpPr>
            <p:spPr bwMode="auto">
              <a:xfrm flipH="1">
                <a:off x="698" y="2880"/>
                <a:ext cx="129"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Line 8"/>
              <p:cNvSpPr>
                <a:spLocks noChangeShapeType="1"/>
              </p:cNvSpPr>
              <p:nvPr/>
            </p:nvSpPr>
            <p:spPr bwMode="auto">
              <a:xfrm flipH="1">
                <a:off x="568" y="2880"/>
                <a:ext cx="130"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Line 9"/>
              <p:cNvSpPr>
                <a:spLocks noChangeShapeType="1"/>
              </p:cNvSpPr>
              <p:nvPr/>
            </p:nvSpPr>
            <p:spPr bwMode="auto">
              <a:xfrm flipH="1">
                <a:off x="436" y="2880"/>
                <a:ext cx="132"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Line 10"/>
              <p:cNvSpPr>
                <a:spLocks noChangeShapeType="1"/>
              </p:cNvSpPr>
              <p:nvPr/>
            </p:nvSpPr>
            <p:spPr bwMode="auto">
              <a:xfrm flipH="1">
                <a:off x="305" y="2880"/>
                <a:ext cx="131"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8" name="Group 11"/>
            <p:cNvGrpSpPr>
              <a:grpSpLocks/>
            </p:cNvGrpSpPr>
            <p:nvPr/>
          </p:nvGrpSpPr>
          <p:grpSpPr bwMode="auto">
            <a:xfrm>
              <a:off x="6276460" y="1387696"/>
              <a:ext cx="1225933" cy="124327"/>
              <a:chOff x="912" y="2880"/>
              <a:chExt cx="720" cy="96"/>
            </a:xfrm>
          </p:grpSpPr>
          <p:sp>
            <p:nvSpPr>
              <p:cNvPr id="39" name="Line 12"/>
              <p:cNvSpPr>
                <a:spLocks noChangeShapeType="1"/>
              </p:cNvSpPr>
              <p:nvPr/>
            </p:nvSpPr>
            <p:spPr bwMode="auto">
              <a:xfrm flipH="1">
                <a:off x="912" y="2976"/>
                <a:ext cx="655"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Line 13"/>
              <p:cNvSpPr>
                <a:spLocks noChangeShapeType="1"/>
              </p:cNvSpPr>
              <p:nvPr/>
            </p:nvSpPr>
            <p:spPr bwMode="auto">
              <a:xfrm flipH="1">
                <a:off x="1499" y="2880"/>
                <a:ext cx="133"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Line 14"/>
              <p:cNvSpPr>
                <a:spLocks noChangeShapeType="1"/>
              </p:cNvSpPr>
              <p:nvPr/>
            </p:nvSpPr>
            <p:spPr bwMode="auto">
              <a:xfrm flipH="1">
                <a:off x="1370" y="2880"/>
                <a:ext cx="129"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Line 15"/>
              <p:cNvSpPr>
                <a:spLocks noChangeShapeType="1"/>
              </p:cNvSpPr>
              <p:nvPr/>
            </p:nvSpPr>
            <p:spPr bwMode="auto">
              <a:xfrm flipH="1">
                <a:off x="1240" y="2880"/>
                <a:ext cx="130"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Line 16"/>
              <p:cNvSpPr>
                <a:spLocks noChangeShapeType="1"/>
              </p:cNvSpPr>
              <p:nvPr/>
            </p:nvSpPr>
            <p:spPr bwMode="auto">
              <a:xfrm flipH="1">
                <a:off x="1108" y="2880"/>
                <a:ext cx="132"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Line 17"/>
              <p:cNvSpPr>
                <a:spLocks noChangeShapeType="1"/>
              </p:cNvSpPr>
              <p:nvPr/>
            </p:nvSpPr>
            <p:spPr bwMode="auto">
              <a:xfrm flipH="1">
                <a:off x="977" y="2880"/>
                <a:ext cx="131"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3" name="Rectangle 26"/>
            <p:cNvSpPr>
              <a:spLocks noChangeArrowheads="1"/>
            </p:cNvSpPr>
            <p:nvPr/>
          </p:nvSpPr>
          <p:spPr bwMode="auto">
            <a:xfrm>
              <a:off x="5892614" y="2488608"/>
              <a:ext cx="31432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dirty="0">
                  <a:solidFill>
                    <a:srgbClr val="000000"/>
                  </a:solidFill>
                  <a:latin typeface="Times New Roman" panose="02020603050405020304" pitchFamily="18" charset="0"/>
                  <a:ea typeface="宋体" panose="02010600030101010101" pitchFamily="2" charset="-122"/>
                </a:rPr>
                <a:t>1</a:t>
              </a:r>
            </a:p>
          </p:txBody>
        </p:sp>
        <p:sp>
          <p:nvSpPr>
            <p:cNvPr id="20" name="Rectangle 36"/>
            <p:cNvSpPr>
              <a:spLocks noChangeArrowheads="1"/>
            </p:cNvSpPr>
            <p:nvPr/>
          </p:nvSpPr>
          <p:spPr bwMode="auto">
            <a:xfrm>
              <a:off x="6295861" y="1883799"/>
              <a:ext cx="31432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dirty="0">
                  <a:solidFill>
                    <a:srgbClr val="000000"/>
                  </a:solidFill>
                  <a:latin typeface="Times New Roman" panose="02020603050405020304" pitchFamily="18" charset="0"/>
                  <a:ea typeface="宋体" panose="02010600030101010101" pitchFamily="2" charset="-122"/>
                </a:rPr>
                <a:t>2</a:t>
              </a:r>
            </a:p>
          </p:txBody>
        </p:sp>
        <p:sp>
          <p:nvSpPr>
            <p:cNvPr id="25" name="Line 41"/>
            <p:cNvSpPr>
              <a:spLocks noChangeShapeType="1"/>
            </p:cNvSpPr>
            <p:nvPr/>
          </p:nvSpPr>
          <p:spPr bwMode="auto">
            <a:xfrm>
              <a:off x="7398634" y="2677242"/>
              <a:ext cx="0" cy="762000"/>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26" name="Rectangle 42"/>
            <p:cNvSpPr>
              <a:spLocks noChangeArrowheads="1"/>
            </p:cNvSpPr>
            <p:nvPr/>
          </p:nvSpPr>
          <p:spPr bwMode="auto">
            <a:xfrm>
              <a:off x="7407232" y="2929453"/>
              <a:ext cx="4191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kumimoji="1" lang="en-US" altLang="zh-CN" b="1" i="1" dirty="0">
                  <a:solidFill>
                    <a:srgbClr val="FF0000"/>
                  </a:solidFill>
                  <a:latin typeface="Times New Roman" panose="02020603050405020304" pitchFamily="18" charset="0"/>
                  <a:ea typeface="宋体" panose="02010600030101010101" pitchFamily="2" charset="-122"/>
                </a:rPr>
                <a:t>F</a:t>
              </a:r>
            </a:p>
          </p:txBody>
        </p:sp>
        <p:sp>
          <p:nvSpPr>
            <p:cNvPr id="27" name="Line 43"/>
            <p:cNvSpPr>
              <a:spLocks noChangeShapeType="1"/>
            </p:cNvSpPr>
            <p:nvPr/>
          </p:nvSpPr>
          <p:spPr bwMode="auto">
            <a:xfrm>
              <a:off x="7698728" y="1510155"/>
              <a:ext cx="0" cy="1332000"/>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8" name="Line 44"/>
            <p:cNvSpPr>
              <a:spLocks noChangeShapeType="1"/>
            </p:cNvSpPr>
            <p:nvPr/>
          </p:nvSpPr>
          <p:spPr bwMode="auto">
            <a:xfrm>
              <a:off x="7492540" y="2838296"/>
              <a:ext cx="3048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29" name="Line 45"/>
            <p:cNvSpPr>
              <a:spLocks noChangeShapeType="1"/>
            </p:cNvSpPr>
            <p:nvPr/>
          </p:nvSpPr>
          <p:spPr bwMode="auto">
            <a:xfrm>
              <a:off x="7502996" y="1518622"/>
              <a:ext cx="3048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30" name="Rectangle 46"/>
            <p:cNvSpPr>
              <a:spLocks noChangeArrowheads="1"/>
            </p:cNvSpPr>
            <p:nvPr/>
          </p:nvSpPr>
          <p:spPr bwMode="auto">
            <a:xfrm>
              <a:off x="7675856" y="1992147"/>
              <a:ext cx="25648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2000" i="1" dirty="0">
                  <a:solidFill>
                    <a:srgbClr val="000000"/>
                  </a:solidFill>
                </a:rPr>
                <a:t>l</a:t>
              </a:r>
              <a:endParaRPr kumimoji="1" lang="en-US" altLang="zh-CN" sz="2000" i="1" dirty="0">
                <a:solidFill>
                  <a:srgbClr val="000000"/>
                </a:solidFill>
                <a:latin typeface="Times New Roman" panose="02020603050405020304" pitchFamily="18" charset="0"/>
                <a:ea typeface="宋体" panose="02010600030101010101" pitchFamily="2" charset="-122"/>
              </a:endParaRPr>
            </a:p>
          </p:txBody>
        </p:sp>
        <p:sp>
          <p:nvSpPr>
            <p:cNvPr id="32" name="Rectangle 48"/>
            <p:cNvSpPr>
              <a:spLocks noChangeArrowheads="1"/>
            </p:cNvSpPr>
            <p:nvPr/>
          </p:nvSpPr>
          <p:spPr bwMode="auto">
            <a:xfrm>
              <a:off x="7068453" y="2780708"/>
              <a:ext cx="38735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kumimoji="1" lang="en-US" altLang="zh-CN" sz="2000" i="1" dirty="0">
                  <a:solidFill>
                    <a:srgbClr val="000000"/>
                  </a:solidFill>
                  <a:latin typeface="Times New Roman" panose="02020603050405020304" pitchFamily="18" charset="0"/>
                  <a:ea typeface="宋体" panose="02010600030101010101" pitchFamily="2" charset="-122"/>
                </a:rPr>
                <a:t>A</a:t>
              </a:r>
            </a:p>
          </p:txBody>
        </p:sp>
        <p:sp>
          <p:nvSpPr>
            <p:cNvPr id="53" name="Line 23"/>
            <p:cNvSpPr>
              <a:spLocks noChangeAspect="1" noChangeShapeType="1"/>
            </p:cNvSpPr>
            <p:nvPr/>
          </p:nvSpPr>
          <p:spPr bwMode="auto">
            <a:xfrm rot="540000">
              <a:off x="5047923" y="1711962"/>
              <a:ext cx="2395602" cy="898144"/>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2" name="Group 49"/>
            <p:cNvGrpSpPr>
              <a:grpSpLocks/>
            </p:cNvGrpSpPr>
            <p:nvPr/>
          </p:nvGrpSpPr>
          <p:grpSpPr bwMode="auto">
            <a:xfrm>
              <a:off x="5008063" y="1513704"/>
              <a:ext cx="159368" cy="1376386"/>
              <a:chOff x="793" y="1389"/>
              <a:chExt cx="91" cy="1497"/>
            </a:xfrm>
          </p:grpSpPr>
          <p:sp>
            <p:nvSpPr>
              <p:cNvPr id="70" name="Line 7"/>
              <p:cNvSpPr>
                <a:spLocks noChangeAspect="1" noChangeShapeType="1"/>
              </p:cNvSpPr>
              <p:nvPr/>
            </p:nvSpPr>
            <p:spPr bwMode="auto">
              <a:xfrm>
                <a:off x="884" y="1389"/>
                <a:ext cx="0" cy="149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 name="Line 8"/>
              <p:cNvSpPr>
                <a:spLocks noChangeShapeType="1"/>
              </p:cNvSpPr>
              <p:nvPr/>
            </p:nvSpPr>
            <p:spPr bwMode="auto">
              <a:xfrm flipH="1">
                <a:off x="793" y="1434"/>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 name="Line 9"/>
              <p:cNvSpPr>
                <a:spLocks noChangeShapeType="1"/>
              </p:cNvSpPr>
              <p:nvPr/>
            </p:nvSpPr>
            <p:spPr bwMode="auto">
              <a:xfrm flipH="1">
                <a:off x="793" y="1564"/>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 name="Line 10"/>
              <p:cNvSpPr>
                <a:spLocks noChangeShapeType="1"/>
              </p:cNvSpPr>
              <p:nvPr/>
            </p:nvSpPr>
            <p:spPr bwMode="auto">
              <a:xfrm flipH="1">
                <a:off x="793" y="1695"/>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 name="Line 11"/>
              <p:cNvSpPr>
                <a:spLocks noChangeShapeType="1"/>
              </p:cNvSpPr>
              <p:nvPr/>
            </p:nvSpPr>
            <p:spPr bwMode="auto">
              <a:xfrm flipH="1">
                <a:off x="793" y="1825"/>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 name="Line 12"/>
              <p:cNvSpPr>
                <a:spLocks noChangeShapeType="1"/>
              </p:cNvSpPr>
              <p:nvPr/>
            </p:nvSpPr>
            <p:spPr bwMode="auto">
              <a:xfrm flipH="1">
                <a:off x="793" y="1956"/>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 name="Line 43"/>
              <p:cNvSpPr>
                <a:spLocks noChangeShapeType="1"/>
              </p:cNvSpPr>
              <p:nvPr/>
            </p:nvSpPr>
            <p:spPr bwMode="auto">
              <a:xfrm flipH="1">
                <a:off x="793" y="2087"/>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 name="Line 44"/>
              <p:cNvSpPr>
                <a:spLocks noChangeShapeType="1"/>
              </p:cNvSpPr>
              <p:nvPr/>
            </p:nvSpPr>
            <p:spPr bwMode="auto">
              <a:xfrm flipH="1">
                <a:off x="793" y="2217"/>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 name="Line 45"/>
              <p:cNvSpPr>
                <a:spLocks noChangeShapeType="1"/>
              </p:cNvSpPr>
              <p:nvPr/>
            </p:nvSpPr>
            <p:spPr bwMode="auto">
              <a:xfrm flipH="1">
                <a:off x="793" y="2348"/>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 name="Line 46"/>
              <p:cNvSpPr>
                <a:spLocks noChangeShapeType="1"/>
              </p:cNvSpPr>
              <p:nvPr/>
            </p:nvSpPr>
            <p:spPr bwMode="auto">
              <a:xfrm flipH="1">
                <a:off x="793" y="2478"/>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 name="Line 47"/>
              <p:cNvSpPr>
                <a:spLocks noChangeShapeType="1"/>
              </p:cNvSpPr>
              <p:nvPr/>
            </p:nvSpPr>
            <p:spPr bwMode="auto">
              <a:xfrm flipH="1">
                <a:off x="793" y="2609"/>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 name="Line 48"/>
              <p:cNvSpPr>
                <a:spLocks noChangeShapeType="1"/>
              </p:cNvSpPr>
              <p:nvPr/>
            </p:nvSpPr>
            <p:spPr bwMode="auto">
              <a:xfrm flipH="1">
                <a:off x="793" y="2740"/>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4" name="Line 54"/>
            <p:cNvSpPr>
              <a:spLocks noChangeAspect="1" noChangeShapeType="1"/>
            </p:cNvSpPr>
            <p:nvPr/>
          </p:nvSpPr>
          <p:spPr bwMode="auto">
            <a:xfrm rot="3360000" flipV="1">
              <a:off x="5705215" y="1950501"/>
              <a:ext cx="1204899" cy="17640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 name="Oval 53"/>
            <p:cNvSpPr>
              <a:spLocks noChangeAspect="1" noChangeArrowheads="1"/>
            </p:cNvSpPr>
            <p:nvPr/>
          </p:nvSpPr>
          <p:spPr bwMode="auto">
            <a:xfrm>
              <a:off x="7339611" y="1437924"/>
              <a:ext cx="144462" cy="144463"/>
            </a:xfrm>
            <a:prstGeom prst="ellipse">
              <a:avLst/>
            </a:prstGeom>
            <a:solidFill>
              <a:schemeClr val="accent1"/>
            </a:solidFill>
            <a:ln w="25400">
              <a:solidFill>
                <a:srgbClr val="00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4" name="Oval 26"/>
            <p:cNvSpPr>
              <a:spLocks noChangeAspect="1" noChangeArrowheads="1"/>
            </p:cNvSpPr>
            <p:nvPr/>
          </p:nvSpPr>
          <p:spPr bwMode="auto">
            <a:xfrm>
              <a:off x="5113841" y="1463117"/>
              <a:ext cx="144462" cy="144463"/>
            </a:xfrm>
            <a:prstGeom prst="ellipse">
              <a:avLst/>
            </a:prstGeom>
            <a:solidFill>
              <a:schemeClr val="accent1"/>
            </a:solidFill>
            <a:ln w="25400">
              <a:solidFill>
                <a:srgbClr val="00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2" name="Oval 13"/>
            <p:cNvSpPr>
              <a:spLocks noChangeAspect="1" noChangeArrowheads="1"/>
            </p:cNvSpPr>
            <p:nvPr/>
          </p:nvSpPr>
          <p:spPr bwMode="auto">
            <a:xfrm>
              <a:off x="5095106" y="2751851"/>
              <a:ext cx="144462" cy="144463"/>
            </a:xfrm>
            <a:prstGeom prst="ellipse">
              <a:avLst/>
            </a:prstGeom>
            <a:solidFill>
              <a:schemeClr val="accent1"/>
            </a:solidFill>
            <a:ln w="25400">
              <a:solidFill>
                <a:srgbClr val="00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2" name="Line 54"/>
            <p:cNvSpPr>
              <a:spLocks noChangeAspect="1" noChangeShapeType="1"/>
            </p:cNvSpPr>
            <p:nvPr/>
          </p:nvSpPr>
          <p:spPr bwMode="auto">
            <a:xfrm rot="8760000" flipV="1">
              <a:off x="7036375" y="1675634"/>
              <a:ext cx="741715" cy="1085885"/>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 name="Oval 27"/>
            <p:cNvSpPr>
              <a:spLocks noChangeAspect="1" noChangeArrowheads="1"/>
            </p:cNvSpPr>
            <p:nvPr/>
          </p:nvSpPr>
          <p:spPr bwMode="auto">
            <a:xfrm>
              <a:off x="7326403" y="2751851"/>
              <a:ext cx="144462" cy="144463"/>
            </a:xfrm>
            <a:prstGeom prst="ellipse">
              <a:avLst/>
            </a:prstGeom>
            <a:solidFill>
              <a:schemeClr val="accent1"/>
            </a:solidFill>
            <a:ln w="25400">
              <a:solidFill>
                <a:srgbClr val="00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84" name="Object 55"/>
            <p:cNvGraphicFramePr>
              <a:graphicFrameLocks/>
            </p:cNvGraphicFramePr>
            <p:nvPr>
              <p:extLst>
                <p:ext uri="{D42A27DB-BD31-4B8C-83A1-F6EECF244321}">
                  <p14:modId xmlns:p14="http://schemas.microsoft.com/office/powerpoint/2010/main" val="1001035119"/>
                </p:ext>
              </p:extLst>
            </p:nvPr>
          </p:nvGraphicFramePr>
          <p:xfrm>
            <a:off x="7034833" y="2340442"/>
            <a:ext cx="392261" cy="293737"/>
          </p:xfrm>
          <a:graphic>
            <a:graphicData uri="http://schemas.openxmlformats.org/presentationml/2006/ole">
              <mc:AlternateContent xmlns:mc="http://schemas.openxmlformats.org/markup-compatibility/2006">
                <mc:Choice xmlns:v="urn:schemas-microsoft-com:vml" Requires="v">
                  <p:oleObj name="Equation" r:id="rId2" imgW="241200" imgH="203040" progId="Equation.DSMT4">
                    <p:embed/>
                  </p:oleObj>
                </mc:Choice>
                <mc:Fallback>
                  <p:oleObj name="Equation" r:id="rId2" imgW="241200" imgH="203040" progId="Equation.DSMT4">
                    <p:embed/>
                    <p:pic>
                      <p:nvPicPr>
                        <p:cNvPr id="0" name=""/>
                        <p:cNvPicPr>
                          <a:picLocks noChangeArrowheads="1"/>
                        </p:cNvPicPr>
                        <p:nvPr/>
                      </p:nvPicPr>
                      <p:blipFill>
                        <a:blip r:embed="rId3"/>
                        <a:srcRect/>
                        <a:stretch>
                          <a:fillRect/>
                        </a:stretch>
                      </p:blipFill>
                      <p:spPr bwMode="auto">
                        <a:xfrm>
                          <a:off x="7034833" y="2340442"/>
                          <a:ext cx="392261" cy="293737"/>
                        </a:xfrm>
                        <a:prstGeom prst="rect">
                          <a:avLst/>
                        </a:prstGeom>
                        <a:noFill/>
                        <a:ln>
                          <a:noFill/>
                        </a:ln>
                        <a:effectLst/>
                      </p:spPr>
                    </p:pic>
                  </p:oleObj>
                </mc:Fallback>
              </mc:AlternateContent>
            </a:graphicData>
          </a:graphic>
        </p:graphicFrame>
        <p:graphicFrame>
          <p:nvGraphicFramePr>
            <p:cNvPr id="85" name="Object 55"/>
            <p:cNvGraphicFramePr>
              <a:graphicFrameLocks/>
            </p:cNvGraphicFramePr>
            <p:nvPr>
              <p:extLst>
                <p:ext uri="{D42A27DB-BD31-4B8C-83A1-F6EECF244321}">
                  <p14:modId xmlns:p14="http://schemas.microsoft.com/office/powerpoint/2010/main" val="2868711066"/>
                </p:ext>
              </p:extLst>
            </p:nvPr>
          </p:nvGraphicFramePr>
          <p:xfrm>
            <a:off x="6722563" y="2547335"/>
            <a:ext cx="371475" cy="293688"/>
          </p:xfrm>
          <a:graphic>
            <a:graphicData uri="http://schemas.openxmlformats.org/presentationml/2006/ole">
              <mc:AlternateContent xmlns:mc="http://schemas.openxmlformats.org/markup-compatibility/2006">
                <mc:Choice xmlns:v="urn:schemas-microsoft-com:vml" Requires="v">
                  <p:oleObj name="Equation" r:id="rId4" imgW="228600" imgH="203040" progId="Equation.DSMT4">
                    <p:embed/>
                  </p:oleObj>
                </mc:Choice>
                <mc:Fallback>
                  <p:oleObj name="Equation" r:id="rId4" imgW="228600" imgH="203040" progId="Equation.DSMT4">
                    <p:embed/>
                    <p:pic>
                      <p:nvPicPr>
                        <p:cNvPr id="0" name=""/>
                        <p:cNvPicPr>
                          <a:picLocks noChangeArrowheads="1"/>
                        </p:cNvPicPr>
                        <p:nvPr/>
                      </p:nvPicPr>
                      <p:blipFill>
                        <a:blip r:embed="rId5"/>
                        <a:srcRect/>
                        <a:stretch>
                          <a:fillRect/>
                        </a:stretch>
                      </p:blipFill>
                      <p:spPr bwMode="auto">
                        <a:xfrm>
                          <a:off x="6722563" y="2547335"/>
                          <a:ext cx="371475" cy="293688"/>
                        </a:xfrm>
                        <a:prstGeom prst="rect">
                          <a:avLst/>
                        </a:prstGeom>
                        <a:noFill/>
                        <a:ln>
                          <a:noFill/>
                        </a:ln>
                        <a:effectLst/>
                      </p:spPr>
                    </p:pic>
                  </p:oleObj>
                </mc:Fallback>
              </mc:AlternateContent>
            </a:graphicData>
          </a:graphic>
        </p:graphicFrame>
        <p:sp>
          <p:nvSpPr>
            <p:cNvPr id="86" name="Rectangle 36"/>
            <p:cNvSpPr>
              <a:spLocks noChangeArrowheads="1"/>
            </p:cNvSpPr>
            <p:nvPr/>
          </p:nvSpPr>
          <p:spPr bwMode="auto">
            <a:xfrm>
              <a:off x="7133946" y="1739149"/>
              <a:ext cx="31432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dirty="0">
                  <a:solidFill>
                    <a:srgbClr val="000000"/>
                  </a:solidFill>
                  <a:latin typeface="Times New Roman" panose="02020603050405020304" pitchFamily="18" charset="0"/>
                  <a:ea typeface="宋体" panose="02010600030101010101" pitchFamily="2" charset="-122"/>
                </a:rPr>
                <a:t>3</a:t>
              </a:r>
            </a:p>
          </p:txBody>
        </p:sp>
      </p:grpSp>
      <p:sp>
        <p:nvSpPr>
          <p:cNvPr id="88" name="Text Box 51"/>
          <p:cNvSpPr txBox="1">
            <a:spLocks noChangeArrowheads="1"/>
          </p:cNvSpPr>
          <p:nvPr/>
        </p:nvSpPr>
        <p:spPr bwMode="auto">
          <a:xfrm>
            <a:off x="552509" y="1345251"/>
            <a:ext cx="42572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kumimoji="1" lang="zh-CN" altLang="en-US" sz="2400" b="1" dirty="0">
                <a:solidFill>
                  <a:srgbClr val="FF0000"/>
                </a:solidFill>
                <a:latin typeface="楷体" panose="02010609060101010101" pitchFamily="49" charset="-122"/>
                <a:ea typeface="楷体" panose="02010609060101010101" pitchFamily="49" charset="-122"/>
              </a:rPr>
              <a:t>解：</a:t>
            </a:r>
            <a:r>
              <a:rPr kumimoji="1" lang="en-US" altLang="zh-CN" sz="2400" b="1" dirty="0">
                <a:solidFill>
                  <a:srgbClr val="0000FF"/>
                </a:solidFill>
                <a:latin typeface="楷体" panose="02010609060101010101" pitchFamily="49" charset="-122"/>
                <a:ea typeface="楷体" panose="02010609060101010101" pitchFamily="49" charset="-122"/>
              </a:rPr>
              <a:t>1</a:t>
            </a:r>
            <a:r>
              <a:rPr kumimoji="1" lang="zh-CN" altLang="en-US" sz="2400" b="1" dirty="0">
                <a:solidFill>
                  <a:srgbClr val="0000FF"/>
                </a:solidFill>
                <a:latin typeface="楷体" panose="02010609060101010101" pitchFamily="49" charset="-122"/>
                <a:ea typeface="楷体" panose="02010609060101010101" pitchFamily="49" charset="-122"/>
              </a:rPr>
              <a:t>、判别：为一次静不定</a:t>
            </a:r>
          </a:p>
        </p:txBody>
      </p:sp>
      <p:sp>
        <p:nvSpPr>
          <p:cNvPr id="140" name="Text Box 52"/>
          <p:cNvSpPr txBox="1">
            <a:spLocks noChangeArrowheads="1"/>
          </p:cNvSpPr>
          <p:nvPr/>
        </p:nvSpPr>
        <p:spPr bwMode="auto">
          <a:xfrm>
            <a:off x="1173024" y="1754760"/>
            <a:ext cx="382956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kumimoji="1" lang="en-US" altLang="zh-CN" sz="2400" b="1" dirty="0">
                <a:solidFill>
                  <a:srgbClr val="0000FF"/>
                </a:solidFill>
                <a:latin typeface="楷体" panose="02010609060101010101" pitchFamily="49" charset="-122"/>
                <a:ea typeface="楷体" panose="02010609060101010101" pitchFamily="49" charset="-122"/>
              </a:rPr>
              <a:t>2</a:t>
            </a:r>
            <a:r>
              <a:rPr kumimoji="1" lang="zh-CN" altLang="en-US" sz="2400" b="1" dirty="0">
                <a:solidFill>
                  <a:srgbClr val="0000FF"/>
                </a:solidFill>
                <a:latin typeface="楷体" panose="02010609060101010101" pitchFamily="49" charset="-122"/>
                <a:ea typeface="楷体" panose="02010609060101010101" pitchFamily="49" charset="-122"/>
              </a:rPr>
              <a:t>、假设内力方向，设正法</a:t>
            </a:r>
          </a:p>
        </p:txBody>
      </p:sp>
      <p:sp>
        <p:nvSpPr>
          <p:cNvPr id="141" name="Text Box 54"/>
          <p:cNvSpPr txBox="1">
            <a:spLocks noChangeArrowheads="1"/>
          </p:cNvSpPr>
          <p:nvPr/>
        </p:nvSpPr>
        <p:spPr bwMode="auto">
          <a:xfrm>
            <a:off x="1164427" y="2190259"/>
            <a:ext cx="2174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400" b="1" dirty="0">
                <a:solidFill>
                  <a:srgbClr val="0000FF"/>
                </a:solidFill>
                <a:latin typeface="Times New Roman" panose="02020603050405020304" pitchFamily="18" charset="0"/>
                <a:ea typeface="楷体_GB2312" pitchFamily="49" charset="-122"/>
              </a:rPr>
              <a:t>3</a:t>
            </a:r>
            <a:r>
              <a:rPr kumimoji="1" lang="zh-CN" altLang="en-US" sz="2400" b="1" dirty="0">
                <a:solidFill>
                  <a:srgbClr val="0000FF"/>
                </a:solidFill>
                <a:latin typeface="楷体" panose="02010609060101010101" pitchFamily="49" charset="-122"/>
                <a:ea typeface="楷体" panose="02010609060101010101" pitchFamily="49" charset="-122"/>
              </a:rPr>
              <a:t>、平衡方程：</a:t>
            </a:r>
          </a:p>
        </p:txBody>
      </p:sp>
      <p:graphicFrame>
        <p:nvGraphicFramePr>
          <p:cNvPr id="142" name="Object 55"/>
          <p:cNvGraphicFramePr>
            <a:graphicFrameLocks noChangeAspect="1"/>
          </p:cNvGraphicFramePr>
          <p:nvPr>
            <p:extLst>
              <p:ext uri="{D42A27DB-BD31-4B8C-83A1-F6EECF244321}">
                <p14:modId xmlns:p14="http://schemas.microsoft.com/office/powerpoint/2010/main" val="791762891"/>
              </p:ext>
            </p:extLst>
          </p:nvPr>
        </p:nvGraphicFramePr>
        <p:xfrm>
          <a:off x="1219102" y="2641813"/>
          <a:ext cx="2633812" cy="962103"/>
        </p:xfrm>
        <a:graphic>
          <a:graphicData uri="http://schemas.openxmlformats.org/presentationml/2006/ole">
            <mc:AlternateContent xmlns:mc="http://schemas.openxmlformats.org/markup-compatibility/2006">
              <mc:Choice xmlns:v="urn:schemas-microsoft-com:vml" Requires="v">
                <p:oleObj name="Equation" r:id="rId6" imgW="1320480" imgH="482400" progId="Equation.DSMT4">
                  <p:embed/>
                </p:oleObj>
              </mc:Choice>
              <mc:Fallback>
                <p:oleObj name="Equation" r:id="rId6" imgW="1320480" imgH="482400" progId="Equation.DSMT4">
                  <p:embed/>
                  <p:pic>
                    <p:nvPicPr>
                      <p:cNvPr id="0" name=""/>
                      <p:cNvPicPr>
                        <a:picLocks noChangeAspect="1" noChangeArrowheads="1"/>
                      </p:cNvPicPr>
                      <p:nvPr/>
                    </p:nvPicPr>
                    <p:blipFill>
                      <a:blip r:embed="rId7"/>
                      <a:srcRect/>
                      <a:stretch>
                        <a:fillRect/>
                      </a:stretch>
                    </p:blipFill>
                    <p:spPr bwMode="auto">
                      <a:xfrm>
                        <a:off x="1219102" y="2641813"/>
                        <a:ext cx="2633812" cy="962103"/>
                      </a:xfrm>
                      <a:prstGeom prst="rect">
                        <a:avLst/>
                      </a:prstGeom>
                      <a:noFill/>
                      <a:ln>
                        <a:noFill/>
                      </a:ln>
                      <a:effectLst/>
                    </p:spPr>
                  </p:pic>
                </p:oleObj>
              </mc:Fallback>
            </mc:AlternateContent>
          </a:graphicData>
        </a:graphic>
      </p:graphicFrame>
      <p:sp>
        <p:nvSpPr>
          <p:cNvPr id="143" name="Text Box 57"/>
          <p:cNvSpPr txBox="1">
            <a:spLocks noChangeArrowheads="1"/>
          </p:cNvSpPr>
          <p:nvPr/>
        </p:nvSpPr>
        <p:spPr bwMode="auto">
          <a:xfrm>
            <a:off x="1140531" y="3603916"/>
            <a:ext cx="2174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400" b="1" dirty="0">
                <a:solidFill>
                  <a:srgbClr val="0000FF"/>
                </a:solidFill>
                <a:latin typeface="Times New Roman" panose="02020603050405020304" pitchFamily="18" charset="0"/>
                <a:ea typeface="楷体_GB2312" pitchFamily="49" charset="-122"/>
              </a:rPr>
              <a:t>4</a:t>
            </a:r>
            <a:r>
              <a:rPr kumimoji="1" lang="zh-CN" altLang="en-US" sz="2400" b="1" dirty="0">
                <a:solidFill>
                  <a:srgbClr val="0000FF"/>
                </a:solidFill>
                <a:latin typeface="楷体" panose="02010609060101010101" pitchFamily="49" charset="-122"/>
                <a:ea typeface="楷体" panose="02010609060101010101" pitchFamily="49" charset="-122"/>
              </a:rPr>
              <a:t>、几何方程：</a:t>
            </a:r>
          </a:p>
        </p:txBody>
      </p:sp>
      <p:grpSp>
        <p:nvGrpSpPr>
          <p:cNvPr id="144" name="组合 143"/>
          <p:cNvGrpSpPr/>
          <p:nvPr/>
        </p:nvGrpSpPr>
        <p:grpSpPr>
          <a:xfrm>
            <a:off x="5660504" y="2864612"/>
            <a:ext cx="2163244" cy="1709013"/>
            <a:chOff x="1899780" y="3771533"/>
            <a:chExt cx="2163244" cy="1709013"/>
          </a:xfrm>
        </p:grpSpPr>
        <p:sp>
          <p:nvSpPr>
            <p:cNvPr id="145" name="Line 41"/>
            <p:cNvSpPr>
              <a:spLocks noChangeShapeType="1"/>
            </p:cNvSpPr>
            <p:nvPr/>
          </p:nvSpPr>
          <p:spPr bwMode="auto">
            <a:xfrm>
              <a:off x="3506187" y="4718546"/>
              <a:ext cx="0" cy="762000"/>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46" name="Rectangle 42"/>
            <p:cNvSpPr>
              <a:spLocks noChangeArrowheads="1"/>
            </p:cNvSpPr>
            <p:nvPr/>
          </p:nvSpPr>
          <p:spPr bwMode="auto">
            <a:xfrm>
              <a:off x="3514785" y="4970757"/>
              <a:ext cx="4191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kumimoji="1" lang="en-US" altLang="zh-CN" b="1" i="1" dirty="0">
                  <a:solidFill>
                    <a:srgbClr val="FF0000"/>
                  </a:solidFill>
                  <a:latin typeface="Times New Roman" panose="02020603050405020304" pitchFamily="18" charset="0"/>
                  <a:ea typeface="宋体" panose="02010600030101010101" pitchFamily="2" charset="-122"/>
                </a:rPr>
                <a:t>F</a:t>
              </a:r>
            </a:p>
          </p:txBody>
        </p:sp>
        <p:sp>
          <p:nvSpPr>
            <p:cNvPr id="147" name="Rectangle 48"/>
            <p:cNvSpPr>
              <a:spLocks noChangeArrowheads="1"/>
            </p:cNvSpPr>
            <p:nvPr/>
          </p:nvSpPr>
          <p:spPr bwMode="auto">
            <a:xfrm>
              <a:off x="3176006" y="4822012"/>
              <a:ext cx="38735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kumimoji="1" lang="en-US" altLang="zh-CN" sz="2000" i="1" dirty="0">
                  <a:solidFill>
                    <a:srgbClr val="000000"/>
                  </a:solidFill>
                  <a:latin typeface="Times New Roman" panose="02020603050405020304" pitchFamily="18" charset="0"/>
                  <a:ea typeface="宋体" panose="02010600030101010101" pitchFamily="2" charset="-122"/>
                </a:rPr>
                <a:t>A</a:t>
              </a:r>
            </a:p>
          </p:txBody>
        </p:sp>
        <p:sp>
          <p:nvSpPr>
            <p:cNvPr id="148" name="Line 23"/>
            <p:cNvSpPr>
              <a:spLocks noChangeAspect="1" noChangeShapeType="1"/>
            </p:cNvSpPr>
            <p:nvPr/>
          </p:nvSpPr>
          <p:spPr bwMode="auto">
            <a:xfrm rot="540000">
              <a:off x="2605673" y="4413008"/>
              <a:ext cx="904892" cy="339229"/>
            </a:xfrm>
            <a:prstGeom prst="line">
              <a:avLst/>
            </a:prstGeom>
            <a:noFill/>
            <a:ln w="38100">
              <a:solidFill>
                <a:schemeClr val="accent2"/>
              </a:solidFill>
              <a:round/>
              <a:headEnd type="triangl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149" name="Line 54"/>
            <p:cNvSpPr>
              <a:spLocks noChangeAspect="1" noChangeShapeType="1"/>
            </p:cNvSpPr>
            <p:nvPr/>
          </p:nvSpPr>
          <p:spPr bwMode="auto">
            <a:xfrm rot="3360000" flipV="1">
              <a:off x="2671323" y="4459662"/>
              <a:ext cx="554254" cy="811447"/>
            </a:xfrm>
            <a:prstGeom prst="line">
              <a:avLst/>
            </a:prstGeom>
            <a:noFill/>
            <a:ln w="38100">
              <a:solidFill>
                <a:schemeClr val="accent2"/>
              </a:solidFill>
              <a:round/>
              <a:headEnd type="triangl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150" name="Line 54"/>
            <p:cNvSpPr>
              <a:spLocks noChangeAspect="1" noChangeShapeType="1"/>
            </p:cNvSpPr>
            <p:nvPr/>
          </p:nvSpPr>
          <p:spPr bwMode="auto">
            <a:xfrm rot="8760000" flipV="1">
              <a:off x="3293883" y="4189181"/>
              <a:ext cx="430195" cy="629814"/>
            </a:xfrm>
            <a:prstGeom prst="line">
              <a:avLst/>
            </a:prstGeom>
            <a:noFill/>
            <a:ln w="38100">
              <a:solidFill>
                <a:schemeClr val="accent2"/>
              </a:solidFill>
              <a:round/>
              <a:headEnd type="triangl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151" name="Oval 27"/>
            <p:cNvSpPr>
              <a:spLocks noChangeAspect="1" noChangeArrowheads="1"/>
            </p:cNvSpPr>
            <p:nvPr/>
          </p:nvSpPr>
          <p:spPr bwMode="auto">
            <a:xfrm>
              <a:off x="3433956" y="4793155"/>
              <a:ext cx="144462" cy="144463"/>
            </a:xfrm>
            <a:prstGeom prst="ellipse">
              <a:avLst/>
            </a:prstGeom>
            <a:solidFill>
              <a:schemeClr val="accent1"/>
            </a:solidFill>
            <a:ln w="25400">
              <a:solidFill>
                <a:srgbClr val="00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52" name="Object 55"/>
            <p:cNvGraphicFramePr>
              <a:graphicFrameLocks/>
            </p:cNvGraphicFramePr>
            <p:nvPr>
              <p:extLst>
                <p:ext uri="{D42A27DB-BD31-4B8C-83A1-F6EECF244321}">
                  <p14:modId xmlns:p14="http://schemas.microsoft.com/office/powerpoint/2010/main" val="3277563372"/>
                </p:ext>
              </p:extLst>
            </p:nvPr>
          </p:nvGraphicFramePr>
          <p:xfrm>
            <a:off x="3142386" y="4381746"/>
            <a:ext cx="392261" cy="293737"/>
          </p:xfrm>
          <a:graphic>
            <a:graphicData uri="http://schemas.openxmlformats.org/presentationml/2006/ole">
              <mc:AlternateContent xmlns:mc="http://schemas.openxmlformats.org/markup-compatibility/2006">
                <mc:Choice xmlns:v="urn:schemas-microsoft-com:vml" Requires="v">
                  <p:oleObj name="Equation" r:id="rId2" imgW="241200" imgH="203040" progId="Equation.DSMT4">
                    <p:embed/>
                  </p:oleObj>
                </mc:Choice>
                <mc:Fallback>
                  <p:oleObj name="Equation" r:id="rId2" imgW="241200" imgH="203040" progId="Equation.DSMT4">
                    <p:embed/>
                    <p:pic>
                      <p:nvPicPr>
                        <p:cNvPr id="0" name=""/>
                        <p:cNvPicPr>
                          <a:picLocks noChangeArrowheads="1"/>
                        </p:cNvPicPr>
                        <p:nvPr/>
                      </p:nvPicPr>
                      <p:blipFill>
                        <a:blip r:embed="rId3"/>
                        <a:srcRect/>
                        <a:stretch>
                          <a:fillRect/>
                        </a:stretch>
                      </p:blipFill>
                      <p:spPr bwMode="auto">
                        <a:xfrm>
                          <a:off x="3142386" y="4381746"/>
                          <a:ext cx="392261" cy="293737"/>
                        </a:xfrm>
                        <a:prstGeom prst="rect">
                          <a:avLst/>
                        </a:prstGeom>
                        <a:noFill/>
                        <a:ln>
                          <a:noFill/>
                        </a:ln>
                        <a:effectLst/>
                      </p:spPr>
                    </p:pic>
                  </p:oleObj>
                </mc:Fallback>
              </mc:AlternateContent>
            </a:graphicData>
          </a:graphic>
        </p:graphicFrame>
        <p:graphicFrame>
          <p:nvGraphicFramePr>
            <p:cNvPr id="153" name="Object 55"/>
            <p:cNvGraphicFramePr>
              <a:graphicFrameLocks/>
            </p:cNvGraphicFramePr>
            <p:nvPr>
              <p:extLst>
                <p:ext uri="{D42A27DB-BD31-4B8C-83A1-F6EECF244321}">
                  <p14:modId xmlns:p14="http://schemas.microsoft.com/office/powerpoint/2010/main" val="2808553441"/>
                </p:ext>
              </p:extLst>
            </p:nvPr>
          </p:nvGraphicFramePr>
          <p:xfrm>
            <a:off x="2830116" y="4588639"/>
            <a:ext cx="371475" cy="293688"/>
          </p:xfrm>
          <a:graphic>
            <a:graphicData uri="http://schemas.openxmlformats.org/presentationml/2006/ole">
              <mc:AlternateContent xmlns:mc="http://schemas.openxmlformats.org/markup-compatibility/2006">
                <mc:Choice xmlns:v="urn:schemas-microsoft-com:vml" Requires="v">
                  <p:oleObj name="Equation" r:id="rId4" imgW="228600" imgH="203040" progId="Equation.DSMT4">
                    <p:embed/>
                  </p:oleObj>
                </mc:Choice>
                <mc:Fallback>
                  <p:oleObj name="Equation" r:id="rId4" imgW="228600" imgH="203040" progId="Equation.DSMT4">
                    <p:embed/>
                    <p:pic>
                      <p:nvPicPr>
                        <p:cNvPr id="0" name=""/>
                        <p:cNvPicPr>
                          <a:picLocks noChangeArrowheads="1"/>
                        </p:cNvPicPr>
                        <p:nvPr/>
                      </p:nvPicPr>
                      <p:blipFill>
                        <a:blip r:embed="rId5"/>
                        <a:srcRect/>
                        <a:stretch>
                          <a:fillRect/>
                        </a:stretch>
                      </p:blipFill>
                      <p:spPr bwMode="auto">
                        <a:xfrm>
                          <a:off x="2830116" y="4588639"/>
                          <a:ext cx="371475" cy="293688"/>
                        </a:xfrm>
                        <a:prstGeom prst="rect">
                          <a:avLst/>
                        </a:prstGeom>
                        <a:noFill/>
                        <a:ln>
                          <a:noFill/>
                        </a:ln>
                        <a:effectLst/>
                      </p:spPr>
                    </p:pic>
                  </p:oleObj>
                </mc:Fallback>
              </mc:AlternateContent>
            </a:graphicData>
          </a:graphic>
        </p:graphicFrame>
        <p:sp>
          <p:nvSpPr>
            <p:cNvPr id="154" name="Text Box 88"/>
            <p:cNvSpPr txBox="1">
              <a:spLocks noChangeArrowheads="1"/>
            </p:cNvSpPr>
            <p:nvPr/>
          </p:nvSpPr>
          <p:spPr bwMode="auto">
            <a:xfrm>
              <a:off x="2315510" y="3914577"/>
              <a:ext cx="7921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i="1" dirty="0">
                  <a:solidFill>
                    <a:srgbClr val="FF0000"/>
                  </a:solidFill>
                  <a:latin typeface="+mn-lt"/>
                </a:rPr>
                <a:t>F</a:t>
              </a:r>
              <a:r>
                <a:rPr lang="en-US" altLang="zh-CN" b="1" baseline="-25000" dirty="0">
                  <a:solidFill>
                    <a:srgbClr val="FF0000"/>
                  </a:solidFill>
                  <a:latin typeface="+mn-lt"/>
                </a:rPr>
                <a:t>N2</a:t>
              </a:r>
            </a:p>
          </p:txBody>
        </p:sp>
        <p:sp>
          <p:nvSpPr>
            <p:cNvPr id="155" name="Text Box 88"/>
            <p:cNvSpPr txBox="1">
              <a:spLocks noChangeArrowheads="1"/>
            </p:cNvSpPr>
            <p:nvPr/>
          </p:nvSpPr>
          <p:spPr bwMode="auto">
            <a:xfrm>
              <a:off x="1899780" y="4444502"/>
              <a:ext cx="7921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i="1" dirty="0">
                  <a:solidFill>
                    <a:srgbClr val="FF0000"/>
                  </a:solidFill>
                  <a:latin typeface="+mn-lt"/>
                </a:rPr>
                <a:t>F</a:t>
              </a:r>
              <a:r>
                <a:rPr lang="en-US" altLang="zh-CN" b="1" baseline="-25000" dirty="0">
                  <a:solidFill>
                    <a:srgbClr val="FF0000"/>
                  </a:solidFill>
                  <a:latin typeface="+mn-lt"/>
                </a:rPr>
                <a:t>N1</a:t>
              </a:r>
            </a:p>
          </p:txBody>
        </p:sp>
        <p:sp>
          <p:nvSpPr>
            <p:cNvPr id="156" name="Text Box 88"/>
            <p:cNvSpPr txBox="1">
              <a:spLocks noChangeArrowheads="1"/>
            </p:cNvSpPr>
            <p:nvPr/>
          </p:nvSpPr>
          <p:spPr bwMode="auto">
            <a:xfrm>
              <a:off x="3270861" y="3771533"/>
              <a:ext cx="7921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i="1" dirty="0">
                  <a:solidFill>
                    <a:srgbClr val="FF0000"/>
                  </a:solidFill>
                  <a:latin typeface="+mn-lt"/>
                </a:rPr>
                <a:t>F</a:t>
              </a:r>
              <a:r>
                <a:rPr lang="en-US" altLang="zh-CN" b="1" baseline="-25000" dirty="0">
                  <a:solidFill>
                    <a:srgbClr val="FF0000"/>
                  </a:solidFill>
                  <a:latin typeface="+mn-lt"/>
                </a:rPr>
                <a:t>N3</a:t>
              </a:r>
            </a:p>
          </p:txBody>
        </p:sp>
      </p:grpSp>
      <p:grpSp>
        <p:nvGrpSpPr>
          <p:cNvPr id="167" name="组合 166"/>
          <p:cNvGrpSpPr/>
          <p:nvPr/>
        </p:nvGrpSpPr>
        <p:grpSpPr>
          <a:xfrm>
            <a:off x="509893" y="4115467"/>
            <a:ext cx="2713597" cy="2146585"/>
            <a:chOff x="3847311" y="4115467"/>
            <a:chExt cx="2713597" cy="2146585"/>
          </a:xfrm>
        </p:grpSpPr>
        <p:sp>
          <p:nvSpPr>
            <p:cNvPr id="100" name="Rectangle 48"/>
            <p:cNvSpPr>
              <a:spLocks noChangeArrowheads="1"/>
            </p:cNvSpPr>
            <p:nvPr/>
          </p:nvSpPr>
          <p:spPr bwMode="auto">
            <a:xfrm>
              <a:off x="5123537" y="5165946"/>
              <a:ext cx="38735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kumimoji="1" lang="en-US" altLang="zh-CN" sz="2000" i="1" dirty="0">
                  <a:solidFill>
                    <a:srgbClr val="000000"/>
                  </a:solidFill>
                  <a:latin typeface="Times New Roman" panose="02020603050405020304" pitchFamily="18" charset="0"/>
                  <a:ea typeface="宋体" panose="02010600030101010101" pitchFamily="2" charset="-122"/>
                </a:rPr>
                <a:t>A</a:t>
              </a:r>
            </a:p>
          </p:txBody>
        </p:sp>
        <p:sp>
          <p:nvSpPr>
            <p:cNvPr id="101" name="Line 23"/>
            <p:cNvSpPr>
              <a:spLocks noChangeAspect="1" noChangeShapeType="1"/>
            </p:cNvSpPr>
            <p:nvPr/>
          </p:nvSpPr>
          <p:spPr bwMode="auto">
            <a:xfrm rot="540000">
              <a:off x="4553204" y="4756942"/>
              <a:ext cx="904892" cy="339229"/>
            </a:xfrm>
            <a:prstGeom prst="line">
              <a:avLst/>
            </a:prstGeom>
            <a:noFill/>
            <a:ln w="38100">
              <a:solidFill>
                <a:schemeClr val="accent2"/>
              </a:solidFill>
              <a:round/>
              <a:headEnd type="triangl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103" name="Line 54"/>
            <p:cNvSpPr>
              <a:spLocks noChangeAspect="1" noChangeShapeType="1"/>
            </p:cNvSpPr>
            <p:nvPr/>
          </p:nvSpPr>
          <p:spPr bwMode="auto">
            <a:xfrm rot="3360000" flipV="1">
              <a:off x="4618854" y="4803596"/>
              <a:ext cx="554254" cy="811447"/>
            </a:xfrm>
            <a:prstGeom prst="line">
              <a:avLst/>
            </a:prstGeom>
            <a:noFill/>
            <a:ln w="38100">
              <a:solidFill>
                <a:schemeClr val="accent2"/>
              </a:solidFill>
              <a:round/>
              <a:headEnd type="triangl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107" name="Line 54"/>
            <p:cNvSpPr>
              <a:spLocks noChangeAspect="1" noChangeShapeType="1"/>
            </p:cNvSpPr>
            <p:nvPr/>
          </p:nvSpPr>
          <p:spPr bwMode="auto">
            <a:xfrm rot="8760000" flipV="1">
              <a:off x="5241414" y="4533115"/>
              <a:ext cx="430195" cy="629814"/>
            </a:xfrm>
            <a:prstGeom prst="line">
              <a:avLst/>
            </a:prstGeom>
            <a:noFill/>
            <a:ln w="38100">
              <a:solidFill>
                <a:schemeClr val="accent2"/>
              </a:solidFill>
              <a:round/>
              <a:headEnd type="triangle" w="sm" len="lg"/>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09" name="Object 55"/>
            <p:cNvGraphicFramePr>
              <a:graphicFrameLocks/>
            </p:cNvGraphicFramePr>
            <p:nvPr>
              <p:extLst>
                <p:ext uri="{D42A27DB-BD31-4B8C-83A1-F6EECF244321}">
                  <p14:modId xmlns:p14="http://schemas.microsoft.com/office/powerpoint/2010/main" val="1353317419"/>
                </p:ext>
              </p:extLst>
            </p:nvPr>
          </p:nvGraphicFramePr>
          <p:xfrm>
            <a:off x="5089917" y="4725680"/>
            <a:ext cx="392261" cy="293737"/>
          </p:xfrm>
          <a:graphic>
            <a:graphicData uri="http://schemas.openxmlformats.org/presentationml/2006/ole">
              <mc:AlternateContent xmlns:mc="http://schemas.openxmlformats.org/markup-compatibility/2006">
                <mc:Choice xmlns:v="urn:schemas-microsoft-com:vml" Requires="v">
                  <p:oleObj name="Equation" r:id="rId2" imgW="241200" imgH="203040" progId="Equation.DSMT4">
                    <p:embed/>
                  </p:oleObj>
                </mc:Choice>
                <mc:Fallback>
                  <p:oleObj name="Equation" r:id="rId2" imgW="241200" imgH="203040" progId="Equation.DSMT4">
                    <p:embed/>
                    <p:pic>
                      <p:nvPicPr>
                        <p:cNvPr id="0" name=""/>
                        <p:cNvPicPr>
                          <a:picLocks noChangeArrowheads="1"/>
                        </p:cNvPicPr>
                        <p:nvPr/>
                      </p:nvPicPr>
                      <p:blipFill>
                        <a:blip r:embed="rId3"/>
                        <a:srcRect/>
                        <a:stretch>
                          <a:fillRect/>
                        </a:stretch>
                      </p:blipFill>
                      <p:spPr bwMode="auto">
                        <a:xfrm>
                          <a:off x="5089917" y="4725680"/>
                          <a:ext cx="392261" cy="293737"/>
                        </a:xfrm>
                        <a:prstGeom prst="rect">
                          <a:avLst/>
                        </a:prstGeom>
                        <a:noFill/>
                        <a:ln>
                          <a:noFill/>
                        </a:ln>
                        <a:effectLst/>
                      </p:spPr>
                    </p:pic>
                  </p:oleObj>
                </mc:Fallback>
              </mc:AlternateContent>
            </a:graphicData>
          </a:graphic>
        </p:graphicFrame>
        <p:graphicFrame>
          <p:nvGraphicFramePr>
            <p:cNvPr id="110" name="Object 55"/>
            <p:cNvGraphicFramePr>
              <a:graphicFrameLocks/>
            </p:cNvGraphicFramePr>
            <p:nvPr>
              <p:extLst>
                <p:ext uri="{D42A27DB-BD31-4B8C-83A1-F6EECF244321}">
                  <p14:modId xmlns:p14="http://schemas.microsoft.com/office/powerpoint/2010/main" val="576586421"/>
                </p:ext>
              </p:extLst>
            </p:nvPr>
          </p:nvGraphicFramePr>
          <p:xfrm>
            <a:off x="5734338" y="5170480"/>
            <a:ext cx="314575" cy="262059"/>
          </p:xfrm>
          <a:graphic>
            <a:graphicData uri="http://schemas.openxmlformats.org/presentationml/2006/ole">
              <mc:AlternateContent xmlns:mc="http://schemas.openxmlformats.org/markup-compatibility/2006">
                <mc:Choice xmlns:v="urn:schemas-microsoft-com:vml" Requires="v">
                  <p:oleObj name="Equation" r:id="rId4" imgW="228600" imgH="203040" progId="Equation.DSMT4">
                    <p:embed/>
                  </p:oleObj>
                </mc:Choice>
                <mc:Fallback>
                  <p:oleObj name="Equation" r:id="rId4" imgW="228600" imgH="203040" progId="Equation.DSMT4">
                    <p:embed/>
                    <p:pic>
                      <p:nvPicPr>
                        <p:cNvPr id="0" name=""/>
                        <p:cNvPicPr>
                          <a:picLocks noChangeArrowheads="1"/>
                        </p:cNvPicPr>
                        <p:nvPr/>
                      </p:nvPicPr>
                      <p:blipFill>
                        <a:blip r:embed="rId5"/>
                        <a:srcRect/>
                        <a:stretch>
                          <a:fillRect/>
                        </a:stretch>
                      </p:blipFill>
                      <p:spPr bwMode="auto">
                        <a:xfrm>
                          <a:off x="5734338" y="5170480"/>
                          <a:ext cx="314575" cy="262059"/>
                        </a:xfrm>
                        <a:prstGeom prst="rect">
                          <a:avLst/>
                        </a:prstGeom>
                        <a:noFill/>
                        <a:ln>
                          <a:noFill/>
                        </a:ln>
                        <a:effectLst/>
                      </p:spPr>
                    </p:pic>
                  </p:oleObj>
                </mc:Fallback>
              </mc:AlternateContent>
            </a:graphicData>
          </a:graphic>
        </p:graphicFrame>
        <p:sp>
          <p:nvSpPr>
            <p:cNvPr id="136" name="Text Box 88"/>
            <p:cNvSpPr txBox="1">
              <a:spLocks noChangeArrowheads="1"/>
            </p:cNvSpPr>
            <p:nvPr/>
          </p:nvSpPr>
          <p:spPr bwMode="auto">
            <a:xfrm>
              <a:off x="4263041" y="4258511"/>
              <a:ext cx="7921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i="1" dirty="0">
                  <a:solidFill>
                    <a:srgbClr val="FF0000"/>
                  </a:solidFill>
                  <a:latin typeface="+mn-lt"/>
                </a:rPr>
                <a:t>F</a:t>
              </a:r>
              <a:r>
                <a:rPr lang="en-US" altLang="zh-CN" b="1" baseline="-25000" dirty="0">
                  <a:solidFill>
                    <a:srgbClr val="FF0000"/>
                  </a:solidFill>
                  <a:latin typeface="+mn-lt"/>
                </a:rPr>
                <a:t>N2</a:t>
              </a:r>
            </a:p>
          </p:txBody>
        </p:sp>
        <p:sp>
          <p:nvSpPr>
            <p:cNvPr id="137" name="Text Box 88"/>
            <p:cNvSpPr txBox="1">
              <a:spLocks noChangeArrowheads="1"/>
            </p:cNvSpPr>
            <p:nvPr/>
          </p:nvSpPr>
          <p:spPr bwMode="auto">
            <a:xfrm>
              <a:off x="3847311" y="4788436"/>
              <a:ext cx="7921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i="1" dirty="0">
                  <a:solidFill>
                    <a:srgbClr val="FF0000"/>
                  </a:solidFill>
                  <a:latin typeface="+mn-lt"/>
                </a:rPr>
                <a:t>F</a:t>
              </a:r>
              <a:r>
                <a:rPr lang="en-US" altLang="zh-CN" b="1" baseline="-25000" dirty="0">
                  <a:solidFill>
                    <a:srgbClr val="FF0000"/>
                  </a:solidFill>
                  <a:latin typeface="+mn-lt"/>
                </a:rPr>
                <a:t>N1</a:t>
              </a:r>
            </a:p>
          </p:txBody>
        </p:sp>
        <p:sp>
          <p:nvSpPr>
            <p:cNvPr id="138" name="Text Box 88"/>
            <p:cNvSpPr txBox="1">
              <a:spLocks noChangeArrowheads="1"/>
            </p:cNvSpPr>
            <p:nvPr/>
          </p:nvSpPr>
          <p:spPr bwMode="auto">
            <a:xfrm>
              <a:off x="5218392" y="4115467"/>
              <a:ext cx="7921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i="1" dirty="0">
                  <a:solidFill>
                    <a:srgbClr val="FF0000"/>
                  </a:solidFill>
                  <a:latin typeface="+mn-lt"/>
                </a:rPr>
                <a:t>F</a:t>
              </a:r>
              <a:r>
                <a:rPr lang="en-US" altLang="zh-CN" b="1" baseline="-25000" dirty="0">
                  <a:solidFill>
                    <a:srgbClr val="FF0000"/>
                  </a:solidFill>
                  <a:latin typeface="+mn-lt"/>
                </a:rPr>
                <a:t>N3</a:t>
              </a:r>
            </a:p>
          </p:txBody>
        </p:sp>
        <p:sp>
          <p:nvSpPr>
            <p:cNvPr id="157" name="Line 23"/>
            <p:cNvSpPr>
              <a:spLocks noChangeAspect="1" noChangeShapeType="1"/>
            </p:cNvSpPr>
            <p:nvPr/>
          </p:nvSpPr>
          <p:spPr bwMode="auto">
            <a:xfrm rot="540000">
              <a:off x="5491557" y="5313542"/>
              <a:ext cx="904892" cy="339229"/>
            </a:xfrm>
            <a:prstGeom prst="line">
              <a:avLst/>
            </a:prstGeom>
            <a:noFill/>
            <a:ln w="25400">
              <a:solidFill>
                <a:schemeClr val="tx1"/>
              </a:solidFill>
              <a:round/>
              <a:headEnd type="non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158" name="Line 54"/>
            <p:cNvSpPr>
              <a:spLocks noChangeAspect="1" noChangeShapeType="1"/>
            </p:cNvSpPr>
            <p:nvPr/>
          </p:nvSpPr>
          <p:spPr bwMode="auto">
            <a:xfrm rot="8760000" flipV="1">
              <a:off x="5241703" y="5333244"/>
              <a:ext cx="430195" cy="629814"/>
            </a:xfrm>
            <a:prstGeom prst="line">
              <a:avLst/>
            </a:prstGeom>
            <a:noFill/>
            <a:ln w="25400">
              <a:solidFill>
                <a:schemeClr val="tx1"/>
              </a:solidFill>
              <a:round/>
              <a:headEnd type="non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159" name="Line 54"/>
            <p:cNvSpPr>
              <a:spLocks noChangeAspect="1" noChangeShapeType="1"/>
            </p:cNvSpPr>
            <p:nvPr/>
          </p:nvSpPr>
          <p:spPr bwMode="auto">
            <a:xfrm rot="3360000" flipV="1">
              <a:off x="5608141" y="4927985"/>
              <a:ext cx="398152" cy="582910"/>
            </a:xfrm>
            <a:prstGeom prst="line">
              <a:avLst/>
            </a:prstGeom>
            <a:noFill/>
            <a:ln w="25400">
              <a:solidFill>
                <a:schemeClr val="tx1"/>
              </a:solidFill>
              <a:round/>
              <a:headEnd type="non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160" name="Rectangle 48"/>
            <p:cNvSpPr>
              <a:spLocks noChangeArrowheads="1"/>
            </p:cNvSpPr>
            <p:nvPr/>
          </p:nvSpPr>
          <p:spPr bwMode="auto">
            <a:xfrm>
              <a:off x="6075849" y="5861300"/>
              <a:ext cx="485059"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eaLnBrk="0" hangingPunct="0"/>
              <a:r>
                <a:rPr kumimoji="1" lang="en-US" altLang="zh-CN" sz="2000" i="1" dirty="0">
                  <a:solidFill>
                    <a:srgbClr val="000000"/>
                  </a:solidFill>
                  <a:latin typeface="Times New Roman" panose="02020603050405020304" pitchFamily="18" charset="0"/>
                  <a:ea typeface="宋体" panose="02010600030101010101" pitchFamily="2" charset="-122"/>
                </a:rPr>
                <a:t>A</a:t>
              </a:r>
              <a:r>
                <a:rPr kumimoji="1" lang="en-US" altLang="zh-CN" sz="2000" i="1" dirty="0">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000" i="1" dirty="0">
                <a:solidFill>
                  <a:srgbClr val="000000"/>
                </a:solidFill>
                <a:latin typeface="Times New Roman" panose="02020603050405020304" pitchFamily="18" charset="0"/>
                <a:ea typeface="宋体" panose="02010600030101010101" pitchFamily="2" charset="-122"/>
              </a:endParaRPr>
            </a:p>
          </p:txBody>
        </p:sp>
        <p:sp>
          <p:nvSpPr>
            <p:cNvPr id="108" name="Oval 27"/>
            <p:cNvSpPr>
              <a:spLocks noChangeAspect="1" noChangeArrowheads="1"/>
            </p:cNvSpPr>
            <p:nvPr/>
          </p:nvSpPr>
          <p:spPr bwMode="auto">
            <a:xfrm>
              <a:off x="5381487" y="5137089"/>
              <a:ext cx="144462" cy="144463"/>
            </a:xfrm>
            <a:prstGeom prst="ellipse">
              <a:avLst/>
            </a:prstGeom>
            <a:solidFill>
              <a:schemeClr val="accent1"/>
            </a:solidFill>
            <a:ln w="25400">
              <a:solidFill>
                <a:srgbClr val="00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61" name="Line 54"/>
            <p:cNvSpPr>
              <a:spLocks noChangeAspect="1" noChangeShapeType="1"/>
            </p:cNvSpPr>
            <p:nvPr/>
          </p:nvSpPr>
          <p:spPr bwMode="auto">
            <a:xfrm rot="3360000" flipV="1">
              <a:off x="5611854" y="5736341"/>
              <a:ext cx="398152" cy="582910"/>
            </a:xfrm>
            <a:prstGeom prst="line">
              <a:avLst/>
            </a:prstGeom>
            <a:noFill/>
            <a:ln w="25400">
              <a:solidFill>
                <a:schemeClr val="tx1"/>
              </a:solidFill>
              <a:round/>
              <a:headEnd type="non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162" name="Line 54"/>
            <p:cNvSpPr>
              <a:spLocks noChangeAspect="1" noChangeShapeType="1"/>
            </p:cNvSpPr>
            <p:nvPr/>
          </p:nvSpPr>
          <p:spPr bwMode="auto">
            <a:xfrm rot="8760000" flipV="1">
              <a:off x="5928637" y="5309525"/>
              <a:ext cx="437972" cy="641201"/>
            </a:xfrm>
            <a:prstGeom prst="line">
              <a:avLst/>
            </a:prstGeom>
            <a:noFill/>
            <a:ln w="25400">
              <a:solidFill>
                <a:schemeClr val="tx1"/>
              </a:solidFill>
              <a:round/>
              <a:headEnd type="non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163" name="Line 23"/>
            <p:cNvSpPr>
              <a:spLocks noChangeAspect="1" noChangeShapeType="1"/>
            </p:cNvSpPr>
            <p:nvPr/>
          </p:nvSpPr>
          <p:spPr bwMode="auto">
            <a:xfrm rot="5940000">
              <a:off x="6074778" y="5807607"/>
              <a:ext cx="358337" cy="134327"/>
            </a:xfrm>
            <a:prstGeom prst="line">
              <a:avLst/>
            </a:prstGeom>
            <a:noFill/>
            <a:ln w="25400">
              <a:solidFill>
                <a:schemeClr val="tx1"/>
              </a:solidFill>
              <a:round/>
              <a:headEnd type="non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164" name="Text Box 163"/>
            <p:cNvSpPr txBox="1">
              <a:spLocks noChangeArrowheads="1"/>
            </p:cNvSpPr>
            <p:nvPr/>
          </p:nvSpPr>
          <p:spPr bwMode="auto">
            <a:xfrm>
              <a:off x="5636735" y="4834694"/>
              <a:ext cx="716429"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20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2000" i="1" dirty="0">
                  <a:solidFill>
                    <a:srgbClr val="FF0000"/>
                  </a:solidFill>
                  <a:latin typeface="Times New Roman" panose="02020603050405020304" pitchFamily="18" charset="0"/>
                  <a:ea typeface="宋体" panose="02010600030101010101" pitchFamily="2" charset="-122"/>
                  <a:sym typeface="Symbol" panose="05050102010706020507" pitchFamily="18" charset="2"/>
                </a:rPr>
                <a:t>l</a:t>
              </a:r>
              <a:r>
                <a:rPr lang="en-US" altLang="zh-CN" sz="2000" b="1" baseline="-25000" dirty="0">
                  <a:solidFill>
                    <a:srgbClr val="FF0000"/>
                  </a:solidFill>
                  <a:sym typeface="Symbol" panose="05050102010706020507" pitchFamily="18" charset="2"/>
                </a:rPr>
                <a:t>1</a:t>
              </a:r>
              <a:endParaRPr kumimoji="1" lang="en-US" altLang="zh-CN" sz="2000" b="1" dirty="0">
                <a:solidFill>
                  <a:srgbClr val="FF0000"/>
                </a:solidFill>
              </a:endParaRPr>
            </a:p>
          </p:txBody>
        </p:sp>
        <p:sp>
          <p:nvSpPr>
            <p:cNvPr id="165" name="Text Box 163"/>
            <p:cNvSpPr txBox="1">
              <a:spLocks noChangeArrowheads="1"/>
            </p:cNvSpPr>
            <p:nvPr/>
          </p:nvSpPr>
          <p:spPr bwMode="auto">
            <a:xfrm>
              <a:off x="5617879" y="5411090"/>
              <a:ext cx="716429"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20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2000" i="1" dirty="0">
                  <a:solidFill>
                    <a:srgbClr val="FF0000"/>
                  </a:solidFill>
                  <a:latin typeface="Times New Roman" panose="02020603050405020304" pitchFamily="18" charset="0"/>
                  <a:ea typeface="宋体" panose="02010600030101010101" pitchFamily="2" charset="-122"/>
                  <a:sym typeface="Symbol" panose="05050102010706020507" pitchFamily="18" charset="2"/>
                </a:rPr>
                <a:t>l</a:t>
              </a:r>
              <a:r>
                <a:rPr lang="en-US" altLang="zh-CN" sz="2000" b="1" baseline="-25000" dirty="0">
                  <a:solidFill>
                    <a:srgbClr val="FF0000"/>
                  </a:solidFill>
                  <a:sym typeface="Symbol" panose="05050102010706020507" pitchFamily="18" charset="2"/>
                </a:rPr>
                <a:t>2</a:t>
              </a:r>
              <a:endParaRPr kumimoji="1" lang="en-US" altLang="zh-CN" sz="2000" b="1" dirty="0">
                <a:solidFill>
                  <a:srgbClr val="FF0000"/>
                </a:solidFill>
              </a:endParaRPr>
            </a:p>
          </p:txBody>
        </p:sp>
        <p:sp>
          <p:nvSpPr>
            <p:cNvPr id="166" name="Text Box 163"/>
            <p:cNvSpPr txBox="1">
              <a:spLocks noChangeArrowheads="1"/>
            </p:cNvSpPr>
            <p:nvPr/>
          </p:nvSpPr>
          <p:spPr bwMode="auto">
            <a:xfrm>
              <a:off x="5001267" y="5538755"/>
              <a:ext cx="716429"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20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2000" i="1" dirty="0">
                  <a:solidFill>
                    <a:srgbClr val="FF0000"/>
                  </a:solidFill>
                  <a:latin typeface="Times New Roman" panose="02020603050405020304" pitchFamily="18" charset="0"/>
                  <a:ea typeface="宋体" panose="02010600030101010101" pitchFamily="2" charset="-122"/>
                  <a:sym typeface="Symbol" panose="05050102010706020507" pitchFamily="18" charset="2"/>
                </a:rPr>
                <a:t>l</a:t>
              </a:r>
              <a:r>
                <a:rPr lang="en-US" altLang="zh-CN" sz="2000" b="1" baseline="-25000" dirty="0">
                  <a:solidFill>
                    <a:srgbClr val="FF0000"/>
                  </a:solidFill>
                  <a:sym typeface="Symbol" panose="05050102010706020507" pitchFamily="18" charset="2"/>
                </a:rPr>
                <a:t>3</a:t>
              </a:r>
              <a:endParaRPr kumimoji="1" lang="en-US" altLang="zh-CN" sz="2000" b="1" dirty="0">
                <a:solidFill>
                  <a:srgbClr val="FF0000"/>
                </a:solidFill>
              </a:endParaRPr>
            </a:p>
          </p:txBody>
        </p:sp>
      </p:grpSp>
      <p:graphicFrame>
        <p:nvGraphicFramePr>
          <p:cNvPr id="169" name="Object 5"/>
          <p:cNvGraphicFramePr>
            <a:graphicFrameLocks noChangeAspect="1"/>
          </p:cNvGraphicFramePr>
          <p:nvPr>
            <p:extLst>
              <p:ext uri="{D42A27DB-BD31-4B8C-83A1-F6EECF244321}">
                <p14:modId xmlns:p14="http://schemas.microsoft.com/office/powerpoint/2010/main" val="2974503714"/>
              </p:ext>
            </p:extLst>
          </p:nvPr>
        </p:nvGraphicFramePr>
        <p:xfrm>
          <a:off x="3470554" y="4903762"/>
          <a:ext cx="5047784" cy="479768"/>
        </p:xfrm>
        <a:graphic>
          <a:graphicData uri="http://schemas.openxmlformats.org/presentationml/2006/ole">
            <mc:AlternateContent xmlns:mc="http://schemas.openxmlformats.org/markup-compatibility/2006">
              <mc:Choice xmlns:v="urn:schemas-microsoft-com:vml" Requires="v">
                <p:oleObj name="Equation" r:id="rId8" imgW="2577960" imgH="241200" progId="Equation.DSMT4">
                  <p:embed/>
                </p:oleObj>
              </mc:Choice>
              <mc:Fallback>
                <p:oleObj name="Equation" r:id="rId8" imgW="2577960" imgH="241200" progId="Equation.DSMT4">
                  <p:embed/>
                  <p:pic>
                    <p:nvPicPr>
                      <p:cNvPr id="0" name=""/>
                      <p:cNvPicPr>
                        <a:picLocks noChangeAspect="1" noChangeArrowheads="1"/>
                      </p:cNvPicPr>
                      <p:nvPr/>
                    </p:nvPicPr>
                    <p:blipFill>
                      <a:blip r:embed="rId9"/>
                      <a:srcRect/>
                      <a:stretch>
                        <a:fillRect/>
                      </a:stretch>
                    </p:blipFill>
                    <p:spPr bwMode="auto">
                      <a:xfrm>
                        <a:off x="3470554" y="4903762"/>
                        <a:ext cx="5047784" cy="479768"/>
                      </a:xfrm>
                      <a:prstGeom prst="rect">
                        <a:avLst/>
                      </a:prstGeom>
                      <a:noFill/>
                      <a:ln>
                        <a:noFill/>
                      </a:ln>
                      <a:effectLst/>
                    </p:spPr>
                  </p:pic>
                </p:oleObj>
              </mc:Fallback>
            </mc:AlternateContent>
          </a:graphicData>
        </a:graphic>
      </p:graphicFrame>
      <p:graphicFrame>
        <p:nvGraphicFramePr>
          <p:cNvPr id="170" name="Object 5"/>
          <p:cNvGraphicFramePr>
            <a:graphicFrameLocks noChangeAspect="1"/>
          </p:cNvGraphicFramePr>
          <p:nvPr>
            <p:extLst>
              <p:ext uri="{D42A27DB-BD31-4B8C-83A1-F6EECF244321}">
                <p14:modId xmlns:p14="http://schemas.microsoft.com/office/powerpoint/2010/main" val="1650759524"/>
              </p:ext>
            </p:extLst>
          </p:nvPr>
        </p:nvGraphicFramePr>
        <p:xfrm>
          <a:off x="4862452" y="5496034"/>
          <a:ext cx="2236788" cy="504825"/>
        </p:xfrm>
        <a:graphic>
          <a:graphicData uri="http://schemas.openxmlformats.org/presentationml/2006/ole">
            <mc:AlternateContent xmlns:mc="http://schemas.openxmlformats.org/markup-compatibility/2006">
              <mc:Choice xmlns:v="urn:schemas-microsoft-com:vml" Requires="v">
                <p:oleObj name="Equation" r:id="rId10" imgW="1143000" imgH="253800" progId="Equation.DSMT4">
                  <p:embed/>
                </p:oleObj>
              </mc:Choice>
              <mc:Fallback>
                <p:oleObj name="Equation" r:id="rId10" imgW="1143000" imgH="253800" progId="Equation.DSMT4">
                  <p:embed/>
                  <p:pic>
                    <p:nvPicPr>
                      <p:cNvPr id="0" name=""/>
                      <p:cNvPicPr>
                        <a:picLocks noChangeAspect="1" noChangeArrowheads="1"/>
                      </p:cNvPicPr>
                      <p:nvPr/>
                    </p:nvPicPr>
                    <p:blipFill>
                      <a:blip r:embed="rId11"/>
                      <a:srcRect/>
                      <a:stretch>
                        <a:fillRect/>
                      </a:stretch>
                    </p:blipFill>
                    <p:spPr bwMode="auto">
                      <a:xfrm>
                        <a:off x="4862452" y="5496034"/>
                        <a:ext cx="2236788" cy="504825"/>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488369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dissolve">
                                      <p:cBhvr>
                                        <p:cTn id="7" dur="500"/>
                                        <p:tgtEl>
                                          <p:spTgt spid="8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0"/>
                                        </p:tgtEl>
                                        <p:attrNameLst>
                                          <p:attrName>style.visibility</p:attrName>
                                        </p:attrNameLst>
                                      </p:cBhvr>
                                      <p:to>
                                        <p:strVal val="visible"/>
                                      </p:to>
                                    </p:set>
                                    <p:animEffect transition="in" filter="dissolve">
                                      <p:cBhvr>
                                        <p:cTn id="12" dur="500"/>
                                        <p:tgtEl>
                                          <p:spTgt spid="140"/>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144"/>
                                        </p:tgtEl>
                                        <p:attrNameLst>
                                          <p:attrName>style.visibility</p:attrName>
                                        </p:attrNameLst>
                                      </p:cBhvr>
                                      <p:to>
                                        <p:strVal val="visible"/>
                                      </p:to>
                                    </p:set>
                                    <p:animEffect transition="in" filter="fade">
                                      <p:cBhvr>
                                        <p:cTn id="17" dur="1000"/>
                                        <p:tgtEl>
                                          <p:spTgt spid="144"/>
                                        </p:tgtEl>
                                      </p:cBhvr>
                                    </p:animEffect>
                                    <p:anim calcmode="lin" valueType="num">
                                      <p:cBhvr>
                                        <p:cTn id="18" dur="1000" fill="hold"/>
                                        <p:tgtEl>
                                          <p:spTgt spid="144"/>
                                        </p:tgtEl>
                                        <p:attrNameLst>
                                          <p:attrName>ppt_x</p:attrName>
                                        </p:attrNameLst>
                                      </p:cBhvr>
                                      <p:tavLst>
                                        <p:tav tm="0">
                                          <p:val>
                                            <p:strVal val="#ppt_x"/>
                                          </p:val>
                                        </p:tav>
                                        <p:tav tm="100000">
                                          <p:val>
                                            <p:strVal val="#ppt_x"/>
                                          </p:val>
                                        </p:tav>
                                      </p:tavLst>
                                    </p:anim>
                                    <p:anim calcmode="lin" valueType="num">
                                      <p:cBhvr>
                                        <p:cTn id="19" dur="1000" fill="hold"/>
                                        <p:tgtEl>
                                          <p:spTgt spid="144"/>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41"/>
                                        </p:tgtEl>
                                        <p:attrNameLst>
                                          <p:attrName>style.visibility</p:attrName>
                                        </p:attrNameLst>
                                      </p:cBhvr>
                                      <p:to>
                                        <p:strVal val="visible"/>
                                      </p:to>
                                    </p:set>
                                    <p:animEffect transition="in" filter="wipe(left)">
                                      <p:cBhvr>
                                        <p:cTn id="24" dur="500"/>
                                        <p:tgtEl>
                                          <p:spTgt spid="14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42"/>
                                        </p:tgtEl>
                                        <p:attrNameLst>
                                          <p:attrName>style.visibility</p:attrName>
                                        </p:attrNameLst>
                                      </p:cBhvr>
                                      <p:to>
                                        <p:strVal val="visible"/>
                                      </p:to>
                                    </p:set>
                                    <p:animEffect transition="in" filter="fade">
                                      <p:cBhvr>
                                        <p:cTn id="29" dur="500"/>
                                        <p:tgtEl>
                                          <p:spTgt spid="142"/>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43"/>
                                        </p:tgtEl>
                                        <p:attrNameLst>
                                          <p:attrName>style.visibility</p:attrName>
                                        </p:attrNameLst>
                                      </p:cBhvr>
                                      <p:to>
                                        <p:strVal val="visible"/>
                                      </p:to>
                                    </p:set>
                                    <p:animEffect transition="in" filter="wipe(left)">
                                      <p:cBhvr>
                                        <p:cTn id="34" dur="500"/>
                                        <p:tgtEl>
                                          <p:spTgt spid="143"/>
                                        </p:tgtEl>
                                      </p:cBhvr>
                                    </p:animEffect>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167"/>
                                        </p:tgtEl>
                                        <p:attrNameLst>
                                          <p:attrName>style.visibility</p:attrName>
                                        </p:attrNameLst>
                                      </p:cBhvr>
                                      <p:to>
                                        <p:strVal val="visible"/>
                                      </p:to>
                                    </p:set>
                                    <p:animEffect transition="in" filter="fade">
                                      <p:cBhvr>
                                        <p:cTn id="39" dur="1000"/>
                                        <p:tgtEl>
                                          <p:spTgt spid="167"/>
                                        </p:tgtEl>
                                      </p:cBhvr>
                                    </p:animEffect>
                                    <p:anim calcmode="lin" valueType="num">
                                      <p:cBhvr>
                                        <p:cTn id="40" dur="1000" fill="hold"/>
                                        <p:tgtEl>
                                          <p:spTgt spid="167"/>
                                        </p:tgtEl>
                                        <p:attrNameLst>
                                          <p:attrName>ppt_x</p:attrName>
                                        </p:attrNameLst>
                                      </p:cBhvr>
                                      <p:tavLst>
                                        <p:tav tm="0">
                                          <p:val>
                                            <p:strVal val="#ppt_x"/>
                                          </p:val>
                                        </p:tav>
                                        <p:tav tm="100000">
                                          <p:val>
                                            <p:strVal val="#ppt_x"/>
                                          </p:val>
                                        </p:tav>
                                      </p:tavLst>
                                    </p:anim>
                                    <p:anim calcmode="lin" valueType="num">
                                      <p:cBhvr>
                                        <p:cTn id="41" dur="1000" fill="hold"/>
                                        <p:tgtEl>
                                          <p:spTgt spid="167"/>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2" presetClass="entr" presetSubtype="4" fill="hold" nodeType="clickEffect">
                                  <p:stCondLst>
                                    <p:cond delay="0"/>
                                  </p:stCondLst>
                                  <p:childTnLst>
                                    <p:set>
                                      <p:cBhvr>
                                        <p:cTn id="45" dur="1" fill="hold">
                                          <p:stCondLst>
                                            <p:cond delay="0"/>
                                          </p:stCondLst>
                                        </p:cTn>
                                        <p:tgtEl>
                                          <p:spTgt spid="169"/>
                                        </p:tgtEl>
                                        <p:attrNameLst>
                                          <p:attrName>style.visibility</p:attrName>
                                        </p:attrNameLst>
                                      </p:cBhvr>
                                      <p:to>
                                        <p:strVal val="visible"/>
                                      </p:to>
                                    </p:set>
                                    <p:animEffect transition="in" filter="slide(fromBottom)">
                                      <p:cBhvr>
                                        <p:cTn id="46" dur="500"/>
                                        <p:tgtEl>
                                          <p:spTgt spid="169"/>
                                        </p:tgtEl>
                                      </p:cBhvr>
                                    </p:animEffect>
                                  </p:childTnLst>
                                </p:cTn>
                              </p:par>
                            </p:childTnLst>
                          </p:cTn>
                        </p:par>
                      </p:childTnLst>
                    </p:cTn>
                  </p:par>
                  <p:par>
                    <p:cTn id="47" fill="hold">
                      <p:stCondLst>
                        <p:cond delay="indefinite"/>
                      </p:stCondLst>
                      <p:childTnLst>
                        <p:par>
                          <p:cTn id="48" fill="hold">
                            <p:stCondLst>
                              <p:cond delay="0"/>
                            </p:stCondLst>
                            <p:childTnLst>
                              <p:par>
                                <p:cTn id="49" presetID="12" presetClass="entr" presetSubtype="4" fill="hold" nodeType="clickEffect">
                                  <p:stCondLst>
                                    <p:cond delay="0"/>
                                  </p:stCondLst>
                                  <p:childTnLst>
                                    <p:set>
                                      <p:cBhvr>
                                        <p:cTn id="50" dur="1" fill="hold">
                                          <p:stCondLst>
                                            <p:cond delay="0"/>
                                          </p:stCondLst>
                                        </p:cTn>
                                        <p:tgtEl>
                                          <p:spTgt spid="170"/>
                                        </p:tgtEl>
                                        <p:attrNameLst>
                                          <p:attrName>style.visibility</p:attrName>
                                        </p:attrNameLst>
                                      </p:cBhvr>
                                      <p:to>
                                        <p:strVal val="visible"/>
                                      </p:to>
                                    </p:set>
                                    <p:animEffect transition="in" filter="slide(fromBottom)">
                                      <p:cBhvr>
                                        <p:cTn id="51" dur="500"/>
                                        <p:tgtEl>
                                          <p:spTgt spid="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autoUpdateAnimBg="0"/>
      <p:bldP spid="140" grpId="0" autoUpdateAnimBg="0"/>
      <p:bldP spid="141" grpId="0"/>
      <p:bldP spid="14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5580112" y="692696"/>
            <a:ext cx="2924273" cy="2051546"/>
            <a:chOff x="5008063" y="1387696"/>
            <a:chExt cx="2924273" cy="2051546"/>
          </a:xfrm>
        </p:grpSpPr>
        <p:grpSp>
          <p:nvGrpSpPr>
            <p:cNvPr id="3" name="Group 4"/>
            <p:cNvGrpSpPr>
              <a:grpSpLocks/>
            </p:cNvGrpSpPr>
            <p:nvPr/>
          </p:nvGrpSpPr>
          <p:grpSpPr bwMode="auto">
            <a:xfrm>
              <a:off x="5176788" y="1388241"/>
              <a:ext cx="1225933" cy="124327"/>
              <a:chOff x="240" y="2880"/>
              <a:chExt cx="720" cy="96"/>
            </a:xfrm>
          </p:grpSpPr>
          <p:sp>
            <p:nvSpPr>
              <p:cNvPr id="43" name="Line 5"/>
              <p:cNvSpPr>
                <a:spLocks noChangeShapeType="1"/>
              </p:cNvSpPr>
              <p:nvPr/>
            </p:nvSpPr>
            <p:spPr bwMode="auto">
              <a:xfrm flipH="1">
                <a:off x="240" y="2976"/>
                <a:ext cx="655"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Line 6"/>
              <p:cNvSpPr>
                <a:spLocks noChangeShapeType="1"/>
              </p:cNvSpPr>
              <p:nvPr/>
            </p:nvSpPr>
            <p:spPr bwMode="auto">
              <a:xfrm flipH="1">
                <a:off x="827" y="2880"/>
                <a:ext cx="133"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Line 7"/>
              <p:cNvSpPr>
                <a:spLocks noChangeShapeType="1"/>
              </p:cNvSpPr>
              <p:nvPr/>
            </p:nvSpPr>
            <p:spPr bwMode="auto">
              <a:xfrm flipH="1">
                <a:off x="698" y="2880"/>
                <a:ext cx="129"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Line 8"/>
              <p:cNvSpPr>
                <a:spLocks noChangeShapeType="1"/>
              </p:cNvSpPr>
              <p:nvPr/>
            </p:nvSpPr>
            <p:spPr bwMode="auto">
              <a:xfrm flipH="1">
                <a:off x="568" y="2880"/>
                <a:ext cx="130"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9"/>
              <p:cNvSpPr>
                <a:spLocks noChangeShapeType="1"/>
              </p:cNvSpPr>
              <p:nvPr/>
            </p:nvSpPr>
            <p:spPr bwMode="auto">
              <a:xfrm flipH="1">
                <a:off x="436" y="2880"/>
                <a:ext cx="132"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Line 10"/>
              <p:cNvSpPr>
                <a:spLocks noChangeShapeType="1"/>
              </p:cNvSpPr>
              <p:nvPr/>
            </p:nvSpPr>
            <p:spPr bwMode="auto">
              <a:xfrm flipH="1">
                <a:off x="305" y="2880"/>
                <a:ext cx="131"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 name="Group 11"/>
            <p:cNvGrpSpPr>
              <a:grpSpLocks/>
            </p:cNvGrpSpPr>
            <p:nvPr/>
          </p:nvGrpSpPr>
          <p:grpSpPr bwMode="auto">
            <a:xfrm>
              <a:off x="6276460" y="1387696"/>
              <a:ext cx="1225933" cy="124327"/>
              <a:chOff x="912" y="2880"/>
              <a:chExt cx="720" cy="96"/>
            </a:xfrm>
          </p:grpSpPr>
          <p:sp>
            <p:nvSpPr>
              <p:cNvPr id="37" name="Line 12"/>
              <p:cNvSpPr>
                <a:spLocks noChangeShapeType="1"/>
              </p:cNvSpPr>
              <p:nvPr/>
            </p:nvSpPr>
            <p:spPr bwMode="auto">
              <a:xfrm flipH="1">
                <a:off x="912" y="2976"/>
                <a:ext cx="655"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Line 13"/>
              <p:cNvSpPr>
                <a:spLocks noChangeShapeType="1"/>
              </p:cNvSpPr>
              <p:nvPr/>
            </p:nvSpPr>
            <p:spPr bwMode="auto">
              <a:xfrm flipH="1">
                <a:off x="1499" y="2880"/>
                <a:ext cx="133"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14"/>
              <p:cNvSpPr>
                <a:spLocks noChangeShapeType="1"/>
              </p:cNvSpPr>
              <p:nvPr/>
            </p:nvSpPr>
            <p:spPr bwMode="auto">
              <a:xfrm flipH="1">
                <a:off x="1370" y="2880"/>
                <a:ext cx="129"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Line 15"/>
              <p:cNvSpPr>
                <a:spLocks noChangeShapeType="1"/>
              </p:cNvSpPr>
              <p:nvPr/>
            </p:nvSpPr>
            <p:spPr bwMode="auto">
              <a:xfrm flipH="1">
                <a:off x="1240" y="2880"/>
                <a:ext cx="130"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Line 16"/>
              <p:cNvSpPr>
                <a:spLocks noChangeShapeType="1"/>
              </p:cNvSpPr>
              <p:nvPr/>
            </p:nvSpPr>
            <p:spPr bwMode="auto">
              <a:xfrm flipH="1">
                <a:off x="1108" y="2880"/>
                <a:ext cx="132"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Line 17"/>
              <p:cNvSpPr>
                <a:spLocks noChangeShapeType="1"/>
              </p:cNvSpPr>
              <p:nvPr/>
            </p:nvSpPr>
            <p:spPr bwMode="auto">
              <a:xfrm flipH="1">
                <a:off x="977" y="2880"/>
                <a:ext cx="131"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 name="Rectangle 26"/>
            <p:cNvSpPr>
              <a:spLocks noChangeArrowheads="1"/>
            </p:cNvSpPr>
            <p:nvPr/>
          </p:nvSpPr>
          <p:spPr bwMode="auto">
            <a:xfrm>
              <a:off x="5892614" y="2488608"/>
              <a:ext cx="31432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dirty="0">
                  <a:solidFill>
                    <a:srgbClr val="000000"/>
                  </a:solidFill>
                  <a:latin typeface="Times New Roman" panose="02020603050405020304" pitchFamily="18" charset="0"/>
                  <a:ea typeface="宋体" panose="02010600030101010101" pitchFamily="2" charset="-122"/>
                </a:rPr>
                <a:t>1</a:t>
              </a:r>
            </a:p>
          </p:txBody>
        </p:sp>
        <p:sp>
          <p:nvSpPr>
            <p:cNvPr id="6" name="Rectangle 36"/>
            <p:cNvSpPr>
              <a:spLocks noChangeArrowheads="1"/>
            </p:cNvSpPr>
            <p:nvPr/>
          </p:nvSpPr>
          <p:spPr bwMode="auto">
            <a:xfrm>
              <a:off x="6295861" y="1883799"/>
              <a:ext cx="31432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dirty="0">
                  <a:solidFill>
                    <a:srgbClr val="000000"/>
                  </a:solidFill>
                  <a:latin typeface="Times New Roman" panose="02020603050405020304" pitchFamily="18" charset="0"/>
                  <a:ea typeface="宋体" panose="02010600030101010101" pitchFamily="2" charset="-122"/>
                </a:rPr>
                <a:t>2</a:t>
              </a:r>
            </a:p>
          </p:txBody>
        </p:sp>
        <p:sp>
          <p:nvSpPr>
            <p:cNvPr id="7" name="Line 41"/>
            <p:cNvSpPr>
              <a:spLocks noChangeShapeType="1"/>
            </p:cNvSpPr>
            <p:nvPr/>
          </p:nvSpPr>
          <p:spPr bwMode="auto">
            <a:xfrm>
              <a:off x="7398634" y="2677242"/>
              <a:ext cx="0" cy="762000"/>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8" name="Rectangle 42"/>
            <p:cNvSpPr>
              <a:spLocks noChangeArrowheads="1"/>
            </p:cNvSpPr>
            <p:nvPr/>
          </p:nvSpPr>
          <p:spPr bwMode="auto">
            <a:xfrm>
              <a:off x="7407232" y="2929453"/>
              <a:ext cx="4191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kumimoji="1" lang="en-US" altLang="zh-CN" b="1" i="1" dirty="0">
                  <a:solidFill>
                    <a:srgbClr val="FF0000"/>
                  </a:solidFill>
                  <a:latin typeface="Times New Roman" panose="02020603050405020304" pitchFamily="18" charset="0"/>
                  <a:ea typeface="宋体" panose="02010600030101010101" pitchFamily="2" charset="-122"/>
                </a:rPr>
                <a:t>F</a:t>
              </a:r>
            </a:p>
          </p:txBody>
        </p:sp>
        <p:sp>
          <p:nvSpPr>
            <p:cNvPr id="9" name="Line 43"/>
            <p:cNvSpPr>
              <a:spLocks noChangeShapeType="1"/>
            </p:cNvSpPr>
            <p:nvPr/>
          </p:nvSpPr>
          <p:spPr bwMode="auto">
            <a:xfrm>
              <a:off x="7698728" y="1510155"/>
              <a:ext cx="0" cy="1332000"/>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 name="Line 44"/>
            <p:cNvSpPr>
              <a:spLocks noChangeShapeType="1"/>
            </p:cNvSpPr>
            <p:nvPr/>
          </p:nvSpPr>
          <p:spPr bwMode="auto">
            <a:xfrm>
              <a:off x="7492540" y="2838296"/>
              <a:ext cx="3048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1" name="Line 45"/>
            <p:cNvSpPr>
              <a:spLocks noChangeShapeType="1"/>
            </p:cNvSpPr>
            <p:nvPr/>
          </p:nvSpPr>
          <p:spPr bwMode="auto">
            <a:xfrm>
              <a:off x="7502996" y="1518622"/>
              <a:ext cx="3048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2" name="Rectangle 46"/>
            <p:cNvSpPr>
              <a:spLocks noChangeArrowheads="1"/>
            </p:cNvSpPr>
            <p:nvPr/>
          </p:nvSpPr>
          <p:spPr bwMode="auto">
            <a:xfrm>
              <a:off x="7675856" y="1992147"/>
              <a:ext cx="25648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2000" i="1" dirty="0">
                  <a:solidFill>
                    <a:srgbClr val="000000"/>
                  </a:solidFill>
                </a:rPr>
                <a:t>l</a:t>
              </a:r>
              <a:endParaRPr kumimoji="1" lang="en-US" altLang="zh-CN" sz="2000" i="1" dirty="0">
                <a:solidFill>
                  <a:srgbClr val="000000"/>
                </a:solidFill>
                <a:latin typeface="Times New Roman" panose="02020603050405020304" pitchFamily="18" charset="0"/>
                <a:ea typeface="宋体" panose="02010600030101010101" pitchFamily="2" charset="-122"/>
              </a:endParaRPr>
            </a:p>
          </p:txBody>
        </p:sp>
        <p:sp>
          <p:nvSpPr>
            <p:cNvPr id="13" name="Rectangle 48"/>
            <p:cNvSpPr>
              <a:spLocks noChangeArrowheads="1"/>
            </p:cNvSpPr>
            <p:nvPr/>
          </p:nvSpPr>
          <p:spPr bwMode="auto">
            <a:xfrm>
              <a:off x="7068453" y="2780708"/>
              <a:ext cx="38735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kumimoji="1" lang="en-US" altLang="zh-CN" sz="2000" i="1" dirty="0">
                  <a:solidFill>
                    <a:srgbClr val="000000"/>
                  </a:solidFill>
                  <a:latin typeface="Times New Roman" panose="02020603050405020304" pitchFamily="18" charset="0"/>
                  <a:ea typeface="宋体" panose="02010600030101010101" pitchFamily="2" charset="-122"/>
                </a:rPr>
                <a:t>A</a:t>
              </a:r>
            </a:p>
          </p:txBody>
        </p:sp>
        <p:sp>
          <p:nvSpPr>
            <p:cNvPr id="14" name="Line 23"/>
            <p:cNvSpPr>
              <a:spLocks noChangeAspect="1" noChangeShapeType="1"/>
            </p:cNvSpPr>
            <p:nvPr/>
          </p:nvSpPr>
          <p:spPr bwMode="auto">
            <a:xfrm rot="540000">
              <a:off x="5047923" y="1711962"/>
              <a:ext cx="2395602" cy="898144"/>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5" name="Group 49"/>
            <p:cNvGrpSpPr>
              <a:grpSpLocks/>
            </p:cNvGrpSpPr>
            <p:nvPr/>
          </p:nvGrpSpPr>
          <p:grpSpPr bwMode="auto">
            <a:xfrm>
              <a:off x="5008063" y="1513704"/>
              <a:ext cx="159368" cy="1376386"/>
              <a:chOff x="793" y="1389"/>
              <a:chExt cx="91" cy="1497"/>
            </a:xfrm>
          </p:grpSpPr>
          <p:sp>
            <p:nvSpPr>
              <p:cNvPr id="25" name="Line 7"/>
              <p:cNvSpPr>
                <a:spLocks noChangeAspect="1" noChangeShapeType="1"/>
              </p:cNvSpPr>
              <p:nvPr/>
            </p:nvSpPr>
            <p:spPr bwMode="auto">
              <a:xfrm>
                <a:off x="884" y="1389"/>
                <a:ext cx="0" cy="149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8"/>
              <p:cNvSpPr>
                <a:spLocks noChangeShapeType="1"/>
              </p:cNvSpPr>
              <p:nvPr/>
            </p:nvSpPr>
            <p:spPr bwMode="auto">
              <a:xfrm flipH="1">
                <a:off x="793" y="1434"/>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Line 9"/>
              <p:cNvSpPr>
                <a:spLocks noChangeShapeType="1"/>
              </p:cNvSpPr>
              <p:nvPr/>
            </p:nvSpPr>
            <p:spPr bwMode="auto">
              <a:xfrm flipH="1">
                <a:off x="793" y="1564"/>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10"/>
              <p:cNvSpPr>
                <a:spLocks noChangeShapeType="1"/>
              </p:cNvSpPr>
              <p:nvPr/>
            </p:nvSpPr>
            <p:spPr bwMode="auto">
              <a:xfrm flipH="1">
                <a:off x="793" y="1695"/>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Line 11"/>
              <p:cNvSpPr>
                <a:spLocks noChangeShapeType="1"/>
              </p:cNvSpPr>
              <p:nvPr/>
            </p:nvSpPr>
            <p:spPr bwMode="auto">
              <a:xfrm flipH="1">
                <a:off x="793" y="1825"/>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12"/>
              <p:cNvSpPr>
                <a:spLocks noChangeShapeType="1"/>
              </p:cNvSpPr>
              <p:nvPr/>
            </p:nvSpPr>
            <p:spPr bwMode="auto">
              <a:xfrm flipH="1">
                <a:off x="793" y="1956"/>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Line 43"/>
              <p:cNvSpPr>
                <a:spLocks noChangeShapeType="1"/>
              </p:cNvSpPr>
              <p:nvPr/>
            </p:nvSpPr>
            <p:spPr bwMode="auto">
              <a:xfrm flipH="1">
                <a:off x="793" y="2087"/>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 name="Line 44"/>
              <p:cNvSpPr>
                <a:spLocks noChangeShapeType="1"/>
              </p:cNvSpPr>
              <p:nvPr/>
            </p:nvSpPr>
            <p:spPr bwMode="auto">
              <a:xfrm flipH="1">
                <a:off x="793" y="2217"/>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 name="Line 45"/>
              <p:cNvSpPr>
                <a:spLocks noChangeShapeType="1"/>
              </p:cNvSpPr>
              <p:nvPr/>
            </p:nvSpPr>
            <p:spPr bwMode="auto">
              <a:xfrm flipH="1">
                <a:off x="793" y="2348"/>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Line 46"/>
              <p:cNvSpPr>
                <a:spLocks noChangeShapeType="1"/>
              </p:cNvSpPr>
              <p:nvPr/>
            </p:nvSpPr>
            <p:spPr bwMode="auto">
              <a:xfrm flipH="1">
                <a:off x="793" y="2478"/>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47"/>
              <p:cNvSpPr>
                <a:spLocks noChangeShapeType="1"/>
              </p:cNvSpPr>
              <p:nvPr/>
            </p:nvSpPr>
            <p:spPr bwMode="auto">
              <a:xfrm flipH="1">
                <a:off x="793" y="2609"/>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 name="Line 48"/>
              <p:cNvSpPr>
                <a:spLocks noChangeShapeType="1"/>
              </p:cNvSpPr>
              <p:nvPr/>
            </p:nvSpPr>
            <p:spPr bwMode="auto">
              <a:xfrm flipH="1">
                <a:off x="793" y="2740"/>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6" name="Line 54"/>
            <p:cNvSpPr>
              <a:spLocks noChangeAspect="1" noChangeShapeType="1"/>
            </p:cNvSpPr>
            <p:nvPr/>
          </p:nvSpPr>
          <p:spPr bwMode="auto">
            <a:xfrm rot="3360000" flipV="1">
              <a:off x="5705215" y="1950501"/>
              <a:ext cx="1204899" cy="17640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Oval 53"/>
            <p:cNvSpPr>
              <a:spLocks noChangeAspect="1" noChangeArrowheads="1"/>
            </p:cNvSpPr>
            <p:nvPr/>
          </p:nvSpPr>
          <p:spPr bwMode="auto">
            <a:xfrm>
              <a:off x="7339611" y="1437924"/>
              <a:ext cx="144462" cy="144463"/>
            </a:xfrm>
            <a:prstGeom prst="ellipse">
              <a:avLst/>
            </a:prstGeom>
            <a:solidFill>
              <a:schemeClr val="accent1"/>
            </a:solidFill>
            <a:ln w="25400">
              <a:solidFill>
                <a:srgbClr val="00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8" name="Oval 26"/>
            <p:cNvSpPr>
              <a:spLocks noChangeAspect="1" noChangeArrowheads="1"/>
            </p:cNvSpPr>
            <p:nvPr/>
          </p:nvSpPr>
          <p:spPr bwMode="auto">
            <a:xfrm>
              <a:off x="5113841" y="1463117"/>
              <a:ext cx="144462" cy="144463"/>
            </a:xfrm>
            <a:prstGeom prst="ellipse">
              <a:avLst/>
            </a:prstGeom>
            <a:solidFill>
              <a:schemeClr val="accent1"/>
            </a:solidFill>
            <a:ln w="25400">
              <a:solidFill>
                <a:srgbClr val="00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9" name="Oval 13"/>
            <p:cNvSpPr>
              <a:spLocks noChangeAspect="1" noChangeArrowheads="1"/>
            </p:cNvSpPr>
            <p:nvPr/>
          </p:nvSpPr>
          <p:spPr bwMode="auto">
            <a:xfrm>
              <a:off x="5095106" y="2751851"/>
              <a:ext cx="144462" cy="144463"/>
            </a:xfrm>
            <a:prstGeom prst="ellipse">
              <a:avLst/>
            </a:prstGeom>
            <a:solidFill>
              <a:schemeClr val="accent1"/>
            </a:solidFill>
            <a:ln w="25400">
              <a:solidFill>
                <a:srgbClr val="00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0" name="Line 54"/>
            <p:cNvSpPr>
              <a:spLocks noChangeAspect="1" noChangeShapeType="1"/>
            </p:cNvSpPr>
            <p:nvPr/>
          </p:nvSpPr>
          <p:spPr bwMode="auto">
            <a:xfrm rot="8760000" flipV="1">
              <a:off x="7036375" y="1675634"/>
              <a:ext cx="741715" cy="1085885"/>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Oval 27"/>
            <p:cNvSpPr>
              <a:spLocks noChangeAspect="1" noChangeArrowheads="1"/>
            </p:cNvSpPr>
            <p:nvPr/>
          </p:nvSpPr>
          <p:spPr bwMode="auto">
            <a:xfrm>
              <a:off x="7326403" y="2751851"/>
              <a:ext cx="144462" cy="144463"/>
            </a:xfrm>
            <a:prstGeom prst="ellipse">
              <a:avLst/>
            </a:prstGeom>
            <a:solidFill>
              <a:schemeClr val="accent1"/>
            </a:solidFill>
            <a:ln w="25400">
              <a:solidFill>
                <a:srgbClr val="00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2" name="Object 55"/>
            <p:cNvGraphicFramePr>
              <a:graphicFrameLocks/>
            </p:cNvGraphicFramePr>
            <p:nvPr>
              <p:extLst>
                <p:ext uri="{D42A27DB-BD31-4B8C-83A1-F6EECF244321}">
                  <p14:modId xmlns:p14="http://schemas.microsoft.com/office/powerpoint/2010/main" val="70653440"/>
                </p:ext>
              </p:extLst>
            </p:nvPr>
          </p:nvGraphicFramePr>
          <p:xfrm>
            <a:off x="7034833" y="2340442"/>
            <a:ext cx="392261" cy="293737"/>
          </p:xfrm>
          <a:graphic>
            <a:graphicData uri="http://schemas.openxmlformats.org/presentationml/2006/ole">
              <mc:AlternateContent xmlns:mc="http://schemas.openxmlformats.org/markup-compatibility/2006">
                <mc:Choice xmlns:v="urn:schemas-microsoft-com:vml" Requires="v">
                  <p:oleObj name="Equation" r:id="rId2" imgW="241200" imgH="203040" progId="Equation.DSMT4">
                    <p:embed/>
                  </p:oleObj>
                </mc:Choice>
                <mc:Fallback>
                  <p:oleObj name="Equation" r:id="rId2" imgW="241200" imgH="203040" progId="Equation.DSMT4">
                    <p:embed/>
                    <p:pic>
                      <p:nvPicPr>
                        <p:cNvPr id="0" name=""/>
                        <p:cNvPicPr>
                          <a:picLocks noChangeArrowheads="1"/>
                        </p:cNvPicPr>
                        <p:nvPr/>
                      </p:nvPicPr>
                      <p:blipFill>
                        <a:blip r:embed="rId3"/>
                        <a:srcRect/>
                        <a:stretch>
                          <a:fillRect/>
                        </a:stretch>
                      </p:blipFill>
                      <p:spPr bwMode="auto">
                        <a:xfrm>
                          <a:off x="7034833" y="2340442"/>
                          <a:ext cx="392261" cy="293737"/>
                        </a:xfrm>
                        <a:prstGeom prst="rect">
                          <a:avLst/>
                        </a:prstGeom>
                        <a:noFill/>
                        <a:ln>
                          <a:noFill/>
                        </a:ln>
                        <a:effectLst/>
                      </p:spPr>
                    </p:pic>
                  </p:oleObj>
                </mc:Fallback>
              </mc:AlternateContent>
            </a:graphicData>
          </a:graphic>
        </p:graphicFrame>
        <p:graphicFrame>
          <p:nvGraphicFramePr>
            <p:cNvPr id="23" name="Object 55"/>
            <p:cNvGraphicFramePr>
              <a:graphicFrameLocks/>
            </p:cNvGraphicFramePr>
            <p:nvPr>
              <p:extLst>
                <p:ext uri="{D42A27DB-BD31-4B8C-83A1-F6EECF244321}">
                  <p14:modId xmlns:p14="http://schemas.microsoft.com/office/powerpoint/2010/main" val="64312171"/>
                </p:ext>
              </p:extLst>
            </p:nvPr>
          </p:nvGraphicFramePr>
          <p:xfrm>
            <a:off x="6722563" y="2547335"/>
            <a:ext cx="371475" cy="293688"/>
          </p:xfrm>
          <a:graphic>
            <a:graphicData uri="http://schemas.openxmlformats.org/presentationml/2006/ole">
              <mc:AlternateContent xmlns:mc="http://schemas.openxmlformats.org/markup-compatibility/2006">
                <mc:Choice xmlns:v="urn:schemas-microsoft-com:vml" Requires="v">
                  <p:oleObj name="Equation" r:id="rId4" imgW="228600" imgH="203040" progId="Equation.DSMT4">
                    <p:embed/>
                  </p:oleObj>
                </mc:Choice>
                <mc:Fallback>
                  <p:oleObj name="Equation" r:id="rId4" imgW="228600" imgH="203040" progId="Equation.DSMT4">
                    <p:embed/>
                    <p:pic>
                      <p:nvPicPr>
                        <p:cNvPr id="0" name=""/>
                        <p:cNvPicPr>
                          <a:picLocks noChangeArrowheads="1"/>
                        </p:cNvPicPr>
                        <p:nvPr/>
                      </p:nvPicPr>
                      <p:blipFill>
                        <a:blip r:embed="rId5"/>
                        <a:srcRect/>
                        <a:stretch>
                          <a:fillRect/>
                        </a:stretch>
                      </p:blipFill>
                      <p:spPr bwMode="auto">
                        <a:xfrm>
                          <a:off x="6722563" y="2547335"/>
                          <a:ext cx="371475" cy="293688"/>
                        </a:xfrm>
                        <a:prstGeom prst="rect">
                          <a:avLst/>
                        </a:prstGeom>
                        <a:noFill/>
                        <a:ln>
                          <a:noFill/>
                        </a:ln>
                        <a:effectLst/>
                      </p:spPr>
                    </p:pic>
                  </p:oleObj>
                </mc:Fallback>
              </mc:AlternateContent>
            </a:graphicData>
          </a:graphic>
        </p:graphicFrame>
        <p:sp>
          <p:nvSpPr>
            <p:cNvPr id="24" name="Rectangle 36"/>
            <p:cNvSpPr>
              <a:spLocks noChangeArrowheads="1"/>
            </p:cNvSpPr>
            <p:nvPr/>
          </p:nvSpPr>
          <p:spPr bwMode="auto">
            <a:xfrm>
              <a:off x="7133946" y="1739149"/>
              <a:ext cx="31432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dirty="0">
                  <a:solidFill>
                    <a:srgbClr val="000000"/>
                  </a:solidFill>
                  <a:latin typeface="Times New Roman" panose="02020603050405020304" pitchFamily="18" charset="0"/>
                  <a:ea typeface="宋体" panose="02010600030101010101" pitchFamily="2" charset="-122"/>
                </a:rPr>
                <a:t>3</a:t>
              </a:r>
            </a:p>
          </p:txBody>
        </p:sp>
      </p:grpSp>
      <p:grpSp>
        <p:nvGrpSpPr>
          <p:cNvPr id="49" name="组合 48"/>
          <p:cNvGrpSpPr/>
          <p:nvPr/>
        </p:nvGrpSpPr>
        <p:grpSpPr>
          <a:xfrm>
            <a:off x="5655792" y="2735137"/>
            <a:ext cx="2713597" cy="2146585"/>
            <a:chOff x="3847311" y="4115467"/>
            <a:chExt cx="2713597" cy="2146585"/>
          </a:xfrm>
        </p:grpSpPr>
        <p:sp>
          <p:nvSpPr>
            <p:cNvPr id="50" name="Rectangle 48"/>
            <p:cNvSpPr>
              <a:spLocks noChangeArrowheads="1"/>
            </p:cNvSpPr>
            <p:nvPr/>
          </p:nvSpPr>
          <p:spPr bwMode="auto">
            <a:xfrm>
              <a:off x="5123537" y="5165946"/>
              <a:ext cx="38735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kumimoji="1" lang="en-US" altLang="zh-CN" sz="2000" i="1" dirty="0">
                  <a:solidFill>
                    <a:srgbClr val="000000"/>
                  </a:solidFill>
                  <a:latin typeface="Times New Roman" panose="02020603050405020304" pitchFamily="18" charset="0"/>
                  <a:ea typeface="宋体" panose="02010600030101010101" pitchFamily="2" charset="-122"/>
                </a:rPr>
                <a:t>A</a:t>
              </a:r>
            </a:p>
          </p:txBody>
        </p:sp>
        <p:sp>
          <p:nvSpPr>
            <p:cNvPr id="51" name="Line 23"/>
            <p:cNvSpPr>
              <a:spLocks noChangeAspect="1" noChangeShapeType="1"/>
            </p:cNvSpPr>
            <p:nvPr/>
          </p:nvSpPr>
          <p:spPr bwMode="auto">
            <a:xfrm rot="540000">
              <a:off x="4553204" y="4756942"/>
              <a:ext cx="904892" cy="339229"/>
            </a:xfrm>
            <a:prstGeom prst="line">
              <a:avLst/>
            </a:prstGeom>
            <a:noFill/>
            <a:ln w="38100">
              <a:solidFill>
                <a:schemeClr val="accent2"/>
              </a:solidFill>
              <a:round/>
              <a:headEnd type="triangl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52" name="Line 54"/>
            <p:cNvSpPr>
              <a:spLocks noChangeAspect="1" noChangeShapeType="1"/>
            </p:cNvSpPr>
            <p:nvPr/>
          </p:nvSpPr>
          <p:spPr bwMode="auto">
            <a:xfrm rot="3360000" flipV="1">
              <a:off x="4618854" y="4803596"/>
              <a:ext cx="554254" cy="811447"/>
            </a:xfrm>
            <a:prstGeom prst="line">
              <a:avLst/>
            </a:prstGeom>
            <a:noFill/>
            <a:ln w="38100">
              <a:solidFill>
                <a:schemeClr val="accent2"/>
              </a:solidFill>
              <a:round/>
              <a:headEnd type="triangl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53" name="Line 54"/>
            <p:cNvSpPr>
              <a:spLocks noChangeAspect="1" noChangeShapeType="1"/>
            </p:cNvSpPr>
            <p:nvPr/>
          </p:nvSpPr>
          <p:spPr bwMode="auto">
            <a:xfrm rot="8760000" flipV="1">
              <a:off x="5241414" y="4533115"/>
              <a:ext cx="430195" cy="629814"/>
            </a:xfrm>
            <a:prstGeom prst="line">
              <a:avLst/>
            </a:prstGeom>
            <a:noFill/>
            <a:ln w="38100">
              <a:solidFill>
                <a:schemeClr val="accent2"/>
              </a:solidFill>
              <a:round/>
              <a:headEnd type="triangle" w="sm" len="lg"/>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4" name="Object 55"/>
            <p:cNvGraphicFramePr>
              <a:graphicFrameLocks/>
            </p:cNvGraphicFramePr>
            <p:nvPr>
              <p:extLst>
                <p:ext uri="{D42A27DB-BD31-4B8C-83A1-F6EECF244321}">
                  <p14:modId xmlns:p14="http://schemas.microsoft.com/office/powerpoint/2010/main" val="1871192538"/>
                </p:ext>
              </p:extLst>
            </p:nvPr>
          </p:nvGraphicFramePr>
          <p:xfrm>
            <a:off x="5089917" y="4725680"/>
            <a:ext cx="392261" cy="293737"/>
          </p:xfrm>
          <a:graphic>
            <a:graphicData uri="http://schemas.openxmlformats.org/presentationml/2006/ole">
              <mc:AlternateContent xmlns:mc="http://schemas.openxmlformats.org/markup-compatibility/2006">
                <mc:Choice xmlns:v="urn:schemas-microsoft-com:vml" Requires="v">
                  <p:oleObj name="Equation" r:id="rId2" imgW="241200" imgH="203040" progId="Equation.DSMT4">
                    <p:embed/>
                  </p:oleObj>
                </mc:Choice>
                <mc:Fallback>
                  <p:oleObj name="Equation" r:id="rId2" imgW="241200" imgH="203040" progId="Equation.DSMT4">
                    <p:embed/>
                    <p:pic>
                      <p:nvPicPr>
                        <p:cNvPr id="0" name=""/>
                        <p:cNvPicPr>
                          <a:picLocks noChangeArrowheads="1"/>
                        </p:cNvPicPr>
                        <p:nvPr/>
                      </p:nvPicPr>
                      <p:blipFill>
                        <a:blip r:embed="rId3"/>
                        <a:srcRect/>
                        <a:stretch>
                          <a:fillRect/>
                        </a:stretch>
                      </p:blipFill>
                      <p:spPr bwMode="auto">
                        <a:xfrm>
                          <a:off x="5089917" y="4725680"/>
                          <a:ext cx="392261" cy="293737"/>
                        </a:xfrm>
                        <a:prstGeom prst="rect">
                          <a:avLst/>
                        </a:prstGeom>
                        <a:noFill/>
                        <a:ln>
                          <a:noFill/>
                        </a:ln>
                        <a:effectLst/>
                      </p:spPr>
                    </p:pic>
                  </p:oleObj>
                </mc:Fallback>
              </mc:AlternateContent>
            </a:graphicData>
          </a:graphic>
        </p:graphicFrame>
        <p:graphicFrame>
          <p:nvGraphicFramePr>
            <p:cNvPr id="55" name="Object 55"/>
            <p:cNvGraphicFramePr>
              <a:graphicFrameLocks/>
            </p:cNvGraphicFramePr>
            <p:nvPr>
              <p:extLst>
                <p:ext uri="{D42A27DB-BD31-4B8C-83A1-F6EECF244321}">
                  <p14:modId xmlns:p14="http://schemas.microsoft.com/office/powerpoint/2010/main" val="4038909593"/>
                </p:ext>
              </p:extLst>
            </p:nvPr>
          </p:nvGraphicFramePr>
          <p:xfrm>
            <a:off x="5734338" y="5170480"/>
            <a:ext cx="314575" cy="262059"/>
          </p:xfrm>
          <a:graphic>
            <a:graphicData uri="http://schemas.openxmlformats.org/presentationml/2006/ole">
              <mc:AlternateContent xmlns:mc="http://schemas.openxmlformats.org/markup-compatibility/2006">
                <mc:Choice xmlns:v="urn:schemas-microsoft-com:vml" Requires="v">
                  <p:oleObj name="Equation" r:id="rId4" imgW="228600" imgH="203040" progId="Equation.DSMT4">
                    <p:embed/>
                  </p:oleObj>
                </mc:Choice>
                <mc:Fallback>
                  <p:oleObj name="Equation" r:id="rId4" imgW="228600" imgH="203040" progId="Equation.DSMT4">
                    <p:embed/>
                    <p:pic>
                      <p:nvPicPr>
                        <p:cNvPr id="0" name=""/>
                        <p:cNvPicPr>
                          <a:picLocks noChangeArrowheads="1"/>
                        </p:cNvPicPr>
                        <p:nvPr/>
                      </p:nvPicPr>
                      <p:blipFill>
                        <a:blip r:embed="rId5"/>
                        <a:srcRect/>
                        <a:stretch>
                          <a:fillRect/>
                        </a:stretch>
                      </p:blipFill>
                      <p:spPr bwMode="auto">
                        <a:xfrm>
                          <a:off x="5734338" y="5170480"/>
                          <a:ext cx="314575" cy="262059"/>
                        </a:xfrm>
                        <a:prstGeom prst="rect">
                          <a:avLst/>
                        </a:prstGeom>
                        <a:noFill/>
                        <a:ln>
                          <a:noFill/>
                        </a:ln>
                        <a:effectLst/>
                      </p:spPr>
                    </p:pic>
                  </p:oleObj>
                </mc:Fallback>
              </mc:AlternateContent>
            </a:graphicData>
          </a:graphic>
        </p:graphicFrame>
        <p:sp>
          <p:nvSpPr>
            <p:cNvPr id="56" name="Text Box 88"/>
            <p:cNvSpPr txBox="1">
              <a:spLocks noChangeArrowheads="1"/>
            </p:cNvSpPr>
            <p:nvPr/>
          </p:nvSpPr>
          <p:spPr bwMode="auto">
            <a:xfrm>
              <a:off x="4263041" y="4258511"/>
              <a:ext cx="7921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i="1" dirty="0">
                  <a:solidFill>
                    <a:srgbClr val="FF0000"/>
                  </a:solidFill>
                  <a:latin typeface="+mn-lt"/>
                </a:rPr>
                <a:t>F</a:t>
              </a:r>
              <a:r>
                <a:rPr lang="en-US" altLang="zh-CN" b="1" baseline="-25000" dirty="0">
                  <a:solidFill>
                    <a:srgbClr val="FF0000"/>
                  </a:solidFill>
                  <a:latin typeface="+mn-lt"/>
                </a:rPr>
                <a:t>N2</a:t>
              </a:r>
            </a:p>
          </p:txBody>
        </p:sp>
        <p:sp>
          <p:nvSpPr>
            <p:cNvPr id="57" name="Text Box 88"/>
            <p:cNvSpPr txBox="1">
              <a:spLocks noChangeArrowheads="1"/>
            </p:cNvSpPr>
            <p:nvPr/>
          </p:nvSpPr>
          <p:spPr bwMode="auto">
            <a:xfrm>
              <a:off x="3847311" y="4788436"/>
              <a:ext cx="7921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i="1" dirty="0">
                  <a:solidFill>
                    <a:srgbClr val="FF0000"/>
                  </a:solidFill>
                  <a:latin typeface="+mn-lt"/>
                </a:rPr>
                <a:t>F</a:t>
              </a:r>
              <a:r>
                <a:rPr lang="en-US" altLang="zh-CN" b="1" baseline="-25000" dirty="0">
                  <a:solidFill>
                    <a:srgbClr val="FF0000"/>
                  </a:solidFill>
                  <a:latin typeface="+mn-lt"/>
                </a:rPr>
                <a:t>N1</a:t>
              </a:r>
            </a:p>
          </p:txBody>
        </p:sp>
        <p:sp>
          <p:nvSpPr>
            <p:cNvPr id="58" name="Text Box 88"/>
            <p:cNvSpPr txBox="1">
              <a:spLocks noChangeArrowheads="1"/>
            </p:cNvSpPr>
            <p:nvPr/>
          </p:nvSpPr>
          <p:spPr bwMode="auto">
            <a:xfrm>
              <a:off x="5218392" y="4115467"/>
              <a:ext cx="7921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i="1" dirty="0">
                  <a:solidFill>
                    <a:srgbClr val="FF0000"/>
                  </a:solidFill>
                  <a:latin typeface="+mn-lt"/>
                </a:rPr>
                <a:t>F</a:t>
              </a:r>
              <a:r>
                <a:rPr lang="en-US" altLang="zh-CN" b="1" baseline="-25000" dirty="0">
                  <a:solidFill>
                    <a:srgbClr val="FF0000"/>
                  </a:solidFill>
                  <a:latin typeface="+mn-lt"/>
                </a:rPr>
                <a:t>N3</a:t>
              </a:r>
            </a:p>
          </p:txBody>
        </p:sp>
        <p:sp>
          <p:nvSpPr>
            <p:cNvPr id="59" name="Line 23"/>
            <p:cNvSpPr>
              <a:spLocks noChangeAspect="1" noChangeShapeType="1"/>
            </p:cNvSpPr>
            <p:nvPr/>
          </p:nvSpPr>
          <p:spPr bwMode="auto">
            <a:xfrm rot="540000">
              <a:off x="5491557" y="5313542"/>
              <a:ext cx="904892" cy="339229"/>
            </a:xfrm>
            <a:prstGeom prst="line">
              <a:avLst/>
            </a:prstGeom>
            <a:noFill/>
            <a:ln w="25400">
              <a:solidFill>
                <a:schemeClr val="tx1"/>
              </a:solidFill>
              <a:round/>
              <a:headEnd type="non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60" name="Line 54"/>
            <p:cNvSpPr>
              <a:spLocks noChangeAspect="1" noChangeShapeType="1"/>
            </p:cNvSpPr>
            <p:nvPr/>
          </p:nvSpPr>
          <p:spPr bwMode="auto">
            <a:xfrm rot="8760000" flipV="1">
              <a:off x="5241703" y="5333244"/>
              <a:ext cx="430195" cy="629814"/>
            </a:xfrm>
            <a:prstGeom prst="line">
              <a:avLst/>
            </a:prstGeom>
            <a:noFill/>
            <a:ln w="25400">
              <a:solidFill>
                <a:schemeClr val="tx1"/>
              </a:solidFill>
              <a:round/>
              <a:headEnd type="non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61" name="Line 54"/>
            <p:cNvSpPr>
              <a:spLocks noChangeAspect="1" noChangeShapeType="1"/>
            </p:cNvSpPr>
            <p:nvPr/>
          </p:nvSpPr>
          <p:spPr bwMode="auto">
            <a:xfrm rot="3360000" flipV="1">
              <a:off x="5608141" y="4927985"/>
              <a:ext cx="398152" cy="582910"/>
            </a:xfrm>
            <a:prstGeom prst="line">
              <a:avLst/>
            </a:prstGeom>
            <a:noFill/>
            <a:ln w="25400">
              <a:solidFill>
                <a:schemeClr val="tx1"/>
              </a:solidFill>
              <a:round/>
              <a:headEnd type="non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62" name="Rectangle 48"/>
            <p:cNvSpPr>
              <a:spLocks noChangeArrowheads="1"/>
            </p:cNvSpPr>
            <p:nvPr/>
          </p:nvSpPr>
          <p:spPr bwMode="auto">
            <a:xfrm>
              <a:off x="6075849" y="5861300"/>
              <a:ext cx="485059"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eaLnBrk="0" hangingPunct="0"/>
              <a:r>
                <a:rPr kumimoji="1" lang="en-US" altLang="zh-CN" sz="2000" i="1" dirty="0">
                  <a:solidFill>
                    <a:srgbClr val="000000"/>
                  </a:solidFill>
                  <a:latin typeface="Times New Roman" panose="02020603050405020304" pitchFamily="18" charset="0"/>
                  <a:ea typeface="宋体" panose="02010600030101010101" pitchFamily="2" charset="-122"/>
                </a:rPr>
                <a:t>A</a:t>
              </a:r>
              <a:r>
                <a:rPr kumimoji="1" lang="en-US" altLang="zh-CN" sz="2000" i="1" dirty="0">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000" i="1" dirty="0">
                <a:solidFill>
                  <a:srgbClr val="000000"/>
                </a:solidFill>
                <a:latin typeface="Times New Roman" panose="02020603050405020304" pitchFamily="18" charset="0"/>
                <a:ea typeface="宋体" panose="02010600030101010101" pitchFamily="2" charset="-122"/>
              </a:endParaRPr>
            </a:p>
          </p:txBody>
        </p:sp>
        <p:sp>
          <p:nvSpPr>
            <p:cNvPr id="63" name="Oval 27"/>
            <p:cNvSpPr>
              <a:spLocks noChangeAspect="1" noChangeArrowheads="1"/>
            </p:cNvSpPr>
            <p:nvPr/>
          </p:nvSpPr>
          <p:spPr bwMode="auto">
            <a:xfrm>
              <a:off x="5381487" y="5137089"/>
              <a:ext cx="144462" cy="144463"/>
            </a:xfrm>
            <a:prstGeom prst="ellipse">
              <a:avLst/>
            </a:prstGeom>
            <a:solidFill>
              <a:schemeClr val="accent1"/>
            </a:solidFill>
            <a:ln w="25400">
              <a:solidFill>
                <a:srgbClr val="00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4" name="Line 54"/>
            <p:cNvSpPr>
              <a:spLocks noChangeAspect="1" noChangeShapeType="1"/>
            </p:cNvSpPr>
            <p:nvPr/>
          </p:nvSpPr>
          <p:spPr bwMode="auto">
            <a:xfrm rot="3360000" flipV="1">
              <a:off x="5611854" y="5736341"/>
              <a:ext cx="398152" cy="582910"/>
            </a:xfrm>
            <a:prstGeom prst="line">
              <a:avLst/>
            </a:prstGeom>
            <a:noFill/>
            <a:ln w="25400">
              <a:solidFill>
                <a:schemeClr val="tx1"/>
              </a:solidFill>
              <a:round/>
              <a:headEnd type="non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65" name="Line 54"/>
            <p:cNvSpPr>
              <a:spLocks noChangeAspect="1" noChangeShapeType="1"/>
            </p:cNvSpPr>
            <p:nvPr/>
          </p:nvSpPr>
          <p:spPr bwMode="auto">
            <a:xfrm rot="8760000" flipV="1">
              <a:off x="5928637" y="5309525"/>
              <a:ext cx="437972" cy="641201"/>
            </a:xfrm>
            <a:prstGeom prst="line">
              <a:avLst/>
            </a:prstGeom>
            <a:noFill/>
            <a:ln w="25400">
              <a:solidFill>
                <a:schemeClr val="tx1"/>
              </a:solidFill>
              <a:round/>
              <a:headEnd type="non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66" name="Line 23"/>
            <p:cNvSpPr>
              <a:spLocks noChangeAspect="1" noChangeShapeType="1"/>
            </p:cNvSpPr>
            <p:nvPr/>
          </p:nvSpPr>
          <p:spPr bwMode="auto">
            <a:xfrm rot="5940000">
              <a:off x="6074778" y="5807607"/>
              <a:ext cx="358337" cy="134327"/>
            </a:xfrm>
            <a:prstGeom prst="line">
              <a:avLst/>
            </a:prstGeom>
            <a:noFill/>
            <a:ln w="25400">
              <a:solidFill>
                <a:schemeClr val="tx1"/>
              </a:solidFill>
              <a:round/>
              <a:headEnd type="non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67" name="Text Box 163"/>
            <p:cNvSpPr txBox="1">
              <a:spLocks noChangeArrowheads="1"/>
            </p:cNvSpPr>
            <p:nvPr/>
          </p:nvSpPr>
          <p:spPr bwMode="auto">
            <a:xfrm>
              <a:off x="5636735" y="4834694"/>
              <a:ext cx="716429"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20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2000" i="1" dirty="0">
                  <a:solidFill>
                    <a:srgbClr val="FF0000"/>
                  </a:solidFill>
                  <a:latin typeface="Times New Roman" panose="02020603050405020304" pitchFamily="18" charset="0"/>
                  <a:ea typeface="宋体" panose="02010600030101010101" pitchFamily="2" charset="-122"/>
                  <a:sym typeface="Symbol" panose="05050102010706020507" pitchFamily="18" charset="2"/>
                </a:rPr>
                <a:t>l</a:t>
              </a:r>
              <a:r>
                <a:rPr lang="en-US" altLang="zh-CN" sz="2000" b="1" baseline="-25000" dirty="0">
                  <a:solidFill>
                    <a:srgbClr val="FF0000"/>
                  </a:solidFill>
                  <a:sym typeface="Symbol" panose="05050102010706020507" pitchFamily="18" charset="2"/>
                </a:rPr>
                <a:t>1</a:t>
              </a:r>
              <a:endParaRPr kumimoji="1" lang="en-US" altLang="zh-CN" sz="2000" b="1" dirty="0">
                <a:solidFill>
                  <a:srgbClr val="FF0000"/>
                </a:solidFill>
              </a:endParaRPr>
            </a:p>
          </p:txBody>
        </p:sp>
        <p:sp>
          <p:nvSpPr>
            <p:cNvPr id="68" name="Text Box 163"/>
            <p:cNvSpPr txBox="1">
              <a:spLocks noChangeArrowheads="1"/>
            </p:cNvSpPr>
            <p:nvPr/>
          </p:nvSpPr>
          <p:spPr bwMode="auto">
            <a:xfrm>
              <a:off x="5617879" y="5411090"/>
              <a:ext cx="716429"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20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2000" i="1" dirty="0">
                  <a:solidFill>
                    <a:srgbClr val="FF0000"/>
                  </a:solidFill>
                  <a:latin typeface="Times New Roman" panose="02020603050405020304" pitchFamily="18" charset="0"/>
                  <a:ea typeface="宋体" panose="02010600030101010101" pitchFamily="2" charset="-122"/>
                  <a:sym typeface="Symbol" panose="05050102010706020507" pitchFamily="18" charset="2"/>
                </a:rPr>
                <a:t>l</a:t>
              </a:r>
              <a:r>
                <a:rPr lang="en-US" altLang="zh-CN" sz="2000" b="1" baseline="-25000" dirty="0">
                  <a:solidFill>
                    <a:srgbClr val="FF0000"/>
                  </a:solidFill>
                  <a:sym typeface="Symbol" panose="05050102010706020507" pitchFamily="18" charset="2"/>
                </a:rPr>
                <a:t>2</a:t>
              </a:r>
              <a:endParaRPr kumimoji="1" lang="en-US" altLang="zh-CN" sz="2000" b="1" dirty="0">
                <a:solidFill>
                  <a:srgbClr val="FF0000"/>
                </a:solidFill>
              </a:endParaRPr>
            </a:p>
          </p:txBody>
        </p:sp>
        <p:sp>
          <p:nvSpPr>
            <p:cNvPr id="69" name="Text Box 163"/>
            <p:cNvSpPr txBox="1">
              <a:spLocks noChangeArrowheads="1"/>
            </p:cNvSpPr>
            <p:nvPr/>
          </p:nvSpPr>
          <p:spPr bwMode="auto">
            <a:xfrm>
              <a:off x="5001267" y="5538755"/>
              <a:ext cx="716429"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20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2000" i="1" dirty="0">
                  <a:solidFill>
                    <a:srgbClr val="FF0000"/>
                  </a:solidFill>
                  <a:latin typeface="Times New Roman" panose="02020603050405020304" pitchFamily="18" charset="0"/>
                  <a:ea typeface="宋体" panose="02010600030101010101" pitchFamily="2" charset="-122"/>
                  <a:sym typeface="Symbol" panose="05050102010706020507" pitchFamily="18" charset="2"/>
                </a:rPr>
                <a:t>l</a:t>
              </a:r>
              <a:r>
                <a:rPr lang="en-US" altLang="zh-CN" sz="2000" b="1" baseline="-25000" dirty="0">
                  <a:solidFill>
                    <a:srgbClr val="FF0000"/>
                  </a:solidFill>
                  <a:sym typeface="Symbol" panose="05050102010706020507" pitchFamily="18" charset="2"/>
                </a:rPr>
                <a:t>3</a:t>
              </a:r>
              <a:endParaRPr kumimoji="1" lang="en-US" altLang="zh-CN" sz="2000" b="1" dirty="0">
                <a:solidFill>
                  <a:srgbClr val="FF0000"/>
                </a:solidFill>
              </a:endParaRPr>
            </a:p>
          </p:txBody>
        </p:sp>
      </p:grpSp>
      <p:grpSp>
        <p:nvGrpSpPr>
          <p:cNvPr id="70" name="Group 59"/>
          <p:cNvGrpSpPr>
            <a:grpSpLocks/>
          </p:cNvGrpSpPr>
          <p:nvPr/>
        </p:nvGrpSpPr>
        <p:grpSpPr bwMode="auto">
          <a:xfrm>
            <a:off x="589094" y="521679"/>
            <a:ext cx="3638550" cy="1295400"/>
            <a:chOff x="178" y="2291"/>
            <a:chExt cx="2292" cy="816"/>
          </a:xfrm>
        </p:grpSpPr>
        <p:sp>
          <p:nvSpPr>
            <p:cNvPr id="71" name="Text Box 60"/>
            <p:cNvSpPr txBox="1">
              <a:spLocks noChangeArrowheads="1"/>
            </p:cNvSpPr>
            <p:nvPr/>
          </p:nvSpPr>
          <p:spPr bwMode="auto">
            <a:xfrm>
              <a:off x="178" y="2291"/>
              <a:ext cx="137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400" b="1" dirty="0">
                  <a:solidFill>
                    <a:srgbClr val="0000FF"/>
                  </a:solidFill>
                  <a:latin typeface="Times New Roman" panose="02020603050405020304" pitchFamily="18" charset="0"/>
                  <a:ea typeface="楷体_GB2312" pitchFamily="49" charset="-122"/>
                </a:rPr>
                <a:t>5</a:t>
              </a:r>
              <a:r>
                <a:rPr kumimoji="1" lang="zh-CN" altLang="en-US" sz="2400" b="1" dirty="0">
                  <a:solidFill>
                    <a:srgbClr val="0000FF"/>
                  </a:solidFill>
                  <a:latin typeface="楷体" panose="02010609060101010101" pitchFamily="49" charset="-122"/>
                  <a:ea typeface="楷体" panose="02010609060101010101" pitchFamily="49" charset="-122"/>
                </a:rPr>
                <a:t>、物理方程：</a:t>
              </a:r>
            </a:p>
          </p:txBody>
        </p:sp>
        <p:graphicFrame>
          <p:nvGraphicFramePr>
            <p:cNvPr id="72" name="Object 61"/>
            <p:cNvGraphicFramePr>
              <a:graphicFrameLocks noChangeAspect="1"/>
            </p:cNvGraphicFramePr>
            <p:nvPr>
              <p:extLst>
                <p:ext uri="{D42A27DB-BD31-4B8C-83A1-F6EECF244321}">
                  <p14:modId xmlns:p14="http://schemas.microsoft.com/office/powerpoint/2010/main" val="393847003"/>
                </p:ext>
              </p:extLst>
            </p:nvPr>
          </p:nvGraphicFramePr>
          <p:xfrm>
            <a:off x="241" y="2557"/>
            <a:ext cx="2229" cy="550"/>
          </p:xfrm>
          <a:graphic>
            <a:graphicData uri="http://schemas.openxmlformats.org/presentationml/2006/ole">
              <mc:AlternateContent xmlns:mc="http://schemas.openxmlformats.org/markup-compatibility/2006">
                <mc:Choice xmlns:v="urn:schemas-microsoft-com:vml" Requires="v">
                  <p:oleObj name="Equation" r:id="rId6" imgW="1752480" imgH="431640" progId="Equation.DSMT4">
                    <p:embed/>
                  </p:oleObj>
                </mc:Choice>
                <mc:Fallback>
                  <p:oleObj name="Equation" r:id="rId6" imgW="1752480" imgH="431640" progId="Equation.DSMT4">
                    <p:embed/>
                    <p:pic>
                      <p:nvPicPr>
                        <p:cNvPr id="0" name=""/>
                        <p:cNvPicPr>
                          <a:picLocks noChangeAspect="1" noChangeArrowheads="1"/>
                        </p:cNvPicPr>
                        <p:nvPr/>
                      </p:nvPicPr>
                      <p:blipFill>
                        <a:blip r:embed="rId7"/>
                        <a:srcRect/>
                        <a:stretch>
                          <a:fillRect/>
                        </a:stretch>
                      </p:blipFill>
                      <p:spPr bwMode="auto">
                        <a:xfrm>
                          <a:off x="241" y="2557"/>
                          <a:ext cx="2229" cy="550"/>
                        </a:xfrm>
                        <a:prstGeom prst="rect">
                          <a:avLst/>
                        </a:prstGeom>
                        <a:noFill/>
                        <a:ln>
                          <a:noFill/>
                        </a:ln>
                        <a:effectLst/>
                      </p:spPr>
                    </p:pic>
                  </p:oleObj>
                </mc:Fallback>
              </mc:AlternateContent>
            </a:graphicData>
          </a:graphic>
        </p:graphicFrame>
      </p:grpSp>
      <p:sp>
        <p:nvSpPr>
          <p:cNvPr id="73" name="Text Box 62"/>
          <p:cNvSpPr txBox="1">
            <a:spLocks noChangeArrowheads="1"/>
          </p:cNvSpPr>
          <p:nvPr/>
        </p:nvSpPr>
        <p:spPr bwMode="auto">
          <a:xfrm>
            <a:off x="580040" y="1817079"/>
            <a:ext cx="2481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400" b="1" dirty="0">
                <a:solidFill>
                  <a:srgbClr val="0000FF"/>
                </a:solidFill>
                <a:latin typeface="Times New Roman" panose="02020603050405020304" pitchFamily="18" charset="0"/>
                <a:ea typeface="楷体_GB2312" pitchFamily="49" charset="-122"/>
              </a:rPr>
              <a:t>6</a:t>
            </a:r>
            <a:r>
              <a:rPr kumimoji="1" lang="zh-CN" altLang="en-US" sz="2400" b="1" dirty="0">
                <a:solidFill>
                  <a:srgbClr val="0000FF"/>
                </a:solidFill>
                <a:latin typeface="楷体" panose="02010609060101010101" pitchFamily="49" charset="-122"/>
                <a:ea typeface="楷体" panose="02010609060101010101" pitchFamily="49" charset="-122"/>
              </a:rPr>
              <a:t>、联立求解得：</a:t>
            </a:r>
          </a:p>
        </p:txBody>
      </p:sp>
      <p:graphicFrame>
        <p:nvGraphicFramePr>
          <p:cNvPr id="74" name="Object 55"/>
          <p:cNvGraphicFramePr>
            <a:graphicFrameLocks noChangeAspect="1"/>
          </p:cNvGraphicFramePr>
          <p:nvPr>
            <p:extLst>
              <p:ext uri="{D42A27DB-BD31-4B8C-83A1-F6EECF244321}">
                <p14:modId xmlns:p14="http://schemas.microsoft.com/office/powerpoint/2010/main" val="2812379430"/>
              </p:ext>
            </p:extLst>
          </p:nvPr>
        </p:nvGraphicFramePr>
        <p:xfrm>
          <a:off x="3058804" y="1529539"/>
          <a:ext cx="1979074" cy="2448755"/>
        </p:xfrm>
        <a:graphic>
          <a:graphicData uri="http://schemas.openxmlformats.org/presentationml/2006/ole">
            <mc:AlternateContent xmlns:mc="http://schemas.openxmlformats.org/markup-compatibility/2006">
              <mc:Choice xmlns:v="urn:schemas-microsoft-com:vml" Requires="v">
                <p:oleObj name="Equation" r:id="rId8" imgW="1130040" imgH="1396800" progId="Equation.DSMT4">
                  <p:embed/>
                </p:oleObj>
              </mc:Choice>
              <mc:Fallback>
                <p:oleObj name="Equation" r:id="rId8" imgW="1130040" imgH="1396800" progId="Equation.DSMT4">
                  <p:embed/>
                  <p:pic>
                    <p:nvPicPr>
                      <p:cNvPr id="0" name=""/>
                      <p:cNvPicPr>
                        <a:picLocks noChangeAspect="1" noChangeArrowheads="1"/>
                      </p:cNvPicPr>
                      <p:nvPr/>
                    </p:nvPicPr>
                    <p:blipFill>
                      <a:blip r:embed="rId9"/>
                      <a:srcRect/>
                      <a:stretch>
                        <a:fillRect/>
                      </a:stretch>
                    </p:blipFill>
                    <p:spPr bwMode="auto">
                      <a:xfrm>
                        <a:off x="3058804" y="1529539"/>
                        <a:ext cx="1979074" cy="2448755"/>
                      </a:xfrm>
                      <a:prstGeom prst="rect">
                        <a:avLst/>
                      </a:prstGeom>
                      <a:noFill/>
                      <a:ln>
                        <a:noFill/>
                      </a:ln>
                      <a:effectLst/>
                    </p:spPr>
                  </p:pic>
                </p:oleObj>
              </mc:Fallback>
            </mc:AlternateContent>
          </a:graphicData>
        </a:graphic>
      </p:graphicFrame>
      <p:sp>
        <p:nvSpPr>
          <p:cNvPr id="75" name="Text Box 62"/>
          <p:cNvSpPr txBox="1">
            <a:spLocks noChangeArrowheads="1"/>
          </p:cNvSpPr>
          <p:nvPr/>
        </p:nvSpPr>
        <p:spPr bwMode="auto">
          <a:xfrm>
            <a:off x="733804" y="3815735"/>
            <a:ext cx="188545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400" b="1" dirty="0">
                <a:solidFill>
                  <a:srgbClr val="0000FF"/>
                </a:solidFill>
                <a:latin typeface="Times New Roman" panose="02020603050405020304" pitchFamily="18" charset="0"/>
                <a:ea typeface="楷体_GB2312" pitchFamily="49" charset="-122"/>
              </a:rPr>
              <a:t>7</a:t>
            </a:r>
            <a:r>
              <a:rPr kumimoji="1" lang="zh-CN" altLang="en-US" sz="2400" b="1" dirty="0">
                <a:solidFill>
                  <a:srgbClr val="0000FF"/>
                </a:solidFill>
                <a:latin typeface="楷体" panose="02010609060101010101" pitchFamily="49" charset="-122"/>
                <a:ea typeface="楷体" panose="02010609060101010101" pitchFamily="49" charset="-122"/>
              </a:rPr>
              <a:t>、求</a:t>
            </a:r>
            <a:r>
              <a:rPr lang="zh-CN" altLang="en-US" b="1" dirty="0">
                <a:solidFill>
                  <a:srgbClr val="0000FF"/>
                </a:solidFill>
                <a:latin typeface="楷体" panose="02010609060101010101" pitchFamily="49" charset="-122"/>
                <a:ea typeface="楷体" panose="02010609060101010101" pitchFamily="49" charset="-122"/>
              </a:rPr>
              <a:t>位移</a:t>
            </a:r>
            <a:r>
              <a:rPr kumimoji="1" lang="zh-CN" altLang="en-US" sz="2400" b="1" dirty="0">
                <a:solidFill>
                  <a:srgbClr val="0000FF"/>
                </a:solidFill>
                <a:latin typeface="楷体" panose="02010609060101010101" pitchFamily="49" charset="-122"/>
                <a:ea typeface="楷体" panose="02010609060101010101" pitchFamily="49" charset="-122"/>
              </a:rPr>
              <a:t>：</a:t>
            </a:r>
          </a:p>
        </p:txBody>
      </p:sp>
      <p:graphicFrame>
        <p:nvGraphicFramePr>
          <p:cNvPr id="76" name="Object 55"/>
          <p:cNvGraphicFramePr>
            <a:graphicFrameLocks noChangeAspect="1"/>
          </p:cNvGraphicFramePr>
          <p:nvPr>
            <p:extLst>
              <p:ext uri="{D42A27DB-BD31-4B8C-83A1-F6EECF244321}">
                <p14:modId xmlns:p14="http://schemas.microsoft.com/office/powerpoint/2010/main" val="3740436869"/>
              </p:ext>
            </p:extLst>
          </p:nvPr>
        </p:nvGraphicFramePr>
        <p:xfrm>
          <a:off x="1043608" y="4397913"/>
          <a:ext cx="2603500" cy="1601788"/>
        </p:xfrm>
        <a:graphic>
          <a:graphicData uri="http://schemas.openxmlformats.org/presentationml/2006/ole">
            <mc:AlternateContent xmlns:mc="http://schemas.openxmlformats.org/markup-compatibility/2006">
              <mc:Choice xmlns:v="urn:schemas-microsoft-com:vml" Requires="v">
                <p:oleObj name="Equation" r:id="rId10" imgW="1485720" imgH="914400" progId="Equation.DSMT4">
                  <p:embed/>
                </p:oleObj>
              </mc:Choice>
              <mc:Fallback>
                <p:oleObj name="Equation" r:id="rId10" imgW="1485720" imgH="914400" progId="Equation.DSMT4">
                  <p:embed/>
                  <p:pic>
                    <p:nvPicPr>
                      <p:cNvPr id="0" name=""/>
                      <p:cNvPicPr>
                        <a:picLocks noChangeAspect="1" noChangeArrowheads="1"/>
                      </p:cNvPicPr>
                      <p:nvPr/>
                    </p:nvPicPr>
                    <p:blipFill>
                      <a:blip r:embed="rId11"/>
                      <a:srcRect/>
                      <a:stretch>
                        <a:fillRect/>
                      </a:stretch>
                    </p:blipFill>
                    <p:spPr bwMode="auto">
                      <a:xfrm>
                        <a:off x="1043608" y="4397913"/>
                        <a:ext cx="2603500" cy="1601788"/>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297178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dissolve">
                                      <p:cBhvr>
                                        <p:cTn id="7" dur="500"/>
                                        <p:tgtEl>
                                          <p:spTgt spid="70"/>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73"/>
                                        </p:tgtEl>
                                        <p:attrNameLst>
                                          <p:attrName>style.visibility</p:attrName>
                                        </p:attrNameLst>
                                      </p:cBhvr>
                                      <p:to>
                                        <p:strVal val="visible"/>
                                      </p:to>
                                    </p:set>
                                    <p:animEffect transition="in" filter="checkerboard(across)">
                                      <p:cBhvr>
                                        <p:cTn id="12" dur="500"/>
                                        <p:tgtEl>
                                          <p:spTgt spid="7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4"/>
                                        </p:tgtEl>
                                        <p:attrNameLst>
                                          <p:attrName>style.visibility</p:attrName>
                                        </p:attrNameLst>
                                      </p:cBhvr>
                                      <p:to>
                                        <p:strVal val="visible"/>
                                      </p:to>
                                    </p:set>
                                    <p:animEffect transition="in" filter="fade">
                                      <p:cBhvr>
                                        <p:cTn id="17" dur="500"/>
                                        <p:tgtEl>
                                          <p:spTgt spid="74"/>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75"/>
                                        </p:tgtEl>
                                        <p:attrNameLst>
                                          <p:attrName>style.visibility</p:attrName>
                                        </p:attrNameLst>
                                      </p:cBhvr>
                                      <p:to>
                                        <p:strVal val="visible"/>
                                      </p:to>
                                    </p:set>
                                    <p:animEffect transition="in" filter="checkerboard(across)">
                                      <p:cBhvr>
                                        <p:cTn id="22" dur="500"/>
                                        <p:tgtEl>
                                          <p:spTgt spid="7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6"/>
                                        </p:tgtEl>
                                        <p:attrNameLst>
                                          <p:attrName>style.visibility</p:attrName>
                                        </p:attrNameLst>
                                      </p:cBhvr>
                                      <p:to>
                                        <p:strVal val="visible"/>
                                      </p:to>
                                    </p:set>
                                    <p:animEffect transition="in" filter="fade">
                                      <p:cBhvr>
                                        <p:cTn id="27" dur="5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p:bldP spid="7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2"/>
          <p:cNvSpPr txBox="1">
            <a:spLocks noChangeArrowheads="1"/>
          </p:cNvSpPr>
          <p:nvPr/>
        </p:nvSpPr>
        <p:spPr bwMode="auto">
          <a:xfrm>
            <a:off x="482347" y="1017101"/>
            <a:ext cx="295232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b="1" dirty="0">
                <a:solidFill>
                  <a:srgbClr val="FF0000"/>
                </a:solidFill>
                <a:latin typeface="黑体" panose="02010609060101010101" pitchFamily="49" charset="-122"/>
                <a:ea typeface="黑体" panose="02010609060101010101" pitchFamily="49" charset="-122"/>
              </a:rPr>
              <a:t>静</a:t>
            </a:r>
            <a:r>
              <a:rPr lang="zh-CN" altLang="en-US" b="1" dirty="0">
                <a:solidFill>
                  <a:srgbClr val="FF0000"/>
                </a:solidFill>
                <a:latin typeface="黑体" panose="02010609060101010101" pitchFamily="49" charset="-122"/>
                <a:ea typeface="黑体" panose="02010609060101010101" pitchFamily="49" charset="-122"/>
              </a:rPr>
              <a:t>不</a:t>
            </a:r>
            <a:r>
              <a:rPr kumimoji="1" lang="zh-CN" altLang="en-US" b="1" dirty="0">
                <a:solidFill>
                  <a:srgbClr val="FF0000"/>
                </a:solidFill>
                <a:latin typeface="黑体" panose="02010609060101010101" pitchFamily="49" charset="-122"/>
                <a:ea typeface="黑体" panose="02010609060101010101" pitchFamily="49" charset="-122"/>
              </a:rPr>
              <a:t>定结构的特点</a:t>
            </a:r>
          </a:p>
        </p:txBody>
      </p:sp>
      <p:sp>
        <p:nvSpPr>
          <p:cNvPr id="64515" name="Text Box 3"/>
          <p:cNvSpPr txBox="1">
            <a:spLocks noChangeArrowheads="1"/>
          </p:cNvSpPr>
          <p:nvPr/>
        </p:nvSpPr>
        <p:spPr bwMode="auto">
          <a:xfrm>
            <a:off x="482347" y="1559436"/>
            <a:ext cx="741682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kumimoji="1" lang="en-US" altLang="zh-CN" b="1" dirty="0">
                <a:solidFill>
                  <a:srgbClr val="000000"/>
                </a:solidFill>
                <a:latin typeface="楷体" panose="02010609060101010101" pitchFamily="49" charset="-122"/>
                <a:ea typeface="楷体" panose="02010609060101010101" pitchFamily="49" charset="-122"/>
              </a:rPr>
              <a:t>1</a:t>
            </a:r>
            <a:r>
              <a:rPr kumimoji="1" lang="zh-CN" altLang="en-US" b="1" dirty="0">
                <a:solidFill>
                  <a:srgbClr val="000000"/>
                </a:solidFill>
                <a:latin typeface="楷体" panose="02010609060101010101" pitchFamily="49" charset="-122"/>
                <a:ea typeface="楷体" panose="02010609060101010101" pitchFamily="49" charset="-122"/>
              </a:rPr>
              <a:t>、求解内力需结合</a:t>
            </a:r>
            <a:r>
              <a:rPr kumimoji="1" lang="zh-CN" altLang="en-US" b="1" dirty="0">
                <a:solidFill>
                  <a:srgbClr val="FF0000"/>
                </a:solidFill>
                <a:latin typeface="楷体" panose="02010609060101010101" pitchFamily="49" charset="-122"/>
                <a:ea typeface="楷体" panose="02010609060101010101" pitchFamily="49" charset="-122"/>
              </a:rPr>
              <a:t>平衡方程</a:t>
            </a:r>
            <a:r>
              <a:rPr kumimoji="1" lang="zh-CN" altLang="en-US" b="1" dirty="0">
                <a:solidFill>
                  <a:srgbClr val="000000"/>
                </a:solidFill>
                <a:latin typeface="楷体" panose="02010609060101010101" pitchFamily="49" charset="-122"/>
                <a:ea typeface="楷体" panose="02010609060101010101" pitchFamily="49" charset="-122"/>
              </a:rPr>
              <a:t>、</a:t>
            </a:r>
            <a:r>
              <a:rPr kumimoji="1" lang="zh-CN" altLang="en-US" b="1" dirty="0">
                <a:solidFill>
                  <a:srgbClr val="FF0000"/>
                </a:solidFill>
                <a:latin typeface="楷体" panose="02010609060101010101" pitchFamily="49" charset="-122"/>
                <a:ea typeface="楷体" panose="02010609060101010101" pitchFamily="49" charset="-122"/>
              </a:rPr>
              <a:t>几何方程</a:t>
            </a:r>
            <a:r>
              <a:rPr kumimoji="1" lang="zh-CN" altLang="en-US" b="1" dirty="0">
                <a:solidFill>
                  <a:srgbClr val="000000"/>
                </a:solidFill>
                <a:latin typeface="楷体" panose="02010609060101010101" pitchFamily="49" charset="-122"/>
                <a:ea typeface="楷体" panose="02010609060101010101" pitchFamily="49" charset="-122"/>
              </a:rPr>
              <a:t>和</a:t>
            </a:r>
            <a:r>
              <a:rPr kumimoji="1" lang="zh-CN" altLang="en-US" b="1" dirty="0">
                <a:solidFill>
                  <a:srgbClr val="FF0000"/>
                </a:solidFill>
                <a:latin typeface="楷体" panose="02010609060101010101" pitchFamily="49" charset="-122"/>
                <a:ea typeface="楷体" panose="02010609060101010101" pitchFamily="49" charset="-122"/>
              </a:rPr>
              <a:t>物理方程</a:t>
            </a:r>
            <a:r>
              <a:rPr kumimoji="1" lang="zh-CN" altLang="en-US" b="1" dirty="0">
                <a:solidFill>
                  <a:srgbClr val="000000"/>
                </a:solidFill>
                <a:latin typeface="楷体" panose="02010609060101010101" pitchFamily="49" charset="-122"/>
                <a:ea typeface="楷体" panose="02010609060101010101" pitchFamily="49" charset="-122"/>
              </a:rPr>
              <a:t>；</a:t>
            </a:r>
          </a:p>
        </p:txBody>
      </p:sp>
      <p:sp>
        <p:nvSpPr>
          <p:cNvPr id="64516" name="Text Box 4">
            <a:hlinkClick r:id="" action="ppaction://hlinkshowjump?jump=previousslide"/>
          </p:cNvPr>
          <p:cNvSpPr txBox="1">
            <a:spLocks noChangeArrowheads="1"/>
          </p:cNvSpPr>
          <p:nvPr/>
        </p:nvSpPr>
        <p:spPr bwMode="auto">
          <a:xfrm>
            <a:off x="533159" y="2113190"/>
            <a:ext cx="7315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kumimoji="1" lang="en-US" altLang="zh-CN" b="1" dirty="0">
                <a:latin typeface="楷体" panose="02010609060101010101" pitchFamily="49" charset="-122"/>
                <a:ea typeface="楷体" panose="02010609060101010101" pitchFamily="49" charset="-122"/>
              </a:rPr>
              <a:t>2</a:t>
            </a:r>
            <a:r>
              <a:rPr kumimoji="1" lang="zh-CN" altLang="en-US" b="1" dirty="0">
                <a:latin typeface="楷体" panose="02010609060101010101" pitchFamily="49" charset="-122"/>
                <a:ea typeface="楷体" panose="02010609060101010101" pitchFamily="49" charset="-122"/>
              </a:rPr>
              <a:t>、内力与</a:t>
            </a:r>
            <a:r>
              <a:rPr kumimoji="1" lang="zh-CN" altLang="en-US" b="1" dirty="0">
                <a:solidFill>
                  <a:srgbClr val="FF0000"/>
                </a:solidFill>
                <a:latin typeface="楷体" panose="02010609060101010101" pitchFamily="49" charset="-122"/>
                <a:ea typeface="楷体" panose="02010609060101010101" pitchFamily="49" charset="-122"/>
              </a:rPr>
              <a:t>刚度</a:t>
            </a:r>
            <a:r>
              <a:rPr kumimoji="1" lang="zh-CN" altLang="en-US" b="1" dirty="0">
                <a:latin typeface="楷体" panose="02010609060101010101" pitchFamily="49" charset="-122"/>
                <a:ea typeface="楷体" panose="02010609060101010101" pitchFamily="49" charset="-122"/>
              </a:rPr>
              <a:t>有关，刚度越大，内力越大；</a:t>
            </a:r>
          </a:p>
        </p:txBody>
      </p:sp>
      <p:sp>
        <p:nvSpPr>
          <p:cNvPr id="64517" name="Text Box 5"/>
          <p:cNvSpPr txBox="1">
            <a:spLocks noChangeArrowheads="1"/>
          </p:cNvSpPr>
          <p:nvPr/>
        </p:nvSpPr>
        <p:spPr bwMode="auto">
          <a:xfrm>
            <a:off x="533159" y="4869160"/>
            <a:ext cx="817305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kumimoji="1" lang="en-US" altLang="zh-CN" b="1" dirty="0">
                <a:latin typeface="楷体" panose="02010609060101010101" pitchFamily="49" charset="-122"/>
                <a:ea typeface="楷体" panose="02010609060101010101" pitchFamily="49" charset="-122"/>
              </a:rPr>
              <a:t>3</a:t>
            </a:r>
            <a:r>
              <a:rPr kumimoji="1" lang="zh-CN" altLang="en-US" b="1" dirty="0">
                <a:latin typeface="楷体" panose="02010609060101010101" pitchFamily="49" charset="-122"/>
                <a:ea typeface="楷体" panose="02010609060101010101" pitchFamily="49" charset="-122"/>
              </a:rPr>
              <a:t>、变形状态可以任意假设，内力方向由变形状态来确定，若内力求出为正，则表明假设与实际一致（可用</a:t>
            </a:r>
            <a:r>
              <a:rPr kumimoji="1" lang="zh-CN" altLang="en-US" b="1" dirty="0">
                <a:solidFill>
                  <a:srgbClr val="FF0000"/>
                </a:solidFill>
                <a:latin typeface="楷体" panose="02010609060101010101" pitchFamily="49" charset="-122"/>
                <a:ea typeface="楷体" panose="02010609060101010101" pitchFamily="49" charset="-122"/>
              </a:rPr>
              <a:t>设正法</a:t>
            </a:r>
            <a:r>
              <a:rPr kumimoji="1" lang="zh-CN" altLang="en-US" b="1" dirty="0">
                <a:latin typeface="楷体" panose="02010609060101010101" pitchFamily="49" charset="-122"/>
                <a:ea typeface="楷体" panose="02010609060101010101" pitchFamily="49" charset="-122"/>
              </a:rPr>
              <a:t>）；</a:t>
            </a:r>
          </a:p>
        </p:txBody>
      </p:sp>
      <p:sp>
        <p:nvSpPr>
          <p:cNvPr id="64518" name="Text Box 6">
            <a:hlinkClick r:id="" action="ppaction://hlinkshowjump?jump=previousslide"/>
          </p:cNvPr>
          <p:cNvSpPr txBox="1">
            <a:spLocks noChangeArrowheads="1"/>
          </p:cNvSpPr>
          <p:nvPr/>
        </p:nvSpPr>
        <p:spPr bwMode="auto">
          <a:xfrm>
            <a:off x="533159" y="5775426"/>
            <a:ext cx="81027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b="1" dirty="0">
                <a:solidFill>
                  <a:srgbClr val="0000FF"/>
                </a:solidFill>
                <a:latin typeface="楷体" panose="02010609060101010101" pitchFamily="49" charset="-122"/>
                <a:ea typeface="楷体" panose="02010609060101010101" pitchFamily="49" charset="-122"/>
              </a:rPr>
              <a:t>4</a:t>
            </a:r>
            <a:r>
              <a:rPr kumimoji="1" lang="zh-CN" altLang="en-US" b="1" dirty="0">
                <a:solidFill>
                  <a:srgbClr val="0000FF"/>
                </a:solidFill>
                <a:latin typeface="楷体" panose="02010609060101010101" pitchFamily="49" charset="-122"/>
                <a:ea typeface="楷体" panose="02010609060101010101" pitchFamily="49" charset="-122"/>
              </a:rPr>
              <a:t>、装配误差、温度变化会使静</a:t>
            </a:r>
            <a:r>
              <a:rPr lang="zh-CN" altLang="en-US" b="1" dirty="0">
                <a:solidFill>
                  <a:srgbClr val="0000FF"/>
                </a:solidFill>
                <a:latin typeface="楷体" panose="02010609060101010101" pitchFamily="49" charset="-122"/>
                <a:ea typeface="楷体" panose="02010609060101010101" pitchFamily="49" charset="-122"/>
              </a:rPr>
              <a:t>不</a:t>
            </a:r>
            <a:r>
              <a:rPr kumimoji="1" lang="zh-CN" altLang="en-US" b="1" dirty="0">
                <a:solidFill>
                  <a:srgbClr val="0000FF"/>
                </a:solidFill>
                <a:latin typeface="楷体" panose="02010609060101010101" pitchFamily="49" charset="-122"/>
                <a:ea typeface="楷体" panose="02010609060101010101" pitchFamily="49" charset="-122"/>
              </a:rPr>
              <a:t>定结构产生内力和应力。</a:t>
            </a:r>
          </a:p>
        </p:txBody>
      </p:sp>
      <p:sp>
        <p:nvSpPr>
          <p:cNvPr id="64521" name="Rectangle 92"/>
          <p:cNvSpPr>
            <a:spLocks noChangeArrowheads="1"/>
          </p:cNvSpPr>
          <p:nvPr/>
        </p:nvSpPr>
        <p:spPr bwMode="auto">
          <a:xfrm>
            <a:off x="375113" y="420264"/>
            <a:ext cx="6769100" cy="585418"/>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3200" b="1" dirty="0">
                <a:solidFill>
                  <a:srgbClr val="0000CC"/>
                </a:solidFill>
                <a:latin typeface="Times New Roman" panose="02020603050405020304" pitchFamily="18" charset="0"/>
                <a:ea typeface="隶书" panose="02010509060101010101" pitchFamily="49" charset="-122"/>
              </a:rPr>
              <a:t>6-6  </a:t>
            </a:r>
            <a:r>
              <a:rPr kumimoji="1" lang="zh-CN" altLang="en-US" sz="3200" b="1" dirty="0">
                <a:solidFill>
                  <a:srgbClr val="0000CC"/>
                </a:solidFill>
                <a:latin typeface="Times New Roman" panose="02020603050405020304" pitchFamily="18" charset="0"/>
                <a:ea typeface="隶书" panose="02010509060101010101" pitchFamily="49" charset="-122"/>
              </a:rPr>
              <a:t>拉压静</a:t>
            </a:r>
            <a:r>
              <a:rPr lang="zh-CN" altLang="en-US" sz="3200" b="1" dirty="0">
                <a:solidFill>
                  <a:srgbClr val="0000CC"/>
                </a:solidFill>
                <a:latin typeface="Times New Roman" panose="02020603050405020304" pitchFamily="18" charset="0"/>
                <a:ea typeface="隶书" panose="02010509060101010101" pitchFamily="49" charset="-122"/>
              </a:rPr>
              <a:t>不</a:t>
            </a:r>
            <a:r>
              <a:rPr kumimoji="1" lang="zh-CN" altLang="en-US" sz="3200" b="1" dirty="0">
                <a:solidFill>
                  <a:srgbClr val="0000CC"/>
                </a:solidFill>
                <a:latin typeface="Times New Roman" panose="02020603050405020304" pitchFamily="18" charset="0"/>
                <a:ea typeface="隶书" panose="02010509060101010101" pitchFamily="49" charset="-122"/>
              </a:rPr>
              <a:t>定问题</a:t>
            </a: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1720" y="2701059"/>
            <a:ext cx="3697337" cy="2092832"/>
          </a:xfrm>
          <a:prstGeom prst="rect">
            <a:avLst/>
          </a:prstGeom>
        </p:spPr>
      </p:pic>
    </p:spTree>
    <p:extLst>
      <p:ext uri="{BB962C8B-B14F-4D97-AF65-F5344CB8AC3E}">
        <p14:creationId xmlns:p14="http://schemas.microsoft.com/office/powerpoint/2010/main" val="286343181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4514"/>
                                        </p:tgtEl>
                                        <p:attrNameLst>
                                          <p:attrName>style.visibility</p:attrName>
                                        </p:attrNameLst>
                                      </p:cBhvr>
                                      <p:to>
                                        <p:strVal val="visible"/>
                                      </p:to>
                                    </p:set>
                                    <p:animEffect transition="in" filter="wipe(left)">
                                      <p:cBhvr>
                                        <p:cTn id="7" dur="500"/>
                                        <p:tgtEl>
                                          <p:spTgt spid="6451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4515"/>
                                        </p:tgtEl>
                                        <p:attrNameLst>
                                          <p:attrName>style.visibility</p:attrName>
                                        </p:attrNameLst>
                                      </p:cBhvr>
                                      <p:to>
                                        <p:strVal val="visible"/>
                                      </p:to>
                                    </p:set>
                                    <p:animEffect transition="in" filter="blinds(horizontal)">
                                      <p:cBhvr>
                                        <p:cTn id="12" dur="500"/>
                                        <p:tgtEl>
                                          <p:spTgt spid="6451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4516"/>
                                        </p:tgtEl>
                                        <p:attrNameLst>
                                          <p:attrName>style.visibility</p:attrName>
                                        </p:attrNameLst>
                                      </p:cBhvr>
                                      <p:to>
                                        <p:strVal val="visible"/>
                                      </p:to>
                                    </p:set>
                                    <p:animEffect transition="in" filter="blinds(horizontal)">
                                      <p:cBhvr>
                                        <p:cTn id="17" dur="500"/>
                                        <p:tgtEl>
                                          <p:spTgt spid="645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4517"/>
                                        </p:tgtEl>
                                        <p:attrNameLst>
                                          <p:attrName>style.visibility</p:attrName>
                                        </p:attrNameLst>
                                      </p:cBhvr>
                                      <p:to>
                                        <p:strVal val="visible"/>
                                      </p:to>
                                    </p:set>
                                    <p:animEffect transition="in" filter="blinds(horizontal)">
                                      <p:cBhvr>
                                        <p:cTn id="27" dur="500"/>
                                        <p:tgtEl>
                                          <p:spTgt spid="64517"/>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4518"/>
                                        </p:tgtEl>
                                        <p:attrNameLst>
                                          <p:attrName>style.visibility</p:attrName>
                                        </p:attrNameLst>
                                      </p:cBhvr>
                                      <p:to>
                                        <p:strVal val="visible"/>
                                      </p:to>
                                    </p:set>
                                    <p:animEffect transition="in" filter="blinds(horizontal)">
                                      <p:cBhvr>
                                        <p:cTn id="32" dur="500"/>
                                        <p:tgtEl>
                                          <p:spTgt spid="645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4" grpId="0"/>
      <p:bldP spid="64515" grpId="0" autoUpdateAnimBg="0"/>
      <p:bldP spid="64516" grpId="0" autoUpdateAnimBg="0"/>
      <p:bldP spid="64517" grpId="0" autoUpdateAnimBg="0"/>
      <p:bldP spid="64518"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67544" y="801342"/>
            <a:ext cx="3324343" cy="461665"/>
          </a:xfrm>
          <a:prstGeom prst="rect">
            <a:avLst/>
          </a:prstGeom>
          <a:noFill/>
        </p:spPr>
        <p:txBody>
          <a:bodyPr wrap="square" rtlCol="0">
            <a:spAutoFit/>
          </a:bodyPr>
          <a:lstStyle/>
          <a:p>
            <a:pPr marL="342900" indent="-342900">
              <a:buFont typeface="Wingdings" panose="05000000000000000000" pitchFamily="2" charset="2"/>
              <a:buChar char="u"/>
            </a:pPr>
            <a:r>
              <a:rPr lang="zh-CN" altLang="en-US" b="1" dirty="0">
                <a:solidFill>
                  <a:srgbClr val="FF0000"/>
                </a:solidFill>
                <a:latin typeface="黑体" panose="02010609060101010101" pitchFamily="49" charset="-122"/>
                <a:ea typeface="黑体" panose="02010609060101010101" pitchFamily="49" charset="-122"/>
              </a:rPr>
              <a:t>装配应力和温度应力</a:t>
            </a:r>
          </a:p>
        </p:txBody>
      </p:sp>
      <p:sp>
        <p:nvSpPr>
          <p:cNvPr id="3" name="Text Box 3"/>
          <p:cNvSpPr txBox="1">
            <a:spLocks noChangeArrowheads="1"/>
          </p:cNvSpPr>
          <p:nvPr/>
        </p:nvSpPr>
        <p:spPr bwMode="auto">
          <a:xfrm>
            <a:off x="539552" y="1343501"/>
            <a:ext cx="185820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solidFill>
                  <a:srgbClr val="0000FF"/>
                </a:solidFill>
                <a:ea typeface="宋体" panose="02010600030101010101" pitchFamily="2" charset="-122"/>
              </a:rPr>
              <a:t>(1) </a:t>
            </a:r>
            <a:r>
              <a:rPr lang="zh-CN" altLang="en-US" b="1" dirty="0">
                <a:solidFill>
                  <a:srgbClr val="0000FF"/>
                </a:solidFill>
                <a:latin typeface="黑体" panose="02010609060101010101" pitchFamily="49" charset="-122"/>
                <a:ea typeface="黑体" panose="02010609060101010101" pitchFamily="49" charset="-122"/>
              </a:rPr>
              <a:t>装配应力</a:t>
            </a:r>
          </a:p>
        </p:txBody>
      </p:sp>
      <p:sp>
        <p:nvSpPr>
          <p:cNvPr id="4" name="Text Box 4"/>
          <p:cNvSpPr txBox="1">
            <a:spLocks noChangeArrowheads="1"/>
          </p:cNvSpPr>
          <p:nvPr/>
        </p:nvSpPr>
        <p:spPr bwMode="auto">
          <a:xfrm>
            <a:off x="774799" y="3964698"/>
            <a:ext cx="7272808"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zh-CN" altLang="en-US" b="1" dirty="0">
                <a:latin typeface="楷体" panose="02010609060101010101" pitchFamily="49" charset="-122"/>
                <a:ea typeface="楷体" panose="02010609060101010101" pitchFamily="49" charset="-122"/>
              </a:rPr>
              <a:t>静不定杆系</a:t>
            </a:r>
            <a:r>
              <a:rPr lang="en-US" altLang="zh-CN" b="1" dirty="0">
                <a:latin typeface="楷体" panose="02010609060101010101" pitchFamily="49" charset="-122"/>
                <a:ea typeface="楷体" panose="02010609060101010101" pitchFamily="49" charset="-122"/>
              </a:rPr>
              <a:t>(</a:t>
            </a:r>
            <a:r>
              <a:rPr lang="zh-CN" altLang="en-US" b="1" dirty="0">
                <a:latin typeface="楷体" panose="02010609060101010101" pitchFamily="49" charset="-122"/>
                <a:ea typeface="楷体" panose="02010609060101010101" pitchFamily="49" charset="-122"/>
              </a:rPr>
              <a:t>结构</a:t>
            </a:r>
            <a:r>
              <a:rPr lang="en-US" altLang="zh-CN" b="1" dirty="0">
                <a:latin typeface="楷体" panose="02010609060101010101" pitchFamily="49" charset="-122"/>
                <a:ea typeface="楷体" panose="02010609060101010101" pitchFamily="49" charset="-122"/>
              </a:rPr>
              <a:t>)</a:t>
            </a:r>
            <a:r>
              <a:rPr lang="zh-CN" altLang="en-US" b="1" dirty="0">
                <a:latin typeface="楷体" panose="02010609060101010101" pitchFamily="49" charset="-122"/>
                <a:ea typeface="楷体" panose="02010609060101010101" pitchFamily="49" charset="-122"/>
              </a:rPr>
              <a:t>由于存在“多余”约束，因此如果各杆件在制造时长度不相匹配，则组装后各杆中将产生附加内力──</a:t>
            </a:r>
            <a:r>
              <a:rPr lang="zh-CN" altLang="en-US" b="1" dirty="0">
                <a:solidFill>
                  <a:srgbClr val="FF0000"/>
                </a:solidFill>
                <a:latin typeface="楷体" panose="02010609060101010101" pitchFamily="49" charset="-122"/>
                <a:ea typeface="楷体" panose="02010609060101010101" pitchFamily="49" charset="-122"/>
              </a:rPr>
              <a:t>装配内力</a:t>
            </a:r>
            <a:r>
              <a:rPr lang="zh-CN" altLang="en-US" b="1" dirty="0">
                <a:latin typeface="楷体" panose="02010609060101010101" pitchFamily="49" charset="-122"/>
                <a:ea typeface="楷体" panose="02010609060101010101" pitchFamily="49" charset="-122"/>
              </a:rPr>
              <a:t>，以及相应的</a:t>
            </a:r>
            <a:r>
              <a:rPr lang="zh-CN" altLang="en-US" b="1" dirty="0">
                <a:solidFill>
                  <a:srgbClr val="FF0000"/>
                </a:solidFill>
                <a:latin typeface="楷体" panose="02010609060101010101" pitchFamily="49" charset="-122"/>
                <a:ea typeface="楷体" panose="02010609060101010101" pitchFamily="49" charset="-122"/>
              </a:rPr>
              <a:t>装配应力</a:t>
            </a:r>
            <a:r>
              <a:rPr lang="zh-CN" altLang="en-US" dirty="0">
                <a:latin typeface="楷体" panose="02010609060101010101" pitchFamily="49" charset="-122"/>
                <a:ea typeface="楷体" panose="02010609060101010101" pitchFamily="49" charset="-122"/>
              </a:rPr>
              <a:t>。</a:t>
            </a:r>
          </a:p>
        </p:txBody>
      </p:sp>
      <p:graphicFrame>
        <p:nvGraphicFramePr>
          <p:cNvPr id="5" name="Object 13"/>
          <p:cNvGraphicFramePr>
            <a:graphicFrameLocks noChangeAspect="1"/>
          </p:cNvGraphicFramePr>
          <p:nvPr>
            <p:extLst>
              <p:ext uri="{D42A27DB-BD31-4B8C-83A1-F6EECF244321}">
                <p14:modId xmlns:p14="http://schemas.microsoft.com/office/powerpoint/2010/main" val="1283500836"/>
              </p:ext>
            </p:extLst>
          </p:nvPr>
        </p:nvGraphicFramePr>
        <p:xfrm>
          <a:off x="5436096" y="1441737"/>
          <a:ext cx="2515046" cy="2425223"/>
        </p:xfrm>
        <a:graphic>
          <a:graphicData uri="http://schemas.openxmlformats.org/presentationml/2006/ole">
            <mc:AlternateContent xmlns:mc="http://schemas.openxmlformats.org/markup-compatibility/2006">
              <mc:Choice xmlns:v="urn:schemas-microsoft-com:vml" Requires="v">
                <p:oleObj name="Image" r:id="rId2" imgW="12812698" imgH="13117460" progId="Photoshop.Image.6">
                  <p:embed/>
                </p:oleObj>
              </mc:Choice>
              <mc:Fallback>
                <p:oleObj name="Image" r:id="rId2" imgW="12812698" imgH="13117460" progId="Photoshop.Image.6">
                  <p:embed/>
                  <p:pic>
                    <p:nvPicPr>
                      <p:cNvPr id="0" name=""/>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5438" t="7109" r="3879" b="7462"/>
                      <a:stretch>
                        <a:fillRect/>
                      </a:stretch>
                    </p:blipFill>
                    <p:spPr bwMode="auto">
                      <a:xfrm>
                        <a:off x="5436096" y="1441737"/>
                        <a:ext cx="2515046" cy="2425223"/>
                      </a:xfrm>
                      <a:prstGeom prst="rect">
                        <a:avLst/>
                      </a:prstGeom>
                      <a:noFill/>
                      <a:ln>
                        <a:noFill/>
                      </a:ln>
                      <a:effectLst/>
                    </p:spPr>
                  </p:pic>
                </p:oleObj>
              </mc:Fallback>
            </mc:AlternateContent>
          </a:graphicData>
        </a:graphic>
      </p:graphicFrame>
      <p:pic>
        <p:nvPicPr>
          <p:cNvPr id="7" name="Picture 31" descr="P180_6-1a"/>
          <p:cNvPicPr>
            <a:picLocks noChangeAspect="1" noChangeArrowheads="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t="1" b="53519"/>
          <a:stretch/>
        </p:blipFill>
        <p:spPr bwMode="auto">
          <a:xfrm>
            <a:off x="2627784" y="1369628"/>
            <a:ext cx="2199197" cy="213138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92"/>
          <p:cNvSpPr>
            <a:spLocks noChangeArrowheads="1"/>
          </p:cNvSpPr>
          <p:nvPr/>
        </p:nvSpPr>
        <p:spPr bwMode="auto">
          <a:xfrm>
            <a:off x="407337" y="276340"/>
            <a:ext cx="6769100" cy="585418"/>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3200" b="1" dirty="0">
                <a:solidFill>
                  <a:srgbClr val="0000CC"/>
                </a:solidFill>
                <a:latin typeface="Times New Roman" panose="02020603050405020304" pitchFamily="18" charset="0"/>
                <a:ea typeface="隶书" panose="02010509060101010101" pitchFamily="49" charset="-122"/>
              </a:rPr>
              <a:t>6-6  </a:t>
            </a:r>
            <a:r>
              <a:rPr kumimoji="1" lang="zh-CN" altLang="en-US" sz="3200" b="1" dirty="0">
                <a:solidFill>
                  <a:srgbClr val="0000CC"/>
                </a:solidFill>
                <a:latin typeface="Times New Roman" panose="02020603050405020304" pitchFamily="18" charset="0"/>
                <a:ea typeface="隶书" panose="02010509060101010101" pitchFamily="49" charset="-122"/>
              </a:rPr>
              <a:t>拉压静</a:t>
            </a:r>
            <a:r>
              <a:rPr lang="zh-CN" altLang="en-US" sz="3200" b="1" dirty="0">
                <a:solidFill>
                  <a:srgbClr val="0000CC"/>
                </a:solidFill>
                <a:latin typeface="Times New Roman" panose="02020603050405020304" pitchFamily="18" charset="0"/>
                <a:ea typeface="隶书" panose="02010509060101010101" pitchFamily="49" charset="-122"/>
              </a:rPr>
              <a:t>不</a:t>
            </a:r>
            <a:r>
              <a:rPr kumimoji="1" lang="zh-CN" altLang="en-US" sz="3200" b="1" dirty="0">
                <a:solidFill>
                  <a:srgbClr val="0000CC"/>
                </a:solidFill>
                <a:latin typeface="Times New Roman" panose="02020603050405020304" pitchFamily="18" charset="0"/>
                <a:ea typeface="隶书" panose="02010509060101010101" pitchFamily="49" charset="-122"/>
              </a:rPr>
              <a:t>定问题</a:t>
            </a:r>
          </a:p>
        </p:txBody>
      </p:sp>
      <p:sp>
        <p:nvSpPr>
          <p:cNvPr id="9" name="Text Box 4"/>
          <p:cNvSpPr txBox="1">
            <a:spLocks noChangeArrowheads="1"/>
          </p:cNvSpPr>
          <p:nvPr/>
        </p:nvSpPr>
        <p:spPr bwMode="auto">
          <a:xfrm>
            <a:off x="755576" y="5253682"/>
            <a:ext cx="727280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spcBef>
                <a:spcPts val="0"/>
              </a:spcBef>
              <a:buFont typeface="Wingdings" panose="05000000000000000000" pitchFamily="2" charset="2"/>
              <a:buChar char="u"/>
            </a:pPr>
            <a:r>
              <a:rPr lang="zh-CN" altLang="en-US" b="1" dirty="0">
                <a:latin typeface="楷体" panose="02010609060101010101" pitchFamily="49" charset="-122"/>
                <a:ea typeface="楷体" panose="02010609060101010101" pitchFamily="49" charset="-122"/>
              </a:rPr>
              <a:t>静定结构中，几何形状变化无内力；</a:t>
            </a:r>
            <a:endParaRPr lang="zh-CN" altLang="en-US" dirty="0">
              <a:latin typeface="楷体" panose="02010609060101010101" pitchFamily="49" charset="-122"/>
              <a:ea typeface="楷体" panose="02010609060101010101" pitchFamily="49" charset="-122"/>
            </a:endParaRPr>
          </a:p>
        </p:txBody>
      </p:sp>
      <p:sp>
        <p:nvSpPr>
          <p:cNvPr id="10" name="Text Box 4"/>
          <p:cNvSpPr txBox="1">
            <a:spLocks noChangeArrowheads="1"/>
          </p:cNvSpPr>
          <p:nvPr/>
        </p:nvSpPr>
        <p:spPr bwMode="auto">
          <a:xfrm>
            <a:off x="767324" y="5715347"/>
            <a:ext cx="783712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spcBef>
                <a:spcPts val="0"/>
              </a:spcBef>
              <a:buFont typeface="Wingdings" panose="05000000000000000000" pitchFamily="2" charset="2"/>
              <a:buChar char="u"/>
            </a:pPr>
            <a:r>
              <a:rPr lang="zh-CN" altLang="en-US" b="1" dirty="0">
                <a:latin typeface="楷体" panose="02010609060101010101" pitchFamily="49" charset="-122"/>
                <a:ea typeface="楷体" panose="02010609060101010101" pitchFamily="49" charset="-122"/>
              </a:rPr>
              <a:t>静不定结构中，无载荷作用就会产生内力（预应力）</a:t>
            </a:r>
            <a:endParaRPr lang="zh-CN" altLang="en-US"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437388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8" presetClass="entr" presetSubtype="32"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diamond(out)">
                                      <p:cBhvr>
                                        <p:cTn id="18" dur="75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blinds(horizontal)">
                                      <p:cBhvr>
                                        <p:cTn id="23" dur="5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blinds(horizontal)">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blinds(horizontal)">
                                      <p:cBhvr>
                                        <p:cTn id="3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 grpId="0" autoUpdateAnimBg="0"/>
      <p:bldP spid="9" grpId="0" autoUpdateAnimBg="0"/>
      <p:bldP spid="10"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ChangeArrowheads="1"/>
          </p:cNvSpPr>
          <p:nvPr/>
        </p:nvSpPr>
        <p:spPr bwMode="auto">
          <a:xfrm>
            <a:off x="409574" y="637766"/>
            <a:ext cx="4509221" cy="12009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eaLnBrk="0" hangingPunct="0"/>
            <a:r>
              <a:rPr kumimoji="1" lang="zh-CN" altLang="en-US" sz="2400" b="1" dirty="0">
                <a:solidFill>
                  <a:srgbClr val="FF0000"/>
                </a:solidFill>
                <a:latin typeface="+mn-lt"/>
                <a:ea typeface="楷体" panose="02010609060101010101" pitchFamily="49" charset="-122"/>
              </a:rPr>
              <a:t>例</a:t>
            </a:r>
            <a:r>
              <a:rPr kumimoji="1" lang="en-US" altLang="zh-CN" sz="2400" b="1" dirty="0">
                <a:solidFill>
                  <a:srgbClr val="000000"/>
                </a:solidFill>
                <a:latin typeface="+mn-lt"/>
                <a:ea typeface="楷体" panose="02010609060101010101" pitchFamily="49" charset="-122"/>
              </a:rPr>
              <a:t>    </a:t>
            </a:r>
            <a:r>
              <a:rPr kumimoji="1" lang="en-US" altLang="zh-CN" sz="2400" dirty="0">
                <a:solidFill>
                  <a:srgbClr val="000000"/>
                </a:solidFill>
                <a:latin typeface="+mn-lt"/>
                <a:ea typeface="楷体" panose="02010609060101010101" pitchFamily="49" charset="-122"/>
              </a:rPr>
              <a:t>1</a:t>
            </a:r>
            <a:r>
              <a:rPr kumimoji="1" lang="zh-CN" altLang="en-US" sz="2400" dirty="0">
                <a:solidFill>
                  <a:srgbClr val="000000"/>
                </a:solidFill>
                <a:latin typeface="+mn-lt"/>
                <a:ea typeface="楷体" panose="02010609060101010101" pitchFamily="49" charset="-122"/>
              </a:rPr>
              <a:t>、</a:t>
            </a:r>
            <a:r>
              <a:rPr kumimoji="1" lang="en-US" altLang="zh-CN" sz="2400" dirty="0">
                <a:solidFill>
                  <a:srgbClr val="000000"/>
                </a:solidFill>
                <a:latin typeface="+mn-lt"/>
                <a:ea typeface="楷体" panose="02010609060101010101" pitchFamily="49" charset="-122"/>
              </a:rPr>
              <a:t>2</a:t>
            </a:r>
            <a:r>
              <a:rPr kumimoji="1" lang="zh-CN" altLang="en-US" sz="2400" b="1" dirty="0">
                <a:solidFill>
                  <a:srgbClr val="000000"/>
                </a:solidFill>
                <a:latin typeface="+mn-lt"/>
                <a:ea typeface="楷体" panose="02010609060101010101" pitchFamily="49" charset="-122"/>
              </a:rPr>
              <a:t>两根直杆的抗拉刚度分别为</a:t>
            </a:r>
            <a:r>
              <a:rPr kumimoji="1" lang="en-US" altLang="zh-CN" sz="2400" i="1" dirty="0">
                <a:solidFill>
                  <a:srgbClr val="000000"/>
                </a:solidFill>
                <a:latin typeface="+mn-lt"/>
                <a:ea typeface="楷体" panose="02010609060101010101" pitchFamily="49" charset="-122"/>
              </a:rPr>
              <a:t>E</a:t>
            </a:r>
            <a:r>
              <a:rPr kumimoji="1" lang="en-US" altLang="zh-CN" sz="2400" baseline="-25000" dirty="0">
                <a:solidFill>
                  <a:srgbClr val="000000"/>
                </a:solidFill>
                <a:latin typeface="+mn-lt"/>
                <a:ea typeface="楷体" panose="02010609060101010101" pitchFamily="49" charset="-122"/>
              </a:rPr>
              <a:t>1</a:t>
            </a:r>
            <a:r>
              <a:rPr kumimoji="1" lang="en-US" altLang="zh-CN" sz="2400" i="1" dirty="0">
                <a:solidFill>
                  <a:srgbClr val="000000"/>
                </a:solidFill>
                <a:latin typeface="+mn-lt"/>
                <a:ea typeface="楷体" panose="02010609060101010101" pitchFamily="49" charset="-122"/>
              </a:rPr>
              <a:t>A</a:t>
            </a:r>
            <a:r>
              <a:rPr kumimoji="1" lang="en-US" altLang="zh-CN" sz="2400" baseline="-25000" dirty="0">
                <a:solidFill>
                  <a:srgbClr val="000000"/>
                </a:solidFill>
                <a:latin typeface="+mn-lt"/>
                <a:ea typeface="楷体" panose="02010609060101010101" pitchFamily="49" charset="-122"/>
              </a:rPr>
              <a:t>1</a:t>
            </a:r>
            <a:r>
              <a:rPr kumimoji="1" lang="zh-CN" altLang="en-US" sz="2400" b="1" dirty="0">
                <a:solidFill>
                  <a:srgbClr val="000000"/>
                </a:solidFill>
                <a:latin typeface="+mn-lt"/>
                <a:ea typeface="楷体" panose="02010609060101010101" pitchFamily="49" charset="-122"/>
              </a:rPr>
              <a:t>和</a:t>
            </a:r>
            <a:r>
              <a:rPr kumimoji="1" lang="en-US" altLang="zh-CN" sz="2400" i="1" dirty="0">
                <a:solidFill>
                  <a:srgbClr val="000000"/>
                </a:solidFill>
                <a:latin typeface="+mn-lt"/>
                <a:ea typeface="楷体" panose="02010609060101010101" pitchFamily="49" charset="-122"/>
              </a:rPr>
              <a:t>E</a:t>
            </a:r>
            <a:r>
              <a:rPr kumimoji="1" lang="en-US" altLang="zh-CN" sz="2400" baseline="-25000" dirty="0">
                <a:solidFill>
                  <a:srgbClr val="000000"/>
                </a:solidFill>
                <a:latin typeface="+mn-lt"/>
                <a:ea typeface="楷体" panose="02010609060101010101" pitchFamily="49" charset="-122"/>
              </a:rPr>
              <a:t>2</a:t>
            </a:r>
            <a:r>
              <a:rPr kumimoji="1" lang="en-US" altLang="zh-CN" sz="2400" i="1" dirty="0">
                <a:solidFill>
                  <a:srgbClr val="000000"/>
                </a:solidFill>
                <a:latin typeface="+mn-lt"/>
                <a:ea typeface="楷体" panose="02010609060101010101" pitchFamily="49" charset="-122"/>
              </a:rPr>
              <a:t>A</a:t>
            </a:r>
            <a:r>
              <a:rPr kumimoji="1" lang="en-US" altLang="zh-CN" sz="2400" baseline="-25000" dirty="0">
                <a:solidFill>
                  <a:srgbClr val="000000"/>
                </a:solidFill>
                <a:latin typeface="+mn-lt"/>
                <a:ea typeface="楷体" panose="02010609060101010101" pitchFamily="49" charset="-122"/>
              </a:rPr>
              <a:t>2</a:t>
            </a:r>
            <a:r>
              <a:rPr kumimoji="1" lang="en-US" altLang="zh-CN" sz="2400" dirty="0">
                <a:solidFill>
                  <a:srgbClr val="000000"/>
                </a:solidFill>
                <a:latin typeface="+mn-lt"/>
                <a:ea typeface="楷体" panose="02010609060101010101" pitchFamily="49" charset="-122"/>
              </a:rPr>
              <a:t> </a:t>
            </a:r>
            <a:r>
              <a:rPr kumimoji="1" lang="zh-CN" altLang="en-US" sz="2400" b="1" dirty="0">
                <a:solidFill>
                  <a:srgbClr val="000000"/>
                </a:solidFill>
                <a:latin typeface="+mn-lt"/>
                <a:ea typeface="楷体" panose="02010609060101010101" pitchFamily="49" charset="-122"/>
              </a:rPr>
              <a:t>，</a:t>
            </a:r>
            <a:r>
              <a:rPr kumimoji="1" lang="en-US" altLang="zh-CN" sz="2400" dirty="0">
                <a:solidFill>
                  <a:srgbClr val="000000"/>
                </a:solidFill>
                <a:latin typeface="+mn-lt"/>
                <a:ea typeface="楷体" panose="02010609060101010101" pitchFamily="49" charset="-122"/>
              </a:rPr>
              <a:t>2</a:t>
            </a:r>
            <a:r>
              <a:rPr kumimoji="1" lang="zh-CN" altLang="en-US" sz="2400" b="1" dirty="0">
                <a:solidFill>
                  <a:srgbClr val="000000"/>
                </a:solidFill>
                <a:latin typeface="+mn-lt"/>
                <a:ea typeface="楷体" panose="02010609060101010101" pitchFamily="49" charset="-122"/>
              </a:rPr>
              <a:t>杆短</a:t>
            </a:r>
            <a:r>
              <a:rPr kumimoji="1" lang="el-GR" altLang="zh-CN" sz="2400" dirty="0">
                <a:solidFill>
                  <a:srgbClr val="000000"/>
                </a:solidFill>
                <a:latin typeface="+mn-lt"/>
                <a:ea typeface="楷体" panose="02010609060101010101" pitchFamily="49" charset="-122"/>
              </a:rPr>
              <a:t>Δ</a:t>
            </a:r>
            <a:r>
              <a:rPr kumimoji="1" lang="zh-CN" altLang="en-US" sz="2400" b="1" dirty="0">
                <a:solidFill>
                  <a:srgbClr val="000000"/>
                </a:solidFill>
                <a:latin typeface="+mn-lt"/>
                <a:ea typeface="楷体" panose="02010609060101010101" pitchFamily="49" charset="-122"/>
              </a:rPr>
              <a:t>，求装配后两杆的内力。</a:t>
            </a:r>
          </a:p>
        </p:txBody>
      </p:sp>
      <p:grpSp>
        <p:nvGrpSpPr>
          <p:cNvPr id="65539" name="Group 3"/>
          <p:cNvGrpSpPr>
            <a:grpSpLocks/>
          </p:cNvGrpSpPr>
          <p:nvPr/>
        </p:nvGrpSpPr>
        <p:grpSpPr bwMode="auto">
          <a:xfrm>
            <a:off x="4907757" y="636862"/>
            <a:ext cx="3852862" cy="2362200"/>
            <a:chOff x="2976" y="201"/>
            <a:chExt cx="2427" cy="1488"/>
          </a:xfrm>
        </p:grpSpPr>
        <p:grpSp>
          <p:nvGrpSpPr>
            <p:cNvPr id="65540" name="Group 4"/>
            <p:cNvGrpSpPr>
              <a:grpSpLocks/>
            </p:cNvGrpSpPr>
            <p:nvPr/>
          </p:nvGrpSpPr>
          <p:grpSpPr bwMode="auto">
            <a:xfrm>
              <a:off x="3259" y="201"/>
              <a:ext cx="1832" cy="120"/>
              <a:chOff x="240" y="2880"/>
              <a:chExt cx="1392" cy="96"/>
            </a:xfrm>
          </p:grpSpPr>
          <p:grpSp>
            <p:nvGrpSpPr>
              <p:cNvPr id="65541" name="Group 5"/>
              <p:cNvGrpSpPr>
                <a:grpSpLocks/>
              </p:cNvGrpSpPr>
              <p:nvPr/>
            </p:nvGrpSpPr>
            <p:grpSpPr bwMode="auto">
              <a:xfrm>
                <a:off x="240" y="2880"/>
                <a:ext cx="720" cy="96"/>
                <a:chOff x="240" y="2880"/>
                <a:chExt cx="720" cy="96"/>
              </a:xfrm>
            </p:grpSpPr>
            <p:sp>
              <p:nvSpPr>
                <p:cNvPr id="65542" name="Line 6"/>
                <p:cNvSpPr>
                  <a:spLocks noChangeShapeType="1"/>
                </p:cNvSpPr>
                <p:nvPr/>
              </p:nvSpPr>
              <p:spPr bwMode="auto">
                <a:xfrm flipH="1">
                  <a:off x="240" y="2976"/>
                  <a:ext cx="655"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43" name="Line 7"/>
                <p:cNvSpPr>
                  <a:spLocks noChangeShapeType="1"/>
                </p:cNvSpPr>
                <p:nvPr/>
              </p:nvSpPr>
              <p:spPr bwMode="auto">
                <a:xfrm flipH="1">
                  <a:off x="827" y="2880"/>
                  <a:ext cx="133"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44" name="Line 8"/>
                <p:cNvSpPr>
                  <a:spLocks noChangeShapeType="1"/>
                </p:cNvSpPr>
                <p:nvPr/>
              </p:nvSpPr>
              <p:spPr bwMode="auto">
                <a:xfrm flipH="1">
                  <a:off x="698" y="2880"/>
                  <a:ext cx="129"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45" name="Line 9"/>
                <p:cNvSpPr>
                  <a:spLocks noChangeShapeType="1"/>
                </p:cNvSpPr>
                <p:nvPr/>
              </p:nvSpPr>
              <p:spPr bwMode="auto">
                <a:xfrm flipH="1">
                  <a:off x="568" y="2880"/>
                  <a:ext cx="130"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46" name="Line 10"/>
                <p:cNvSpPr>
                  <a:spLocks noChangeShapeType="1"/>
                </p:cNvSpPr>
                <p:nvPr/>
              </p:nvSpPr>
              <p:spPr bwMode="auto">
                <a:xfrm flipH="1">
                  <a:off x="436" y="2880"/>
                  <a:ext cx="132"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47" name="Line 11"/>
                <p:cNvSpPr>
                  <a:spLocks noChangeShapeType="1"/>
                </p:cNvSpPr>
                <p:nvPr/>
              </p:nvSpPr>
              <p:spPr bwMode="auto">
                <a:xfrm flipH="1">
                  <a:off x="305" y="2880"/>
                  <a:ext cx="131"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5548" name="Group 12"/>
              <p:cNvGrpSpPr>
                <a:grpSpLocks/>
              </p:cNvGrpSpPr>
              <p:nvPr/>
            </p:nvGrpSpPr>
            <p:grpSpPr bwMode="auto">
              <a:xfrm>
                <a:off x="912" y="2880"/>
                <a:ext cx="720" cy="96"/>
                <a:chOff x="912" y="2880"/>
                <a:chExt cx="720" cy="96"/>
              </a:xfrm>
            </p:grpSpPr>
            <p:sp>
              <p:nvSpPr>
                <p:cNvPr id="65549" name="Line 13"/>
                <p:cNvSpPr>
                  <a:spLocks noChangeShapeType="1"/>
                </p:cNvSpPr>
                <p:nvPr/>
              </p:nvSpPr>
              <p:spPr bwMode="auto">
                <a:xfrm flipH="1">
                  <a:off x="912" y="2976"/>
                  <a:ext cx="655"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50" name="Line 14"/>
                <p:cNvSpPr>
                  <a:spLocks noChangeShapeType="1"/>
                </p:cNvSpPr>
                <p:nvPr/>
              </p:nvSpPr>
              <p:spPr bwMode="auto">
                <a:xfrm flipH="1">
                  <a:off x="1499" y="2880"/>
                  <a:ext cx="133"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51" name="Line 15"/>
                <p:cNvSpPr>
                  <a:spLocks noChangeShapeType="1"/>
                </p:cNvSpPr>
                <p:nvPr/>
              </p:nvSpPr>
              <p:spPr bwMode="auto">
                <a:xfrm flipH="1">
                  <a:off x="1370" y="2880"/>
                  <a:ext cx="129"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52" name="Line 16"/>
                <p:cNvSpPr>
                  <a:spLocks noChangeShapeType="1"/>
                </p:cNvSpPr>
                <p:nvPr/>
              </p:nvSpPr>
              <p:spPr bwMode="auto">
                <a:xfrm flipH="1">
                  <a:off x="1240" y="2880"/>
                  <a:ext cx="130"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53" name="Line 17"/>
                <p:cNvSpPr>
                  <a:spLocks noChangeShapeType="1"/>
                </p:cNvSpPr>
                <p:nvPr/>
              </p:nvSpPr>
              <p:spPr bwMode="auto">
                <a:xfrm flipH="1">
                  <a:off x="1108" y="2880"/>
                  <a:ext cx="132"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54" name="Line 18"/>
                <p:cNvSpPr>
                  <a:spLocks noChangeShapeType="1"/>
                </p:cNvSpPr>
                <p:nvPr/>
              </p:nvSpPr>
              <p:spPr bwMode="auto">
                <a:xfrm flipH="1">
                  <a:off x="977" y="2880"/>
                  <a:ext cx="131"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65555" name="Oval 19"/>
            <p:cNvSpPr>
              <a:spLocks noChangeArrowheads="1"/>
            </p:cNvSpPr>
            <p:nvPr/>
          </p:nvSpPr>
          <p:spPr bwMode="auto">
            <a:xfrm>
              <a:off x="4086" y="266"/>
              <a:ext cx="115" cy="11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56" name="Line 20"/>
            <p:cNvSpPr>
              <a:spLocks noChangeShapeType="1"/>
            </p:cNvSpPr>
            <p:nvPr/>
          </p:nvSpPr>
          <p:spPr bwMode="auto">
            <a:xfrm>
              <a:off x="4144" y="381"/>
              <a:ext cx="0" cy="9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57" name="Oval 21"/>
            <p:cNvSpPr>
              <a:spLocks noChangeArrowheads="1"/>
            </p:cNvSpPr>
            <p:nvPr/>
          </p:nvSpPr>
          <p:spPr bwMode="auto">
            <a:xfrm>
              <a:off x="4086" y="1286"/>
              <a:ext cx="115" cy="11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58" name="Rectangle 22" descr="编织物"/>
            <p:cNvSpPr>
              <a:spLocks noChangeArrowheads="1"/>
            </p:cNvSpPr>
            <p:nvPr/>
          </p:nvSpPr>
          <p:spPr bwMode="auto">
            <a:xfrm>
              <a:off x="3328" y="1406"/>
              <a:ext cx="1694" cy="110"/>
            </a:xfrm>
            <a:prstGeom prst="rect">
              <a:avLst/>
            </a:prstGeom>
            <a:blipFill dpi="0" rotWithShape="0">
              <a:blip r:embed="rId2"/>
              <a:srcRect/>
              <a:tile tx="0" ty="0" sx="100000" sy="100000" flip="none" algn="tl"/>
            </a:bli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59" name="Line 23"/>
            <p:cNvSpPr>
              <a:spLocks noChangeShapeType="1"/>
            </p:cNvSpPr>
            <p:nvPr/>
          </p:nvSpPr>
          <p:spPr bwMode="auto">
            <a:xfrm>
              <a:off x="3386" y="1101"/>
              <a:ext cx="757" cy="0"/>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60" name="Line 24"/>
            <p:cNvSpPr>
              <a:spLocks noChangeShapeType="1"/>
            </p:cNvSpPr>
            <p:nvPr/>
          </p:nvSpPr>
          <p:spPr bwMode="auto">
            <a:xfrm>
              <a:off x="4143" y="1101"/>
              <a:ext cx="758" cy="0"/>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61" name="Rectangle 25"/>
            <p:cNvSpPr>
              <a:spLocks noChangeArrowheads="1"/>
            </p:cNvSpPr>
            <p:nvPr/>
          </p:nvSpPr>
          <p:spPr bwMode="auto">
            <a:xfrm>
              <a:off x="3625" y="874"/>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b="1" i="1">
                  <a:solidFill>
                    <a:srgbClr val="000000"/>
                  </a:solidFill>
                  <a:latin typeface="Times New Roman" panose="02020603050405020304" pitchFamily="18" charset="0"/>
                  <a:ea typeface="宋体" panose="02010600030101010101" pitchFamily="2" charset="-122"/>
                </a:rPr>
                <a:t>a</a:t>
              </a:r>
            </a:p>
          </p:txBody>
        </p:sp>
        <p:sp>
          <p:nvSpPr>
            <p:cNvPr id="65562" name="Rectangle 26"/>
            <p:cNvSpPr>
              <a:spLocks noChangeArrowheads="1"/>
            </p:cNvSpPr>
            <p:nvPr/>
          </p:nvSpPr>
          <p:spPr bwMode="auto">
            <a:xfrm>
              <a:off x="4425" y="874"/>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b="1" i="1">
                  <a:solidFill>
                    <a:srgbClr val="000000"/>
                  </a:solidFill>
                  <a:latin typeface="Times New Roman" panose="02020603050405020304" pitchFamily="18" charset="0"/>
                  <a:ea typeface="宋体" panose="02010600030101010101" pitchFamily="2" charset="-122"/>
                </a:rPr>
                <a:t>a</a:t>
              </a:r>
            </a:p>
          </p:txBody>
        </p:sp>
        <p:sp>
          <p:nvSpPr>
            <p:cNvPr id="65563" name="Rectangle 27"/>
            <p:cNvSpPr>
              <a:spLocks noChangeArrowheads="1"/>
            </p:cNvSpPr>
            <p:nvPr/>
          </p:nvSpPr>
          <p:spPr bwMode="auto">
            <a:xfrm>
              <a:off x="3951" y="669"/>
              <a:ext cx="19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dirty="0">
                  <a:solidFill>
                    <a:srgbClr val="000000"/>
                  </a:solidFill>
                  <a:latin typeface="Times New Roman" panose="02020603050405020304" pitchFamily="18" charset="0"/>
                  <a:ea typeface="宋体" panose="02010600030101010101" pitchFamily="2" charset="-122"/>
                </a:rPr>
                <a:t>1</a:t>
              </a:r>
            </a:p>
          </p:txBody>
        </p:sp>
        <p:sp>
          <p:nvSpPr>
            <p:cNvPr id="65564" name="Oval 28"/>
            <p:cNvSpPr>
              <a:spLocks noChangeArrowheads="1"/>
            </p:cNvSpPr>
            <p:nvPr/>
          </p:nvSpPr>
          <p:spPr bwMode="auto">
            <a:xfrm>
              <a:off x="4848" y="267"/>
              <a:ext cx="115" cy="11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65" name="Line 29"/>
            <p:cNvSpPr>
              <a:spLocks noChangeShapeType="1"/>
            </p:cNvSpPr>
            <p:nvPr/>
          </p:nvSpPr>
          <p:spPr bwMode="auto">
            <a:xfrm>
              <a:off x="4906" y="382"/>
              <a:ext cx="0" cy="77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66" name="Oval 30"/>
            <p:cNvSpPr>
              <a:spLocks noChangeArrowheads="1"/>
            </p:cNvSpPr>
            <p:nvPr/>
          </p:nvSpPr>
          <p:spPr bwMode="auto">
            <a:xfrm>
              <a:off x="4848" y="1138"/>
              <a:ext cx="115" cy="11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67" name="Line 31"/>
            <p:cNvSpPr>
              <a:spLocks noChangeShapeType="1"/>
            </p:cNvSpPr>
            <p:nvPr/>
          </p:nvSpPr>
          <p:spPr bwMode="auto">
            <a:xfrm flipV="1">
              <a:off x="3369" y="1008"/>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65568" name="Oval 32"/>
            <p:cNvSpPr>
              <a:spLocks noChangeArrowheads="1"/>
            </p:cNvSpPr>
            <p:nvPr/>
          </p:nvSpPr>
          <p:spPr bwMode="auto">
            <a:xfrm>
              <a:off x="3207" y="1409"/>
              <a:ext cx="115" cy="11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69" name="Line 33"/>
            <p:cNvSpPr>
              <a:spLocks noChangeShapeType="1"/>
            </p:cNvSpPr>
            <p:nvPr/>
          </p:nvSpPr>
          <p:spPr bwMode="auto">
            <a:xfrm flipH="1" flipV="1">
              <a:off x="3072" y="1353"/>
              <a:ext cx="144"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5570" name="Line 34"/>
            <p:cNvSpPr>
              <a:spLocks noChangeShapeType="1"/>
            </p:cNvSpPr>
            <p:nvPr/>
          </p:nvSpPr>
          <p:spPr bwMode="auto">
            <a:xfrm flipH="1">
              <a:off x="3072" y="1497"/>
              <a:ext cx="144"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5571" name="Line 35"/>
            <p:cNvSpPr>
              <a:spLocks noChangeShapeType="1"/>
            </p:cNvSpPr>
            <p:nvPr/>
          </p:nvSpPr>
          <p:spPr bwMode="auto">
            <a:xfrm>
              <a:off x="3072" y="1257"/>
              <a:ext cx="0" cy="43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65572" name="Rectangle 36"/>
            <p:cNvSpPr>
              <a:spLocks noChangeArrowheads="1"/>
            </p:cNvSpPr>
            <p:nvPr/>
          </p:nvSpPr>
          <p:spPr bwMode="auto">
            <a:xfrm>
              <a:off x="4719" y="660"/>
              <a:ext cx="19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dirty="0">
                  <a:solidFill>
                    <a:srgbClr val="000000"/>
                  </a:solidFill>
                  <a:latin typeface="Times New Roman" panose="02020603050405020304" pitchFamily="18" charset="0"/>
                  <a:ea typeface="宋体" panose="02010600030101010101" pitchFamily="2" charset="-122"/>
                </a:rPr>
                <a:t>2</a:t>
              </a:r>
            </a:p>
          </p:txBody>
        </p:sp>
        <p:sp>
          <p:nvSpPr>
            <p:cNvPr id="65573" name="Line 37"/>
            <p:cNvSpPr>
              <a:spLocks noChangeShapeType="1"/>
            </p:cNvSpPr>
            <p:nvPr/>
          </p:nvSpPr>
          <p:spPr bwMode="auto">
            <a:xfrm flipH="1">
              <a:off x="2976" y="1305"/>
              <a:ext cx="96"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65574" name="Line 38"/>
            <p:cNvSpPr>
              <a:spLocks noChangeShapeType="1"/>
            </p:cNvSpPr>
            <p:nvPr/>
          </p:nvSpPr>
          <p:spPr bwMode="auto">
            <a:xfrm flipH="1">
              <a:off x="2976" y="1401"/>
              <a:ext cx="96"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65575" name="Line 39"/>
            <p:cNvSpPr>
              <a:spLocks noChangeShapeType="1"/>
            </p:cNvSpPr>
            <p:nvPr/>
          </p:nvSpPr>
          <p:spPr bwMode="auto">
            <a:xfrm flipH="1">
              <a:off x="2976" y="1497"/>
              <a:ext cx="96"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65576" name="Line 40"/>
            <p:cNvSpPr>
              <a:spLocks noChangeShapeType="1"/>
            </p:cNvSpPr>
            <p:nvPr/>
          </p:nvSpPr>
          <p:spPr bwMode="auto">
            <a:xfrm flipH="1">
              <a:off x="2976" y="1593"/>
              <a:ext cx="96"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65577" name="Line 41"/>
            <p:cNvSpPr>
              <a:spLocks noChangeShapeType="1"/>
            </p:cNvSpPr>
            <p:nvPr/>
          </p:nvSpPr>
          <p:spPr bwMode="auto">
            <a:xfrm>
              <a:off x="5246" y="328"/>
              <a:ext cx="0" cy="1056"/>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5578" name="Line 42"/>
            <p:cNvSpPr>
              <a:spLocks noChangeShapeType="1"/>
            </p:cNvSpPr>
            <p:nvPr/>
          </p:nvSpPr>
          <p:spPr bwMode="auto">
            <a:xfrm>
              <a:off x="5038" y="1401"/>
              <a:ext cx="36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5579" name="Line 43"/>
            <p:cNvSpPr>
              <a:spLocks noChangeShapeType="1"/>
            </p:cNvSpPr>
            <p:nvPr/>
          </p:nvSpPr>
          <p:spPr bwMode="auto">
            <a:xfrm>
              <a:off x="5150" y="331"/>
              <a:ext cx="19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65580" name="Rectangle 44"/>
            <p:cNvSpPr>
              <a:spLocks noChangeArrowheads="1"/>
            </p:cNvSpPr>
            <p:nvPr/>
          </p:nvSpPr>
          <p:spPr bwMode="auto">
            <a:xfrm>
              <a:off x="5065" y="681"/>
              <a:ext cx="20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i="1" dirty="0">
                  <a:solidFill>
                    <a:srgbClr val="000000"/>
                  </a:solidFill>
                  <a:latin typeface="Times New Roman" panose="02020603050405020304" pitchFamily="18" charset="0"/>
                  <a:ea typeface="宋体" panose="02010600030101010101" pitchFamily="2" charset="-122"/>
                </a:rPr>
                <a:t>L</a:t>
              </a:r>
            </a:p>
          </p:txBody>
        </p:sp>
        <p:sp>
          <p:nvSpPr>
            <p:cNvPr id="65581" name="Rectangle 45"/>
            <p:cNvSpPr>
              <a:spLocks noChangeArrowheads="1"/>
            </p:cNvSpPr>
            <p:nvPr/>
          </p:nvSpPr>
          <p:spPr bwMode="auto">
            <a:xfrm>
              <a:off x="4656" y="1056"/>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b="1" i="1">
                  <a:solidFill>
                    <a:srgbClr val="000000"/>
                  </a:solidFill>
                  <a:latin typeface="Times New Roman" panose="02020603050405020304" pitchFamily="18" charset="0"/>
                  <a:ea typeface="宋体" panose="02010600030101010101" pitchFamily="2" charset="-122"/>
                </a:rPr>
                <a:t>C</a:t>
              </a:r>
            </a:p>
          </p:txBody>
        </p:sp>
        <p:sp>
          <p:nvSpPr>
            <p:cNvPr id="65582" name="Rectangle 46"/>
            <p:cNvSpPr>
              <a:spLocks noChangeArrowheads="1"/>
            </p:cNvSpPr>
            <p:nvPr/>
          </p:nvSpPr>
          <p:spPr bwMode="auto">
            <a:xfrm>
              <a:off x="3183" y="1189"/>
              <a:ext cx="24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kumimoji="1" lang="en-US" altLang="zh-CN" sz="2000" b="1" i="1">
                  <a:solidFill>
                    <a:srgbClr val="000000"/>
                  </a:solidFill>
                  <a:latin typeface="Times New Roman" panose="02020603050405020304" pitchFamily="18" charset="0"/>
                  <a:ea typeface="宋体" panose="02010600030101010101" pitchFamily="2" charset="-122"/>
                </a:rPr>
                <a:t>A</a:t>
              </a:r>
            </a:p>
          </p:txBody>
        </p:sp>
        <p:sp>
          <p:nvSpPr>
            <p:cNvPr id="65583" name="Rectangle 47"/>
            <p:cNvSpPr>
              <a:spLocks noChangeArrowheads="1"/>
            </p:cNvSpPr>
            <p:nvPr/>
          </p:nvSpPr>
          <p:spPr bwMode="auto">
            <a:xfrm>
              <a:off x="3920" y="1189"/>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b="1" i="1">
                  <a:solidFill>
                    <a:srgbClr val="000000"/>
                  </a:solidFill>
                  <a:latin typeface="Times New Roman" panose="02020603050405020304" pitchFamily="18" charset="0"/>
                  <a:ea typeface="宋体" panose="02010600030101010101" pitchFamily="2" charset="-122"/>
                </a:rPr>
                <a:t>B</a:t>
              </a:r>
            </a:p>
          </p:txBody>
        </p:sp>
        <p:sp>
          <p:nvSpPr>
            <p:cNvPr id="65584" name="Line 48"/>
            <p:cNvSpPr>
              <a:spLocks noChangeShapeType="1"/>
            </p:cNvSpPr>
            <p:nvPr/>
          </p:nvSpPr>
          <p:spPr bwMode="auto">
            <a:xfrm>
              <a:off x="5038" y="1236"/>
              <a:ext cx="14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65585" name="Line 49"/>
            <p:cNvSpPr>
              <a:spLocks noChangeShapeType="1"/>
            </p:cNvSpPr>
            <p:nvPr/>
          </p:nvSpPr>
          <p:spPr bwMode="auto">
            <a:xfrm>
              <a:off x="5110" y="1224"/>
              <a:ext cx="0" cy="189"/>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aphicFrame>
          <p:nvGraphicFramePr>
            <p:cNvPr id="65586" name="Object 50"/>
            <p:cNvGraphicFramePr>
              <a:graphicFrameLocks noChangeAspect="1"/>
            </p:cNvGraphicFramePr>
            <p:nvPr/>
          </p:nvGraphicFramePr>
          <p:xfrm>
            <a:off x="4896" y="1227"/>
            <a:ext cx="156" cy="169"/>
          </p:xfrm>
          <a:graphic>
            <a:graphicData uri="http://schemas.openxmlformats.org/presentationml/2006/ole">
              <mc:AlternateContent xmlns:mc="http://schemas.openxmlformats.org/markup-compatibility/2006">
                <mc:Choice xmlns:v="urn:schemas-microsoft-com:vml" Requires="v">
                  <p:oleObj name="Equation" r:id="rId3" imgW="152280" imgH="164880" progId="Equation.3">
                    <p:embed/>
                  </p:oleObj>
                </mc:Choice>
                <mc:Fallback>
                  <p:oleObj name="Equation" r:id="rId3" imgW="152280" imgH="1648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96" y="1227"/>
                          <a:ext cx="156" cy="1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5587" name="Text Box 51"/>
          <p:cNvSpPr txBox="1">
            <a:spLocks noChangeArrowheads="1"/>
          </p:cNvSpPr>
          <p:nvPr/>
        </p:nvSpPr>
        <p:spPr bwMode="auto">
          <a:xfrm>
            <a:off x="420160" y="1876180"/>
            <a:ext cx="48244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dirty="0">
                <a:solidFill>
                  <a:srgbClr val="FF0000"/>
                </a:solidFill>
                <a:latin typeface="楷体" panose="02010609060101010101" pitchFamily="49" charset="-122"/>
                <a:ea typeface="楷体" panose="02010609060101010101" pitchFamily="49" charset="-122"/>
              </a:rPr>
              <a:t>解：</a:t>
            </a:r>
            <a:r>
              <a:rPr kumimoji="1" lang="en-US" altLang="zh-CN" sz="2400" b="1" dirty="0">
                <a:solidFill>
                  <a:srgbClr val="0000FF"/>
                </a:solidFill>
                <a:latin typeface="楷体" panose="02010609060101010101" pitchFamily="49" charset="-122"/>
                <a:ea typeface="楷体" panose="02010609060101010101" pitchFamily="49" charset="-122"/>
              </a:rPr>
              <a:t>1</a:t>
            </a:r>
            <a:r>
              <a:rPr kumimoji="1" lang="zh-CN" altLang="en-US" sz="2400" b="1" dirty="0">
                <a:solidFill>
                  <a:srgbClr val="0000FF"/>
                </a:solidFill>
                <a:latin typeface="楷体" panose="02010609060101010101" pitchFamily="49" charset="-122"/>
                <a:ea typeface="楷体" panose="02010609060101010101" pitchFamily="49" charset="-122"/>
              </a:rPr>
              <a:t>、判别：为一次静</a:t>
            </a:r>
            <a:r>
              <a:rPr lang="zh-CN" altLang="en-US" b="1" dirty="0">
                <a:solidFill>
                  <a:srgbClr val="0000FF"/>
                </a:solidFill>
                <a:latin typeface="楷体" panose="02010609060101010101" pitchFamily="49" charset="-122"/>
                <a:ea typeface="楷体" panose="02010609060101010101" pitchFamily="49" charset="-122"/>
              </a:rPr>
              <a:t>不</a:t>
            </a:r>
            <a:r>
              <a:rPr kumimoji="1" lang="zh-CN" altLang="en-US" sz="2400" b="1" dirty="0">
                <a:solidFill>
                  <a:srgbClr val="0000FF"/>
                </a:solidFill>
                <a:latin typeface="楷体" panose="02010609060101010101" pitchFamily="49" charset="-122"/>
                <a:ea typeface="楷体" panose="02010609060101010101" pitchFamily="49" charset="-122"/>
              </a:rPr>
              <a:t>定</a:t>
            </a:r>
          </a:p>
        </p:txBody>
      </p:sp>
      <p:sp>
        <p:nvSpPr>
          <p:cNvPr id="65588" name="Text Box 52"/>
          <p:cNvSpPr txBox="1">
            <a:spLocks noChangeArrowheads="1"/>
          </p:cNvSpPr>
          <p:nvPr/>
        </p:nvSpPr>
        <p:spPr bwMode="auto">
          <a:xfrm>
            <a:off x="360710" y="2396362"/>
            <a:ext cx="5238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kumimoji="1" lang="en-US" altLang="zh-CN" sz="2400" b="1" dirty="0">
                <a:solidFill>
                  <a:srgbClr val="0000FF"/>
                </a:solidFill>
                <a:latin typeface="楷体" panose="02010609060101010101" pitchFamily="49" charset="-122"/>
                <a:ea typeface="楷体" panose="02010609060101010101" pitchFamily="49" charset="-122"/>
              </a:rPr>
              <a:t>2</a:t>
            </a:r>
            <a:r>
              <a:rPr kumimoji="1" lang="zh-CN" altLang="en-US" sz="2400" b="1" dirty="0">
                <a:solidFill>
                  <a:srgbClr val="0000FF"/>
                </a:solidFill>
                <a:latin typeface="楷体" panose="02010609060101010101" pitchFamily="49" charset="-122"/>
                <a:ea typeface="楷体" panose="02010609060101010101" pitchFamily="49" charset="-122"/>
              </a:rPr>
              <a:t>、假设变形状态，确定内力方向</a:t>
            </a:r>
          </a:p>
        </p:txBody>
      </p:sp>
      <p:grpSp>
        <p:nvGrpSpPr>
          <p:cNvPr id="65589" name="Group 53"/>
          <p:cNvGrpSpPr>
            <a:grpSpLocks/>
          </p:cNvGrpSpPr>
          <p:nvPr/>
        </p:nvGrpSpPr>
        <p:grpSpPr bwMode="auto">
          <a:xfrm>
            <a:off x="529166" y="2961889"/>
            <a:ext cx="4106863" cy="500063"/>
            <a:chOff x="173" y="1695"/>
            <a:chExt cx="2587" cy="315"/>
          </a:xfrm>
        </p:grpSpPr>
        <p:sp>
          <p:nvSpPr>
            <p:cNvPr id="65590" name="Text Box 54"/>
            <p:cNvSpPr txBox="1">
              <a:spLocks noChangeArrowheads="1"/>
            </p:cNvSpPr>
            <p:nvPr/>
          </p:nvSpPr>
          <p:spPr bwMode="auto">
            <a:xfrm>
              <a:off x="173" y="1700"/>
              <a:ext cx="118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400" b="1" dirty="0">
                  <a:solidFill>
                    <a:srgbClr val="0000FF"/>
                  </a:solidFill>
                  <a:latin typeface="楷体" panose="02010609060101010101" pitchFamily="49" charset="-122"/>
                  <a:ea typeface="楷体" panose="02010609060101010101" pitchFamily="49" charset="-122"/>
                </a:rPr>
                <a:t>3</a:t>
              </a:r>
              <a:r>
                <a:rPr kumimoji="1" lang="zh-CN" altLang="en-US" sz="2400" b="1" dirty="0">
                  <a:solidFill>
                    <a:srgbClr val="0000FF"/>
                  </a:solidFill>
                  <a:latin typeface="楷体" panose="02010609060101010101" pitchFamily="49" charset="-122"/>
                  <a:ea typeface="楷体" panose="02010609060101010101" pitchFamily="49" charset="-122"/>
                </a:rPr>
                <a:t>、平衡方程</a:t>
              </a:r>
            </a:p>
          </p:txBody>
        </p:sp>
        <p:graphicFrame>
          <p:nvGraphicFramePr>
            <p:cNvPr id="65591" name="Object 55"/>
            <p:cNvGraphicFramePr>
              <a:graphicFrameLocks noChangeAspect="1"/>
            </p:cNvGraphicFramePr>
            <p:nvPr>
              <p:extLst>
                <p:ext uri="{D42A27DB-BD31-4B8C-83A1-F6EECF244321}">
                  <p14:modId xmlns:p14="http://schemas.microsoft.com/office/powerpoint/2010/main" val="3408446225"/>
                </p:ext>
              </p:extLst>
            </p:nvPr>
          </p:nvGraphicFramePr>
          <p:xfrm>
            <a:off x="1504" y="1695"/>
            <a:ext cx="1256" cy="315"/>
          </p:xfrm>
          <a:graphic>
            <a:graphicData uri="http://schemas.openxmlformats.org/presentationml/2006/ole">
              <mc:AlternateContent xmlns:mc="http://schemas.openxmlformats.org/markup-compatibility/2006">
                <mc:Choice xmlns:v="urn:schemas-microsoft-com:vml" Requires="v">
                  <p:oleObj name="Equation" r:id="rId5" imgW="914400" imgH="228600" progId="Equation.DSMT4">
                    <p:embed/>
                  </p:oleObj>
                </mc:Choice>
                <mc:Fallback>
                  <p:oleObj name="Equation" r:id="rId5" imgW="914400" imgH="228600" progId="Equation.DSMT4">
                    <p:embed/>
                    <p:pic>
                      <p:nvPicPr>
                        <p:cNvPr id="0" name=""/>
                        <p:cNvPicPr>
                          <a:picLocks noChangeAspect="1" noChangeArrowheads="1"/>
                        </p:cNvPicPr>
                        <p:nvPr/>
                      </p:nvPicPr>
                      <p:blipFill>
                        <a:blip r:embed="rId6"/>
                        <a:srcRect/>
                        <a:stretch>
                          <a:fillRect/>
                        </a:stretch>
                      </p:blipFill>
                      <p:spPr bwMode="auto">
                        <a:xfrm>
                          <a:off x="1504" y="1695"/>
                          <a:ext cx="1256"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5593" name="Text Box 57"/>
          <p:cNvSpPr txBox="1">
            <a:spLocks noChangeArrowheads="1"/>
          </p:cNvSpPr>
          <p:nvPr/>
        </p:nvSpPr>
        <p:spPr bwMode="auto">
          <a:xfrm>
            <a:off x="529166" y="3547756"/>
            <a:ext cx="18875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400" b="1" dirty="0">
                <a:solidFill>
                  <a:srgbClr val="0000FF"/>
                </a:solidFill>
                <a:latin typeface="楷体" panose="02010609060101010101" pitchFamily="49" charset="-122"/>
                <a:ea typeface="楷体" panose="02010609060101010101" pitchFamily="49" charset="-122"/>
              </a:rPr>
              <a:t>4</a:t>
            </a:r>
            <a:r>
              <a:rPr kumimoji="1" lang="zh-CN" altLang="en-US" sz="2400" b="1" dirty="0">
                <a:solidFill>
                  <a:srgbClr val="0000FF"/>
                </a:solidFill>
                <a:latin typeface="楷体" panose="02010609060101010101" pitchFamily="49" charset="-122"/>
                <a:ea typeface="楷体" panose="02010609060101010101" pitchFamily="49" charset="-122"/>
              </a:rPr>
              <a:t>、几何方程</a:t>
            </a:r>
          </a:p>
        </p:txBody>
      </p:sp>
      <p:grpSp>
        <p:nvGrpSpPr>
          <p:cNvPr id="65595" name="Group 59"/>
          <p:cNvGrpSpPr>
            <a:grpSpLocks/>
          </p:cNvGrpSpPr>
          <p:nvPr/>
        </p:nvGrpSpPr>
        <p:grpSpPr bwMode="auto">
          <a:xfrm>
            <a:off x="556948" y="4088850"/>
            <a:ext cx="5541963" cy="942975"/>
            <a:chOff x="183" y="2286"/>
            <a:chExt cx="3491" cy="594"/>
          </a:xfrm>
        </p:grpSpPr>
        <p:sp>
          <p:nvSpPr>
            <p:cNvPr id="65596" name="Text Box 60"/>
            <p:cNvSpPr txBox="1">
              <a:spLocks noChangeArrowheads="1"/>
            </p:cNvSpPr>
            <p:nvPr/>
          </p:nvSpPr>
          <p:spPr bwMode="auto">
            <a:xfrm>
              <a:off x="183" y="2430"/>
              <a:ext cx="118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400" b="1" dirty="0">
                  <a:solidFill>
                    <a:srgbClr val="0000FF"/>
                  </a:solidFill>
                  <a:latin typeface="楷体" panose="02010609060101010101" pitchFamily="49" charset="-122"/>
                  <a:ea typeface="楷体" panose="02010609060101010101" pitchFamily="49" charset="-122"/>
                </a:rPr>
                <a:t>5</a:t>
              </a:r>
              <a:r>
                <a:rPr kumimoji="1" lang="zh-CN" altLang="en-US" sz="2400" b="1" dirty="0">
                  <a:solidFill>
                    <a:srgbClr val="0000FF"/>
                  </a:solidFill>
                  <a:latin typeface="楷体" panose="02010609060101010101" pitchFamily="49" charset="-122"/>
                  <a:ea typeface="楷体" panose="02010609060101010101" pitchFamily="49" charset="-122"/>
                </a:rPr>
                <a:t>、物理方程</a:t>
              </a:r>
            </a:p>
          </p:txBody>
        </p:sp>
        <p:graphicFrame>
          <p:nvGraphicFramePr>
            <p:cNvPr id="65597" name="Object 61"/>
            <p:cNvGraphicFramePr>
              <a:graphicFrameLocks noChangeAspect="1"/>
            </p:cNvGraphicFramePr>
            <p:nvPr>
              <p:extLst>
                <p:ext uri="{D42A27DB-BD31-4B8C-83A1-F6EECF244321}">
                  <p14:modId xmlns:p14="http://schemas.microsoft.com/office/powerpoint/2010/main" val="2189624547"/>
                </p:ext>
              </p:extLst>
            </p:nvPr>
          </p:nvGraphicFramePr>
          <p:xfrm>
            <a:off x="1459" y="2286"/>
            <a:ext cx="2215" cy="594"/>
          </p:xfrm>
          <a:graphic>
            <a:graphicData uri="http://schemas.openxmlformats.org/presentationml/2006/ole">
              <mc:AlternateContent xmlns:mc="http://schemas.openxmlformats.org/markup-compatibility/2006">
                <mc:Choice xmlns:v="urn:schemas-microsoft-com:vml" Requires="v">
                  <p:oleObj name="Equation" r:id="rId7" imgW="1612800" imgH="431640" progId="Equation.DSMT4">
                    <p:embed/>
                  </p:oleObj>
                </mc:Choice>
                <mc:Fallback>
                  <p:oleObj name="Equation" r:id="rId7" imgW="1612800" imgH="431640" progId="Equation.DSMT4">
                    <p:embed/>
                    <p:pic>
                      <p:nvPicPr>
                        <p:cNvPr id="0" name=""/>
                        <p:cNvPicPr>
                          <a:picLocks noChangeAspect="1" noChangeArrowheads="1"/>
                        </p:cNvPicPr>
                        <p:nvPr/>
                      </p:nvPicPr>
                      <p:blipFill>
                        <a:blip r:embed="rId8"/>
                        <a:srcRect/>
                        <a:stretch>
                          <a:fillRect/>
                        </a:stretch>
                      </p:blipFill>
                      <p:spPr bwMode="auto">
                        <a:xfrm>
                          <a:off x="1459" y="2286"/>
                          <a:ext cx="2215" cy="5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5598" name="Text Box 62"/>
          <p:cNvSpPr txBox="1">
            <a:spLocks noChangeArrowheads="1"/>
          </p:cNvSpPr>
          <p:nvPr/>
        </p:nvSpPr>
        <p:spPr bwMode="auto">
          <a:xfrm>
            <a:off x="556916" y="4854300"/>
            <a:ext cx="2781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kumimoji="1" lang="en-US" altLang="zh-CN" sz="2400" b="1" dirty="0">
                <a:solidFill>
                  <a:srgbClr val="0000FF"/>
                </a:solidFill>
                <a:latin typeface="楷体" panose="02010609060101010101" pitchFamily="49" charset="-122"/>
                <a:ea typeface="楷体" panose="02010609060101010101" pitchFamily="49" charset="-122"/>
              </a:rPr>
              <a:t>6</a:t>
            </a:r>
            <a:r>
              <a:rPr kumimoji="1" lang="zh-CN" altLang="en-US" sz="2400" b="1" dirty="0">
                <a:solidFill>
                  <a:srgbClr val="0000FF"/>
                </a:solidFill>
                <a:latin typeface="楷体" panose="02010609060101010101" pitchFamily="49" charset="-122"/>
                <a:ea typeface="楷体" panose="02010609060101010101" pitchFamily="49" charset="-122"/>
              </a:rPr>
              <a:t>、联立求解得</a:t>
            </a:r>
          </a:p>
        </p:txBody>
      </p:sp>
      <p:graphicFrame>
        <p:nvGraphicFramePr>
          <p:cNvPr id="65599" name="Object 63"/>
          <p:cNvGraphicFramePr>
            <a:graphicFrameLocks noChangeAspect="1"/>
          </p:cNvGraphicFramePr>
          <p:nvPr>
            <p:extLst>
              <p:ext uri="{D42A27DB-BD31-4B8C-83A1-F6EECF244321}">
                <p14:modId xmlns:p14="http://schemas.microsoft.com/office/powerpoint/2010/main" val="4033665455"/>
              </p:ext>
            </p:extLst>
          </p:nvPr>
        </p:nvGraphicFramePr>
        <p:xfrm>
          <a:off x="796925" y="5518150"/>
          <a:ext cx="4378325" cy="838200"/>
        </p:xfrm>
        <a:graphic>
          <a:graphicData uri="http://schemas.openxmlformats.org/presentationml/2006/ole">
            <mc:AlternateContent xmlns:mc="http://schemas.openxmlformats.org/markup-compatibility/2006">
              <mc:Choice xmlns:v="urn:schemas-microsoft-com:vml" Requires="v">
                <p:oleObj name="Equation" r:id="rId9" imgW="2260440" imgH="431640" progId="Equation.DSMT4">
                  <p:embed/>
                </p:oleObj>
              </mc:Choice>
              <mc:Fallback>
                <p:oleObj name="Equation" r:id="rId9" imgW="2260440" imgH="431640" progId="Equation.DSMT4">
                  <p:embed/>
                  <p:pic>
                    <p:nvPicPr>
                      <p:cNvPr id="0" name=""/>
                      <p:cNvPicPr>
                        <a:picLocks noChangeAspect="1" noChangeArrowheads="1"/>
                      </p:cNvPicPr>
                      <p:nvPr/>
                    </p:nvPicPr>
                    <p:blipFill>
                      <a:blip r:embed="rId10"/>
                      <a:srcRect/>
                      <a:stretch>
                        <a:fillRect/>
                      </a:stretch>
                    </p:blipFill>
                    <p:spPr bwMode="auto">
                      <a:xfrm>
                        <a:off x="796925" y="5518150"/>
                        <a:ext cx="4378325"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组合 1"/>
          <p:cNvGrpSpPr/>
          <p:nvPr/>
        </p:nvGrpSpPr>
        <p:grpSpPr>
          <a:xfrm>
            <a:off x="5299075" y="4123012"/>
            <a:ext cx="3246438" cy="1970087"/>
            <a:chOff x="5299075" y="4123012"/>
            <a:chExt cx="3246438" cy="1970087"/>
          </a:xfrm>
        </p:grpSpPr>
        <p:grpSp>
          <p:nvGrpSpPr>
            <p:cNvPr id="65600" name="Group 64"/>
            <p:cNvGrpSpPr>
              <a:grpSpLocks/>
            </p:cNvGrpSpPr>
            <p:nvPr/>
          </p:nvGrpSpPr>
          <p:grpSpPr bwMode="auto">
            <a:xfrm>
              <a:off x="5299075" y="4123012"/>
              <a:ext cx="3246438" cy="1970087"/>
              <a:chOff x="3357" y="2323"/>
              <a:chExt cx="2045" cy="1241"/>
            </a:xfrm>
          </p:grpSpPr>
          <p:sp>
            <p:nvSpPr>
              <p:cNvPr id="65601" name="Rectangle 65" descr="编织物"/>
              <p:cNvSpPr>
                <a:spLocks noChangeArrowheads="1"/>
              </p:cNvSpPr>
              <p:nvPr/>
            </p:nvSpPr>
            <p:spPr bwMode="auto">
              <a:xfrm rot="900000">
                <a:off x="3520" y="3253"/>
                <a:ext cx="1694" cy="110"/>
              </a:xfrm>
              <a:prstGeom prst="rect">
                <a:avLst/>
              </a:prstGeom>
              <a:blipFill dpi="0" rotWithShape="0">
                <a:blip r:embed="rId2"/>
                <a:srcRect/>
                <a:tile tx="0" ty="0" sx="100000" sy="100000" flip="none" algn="tl"/>
              </a:bli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602" name="Rectangle 66"/>
              <p:cNvSpPr>
                <a:spLocks noChangeArrowheads="1"/>
              </p:cNvSpPr>
              <p:nvPr/>
            </p:nvSpPr>
            <p:spPr bwMode="auto">
              <a:xfrm>
                <a:off x="4857" y="2693"/>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b="1" i="1">
                    <a:solidFill>
                      <a:srgbClr val="000000"/>
                    </a:solidFill>
                    <a:latin typeface="Times New Roman" panose="02020603050405020304" pitchFamily="18" charset="0"/>
                    <a:ea typeface="宋体" panose="02010600030101010101" pitchFamily="2" charset="-122"/>
                  </a:rPr>
                  <a:t>C</a:t>
                </a:r>
              </a:p>
            </p:txBody>
          </p:sp>
          <p:sp>
            <p:nvSpPr>
              <p:cNvPr id="65603" name="Rectangle 67"/>
              <p:cNvSpPr>
                <a:spLocks noChangeArrowheads="1"/>
              </p:cNvSpPr>
              <p:nvPr/>
            </p:nvSpPr>
            <p:spPr bwMode="auto">
              <a:xfrm>
                <a:off x="3357" y="2884"/>
                <a:ext cx="24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kumimoji="1" lang="en-US" altLang="zh-CN" sz="2000" b="1" i="1" dirty="0">
                    <a:solidFill>
                      <a:srgbClr val="000000"/>
                    </a:solidFill>
                    <a:latin typeface="Times New Roman" panose="02020603050405020304" pitchFamily="18" charset="0"/>
                    <a:ea typeface="宋体" panose="02010600030101010101" pitchFamily="2" charset="-122"/>
                  </a:rPr>
                  <a:t>A</a:t>
                </a:r>
              </a:p>
            </p:txBody>
          </p:sp>
          <p:sp>
            <p:nvSpPr>
              <p:cNvPr id="65604" name="Rectangle 68"/>
              <p:cNvSpPr>
                <a:spLocks noChangeArrowheads="1"/>
              </p:cNvSpPr>
              <p:nvPr/>
            </p:nvSpPr>
            <p:spPr bwMode="auto">
              <a:xfrm>
                <a:off x="4145" y="2834"/>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b="1" i="1">
                    <a:solidFill>
                      <a:srgbClr val="000000"/>
                    </a:solidFill>
                    <a:latin typeface="Times New Roman" panose="02020603050405020304" pitchFamily="18" charset="0"/>
                    <a:ea typeface="宋体" panose="02010600030101010101" pitchFamily="2" charset="-122"/>
                  </a:rPr>
                  <a:t>B</a:t>
                </a:r>
              </a:p>
            </p:txBody>
          </p:sp>
          <p:sp>
            <p:nvSpPr>
              <p:cNvPr id="65605" name="Line 69"/>
              <p:cNvSpPr>
                <a:spLocks noChangeShapeType="1"/>
              </p:cNvSpPr>
              <p:nvPr/>
            </p:nvSpPr>
            <p:spPr bwMode="auto">
              <a:xfrm>
                <a:off x="5100" y="2883"/>
                <a:ext cx="0" cy="450"/>
              </a:xfrm>
              <a:prstGeom prst="line">
                <a:avLst/>
              </a:prstGeom>
              <a:noFill/>
              <a:ln w="31750">
                <a:solidFill>
                  <a:srgbClr val="8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5606" name="Line 70"/>
              <p:cNvSpPr>
                <a:spLocks noChangeShapeType="1"/>
              </p:cNvSpPr>
              <p:nvPr/>
            </p:nvSpPr>
            <p:spPr bwMode="auto">
              <a:xfrm>
                <a:off x="4324" y="3037"/>
                <a:ext cx="0" cy="204"/>
              </a:xfrm>
              <a:prstGeom prst="line">
                <a:avLst/>
              </a:prstGeom>
              <a:noFill/>
              <a:ln w="31750">
                <a:solidFill>
                  <a:srgbClr val="8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5607" name="Line 71"/>
              <p:cNvSpPr>
                <a:spLocks noChangeShapeType="1"/>
              </p:cNvSpPr>
              <p:nvPr/>
            </p:nvSpPr>
            <p:spPr bwMode="auto">
              <a:xfrm>
                <a:off x="4330" y="2584"/>
                <a:ext cx="0" cy="44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608" name="Oval 72"/>
              <p:cNvSpPr>
                <a:spLocks noChangeArrowheads="1"/>
              </p:cNvSpPr>
              <p:nvPr/>
            </p:nvSpPr>
            <p:spPr bwMode="auto">
              <a:xfrm>
                <a:off x="4272" y="3148"/>
                <a:ext cx="115" cy="11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609" name="Line 73"/>
              <p:cNvSpPr>
                <a:spLocks noChangeShapeType="1"/>
              </p:cNvSpPr>
              <p:nvPr/>
            </p:nvSpPr>
            <p:spPr bwMode="auto">
              <a:xfrm>
                <a:off x="5097" y="2607"/>
                <a:ext cx="0" cy="27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610" name="Oval 74"/>
              <p:cNvSpPr>
                <a:spLocks noChangeArrowheads="1"/>
              </p:cNvSpPr>
              <p:nvPr/>
            </p:nvSpPr>
            <p:spPr bwMode="auto">
              <a:xfrm>
                <a:off x="5039" y="3340"/>
                <a:ext cx="115" cy="11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611" name="Line 75"/>
              <p:cNvSpPr>
                <a:spLocks noChangeShapeType="1"/>
              </p:cNvSpPr>
              <p:nvPr/>
            </p:nvSpPr>
            <p:spPr bwMode="auto">
              <a:xfrm>
                <a:off x="3552" y="3036"/>
                <a:ext cx="1584" cy="0"/>
              </a:xfrm>
              <a:prstGeom prst="line">
                <a:avLst/>
              </a:prstGeom>
              <a:noFill/>
              <a:ln w="2222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65612" name="Rectangle 76"/>
              <p:cNvSpPr>
                <a:spLocks noChangeArrowheads="1"/>
              </p:cNvSpPr>
              <p:nvPr/>
            </p:nvSpPr>
            <p:spPr bwMode="auto">
              <a:xfrm>
                <a:off x="5136" y="3294"/>
                <a:ext cx="26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b="1" i="1" dirty="0">
                    <a:solidFill>
                      <a:srgbClr val="000000"/>
                    </a:solidFill>
                    <a:latin typeface="Times New Roman" panose="02020603050405020304" pitchFamily="18" charset="0"/>
                    <a:ea typeface="宋体" panose="02010600030101010101" pitchFamily="2" charset="-122"/>
                  </a:rPr>
                  <a:t>C</a:t>
                </a:r>
                <a:r>
                  <a:rPr kumimoji="1" lang="en-US" altLang="zh-CN" sz="2000" b="1" i="1" dirty="0">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000" b="1" i="1" dirty="0">
                  <a:solidFill>
                    <a:srgbClr val="000000"/>
                  </a:solidFill>
                  <a:latin typeface="Times New Roman" panose="02020603050405020304" pitchFamily="18" charset="0"/>
                  <a:ea typeface="宋体" panose="02010600030101010101" pitchFamily="2" charset="-122"/>
                </a:endParaRPr>
              </a:p>
            </p:txBody>
          </p:sp>
          <p:sp>
            <p:nvSpPr>
              <p:cNvPr id="65613" name="Rectangle 77"/>
              <p:cNvSpPr>
                <a:spLocks noChangeArrowheads="1"/>
              </p:cNvSpPr>
              <p:nvPr/>
            </p:nvSpPr>
            <p:spPr bwMode="auto">
              <a:xfrm>
                <a:off x="4128" y="3312"/>
                <a:ext cx="26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b="1" i="1" dirty="0">
                    <a:solidFill>
                      <a:srgbClr val="000000"/>
                    </a:solidFill>
                    <a:latin typeface="Times New Roman" panose="02020603050405020304" pitchFamily="18" charset="0"/>
                    <a:ea typeface="宋体" panose="02010600030101010101" pitchFamily="2" charset="-122"/>
                  </a:rPr>
                  <a:t>B</a:t>
                </a:r>
                <a:r>
                  <a:rPr kumimoji="1" lang="en-US" altLang="zh-CN" sz="2000" b="1" i="1" dirty="0">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000" b="1" i="1" dirty="0">
                  <a:solidFill>
                    <a:srgbClr val="000000"/>
                  </a:solidFill>
                  <a:latin typeface="Times New Roman" panose="02020603050405020304" pitchFamily="18" charset="0"/>
                  <a:ea typeface="宋体" panose="02010600030101010101" pitchFamily="2" charset="-122"/>
                </a:endParaRPr>
              </a:p>
            </p:txBody>
          </p:sp>
          <p:sp>
            <p:nvSpPr>
              <p:cNvPr id="65614" name="Line 78"/>
              <p:cNvSpPr>
                <a:spLocks noChangeShapeType="1"/>
              </p:cNvSpPr>
              <p:nvPr/>
            </p:nvSpPr>
            <p:spPr bwMode="auto">
              <a:xfrm>
                <a:off x="5040" y="2880"/>
                <a:ext cx="240" cy="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65615" name="Line 79"/>
              <p:cNvSpPr>
                <a:spLocks noChangeShapeType="1"/>
              </p:cNvSpPr>
              <p:nvPr/>
            </p:nvSpPr>
            <p:spPr bwMode="auto">
              <a:xfrm flipV="1">
                <a:off x="4329" y="2373"/>
                <a:ext cx="0" cy="240"/>
              </a:xfrm>
              <a:prstGeom prst="line">
                <a:avLst/>
              </a:prstGeom>
              <a:noFill/>
              <a:ln w="3492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65616" name="Line 80"/>
              <p:cNvSpPr>
                <a:spLocks noChangeShapeType="1"/>
              </p:cNvSpPr>
              <p:nvPr/>
            </p:nvSpPr>
            <p:spPr bwMode="auto">
              <a:xfrm flipV="1">
                <a:off x="5097" y="2382"/>
                <a:ext cx="0" cy="240"/>
              </a:xfrm>
              <a:prstGeom prst="line">
                <a:avLst/>
              </a:prstGeom>
              <a:noFill/>
              <a:ln w="3492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aphicFrame>
            <p:nvGraphicFramePr>
              <p:cNvPr id="65617" name="Object 81"/>
              <p:cNvGraphicFramePr>
                <a:graphicFrameLocks noChangeAspect="1"/>
              </p:cNvGraphicFramePr>
              <p:nvPr>
                <p:extLst>
                  <p:ext uri="{D42A27DB-BD31-4B8C-83A1-F6EECF244321}">
                    <p14:modId xmlns:p14="http://schemas.microsoft.com/office/powerpoint/2010/main" val="1219471238"/>
                  </p:ext>
                </p:extLst>
              </p:nvPr>
            </p:nvGraphicFramePr>
            <p:xfrm>
              <a:off x="4003" y="2345"/>
              <a:ext cx="291" cy="275"/>
            </p:xfrm>
            <a:graphic>
              <a:graphicData uri="http://schemas.openxmlformats.org/presentationml/2006/ole">
                <mc:AlternateContent xmlns:mc="http://schemas.openxmlformats.org/markup-compatibility/2006">
                  <mc:Choice xmlns:v="urn:schemas-microsoft-com:vml" Requires="v">
                    <p:oleObj name="Equation" r:id="rId11" imgW="241200" imgH="228600" progId="Equation.DSMT4">
                      <p:embed/>
                    </p:oleObj>
                  </mc:Choice>
                  <mc:Fallback>
                    <p:oleObj name="Equation" r:id="rId11" imgW="241200" imgH="228600" progId="Equation.DSMT4">
                      <p:embed/>
                      <p:pic>
                        <p:nvPicPr>
                          <p:cNvPr id="0" name=""/>
                          <p:cNvPicPr>
                            <a:picLocks noChangeAspect="1" noChangeArrowheads="1"/>
                          </p:cNvPicPr>
                          <p:nvPr/>
                        </p:nvPicPr>
                        <p:blipFill>
                          <a:blip r:embed="rId12"/>
                          <a:srcRect/>
                          <a:stretch>
                            <a:fillRect/>
                          </a:stretch>
                        </p:blipFill>
                        <p:spPr bwMode="auto">
                          <a:xfrm>
                            <a:off x="4003" y="2345"/>
                            <a:ext cx="291" cy="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618" name="Object 82"/>
              <p:cNvGraphicFramePr>
                <a:graphicFrameLocks noChangeAspect="1"/>
              </p:cNvGraphicFramePr>
              <p:nvPr>
                <p:extLst>
                  <p:ext uri="{D42A27DB-BD31-4B8C-83A1-F6EECF244321}">
                    <p14:modId xmlns:p14="http://schemas.microsoft.com/office/powerpoint/2010/main" val="4177451293"/>
                  </p:ext>
                </p:extLst>
              </p:nvPr>
            </p:nvGraphicFramePr>
            <p:xfrm>
              <a:off x="4776" y="2323"/>
              <a:ext cx="306" cy="276"/>
            </p:xfrm>
            <a:graphic>
              <a:graphicData uri="http://schemas.openxmlformats.org/presentationml/2006/ole">
                <mc:AlternateContent xmlns:mc="http://schemas.openxmlformats.org/markup-compatibility/2006">
                  <mc:Choice xmlns:v="urn:schemas-microsoft-com:vml" Requires="v">
                    <p:oleObj name="Equation" r:id="rId13" imgW="253800" imgH="228600" progId="Equation.DSMT4">
                      <p:embed/>
                    </p:oleObj>
                  </mc:Choice>
                  <mc:Fallback>
                    <p:oleObj name="Equation" r:id="rId13" imgW="253800" imgH="228600" progId="Equation.DSMT4">
                      <p:embed/>
                      <p:pic>
                        <p:nvPicPr>
                          <p:cNvPr id="0" name=""/>
                          <p:cNvPicPr>
                            <a:picLocks noChangeAspect="1" noChangeArrowheads="1"/>
                          </p:cNvPicPr>
                          <p:nvPr/>
                        </p:nvPicPr>
                        <p:blipFill>
                          <a:blip r:embed="rId14"/>
                          <a:srcRect/>
                          <a:stretch>
                            <a:fillRect/>
                          </a:stretch>
                        </p:blipFill>
                        <p:spPr bwMode="auto">
                          <a:xfrm>
                            <a:off x="4776" y="2323"/>
                            <a:ext cx="306"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83" name="Line 79"/>
            <p:cNvSpPr>
              <a:spLocks noChangeShapeType="1"/>
            </p:cNvSpPr>
            <p:nvPr/>
          </p:nvSpPr>
          <p:spPr bwMode="auto">
            <a:xfrm flipV="1">
              <a:off x="5632304" y="4869573"/>
              <a:ext cx="0" cy="381000"/>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84" name="Line 79"/>
            <p:cNvSpPr>
              <a:spLocks noChangeShapeType="1"/>
            </p:cNvSpPr>
            <p:nvPr/>
          </p:nvSpPr>
          <p:spPr bwMode="auto">
            <a:xfrm rot="5400000" flipH="1" flipV="1">
              <a:off x="5820756" y="5060073"/>
              <a:ext cx="0" cy="381000"/>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85" name="Text Box 82"/>
            <p:cNvSpPr txBox="1">
              <a:spLocks noChangeArrowheads="1"/>
            </p:cNvSpPr>
            <p:nvPr/>
          </p:nvSpPr>
          <p:spPr bwMode="auto">
            <a:xfrm>
              <a:off x="5921796" y="4840171"/>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400" b="1" i="1" dirty="0" err="1">
                  <a:solidFill>
                    <a:srgbClr val="FF0000"/>
                  </a:solidFill>
                  <a:latin typeface="Times New Roman" panose="02020603050405020304" pitchFamily="18" charset="0"/>
                  <a:ea typeface="宋体" panose="02010600030101010101" pitchFamily="2" charset="-122"/>
                </a:rPr>
                <a:t>F</a:t>
              </a:r>
              <a:r>
                <a:rPr kumimoji="1" lang="en-US" altLang="zh-CN" sz="2400" b="1" i="1" baseline="-25000" dirty="0" err="1">
                  <a:solidFill>
                    <a:srgbClr val="FF0000"/>
                  </a:solidFill>
                  <a:latin typeface="Times New Roman" panose="02020603050405020304" pitchFamily="18" charset="0"/>
                  <a:ea typeface="宋体" panose="02010600030101010101" pitchFamily="2" charset="-122"/>
                </a:rPr>
                <a:t>x</a:t>
              </a:r>
              <a:endParaRPr kumimoji="1" lang="en-US" altLang="zh-CN" sz="2400" b="1" i="1" baseline="-25000" dirty="0">
                <a:solidFill>
                  <a:srgbClr val="FF0000"/>
                </a:solidFill>
                <a:latin typeface="Times New Roman" panose="02020603050405020304" pitchFamily="18" charset="0"/>
                <a:ea typeface="宋体" panose="02010600030101010101" pitchFamily="2" charset="-122"/>
              </a:endParaRPr>
            </a:p>
          </p:txBody>
        </p:sp>
        <p:sp>
          <p:nvSpPr>
            <p:cNvPr id="86" name="Text Box 82"/>
            <p:cNvSpPr txBox="1">
              <a:spLocks noChangeArrowheads="1"/>
            </p:cNvSpPr>
            <p:nvPr/>
          </p:nvSpPr>
          <p:spPr bwMode="auto">
            <a:xfrm>
              <a:off x="5613455" y="4623467"/>
              <a:ext cx="4812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400" b="1" i="1" dirty="0" err="1">
                  <a:solidFill>
                    <a:srgbClr val="FF0000"/>
                  </a:solidFill>
                  <a:latin typeface="Times New Roman" panose="02020603050405020304" pitchFamily="18" charset="0"/>
                  <a:ea typeface="宋体" panose="02010600030101010101" pitchFamily="2" charset="-122"/>
                </a:rPr>
                <a:t>F</a:t>
              </a:r>
              <a:r>
                <a:rPr kumimoji="1" lang="en-US" altLang="zh-CN" sz="2400" b="1" i="1" baseline="-25000" dirty="0" err="1">
                  <a:solidFill>
                    <a:srgbClr val="FF0000"/>
                  </a:solidFill>
                  <a:latin typeface="Times New Roman" panose="02020603050405020304" pitchFamily="18" charset="0"/>
                  <a:ea typeface="宋体" panose="02010600030101010101" pitchFamily="2" charset="-122"/>
                </a:rPr>
                <a:t>y</a:t>
              </a:r>
              <a:endParaRPr kumimoji="1" lang="en-US" altLang="zh-CN" sz="2400" b="1" i="1" baseline="-25000" dirty="0">
                <a:solidFill>
                  <a:srgbClr val="FF0000"/>
                </a:solidFill>
                <a:latin typeface="Times New Roman" panose="02020603050405020304" pitchFamily="18" charset="0"/>
                <a:ea typeface="宋体" panose="02010600030101010101" pitchFamily="2" charset="-122"/>
              </a:endParaRPr>
            </a:p>
          </p:txBody>
        </p:sp>
      </p:grpSp>
      <p:graphicFrame>
        <p:nvGraphicFramePr>
          <p:cNvPr id="3" name="Object 58">
            <a:extLst>
              <a:ext uri="{FF2B5EF4-FFF2-40B4-BE49-F238E27FC236}">
                <a16:creationId xmlns:a16="http://schemas.microsoft.com/office/drawing/2014/main" id="{061D4C2E-082D-839D-D1EB-6E5CCB06CA9B}"/>
              </a:ext>
            </a:extLst>
          </p:cNvPr>
          <p:cNvGraphicFramePr>
            <a:graphicFrameLocks noChangeAspect="1"/>
          </p:cNvGraphicFramePr>
          <p:nvPr>
            <p:extLst>
              <p:ext uri="{D42A27DB-BD31-4B8C-83A1-F6EECF244321}">
                <p14:modId xmlns:p14="http://schemas.microsoft.com/office/powerpoint/2010/main" val="2764368253"/>
              </p:ext>
            </p:extLst>
          </p:nvPr>
        </p:nvGraphicFramePr>
        <p:xfrm>
          <a:off x="2664184" y="3532951"/>
          <a:ext cx="2076450" cy="471488"/>
        </p:xfrm>
        <a:graphic>
          <a:graphicData uri="http://schemas.openxmlformats.org/presentationml/2006/ole">
            <mc:AlternateContent xmlns:mc="http://schemas.openxmlformats.org/markup-compatibility/2006">
              <mc:Choice xmlns:v="urn:schemas-microsoft-com:vml" Requires="v">
                <p:oleObj name="Equation" r:id="rId15" imgW="952200" imgH="215640" progId="Equation.3">
                  <p:embed/>
                </p:oleObj>
              </mc:Choice>
              <mc:Fallback>
                <p:oleObj name="Equation" r:id="rId15" imgW="952200" imgH="215640" progId="Equation.3">
                  <p:embed/>
                  <p:pic>
                    <p:nvPicPr>
                      <p:cNvPr id="65594" name="Object 5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664184" y="3532951"/>
                        <a:ext cx="2076450" cy="471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06298750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65587"/>
                                        </p:tgtEl>
                                        <p:attrNameLst>
                                          <p:attrName>style.visibility</p:attrName>
                                        </p:attrNameLst>
                                      </p:cBhvr>
                                      <p:to>
                                        <p:strVal val="visible"/>
                                      </p:to>
                                    </p:set>
                                    <p:animEffect transition="in" filter="box(out)">
                                      <p:cBhvr>
                                        <p:cTn id="7" dur="500"/>
                                        <p:tgtEl>
                                          <p:spTgt spid="655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65588"/>
                                        </p:tgtEl>
                                        <p:attrNameLst>
                                          <p:attrName>style.visibility</p:attrName>
                                        </p:attrNameLst>
                                      </p:cBhvr>
                                      <p:to>
                                        <p:strVal val="visible"/>
                                      </p:to>
                                    </p:set>
                                    <p:animEffect transition="in" filter="box(out)">
                                      <p:cBhvr>
                                        <p:cTn id="19" dur="500"/>
                                        <p:tgtEl>
                                          <p:spTgt spid="65588"/>
                                        </p:tgtEl>
                                      </p:cBhvr>
                                    </p:animEffect>
                                  </p:childTnLst>
                                </p:cTn>
                              </p:par>
                            </p:childTnLst>
                          </p:cTn>
                        </p:par>
                      </p:childTnLst>
                    </p:cTn>
                  </p:par>
                  <p:par>
                    <p:cTn id="20" fill="hold">
                      <p:stCondLst>
                        <p:cond delay="indefinite"/>
                      </p:stCondLst>
                      <p:childTnLst>
                        <p:par>
                          <p:cTn id="21" fill="hold">
                            <p:stCondLst>
                              <p:cond delay="0"/>
                            </p:stCondLst>
                            <p:childTnLst>
                              <p:par>
                                <p:cTn id="22" presetID="4" presetClass="entr" presetSubtype="32" fill="hold" nodeType="clickEffect">
                                  <p:stCondLst>
                                    <p:cond delay="0"/>
                                  </p:stCondLst>
                                  <p:childTnLst>
                                    <p:set>
                                      <p:cBhvr>
                                        <p:cTn id="23" dur="1" fill="hold">
                                          <p:stCondLst>
                                            <p:cond delay="0"/>
                                          </p:stCondLst>
                                        </p:cTn>
                                        <p:tgtEl>
                                          <p:spTgt spid="65589"/>
                                        </p:tgtEl>
                                        <p:attrNameLst>
                                          <p:attrName>style.visibility</p:attrName>
                                        </p:attrNameLst>
                                      </p:cBhvr>
                                      <p:to>
                                        <p:strVal val="visible"/>
                                      </p:to>
                                    </p:set>
                                    <p:animEffect transition="in" filter="box(out)">
                                      <p:cBhvr>
                                        <p:cTn id="24" dur="500"/>
                                        <p:tgtEl>
                                          <p:spTgt spid="65589"/>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559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fade">
                                      <p:cBhvr>
                                        <p:cTn id="33" dur="500"/>
                                        <p:tgtEl>
                                          <p:spTgt spid="3"/>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32" fill="hold" nodeType="clickEffect">
                                  <p:stCondLst>
                                    <p:cond delay="0"/>
                                  </p:stCondLst>
                                  <p:childTnLst>
                                    <p:set>
                                      <p:cBhvr>
                                        <p:cTn id="37" dur="1" fill="hold">
                                          <p:stCondLst>
                                            <p:cond delay="0"/>
                                          </p:stCondLst>
                                        </p:cTn>
                                        <p:tgtEl>
                                          <p:spTgt spid="65595"/>
                                        </p:tgtEl>
                                        <p:attrNameLst>
                                          <p:attrName>style.visibility</p:attrName>
                                        </p:attrNameLst>
                                      </p:cBhvr>
                                      <p:to>
                                        <p:strVal val="visible"/>
                                      </p:to>
                                    </p:set>
                                    <p:animEffect transition="in" filter="box(out)">
                                      <p:cBhvr>
                                        <p:cTn id="38" dur="500"/>
                                        <p:tgtEl>
                                          <p:spTgt spid="65595"/>
                                        </p:tgtEl>
                                      </p:cBhvr>
                                    </p:animEffect>
                                  </p:childTnLst>
                                </p:cTn>
                              </p:par>
                            </p:childTnLst>
                          </p:cTn>
                        </p:par>
                      </p:childTnLst>
                    </p:cTn>
                  </p:par>
                  <p:par>
                    <p:cTn id="39" fill="hold">
                      <p:stCondLst>
                        <p:cond delay="indefinite"/>
                      </p:stCondLst>
                      <p:childTnLst>
                        <p:par>
                          <p:cTn id="40" fill="hold">
                            <p:stCondLst>
                              <p:cond delay="0"/>
                            </p:stCondLst>
                            <p:childTnLst>
                              <p:par>
                                <p:cTn id="41" presetID="8" presetClass="entr" presetSubtype="32" fill="hold" grpId="0" nodeType="clickEffect">
                                  <p:stCondLst>
                                    <p:cond delay="0"/>
                                  </p:stCondLst>
                                  <p:childTnLst>
                                    <p:set>
                                      <p:cBhvr>
                                        <p:cTn id="42" dur="1" fill="hold">
                                          <p:stCondLst>
                                            <p:cond delay="0"/>
                                          </p:stCondLst>
                                        </p:cTn>
                                        <p:tgtEl>
                                          <p:spTgt spid="65598"/>
                                        </p:tgtEl>
                                        <p:attrNameLst>
                                          <p:attrName>style.visibility</p:attrName>
                                        </p:attrNameLst>
                                      </p:cBhvr>
                                      <p:to>
                                        <p:strVal val="visible"/>
                                      </p:to>
                                    </p:set>
                                    <p:animEffect transition="in" filter="diamond(out)">
                                      <p:cBhvr>
                                        <p:cTn id="43" dur="750"/>
                                        <p:tgtEl>
                                          <p:spTgt spid="65598"/>
                                        </p:tgtEl>
                                      </p:cBhvr>
                                    </p:animEffect>
                                  </p:childTnLst>
                                </p:cTn>
                              </p:par>
                            </p:childTnLst>
                          </p:cTn>
                        </p:par>
                      </p:childTnLst>
                    </p:cTn>
                  </p:par>
                  <p:par>
                    <p:cTn id="44" fill="hold">
                      <p:stCondLst>
                        <p:cond delay="indefinite"/>
                      </p:stCondLst>
                      <p:childTnLst>
                        <p:par>
                          <p:cTn id="45" fill="hold">
                            <p:stCondLst>
                              <p:cond delay="0"/>
                            </p:stCondLst>
                            <p:childTnLst>
                              <p:par>
                                <p:cTn id="46" presetID="5" presetClass="entr" presetSubtype="10" fill="hold" nodeType="clickEffect">
                                  <p:stCondLst>
                                    <p:cond delay="0"/>
                                  </p:stCondLst>
                                  <p:childTnLst>
                                    <p:set>
                                      <p:cBhvr>
                                        <p:cTn id="47" dur="1" fill="hold">
                                          <p:stCondLst>
                                            <p:cond delay="0"/>
                                          </p:stCondLst>
                                        </p:cTn>
                                        <p:tgtEl>
                                          <p:spTgt spid="65599"/>
                                        </p:tgtEl>
                                        <p:attrNameLst>
                                          <p:attrName>style.visibility</p:attrName>
                                        </p:attrNameLst>
                                      </p:cBhvr>
                                      <p:to>
                                        <p:strVal val="visible"/>
                                      </p:to>
                                    </p:set>
                                    <p:animEffect transition="in" filter="checkerboard(across)">
                                      <p:cBhvr>
                                        <p:cTn id="48" dur="500"/>
                                        <p:tgtEl>
                                          <p:spTgt spid="655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87" grpId="0" autoUpdateAnimBg="0"/>
      <p:bldP spid="65588" grpId="0" autoUpdateAnimBg="0"/>
      <p:bldP spid="65593" grpId="0"/>
      <p:bldP spid="65598"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Text Box 2"/>
          <p:cNvSpPr txBox="1">
            <a:spLocks noChangeArrowheads="1"/>
          </p:cNvSpPr>
          <p:nvPr/>
        </p:nvSpPr>
        <p:spPr bwMode="auto">
          <a:xfrm>
            <a:off x="611560" y="836712"/>
            <a:ext cx="4032448" cy="49675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50000"/>
              </a:spcBef>
            </a:pPr>
            <a:r>
              <a:rPr lang="zh-CN" altLang="en-US" b="1" dirty="0">
                <a:solidFill>
                  <a:srgbClr val="FF0000"/>
                </a:solidFill>
                <a:latin typeface="+mn-lt"/>
                <a:ea typeface="楷体" panose="02010609060101010101" pitchFamily="49" charset="-122"/>
              </a:rPr>
              <a:t>例</a:t>
            </a:r>
            <a:r>
              <a:rPr lang="en-US" altLang="zh-CN" b="1" dirty="0">
                <a:latin typeface="+mn-lt"/>
                <a:ea typeface="楷体" panose="02010609060101010101" pitchFamily="49" charset="-122"/>
              </a:rPr>
              <a:t> </a:t>
            </a:r>
            <a:r>
              <a:rPr lang="zh-CN" altLang="en-US" b="1" dirty="0">
                <a:latin typeface="+mn-lt"/>
                <a:ea typeface="楷体" panose="02010609060101010101" pitchFamily="49" charset="-122"/>
              </a:rPr>
              <a:t>两端用刚性块连接在一起的两根相同的钢杆</a:t>
            </a:r>
            <a:r>
              <a:rPr lang="en-US" altLang="zh-CN" dirty="0">
                <a:latin typeface="+mn-lt"/>
                <a:ea typeface="楷体" panose="02010609060101010101" pitchFamily="49" charset="-122"/>
              </a:rPr>
              <a:t>1, 2</a:t>
            </a:r>
            <a:r>
              <a:rPr lang="en-US" altLang="zh-CN" b="1" dirty="0">
                <a:latin typeface="+mn-lt"/>
                <a:ea typeface="楷体" panose="02010609060101010101" pitchFamily="49" charset="-122"/>
              </a:rPr>
              <a:t>(</a:t>
            </a:r>
            <a:r>
              <a:rPr lang="zh-CN" altLang="en-US" b="1" dirty="0">
                <a:latin typeface="+mn-lt"/>
                <a:ea typeface="楷体" panose="02010609060101010101" pitchFamily="49" charset="-122"/>
              </a:rPr>
              <a:t>图</a:t>
            </a:r>
            <a:r>
              <a:rPr lang="en-US" altLang="zh-CN" dirty="0">
                <a:latin typeface="+mn-lt"/>
                <a:ea typeface="楷体" panose="02010609060101010101" pitchFamily="49" charset="-122"/>
              </a:rPr>
              <a:t>a</a:t>
            </a:r>
            <a:r>
              <a:rPr lang="en-US" altLang="zh-CN" b="1" dirty="0">
                <a:latin typeface="+mn-lt"/>
                <a:ea typeface="楷体" panose="02010609060101010101" pitchFamily="49" charset="-122"/>
              </a:rPr>
              <a:t>)</a:t>
            </a:r>
            <a:r>
              <a:rPr lang="zh-CN" altLang="en-US" b="1" dirty="0">
                <a:latin typeface="+mn-lt"/>
                <a:ea typeface="楷体" panose="02010609060101010101" pitchFamily="49" charset="-122"/>
              </a:rPr>
              <a:t>，其长度</a:t>
            </a:r>
            <a:r>
              <a:rPr lang="en-US" altLang="zh-CN" i="1" dirty="0">
                <a:latin typeface="+mn-lt"/>
                <a:ea typeface="楷体" panose="02010609060101010101" pitchFamily="49" charset="-122"/>
              </a:rPr>
              <a:t>l </a:t>
            </a:r>
            <a:r>
              <a:rPr lang="en-US" altLang="zh-CN" dirty="0">
                <a:latin typeface="+mn-lt"/>
                <a:ea typeface="楷体" panose="02010609060101010101" pitchFamily="49" charset="-122"/>
              </a:rPr>
              <a:t>=200mm</a:t>
            </a:r>
            <a:r>
              <a:rPr lang="zh-CN" altLang="en-US" dirty="0">
                <a:latin typeface="+mn-lt"/>
                <a:ea typeface="楷体" panose="02010609060101010101" pitchFamily="49" charset="-122"/>
              </a:rPr>
              <a:t>，</a:t>
            </a:r>
            <a:r>
              <a:rPr lang="zh-CN" altLang="en-US" b="1" dirty="0">
                <a:latin typeface="+mn-lt"/>
                <a:ea typeface="楷体" panose="02010609060101010101" pitchFamily="49" charset="-122"/>
              </a:rPr>
              <a:t>直径</a:t>
            </a:r>
            <a:r>
              <a:rPr lang="en-US" altLang="zh-CN" i="1" dirty="0">
                <a:latin typeface="+mn-lt"/>
                <a:ea typeface="楷体" panose="02010609060101010101" pitchFamily="49" charset="-122"/>
              </a:rPr>
              <a:t>d </a:t>
            </a:r>
            <a:r>
              <a:rPr lang="en-US" altLang="zh-CN" dirty="0">
                <a:latin typeface="+mn-lt"/>
                <a:ea typeface="楷体" panose="02010609060101010101" pitchFamily="49" charset="-122"/>
              </a:rPr>
              <a:t>=10mm</a:t>
            </a:r>
            <a:r>
              <a:rPr lang="zh-CN" altLang="en-US" dirty="0">
                <a:latin typeface="+mn-lt"/>
                <a:ea typeface="楷体" panose="02010609060101010101" pitchFamily="49" charset="-122"/>
              </a:rPr>
              <a:t>。</a:t>
            </a:r>
            <a:r>
              <a:rPr lang="zh-CN" altLang="en-US" b="1" dirty="0">
                <a:latin typeface="+mn-lt"/>
                <a:ea typeface="楷体" panose="02010609060101010101" pitchFamily="49" charset="-122"/>
              </a:rPr>
              <a:t>试求将长度为</a:t>
            </a:r>
            <a:r>
              <a:rPr lang="en-US" altLang="zh-CN" dirty="0">
                <a:latin typeface="+mn-lt"/>
                <a:ea typeface="楷体" panose="02010609060101010101" pitchFamily="49" charset="-122"/>
              </a:rPr>
              <a:t>200.11mm</a:t>
            </a:r>
            <a:r>
              <a:rPr lang="zh-CN" altLang="en-US" dirty="0">
                <a:latin typeface="+mn-lt"/>
                <a:ea typeface="楷体" panose="02010609060101010101" pitchFamily="49" charset="-122"/>
              </a:rPr>
              <a:t>，</a:t>
            </a:r>
            <a:r>
              <a:rPr lang="zh-CN" altLang="en-US" b="1" dirty="0">
                <a:latin typeface="+mn-lt"/>
                <a:ea typeface="楷体" panose="02010609060101010101" pitchFamily="49" charset="-122"/>
              </a:rPr>
              <a:t>即</a:t>
            </a:r>
            <a:r>
              <a:rPr lang="en-US" altLang="zh-CN" dirty="0" err="1">
                <a:latin typeface="+mn-lt"/>
                <a:ea typeface="楷体" panose="02010609060101010101" pitchFamily="49" charset="-122"/>
              </a:rPr>
              <a:t>Δ</a:t>
            </a:r>
            <a:r>
              <a:rPr lang="en-US" altLang="zh-CN" i="1" dirty="0" err="1">
                <a:latin typeface="+mn-lt"/>
                <a:ea typeface="楷体" panose="02010609060101010101" pitchFamily="49" charset="-122"/>
              </a:rPr>
              <a:t>e</a:t>
            </a:r>
            <a:r>
              <a:rPr lang="en-US" altLang="zh-CN" i="1" dirty="0">
                <a:latin typeface="+mn-lt"/>
                <a:ea typeface="楷体" panose="02010609060101010101" pitchFamily="49" charset="-122"/>
              </a:rPr>
              <a:t>=</a:t>
            </a:r>
            <a:r>
              <a:rPr lang="en-US" altLang="zh-CN" dirty="0">
                <a:latin typeface="+mn-lt"/>
                <a:ea typeface="楷体" panose="02010609060101010101" pitchFamily="49" charset="-122"/>
              </a:rPr>
              <a:t>0.11mm</a:t>
            </a:r>
            <a:r>
              <a:rPr lang="zh-CN" altLang="en-US" b="1" dirty="0">
                <a:latin typeface="+mn-lt"/>
                <a:ea typeface="楷体" panose="02010609060101010101" pitchFamily="49" charset="-122"/>
              </a:rPr>
              <a:t>的铜杆</a:t>
            </a:r>
            <a:r>
              <a:rPr lang="en-US" altLang="zh-CN" dirty="0">
                <a:latin typeface="+mn-lt"/>
                <a:ea typeface="楷体" panose="02010609060101010101" pitchFamily="49" charset="-122"/>
              </a:rPr>
              <a:t>3</a:t>
            </a:r>
            <a:r>
              <a:rPr lang="en-US" altLang="zh-CN" b="1" dirty="0">
                <a:latin typeface="+mn-lt"/>
                <a:ea typeface="楷体" panose="02010609060101010101" pitchFamily="49" charset="-122"/>
              </a:rPr>
              <a:t>(</a:t>
            </a:r>
            <a:r>
              <a:rPr lang="zh-CN" altLang="en-US" b="1" dirty="0">
                <a:latin typeface="+mn-lt"/>
                <a:ea typeface="楷体" panose="02010609060101010101" pitchFamily="49" charset="-122"/>
              </a:rPr>
              <a:t>图</a:t>
            </a:r>
            <a:r>
              <a:rPr lang="en-US" altLang="zh-CN" dirty="0">
                <a:latin typeface="+mn-lt"/>
                <a:ea typeface="楷体" panose="02010609060101010101" pitchFamily="49" charset="-122"/>
              </a:rPr>
              <a:t>b</a:t>
            </a:r>
            <a:r>
              <a:rPr lang="en-US" altLang="zh-CN" b="1" dirty="0">
                <a:latin typeface="+mn-lt"/>
                <a:ea typeface="楷体" panose="02010609060101010101" pitchFamily="49" charset="-122"/>
              </a:rPr>
              <a:t>)</a:t>
            </a:r>
            <a:r>
              <a:rPr lang="zh-CN" altLang="en-US" b="1" dirty="0">
                <a:latin typeface="+mn-lt"/>
                <a:ea typeface="楷体" panose="02010609060101010101" pitchFamily="49" charset="-122"/>
              </a:rPr>
              <a:t>装配在与杆</a:t>
            </a:r>
            <a:r>
              <a:rPr lang="en-US" altLang="zh-CN" dirty="0">
                <a:latin typeface="+mn-lt"/>
                <a:ea typeface="楷体" panose="02010609060101010101" pitchFamily="49" charset="-122"/>
              </a:rPr>
              <a:t>1</a:t>
            </a:r>
            <a:r>
              <a:rPr lang="zh-CN" altLang="en-US" b="1" dirty="0">
                <a:latin typeface="+mn-lt"/>
                <a:ea typeface="楷体" panose="02010609060101010101" pitchFamily="49" charset="-122"/>
              </a:rPr>
              <a:t>和杆</a:t>
            </a:r>
            <a:r>
              <a:rPr lang="en-US" altLang="zh-CN" dirty="0">
                <a:latin typeface="+mn-lt"/>
                <a:ea typeface="楷体" panose="02010609060101010101" pitchFamily="49" charset="-122"/>
              </a:rPr>
              <a:t>2</a:t>
            </a:r>
            <a:r>
              <a:rPr lang="zh-CN" altLang="en-US" b="1" dirty="0">
                <a:latin typeface="+mn-lt"/>
                <a:ea typeface="楷体" panose="02010609060101010101" pitchFamily="49" charset="-122"/>
              </a:rPr>
              <a:t>对称的位置后</a:t>
            </a:r>
            <a:r>
              <a:rPr lang="en-US" altLang="zh-CN" b="1" dirty="0">
                <a:latin typeface="+mn-lt"/>
                <a:ea typeface="楷体" panose="02010609060101010101" pitchFamily="49" charset="-122"/>
              </a:rPr>
              <a:t>(</a:t>
            </a:r>
            <a:r>
              <a:rPr lang="zh-CN" altLang="en-US" b="1" dirty="0">
                <a:latin typeface="+mn-lt"/>
                <a:ea typeface="楷体" panose="02010609060101010101" pitchFamily="49" charset="-122"/>
              </a:rPr>
              <a:t>图</a:t>
            </a:r>
            <a:r>
              <a:rPr lang="en-US" altLang="zh-CN" dirty="0">
                <a:latin typeface="+mn-lt"/>
                <a:ea typeface="楷体" panose="02010609060101010101" pitchFamily="49" charset="-122"/>
              </a:rPr>
              <a:t>c</a:t>
            </a:r>
            <a:r>
              <a:rPr lang="en-US" altLang="zh-CN" b="1" dirty="0">
                <a:latin typeface="+mn-lt"/>
                <a:ea typeface="楷体" panose="02010609060101010101" pitchFamily="49" charset="-122"/>
              </a:rPr>
              <a:t>)</a:t>
            </a:r>
            <a:r>
              <a:rPr lang="zh-CN" altLang="en-US" b="1" dirty="0">
                <a:latin typeface="+mn-lt"/>
                <a:ea typeface="楷体" panose="02010609060101010101" pitchFamily="49" charset="-122"/>
              </a:rPr>
              <a:t>各杆横截面上的应力。已知：铜杆</a:t>
            </a:r>
            <a:r>
              <a:rPr lang="en-US" altLang="zh-CN" dirty="0">
                <a:latin typeface="+mn-lt"/>
                <a:ea typeface="楷体" panose="02010609060101010101" pitchFamily="49" charset="-122"/>
              </a:rPr>
              <a:t>3</a:t>
            </a:r>
            <a:r>
              <a:rPr lang="zh-CN" altLang="en-US" b="1" dirty="0">
                <a:latin typeface="+mn-lt"/>
                <a:ea typeface="楷体" panose="02010609060101010101" pitchFamily="49" charset="-122"/>
              </a:rPr>
              <a:t>的横截面为</a:t>
            </a:r>
            <a:r>
              <a:rPr lang="en-US" altLang="zh-CN" dirty="0">
                <a:latin typeface="+mn-lt"/>
                <a:ea typeface="楷体" panose="02010609060101010101" pitchFamily="49" charset="-122"/>
              </a:rPr>
              <a:t>20mm×30mm</a:t>
            </a:r>
            <a:r>
              <a:rPr lang="zh-CN" altLang="en-US" b="1" dirty="0">
                <a:latin typeface="+mn-lt"/>
                <a:ea typeface="楷体" panose="02010609060101010101" pitchFamily="49" charset="-122"/>
              </a:rPr>
              <a:t>的矩形，钢的</a:t>
            </a:r>
            <a:r>
              <a:rPr lang="en-US" altLang="zh-CN" i="1" dirty="0">
                <a:latin typeface="+mn-lt"/>
                <a:ea typeface="楷体" panose="02010609060101010101" pitchFamily="49" charset="-122"/>
              </a:rPr>
              <a:t>E</a:t>
            </a:r>
            <a:r>
              <a:rPr lang="en-US" altLang="zh-CN" dirty="0">
                <a:latin typeface="+mn-lt"/>
                <a:ea typeface="楷体" panose="02010609060101010101" pitchFamily="49" charset="-122"/>
              </a:rPr>
              <a:t>=210GPa</a:t>
            </a:r>
            <a:r>
              <a:rPr lang="zh-CN" altLang="en-US" dirty="0">
                <a:latin typeface="+mn-lt"/>
                <a:ea typeface="楷体" panose="02010609060101010101" pitchFamily="49" charset="-122"/>
              </a:rPr>
              <a:t>，</a:t>
            </a:r>
            <a:r>
              <a:rPr lang="zh-CN" altLang="en-US" b="1" dirty="0">
                <a:latin typeface="+mn-lt"/>
                <a:ea typeface="楷体" panose="02010609060101010101" pitchFamily="49" charset="-122"/>
              </a:rPr>
              <a:t>铜的</a:t>
            </a:r>
            <a:r>
              <a:rPr lang="en-US" altLang="zh-CN" i="1" dirty="0">
                <a:latin typeface="+mn-lt"/>
                <a:ea typeface="楷体" panose="02010609060101010101" pitchFamily="49" charset="-122"/>
              </a:rPr>
              <a:t>E</a:t>
            </a:r>
            <a:r>
              <a:rPr lang="en-US" altLang="zh-CN" baseline="-25000" dirty="0">
                <a:latin typeface="+mn-lt"/>
                <a:ea typeface="楷体" panose="02010609060101010101" pitchFamily="49" charset="-122"/>
              </a:rPr>
              <a:t>3</a:t>
            </a:r>
            <a:r>
              <a:rPr lang="en-US" altLang="zh-CN" dirty="0">
                <a:latin typeface="+mn-lt"/>
                <a:ea typeface="楷体" panose="02010609060101010101" pitchFamily="49" charset="-122"/>
              </a:rPr>
              <a:t>=100GPa</a:t>
            </a:r>
            <a:r>
              <a:rPr lang="zh-CN" altLang="en-US" b="1" dirty="0">
                <a:latin typeface="+mn-lt"/>
                <a:ea typeface="楷体" panose="02010609060101010101" pitchFamily="49" charset="-122"/>
              </a:rPr>
              <a:t>。</a:t>
            </a:r>
            <a:endParaRPr lang="zh-CN" altLang="en-US" b="1" i="1" dirty="0">
              <a:latin typeface="+mn-lt"/>
              <a:ea typeface="楷体" panose="02010609060101010101" pitchFamily="49" charset="-122"/>
            </a:endParaRPr>
          </a:p>
        </p:txBody>
      </p:sp>
      <p:pic>
        <p:nvPicPr>
          <p:cNvPr id="161795" name="Picture 3" descr="P186_L6-3"/>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b="-1564"/>
          <a:stretch>
            <a:fillRect/>
          </a:stretch>
        </p:blipFill>
        <p:spPr bwMode="auto">
          <a:xfrm>
            <a:off x="4644008" y="1479290"/>
            <a:ext cx="4101064" cy="3960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58703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Text Box 2"/>
          <p:cNvSpPr txBox="1">
            <a:spLocks noChangeArrowheads="1"/>
          </p:cNvSpPr>
          <p:nvPr/>
        </p:nvSpPr>
        <p:spPr bwMode="auto">
          <a:xfrm>
            <a:off x="4644008" y="550507"/>
            <a:ext cx="3455615" cy="559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spcBef>
                <a:spcPct val="50000"/>
              </a:spcBef>
            </a:pPr>
            <a:r>
              <a:rPr lang="zh-CN" altLang="en-US" b="1" dirty="0">
                <a:solidFill>
                  <a:srgbClr val="0000FF"/>
                </a:solidFill>
                <a:latin typeface="楷体" panose="02010609060101010101" pitchFamily="49" charset="-122"/>
                <a:ea typeface="楷体" panose="02010609060101010101" pitchFamily="49" charset="-122"/>
              </a:rPr>
              <a:t>解</a:t>
            </a:r>
            <a:r>
              <a:rPr lang="zh-CN" altLang="en-US" b="1" dirty="0">
                <a:solidFill>
                  <a:srgbClr val="0000FF"/>
                </a:solidFill>
                <a:latin typeface="楷体" panose="02010609060101010101" pitchFamily="49" charset="-122"/>
                <a:ea typeface="楷体" panose="02010609060101010101" pitchFamily="49" charset="-122"/>
                <a:sym typeface="Wingdings" panose="05000000000000000000" pitchFamily="2" charset="2"/>
              </a:rPr>
              <a:t>：</a:t>
            </a:r>
            <a:r>
              <a:rPr lang="en-US" altLang="zh-CN" b="1" dirty="0">
                <a:latin typeface="楷体" panose="02010609060101010101" pitchFamily="49" charset="-122"/>
                <a:ea typeface="楷体" panose="02010609060101010101" pitchFamily="49" charset="-122"/>
                <a:sym typeface="Wingdings" panose="05000000000000000000" pitchFamily="2" charset="2"/>
              </a:rPr>
              <a:t>1.</a:t>
            </a:r>
            <a:r>
              <a:rPr lang="en-US" altLang="zh-CN" b="1" dirty="0">
                <a:latin typeface="楷体" panose="02010609060101010101" pitchFamily="49" charset="-122"/>
                <a:ea typeface="楷体" panose="02010609060101010101" pitchFamily="49" charset="-122"/>
              </a:rPr>
              <a:t> </a:t>
            </a:r>
            <a:r>
              <a:rPr lang="zh-CN" altLang="en-US" b="1" dirty="0">
                <a:latin typeface="楷体" panose="02010609060101010101" pitchFamily="49" charset="-122"/>
                <a:ea typeface="楷体" panose="02010609060101010101" pitchFamily="49" charset="-122"/>
              </a:rPr>
              <a:t>一次静不定问题</a:t>
            </a:r>
            <a:endParaRPr lang="zh-CN" altLang="en-US" b="1" i="1" dirty="0">
              <a:latin typeface="楷体" panose="02010609060101010101" pitchFamily="49" charset="-122"/>
              <a:ea typeface="楷体" panose="02010609060101010101" pitchFamily="49" charset="-122"/>
            </a:endParaRPr>
          </a:p>
        </p:txBody>
      </p:sp>
      <p:graphicFrame>
        <p:nvGraphicFramePr>
          <p:cNvPr id="162822" name="Object 6"/>
          <p:cNvGraphicFramePr>
            <a:graphicFrameLocks noChangeAspect="1"/>
          </p:cNvGraphicFramePr>
          <p:nvPr>
            <p:extLst>
              <p:ext uri="{D42A27DB-BD31-4B8C-83A1-F6EECF244321}">
                <p14:modId xmlns:p14="http://schemas.microsoft.com/office/powerpoint/2010/main" val="3582550031"/>
              </p:ext>
            </p:extLst>
          </p:nvPr>
        </p:nvGraphicFramePr>
        <p:xfrm>
          <a:off x="4507204" y="1716812"/>
          <a:ext cx="3620440" cy="519974"/>
        </p:xfrm>
        <a:graphic>
          <a:graphicData uri="http://schemas.openxmlformats.org/presentationml/2006/ole">
            <mc:AlternateContent xmlns:mc="http://schemas.openxmlformats.org/markup-compatibility/2006">
              <mc:Choice xmlns:v="urn:schemas-microsoft-com:vml" Requires="v">
                <p:oleObj name="公式" r:id="rId2" imgW="1765080" imgH="253800" progId="Equation.3">
                  <p:embed/>
                </p:oleObj>
              </mc:Choice>
              <mc:Fallback>
                <p:oleObj name="公式" r:id="rId2" imgW="1765080" imgH="2538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7204" y="1716812"/>
                        <a:ext cx="3620440" cy="519974"/>
                      </a:xfrm>
                      <a:prstGeom prst="rect">
                        <a:avLst/>
                      </a:prstGeom>
                      <a:noFill/>
                      <a:ln>
                        <a:noFill/>
                      </a:ln>
                      <a:effectLst/>
                    </p:spPr>
                  </p:pic>
                </p:oleObj>
              </mc:Fallback>
            </mc:AlternateContent>
          </a:graphicData>
        </a:graphic>
      </p:graphicFrame>
      <p:pic>
        <p:nvPicPr>
          <p:cNvPr id="162824" name="Picture 8" descr="P186_L6-3d"/>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324726" y="550507"/>
            <a:ext cx="2464638" cy="1686281"/>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5292080" y="1070481"/>
            <a:ext cx="2040943" cy="646331"/>
          </a:xfrm>
          <a:prstGeom prst="rect">
            <a:avLst/>
          </a:prstGeom>
        </p:spPr>
        <p:txBody>
          <a:bodyPr wrap="none">
            <a:spAutoFit/>
          </a:bodyPr>
          <a:lstStyle/>
          <a:p>
            <a:pPr>
              <a:lnSpc>
                <a:spcPct val="150000"/>
              </a:lnSpc>
              <a:spcBef>
                <a:spcPct val="50000"/>
              </a:spcBef>
            </a:pPr>
            <a:r>
              <a:rPr lang="zh-CN" altLang="en-US" b="1" dirty="0">
                <a:latin typeface="楷体" panose="02010609060101010101" pitchFamily="49" charset="-122"/>
                <a:ea typeface="楷体" panose="02010609060101010101" pitchFamily="49" charset="-122"/>
              </a:rPr>
              <a:t>静力平衡方程</a:t>
            </a:r>
            <a:endParaRPr lang="zh-CN" altLang="en-US" i="1" dirty="0"/>
          </a:p>
        </p:txBody>
      </p:sp>
      <p:pic>
        <p:nvPicPr>
          <p:cNvPr id="11" name="Picture 5" descr="P186_L6-3"/>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t="55705"/>
          <a:stretch>
            <a:fillRect/>
          </a:stretch>
        </p:blipFill>
        <p:spPr bwMode="auto">
          <a:xfrm>
            <a:off x="616033" y="2236481"/>
            <a:ext cx="3456384" cy="1541480"/>
          </a:xfrm>
          <a:prstGeom prst="rect">
            <a:avLst/>
          </a:prstGeom>
          <a:noFill/>
          <a:extLst>
            <a:ext uri="{909E8E84-426E-40DD-AFC4-6F175D3DCCD1}">
              <a14:hiddenFill xmlns:a14="http://schemas.microsoft.com/office/drawing/2010/main">
                <a:solidFill>
                  <a:srgbClr val="FFFFFF"/>
                </a:solidFill>
              </a14:hiddenFill>
            </a:ext>
          </a:extLst>
        </p:spPr>
      </p:pic>
      <p:sp>
        <p:nvSpPr>
          <p:cNvPr id="12" name="Text Box 2"/>
          <p:cNvSpPr txBox="1">
            <a:spLocks noChangeArrowheads="1"/>
          </p:cNvSpPr>
          <p:nvPr/>
        </p:nvSpPr>
        <p:spPr bwMode="auto">
          <a:xfrm>
            <a:off x="4773551" y="2348434"/>
            <a:ext cx="172996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latin typeface="+mn-lt"/>
                <a:ea typeface="楷体" panose="02010609060101010101" pitchFamily="49" charset="-122"/>
              </a:rPr>
              <a:t>2. </a:t>
            </a:r>
            <a:r>
              <a:rPr lang="zh-CN" altLang="en-US" b="1" dirty="0">
                <a:latin typeface="+mn-lt"/>
                <a:ea typeface="楷体" panose="02010609060101010101" pitchFamily="49" charset="-122"/>
              </a:rPr>
              <a:t>几何方程</a:t>
            </a:r>
          </a:p>
        </p:txBody>
      </p:sp>
      <p:graphicFrame>
        <p:nvGraphicFramePr>
          <p:cNvPr id="13" name="Object 4"/>
          <p:cNvGraphicFramePr>
            <a:graphicFrameLocks noChangeAspect="1"/>
          </p:cNvGraphicFramePr>
          <p:nvPr>
            <p:extLst>
              <p:ext uri="{D42A27DB-BD31-4B8C-83A1-F6EECF244321}">
                <p14:modId xmlns:p14="http://schemas.microsoft.com/office/powerpoint/2010/main" val="4240928284"/>
              </p:ext>
            </p:extLst>
          </p:nvPr>
        </p:nvGraphicFramePr>
        <p:xfrm>
          <a:off x="4843595" y="2884505"/>
          <a:ext cx="1751012" cy="457200"/>
        </p:xfrm>
        <a:graphic>
          <a:graphicData uri="http://schemas.openxmlformats.org/presentationml/2006/ole">
            <mc:AlternateContent xmlns:mc="http://schemas.openxmlformats.org/markup-compatibility/2006">
              <mc:Choice xmlns:v="urn:schemas-microsoft-com:vml" Requires="v">
                <p:oleObj name="Equation" r:id="rId6" imgW="876240" imgH="228600" progId="Equation.DSMT4">
                  <p:embed/>
                </p:oleObj>
              </mc:Choice>
              <mc:Fallback>
                <p:oleObj name="Equation" r:id="rId6" imgW="876240" imgH="2286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43595" y="2884505"/>
                        <a:ext cx="1751012" cy="4572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Text Box 6"/>
          <p:cNvSpPr txBox="1">
            <a:spLocks noChangeArrowheads="1"/>
          </p:cNvSpPr>
          <p:nvPr/>
        </p:nvSpPr>
        <p:spPr bwMode="auto">
          <a:xfrm>
            <a:off x="4773551" y="3411062"/>
            <a:ext cx="188865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latin typeface="楷体" panose="02010609060101010101" pitchFamily="49" charset="-122"/>
                <a:ea typeface="楷体" panose="02010609060101010101" pitchFamily="49" charset="-122"/>
              </a:rPr>
              <a:t>3. </a:t>
            </a:r>
            <a:r>
              <a:rPr lang="zh-CN" altLang="en-US" b="1" dirty="0">
                <a:latin typeface="楷体" panose="02010609060101010101" pitchFamily="49" charset="-122"/>
                <a:ea typeface="楷体" panose="02010609060101010101" pitchFamily="49" charset="-122"/>
              </a:rPr>
              <a:t>物理方程</a:t>
            </a:r>
            <a:endParaRPr lang="zh-CN" altLang="en-US" dirty="0">
              <a:ea typeface="宋体" panose="02010600030101010101" pitchFamily="2" charset="-122"/>
            </a:endParaRPr>
          </a:p>
        </p:txBody>
      </p:sp>
      <p:graphicFrame>
        <p:nvGraphicFramePr>
          <p:cNvPr id="15" name="Object 7"/>
          <p:cNvGraphicFramePr>
            <a:graphicFrameLocks noChangeAspect="1"/>
          </p:cNvGraphicFramePr>
          <p:nvPr>
            <p:extLst>
              <p:ext uri="{D42A27DB-BD31-4B8C-83A1-F6EECF244321}">
                <p14:modId xmlns:p14="http://schemas.microsoft.com/office/powerpoint/2010/main" val="2676521313"/>
              </p:ext>
            </p:extLst>
          </p:nvPr>
        </p:nvGraphicFramePr>
        <p:xfrm>
          <a:off x="4669739" y="3942084"/>
          <a:ext cx="2184400" cy="863600"/>
        </p:xfrm>
        <a:graphic>
          <a:graphicData uri="http://schemas.openxmlformats.org/presentationml/2006/ole">
            <mc:AlternateContent xmlns:mc="http://schemas.openxmlformats.org/markup-compatibility/2006">
              <mc:Choice xmlns:v="urn:schemas-microsoft-com:vml" Requires="v">
                <p:oleObj name="公式" r:id="rId8" imgW="1091880" imgH="431640" progId="Equation.3">
                  <p:embed/>
                </p:oleObj>
              </mc:Choice>
              <mc:Fallback>
                <p:oleObj name="公式" r:id="rId8" imgW="1091880" imgH="43164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69739" y="3942084"/>
                        <a:ext cx="2184400"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 name="Object 7"/>
          <p:cNvGraphicFramePr>
            <a:graphicFrameLocks noChangeAspect="1"/>
          </p:cNvGraphicFramePr>
          <p:nvPr>
            <p:extLst>
              <p:ext uri="{D42A27DB-BD31-4B8C-83A1-F6EECF244321}">
                <p14:modId xmlns:p14="http://schemas.microsoft.com/office/powerpoint/2010/main" val="2236457410"/>
              </p:ext>
            </p:extLst>
          </p:nvPr>
        </p:nvGraphicFramePr>
        <p:xfrm>
          <a:off x="988698" y="4039367"/>
          <a:ext cx="3059063" cy="2483548"/>
        </p:xfrm>
        <a:graphic>
          <a:graphicData uri="http://schemas.openxmlformats.org/presentationml/2006/ole">
            <mc:AlternateContent xmlns:mc="http://schemas.openxmlformats.org/markup-compatibility/2006">
              <mc:Choice xmlns:v="urn:schemas-microsoft-com:vml" Requires="v">
                <p:oleObj name="Equation" r:id="rId10" imgW="2031840" imgH="1650960" progId="Equation.DSMT4">
                  <p:embed/>
                </p:oleObj>
              </mc:Choice>
              <mc:Fallback>
                <p:oleObj name="Equation" r:id="rId10" imgW="2031840" imgH="1650960" progId="Equation.DSMT4">
                  <p:embed/>
                  <p:pic>
                    <p:nvPicPr>
                      <p:cNvPr id="0" name=""/>
                      <p:cNvPicPr>
                        <a:picLocks noChangeAspect="1" noChangeArrowheads="1"/>
                      </p:cNvPicPr>
                      <p:nvPr/>
                    </p:nvPicPr>
                    <p:blipFill>
                      <a:blip r:embed="rId11"/>
                      <a:srcRect/>
                      <a:stretch>
                        <a:fillRect/>
                      </a:stretch>
                    </p:blipFill>
                    <p:spPr bwMode="auto">
                      <a:xfrm>
                        <a:off x="988698" y="4039367"/>
                        <a:ext cx="3059063" cy="2483548"/>
                      </a:xfrm>
                      <a:prstGeom prst="rect">
                        <a:avLst/>
                      </a:prstGeom>
                      <a:noFill/>
                      <a:ln>
                        <a:noFill/>
                      </a:ln>
                      <a:effectLst/>
                    </p:spPr>
                  </p:pic>
                </p:oleObj>
              </mc:Fallback>
            </mc:AlternateContent>
          </a:graphicData>
        </a:graphic>
      </p:graphicFrame>
      <p:graphicFrame>
        <p:nvGraphicFramePr>
          <p:cNvPr id="17" name="Object 8"/>
          <p:cNvGraphicFramePr>
            <a:graphicFrameLocks noChangeAspect="1"/>
          </p:cNvGraphicFramePr>
          <p:nvPr>
            <p:extLst>
              <p:ext uri="{D42A27DB-BD31-4B8C-83A1-F6EECF244321}">
                <p14:modId xmlns:p14="http://schemas.microsoft.com/office/powerpoint/2010/main" val="3427164755"/>
              </p:ext>
            </p:extLst>
          </p:nvPr>
        </p:nvGraphicFramePr>
        <p:xfrm>
          <a:off x="4748647" y="4870398"/>
          <a:ext cx="3072128" cy="1510930"/>
        </p:xfrm>
        <a:graphic>
          <a:graphicData uri="http://schemas.openxmlformats.org/presentationml/2006/ole">
            <mc:AlternateContent xmlns:mc="http://schemas.openxmlformats.org/markup-compatibility/2006">
              <mc:Choice xmlns:v="urn:schemas-microsoft-com:vml" Requires="v">
                <p:oleObj name="Equation" r:id="rId12" imgW="1701720" imgH="838080" progId="Equation.DSMT4">
                  <p:embed/>
                </p:oleObj>
              </mc:Choice>
              <mc:Fallback>
                <p:oleObj name="Equation" r:id="rId12" imgW="1701720" imgH="838080" progId="Equation.DSMT4">
                  <p:embed/>
                  <p:pic>
                    <p:nvPicPr>
                      <p:cNvPr id="0" name=""/>
                      <p:cNvPicPr>
                        <a:picLocks noChangeAspect="1" noChangeArrowheads="1"/>
                      </p:cNvPicPr>
                      <p:nvPr/>
                    </p:nvPicPr>
                    <p:blipFill>
                      <a:blip r:embed="rId13"/>
                      <a:srcRect/>
                      <a:stretch>
                        <a:fillRect/>
                      </a:stretch>
                    </p:blipFill>
                    <p:spPr bwMode="auto">
                      <a:xfrm>
                        <a:off x="4748647" y="4870398"/>
                        <a:ext cx="3072128" cy="151093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728362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62818"/>
                                        </p:tgtEl>
                                        <p:attrNameLst>
                                          <p:attrName>style.visibility</p:attrName>
                                        </p:attrNameLst>
                                      </p:cBhvr>
                                      <p:to>
                                        <p:strVal val="visible"/>
                                      </p:to>
                                    </p:set>
                                    <p:animEffect transition="in" filter="wipe(down)">
                                      <p:cBhvr>
                                        <p:cTn id="7" dur="500"/>
                                        <p:tgtEl>
                                          <p:spTgt spid="1628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162822"/>
                                        </p:tgtEl>
                                        <p:attrNameLst>
                                          <p:attrName>style.visibility</p:attrName>
                                        </p:attrNameLst>
                                      </p:cBhvr>
                                      <p:to>
                                        <p:strVal val="visible"/>
                                      </p:to>
                                    </p:set>
                                    <p:animEffect transition="in" filter="barn(outHorizontal)">
                                      <p:cBhvr>
                                        <p:cTn id="17" dur="500"/>
                                        <p:tgtEl>
                                          <p:spTgt spid="162822"/>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arn(outHorizontal)">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blinds(horizontal)">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7" presetClass="entr" presetSubtype="1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p:cTn id="32" dur="500" fill="hold"/>
                                        <p:tgtEl>
                                          <p:spTgt spid="13"/>
                                        </p:tgtEl>
                                        <p:attrNameLst>
                                          <p:attrName>ppt_w</p:attrName>
                                        </p:attrNameLst>
                                      </p:cBhvr>
                                      <p:tavLst>
                                        <p:tav tm="0">
                                          <p:val>
                                            <p:fltVal val="0"/>
                                          </p:val>
                                        </p:tav>
                                        <p:tav tm="100000">
                                          <p:val>
                                            <p:strVal val="#ppt_w"/>
                                          </p:val>
                                        </p:tav>
                                      </p:tavLst>
                                    </p:anim>
                                    <p:anim calcmode="lin" valueType="num">
                                      <p:cBhvr>
                                        <p:cTn id="33" dur="500" fill="hold"/>
                                        <p:tgtEl>
                                          <p:spTgt spid="13"/>
                                        </p:tgtEl>
                                        <p:attrNameLst>
                                          <p:attrName>ppt_h</p:attrName>
                                        </p:attrNameLst>
                                      </p:cBhvr>
                                      <p:tavLst>
                                        <p:tav tm="0">
                                          <p:val>
                                            <p:strVal val="#ppt_h"/>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750"/>
                                        <p:tgtEl>
                                          <p:spTgt spid="14"/>
                                        </p:tgtEl>
                                      </p:cBhvr>
                                    </p:animEffect>
                                    <p:anim calcmode="lin" valueType="num">
                                      <p:cBhvr>
                                        <p:cTn id="39" dur="750" fill="hold"/>
                                        <p:tgtEl>
                                          <p:spTgt spid="14"/>
                                        </p:tgtEl>
                                        <p:attrNameLst>
                                          <p:attrName>ppt_x</p:attrName>
                                        </p:attrNameLst>
                                      </p:cBhvr>
                                      <p:tavLst>
                                        <p:tav tm="0">
                                          <p:val>
                                            <p:strVal val="#ppt_x"/>
                                          </p:val>
                                        </p:tav>
                                        <p:tav tm="100000">
                                          <p:val>
                                            <p:strVal val="#ppt_x"/>
                                          </p:val>
                                        </p:tav>
                                      </p:tavLst>
                                    </p:anim>
                                    <p:anim calcmode="lin" valueType="num">
                                      <p:cBhvr>
                                        <p:cTn id="40" dur="75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6" presetClass="entr" presetSubtype="42" fill="hold" nodeType="click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barn(outHorizontal)">
                                      <p:cBhvr>
                                        <p:cTn id="45" dur="500"/>
                                        <p:tgtEl>
                                          <p:spTgt spid="15"/>
                                        </p:tgtEl>
                                      </p:cBhvr>
                                    </p:animEffect>
                                  </p:childTnLst>
                                </p:cTn>
                              </p:par>
                            </p:childTnLst>
                          </p:cTn>
                        </p:par>
                      </p:childTnLst>
                    </p:cTn>
                  </p:par>
                  <p:par>
                    <p:cTn id="46" fill="hold">
                      <p:stCondLst>
                        <p:cond delay="indefinite"/>
                      </p:stCondLst>
                      <p:childTnLst>
                        <p:par>
                          <p:cTn id="47" fill="hold">
                            <p:stCondLst>
                              <p:cond delay="0"/>
                            </p:stCondLst>
                            <p:childTnLst>
                              <p:par>
                                <p:cTn id="48" presetID="5" presetClass="entr" presetSubtype="10" fill="hold" nodeType="click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checkerboard(across)">
                                      <p:cBhvr>
                                        <p:cTn id="50" dur="500"/>
                                        <p:tgtEl>
                                          <p:spTgt spid="16"/>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nodeType="click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blinds(horizontal)">
                                      <p:cBhvr>
                                        <p:cTn id="5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18" grpId="0"/>
      <p:bldP spid="2" grpId="0"/>
      <p:bldP spid="12" grpId="0" autoUpdateAnimBg="0"/>
      <p:bldP spid="14"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p:cNvSpPr>
            <a:spLocks noChangeArrowheads="1"/>
          </p:cNvSpPr>
          <p:nvPr/>
        </p:nvSpPr>
        <p:spPr bwMode="auto">
          <a:xfrm>
            <a:off x="553452" y="476167"/>
            <a:ext cx="5879987" cy="2247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000" b="1" dirty="0">
                <a:solidFill>
                  <a:srgbClr val="FF0000"/>
                </a:solidFill>
                <a:latin typeface="+mn-lt"/>
                <a:ea typeface="楷体" panose="02010609060101010101" pitchFamily="49" charset="-122"/>
              </a:rPr>
              <a:t>例</a:t>
            </a:r>
            <a:r>
              <a:rPr kumimoji="1" lang="zh-CN" altLang="en-US" sz="2000" b="1" dirty="0">
                <a:solidFill>
                  <a:srgbClr val="080808"/>
                </a:solidFill>
                <a:latin typeface="+mn-lt"/>
                <a:ea typeface="楷体" panose="02010609060101010101" pitchFamily="49" charset="-122"/>
              </a:rPr>
              <a:t>  车轮由轮心</a:t>
            </a:r>
            <a:r>
              <a:rPr kumimoji="1" lang="en-US" altLang="zh-CN" sz="2000" dirty="0">
                <a:solidFill>
                  <a:srgbClr val="080808"/>
                </a:solidFill>
                <a:latin typeface="+mn-lt"/>
                <a:ea typeface="楷体" panose="02010609060101010101" pitchFamily="49" charset="-122"/>
              </a:rPr>
              <a:t>1</a:t>
            </a:r>
            <a:r>
              <a:rPr kumimoji="1" lang="zh-CN" altLang="en-US" sz="2000" b="1" dirty="0">
                <a:solidFill>
                  <a:srgbClr val="080808"/>
                </a:solidFill>
                <a:latin typeface="+mn-lt"/>
                <a:ea typeface="楷体" panose="02010609060101010101" pitchFamily="49" charset="-122"/>
              </a:rPr>
              <a:t>和轮缘</a:t>
            </a:r>
            <a:r>
              <a:rPr kumimoji="1" lang="en-US" altLang="zh-CN" sz="2000" dirty="0">
                <a:solidFill>
                  <a:srgbClr val="080808"/>
                </a:solidFill>
                <a:latin typeface="+mn-lt"/>
                <a:ea typeface="楷体" panose="02010609060101010101" pitchFamily="49" charset="-122"/>
              </a:rPr>
              <a:t>2</a:t>
            </a:r>
            <a:r>
              <a:rPr kumimoji="1" lang="zh-CN" altLang="en-US" sz="2000" b="1" dirty="0">
                <a:solidFill>
                  <a:srgbClr val="080808"/>
                </a:solidFill>
                <a:latin typeface="+mn-lt"/>
                <a:ea typeface="楷体" panose="02010609060101010101" pitchFamily="49" charset="-122"/>
              </a:rPr>
              <a:t>组成，为使轮缘能紧箍于轮心上，</a:t>
            </a:r>
            <a:r>
              <a:rPr lang="zh-CN" altLang="en-US" sz="2000" b="1" dirty="0">
                <a:solidFill>
                  <a:srgbClr val="080808"/>
                </a:solidFill>
                <a:latin typeface="+mn-lt"/>
                <a:ea typeface="楷体" panose="02010609060101010101" pitchFamily="49" charset="-122"/>
              </a:rPr>
              <a:t>一般在制造时使轮缘内径</a:t>
            </a:r>
            <a:r>
              <a:rPr lang="en-US" altLang="zh-CN" sz="2000" i="1" dirty="0">
                <a:solidFill>
                  <a:srgbClr val="080808"/>
                </a:solidFill>
                <a:latin typeface="+mn-lt"/>
                <a:ea typeface="楷体" panose="02010609060101010101" pitchFamily="49" charset="-122"/>
              </a:rPr>
              <a:t>d</a:t>
            </a:r>
            <a:r>
              <a:rPr lang="en-US" altLang="zh-CN" sz="2000" b="1" baseline="-25000" dirty="0">
                <a:solidFill>
                  <a:srgbClr val="080808"/>
                </a:solidFill>
                <a:latin typeface="+mn-lt"/>
                <a:ea typeface="楷体" panose="02010609060101010101" pitchFamily="49" charset="-122"/>
              </a:rPr>
              <a:t>2</a:t>
            </a:r>
            <a:r>
              <a:rPr lang="zh-CN" altLang="en-US" sz="2000" b="1" dirty="0">
                <a:solidFill>
                  <a:srgbClr val="080808"/>
                </a:solidFill>
                <a:latin typeface="+mn-lt"/>
                <a:ea typeface="楷体" panose="02010609060101010101" pitchFamily="49" charset="-122"/>
              </a:rPr>
              <a:t>稍小于轮心的外径</a:t>
            </a:r>
            <a:r>
              <a:rPr lang="en-US" altLang="zh-CN" sz="2000" i="1" dirty="0">
                <a:solidFill>
                  <a:srgbClr val="080808"/>
                </a:solidFill>
                <a:latin typeface="+mn-lt"/>
                <a:ea typeface="楷体" panose="02010609060101010101" pitchFamily="49" charset="-122"/>
              </a:rPr>
              <a:t>d</a:t>
            </a:r>
            <a:r>
              <a:rPr lang="en-US" altLang="zh-CN" sz="2000" b="1" baseline="-25000" dirty="0">
                <a:solidFill>
                  <a:srgbClr val="080808"/>
                </a:solidFill>
                <a:latin typeface="+mn-lt"/>
                <a:ea typeface="楷体" panose="02010609060101010101" pitchFamily="49" charset="-122"/>
              </a:rPr>
              <a:t>1</a:t>
            </a:r>
            <a:r>
              <a:rPr lang="en-US" altLang="zh-CN" sz="2000" b="1" baseline="-25000" dirty="0">
                <a:solidFill>
                  <a:srgbClr val="080808"/>
                </a:solidFill>
                <a:ea typeface="楷体" panose="02010609060101010101" pitchFamily="49" charset="-122"/>
              </a:rPr>
              <a:t> </a:t>
            </a:r>
            <a:r>
              <a:rPr lang="en-US" altLang="zh-CN" sz="2000" b="1" dirty="0">
                <a:solidFill>
                  <a:srgbClr val="080808"/>
                </a:solidFill>
                <a:latin typeface="+mn-lt"/>
                <a:ea typeface="楷体" panose="02010609060101010101" pitchFamily="49" charset="-122"/>
              </a:rPr>
              <a:t>,</a:t>
            </a:r>
            <a:r>
              <a:rPr lang="en-US" altLang="zh-CN" sz="2000" i="1" dirty="0">
                <a:solidFill>
                  <a:srgbClr val="080808"/>
                </a:solidFill>
                <a:latin typeface="+mn-lt"/>
                <a:ea typeface="楷体" panose="02010609060101010101" pitchFamily="49" charset="-122"/>
              </a:rPr>
              <a:t>d</a:t>
            </a:r>
            <a:r>
              <a:rPr lang="en-US" altLang="zh-CN" sz="2000" b="1" baseline="-25000" dirty="0">
                <a:solidFill>
                  <a:srgbClr val="080808"/>
                </a:solidFill>
                <a:latin typeface="+mn-lt"/>
                <a:ea typeface="楷体" panose="02010609060101010101" pitchFamily="49" charset="-122"/>
              </a:rPr>
              <a:t>1 </a:t>
            </a:r>
            <a:r>
              <a:rPr lang="en-US" altLang="zh-CN" sz="2000" b="1" dirty="0">
                <a:solidFill>
                  <a:srgbClr val="080808"/>
                </a:solidFill>
                <a:latin typeface="+mn-lt"/>
                <a:ea typeface="楷体" panose="02010609060101010101" pitchFamily="49" charset="-122"/>
              </a:rPr>
              <a:t>̶ </a:t>
            </a:r>
            <a:r>
              <a:rPr lang="en-US" altLang="zh-CN" sz="2000" i="1" dirty="0">
                <a:solidFill>
                  <a:srgbClr val="080808"/>
                </a:solidFill>
                <a:latin typeface="+mn-lt"/>
                <a:ea typeface="楷体" panose="02010609060101010101" pitchFamily="49" charset="-122"/>
              </a:rPr>
              <a:t>d</a:t>
            </a:r>
            <a:r>
              <a:rPr lang="en-US" altLang="zh-CN" sz="2000" b="1" baseline="-25000" dirty="0">
                <a:solidFill>
                  <a:srgbClr val="080808"/>
                </a:solidFill>
                <a:latin typeface="+mn-lt"/>
                <a:ea typeface="楷体" panose="02010609060101010101" pitchFamily="49" charset="-122"/>
              </a:rPr>
              <a:t>2</a:t>
            </a:r>
            <a:r>
              <a:rPr lang="en-US" altLang="zh-CN" sz="2000" b="1" dirty="0">
                <a:solidFill>
                  <a:srgbClr val="080808"/>
                </a:solidFill>
                <a:latin typeface="+mn-lt"/>
                <a:ea typeface="楷体" panose="02010609060101010101" pitchFamily="49" charset="-122"/>
              </a:rPr>
              <a:t>=</a:t>
            </a:r>
            <a:r>
              <a:rPr lang="el-GR" altLang="zh-CN" sz="2000" dirty="0">
                <a:solidFill>
                  <a:srgbClr val="080808"/>
                </a:solidFill>
                <a:latin typeface="+mn-lt"/>
                <a:ea typeface="楷体" panose="02010609060101010101" pitchFamily="49" charset="-122"/>
              </a:rPr>
              <a:t>Δ</a:t>
            </a:r>
            <a:r>
              <a:rPr lang="en-US" altLang="zh-CN" sz="2000" i="1" dirty="0">
                <a:solidFill>
                  <a:srgbClr val="080808"/>
                </a:solidFill>
                <a:latin typeface="+mn-lt"/>
                <a:ea typeface="楷体" panose="02010609060101010101" pitchFamily="49" charset="-122"/>
              </a:rPr>
              <a:t>d</a:t>
            </a:r>
            <a:r>
              <a:rPr lang="en-US" altLang="zh-CN" sz="2000" dirty="0">
                <a:solidFill>
                  <a:srgbClr val="080808"/>
                </a:solidFill>
                <a:latin typeface="+mn-lt"/>
                <a:ea typeface="楷体" panose="02010609060101010101" pitchFamily="49" charset="-122"/>
              </a:rPr>
              <a:t>,</a:t>
            </a:r>
            <a:r>
              <a:rPr kumimoji="1" lang="zh-CN" altLang="en-US" sz="2000" b="1" dirty="0">
                <a:solidFill>
                  <a:srgbClr val="080808"/>
                </a:solidFill>
                <a:latin typeface="+mn-lt"/>
                <a:ea typeface="楷体" panose="02010609060101010101" pitchFamily="49" charset="-122"/>
              </a:rPr>
              <a:t> 装配后在轮缘和轮心间将产生径向压力。</a:t>
            </a:r>
            <a:r>
              <a:rPr lang="zh-CN" altLang="en-US" sz="2000" b="1" dirty="0">
                <a:solidFill>
                  <a:srgbClr val="080808"/>
                </a:solidFill>
                <a:latin typeface="+mn-lt"/>
                <a:ea typeface="楷体" panose="02010609060101010101" pitchFamily="49" charset="-122"/>
              </a:rPr>
              <a:t>由于轮心刚度远大于轮缘刚度，装配时将轮心看作刚性实心圆盘。设轮缘的厚度为</a:t>
            </a:r>
            <a:r>
              <a:rPr lang="en-US" altLang="zh-CN" sz="2000" i="1" dirty="0">
                <a:solidFill>
                  <a:srgbClr val="080808"/>
                </a:solidFill>
                <a:latin typeface="+mn-lt"/>
                <a:ea typeface="楷体" panose="02010609060101010101" pitchFamily="49" charset="-122"/>
              </a:rPr>
              <a:t>t</a:t>
            </a:r>
            <a:r>
              <a:rPr lang="zh-CN" altLang="en-US" sz="2000" b="1" dirty="0">
                <a:solidFill>
                  <a:srgbClr val="080808"/>
                </a:solidFill>
                <a:latin typeface="+mn-lt"/>
                <a:ea typeface="楷体" panose="02010609060101010101" pitchFamily="49" charset="-122"/>
              </a:rPr>
              <a:t>，宽为</a:t>
            </a:r>
            <a:r>
              <a:rPr kumimoji="1" lang="en-US" altLang="zh-CN" sz="2000" i="1" dirty="0">
                <a:solidFill>
                  <a:srgbClr val="080808"/>
                </a:solidFill>
                <a:latin typeface="+mn-lt"/>
                <a:ea typeface="楷体" panose="02010609060101010101" pitchFamily="49" charset="-122"/>
              </a:rPr>
              <a:t>l</a:t>
            </a:r>
            <a:r>
              <a:rPr kumimoji="1" lang="zh-CN" altLang="en-US" sz="2000" b="1" dirty="0">
                <a:solidFill>
                  <a:srgbClr val="080808"/>
                </a:solidFill>
                <a:latin typeface="+mn-lt"/>
                <a:ea typeface="楷体" panose="02010609060101010101" pitchFamily="49" charset="-122"/>
              </a:rPr>
              <a:t>，弹性模量为</a:t>
            </a:r>
            <a:r>
              <a:rPr kumimoji="1" lang="en-US" altLang="zh-CN" sz="2000" i="1" dirty="0">
                <a:solidFill>
                  <a:srgbClr val="080808"/>
                </a:solidFill>
                <a:latin typeface="+mn-lt"/>
                <a:ea typeface="楷体" panose="02010609060101010101" pitchFamily="49" charset="-122"/>
              </a:rPr>
              <a:t>E</a:t>
            </a:r>
            <a:r>
              <a:rPr kumimoji="1" lang="zh-CN" altLang="en-US" sz="2000" b="1" dirty="0">
                <a:solidFill>
                  <a:srgbClr val="080808"/>
                </a:solidFill>
                <a:latin typeface="+mn-lt"/>
                <a:ea typeface="楷体" panose="02010609060101010101" pitchFamily="49" charset="-122"/>
              </a:rPr>
              <a:t>。求</a:t>
            </a:r>
            <a:r>
              <a:rPr lang="zh-CN" altLang="en-US" sz="2000" b="1" dirty="0">
                <a:solidFill>
                  <a:srgbClr val="080808"/>
                </a:solidFill>
                <a:ea typeface="楷体" panose="02010609060101010101" pitchFamily="49" charset="-122"/>
              </a:rPr>
              <a:t>轮缘和轮心间的径向压力和轮缘内的</a:t>
            </a:r>
            <a:r>
              <a:rPr kumimoji="1" lang="zh-CN" altLang="en-US" sz="2000" b="1" dirty="0">
                <a:solidFill>
                  <a:srgbClr val="080808"/>
                </a:solidFill>
                <a:latin typeface="+mn-lt"/>
                <a:ea typeface="楷体" panose="02010609060101010101" pitchFamily="49" charset="-122"/>
              </a:rPr>
              <a:t>环向（周向）应力。</a:t>
            </a:r>
          </a:p>
        </p:txBody>
      </p:sp>
      <p:grpSp>
        <p:nvGrpSpPr>
          <p:cNvPr id="24" name="组合 23"/>
          <p:cNvGrpSpPr/>
          <p:nvPr/>
        </p:nvGrpSpPr>
        <p:grpSpPr>
          <a:xfrm>
            <a:off x="6444208" y="350881"/>
            <a:ext cx="2373272" cy="2335231"/>
            <a:chOff x="6516216" y="153084"/>
            <a:chExt cx="2373272" cy="2335231"/>
          </a:xfrm>
        </p:grpSpPr>
        <p:pic>
          <p:nvPicPr>
            <p:cNvPr id="3" name="图片 2"/>
            <p:cNvPicPr>
              <a:picLocks noChangeAspect="1"/>
            </p:cNvPicPr>
            <p:nvPr/>
          </p:nvPicPr>
          <p:blipFill rotWithShape="1">
            <a:blip r:embed="rId2">
              <a:extLst>
                <a:ext uri="{28A0092B-C50C-407E-A947-70E740481C1C}">
                  <a14:useLocalDpi xmlns:a14="http://schemas.microsoft.com/office/drawing/2010/main" val="0"/>
                </a:ext>
              </a:extLst>
            </a:blip>
            <a:srcRect l="21363" t="10557" r="21258" b="6160"/>
            <a:stretch/>
          </p:blipFill>
          <p:spPr>
            <a:xfrm>
              <a:off x="6516216" y="400083"/>
              <a:ext cx="2160240" cy="2088232"/>
            </a:xfrm>
            <a:prstGeom prst="rect">
              <a:avLst/>
            </a:prstGeom>
          </p:spPr>
        </p:pic>
        <p:sp>
          <p:nvSpPr>
            <p:cNvPr id="20" name="Line 21"/>
            <p:cNvSpPr>
              <a:spLocks noChangeAspect="1" noChangeShapeType="1"/>
            </p:cNvSpPr>
            <p:nvPr/>
          </p:nvSpPr>
          <p:spPr bwMode="auto">
            <a:xfrm flipH="1">
              <a:off x="7668344" y="400083"/>
              <a:ext cx="582048" cy="596646"/>
            </a:xfrm>
            <a:prstGeom prst="line">
              <a:avLst/>
            </a:prstGeom>
            <a:noFill/>
            <a:ln w="12700">
              <a:solidFill>
                <a:srgbClr val="FF0000"/>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21"/>
            <p:cNvSpPr>
              <a:spLocks noChangeAspect="1" noChangeShapeType="1"/>
            </p:cNvSpPr>
            <p:nvPr/>
          </p:nvSpPr>
          <p:spPr bwMode="auto">
            <a:xfrm rot="1020000" flipH="1">
              <a:off x="8268283" y="746719"/>
              <a:ext cx="390280" cy="400068"/>
            </a:xfrm>
            <a:prstGeom prst="line">
              <a:avLst/>
            </a:prstGeom>
            <a:noFill/>
            <a:ln w="12700">
              <a:solidFill>
                <a:srgbClr val="FF0000"/>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Text Box 22"/>
            <p:cNvSpPr txBox="1">
              <a:spLocks noChangeArrowheads="1"/>
            </p:cNvSpPr>
            <p:nvPr/>
          </p:nvSpPr>
          <p:spPr bwMode="auto">
            <a:xfrm>
              <a:off x="8218325" y="153084"/>
              <a:ext cx="312906"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dirty="0">
                  <a:solidFill>
                    <a:srgbClr val="FF0000"/>
                  </a:solidFill>
                  <a:latin typeface="Times New Roman" panose="02020603050405020304" pitchFamily="18" charset="0"/>
                  <a:ea typeface="宋体" panose="02010600030101010101" pitchFamily="2" charset="-122"/>
                </a:rPr>
                <a:t>1</a:t>
              </a:r>
            </a:p>
          </p:txBody>
        </p:sp>
        <p:sp>
          <p:nvSpPr>
            <p:cNvPr id="23" name="Text Box 22"/>
            <p:cNvSpPr txBox="1">
              <a:spLocks noChangeArrowheads="1"/>
            </p:cNvSpPr>
            <p:nvPr/>
          </p:nvSpPr>
          <p:spPr bwMode="auto">
            <a:xfrm>
              <a:off x="8576582" y="830913"/>
              <a:ext cx="312906"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dirty="0">
                  <a:solidFill>
                    <a:srgbClr val="FF0000"/>
                  </a:solidFill>
                  <a:latin typeface="Times New Roman" panose="02020603050405020304" pitchFamily="18" charset="0"/>
                  <a:ea typeface="宋体" panose="02010600030101010101" pitchFamily="2" charset="-122"/>
                </a:rPr>
                <a:t>2</a:t>
              </a:r>
            </a:p>
          </p:txBody>
        </p:sp>
      </p:grpSp>
      <p:grpSp>
        <p:nvGrpSpPr>
          <p:cNvPr id="29" name="组合 28"/>
          <p:cNvGrpSpPr/>
          <p:nvPr/>
        </p:nvGrpSpPr>
        <p:grpSpPr>
          <a:xfrm>
            <a:off x="6390120" y="2643355"/>
            <a:ext cx="2340000" cy="2404420"/>
            <a:chOff x="6364744" y="2649154"/>
            <a:chExt cx="2340000" cy="2404420"/>
          </a:xfrm>
        </p:grpSpPr>
        <p:sp>
          <p:nvSpPr>
            <p:cNvPr id="19" name="Text Box 22"/>
            <p:cNvSpPr txBox="1">
              <a:spLocks noChangeArrowheads="1"/>
            </p:cNvSpPr>
            <p:nvPr/>
          </p:nvSpPr>
          <p:spPr bwMode="auto">
            <a:xfrm>
              <a:off x="7914299" y="2649154"/>
              <a:ext cx="253992"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i="1" dirty="0">
                  <a:latin typeface="Times New Roman" panose="02020603050405020304" pitchFamily="18" charset="0"/>
                  <a:ea typeface="宋体" panose="02010600030101010101" pitchFamily="2" charset="-122"/>
                </a:rPr>
                <a:t>t</a:t>
              </a:r>
            </a:p>
          </p:txBody>
        </p:sp>
        <p:grpSp>
          <p:nvGrpSpPr>
            <p:cNvPr id="26" name="组合 25"/>
            <p:cNvGrpSpPr/>
            <p:nvPr/>
          </p:nvGrpSpPr>
          <p:grpSpPr>
            <a:xfrm>
              <a:off x="6364744" y="2713574"/>
              <a:ext cx="2340000" cy="2340000"/>
              <a:chOff x="6375908" y="2666726"/>
              <a:chExt cx="2340000" cy="2340000"/>
            </a:xfrm>
          </p:grpSpPr>
          <p:sp>
            <p:nvSpPr>
              <p:cNvPr id="4" name="Oval 7"/>
              <p:cNvSpPr>
                <a:spLocks noChangeArrowheads="1"/>
              </p:cNvSpPr>
              <p:nvPr/>
            </p:nvSpPr>
            <p:spPr bwMode="auto">
              <a:xfrm>
                <a:off x="6571758" y="2831324"/>
                <a:ext cx="1932816" cy="1982787"/>
              </a:xfrm>
              <a:prstGeom prst="ellipse">
                <a:avLst/>
              </a:prstGeom>
              <a:pattFill prst="pct75">
                <a:fgClr>
                  <a:schemeClr val="tx1"/>
                </a:fgClr>
                <a:bgClr>
                  <a:schemeClr val="bg1"/>
                </a:bgClr>
              </a:pattFill>
              <a:ln w="9525">
                <a:solidFill>
                  <a:srgbClr val="000000"/>
                </a:solidFill>
                <a:round/>
                <a:headEnd/>
                <a:tailEnd/>
              </a:ln>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useBgFill="1">
            <p:nvSpPr>
              <p:cNvPr id="5" name="Oval 8"/>
              <p:cNvSpPr>
                <a:spLocks noChangeAspect="1" noChangeArrowheads="1"/>
              </p:cNvSpPr>
              <p:nvPr/>
            </p:nvSpPr>
            <p:spPr bwMode="auto">
              <a:xfrm>
                <a:off x="6748665" y="2996952"/>
                <a:ext cx="1594487" cy="1634400"/>
              </a:xfrm>
              <a:prstGeom prst="ellipse">
                <a:avLst/>
              </a:prstGeom>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endParaRPr kumimoji="1" lang="en-US" altLang="zh-CN" sz="2400" b="1" i="1" dirty="0">
                  <a:latin typeface="Times New Roman" panose="02020603050405020304" pitchFamily="18" charset="0"/>
                  <a:ea typeface="宋体" panose="02010600030101010101" pitchFamily="2" charset="-122"/>
                </a:endParaRPr>
              </a:p>
            </p:txBody>
          </p:sp>
          <p:sp>
            <p:nvSpPr>
              <p:cNvPr id="14" name="Line 17"/>
              <p:cNvSpPr>
                <a:spLocks noChangeShapeType="1"/>
              </p:cNvSpPr>
              <p:nvPr/>
            </p:nvSpPr>
            <p:spPr bwMode="auto">
              <a:xfrm>
                <a:off x="6375908" y="3814152"/>
                <a:ext cx="2340000" cy="0"/>
              </a:xfrm>
              <a:prstGeom prst="line">
                <a:avLst/>
              </a:prstGeom>
              <a:noFill/>
              <a:ln w="12700">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17"/>
              <p:cNvSpPr>
                <a:spLocks noChangeShapeType="1"/>
              </p:cNvSpPr>
              <p:nvPr/>
            </p:nvSpPr>
            <p:spPr bwMode="auto">
              <a:xfrm rot="5400000">
                <a:off x="6375908" y="3836726"/>
                <a:ext cx="2340000" cy="0"/>
              </a:xfrm>
              <a:prstGeom prst="line">
                <a:avLst/>
              </a:prstGeom>
              <a:noFill/>
              <a:ln w="12700">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8" name="Line 21"/>
            <p:cNvSpPr>
              <a:spLocks noChangeShapeType="1"/>
            </p:cNvSpPr>
            <p:nvPr/>
          </p:nvSpPr>
          <p:spPr bwMode="auto">
            <a:xfrm rot="-360000" flipH="1">
              <a:off x="8038780" y="2864378"/>
              <a:ext cx="199880" cy="208352"/>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19"/>
            <p:cNvSpPr>
              <a:spLocks noChangeAspect="1" noChangeShapeType="1"/>
            </p:cNvSpPr>
            <p:nvPr/>
          </p:nvSpPr>
          <p:spPr bwMode="auto">
            <a:xfrm rot="3000000">
              <a:off x="7331314" y="3075312"/>
              <a:ext cx="413218" cy="1584000"/>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Text Box 20"/>
            <p:cNvSpPr txBox="1">
              <a:spLocks noChangeArrowheads="1"/>
            </p:cNvSpPr>
            <p:nvPr/>
          </p:nvSpPr>
          <p:spPr bwMode="auto">
            <a:xfrm>
              <a:off x="7155190" y="3421909"/>
              <a:ext cx="441146"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400" i="1" dirty="0">
                  <a:latin typeface="Times New Roman" panose="02020603050405020304" pitchFamily="18" charset="0"/>
                  <a:ea typeface="宋体" panose="02010600030101010101" pitchFamily="2" charset="-122"/>
                </a:rPr>
                <a:t>d</a:t>
              </a:r>
              <a:r>
                <a:rPr kumimoji="1" lang="en-US" altLang="zh-CN" sz="2400" baseline="-25000" dirty="0">
                  <a:latin typeface="Times New Roman" panose="02020603050405020304" pitchFamily="18" charset="0"/>
                  <a:ea typeface="宋体" panose="02010600030101010101" pitchFamily="2" charset="-122"/>
                </a:rPr>
                <a:t>2</a:t>
              </a:r>
            </a:p>
          </p:txBody>
        </p:sp>
        <p:grpSp>
          <p:nvGrpSpPr>
            <p:cNvPr id="27" name="组合 26"/>
            <p:cNvGrpSpPr/>
            <p:nvPr/>
          </p:nvGrpSpPr>
          <p:grpSpPr>
            <a:xfrm>
              <a:off x="6717262" y="3044459"/>
              <a:ext cx="1623649" cy="1642538"/>
              <a:chOff x="4143379" y="4632329"/>
              <a:chExt cx="1623649" cy="1642538"/>
            </a:xfrm>
          </p:grpSpPr>
          <p:sp>
            <p:nvSpPr>
              <p:cNvPr id="6" name="Line 9"/>
              <p:cNvSpPr>
                <a:spLocks noChangeShapeType="1"/>
              </p:cNvSpPr>
              <p:nvPr/>
            </p:nvSpPr>
            <p:spPr bwMode="auto">
              <a:xfrm flipV="1">
                <a:off x="4961108" y="4632329"/>
                <a:ext cx="0" cy="304800"/>
              </a:xfrm>
              <a:prstGeom prst="line">
                <a:avLst/>
              </a:prstGeom>
              <a:noFill/>
              <a:ln w="22225">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Line 10"/>
              <p:cNvSpPr>
                <a:spLocks noChangeShapeType="1"/>
              </p:cNvSpPr>
              <p:nvPr/>
            </p:nvSpPr>
            <p:spPr bwMode="auto">
              <a:xfrm>
                <a:off x="4961108" y="5970067"/>
                <a:ext cx="0" cy="304800"/>
              </a:xfrm>
              <a:prstGeom prst="line">
                <a:avLst/>
              </a:prstGeom>
              <a:noFill/>
              <a:ln w="22225">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11"/>
              <p:cNvSpPr>
                <a:spLocks noChangeShapeType="1"/>
              </p:cNvSpPr>
              <p:nvPr/>
            </p:nvSpPr>
            <p:spPr bwMode="auto">
              <a:xfrm rot="16200000" flipV="1">
                <a:off x="4292057" y="5296453"/>
                <a:ext cx="0" cy="297356"/>
              </a:xfrm>
              <a:prstGeom prst="line">
                <a:avLst/>
              </a:prstGeom>
              <a:noFill/>
              <a:ln w="22225">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12"/>
              <p:cNvSpPr>
                <a:spLocks noChangeShapeType="1"/>
              </p:cNvSpPr>
              <p:nvPr/>
            </p:nvSpPr>
            <p:spPr bwMode="auto">
              <a:xfrm rot="13830025" flipV="1">
                <a:off x="4439167" y="5755240"/>
                <a:ext cx="1587" cy="297356"/>
              </a:xfrm>
              <a:prstGeom prst="line">
                <a:avLst/>
              </a:prstGeom>
              <a:noFill/>
              <a:ln w="22225">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13"/>
              <p:cNvSpPr>
                <a:spLocks noChangeShapeType="1"/>
              </p:cNvSpPr>
              <p:nvPr/>
            </p:nvSpPr>
            <p:spPr bwMode="auto">
              <a:xfrm rot="19302590" flipV="1">
                <a:off x="4440735" y="4877866"/>
                <a:ext cx="1549" cy="304800"/>
              </a:xfrm>
              <a:prstGeom prst="line">
                <a:avLst/>
              </a:prstGeom>
              <a:noFill/>
              <a:ln w="22225">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14"/>
              <p:cNvSpPr>
                <a:spLocks noChangeShapeType="1"/>
              </p:cNvSpPr>
              <p:nvPr/>
            </p:nvSpPr>
            <p:spPr bwMode="auto">
              <a:xfrm rot="7561642" flipV="1">
                <a:off x="5479914" y="5797575"/>
                <a:ext cx="1587" cy="297356"/>
              </a:xfrm>
              <a:prstGeom prst="line">
                <a:avLst/>
              </a:prstGeom>
              <a:noFill/>
              <a:ln w="22225">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15"/>
              <p:cNvSpPr>
                <a:spLocks noChangeShapeType="1"/>
              </p:cNvSpPr>
              <p:nvPr/>
            </p:nvSpPr>
            <p:spPr bwMode="auto">
              <a:xfrm rot="3000000" flipV="1">
                <a:off x="5464548" y="4852465"/>
                <a:ext cx="1549" cy="304800"/>
              </a:xfrm>
              <a:prstGeom prst="line">
                <a:avLst/>
              </a:prstGeom>
              <a:noFill/>
              <a:ln w="22225">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16"/>
              <p:cNvSpPr>
                <a:spLocks noChangeShapeType="1"/>
              </p:cNvSpPr>
              <p:nvPr/>
            </p:nvSpPr>
            <p:spPr bwMode="auto">
              <a:xfrm rot="5400000" flipV="1">
                <a:off x="5618350" y="5287986"/>
                <a:ext cx="0" cy="297356"/>
              </a:xfrm>
              <a:prstGeom prst="line">
                <a:avLst/>
              </a:prstGeom>
              <a:noFill/>
              <a:ln w="22225">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8" name="Text Box 20"/>
            <p:cNvSpPr txBox="1">
              <a:spLocks noChangeArrowheads="1"/>
            </p:cNvSpPr>
            <p:nvPr/>
          </p:nvSpPr>
          <p:spPr bwMode="auto">
            <a:xfrm>
              <a:off x="7129073" y="2990043"/>
              <a:ext cx="338554"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400" b="1" i="1" dirty="0">
                  <a:solidFill>
                    <a:srgbClr val="FF0000"/>
                  </a:solidFill>
                  <a:latin typeface="Times New Roman" panose="02020603050405020304" pitchFamily="18" charset="0"/>
                  <a:ea typeface="宋体" panose="02010600030101010101" pitchFamily="2" charset="-122"/>
                </a:rPr>
                <a:t>p</a:t>
              </a:r>
              <a:endParaRPr kumimoji="1" lang="en-US" altLang="zh-CN" sz="2400" b="1" baseline="-25000" dirty="0">
                <a:solidFill>
                  <a:srgbClr val="FF0000"/>
                </a:solidFill>
                <a:latin typeface="Times New Roman" panose="02020603050405020304" pitchFamily="18" charset="0"/>
                <a:ea typeface="宋体" panose="02010600030101010101" pitchFamily="2" charset="-122"/>
              </a:endParaRPr>
            </a:p>
          </p:txBody>
        </p:sp>
      </p:grpSp>
      <p:sp>
        <p:nvSpPr>
          <p:cNvPr id="30" name="Text Box 2"/>
          <p:cNvSpPr txBox="1">
            <a:spLocks noChangeArrowheads="1"/>
          </p:cNvSpPr>
          <p:nvPr/>
        </p:nvSpPr>
        <p:spPr bwMode="auto">
          <a:xfrm>
            <a:off x="573666" y="2613616"/>
            <a:ext cx="3455615" cy="481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spcBef>
                <a:spcPct val="50000"/>
              </a:spcBef>
            </a:pPr>
            <a:r>
              <a:rPr lang="zh-CN" altLang="en-US" sz="2000" b="1" dirty="0">
                <a:solidFill>
                  <a:srgbClr val="0000FF"/>
                </a:solidFill>
                <a:latin typeface="楷体" panose="02010609060101010101" pitchFamily="49" charset="-122"/>
                <a:ea typeface="楷体" panose="02010609060101010101" pitchFamily="49" charset="-122"/>
              </a:rPr>
              <a:t>解</a:t>
            </a:r>
            <a:r>
              <a:rPr lang="zh-CN" altLang="en-US" sz="2000" b="1" dirty="0">
                <a:solidFill>
                  <a:srgbClr val="0000FF"/>
                </a:solidFill>
                <a:latin typeface="楷体" panose="02010609060101010101" pitchFamily="49" charset="-122"/>
                <a:ea typeface="楷体" panose="02010609060101010101" pitchFamily="49" charset="-122"/>
                <a:sym typeface="Wingdings" panose="05000000000000000000" pitchFamily="2" charset="2"/>
              </a:rPr>
              <a:t>：</a:t>
            </a:r>
            <a:r>
              <a:rPr lang="en-US" altLang="zh-CN" sz="2000" b="1" dirty="0">
                <a:solidFill>
                  <a:srgbClr val="0000FF"/>
                </a:solidFill>
                <a:latin typeface="楷体" panose="02010609060101010101" pitchFamily="49" charset="-122"/>
                <a:ea typeface="楷体" panose="02010609060101010101" pitchFamily="49" charset="-122"/>
                <a:sym typeface="Wingdings" panose="05000000000000000000" pitchFamily="2" charset="2"/>
              </a:rPr>
              <a:t>1.</a:t>
            </a:r>
            <a:r>
              <a:rPr lang="zh-CN" altLang="en-US" sz="2000" b="1" dirty="0">
                <a:solidFill>
                  <a:srgbClr val="0000FF"/>
                </a:solidFill>
                <a:latin typeface="楷体" panose="02010609060101010101" pitchFamily="49" charset="-122"/>
                <a:ea typeface="楷体" panose="02010609060101010101" pitchFamily="49" charset="-122"/>
              </a:rPr>
              <a:t>静力平衡方程</a:t>
            </a:r>
            <a:r>
              <a:rPr lang="en-US" altLang="zh-CN" sz="2000" b="1" dirty="0">
                <a:solidFill>
                  <a:srgbClr val="0000FF"/>
                </a:solidFill>
                <a:latin typeface="楷体" panose="02010609060101010101" pitchFamily="49" charset="-122"/>
                <a:ea typeface="楷体" panose="02010609060101010101" pitchFamily="49" charset="-122"/>
              </a:rPr>
              <a:t> </a:t>
            </a:r>
            <a:endParaRPr lang="zh-CN" altLang="en-US" sz="2000" b="1" i="1" dirty="0">
              <a:solidFill>
                <a:srgbClr val="0000FF"/>
              </a:solidFill>
              <a:latin typeface="楷体" panose="02010609060101010101" pitchFamily="49" charset="-122"/>
              <a:ea typeface="楷体" panose="02010609060101010101" pitchFamily="49" charset="-122"/>
            </a:endParaRPr>
          </a:p>
        </p:txBody>
      </p:sp>
      <p:sp>
        <p:nvSpPr>
          <p:cNvPr id="32" name="矩形 31"/>
          <p:cNvSpPr/>
          <p:nvPr/>
        </p:nvSpPr>
        <p:spPr>
          <a:xfrm>
            <a:off x="3611731" y="4385976"/>
            <a:ext cx="1992853" cy="481863"/>
          </a:xfrm>
          <a:prstGeom prst="rect">
            <a:avLst/>
          </a:prstGeom>
        </p:spPr>
        <p:txBody>
          <a:bodyPr wrap="none">
            <a:spAutoFit/>
          </a:bodyPr>
          <a:lstStyle/>
          <a:p>
            <a:pPr>
              <a:lnSpc>
                <a:spcPct val="150000"/>
              </a:lnSpc>
              <a:spcBef>
                <a:spcPct val="50000"/>
              </a:spcBef>
            </a:pPr>
            <a:r>
              <a:rPr lang="zh-CN" altLang="en-US" sz="2000" b="1" dirty="0">
                <a:latin typeface="楷体" panose="02010609060101010101" pitchFamily="49" charset="-122"/>
                <a:ea typeface="楷体" panose="02010609060101010101" pitchFamily="49" charset="-122"/>
              </a:rPr>
              <a:t>一次静不定问题</a:t>
            </a:r>
            <a:endParaRPr lang="zh-CN" altLang="en-US" sz="2000" b="1" i="1" dirty="0">
              <a:latin typeface="楷体" panose="02010609060101010101" pitchFamily="49" charset="-122"/>
              <a:ea typeface="楷体" panose="02010609060101010101" pitchFamily="49" charset="-122"/>
            </a:endParaRPr>
          </a:p>
        </p:txBody>
      </p:sp>
      <p:grpSp>
        <p:nvGrpSpPr>
          <p:cNvPr id="64" name="组合 63"/>
          <p:cNvGrpSpPr/>
          <p:nvPr/>
        </p:nvGrpSpPr>
        <p:grpSpPr>
          <a:xfrm>
            <a:off x="567668" y="3048392"/>
            <a:ext cx="2534780" cy="2503428"/>
            <a:chOff x="897119" y="3982484"/>
            <a:chExt cx="2534780" cy="2503428"/>
          </a:xfrm>
        </p:grpSpPr>
        <p:grpSp>
          <p:nvGrpSpPr>
            <p:cNvPr id="33" name="Group 23"/>
            <p:cNvGrpSpPr>
              <a:grpSpLocks/>
            </p:cNvGrpSpPr>
            <p:nvPr/>
          </p:nvGrpSpPr>
          <p:grpSpPr bwMode="auto">
            <a:xfrm>
              <a:off x="897119" y="4422162"/>
              <a:ext cx="2102600" cy="2063750"/>
              <a:chOff x="2170" y="624"/>
              <a:chExt cx="1152" cy="1104"/>
            </a:xfrm>
          </p:grpSpPr>
          <p:sp>
            <p:nvSpPr>
              <p:cNvPr id="34" name="Oval 24"/>
              <p:cNvSpPr>
                <a:spLocks noChangeArrowheads="1"/>
              </p:cNvSpPr>
              <p:nvPr/>
            </p:nvSpPr>
            <p:spPr bwMode="auto">
              <a:xfrm>
                <a:off x="2170" y="624"/>
                <a:ext cx="1104" cy="1056"/>
              </a:xfrm>
              <a:prstGeom prst="ellipse">
                <a:avLst/>
              </a:prstGeom>
              <a:pattFill prst="pct75">
                <a:fgClr>
                  <a:schemeClr val="tx1"/>
                </a:fgClr>
                <a:bgClr>
                  <a:schemeClr val="bg1"/>
                </a:bgClr>
              </a:patt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useBgFill="1">
            <p:nvSpPr>
              <p:cNvPr id="35" name="Oval 25"/>
              <p:cNvSpPr>
                <a:spLocks noChangeArrowheads="1"/>
              </p:cNvSpPr>
              <p:nvPr/>
            </p:nvSpPr>
            <p:spPr bwMode="auto">
              <a:xfrm>
                <a:off x="2266" y="720"/>
                <a:ext cx="912" cy="864"/>
              </a:xfrm>
              <a:prstGeom prst="ellipse">
                <a:avLst/>
              </a:prstGeom>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36" name="Line 26"/>
              <p:cNvSpPr>
                <a:spLocks noChangeShapeType="1"/>
              </p:cNvSpPr>
              <p:nvPr/>
            </p:nvSpPr>
            <p:spPr bwMode="auto">
              <a:xfrm flipV="1">
                <a:off x="2731" y="720"/>
                <a:ext cx="0" cy="192"/>
              </a:xfrm>
              <a:prstGeom prst="line">
                <a:avLst/>
              </a:prstGeom>
              <a:noFill/>
              <a:ln w="22225">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Line 27"/>
              <p:cNvSpPr>
                <a:spLocks noChangeShapeType="1"/>
              </p:cNvSpPr>
              <p:nvPr/>
            </p:nvSpPr>
            <p:spPr bwMode="auto">
              <a:xfrm flipH="1">
                <a:off x="2266" y="1104"/>
                <a:ext cx="192" cy="0"/>
              </a:xfrm>
              <a:prstGeom prst="line">
                <a:avLst/>
              </a:prstGeom>
              <a:noFill/>
              <a:ln w="22225">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Line 28"/>
              <p:cNvSpPr>
                <a:spLocks noChangeShapeType="1"/>
              </p:cNvSpPr>
              <p:nvPr/>
            </p:nvSpPr>
            <p:spPr bwMode="auto">
              <a:xfrm>
                <a:off x="2986" y="1104"/>
                <a:ext cx="192" cy="0"/>
              </a:xfrm>
              <a:prstGeom prst="line">
                <a:avLst/>
              </a:prstGeom>
              <a:noFill/>
              <a:ln w="22225">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29"/>
              <p:cNvSpPr>
                <a:spLocks noChangeShapeType="1"/>
              </p:cNvSpPr>
              <p:nvPr/>
            </p:nvSpPr>
            <p:spPr bwMode="auto">
              <a:xfrm flipV="1">
                <a:off x="2890" y="816"/>
                <a:ext cx="144" cy="144"/>
              </a:xfrm>
              <a:prstGeom prst="line">
                <a:avLst/>
              </a:prstGeom>
              <a:noFill/>
              <a:ln w="22225">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Line 30"/>
              <p:cNvSpPr>
                <a:spLocks noChangeShapeType="1"/>
              </p:cNvSpPr>
              <p:nvPr/>
            </p:nvSpPr>
            <p:spPr bwMode="auto">
              <a:xfrm flipH="1" flipV="1">
                <a:off x="2410" y="816"/>
                <a:ext cx="144" cy="192"/>
              </a:xfrm>
              <a:prstGeom prst="line">
                <a:avLst/>
              </a:prstGeom>
              <a:noFill/>
              <a:ln w="22225">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useBgFill="1">
            <p:nvSpPr>
              <p:cNvPr id="41" name="Rectangle 31"/>
              <p:cNvSpPr>
                <a:spLocks noChangeArrowheads="1"/>
              </p:cNvSpPr>
              <p:nvPr/>
            </p:nvSpPr>
            <p:spPr bwMode="auto">
              <a:xfrm>
                <a:off x="2170" y="1152"/>
                <a:ext cx="1152" cy="576"/>
              </a:xfrm>
              <a:prstGeom prst="rect">
                <a:avLst/>
              </a:prstGeom>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42" name="Line 32"/>
              <p:cNvSpPr>
                <a:spLocks noChangeShapeType="1"/>
              </p:cNvSpPr>
              <p:nvPr/>
            </p:nvSpPr>
            <p:spPr bwMode="auto">
              <a:xfrm>
                <a:off x="2228" y="1185"/>
                <a:ext cx="0" cy="288"/>
              </a:xfrm>
              <a:prstGeom prst="line">
                <a:avLst/>
              </a:prstGeom>
              <a:noFill/>
              <a:ln w="2222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Line 33"/>
              <p:cNvSpPr>
                <a:spLocks noChangeShapeType="1"/>
              </p:cNvSpPr>
              <p:nvPr/>
            </p:nvSpPr>
            <p:spPr bwMode="auto">
              <a:xfrm>
                <a:off x="3236" y="1185"/>
                <a:ext cx="0" cy="288"/>
              </a:xfrm>
              <a:prstGeom prst="line">
                <a:avLst/>
              </a:prstGeom>
              <a:noFill/>
              <a:ln w="2222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Text Box 34"/>
              <p:cNvSpPr txBox="1">
                <a:spLocks noChangeArrowheads="1"/>
              </p:cNvSpPr>
              <p:nvPr/>
            </p:nvSpPr>
            <p:spPr bwMode="auto">
              <a:xfrm>
                <a:off x="2226" y="1293"/>
                <a:ext cx="298" cy="2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dirty="0">
                    <a:solidFill>
                      <a:srgbClr val="FF0000"/>
                    </a:solidFill>
                    <a:latin typeface="Times New Roman" panose="02020603050405020304" pitchFamily="18" charset="0"/>
                    <a:ea typeface="宋体" panose="02010600030101010101" pitchFamily="2" charset="-122"/>
                  </a:rPr>
                  <a:t>F</a:t>
                </a:r>
                <a:r>
                  <a:rPr kumimoji="1" lang="en-US" altLang="zh-CN" sz="2000" b="1" baseline="-25000" dirty="0">
                    <a:solidFill>
                      <a:srgbClr val="FF0000"/>
                    </a:solidFill>
                    <a:latin typeface="Times New Roman" panose="02020603050405020304" pitchFamily="18" charset="0"/>
                    <a:ea typeface="宋体" panose="02010600030101010101" pitchFamily="2" charset="-122"/>
                  </a:rPr>
                  <a:t>N</a:t>
                </a:r>
                <a:r>
                  <a:rPr kumimoji="1" lang="en-US" altLang="zh-CN" sz="2000" b="1" i="1" dirty="0">
                    <a:solidFill>
                      <a:srgbClr val="FF0000"/>
                    </a:solidFill>
                    <a:latin typeface="Times New Roman" panose="02020603050405020304" pitchFamily="18" charset="0"/>
                    <a:ea typeface="宋体" panose="02010600030101010101" pitchFamily="2" charset="-122"/>
                  </a:rPr>
                  <a:t> </a:t>
                </a:r>
              </a:p>
            </p:txBody>
          </p:sp>
          <p:sp>
            <p:nvSpPr>
              <p:cNvPr id="45" name="Text Box 35"/>
              <p:cNvSpPr txBox="1">
                <a:spLocks noChangeArrowheads="1"/>
              </p:cNvSpPr>
              <p:nvPr/>
            </p:nvSpPr>
            <p:spPr bwMode="auto">
              <a:xfrm>
                <a:off x="2979" y="1275"/>
                <a:ext cx="263" cy="2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dirty="0">
                    <a:solidFill>
                      <a:srgbClr val="FF0000"/>
                    </a:solidFill>
                    <a:latin typeface="Times New Roman" panose="02020603050405020304" pitchFamily="18" charset="0"/>
                    <a:ea typeface="宋体" panose="02010600030101010101" pitchFamily="2" charset="-122"/>
                  </a:rPr>
                  <a:t>F</a:t>
                </a:r>
                <a:r>
                  <a:rPr kumimoji="1" lang="en-US" altLang="zh-CN" sz="2000" b="1" baseline="-25000" dirty="0">
                    <a:solidFill>
                      <a:srgbClr val="FF0000"/>
                    </a:solidFill>
                    <a:latin typeface="Times New Roman" panose="02020603050405020304" pitchFamily="18" charset="0"/>
                    <a:ea typeface="宋体" panose="02010600030101010101" pitchFamily="2" charset="-122"/>
                  </a:rPr>
                  <a:t>N</a:t>
                </a:r>
              </a:p>
            </p:txBody>
          </p:sp>
          <p:sp>
            <p:nvSpPr>
              <p:cNvPr id="46" name="Text Box 36"/>
              <p:cNvSpPr txBox="1">
                <a:spLocks noChangeArrowheads="1"/>
              </p:cNvSpPr>
              <p:nvPr/>
            </p:nvSpPr>
            <p:spPr bwMode="auto">
              <a:xfrm>
                <a:off x="2476" y="708"/>
                <a:ext cx="170"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dirty="0">
                    <a:solidFill>
                      <a:srgbClr val="FF3300"/>
                    </a:solidFill>
                    <a:latin typeface="Times New Roman" panose="02020603050405020304" pitchFamily="18" charset="0"/>
                    <a:ea typeface="宋体" panose="02010600030101010101" pitchFamily="2" charset="-122"/>
                  </a:rPr>
                  <a:t>p</a:t>
                </a:r>
                <a:endParaRPr kumimoji="1" lang="en-US" altLang="zh-CN" sz="2000" b="1" i="1" dirty="0">
                  <a:latin typeface="Times New Roman" panose="02020603050405020304" pitchFamily="18" charset="0"/>
                  <a:ea typeface="宋体" panose="02010600030101010101" pitchFamily="2" charset="-122"/>
                </a:endParaRPr>
              </a:p>
            </p:txBody>
          </p:sp>
        </p:grpSp>
        <p:grpSp>
          <p:nvGrpSpPr>
            <p:cNvPr id="47" name="组合 46"/>
            <p:cNvGrpSpPr/>
            <p:nvPr/>
          </p:nvGrpSpPr>
          <p:grpSpPr>
            <a:xfrm>
              <a:off x="1707868" y="3982484"/>
              <a:ext cx="1724031" cy="1681162"/>
              <a:chOff x="7272781" y="636379"/>
              <a:chExt cx="1724031" cy="1681162"/>
            </a:xfrm>
          </p:grpSpPr>
          <p:grpSp>
            <p:nvGrpSpPr>
              <p:cNvPr id="48" name="Group 29"/>
              <p:cNvGrpSpPr>
                <a:grpSpLocks/>
              </p:cNvGrpSpPr>
              <p:nvPr/>
            </p:nvGrpSpPr>
            <p:grpSpPr bwMode="auto">
              <a:xfrm>
                <a:off x="7501175" y="1365107"/>
                <a:ext cx="726134" cy="711740"/>
                <a:chOff x="4608" y="1650"/>
                <a:chExt cx="510" cy="490"/>
              </a:xfrm>
            </p:grpSpPr>
            <p:grpSp>
              <p:nvGrpSpPr>
                <p:cNvPr id="53" name="Group 30"/>
                <p:cNvGrpSpPr>
                  <a:grpSpLocks/>
                </p:cNvGrpSpPr>
                <p:nvPr/>
              </p:nvGrpSpPr>
              <p:grpSpPr bwMode="auto">
                <a:xfrm>
                  <a:off x="4608" y="1650"/>
                  <a:ext cx="510" cy="459"/>
                  <a:chOff x="4608" y="1650"/>
                  <a:chExt cx="510" cy="459"/>
                </a:xfrm>
              </p:grpSpPr>
              <p:sp>
                <p:nvSpPr>
                  <p:cNvPr id="58" name="Freeform 31"/>
                  <p:cNvSpPr>
                    <a:spLocks/>
                  </p:cNvSpPr>
                  <p:nvPr/>
                </p:nvSpPr>
                <p:spPr bwMode="auto">
                  <a:xfrm>
                    <a:off x="4608" y="1653"/>
                    <a:ext cx="510" cy="456"/>
                  </a:xfrm>
                  <a:custGeom>
                    <a:avLst/>
                    <a:gdLst>
                      <a:gd name="T0" fmla="*/ 456 w 510"/>
                      <a:gd name="T1" fmla="*/ 0 h 456"/>
                      <a:gd name="T2" fmla="*/ 0 w 510"/>
                      <a:gd name="T3" fmla="*/ 456 h 456"/>
                      <a:gd name="T4" fmla="*/ 510 w 510"/>
                      <a:gd name="T5" fmla="*/ 57 h 456"/>
                      <a:gd name="T6" fmla="*/ 0 60000 65536"/>
                      <a:gd name="T7" fmla="*/ 0 60000 65536"/>
                      <a:gd name="T8" fmla="*/ 0 60000 65536"/>
                      <a:gd name="T9" fmla="*/ 0 w 510"/>
                      <a:gd name="T10" fmla="*/ 0 h 456"/>
                      <a:gd name="T11" fmla="*/ 510 w 510"/>
                      <a:gd name="T12" fmla="*/ 456 h 456"/>
                    </a:gdLst>
                    <a:ahLst/>
                    <a:cxnLst>
                      <a:cxn ang="T6">
                        <a:pos x="T0" y="T1"/>
                      </a:cxn>
                      <a:cxn ang="T7">
                        <a:pos x="T2" y="T3"/>
                      </a:cxn>
                      <a:cxn ang="T8">
                        <a:pos x="T4" y="T5"/>
                      </a:cxn>
                    </a:cxnLst>
                    <a:rect l="T9" t="T10" r="T11" b="T12"/>
                    <a:pathLst>
                      <a:path w="510" h="456">
                        <a:moveTo>
                          <a:pt x="456" y="0"/>
                        </a:moveTo>
                        <a:lnTo>
                          <a:pt x="0" y="456"/>
                        </a:lnTo>
                        <a:lnTo>
                          <a:pt x="510" y="57"/>
                        </a:lnTo>
                      </a:path>
                    </a:pathLst>
                  </a:custGeom>
                  <a:noFill/>
                  <a:ln w="9525">
                    <a:solidFill>
                      <a:schemeClr val="tx1"/>
                    </a:solidFill>
                    <a:miter lim="800000"/>
                    <a:headEnd/>
                    <a:tailEnd/>
                  </a:ln>
                </p:spPr>
                <p:txBody>
                  <a:bodyPr wrap="none"/>
                  <a:lstStyle/>
                  <a:p>
                    <a:endParaRPr lang="zh-CN" altLang="en-US"/>
                  </a:p>
                </p:txBody>
              </p:sp>
              <p:sp>
                <p:nvSpPr>
                  <p:cNvPr id="59" name="Freeform 32"/>
                  <p:cNvSpPr>
                    <a:spLocks/>
                  </p:cNvSpPr>
                  <p:nvPr/>
                </p:nvSpPr>
                <p:spPr bwMode="auto">
                  <a:xfrm>
                    <a:off x="5025" y="1650"/>
                    <a:ext cx="87" cy="93"/>
                  </a:xfrm>
                  <a:custGeom>
                    <a:avLst/>
                    <a:gdLst>
                      <a:gd name="T0" fmla="*/ 33 w 87"/>
                      <a:gd name="T1" fmla="*/ 0 h 93"/>
                      <a:gd name="T2" fmla="*/ 57 w 87"/>
                      <a:gd name="T3" fmla="*/ 24 h 93"/>
                      <a:gd name="T4" fmla="*/ 75 w 87"/>
                      <a:gd name="T5" fmla="*/ 45 h 93"/>
                      <a:gd name="T6" fmla="*/ 87 w 87"/>
                      <a:gd name="T7" fmla="*/ 63 h 93"/>
                      <a:gd name="T8" fmla="*/ 42 w 87"/>
                      <a:gd name="T9" fmla="*/ 93 h 93"/>
                      <a:gd name="T10" fmla="*/ 21 w 87"/>
                      <a:gd name="T11" fmla="*/ 72 h 93"/>
                      <a:gd name="T12" fmla="*/ 0 w 87"/>
                      <a:gd name="T13" fmla="*/ 51 h 93"/>
                      <a:gd name="T14" fmla="*/ 33 w 87"/>
                      <a:gd name="T15" fmla="*/ 0 h 93"/>
                      <a:gd name="T16" fmla="*/ 0 60000 65536"/>
                      <a:gd name="T17" fmla="*/ 0 60000 65536"/>
                      <a:gd name="T18" fmla="*/ 0 60000 65536"/>
                      <a:gd name="T19" fmla="*/ 0 60000 65536"/>
                      <a:gd name="T20" fmla="*/ 0 60000 65536"/>
                      <a:gd name="T21" fmla="*/ 0 60000 65536"/>
                      <a:gd name="T22" fmla="*/ 0 60000 65536"/>
                      <a:gd name="T23" fmla="*/ 0 60000 65536"/>
                      <a:gd name="T24" fmla="*/ 0 w 87"/>
                      <a:gd name="T25" fmla="*/ 0 h 93"/>
                      <a:gd name="T26" fmla="*/ 87 w 87"/>
                      <a:gd name="T27" fmla="*/ 93 h 9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7" h="93">
                        <a:moveTo>
                          <a:pt x="33" y="0"/>
                        </a:moveTo>
                        <a:lnTo>
                          <a:pt x="57" y="24"/>
                        </a:lnTo>
                        <a:lnTo>
                          <a:pt x="75" y="45"/>
                        </a:lnTo>
                        <a:lnTo>
                          <a:pt x="87" y="63"/>
                        </a:lnTo>
                        <a:lnTo>
                          <a:pt x="42" y="93"/>
                        </a:lnTo>
                        <a:lnTo>
                          <a:pt x="21" y="72"/>
                        </a:lnTo>
                        <a:lnTo>
                          <a:pt x="0" y="51"/>
                        </a:lnTo>
                        <a:lnTo>
                          <a:pt x="33" y="0"/>
                        </a:lnTo>
                        <a:close/>
                      </a:path>
                    </a:pathLst>
                  </a:custGeom>
                  <a:solidFill>
                    <a:srgbClr val="E9E6E5"/>
                  </a:solidFill>
                  <a:ln w="9525">
                    <a:solidFill>
                      <a:schemeClr val="tx1"/>
                    </a:solidFill>
                    <a:miter lim="800000"/>
                    <a:headEnd/>
                    <a:tailEnd/>
                  </a:ln>
                </p:spPr>
                <p:txBody>
                  <a:bodyPr wrap="none"/>
                  <a:lstStyle/>
                  <a:p>
                    <a:endParaRPr lang="zh-CN" altLang="en-US"/>
                  </a:p>
                </p:txBody>
              </p:sp>
            </p:grpSp>
            <p:sp>
              <p:nvSpPr>
                <p:cNvPr id="54" name="Freeform 33"/>
                <p:cNvSpPr>
                  <a:spLocks/>
                </p:cNvSpPr>
                <p:nvPr/>
              </p:nvSpPr>
              <p:spPr bwMode="auto">
                <a:xfrm>
                  <a:off x="4794" y="1959"/>
                  <a:ext cx="48" cy="152"/>
                </a:xfrm>
                <a:custGeom>
                  <a:avLst/>
                  <a:gdLst>
                    <a:gd name="T0" fmla="*/ 24 w 48"/>
                    <a:gd name="T1" fmla="*/ 345 h 129"/>
                    <a:gd name="T2" fmla="*/ 45 w 48"/>
                    <a:gd name="T3" fmla="*/ 345 h 129"/>
                    <a:gd name="T4" fmla="*/ 42 w 48"/>
                    <a:gd name="T5" fmla="*/ 209 h 129"/>
                    <a:gd name="T6" fmla="*/ 21 w 48"/>
                    <a:gd name="T7" fmla="*/ 73 h 129"/>
                    <a:gd name="T8" fmla="*/ 0 w 48"/>
                    <a:gd name="T9" fmla="*/ 0 h 129"/>
                    <a:gd name="T10" fmla="*/ 0 60000 65536"/>
                    <a:gd name="T11" fmla="*/ 0 60000 65536"/>
                    <a:gd name="T12" fmla="*/ 0 60000 65536"/>
                    <a:gd name="T13" fmla="*/ 0 60000 65536"/>
                    <a:gd name="T14" fmla="*/ 0 60000 65536"/>
                    <a:gd name="T15" fmla="*/ 0 w 48"/>
                    <a:gd name="T16" fmla="*/ 0 h 129"/>
                    <a:gd name="T17" fmla="*/ 48 w 48"/>
                    <a:gd name="T18" fmla="*/ 129 h 129"/>
                  </a:gdLst>
                  <a:ahLst/>
                  <a:cxnLst>
                    <a:cxn ang="T10">
                      <a:pos x="T0" y="T1"/>
                    </a:cxn>
                    <a:cxn ang="T11">
                      <a:pos x="T2" y="T3"/>
                    </a:cxn>
                    <a:cxn ang="T12">
                      <a:pos x="T4" y="T5"/>
                    </a:cxn>
                    <a:cxn ang="T13">
                      <a:pos x="T6" y="T7"/>
                    </a:cxn>
                    <a:cxn ang="T14">
                      <a:pos x="T8" y="T9"/>
                    </a:cxn>
                  </a:cxnLst>
                  <a:rect l="T15" t="T16" r="T17" b="T18"/>
                  <a:pathLst>
                    <a:path w="48" h="129">
                      <a:moveTo>
                        <a:pt x="24" y="129"/>
                      </a:moveTo>
                      <a:lnTo>
                        <a:pt x="45" y="129"/>
                      </a:lnTo>
                      <a:cubicBezTo>
                        <a:pt x="48" y="121"/>
                        <a:pt x="46" y="95"/>
                        <a:pt x="42" y="78"/>
                      </a:cubicBezTo>
                      <a:cubicBezTo>
                        <a:pt x="38" y="61"/>
                        <a:pt x="28" y="40"/>
                        <a:pt x="21" y="27"/>
                      </a:cubicBezTo>
                      <a:cubicBezTo>
                        <a:pt x="14" y="14"/>
                        <a:pt x="3" y="4"/>
                        <a:pt x="0" y="0"/>
                      </a:cubicBezTo>
                    </a:path>
                  </a:pathLst>
                </a:custGeom>
                <a:noFill/>
                <a:ln w="3175">
                  <a:solidFill>
                    <a:schemeClr val="tx1"/>
                  </a:solidFill>
                  <a:miter lim="800000"/>
                  <a:headEnd/>
                  <a:tailEnd type="triangle" w="sm" len="sm"/>
                </a:ln>
              </p:spPr>
              <p:txBody>
                <a:bodyPr wrap="none"/>
                <a:lstStyle/>
                <a:p>
                  <a:endParaRPr lang="zh-CN" altLang="en-US"/>
                </a:p>
              </p:txBody>
            </p:sp>
            <p:sp>
              <p:nvSpPr>
                <p:cNvPr id="55" name="Freeform 34"/>
                <p:cNvSpPr>
                  <a:spLocks/>
                </p:cNvSpPr>
                <p:nvPr/>
              </p:nvSpPr>
              <p:spPr bwMode="auto">
                <a:xfrm>
                  <a:off x="4671" y="1863"/>
                  <a:ext cx="99" cy="78"/>
                </a:xfrm>
                <a:custGeom>
                  <a:avLst/>
                  <a:gdLst>
                    <a:gd name="T0" fmla="*/ 0 w 99"/>
                    <a:gd name="T1" fmla="*/ 0 h 78"/>
                    <a:gd name="T2" fmla="*/ 30 w 99"/>
                    <a:gd name="T3" fmla="*/ 15 h 78"/>
                    <a:gd name="T4" fmla="*/ 57 w 99"/>
                    <a:gd name="T5" fmla="*/ 33 h 78"/>
                    <a:gd name="T6" fmla="*/ 75 w 99"/>
                    <a:gd name="T7" fmla="*/ 51 h 78"/>
                    <a:gd name="T8" fmla="*/ 99 w 99"/>
                    <a:gd name="T9" fmla="*/ 78 h 78"/>
                    <a:gd name="T10" fmla="*/ 0 60000 65536"/>
                    <a:gd name="T11" fmla="*/ 0 60000 65536"/>
                    <a:gd name="T12" fmla="*/ 0 60000 65536"/>
                    <a:gd name="T13" fmla="*/ 0 60000 65536"/>
                    <a:gd name="T14" fmla="*/ 0 60000 65536"/>
                    <a:gd name="T15" fmla="*/ 0 w 99"/>
                    <a:gd name="T16" fmla="*/ 0 h 78"/>
                    <a:gd name="T17" fmla="*/ 99 w 99"/>
                    <a:gd name="T18" fmla="*/ 78 h 78"/>
                  </a:gdLst>
                  <a:ahLst/>
                  <a:cxnLst>
                    <a:cxn ang="T10">
                      <a:pos x="T0" y="T1"/>
                    </a:cxn>
                    <a:cxn ang="T11">
                      <a:pos x="T2" y="T3"/>
                    </a:cxn>
                    <a:cxn ang="T12">
                      <a:pos x="T4" y="T5"/>
                    </a:cxn>
                    <a:cxn ang="T13">
                      <a:pos x="T6" y="T7"/>
                    </a:cxn>
                    <a:cxn ang="T14">
                      <a:pos x="T8" y="T9"/>
                    </a:cxn>
                  </a:cxnLst>
                  <a:rect l="T15" t="T16" r="T17" b="T18"/>
                  <a:pathLst>
                    <a:path w="99" h="78">
                      <a:moveTo>
                        <a:pt x="0" y="0"/>
                      </a:moveTo>
                      <a:lnTo>
                        <a:pt x="30" y="15"/>
                      </a:lnTo>
                      <a:lnTo>
                        <a:pt x="57" y="33"/>
                      </a:lnTo>
                      <a:lnTo>
                        <a:pt x="75" y="51"/>
                      </a:lnTo>
                      <a:lnTo>
                        <a:pt x="99" y="78"/>
                      </a:lnTo>
                    </a:path>
                  </a:pathLst>
                </a:custGeom>
                <a:noFill/>
                <a:ln w="9525">
                  <a:solidFill>
                    <a:schemeClr val="tx1"/>
                  </a:solidFill>
                  <a:miter lim="800000"/>
                  <a:headEnd/>
                  <a:tailEnd type="triangle" w="sm" len="sm"/>
                </a:ln>
              </p:spPr>
              <p:txBody>
                <a:bodyPr wrap="none"/>
                <a:lstStyle/>
                <a:p>
                  <a:endParaRPr lang="zh-CN" altLang="en-US"/>
                </a:p>
              </p:txBody>
            </p:sp>
            <p:sp>
              <p:nvSpPr>
                <p:cNvPr id="56" name="Text Box 35"/>
                <p:cNvSpPr txBox="1">
                  <a:spLocks noChangeArrowheads="1"/>
                </p:cNvSpPr>
                <p:nvPr/>
              </p:nvSpPr>
              <p:spPr bwMode="auto">
                <a:xfrm>
                  <a:off x="4832" y="1898"/>
                  <a:ext cx="195" cy="242"/>
                </a:xfrm>
                <a:prstGeom prst="rect">
                  <a:avLst/>
                </a:prstGeom>
                <a:noFill/>
                <a:ln w="9525">
                  <a:noFill/>
                  <a:miter lim="800000"/>
                  <a:headEnd/>
                  <a:tailEnd/>
                </a:ln>
              </p:spPr>
              <p:txBody>
                <a:bodyPr wrap="square" lIns="0" tIns="0" rIns="18000" bIns="10800">
                  <a:spAutoFit/>
                </a:bodyPr>
                <a:lstStyle/>
                <a:p>
                  <a:pPr algn="l"/>
                  <a:r>
                    <a:rPr lang="en-US" altLang="zh-CN" sz="1800" i="1" dirty="0">
                      <a:latin typeface="Times New Roman" panose="02020603050405020304" pitchFamily="18" charset="0"/>
                      <a:ea typeface="宋体" pitchFamily="2" charset="-122"/>
                      <a:cs typeface="Times New Roman" panose="02020603050405020304" pitchFamily="18" charset="0"/>
                      <a:sym typeface="Symbol" pitchFamily="18" charset="2"/>
                    </a:rPr>
                    <a:t></a:t>
                  </a:r>
                  <a:endParaRPr lang="en-US" altLang="zh-CN" sz="1800" i="1" dirty="0">
                    <a:latin typeface="Times New Roman" panose="02020603050405020304" pitchFamily="18" charset="0"/>
                    <a:ea typeface="宋体" pitchFamily="2" charset="-122"/>
                    <a:cs typeface="Times New Roman" panose="02020603050405020304" pitchFamily="18" charset="0"/>
                  </a:endParaRPr>
                </a:p>
              </p:txBody>
            </p:sp>
            <p:sp>
              <p:nvSpPr>
                <p:cNvPr id="57" name="Text Box 36"/>
                <p:cNvSpPr txBox="1">
                  <a:spLocks noChangeArrowheads="1"/>
                </p:cNvSpPr>
                <p:nvPr/>
              </p:nvSpPr>
              <p:spPr bwMode="auto">
                <a:xfrm>
                  <a:off x="4627" y="1696"/>
                  <a:ext cx="288" cy="242"/>
                </a:xfrm>
                <a:prstGeom prst="rect">
                  <a:avLst/>
                </a:prstGeom>
                <a:noFill/>
                <a:ln w="9525">
                  <a:noFill/>
                  <a:miter lim="800000"/>
                  <a:headEnd/>
                  <a:tailEnd/>
                </a:ln>
              </p:spPr>
              <p:txBody>
                <a:bodyPr lIns="0" tIns="0" rIns="18000" bIns="10800">
                  <a:spAutoFit/>
                </a:bodyPr>
                <a:lstStyle/>
                <a:p>
                  <a:pPr algn="l"/>
                  <a:r>
                    <a:rPr lang="en-US" altLang="zh-CN" sz="1800" dirty="0">
                      <a:latin typeface="Times New Roman" pitchFamily="18" charset="0"/>
                      <a:ea typeface="宋体" pitchFamily="2" charset="-122"/>
                      <a:sym typeface="Symbol" pitchFamily="18" charset="2"/>
                    </a:rPr>
                    <a:t>d</a:t>
                  </a:r>
                  <a:r>
                    <a:rPr lang="en-US" altLang="zh-CN" sz="1800" i="1" dirty="0">
                      <a:latin typeface="Tahoma" pitchFamily="34" charset="0"/>
                      <a:ea typeface="宋体" pitchFamily="2" charset="-122"/>
                      <a:sym typeface="Symbol" pitchFamily="18" charset="2"/>
                    </a:rPr>
                    <a:t></a:t>
                  </a:r>
                  <a:endParaRPr lang="en-US" altLang="zh-CN" sz="1800" i="1" dirty="0">
                    <a:latin typeface="Tahoma" pitchFamily="34" charset="0"/>
                    <a:ea typeface="宋体" pitchFamily="2" charset="-122"/>
                  </a:endParaRPr>
                </a:p>
              </p:txBody>
            </p:sp>
          </p:grpSp>
          <p:grpSp>
            <p:nvGrpSpPr>
              <p:cNvPr id="49" name="Group 7"/>
              <p:cNvGrpSpPr>
                <a:grpSpLocks/>
              </p:cNvGrpSpPr>
              <p:nvPr/>
            </p:nvGrpSpPr>
            <p:grpSpPr bwMode="auto">
              <a:xfrm>
                <a:off x="7272781" y="636379"/>
                <a:ext cx="1724031" cy="1681162"/>
                <a:chOff x="4510" y="905"/>
                <a:chExt cx="1086" cy="1412"/>
              </a:xfrm>
            </p:grpSpPr>
            <p:sp>
              <p:nvSpPr>
                <p:cNvPr id="50" name="Freeform 8"/>
                <p:cNvSpPr>
                  <a:spLocks/>
                </p:cNvSpPr>
                <p:nvPr/>
              </p:nvSpPr>
              <p:spPr bwMode="auto">
                <a:xfrm>
                  <a:off x="4644" y="1019"/>
                  <a:ext cx="952" cy="1078"/>
                </a:xfrm>
                <a:custGeom>
                  <a:avLst/>
                  <a:gdLst>
                    <a:gd name="T0" fmla="*/ 0 w 912"/>
                    <a:gd name="T1" fmla="*/ 0 h 768"/>
                    <a:gd name="T2" fmla="*/ 0 w 912"/>
                    <a:gd name="T3" fmla="*/ 768 h 768"/>
                    <a:gd name="T4" fmla="*/ 912 w 912"/>
                    <a:gd name="T5" fmla="*/ 768 h 768"/>
                    <a:gd name="T6" fmla="*/ 0 60000 65536"/>
                    <a:gd name="T7" fmla="*/ 0 60000 65536"/>
                    <a:gd name="T8" fmla="*/ 0 60000 65536"/>
                    <a:gd name="T9" fmla="*/ 0 w 912"/>
                    <a:gd name="T10" fmla="*/ 0 h 768"/>
                    <a:gd name="T11" fmla="*/ 912 w 912"/>
                    <a:gd name="T12" fmla="*/ 768 h 768"/>
                  </a:gdLst>
                  <a:ahLst/>
                  <a:cxnLst>
                    <a:cxn ang="T6">
                      <a:pos x="T0" y="T1"/>
                    </a:cxn>
                    <a:cxn ang="T7">
                      <a:pos x="T2" y="T3"/>
                    </a:cxn>
                    <a:cxn ang="T8">
                      <a:pos x="T4" y="T5"/>
                    </a:cxn>
                  </a:cxnLst>
                  <a:rect l="T9" t="T10" r="T11" b="T12"/>
                  <a:pathLst>
                    <a:path w="912" h="768">
                      <a:moveTo>
                        <a:pt x="0" y="0"/>
                      </a:moveTo>
                      <a:lnTo>
                        <a:pt x="0" y="768"/>
                      </a:lnTo>
                      <a:lnTo>
                        <a:pt x="912" y="768"/>
                      </a:lnTo>
                    </a:path>
                  </a:pathLst>
                </a:custGeom>
                <a:noFill/>
                <a:ln w="12700">
                  <a:solidFill>
                    <a:schemeClr val="tx1"/>
                  </a:solidFill>
                  <a:miter lim="800000"/>
                  <a:headEnd type="triangle" w="sm" len="lg"/>
                  <a:tailEnd type="triangle" w="sm" len="lg"/>
                </a:ln>
              </p:spPr>
              <p:txBody>
                <a:bodyPr wrap="none"/>
                <a:lstStyle/>
                <a:p>
                  <a:endParaRPr lang="zh-CN" altLang="en-US"/>
                </a:p>
              </p:txBody>
            </p:sp>
            <p:sp>
              <p:nvSpPr>
                <p:cNvPr id="51" name="Text Box 9"/>
                <p:cNvSpPr txBox="1">
                  <a:spLocks noChangeArrowheads="1"/>
                </p:cNvSpPr>
                <p:nvPr/>
              </p:nvSpPr>
              <p:spPr bwMode="auto">
                <a:xfrm>
                  <a:off x="5391" y="2058"/>
                  <a:ext cx="72" cy="259"/>
                </a:xfrm>
                <a:prstGeom prst="rect">
                  <a:avLst/>
                </a:prstGeom>
                <a:noFill/>
                <a:ln w="9525">
                  <a:noFill/>
                  <a:miter lim="800000"/>
                  <a:headEnd/>
                  <a:tailEnd/>
                </a:ln>
              </p:spPr>
              <p:txBody>
                <a:bodyPr wrap="none" lIns="0" tIns="0" rIns="0" bIns="0">
                  <a:spAutoFit/>
                </a:bodyPr>
                <a:lstStyle/>
                <a:p>
                  <a:pPr algn="l"/>
                  <a:r>
                    <a:rPr lang="en-US" altLang="zh-CN" sz="2000" i="1" dirty="0">
                      <a:latin typeface="Times New Roman" pitchFamily="18" charset="0"/>
                      <a:ea typeface="宋体" pitchFamily="2" charset="-122"/>
                    </a:rPr>
                    <a:t>x</a:t>
                  </a:r>
                </a:p>
              </p:txBody>
            </p:sp>
            <p:sp>
              <p:nvSpPr>
                <p:cNvPr id="52" name="Text Box 10"/>
                <p:cNvSpPr txBox="1">
                  <a:spLocks noChangeArrowheads="1"/>
                </p:cNvSpPr>
                <p:nvPr/>
              </p:nvSpPr>
              <p:spPr bwMode="auto">
                <a:xfrm>
                  <a:off x="4510" y="905"/>
                  <a:ext cx="124" cy="259"/>
                </a:xfrm>
                <a:prstGeom prst="rect">
                  <a:avLst/>
                </a:prstGeom>
                <a:noFill/>
                <a:ln w="9525">
                  <a:noFill/>
                  <a:miter lim="800000"/>
                  <a:headEnd/>
                  <a:tailEnd/>
                </a:ln>
              </p:spPr>
              <p:txBody>
                <a:bodyPr wrap="square" lIns="0" tIns="0" rIns="0" bIns="0">
                  <a:spAutoFit/>
                </a:bodyPr>
                <a:lstStyle/>
                <a:p>
                  <a:pPr algn="l"/>
                  <a:r>
                    <a:rPr lang="en-US" altLang="zh-CN" sz="2000" i="1" dirty="0">
                      <a:latin typeface="Times New Roman" pitchFamily="18" charset="0"/>
                      <a:ea typeface="宋体" pitchFamily="2" charset="-122"/>
                    </a:rPr>
                    <a:t>y</a:t>
                  </a:r>
                </a:p>
              </p:txBody>
            </p:sp>
          </p:grpSp>
        </p:grpSp>
      </p:grpSp>
      <p:graphicFrame>
        <p:nvGraphicFramePr>
          <p:cNvPr id="61" name="Object 15"/>
          <p:cNvGraphicFramePr>
            <a:graphicFrameLocks noChangeAspect="1"/>
          </p:cNvGraphicFramePr>
          <p:nvPr>
            <p:extLst>
              <p:ext uri="{D42A27DB-BD31-4B8C-83A1-F6EECF244321}">
                <p14:modId xmlns:p14="http://schemas.microsoft.com/office/powerpoint/2010/main" val="863933037"/>
              </p:ext>
            </p:extLst>
          </p:nvPr>
        </p:nvGraphicFramePr>
        <p:xfrm>
          <a:off x="3682313" y="2688332"/>
          <a:ext cx="1047750" cy="492125"/>
        </p:xfrm>
        <a:graphic>
          <a:graphicData uri="http://schemas.openxmlformats.org/presentationml/2006/ole">
            <mc:AlternateContent xmlns:mc="http://schemas.openxmlformats.org/markup-compatibility/2006">
              <mc:Choice xmlns:v="urn:schemas-microsoft-com:vml" Requires="v">
                <p:oleObj name="Equation" r:id="rId3" imgW="507960" imgH="241200" progId="Equation.DSMT4">
                  <p:embed/>
                </p:oleObj>
              </mc:Choice>
              <mc:Fallback>
                <p:oleObj name="Equation" r:id="rId3" imgW="507960" imgH="241200" progId="Equation.DSMT4">
                  <p:embed/>
                  <p:pic>
                    <p:nvPicPr>
                      <p:cNvPr id="0" name=""/>
                      <p:cNvPicPr>
                        <a:picLocks noChangeAspect="1" noChangeArrowheads="1"/>
                      </p:cNvPicPr>
                      <p:nvPr/>
                    </p:nvPicPr>
                    <p:blipFill>
                      <a:blip r:embed="rId4"/>
                      <a:srcRect/>
                      <a:stretch>
                        <a:fillRect/>
                      </a:stretch>
                    </p:blipFill>
                    <p:spPr bwMode="auto">
                      <a:xfrm>
                        <a:off x="3682313" y="2688332"/>
                        <a:ext cx="1047750" cy="492125"/>
                      </a:xfrm>
                      <a:prstGeom prst="rect">
                        <a:avLst/>
                      </a:prstGeom>
                      <a:noFill/>
                    </p:spPr>
                  </p:pic>
                </p:oleObj>
              </mc:Fallback>
            </mc:AlternateContent>
          </a:graphicData>
        </a:graphic>
      </p:graphicFrame>
      <p:graphicFrame>
        <p:nvGraphicFramePr>
          <p:cNvPr id="62" name="Object 15"/>
          <p:cNvGraphicFramePr>
            <a:graphicFrameLocks noChangeAspect="1"/>
          </p:cNvGraphicFramePr>
          <p:nvPr>
            <p:extLst>
              <p:ext uri="{D42A27DB-BD31-4B8C-83A1-F6EECF244321}">
                <p14:modId xmlns:p14="http://schemas.microsoft.com/office/powerpoint/2010/main" val="3652122395"/>
              </p:ext>
            </p:extLst>
          </p:nvPr>
        </p:nvGraphicFramePr>
        <p:xfrm>
          <a:off x="3281363" y="3183119"/>
          <a:ext cx="2418875" cy="727244"/>
        </p:xfrm>
        <a:graphic>
          <a:graphicData uri="http://schemas.openxmlformats.org/presentationml/2006/ole">
            <mc:AlternateContent xmlns:mc="http://schemas.openxmlformats.org/markup-compatibility/2006">
              <mc:Choice xmlns:v="urn:schemas-microsoft-com:vml" Requires="v">
                <p:oleObj name="Equation" r:id="rId5" imgW="1295280" imgH="393480" progId="Equation.DSMT4">
                  <p:embed/>
                </p:oleObj>
              </mc:Choice>
              <mc:Fallback>
                <p:oleObj name="Equation" r:id="rId5" imgW="1295280" imgH="393480" progId="Equation.DSMT4">
                  <p:embed/>
                  <p:pic>
                    <p:nvPicPr>
                      <p:cNvPr id="0" name=""/>
                      <p:cNvPicPr>
                        <a:picLocks noChangeAspect="1" noChangeArrowheads="1"/>
                      </p:cNvPicPr>
                      <p:nvPr/>
                    </p:nvPicPr>
                    <p:blipFill>
                      <a:blip r:embed="rId6"/>
                      <a:srcRect/>
                      <a:stretch>
                        <a:fillRect/>
                      </a:stretch>
                    </p:blipFill>
                    <p:spPr bwMode="auto">
                      <a:xfrm>
                        <a:off x="3281363" y="3183119"/>
                        <a:ext cx="2418875" cy="727244"/>
                      </a:xfrm>
                      <a:prstGeom prst="rect">
                        <a:avLst/>
                      </a:prstGeom>
                      <a:noFill/>
                    </p:spPr>
                  </p:pic>
                </p:oleObj>
              </mc:Fallback>
            </mc:AlternateContent>
          </a:graphicData>
        </a:graphic>
      </p:graphicFrame>
      <p:graphicFrame>
        <p:nvGraphicFramePr>
          <p:cNvPr id="63" name="Object 15"/>
          <p:cNvGraphicFramePr>
            <a:graphicFrameLocks noChangeAspect="1"/>
          </p:cNvGraphicFramePr>
          <p:nvPr>
            <p:extLst>
              <p:ext uri="{D42A27DB-BD31-4B8C-83A1-F6EECF244321}">
                <p14:modId xmlns:p14="http://schemas.microsoft.com/office/powerpoint/2010/main" val="3437465703"/>
              </p:ext>
            </p:extLst>
          </p:nvPr>
        </p:nvGraphicFramePr>
        <p:xfrm>
          <a:off x="3894517" y="3721194"/>
          <a:ext cx="1358753" cy="731414"/>
        </p:xfrm>
        <a:graphic>
          <a:graphicData uri="http://schemas.openxmlformats.org/presentationml/2006/ole">
            <mc:AlternateContent xmlns:mc="http://schemas.openxmlformats.org/markup-compatibility/2006">
              <mc:Choice xmlns:v="urn:schemas-microsoft-com:vml" Requires="v">
                <p:oleObj name="Equation" r:id="rId7" imgW="723600" imgH="393480" progId="Equation.DSMT4">
                  <p:embed/>
                </p:oleObj>
              </mc:Choice>
              <mc:Fallback>
                <p:oleObj name="Equation" r:id="rId7" imgW="723600" imgH="393480" progId="Equation.DSMT4">
                  <p:embed/>
                  <p:pic>
                    <p:nvPicPr>
                      <p:cNvPr id="0" name=""/>
                      <p:cNvPicPr>
                        <a:picLocks noChangeAspect="1" noChangeArrowheads="1"/>
                      </p:cNvPicPr>
                      <p:nvPr/>
                    </p:nvPicPr>
                    <p:blipFill>
                      <a:blip r:embed="rId8"/>
                      <a:srcRect/>
                      <a:stretch>
                        <a:fillRect/>
                      </a:stretch>
                    </p:blipFill>
                    <p:spPr bwMode="auto">
                      <a:xfrm>
                        <a:off x="3894517" y="3721194"/>
                        <a:ext cx="1358753" cy="731414"/>
                      </a:xfrm>
                      <a:prstGeom prst="rect">
                        <a:avLst/>
                      </a:prstGeom>
                      <a:noFill/>
                    </p:spPr>
                  </p:pic>
                </p:oleObj>
              </mc:Fallback>
            </mc:AlternateContent>
          </a:graphicData>
        </a:graphic>
      </p:graphicFrame>
      <p:sp>
        <p:nvSpPr>
          <p:cNvPr id="65" name="Text Box 2"/>
          <p:cNvSpPr txBox="1">
            <a:spLocks noChangeArrowheads="1"/>
          </p:cNvSpPr>
          <p:nvPr/>
        </p:nvSpPr>
        <p:spPr bwMode="auto">
          <a:xfrm>
            <a:off x="2739878" y="4901751"/>
            <a:ext cx="147348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dirty="0">
                <a:solidFill>
                  <a:srgbClr val="0000FF"/>
                </a:solidFill>
                <a:latin typeface="+mn-lt"/>
                <a:ea typeface="楷体" panose="02010609060101010101" pitchFamily="49" charset="-122"/>
              </a:rPr>
              <a:t>2. </a:t>
            </a:r>
            <a:r>
              <a:rPr lang="zh-CN" altLang="en-US" sz="2000" b="1" dirty="0">
                <a:solidFill>
                  <a:srgbClr val="0000FF"/>
                </a:solidFill>
                <a:latin typeface="+mn-lt"/>
                <a:ea typeface="楷体" panose="02010609060101010101" pitchFamily="49" charset="-122"/>
              </a:rPr>
              <a:t>几何方程</a:t>
            </a:r>
          </a:p>
        </p:txBody>
      </p:sp>
      <p:sp>
        <p:nvSpPr>
          <p:cNvPr id="66" name="矩形 65"/>
          <p:cNvSpPr/>
          <p:nvPr/>
        </p:nvSpPr>
        <p:spPr>
          <a:xfrm>
            <a:off x="4364581" y="4837305"/>
            <a:ext cx="1617955" cy="461665"/>
          </a:xfrm>
          <a:prstGeom prst="rect">
            <a:avLst/>
          </a:prstGeom>
        </p:spPr>
        <p:txBody>
          <a:bodyPr wrap="square">
            <a:spAutoFit/>
          </a:bodyPr>
          <a:lstStyle/>
          <a:p>
            <a:r>
              <a:rPr lang="el-GR" altLang="zh-CN" dirty="0">
                <a:solidFill>
                  <a:srgbClr val="080808"/>
                </a:solidFill>
                <a:ea typeface="楷体" panose="02010609060101010101" pitchFamily="49" charset="-122"/>
              </a:rPr>
              <a:t>Δ</a:t>
            </a:r>
            <a:r>
              <a:rPr lang="en-US" altLang="zh-CN" i="1" dirty="0">
                <a:solidFill>
                  <a:srgbClr val="080808"/>
                </a:solidFill>
                <a:ea typeface="楷体" panose="02010609060101010101" pitchFamily="49" charset="-122"/>
              </a:rPr>
              <a:t>d </a:t>
            </a:r>
            <a:r>
              <a:rPr lang="en-US" altLang="zh-CN" b="1" dirty="0">
                <a:solidFill>
                  <a:srgbClr val="080808"/>
                </a:solidFill>
                <a:ea typeface="楷体" panose="02010609060101010101" pitchFamily="49" charset="-122"/>
              </a:rPr>
              <a:t>=</a:t>
            </a:r>
            <a:r>
              <a:rPr lang="en-US" altLang="zh-CN" i="1" dirty="0">
                <a:solidFill>
                  <a:srgbClr val="080808"/>
                </a:solidFill>
                <a:ea typeface="楷体" panose="02010609060101010101" pitchFamily="49" charset="-122"/>
              </a:rPr>
              <a:t>d</a:t>
            </a:r>
            <a:r>
              <a:rPr lang="en-US" altLang="zh-CN" b="1" baseline="-25000" dirty="0">
                <a:solidFill>
                  <a:srgbClr val="080808"/>
                </a:solidFill>
                <a:ea typeface="楷体" panose="02010609060101010101" pitchFamily="49" charset="-122"/>
              </a:rPr>
              <a:t>1  </a:t>
            </a:r>
            <a:r>
              <a:rPr lang="en-US" altLang="zh-CN" b="1" dirty="0">
                <a:solidFill>
                  <a:srgbClr val="080808"/>
                </a:solidFill>
                <a:ea typeface="楷体" panose="02010609060101010101" pitchFamily="49" charset="-122"/>
              </a:rPr>
              <a:t>̶ </a:t>
            </a:r>
            <a:r>
              <a:rPr lang="en-US" altLang="zh-CN" i="1" dirty="0">
                <a:solidFill>
                  <a:srgbClr val="080808"/>
                </a:solidFill>
                <a:ea typeface="楷体" panose="02010609060101010101" pitchFamily="49" charset="-122"/>
              </a:rPr>
              <a:t>d</a:t>
            </a:r>
            <a:r>
              <a:rPr lang="en-US" altLang="zh-CN" b="1" baseline="-25000" dirty="0">
                <a:solidFill>
                  <a:srgbClr val="080808"/>
                </a:solidFill>
                <a:ea typeface="楷体" panose="02010609060101010101" pitchFamily="49" charset="-122"/>
              </a:rPr>
              <a:t>2</a:t>
            </a:r>
            <a:endParaRPr lang="zh-CN" altLang="en-US" dirty="0"/>
          </a:p>
        </p:txBody>
      </p:sp>
      <p:graphicFrame>
        <p:nvGraphicFramePr>
          <p:cNvPr id="67" name="Object 15"/>
          <p:cNvGraphicFramePr>
            <a:graphicFrameLocks noChangeAspect="1"/>
          </p:cNvGraphicFramePr>
          <p:nvPr>
            <p:extLst>
              <p:ext uri="{D42A27DB-BD31-4B8C-83A1-F6EECF244321}">
                <p14:modId xmlns:p14="http://schemas.microsoft.com/office/powerpoint/2010/main" val="2499234272"/>
              </p:ext>
            </p:extLst>
          </p:nvPr>
        </p:nvGraphicFramePr>
        <p:xfrm>
          <a:off x="5983288" y="4710113"/>
          <a:ext cx="835025" cy="803275"/>
        </p:xfrm>
        <a:graphic>
          <a:graphicData uri="http://schemas.openxmlformats.org/presentationml/2006/ole">
            <mc:AlternateContent xmlns:mc="http://schemas.openxmlformats.org/markup-compatibility/2006">
              <mc:Choice xmlns:v="urn:schemas-microsoft-com:vml" Requires="v">
                <p:oleObj name="Equation" r:id="rId9" imgW="444240" imgH="431640" progId="Equation.DSMT4">
                  <p:embed/>
                </p:oleObj>
              </mc:Choice>
              <mc:Fallback>
                <p:oleObj name="Equation" r:id="rId9" imgW="444240" imgH="431640" progId="Equation.DSMT4">
                  <p:embed/>
                  <p:pic>
                    <p:nvPicPr>
                      <p:cNvPr id="0" name=""/>
                      <p:cNvPicPr>
                        <a:picLocks noChangeAspect="1" noChangeArrowheads="1"/>
                      </p:cNvPicPr>
                      <p:nvPr/>
                    </p:nvPicPr>
                    <p:blipFill>
                      <a:blip r:embed="rId10"/>
                      <a:srcRect/>
                      <a:stretch>
                        <a:fillRect/>
                      </a:stretch>
                    </p:blipFill>
                    <p:spPr bwMode="auto">
                      <a:xfrm>
                        <a:off x="5983288" y="4710113"/>
                        <a:ext cx="835025" cy="803275"/>
                      </a:xfrm>
                      <a:prstGeom prst="rect">
                        <a:avLst/>
                      </a:prstGeom>
                      <a:noFill/>
                    </p:spPr>
                  </p:pic>
                </p:oleObj>
              </mc:Fallback>
            </mc:AlternateContent>
          </a:graphicData>
        </a:graphic>
      </p:graphicFrame>
      <p:sp>
        <p:nvSpPr>
          <p:cNvPr id="68" name="Text Box 6"/>
          <p:cNvSpPr txBox="1">
            <a:spLocks noChangeArrowheads="1"/>
          </p:cNvSpPr>
          <p:nvPr/>
        </p:nvSpPr>
        <p:spPr bwMode="auto">
          <a:xfrm>
            <a:off x="631104" y="5359230"/>
            <a:ext cx="160653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dirty="0">
                <a:solidFill>
                  <a:srgbClr val="0000FF"/>
                </a:solidFill>
                <a:latin typeface="楷体" panose="02010609060101010101" pitchFamily="49" charset="-122"/>
                <a:ea typeface="楷体" panose="02010609060101010101" pitchFamily="49" charset="-122"/>
              </a:rPr>
              <a:t>3. </a:t>
            </a:r>
            <a:r>
              <a:rPr lang="zh-CN" altLang="en-US" sz="2000" b="1" dirty="0">
                <a:solidFill>
                  <a:srgbClr val="0000FF"/>
                </a:solidFill>
                <a:latin typeface="楷体" panose="02010609060101010101" pitchFamily="49" charset="-122"/>
                <a:ea typeface="楷体" panose="02010609060101010101" pitchFamily="49" charset="-122"/>
              </a:rPr>
              <a:t>物理方程</a:t>
            </a:r>
            <a:endParaRPr lang="zh-CN" altLang="en-US" sz="2000" dirty="0">
              <a:solidFill>
                <a:srgbClr val="0000FF"/>
              </a:solidFill>
            </a:endParaRPr>
          </a:p>
        </p:txBody>
      </p:sp>
      <p:graphicFrame>
        <p:nvGraphicFramePr>
          <p:cNvPr id="69" name="Object 15"/>
          <p:cNvGraphicFramePr>
            <a:graphicFrameLocks noChangeAspect="1"/>
          </p:cNvGraphicFramePr>
          <p:nvPr>
            <p:extLst>
              <p:ext uri="{D42A27DB-BD31-4B8C-83A1-F6EECF244321}">
                <p14:modId xmlns:p14="http://schemas.microsoft.com/office/powerpoint/2010/main" val="2974176332"/>
              </p:ext>
            </p:extLst>
          </p:nvPr>
        </p:nvGraphicFramePr>
        <p:xfrm>
          <a:off x="771995" y="5696305"/>
          <a:ext cx="1574800" cy="733425"/>
        </p:xfrm>
        <a:graphic>
          <a:graphicData uri="http://schemas.openxmlformats.org/presentationml/2006/ole">
            <mc:AlternateContent xmlns:mc="http://schemas.openxmlformats.org/markup-compatibility/2006">
              <mc:Choice xmlns:v="urn:schemas-microsoft-com:vml" Requires="v">
                <p:oleObj name="Equation" r:id="rId11" imgW="838080" imgH="393480" progId="Equation.DSMT4">
                  <p:embed/>
                </p:oleObj>
              </mc:Choice>
              <mc:Fallback>
                <p:oleObj name="Equation" r:id="rId11" imgW="838080" imgH="393480" progId="Equation.DSMT4">
                  <p:embed/>
                  <p:pic>
                    <p:nvPicPr>
                      <p:cNvPr id="0" name=""/>
                      <p:cNvPicPr>
                        <a:picLocks noChangeAspect="1" noChangeArrowheads="1"/>
                      </p:cNvPicPr>
                      <p:nvPr/>
                    </p:nvPicPr>
                    <p:blipFill>
                      <a:blip r:embed="rId12"/>
                      <a:srcRect/>
                      <a:stretch>
                        <a:fillRect/>
                      </a:stretch>
                    </p:blipFill>
                    <p:spPr bwMode="auto">
                      <a:xfrm>
                        <a:off x="771995" y="5696305"/>
                        <a:ext cx="1574800" cy="733425"/>
                      </a:xfrm>
                      <a:prstGeom prst="rect">
                        <a:avLst/>
                      </a:prstGeom>
                      <a:noFill/>
                    </p:spPr>
                  </p:pic>
                </p:oleObj>
              </mc:Fallback>
            </mc:AlternateContent>
          </a:graphicData>
        </a:graphic>
      </p:graphicFrame>
      <p:graphicFrame>
        <p:nvGraphicFramePr>
          <p:cNvPr id="70" name="Object 15"/>
          <p:cNvGraphicFramePr>
            <a:graphicFrameLocks noChangeAspect="1"/>
          </p:cNvGraphicFramePr>
          <p:nvPr>
            <p:extLst>
              <p:ext uri="{D42A27DB-BD31-4B8C-83A1-F6EECF244321}">
                <p14:modId xmlns:p14="http://schemas.microsoft.com/office/powerpoint/2010/main" val="618951687"/>
              </p:ext>
            </p:extLst>
          </p:nvPr>
        </p:nvGraphicFramePr>
        <p:xfrm>
          <a:off x="2990163" y="5608024"/>
          <a:ext cx="1384300" cy="803275"/>
        </p:xfrm>
        <a:graphic>
          <a:graphicData uri="http://schemas.openxmlformats.org/presentationml/2006/ole">
            <mc:AlternateContent xmlns:mc="http://schemas.openxmlformats.org/markup-compatibility/2006">
              <mc:Choice xmlns:v="urn:schemas-microsoft-com:vml" Requires="v">
                <p:oleObj name="Equation" r:id="rId13" imgW="736560" imgH="431640" progId="Equation.DSMT4">
                  <p:embed/>
                </p:oleObj>
              </mc:Choice>
              <mc:Fallback>
                <p:oleObj name="Equation" r:id="rId13" imgW="736560" imgH="431640" progId="Equation.DSMT4">
                  <p:embed/>
                  <p:pic>
                    <p:nvPicPr>
                      <p:cNvPr id="0" name=""/>
                      <p:cNvPicPr>
                        <a:picLocks noChangeAspect="1" noChangeArrowheads="1"/>
                      </p:cNvPicPr>
                      <p:nvPr/>
                    </p:nvPicPr>
                    <p:blipFill>
                      <a:blip r:embed="rId14"/>
                      <a:srcRect/>
                      <a:stretch>
                        <a:fillRect/>
                      </a:stretch>
                    </p:blipFill>
                    <p:spPr bwMode="auto">
                      <a:xfrm>
                        <a:off x="2990163" y="5608024"/>
                        <a:ext cx="1384300" cy="803275"/>
                      </a:xfrm>
                      <a:prstGeom prst="rect">
                        <a:avLst/>
                      </a:prstGeom>
                      <a:noFill/>
                    </p:spPr>
                  </p:pic>
                </p:oleObj>
              </mc:Fallback>
            </mc:AlternateContent>
          </a:graphicData>
        </a:graphic>
      </p:graphicFrame>
      <p:graphicFrame>
        <p:nvGraphicFramePr>
          <p:cNvPr id="71" name="Object 15"/>
          <p:cNvGraphicFramePr>
            <a:graphicFrameLocks noChangeAspect="1"/>
          </p:cNvGraphicFramePr>
          <p:nvPr>
            <p:extLst>
              <p:ext uri="{D42A27DB-BD31-4B8C-83A1-F6EECF244321}">
                <p14:modId xmlns:p14="http://schemas.microsoft.com/office/powerpoint/2010/main" val="3378873233"/>
              </p:ext>
            </p:extLst>
          </p:nvPr>
        </p:nvGraphicFramePr>
        <p:xfrm>
          <a:off x="4936676" y="5580497"/>
          <a:ext cx="1073150" cy="779462"/>
        </p:xfrm>
        <a:graphic>
          <a:graphicData uri="http://schemas.openxmlformats.org/presentationml/2006/ole">
            <mc:AlternateContent xmlns:mc="http://schemas.openxmlformats.org/markup-compatibility/2006">
              <mc:Choice xmlns:v="urn:schemas-microsoft-com:vml" Requires="v">
                <p:oleObj name="Equation" r:id="rId15" imgW="571320" imgH="419040" progId="Equation.DSMT4">
                  <p:embed/>
                </p:oleObj>
              </mc:Choice>
              <mc:Fallback>
                <p:oleObj name="Equation" r:id="rId15" imgW="571320" imgH="419040" progId="Equation.DSMT4">
                  <p:embed/>
                  <p:pic>
                    <p:nvPicPr>
                      <p:cNvPr id="0" name=""/>
                      <p:cNvPicPr>
                        <a:picLocks noChangeAspect="1" noChangeArrowheads="1"/>
                      </p:cNvPicPr>
                      <p:nvPr/>
                    </p:nvPicPr>
                    <p:blipFill>
                      <a:blip r:embed="rId16"/>
                      <a:srcRect/>
                      <a:stretch>
                        <a:fillRect/>
                      </a:stretch>
                    </p:blipFill>
                    <p:spPr bwMode="auto">
                      <a:xfrm>
                        <a:off x="4936676" y="5580497"/>
                        <a:ext cx="1073150" cy="779462"/>
                      </a:xfrm>
                      <a:prstGeom prst="rect">
                        <a:avLst/>
                      </a:prstGeom>
                      <a:noFill/>
                    </p:spPr>
                  </p:pic>
                </p:oleObj>
              </mc:Fallback>
            </mc:AlternateContent>
          </a:graphicData>
        </a:graphic>
      </p:graphicFrame>
      <p:sp>
        <p:nvSpPr>
          <p:cNvPr id="72" name="Text Box 2"/>
          <p:cNvSpPr txBox="1">
            <a:spLocks noChangeArrowheads="1"/>
          </p:cNvSpPr>
          <p:nvPr/>
        </p:nvSpPr>
        <p:spPr bwMode="auto">
          <a:xfrm>
            <a:off x="6657782" y="5739395"/>
            <a:ext cx="14221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dirty="0">
                <a:solidFill>
                  <a:srgbClr val="FF0000"/>
                </a:solidFill>
                <a:latin typeface="+mn-lt"/>
                <a:ea typeface="楷体" panose="02010609060101010101" pitchFamily="49" charset="-122"/>
              </a:rPr>
              <a:t>热套问题</a:t>
            </a:r>
          </a:p>
        </p:txBody>
      </p:sp>
    </p:spTree>
    <p:extLst>
      <p:ext uri="{BB962C8B-B14F-4D97-AF65-F5344CB8AC3E}">
        <p14:creationId xmlns:p14="http://schemas.microsoft.com/office/powerpoint/2010/main" val="711649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down)">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4"/>
                                        </p:tgtEl>
                                        <p:attrNameLst>
                                          <p:attrName>style.visibility</p:attrName>
                                        </p:attrNameLst>
                                      </p:cBhvr>
                                      <p:to>
                                        <p:strVal val="visible"/>
                                      </p:to>
                                    </p:set>
                                    <p:animEffect transition="in" filter="fade">
                                      <p:cBhvr>
                                        <p:cTn id="17" dur="500"/>
                                        <p:tgtEl>
                                          <p:spTgt spid="64"/>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61"/>
                                        </p:tgtEl>
                                        <p:attrNameLst>
                                          <p:attrName>style.visibility</p:attrName>
                                        </p:attrNameLst>
                                      </p:cBhvr>
                                      <p:to>
                                        <p:strVal val="visible"/>
                                      </p:to>
                                    </p:set>
                                    <p:animEffect transition="in" filter="box(out)">
                                      <p:cBhvr>
                                        <p:cTn id="22" dur="500"/>
                                        <p:tgtEl>
                                          <p:spTgt spid="61"/>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62"/>
                                        </p:tgtEl>
                                        <p:attrNameLst>
                                          <p:attrName>style.visibility</p:attrName>
                                        </p:attrNameLst>
                                      </p:cBhvr>
                                      <p:to>
                                        <p:strVal val="visible"/>
                                      </p:to>
                                    </p:set>
                                    <p:animEffect transition="in" filter="box(out)">
                                      <p:cBhvr>
                                        <p:cTn id="27" dur="500"/>
                                        <p:tgtEl>
                                          <p:spTgt spid="62"/>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63"/>
                                        </p:tgtEl>
                                        <p:attrNameLst>
                                          <p:attrName>style.visibility</p:attrName>
                                        </p:attrNameLst>
                                      </p:cBhvr>
                                      <p:to>
                                        <p:strVal val="visible"/>
                                      </p:to>
                                    </p:set>
                                    <p:animEffect transition="in" filter="box(out)">
                                      <p:cBhvr>
                                        <p:cTn id="32" dur="500"/>
                                        <p:tgtEl>
                                          <p:spTgt spid="6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wipe(left)">
                                      <p:cBhvr>
                                        <p:cTn id="37" dur="500"/>
                                        <p:tgtEl>
                                          <p:spTgt spid="32"/>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42" fill="hold" grpId="0" nodeType="clickEffect">
                                  <p:stCondLst>
                                    <p:cond delay="0"/>
                                  </p:stCondLst>
                                  <p:childTnLst>
                                    <p:set>
                                      <p:cBhvr>
                                        <p:cTn id="41" dur="1" fill="hold">
                                          <p:stCondLst>
                                            <p:cond delay="0"/>
                                          </p:stCondLst>
                                        </p:cTn>
                                        <p:tgtEl>
                                          <p:spTgt spid="65"/>
                                        </p:tgtEl>
                                        <p:attrNameLst>
                                          <p:attrName>style.visibility</p:attrName>
                                        </p:attrNameLst>
                                      </p:cBhvr>
                                      <p:to>
                                        <p:strVal val="visible"/>
                                      </p:to>
                                    </p:set>
                                    <p:animEffect transition="in" filter="barn(outHorizontal)">
                                      <p:cBhvr>
                                        <p:cTn id="42" dur="500"/>
                                        <p:tgtEl>
                                          <p:spTgt spid="6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6"/>
                                        </p:tgtEl>
                                        <p:attrNameLst>
                                          <p:attrName>style.visibility</p:attrName>
                                        </p:attrNameLst>
                                      </p:cBhvr>
                                      <p:to>
                                        <p:strVal val="visible"/>
                                      </p:to>
                                    </p:set>
                                    <p:animEffect transition="in" filter="wipe(left)">
                                      <p:cBhvr>
                                        <p:cTn id="47" dur="500"/>
                                        <p:tgtEl>
                                          <p:spTgt spid="66"/>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32" fill="hold" nodeType="clickEffect">
                                  <p:stCondLst>
                                    <p:cond delay="0"/>
                                  </p:stCondLst>
                                  <p:childTnLst>
                                    <p:set>
                                      <p:cBhvr>
                                        <p:cTn id="51" dur="1" fill="hold">
                                          <p:stCondLst>
                                            <p:cond delay="0"/>
                                          </p:stCondLst>
                                        </p:cTn>
                                        <p:tgtEl>
                                          <p:spTgt spid="67"/>
                                        </p:tgtEl>
                                        <p:attrNameLst>
                                          <p:attrName>style.visibility</p:attrName>
                                        </p:attrNameLst>
                                      </p:cBhvr>
                                      <p:to>
                                        <p:strVal val="visible"/>
                                      </p:to>
                                    </p:set>
                                    <p:animEffect transition="in" filter="box(out)">
                                      <p:cBhvr>
                                        <p:cTn id="52" dur="500"/>
                                        <p:tgtEl>
                                          <p:spTgt spid="67"/>
                                        </p:tgtEl>
                                      </p:cBhvr>
                                    </p:animEffect>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grpId="0" nodeType="clickEffect">
                                  <p:stCondLst>
                                    <p:cond delay="0"/>
                                  </p:stCondLst>
                                  <p:childTnLst>
                                    <p:set>
                                      <p:cBhvr>
                                        <p:cTn id="56" dur="1" fill="hold">
                                          <p:stCondLst>
                                            <p:cond delay="0"/>
                                          </p:stCondLst>
                                        </p:cTn>
                                        <p:tgtEl>
                                          <p:spTgt spid="68"/>
                                        </p:tgtEl>
                                        <p:attrNameLst>
                                          <p:attrName>style.visibility</p:attrName>
                                        </p:attrNameLst>
                                      </p:cBhvr>
                                      <p:to>
                                        <p:strVal val="visible"/>
                                      </p:to>
                                    </p:set>
                                    <p:animEffect transition="in" filter="fade">
                                      <p:cBhvr>
                                        <p:cTn id="57" dur="750"/>
                                        <p:tgtEl>
                                          <p:spTgt spid="68"/>
                                        </p:tgtEl>
                                      </p:cBhvr>
                                    </p:animEffect>
                                    <p:anim calcmode="lin" valueType="num">
                                      <p:cBhvr>
                                        <p:cTn id="58" dur="750" fill="hold"/>
                                        <p:tgtEl>
                                          <p:spTgt spid="68"/>
                                        </p:tgtEl>
                                        <p:attrNameLst>
                                          <p:attrName>ppt_x</p:attrName>
                                        </p:attrNameLst>
                                      </p:cBhvr>
                                      <p:tavLst>
                                        <p:tav tm="0">
                                          <p:val>
                                            <p:strVal val="#ppt_x"/>
                                          </p:val>
                                        </p:tav>
                                        <p:tav tm="100000">
                                          <p:val>
                                            <p:strVal val="#ppt_x"/>
                                          </p:val>
                                        </p:tav>
                                      </p:tavLst>
                                    </p:anim>
                                    <p:anim calcmode="lin" valueType="num">
                                      <p:cBhvr>
                                        <p:cTn id="59" dur="750" fill="hold"/>
                                        <p:tgtEl>
                                          <p:spTgt spid="68"/>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 presetClass="entr" presetSubtype="32" fill="hold" nodeType="clickEffect">
                                  <p:stCondLst>
                                    <p:cond delay="0"/>
                                  </p:stCondLst>
                                  <p:childTnLst>
                                    <p:set>
                                      <p:cBhvr>
                                        <p:cTn id="63" dur="1" fill="hold">
                                          <p:stCondLst>
                                            <p:cond delay="0"/>
                                          </p:stCondLst>
                                        </p:cTn>
                                        <p:tgtEl>
                                          <p:spTgt spid="69"/>
                                        </p:tgtEl>
                                        <p:attrNameLst>
                                          <p:attrName>style.visibility</p:attrName>
                                        </p:attrNameLst>
                                      </p:cBhvr>
                                      <p:to>
                                        <p:strVal val="visible"/>
                                      </p:to>
                                    </p:set>
                                    <p:animEffect transition="in" filter="box(out)">
                                      <p:cBhvr>
                                        <p:cTn id="64" dur="500"/>
                                        <p:tgtEl>
                                          <p:spTgt spid="69"/>
                                        </p:tgtEl>
                                      </p:cBhvr>
                                    </p:animEffect>
                                  </p:childTnLst>
                                </p:cTn>
                              </p:par>
                            </p:childTnLst>
                          </p:cTn>
                        </p:par>
                      </p:childTnLst>
                    </p:cTn>
                  </p:par>
                  <p:par>
                    <p:cTn id="65" fill="hold">
                      <p:stCondLst>
                        <p:cond delay="indefinite"/>
                      </p:stCondLst>
                      <p:childTnLst>
                        <p:par>
                          <p:cTn id="66" fill="hold">
                            <p:stCondLst>
                              <p:cond delay="0"/>
                            </p:stCondLst>
                            <p:childTnLst>
                              <p:par>
                                <p:cTn id="67" presetID="4" presetClass="entr" presetSubtype="32" fill="hold" nodeType="clickEffect">
                                  <p:stCondLst>
                                    <p:cond delay="0"/>
                                  </p:stCondLst>
                                  <p:childTnLst>
                                    <p:set>
                                      <p:cBhvr>
                                        <p:cTn id="68" dur="1" fill="hold">
                                          <p:stCondLst>
                                            <p:cond delay="0"/>
                                          </p:stCondLst>
                                        </p:cTn>
                                        <p:tgtEl>
                                          <p:spTgt spid="70"/>
                                        </p:tgtEl>
                                        <p:attrNameLst>
                                          <p:attrName>style.visibility</p:attrName>
                                        </p:attrNameLst>
                                      </p:cBhvr>
                                      <p:to>
                                        <p:strVal val="visible"/>
                                      </p:to>
                                    </p:set>
                                    <p:animEffect transition="in" filter="box(out)">
                                      <p:cBhvr>
                                        <p:cTn id="69" dur="500"/>
                                        <p:tgtEl>
                                          <p:spTgt spid="70"/>
                                        </p:tgtEl>
                                      </p:cBhvr>
                                    </p:animEffect>
                                  </p:childTnLst>
                                </p:cTn>
                              </p:par>
                            </p:childTnLst>
                          </p:cTn>
                        </p:par>
                      </p:childTnLst>
                    </p:cTn>
                  </p:par>
                  <p:par>
                    <p:cTn id="70" fill="hold">
                      <p:stCondLst>
                        <p:cond delay="indefinite"/>
                      </p:stCondLst>
                      <p:childTnLst>
                        <p:par>
                          <p:cTn id="71" fill="hold">
                            <p:stCondLst>
                              <p:cond delay="0"/>
                            </p:stCondLst>
                            <p:childTnLst>
                              <p:par>
                                <p:cTn id="72" presetID="4" presetClass="entr" presetSubtype="32" fill="hold" nodeType="clickEffect">
                                  <p:stCondLst>
                                    <p:cond delay="0"/>
                                  </p:stCondLst>
                                  <p:childTnLst>
                                    <p:set>
                                      <p:cBhvr>
                                        <p:cTn id="73" dur="1" fill="hold">
                                          <p:stCondLst>
                                            <p:cond delay="0"/>
                                          </p:stCondLst>
                                        </p:cTn>
                                        <p:tgtEl>
                                          <p:spTgt spid="71"/>
                                        </p:tgtEl>
                                        <p:attrNameLst>
                                          <p:attrName>style.visibility</p:attrName>
                                        </p:attrNameLst>
                                      </p:cBhvr>
                                      <p:to>
                                        <p:strVal val="visible"/>
                                      </p:to>
                                    </p:set>
                                    <p:animEffect transition="in" filter="box(out)">
                                      <p:cBhvr>
                                        <p:cTn id="74" dur="500"/>
                                        <p:tgtEl>
                                          <p:spTgt spid="71"/>
                                        </p:tgtEl>
                                      </p:cBhvr>
                                    </p:animEffect>
                                  </p:childTnLst>
                                </p:cTn>
                              </p:par>
                            </p:childTnLst>
                          </p:cTn>
                        </p:par>
                      </p:childTnLst>
                    </p:cTn>
                  </p:par>
                  <p:par>
                    <p:cTn id="75" fill="hold">
                      <p:stCondLst>
                        <p:cond delay="indefinite"/>
                      </p:stCondLst>
                      <p:childTnLst>
                        <p:par>
                          <p:cTn id="76" fill="hold">
                            <p:stCondLst>
                              <p:cond delay="0"/>
                            </p:stCondLst>
                            <p:childTnLst>
                              <p:par>
                                <p:cTn id="77" presetID="16" presetClass="entr" presetSubtype="42" fill="hold" grpId="0" nodeType="clickEffect">
                                  <p:stCondLst>
                                    <p:cond delay="0"/>
                                  </p:stCondLst>
                                  <p:childTnLst>
                                    <p:set>
                                      <p:cBhvr>
                                        <p:cTn id="78" dur="1" fill="hold">
                                          <p:stCondLst>
                                            <p:cond delay="0"/>
                                          </p:stCondLst>
                                        </p:cTn>
                                        <p:tgtEl>
                                          <p:spTgt spid="72"/>
                                        </p:tgtEl>
                                        <p:attrNameLst>
                                          <p:attrName>style.visibility</p:attrName>
                                        </p:attrNameLst>
                                      </p:cBhvr>
                                      <p:to>
                                        <p:strVal val="visible"/>
                                      </p:to>
                                    </p:set>
                                    <p:animEffect transition="in" filter="barn(outHorizontal)">
                                      <p:cBhvr>
                                        <p:cTn id="79"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2" grpId="0"/>
      <p:bldP spid="65" grpId="0" autoUpdateAnimBg="0"/>
      <p:bldP spid="66" grpId="0"/>
      <p:bldP spid="68" grpId="0" autoUpdateAnimBg="0"/>
      <p:bldP spid="72"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686776" y="3253061"/>
            <a:ext cx="7848872" cy="1200329"/>
          </a:xfrm>
          <a:prstGeom prst="rect">
            <a:avLst/>
          </a:prstGeom>
        </p:spPr>
        <p:txBody>
          <a:bodyPr wrap="square">
            <a:spAutoFit/>
          </a:bodyPr>
          <a:lstStyle/>
          <a:p>
            <a:r>
              <a:rPr lang="zh-CN" altLang="en-US" dirty="0">
                <a:solidFill>
                  <a:srgbClr val="0000FF"/>
                </a:solidFill>
                <a:latin typeface="黑体" panose="02010609060101010101" pitchFamily="49" charset="-122"/>
                <a:ea typeface="黑体" panose="02010609060101010101" pitchFamily="49" charset="-122"/>
              </a:rPr>
              <a:t>热膨胀系数</a:t>
            </a:r>
            <a:r>
              <a:rPr lang="zh-CN" altLang="en-US" i="1" dirty="0">
                <a:solidFill>
                  <a:srgbClr val="0000FF"/>
                </a:solidFill>
                <a:latin typeface="黑体" panose="02010609060101010101" pitchFamily="49" charset="-122"/>
                <a:ea typeface="黑体" panose="02010609060101010101" pitchFamily="49" charset="-122"/>
                <a:sym typeface="Symbol" panose="05050102010706020507" pitchFamily="18" charset="2"/>
              </a:rPr>
              <a:t></a:t>
            </a:r>
            <a:r>
              <a:rPr lang="en-US" altLang="zh-CN" i="1" dirty="0">
                <a:solidFill>
                  <a:srgbClr val="333333"/>
                </a:solidFill>
                <a:latin typeface="黑体" panose="02010609060101010101" pitchFamily="49" charset="-122"/>
                <a:ea typeface="黑体" panose="02010609060101010101" pitchFamily="49" charset="-122"/>
                <a:sym typeface="Symbol" panose="05050102010706020507" pitchFamily="18" charset="2"/>
              </a:rPr>
              <a:t>----- </a:t>
            </a:r>
            <a:r>
              <a:rPr lang="zh-CN" altLang="en-US" b="1" dirty="0">
                <a:solidFill>
                  <a:srgbClr val="333333"/>
                </a:solidFill>
                <a:latin typeface="楷体" panose="02010609060101010101" pitchFamily="49" charset="-122"/>
                <a:ea typeface="楷体" panose="02010609060101010101" pitchFamily="49" charset="-122"/>
              </a:rPr>
              <a:t>物体由于温度改变而有胀缩现象。其变化能力以等压下，单位温度变化所导致的长度量值的变化，即热膨胀系数表示。</a:t>
            </a:r>
            <a:endParaRPr lang="zh-CN" altLang="en-US" b="1" dirty="0">
              <a:latin typeface="楷体" panose="02010609060101010101" pitchFamily="49" charset="-122"/>
              <a:ea typeface="楷体" panose="02010609060101010101" pitchFamily="49" charset="-122"/>
            </a:endParaRPr>
          </a:p>
        </p:txBody>
      </p:sp>
      <p:sp>
        <p:nvSpPr>
          <p:cNvPr id="4" name="矩形 3"/>
          <p:cNvSpPr/>
          <p:nvPr/>
        </p:nvSpPr>
        <p:spPr>
          <a:xfrm>
            <a:off x="1187624" y="4559430"/>
            <a:ext cx="6336704" cy="461665"/>
          </a:xfrm>
          <a:prstGeom prst="rect">
            <a:avLst/>
          </a:prstGeom>
        </p:spPr>
        <p:txBody>
          <a:bodyPr wrap="square">
            <a:spAutoFit/>
          </a:bodyPr>
          <a:lstStyle/>
          <a:p>
            <a:r>
              <a:rPr lang="zh-CN" altLang="en-US" b="1" dirty="0">
                <a:solidFill>
                  <a:srgbClr val="333333"/>
                </a:solidFill>
                <a:latin typeface="楷体" panose="02010609060101010101" pitchFamily="49" charset="-122"/>
                <a:ea typeface="楷体" panose="02010609060101010101" pitchFamily="49" charset="-122"/>
              </a:rPr>
              <a:t>一般金属的热膨胀系数单位为</a:t>
            </a:r>
            <a:r>
              <a:rPr lang="en-US" altLang="zh-CN" b="1" dirty="0">
                <a:solidFill>
                  <a:srgbClr val="333333"/>
                </a:solidFill>
                <a:latin typeface="楷体" panose="02010609060101010101" pitchFamily="49" charset="-122"/>
                <a:ea typeface="楷体" panose="02010609060101010101" pitchFamily="49" charset="-122"/>
              </a:rPr>
              <a:t>1/</a:t>
            </a:r>
            <a:r>
              <a:rPr lang="zh-CN" altLang="en-US" b="1" dirty="0">
                <a:solidFill>
                  <a:srgbClr val="333333"/>
                </a:solidFill>
                <a:latin typeface="楷体" panose="02010609060101010101" pitchFamily="49" charset="-122"/>
                <a:ea typeface="楷体" panose="02010609060101010101" pitchFamily="49" charset="-122"/>
              </a:rPr>
              <a:t>度（摄氏）。</a:t>
            </a:r>
            <a:endParaRPr lang="zh-CN" altLang="en-US" b="1" dirty="0">
              <a:latin typeface="楷体" panose="02010609060101010101" pitchFamily="49" charset="-122"/>
              <a:ea typeface="楷体" panose="02010609060101010101" pitchFamily="49" charset="-122"/>
            </a:endParaRPr>
          </a:p>
        </p:txBody>
      </p:sp>
      <p:sp>
        <p:nvSpPr>
          <p:cNvPr id="7" name="Text Box 2"/>
          <p:cNvSpPr txBox="1">
            <a:spLocks noChangeArrowheads="1"/>
          </p:cNvSpPr>
          <p:nvPr/>
        </p:nvSpPr>
        <p:spPr bwMode="auto">
          <a:xfrm>
            <a:off x="678722" y="1236320"/>
            <a:ext cx="32367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solidFill>
                  <a:srgbClr val="0000FF"/>
                </a:solidFill>
              </a:rPr>
              <a:t>(2)</a:t>
            </a:r>
            <a:r>
              <a:rPr lang="en-US" altLang="zh-CN" dirty="0"/>
              <a:t>   </a:t>
            </a:r>
            <a:r>
              <a:rPr lang="zh-CN" altLang="en-US" dirty="0">
                <a:solidFill>
                  <a:srgbClr val="0000FF"/>
                </a:solidFill>
                <a:latin typeface="黑体" panose="02010609060101010101" pitchFamily="49" charset="-122"/>
                <a:ea typeface="黑体" panose="02010609060101010101" pitchFamily="49" charset="-122"/>
              </a:rPr>
              <a:t>温度应力</a:t>
            </a:r>
            <a:r>
              <a:rPr lang="en-US" altLang="zh-CN" dirty="0">
                <a:solidFill>
                  <a:srgbClr val="0000FF"/>
                </a:solidFill>
                <a:latin typeface="黑体" panose="02010609060101010101" pitchFamily="49" charset="-122"/>
                <a:ea typeface="黑体" panose="02010609060101010101" pitchFamily="49" charset="-122"/>
              </a:rPr>
              <a:t>(</a:t>
            </a:r>
            <a:r>
              <a:rPr lang="zh-CN" altLang="en-US" dirty="0">
                <a:solidFill>
                  <a:srgbClr val="0000FF"/>
                </a:solidFill>
                <a:latin typeface="黑体" panose="02010609060101010101" pitchFamily="49" charset="-122"/>
                <a:ea typeface="黑体" panose="02010609060101010101" pitchFamily="49" charset="-122"/>
              </a:rPr>
              <a:t>热应力</a:t>
            </a:r>
            <a:r>
              <a:rPr lang="en-US" altLang="zh-CN" dirty="0">
                <a:solidFill>
                  <a:srgbClr val="0000FF"/>
                </a:solidFill>
                <a:latin typeface="黑体" panose="02010609060101010101" pitchFamily="49" charset="-122"/>
                <a:ea typeface="黑体" panose="02010609060101010101" pitchFamily="49" charset="-122"/>
              </a:rPr>
              <a:t>)</a:t>
            </a:r>
            <a:endParaRPr lang="zh-CN" altLang="en-US" dirty="0">
              <a:solidFill>
                <a:srgbClr val="0000FF"/>
              </a:solidFill>
              <a:latin typeface="黑体" panose="02010609060101010101" pitchFamily="49" charset="-122"/>
              <a:ea typeface="黑体" panose="02010609060101010101" pitchFamily="49" charset="-122"/>
            </a:endParaRPr>
          </a:p>
        </p:txBody>
      </p:sp>
      <p:sp>
        <p:nvSpPr>
          <p:cNvPr id="8" name="Text Box 3"/>
          <p:cNvSpPr txBox="1">
            <a:spLocks noChangeArrowheads="1"/>
          </p:cNvSpPr>
          <p:nvPr/>
        </p:nvSpPr>
        <p:spPr bwMode="auto">
          <a:xfrm>
            <a:off x="674613" y="1733796"/>
            <a:ext cx="7692283" cy="919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50000"/>
              </a:spcBef>
            </a:pPr>
            <a:r>
              <a:rPr lang="zh-CN" altLang="en-US" b="1" dirty="0">
                <a:latin typeface="楷体" panose="02010609060101010101" pitchFamily="49" charset="-122"/>
                <a:ea typeface="楷体" panose="02010609060101010101" pitchFamily="49" charset="-122"/>
              </a:rPr>
              <a:t>由于静不定杆系存在“多余”约束，杆件会因温度变化产生的变形受到限制而产生</a:t>
            </a:r>
            <a:r>
              <a:rPr lang="zh-CN" altLang="en-US" b="1" dirty="0">
                <a:solidFill>
                  <a:srgbClr val="FF0000"/>
                </a:solidFill>
                <a:latin typeface="楷体" panose="02010609060101010101" pitchFamily="49" charset="-122"/>
                <a:ea typeface="楷体" panose="02010609060101010101" pitchFamily="49" charset="-122"/>
              </a:rPr>
              <a:t>温度内力</a:t>
            </a:r>
            <a:r>
              <a:rPr lang="zh-CN" altLang="en-US" b="1" dirty="0">
                <a:latin typeface="楷体" panose="02010609060101010101" pitchFamily="49" charset="-122"/>
                <a:ea typeface="楷体" panose="02010609060101010101" pitchFamily="49" charset="-122"/>
              </a:rPr>
              <a:t>及</a:t>
            </a:r>
            <a:r>
              <a:rPr lang="zh-CN" altLang="en-US" b="1" dirty="0">
                <a:solidFill>
                  <a:srgbClr val="FF0000"/>
                </a:solidFill>
                <a:latin typeface="楷体" panose="02010609060101010101" pitchFamily="49" charset="-122"/>
                <a:ea typeface="楷体" panose="02010609060101010101" pitchFamily="49" charset="-122"/>
              </a:rPr>
              <a:t>温度应力</a:t>
            </a:r>
            <a:r>
              <a:rPr lang="zh-CN" altLang="en-US" dirty="0">
                <a:latin typeface="楷体" panose="02010609060101010101" pitchFamily="49" charset="-122"/>
                <a:ea typeface="楷体" panose="02010609060101010101" pitchFamily="49" charset="-122"/>
              </a:rPr>
              <a:t>。</a:t>
            </a:r>
          </a:p>
        </p:txBody>
      </p:sp>
      <p:sp>
        <p:nvSpPr>
          <p:cNvPr id="9" name="文本框 8"/>
          <p:cNvSpPr txBox="1"/>
          <p:nvPr/>
        </p:nvSpPr>
        <p:spPr>
          <a:xfrm>
            <a:off x="467544" y="692696"/>
            <a:ext cx="3324343" cy="461665"/>
          </a:xfrm>
          <a:prstGeom prst="rect">
            <a:avLst/>
          </a:prstGeom>
          <a:noFill/>
        </p:spPr>
        <p:txBody>
          <a:bodyPr wrap="square" rtlCol="0">
            <a:spAutoFit/>
          </a:bodyPr>
          <a:lstStyle/>
          <a:p>
            <a:pPr marL="342900" indent="-342900">
              <a:buFont typeface="Wingdings" panose="05000000000000000000" pitchFamily="2" charset="2"/>
              <a:buChar char="u"/>
            </a:pPr>
            <a:r>
              <a:rPr lang="zh-CN" altLang="en-US" b="1" dirty="0">
                <a:solidFill>
                  <a:srgbClr val="FF0000"/>
                </a:solidFill>
                <a:latin typeface="黑体" panose="02010609060101010101" pitchFamily="49" charset="-122"/>
                <a:ea typeface="黑体" panose="02010609060101010101" pitchFamily="49" charset="-122"/>
              </a:rPr>
              <a:t>装配应力和温度应力</a:t>
            </a:r>
          </a:p>
        </p:txBody>
      </p:sp>
      <p:graphicFrame>
        <p:nvGraphicFramePr>
          <p:cNvPr id="10" name="Object 60"/>
          <p:cNvGraphicFramePr>
            <a:graphicFrameLocks noChangeAspect="1"/>
          </p:cNvGraphicFramePr>
          <p:nvPr>
            <p:extLst>
              <p:ext uri="{D42A27DB-BD31-4B8C-83A1-F6EECF244321}">
                <p14:modId xmlns:p14="http://schemas.microsoft.com/office/powerpoint/2010/main" val="718248203"/>
              </p:ext>
            </p:extLst>
          </p:nvPr>
        </p:nvGraphicFramePr>
        <p:xfrm>
          <a:off x="3181247" y="2704109"/>
          <a:ext cx="1524000" cy="442912"/>
        </p:xfrm>
        <a:graphic>
          <a:graphicData uri="http://schemas.openxmlformats.org/presentationml/2006/ole">
            <mc:AlternateContent xmlns:mc="http://schemas.openxmlformats.org/markup-compatibility/2006">
              <mc:Choice xmlns:v="urn:schemas-microsoft-com:vml" Requires="v">
                <p:oleObj name="Equation" r:id="rId2" imgW="698400" imgH="203040" progId="Equation.DSMT4">
                  <p:embed/>
                </p:oleObj>
              </mc:Choice>
              <mc:Fallback>
                <p:oleObj name="Equation" r:id="rId2" imgW="698400" imgH="203040" progId="Equation.DSMT4">
                  <p:embed/>
                  <p:pic>
                    <p:nvPicPr>
                      <p:cNvPr id="0" name=""/>
                      <p:cNvPicPr>
                        <a:picLocks noChangeAspect="1" noChangeArrowheads="1"/>
                      </p:cNvPicPr>
                      <p:nvPr/>
                    </p:nvPicPr>
                    <p:blipFill>
                      <a:blip r:embed="rId3"/>
                      <a:srcRect/>
                      <a:stretch>
                        <a:fillRect/>
                      </a:stretch>
                    </p:blipFill>
                    <p:spPr bwMode="auto">
                      <a:xfrm>
                        <a:off x="3181247" y="2704109"/>
                        <a:ext cx="1524000"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矩形 10"/>
          <p:cNvSpPr/>
          <p:nvPr/>
        </p:nvSpPr>
        <p:spPr>
          <a:xfrm>
            <a:off x="674613" y="5317877"/>
            <a:ext cx="3647173" cy="830997"/>
          </a:xfrm>
          <a:prstGeom prst="rect">
            <a:avLst/>
          </a:prstGeom>
        </p:spPr>
        <p:txBody>
          <a:bodyPr wrap="square">
            <a:spAutoFit/>
          </a:bodyPr>
          <a:lstStyle/>
          <a:p>
            <a:r>
              <a:rPr lang="zh-CN" altLang="en-US" b="1" dirty="0">
                <a:solidFill>
                  <a:srgbClr val="FF0000"/>
                </a:solidFill>
                <a:latin typeface="楷体" panose="02010609060101010101" pitchFamily="49" charset="-122"/>
                <a:ea typeface="楷体" panose="02010609060101010101" pitchFamily="49" charset="-122"/>
              </a:rPr>
              <a:t>杆件变形包含温度变化和内力引起的变形之和。</a:t>
            </a:r>
          </a:p>
        </p:txBody>
      </p:sp>
      <p:pic>
        <p:nvPicPr>
          <p:cNvPr id="5" name="图片 4">
            <a:extLst>
              <a:ext uri="{FF2B5EF4-FFF2-40B4-BE49-F238E27FC236}">
                <a16:creationId xmlns:a16="http://schemas.microsoft.com/office/drawing/2014/main" id="{4126548C-51C3-8F4E-C13E-527EC8F6EFA8}"/>
              </a:ext>
            </a:extLst>
          </p:cNvPr>
          <p:cNvPicPr>
            <a:picLocks noChangeAspect="1"/>
          </p:cNvPicPr>
          <p:nvPr/>
        </p:nvPicPr>
        <p:blipFill>
          <a:blip r:embed="rId4" cstate="print">
            <a:extLst>
              <a:ext uri="{28A0092B-C50C-407E-A947-70E740481C1C}">
                <a14:useLocalDpi xmlns:a14="http://schemas.microsoft.com/office/drawing/2010/main" val="0"/>
              </a:ext>
            </a:extLst>
          </a:blip>
          <a:srcRect l="16688" r="12667" b="65176"/>
          <a:stretch>
            <a:fillRect/>
          </a:stretch>
        </p:blipFill>
        <p:spPr>
          <a:xfrm>
            <a:off x="4729877" y="5127135"/>
            <a:ext cx="3960440" cy="1394265"/>
          </a:xfrm>
          <a:prstGeom prst="rect">
            <a:avLst/>
          </a:prstGeom>
        </p:spPr>
      </p:pic>
    </p:spTree>
    <p:extLst>
      <p:ext uri="{BB962C8B-B14F-4D97-AF65-F5344CB8AC3E}">
        <p14:creationId xmlns:p14="http://schemas.microsoft.com/office/powerpoint/2010/main" val="3184978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blinds(horizontal)">
                                      <p:cBhvr>
                                        <p:cTn id="19" dur="5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wipe(left)">
                                      <p:cBhvr>
                                        <p:cTn id="24" dur="500"/>
                                        <p:tgtEl>
                                          <p:spTgt spid="4"/>
                                        </p:tgtEl>
                                      </p:cBhvr>
                                    </p:animEffect>
                                  </p:childTnLst>
                                </p:cTn>
                              </p:par>
                            </p:childTnLst>
                          </p:cTn>
                        </p:par>
                      </p:childTnLst>
                    </p:cTn>
                  </p:par>
                  <p:par>
                    <p:cTn id="25" fill="hold">
                      <p:stCondLst>
                        <p:cond delay="indefinite"/>
                      </p:stCondLst>
                      <p:childTnLst>
                        <p:par>
                          <p:cTn id="26" fill="hold">
                            <p:stCondLst>
                              <p:cond delay="0"/>
                            </p:stCondLst>
                            <p:childTnLst>
                              <p:par>
                                <p:cTn id="27" presetID="6" presetClass="entr" presetSubtype="32"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circle(out)">
                                      <p:cBhvr>
                                        <p:cTn id="29" dur="500"/>
                                        <p:tgtEl>
                                          <p:spTgt spid="5"/>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wipe(left)">
                                      <p:cBhvr>
                                        <p:cTn id="3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8" grpId="0" autoUpdateAnimBg="0"/>
      <p:bldP spid="11"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562" name="Group 2"/>
          <p:cNvGrpSpPr>
            <a:grpSpLocks/>
          </p:cNvGrpSpPr>
          <p:nvPr/>
        </p:nvGrpSpPr>
        <p:grpSpPr bwMode="auto">
          <a:xfrm>
            <a:off x="5199857" y="772616"/>
            <a:ext cx="3724275" cy="2362200"/>
            <a:chOff x="3169" y="672"/>
            <a:chExt cx="2346" cy="1488"/>
          </a:xfrm>
        </p:grpSpPr>
        <p:grpSp>
          <p:nvGrpSpPr>
            <p:cNvPr id="66563" name="Group 3"/>
            <p:cNvGrpSpPr>
              <a:grpSpLocks/>
            </p:cNvGrpSpPr>
            <p:nvPr/>
          </p:nvGrpSpPr>
          <p:grpSpPr bwMode="auto">
            <a:xfrm>
              <a:off x="3452" y="672"/>
              <a:ext cx="1832" cy="120"/>
              <a:chOff x="240" y="2880"/>
              <a:chExt cx="1392" cy="96"/>
            </a:xfrm>
          </p:grpSpPr>
          <p:grpSp>
            <p:nvGrpSpPr>
              <p:cNvPr id="66564" name="Group 4"/>
              <p:cNvGrpSpPr>
                <a:grpSpLocks/>
              </p:cNvGrpSpPr>
              <p:nvPr/>
            </p:nvGrpSpPr>
            <p:grpSpPr bwMode="auto">
              <a:xfrm>
                <a:off x="240" y="2880"/>
                <a:ext cx="720" cy="96"/>
                <a:chOff x="240" y="2880"/>
                <a:chExt cx="720" cy="96"/>
              </a:xfrm>
            </p:grpSpPr>
            <p:sp>
              <p:nvSpPr>
                <p:cNvPr id="66565" name="Line 5"/>
                <p:cNvSpPr>
                  <a:spLocks noChangeShapeType="1"/>
                </p:cNvSpPr>
                <p:nvPr/>
              </p:nvSpPr>
              <p:spPr bwMode="auto">
                <a:xfrm flipH="1">
                  <a:off x="240" y="2976"/>
                  <a:ext cx="655"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66" name="Line 6"/>
                <p:cNvSpPr>
                  <a:spLocks noChangeShapeType="1"/>
                </p:cNvSpPr>
                <p:nvPr/>
              </p:nvSpPr>
              <p:spPr bwMode="auto">
                <a:xfrm flipH="1">
                  <a:off x="827" y="2880"/>
                  <a:ext cx="133"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67" name="Line 7"/>
                <p:cNvSpPr>
                  <a:spLocks noChangeShapeType="1"/>
                </p:cNvSpPr>
                <p:nvPr/>
              </p:nvSpPr>
              <p:spPr bwMode="auto">
                <a:xfrm flipH="1">
                  <a:off x="698" y="2880"/>
                  <a:ext cx="129"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68" name="Line 8"/>
                <p:cNvSpPr>
                  <a:spLocks noChangeShapeType="1"/>
                </p:cNvSpPr>
                <p:nvPr/>
              </p:nvSpPr>
              <p:spPr bwMode="auto">
                <a:xfrm flipH="1">
                  <a:off x="568" y="2880"/>
                  <a:ext cx="130"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69" name="Line 9"/>
                <p:cNvSpPr>
                  <a:spLocks noChangeShapeType="1"/>
                </p:cNvSpPr>
                <p:nvPr/>
              </p:nvSpPr>
              <p:spPr bwMode="auto">
                <a:xfrm flipH="1">
                  <a:off x="436" y="2880"/>
                  <a:ext cx="132"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70" name="Line 10"/>
                <p:cNvSpPr>
                  <a:spLocks noChangeShapeType="1"/>
                </p:cNvSpPr>
                <p:nvPr/>
              </p:nvSpPr>
              <p:spPr bwMode="auto">
                <a:xfrm flipH="1">
                  <a:off x="305" y="2880"/>
                  <a:ext cx="131"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6571" name="Group 11"/>
              <p:cNvGrpSpPr>
                <a:grpSpLocks/>
              </p:cNvGrpSpPr>
              <p:nvPr/>
            </p:nvGrpSpPr>
            <p:grpSpPr bwMode="auto">
              <a:xfrm>
                <a:off x="912" y="2880"/>
                <a:ext cx="720" cy="96"/>
                <a:chOff x="912" y="2880"/>
                <a:chExt cx="720" cy="96"/>
              </a:xfrm>
            </p:grpSpPr>
            <p:sp>
              <p:nvSpPr>
                <p:cNvPr id="66572" name="Line 12"/>
                <p:cNvSpPr>
                  <a:spLocks noChangeShapeType="1"/>
                </p:cNvSpPr>
                <p:nvPr/>
              </p:nvSpPr>
              <p:spPr bwMode="auto">
                <a:xfrm flipH="1">
                  <a:off x="912" y="2976"/>
                  <a:ext cx="655"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73" name="Line 13"/>
                <p:cNvSpPr>
                  <a:spLocks noChangeShapeType="1"/>
                </p:cNvSpPr>
                <p:nvPr/>
              </p:nvSpPr>
              <p:spPr bwMode="auto">
                <a:xfrm flipH="1">
                  <a:off x="1499" y="2880"/>
                  <a:ext cx="133"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74" name="Line 14"/>
                <p:cNvSpPr>
                  <a:spLocks noChangeShapeType="1"/>
                </p:cNvSpPr>
                <p:nvPr/>
              </p:nvSpPr>
              <p:spPr bwMode="auto">
                <a:xfrm flipH="1">
                  <a:off x="1370" y="2880"/>
                  <a:ext cx="129"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75" name="Line 15"/>
                <p:cNvSpPr>
                  <a:spLocks noChangeShapeType="1"/>
                </p:cNvSpPr>
                <p:nvPr/>
              </p:nvSpPr>
              <p:spPr bwMode="auto">
                <a:xfrm flipH="1">
                  <a:off x="1240" y="2880"/>
                  <a:ext cx="130"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76" name="Line 16"/>
                <p:cNvSpPr>
                  <a:spLocks noChangeShapeType="1"/>
                </p:cNvSpPr>
                <p:nvPr/>
              </p:nvSpPr>
              <p:spPr bwMode="auto">
                <a:xfrm flipH="1">
                  <a:off x="1108" y="2880"/>
                  <a:ext cx="132"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77" name="Line 17"/>
                <p:cNvSpPr>
                  <a:spLocks noChangeShapeType="1"/>
                </p:cNvSpPr>
                <p:nvPr/>
              </p:nvSpPr>
              <p:spPr bwMode="auto">
                <a:xfrm flipH="1">
                  <a:off x="977" y="2880"/>
                  <a:ext cx="131"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66578" name="Oval 18"/>
            <p:cNvSpPr>
              <a:spLocks noChangeArrowheads="1"/>
            </p:cNvSpPr>
            <p:nvPr/>
          </p:nvSpPr>
          <p:spPr bwMode="auto">
            <a:xfrm>
              <a:off x="4279" y="737"/>
              <a:ext cx="115" cy="11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79" name="Line 19"/>
            <p:cNvSpPr>
              <a:spLocks noChangeShapeType="1"/>
            </p:cNvSpPr>
            <p:nvPr/>
          </p:nvSpPr>
          <p:spPr bwMode="auto">
            <a:xfrm>
              <a:off x="4337" y="852"/>
              <a:ext cx="0" cy="9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0" name="Oval 20"/>
            <p:cNvSpPr>
              <a:spLocks noChangeArrowheads="1"/>
            </p:cNvSpPr>
            <p:nvPr/>
          </p:nvSpPr>
          <p:spPr bwMode="auto">
            <a:xfrm>
              <a:off x="4279" y="1757"/>
              <a:ext cx="115" cy="11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1" name="Rectangle 21" descr="编织物"/>
            <p:cNvSpPr>
              <a:spLocks noChangeArrowheads="1"/>
            </p:cNvSpPr>
            <p:nvPr/>
          </p:nvSpPr>
          <p:spPr bwMode="auto">
            <a:xfrm>
              <a:off x="3521" y="1877"/>
              <a:ext cx="1694" cy="110"/>
            </a:xfrm>
            <a:prstGeom prst="rect">
              <a:avLst/>
            </a:prstGeom>
            <a:blipFill dpi="0" rotWithShape="0">
              <a:blip r:embed="rId2"/>
              <a:srcRect/>
              <a:tile tx="0" ty="0" sx="100000" sy="100000" flip="none" algn="tl"/>
            </a:bli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2" name="Line 22"/>
            <p:cNvSpPr>
              <a:spLocks noChangeShapeType="1"/>
            </p:cNvSpPr>
            <p:nvPr/>
          </p:nvSpPr>
          <p:spPr bwMode="auto">
            <a:xfrm>
              <a:off x="3579" y="1572"/>
              <a:ext cx="757" cy="0"/>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3" name="Line 23"/>
            <p:cNvSpPr>
              <a:spLocks noChangeShapeType="1"/>
            </p:cNvSpPr>
            <p:nvPr/>
          </p:nvSpPr>
          <p:spPr bwMode="auto">
            <a:xfrm>
              <a:off x="4336" y="1572"/>
              <a:ext cx="758" cy="0"/>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4" name="Rectangle 24"/>
            <p:cNvSpPr>
              <a:spLocks noChangeArrowheads="1"/>
            </p:cNvSpPr>
            <p:nvPr/>
          </p:nvSpPr>
          <p:spPr bwMode="auto">
            <a:xfrm>
              <a:off x="3832" y="1338"/>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b="1" i="1">
                  <a:solidFill>
                    <a:srgbClr val="000000"/>
                  </a:solidFill>
                  <a:latin typeface="Times New Roman" panose="02020603050405020304" pitchFamily="18" charset="0"/>
                  <a:ea typeface="宋体" panose="02010600030101010101" pitchFamily="2" charset="-122"/>
                </a:rPr>
                <a:t>a</a:t>
              </a:r>
            </a:p>
          </p:txBody>
        </p:sp>
        <p:sp>
          <p:nvSpPr>
            <p:cNvPr id="66585" name="Rectangle 25"/>
            <p:cNvSpPr>
              <a:spLocks noChangeArrowheads="1"/>
            </p:cNvSpPr>
            <p:nvPr/>
          </p:nvSpPr>
          <p:spPr bwMode="auto">
            <a:xfrm>
              <a:off x="4590" y="1338"/>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b="1" i="1">
                  <a:solidFill>
                    <a:srgbClr val="000000"/>
                  </a:solidFill>
                  <a:latin typeface="Times New Roman" panose="02020603050405020304" pitchFamily="18" charset="0"/>
                  <a:ea typeface="宋体" panose="02010600030101010101" pitchFamily="2" charset="-122"/>
                </a:rPr>
                <a:t>a</a:t>
              </a:r>
            </a:p>
          </p:txBody>
        </p:sp>
        <p:sp>
          <p:nvSpPr>
            <p:cNvPr id="66586" name="Rectangle 26"/>
            <p:cNvSpPr>
              <a:spLocks noChangeArrowheads="1"/>
            </p:cNvSpPr>
            <p:nvPr/>
          </p:nvSpPr>
          <p:spPr bwMode="auto">
            <a:xfrm>
              <a:off x="4151" y="1070"/>
              <a:ext cx="19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dirty="0">
                  <a:solidFill>
                    <a:srgbClr val="000000"/>
                  </a:solidFill>
                  <a:latin typeface="Times New Roman" panose="02020603050405020304" pitchFamily="18" charset="0"/>
                  <a:ea typeface="宋体" panose="02010600030101010101" pitchFamily="2" charset="-122"/>
                </a:rPr>
                <a:t>1</a:t>
              </a:r>
            </a:p>
          </p:txBody>
        </p:sp>
        <p:grpSp>
          <p:nvGrpSpPr>
            <p:cNvPr id="66587" name="Group 27"/>
            <p:cNvGrpSpPr>
              <a:grpSpLocks/>
            </p:cNvGrpSpPr>
            <p:nvPr/>
          </p:nvGrpSpPr>
          <p:grpSpPr bwMode="auto">
            <a:xfrm>
              <a:off x="5041" y="738"/>
              <a:ext cx="115" cy="1130"/>
              <a:chOff x="868" y="2932"/>
              <a:chExt cx="88" cy="904"/>
            </a:xfrm>
          </p:grpSpPr>
          <p:sp>
            <p:nvSpPr>
              <p:cNvPr id="66588" name="Oval 28"/>
              <p:cNvSpPr>
                <a:spLocks noChangeArrowheads="1"/>
              </p:cNvSpPr>
              <p:nvPr/>
            </p:nvSpPr>
            <p:spPr bwMode="auto">
              <a:xfrm>
                <a:off x="868" y="2932"/>
                <a:ext cx="88" cy="88"/>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9" name="Line 29"/>
              <p:cNvSpPr>
                <a:spLocks noChangeShapeType="1"/>
              </p:cNvSpPr>
              <p:nvPr/>
            </p:nvSpPr>
            <p:spPr bwMode="auto">
              <a:xfrm>
                <a:off x="912" y="3024"/>
                <a:ext cx="0" cy="72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90" name="Oval 30"/>
              <p:cNvSpPr>
                <a:spLocks noChangeArrowheads="1"/>
              </p:cNvSpPr>
              <p:nvPr/>
            </p:nvSpPr>
            <p:spPr bwMode="auto">
              <a:xfrm>
                <a:off x="868" y="3748"/>
                <a:ext cx="88" cy="88"/>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6591" name="Line 31"/>
            <p:cNvSpPr>
              <a:spLocks noChangeShapeType="1"/>
            </p:cNvSpPr>
            <p:nvPr/>
          </p:nvSpPr>
          <p:spPr bwMode="auto">
            <a:xfrm flipV="1">
              <a:off x="3562" y="1479"/>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66592" name="Oval 32"/>
            <p:cNvSpPr>
              <a:spLocks noChangeArrowheads="1"/>
            </p:cNvSpPr>
            <p:nvPr/>
          </p:nvSpPr>
          <p:spPr bwMode="auto">
            <a:xfrm>
              <a:off x="3400" y="1880"/>
              <a:ext cx="115" cy="11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93" name="Line 33"/>
            <p:cNvSpPr>
              <a:spLocks noChangeShapeType="1"/>
            </p:cNvSpPr>
            <p:nvPr/>
          </p:nvSpPr>
          <p:spPr bwMode="auto">
            <a:xfrm flipH="1" flipV="1">
              <a:off x="3265" y="1824"/>
              <a:ext cx="144"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6594" name="Line 34"/>
            <p:cNvSpPr>
              <a:spLocks noChangeShapeType="1"/>
            </p:cNvSpPr>
            <p:nvPr/>
          </p:nvSpPr>
          <p:spPr bwMode="auto">
            <a:xfrm flipH="1">
              <a:off x="3265" y="1968"/>
              <a:ext cx="144"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6595" name="Line 35"/>
            <p:cNvSpPr>
              <a:spLocks noChangeShapeType="1"/>
            </p:cNvSpPr>
            <p:nvPr/>
          </p:nvSpPr>
          <p:spPr bwMode="auto">
            <a:xfrm>
              <a:off x="3265" y="1728"/>
              <a:ext cx="0" cy="43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66596" name="Rectangle 36"/>
            <p:cNvSpPr>
              <a:spLocks noChangeArrowheads="1"/>
            </p:cNvSpPr>
            <p:nvPr/>
          </p:nvSpPr>
          <p:spPr bwMode="auto">
            <a:xfrm>
              <a:off x="4919" y="1061"/>
              <a:ext cx="19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dirty="0">
                  <a:solidFill>
                    <a:srgbClr val="000000"/>
                  </a:solidFill>
                  <a:latin typeface="Times New Roman" panose="02020603050405020304" pitchFamily="18" charset="0"/>
                  <a:ea typeface="宋体" panose="02010600030101010101" pitchFamily="2" charset="-122"/>
                </a:rPr>
                <a:t>2</a:t>
              </a:r>
            </a:p>
          </p:txBody>
        </p:sp>
        <p:sp>
          <p:nvSpPr>
            <p:cNvPr id="66597" name="Line 37"/>
            <p:cNvSpPr>
              <a:spLocks noChangeShapeType="1"/>
            </p:cNvSpPr>
            <p:nvPr/>
          </p:nvSpPr>
          <p:spPr bwMode="auto">
            <a:xfrm flipH="1">
              <a:off x="3169" y="1776"/>
              <a:ext cx="96"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66598" name="Line 38"/>
            <p:cNvSpPr>
              <a:spLocks noChangeShapeType="1"/>
            </p:cNvSpPr>
            <p:nvPr/>
          </p:nvSpPr>
          <p:spPr bwMode="auto">
            <a:xfrm flipH="1">
              <a:off x="3169" y="1872"/>
              <a:ext cx="96"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66599" name="Line 39"/>
            <p:cNvSpPr>
              <a:spLocks noChangeShapeType="1"/>
            </p:cNvSpPr>
            <p:nvPr/>
          </p:nvSpPr>
          <p:spPr bwMode="auto">
            <a:xfrm flipH="1">
              <a:off x="3169" y="1968"/>
              <a:ext cx="96"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66600" name="Line 40"/>
            <p:cNvSpPr>
              <a:spLocks noChangeShapeType="1"/>
            </p:cNvSpPr>
            <p:nvPr/>
          </p:nvSpPr>
          <p:spPr bwMode="auto">
            <a:xfrm flipH="1">
              <a:off x="3169" y="2064"/>
              <a:ext cx="96"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66601" name="Line 41"/>
            <p:cNvSpPr>
              <a:spLocks noChangeShapeType="1"/>
            </p:cNvSpPr>
            <p:nvPr/>
          </p:nvSpPr>
          <p:spPr bwMode="auto">
            <a:xfrm>
              <a:off x="5328" y="792"/>
              <a:ext cx="0" cy="1056"/>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6602" name="Line 42"/>
            <p:cNvSpPr>
              <a:spLocks noChangeShapeType="1"/>
            </p:cNvSpPr>
            <p:nvPr/>
          </p:nvSpPr>
          <p:spPr bwMode="auto">
            <a:xfrm>
              <a:off x="5244" y="1872"/>
              <a:ext cx="19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66603" name="Line 43"/>
            <p:cNvSpPr>
              <a:spLocks noChangeShapeType="1"/>
            </p:cNvSpPr>
            <p:nvPr/>
          </p:nvSpPr>
          <p:spPr bwMode="auto">
            <a:xfrm>
              <a:off x="5232" y="795"/>
              <a:ext cx="19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66604" name="Rectangle 44"/>
            <p:cNvSpPr>
              <a:spLocks noChangeArrowheads="1"/>
            </p:cNvSpPr>
            <p:nvPr/>
          </p:nvSpPr>
          <p:spPr bwMode="auto">
            <a:xfrm>
              <a:off x="5308" y="1166"/>
              <a:ext cx="20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i="1" dirty="0">
                  <a:solidFill>
                    <a:srgbClr val="000000"/>
                  </a:solidFill>
                  <a:latin typeface="Times New Roman" panose="02020603050405020304" pitchFamily="18" charset="0"/>
                  <a:ea typeface="宋体" panose="02010600030101010101" pitchFamily="2" charset="-122"/>
                </a:rPr>
                <a:t>L</a:t>
              </a:r>
            </a:p>
          </p:txBody>
        </p:sp>
        <p:sp>
          <p:nvSpPr>
            <p:cNvPr id="66605" name="Rectangle 45"/>
            <p:cNvSpPr>
              <a:spLocks noChangeArrowheads="1"/>
            </p:cNvSpPr>
            <p:nvPr/>
          </p:nvSpPr>
          <p:spPr bwMode="auto">
            <a:xfrm>
              <a:off x="4870" y="1646"/>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b="1" i="1">
                  <a:solidFill>
                    <a:srgbClr val="000000"/>
                  </a:solidFill>
                  <a:latin typeface="Times New Roman" panose="02020603050405020304" pitchFamily="18" charset="0"/>
                  <a:ea typeface="宋体" panose="02010600030101010101" pitchFamily="2" charset="-122"/>
                </a:rPr>
                <a:t>C</a:t>
              </a:r>
            </a:p>
          </p:txBody>
        </p:sp>
        <p:sp>
          <p:nvSpPr>
            <p:cNvPr id="66606" name="Rectangle 46"/>
            <p:cNvSpPr>
              <a:spLocks noChangeArrowheads="1"/>
            </p:cNvSpPr>
            <p:nvPr/>
          </p:nvSpPr>
          <p:spPr bwMode="auto">
            <a:xfrm>
              <a:off x="3334" y="1646"/>
              <a:ext cx="24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kumimoji="1" lang="en-US" altLang="zh-CN" sz="2000" b="1" i="1">
                  <a:solidFill>
                    <a:srgbClr val="000000"/>
                  </a:solidFill>
                  <a:latin typeface="Times New Roman" panose="02020603050405020304" pitchFamily="18" charset="0"/>
                  <a:ea typeface="宋体" panose="02010600030101010101" pitchFamily="2" charset="-122"/>
                </a:rPr>
                <a:t>A</a:t>
              </a:r>
            </a:p>
          </p:txBody>
        </p:sp>
        <p:sp>
          <p:nvSpPr>
            <p:cNvPr id="66607" name="Rectangle 47"/>
            <p:cNvSpPr>
              <a:spLocks noChangeArrowheads="1"/>
            </p:cNvSpPr>
            <p:nvPr/>
          </p:nvSpPr>
          <p:spPr bwMode="auto">
            <a:xfrm>
              <a:off x="4099" y="1646"/>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b="1" i="1">
                  <a:solidFill>
                    <a:srgbClr val="000000"/>
                  </a:solidFill>
                  <a:latin typeface="Times New Roman" panose="02020603050405020304" pitchFamily="18" charset="0"/>
                  <a:ea typeface="宋体" panose="02010600030101010101" pitchFamily="2" charset="-122"/>
                </a:rPr>
                <a:t>B</a:t>
              </a:r>
            </a:p>
          </p:txBody>
        </p:sp>
      </p:grpSp>
      <p:sp>
        <p:nvSpPr>
          <p:cNvPr id="66608" name="Rectangle 48"/>
          <p:cNvSpPr>
            <a:spLocks noChangeArrowheads="1"/>
          </p:cNvSpPr>
          <p:nvPr/>
        </p:nvSpPr>
        <p:spPr bwMode="auto">
          <a:xfrm>
            <a:off x="429889" y="704850"/>
            <a:ext cx="4876800" cy="12009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kumimoji="1" lang="zh-CN" altLang="en-US" sz="2400" b="1" dirty="0">
                <a:solidFill>
                  <a:srgbClr val="FF0000"/>
                </a:solidFill>
                <a:latin typeface="+mn-lt"/>
                <a:ea typeface="楷体" panose="02010609060101010101" pitchFamily="49" charset="-122"/>
              </a:rPr>
              <a:t>例</a:t>
            </a:r>
            <a:r>
              <a:rPr kumimoji="1" lang="en-US" altLang="zh-CN" sz="2400" b="1" dirty="0">
                <a:solidFill>
                  <a:srgbClr val="000000"/>
                </a:solidFill>
                <a:latin typeface="+mn-lt"/>
                <a:ea typeface="楷体" panose="02010609060101010101" pitchFamily="49" charset="-122"/>
              </a:rPr>
              <a:t>    </a:t>
            </a:r>
            <a:r>
              <a:rPr kumimoji="1" lang="en-US" altLang="zh-CN" sz="2400" dirty="0">
                <a:solidFill>
                  <a:srgbClr val="000000"/>
                </a:solidFill>
                <a:latin typeface="+mn-lt"/>
                <a:ea typeface="楷体" panose="02010609060101010101" pitchFamily="49" charset="-122"/>
              </a:rPr>
              <a:t>1</a:t>
            </a:r>
            <a:r>
              <a:rPr kumimoji="1" lang="zh-CN" altLang="en-US" sz="2400" dirty="0">
                <a:solidFill>
                  <a:srgbClr val="000000"/>
                </a:solidFill>
                <a:latin typeface="+mn-lt"/>
                <a:ea typeface="楷体" panose="02010609060101010101" pitchFamily="49" charset="-122"/>
              </a:rPr>
              <a:t>、</a:t>
            </a:r>
            <a:r>
              <a:rPr kumimoji="1" lang="en-US" altLang="zh-CN" sz="2400" dirty="0">
                <a:solidFill>
                  <a:srgbClr val="000000"/>
                </a:solidFill>
                <a:latin typeface="+mn-lt"/>
                <a:ea typeface="楷体" panose="02010609060101010101" pitchFamily="49" charset="-122"/>
              </a:rPr>
              <a:t>2</a:t>
            </a:r>
            <a:r>
              <a:rPr kumimoji="1" lang="zh-CN" altLang="en-US" sz="2400" b="1" dirty="0">
                <a:solidFill>
                  <a:srgbClr val="000000"/>
                </a:solidFill>
                <a:latin typeface="+mn-lt"/>
                <a:ea typeface="楷体" panose="02010609060101010101" pitchFamily="49" charset="-122"/>
              </a:rPr>
              <a:t>两杆的抗拉刚度均为</a:t>
            </a:r>
            <a:r>
              <a:rPr kumimoji="1" lang="en-US" altLang="zh-CN" sz="2400" i="1" dirty="0">
                <a:solidFill>
                  <a:srgbClr val="000000"/>
                </a:solidFill>
                <a:latin typeface="+mn-lt"/>
                <a:ea typeface="楷体" panose="02010609060101010101" pitchFamily="49" charset="-122"/>
              </a:rPr>
              <a:t>EA</a:t>
            </a:r>
            <a:r>
              <a:rPr kumimoji="1" lang="zh-CN" altLang="en-US" sz="2400" b="1" dirty="0">
                <a:solidFill>
                  <a:srgbClr val="000000"/>
                </a:solidFill>
                <a:latin typeface="+mn-lt"/>
                <a:ea typeface="楷体" panose="02010609060101010101" pitchFamily="49" charset="-122"/>
              </a:rPr>
              <a:t>，热膨胀系数为</a:t>
            </a:r>
            <a:r>
              <a:rPr kumimoji="1" lang="zh-CN" altLang="en-US" sz="2400" i="1" dirty="0">
                <a:solidFill>
                  <a:srgbClr val="000000"/>
                </a:solidFill>
                <a:latin typeface="+mn-lt"/>
                <a:ea typeface="楷体" panose="02010609060101010101" pitchFamily="49" charset="-122"/>
                <a:sym typeface="Symbol" panose="05050102010706020507" pitchFamily="18" charset="2"/>
              </a:rPr>
              <a:t></a:t>
            </a:r>
            <a:r>
              <a:rPr kumimoji="1" lang="zh-CN" altLang="en-US" sz="2400" b="1" dirty="0">
                <a:solidFill>
                  <a:srgbClr val="000000"/>
                </a:solidFill>
                <a:latin typeface="+mn-lt"/>
                <a:ea typeface="楷体" panose="02010609060101010101" pitchFamily="49" charset="-122"/>
              </a:rPr>
              <a:t>，求温升</a:t>
            </a:r>
            <a:r>
              <a:rPr kumimoji="1" lang="en-US" altLang="zh-CN" sz="2400" i="1" dirty="0">
                <a:solidFill>
                  <a:srgbClr val="000000"/>
                </a:solidFill>
                <a:latin typeface="+mn-lt"/>
                <a:ea typeface="楷体" panose="02010609060101010101" pitchFamily="49" charset="-122"/>
              </a:rPr>
              <a:t>T</a:t>
            </a:r>
            <a:r>
              <a:rPr kumimoji="1" lang="en-US" altLang="zh-CN" sz="2400" b="1" i="1" dirty="0">
                <a:solidFill>
                  <a:srgbClr val="000000"/>
                </a:solidFill>
                <a:latin typeface="+mn-lt"/>
                <a:ea typeface="楷体" panose="02010609060101010101" pitchFamily="49" charset="-122"/>
              </a:rPr>
              <a:t> </a:t>
            </a:r>
            <a:r>
              <a:rPr kumimoji="1" lang="zh-CN" altLang="en-US" sz="2400" b="1" dirty="0">
                <a:solidFill>
                  <a:srgbClr val="000000"/>
                </a:solidFill>
                <a:latin typeface="+mn-lt"/>
                <a:ea typeface="楷体" panose="02010609060101010101" pitchFamily="49" charset="-122"/>
              </a:rPr>
              <a:t>度后两杆的内力。</a:t>
            </a:r>
          </a:p>
        </p:txBody>
      </p:sp>
      <p:sp>
        <p:nvSpPr>
          <p:cNvPr id="66609" name="Text Box 49"/>
          <p:cNvSpPr txBox="1">
            <a:spLocks noChangeArrowheads="1"/>
          </p:cNvSpPr>
          <p:nvPr/>
        </p:nvSpPr>
        <p:spPr bwMode="auto">
          <a:xfrm>
            <a:off x="439424" y="1935984"/>
            <a:ext cx="4737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dirty="0">
                <a:solidFill>
                  <a:srgbClr val="FF0000"/>
                </a:solidFill>
                <a:latin typeface="楷体" panose="02010609060101010101" pitchFamily="49" charset="-122"/>
                <a:ea typeface="楷体" panose="02010609060101010101" pitchFamily="49" charset="-122"/>
              </a:rPr>
              <a:t>解：</a:t>
            </a:r>
            <a:r>
              <a:rPr kumimoji="1" lang="en-US" altLang="zh-CN" sz="2400" b="1" dirty="0">
                <a:solidFill>
                  <a:srgbClr val="0000FF"/>
                </a:solidFill>
                <a:latin typeface="楷体" panose="02010609060101010101" pitchFamily="49" charset="-122"/>
                <a:ea typeface="楷体" panose="02010609060101010101" pitchFamily="49" charset="-122"/>
              </a:rPr>
              <a:t>1</a:t>
            </a:r>
            <a:r>
              <a:rPr kumimoji="1" lang="zh-CN" altLang="en-US" sz="2400" b="1" dirty="0">
                <a:solidFill>
                  <a:srgbClr val="0000FF"/>
                </a:solidFill>
                <a:latin typeface="楷体" panose="02010609060101010101" pitchFamily="49" charset="-122"/>
                <a:ea typeface="楷体" panose="02010609060101010101" pitchFamily="49" charset="-122"/>
              </a:rPr>
              <a:t>、判别：为一次静</a:t>
            </a:r>
            <a:r>
              <a:rPr lang="zh-CN" altLang="en-US" b="1" dirty="0">
                <a:solidFill>
                  <a:srgbClr val="0000FF"/>
                </a:solidFill>
                <a:latin typeface="楷体" panose="02010609060101010101" pitchFamily="49" charset="-122"/>
                <a:ea typeface="楷体" panose="02010609060101010101" pitchFamily="49" charset="-122"/>
              </a:rPr>
              <a:t>不</a:t>
            </a:r>
            <a:r>
              <a:rPr kumimoji="1" lang="zh-CN" altLang="en-US" sz="2400" b="1" dirty="0">
                <a:solidFill>
                  <a:srgbClr val="0000FF"/>
                </a:solidFill>
                <a:latin typeface="楷体" panose="02010609060101010101" pitchFamily="49" charset="-122"/>
                <a:ea typeface="楷体" panose="02010609060101010101" pitchFamily="49" charset="-122"/>
              </a:rPr>
              <a:t>定</a:t>
            </a:r>
          </a:p>
        </p:txBody>
      </p:sp>
      <p:sp>
        <p:nvSpPr>
          <p:cNvPr id="66610" name="Text Box 50"/>
          <p:cNvSpPr txBox="1">
            <a:spLocks noChangeArrowheads="1"/>
          </p:cNvSpPr>
          <p:nvPr/>
        </p:nvSpPr>
        <p:spPr bwMode="auto">
          <a:xfrm>
            <a:off x="501419" y="2489916"/>
            <a:ext cx="5162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defRPr b="1">
                <a:solidFill>
                  <a:srgbClr val="FF0000"/>
                </a:solidFill>
                <a:latin typeface="楷体" panose="02010609060101010101" pitchFamily="49" charset="-122"/>
                <a:ea typeface="楷体" panose="02010609060101010101" pitchFamily="49" charset="-122"/>
              </a:defRPr>
            </a:lvl1pPr>
          </a:lstStyle>
          <a:p>
            <a:r>
              <a:rPr lang="en-US" altLang="zh-CN" dirty="0">
                <a:solidFill>
                  <a:srgbClr val="0000FF"/>
                </a:solidFill>
              </a:rPr>
              <a:t>2</a:t>
            </a:r>
            <a:r>
              <a:rPr lang="zh-CN" altLang="en-US" dirty="0">
                <a:solidFill>
                  <a:srgbClr val="0000FF"/>
                </a:solidFill>
              </a:rPr>
              <a:t>、假设变形状态，确定内力方向</a:t>
            </a:r>
          </a:p>
        </p:txBody>
      </p:sp>
      <p:grpSp>
        <p:nvGrpSpPr>
          <p:cNvPr id="66611" name="Group 51"/>
          <p:cNvGrpSpPr>
            <a:grpSpLocks/>
          </p:cNvGrpSpPr>
          <p:nvPr/>
        </p:nvGrpSpPr>
        <p:grpSpPr bwMode="auto">
          <a:xfrm>
            <a:off x="540312" y="3058229"/>
            <a:ext cx="4106863" cy="500063"/>
            <a:chOff x="173" y="1695"/>
            <a:chExt cx="2587" cy="315"/>
          </a:xfrm>
        </p:grpSpPr>
        <p:sp>
          <p:nvSpPr>
            <p:cNvPr id="66612" name="Text Box 52"/>
            <p:cNvSpPr txBox="1">
              <a:spLocks noChangeArrowheads="1"/>
            </p:cNvSpPr>
            <p:nvPr/>
          </p:nvSpPr>
          <p:spPr bwMode="auto">
            <a:xfrm>
              <a:off x="173" y="1700"/>
              <a:ext cx="118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400" b="1" dirty="0">
                  <a:solidFill>
                    <a:srgbClr val="0000FF"/>
                  </a:solidFill>
                  <a:latin typeface="楷体" panose="02010609060101010101" pitchFamily="49" charset="-122"/>
                  <a:ea typeface="楷体" panose="02010609060101010101" pitchFamily="49" charset="-122"/>
                </a:rPr>
                <a:t>3</a:t>
              </a:r>
              <a:r>
                <a:rPr kumimoji="1" lang="zh-CN" altLang="en-US" sz="2400" b="1" dirty="0">
                  <a:solidFill>
                    <a:srgbClr val="0000FF"/>
                  </a:solidFill>
                  <a:latin typeface="楷体" panose="02010609060101010101" pitchFamily="49" charset="-122"/>
                  <a:ea typeface="楷体" panose="02010609060101010101" pitchFamily="49" charset="-122"/>
                </a:rPr>
                <a:t>、平衡方程</a:t>
              </a:r>
            </a:p>
          </p:txBody>
        </p:sp>
        <p:graphicFrame>
          <p:nvGraphicFramePr>
            <p:cNvPr id="66613" name="Object 53"/>
            <p:cNvGraphicFramePr>
              <a:graphicFrameLocks noChangeAspect="1"/>
            </p:cNvGraphicFramePr>
            <p:nvPr>
              <p:extLst>
                <p:ext uri="{D42A27DB-BD31-4B8C-83A1-F6EECF244321}">
                  <p14:modId xmlns:p14="http://schemas.microsoft.com/office/powerpoint/2010/main" val="1324124476"/>
                </p:ext>
              </p:extLst>
            </p:nvPr>
          </p:nvGraphicFramePr>
          <p:xfrm>
            <a:off x="1504" y="1695"/>
            <a:ext cx="1256" cy="315"/>
          </p:xfrm>
          <a:graphic>
            <a:graphicData uri="http://schemas.openxmlformats.org/presentationml/2006/ole">
              <mc:AlternateContent xmlns:mc="http://schemas.openxmlformats.org/markup-compatibility/2006">
                <mc:Choice xmlns:v="urn:schemas-microsoft-com:vml" Requires="v">
                  <p:oleObj name="Equation" r:id="rId3" imgW="914400" imgH="228600" progId="Equation.DSMT4">
                    <p:embed/>
                  </p:oleObj>
                </mc:Choice>
                <mc:Fallback>
                  <p:oleObj name="Equation" r:id="rId3" imgW="914400" imgH="228600" progId="Equation.DSMT4">
                    <p:embed/>
                    <p:pic>
                      <p:nvPicPr>
                        <p:cNvPr id="0" name=""/>
                        <p:cNvPicPr>
                          <a:picLocks noChangeAspect="1" noChangeArrowheads="1"/>
                        </p:cNvPicPr>
                        <p:nvPr/>
                      </p:nvPicPr>
                      <p:blipFill>
                        <a:blip r:embed="rId4"/>
                        <a:srcRect/>
                        <a:stretch>
                          <a:fillRect/>
                        </a:stretch>
                      </p:blipFill>
                      <p:spPr bwMode="auto">
                        <a:xfrm>
                          <a:off x="1504" y="1695"/>
                          <a:ext cx="1256"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6614" name="Text Box 54"/>
          <p:cNvSpPr txBox="1">
            <a:spLocks noChangeArrowheads="1"/>
          </p:cNvSpPr>
          <p:nvPr/>
        </p:nvSpPr>
        <p:spPr bwMode="auto">
          <a:xfrm>
            <a:off x="539552" y="5601853"/>
            <a:ext cx="2767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kumimoji="1" lang="en-US" altLang="zh-CN" sz="2400" b="1" dirty="0">
                <a:solidFill>
                  <a:srgbClr val="0000FF"/>
                </a:solidFill>
                <a:latin typeface="楷体" panose="02010609060101010101" pitchFamily="49" charset="-122"/>
                <a:ea typeface="楷体" panose="02010609060101010101" pitchFamily="49" charset="-122"/>
              </a:rPr>
              <a:t>6</a:t>
            </a:r>
            <a:r>
              <a:rPr kumimoji="1" lang="zh-CN" altLang="en-US" sz="2400" b="1" dirty="0">
                <a:solidFill>
                  <a:srgbClr val="0000FF"/>
                </a:solidFill>
                <a:latin typeface="楷体" panose="02010609060101010101" pitchFamily="49" charset="-122"/>
                <a:ea typeface="楷体" panose="02010609060101010101" pitchFamily="49" charset="-122"/>
              </a:rPr>
              <a:t>、联立求解得</a:t>
            </a:r>
          </a:p>
        </p:txBody>
      </p:sp>
      <p:graphicFrame>
        <p:nvGraphicFramePr>
          <p:cNvPr id="66615" name="Object 55"/>
          <p:cNvGraphicFramePr>
            <a:graphicFrameLocks noChangeAspect="1"/>
          </p:cNvGraphicFramePr>
          <p:nvPr>
            <p:extLst>
              <p:ext uri="{D42A27DB-BD31-4B8C-83A1-F6EECF244321}">
                <p14:modId xmlns:p14="http://schemas.microsoft.com/office/powerpoint/2010/main" val="631096311"/>
              </p:ext>
            </p:extLst>
          </p:nvPr>
        </p:nvGraphicFramePr>
        <p:xfrm>
          <a:off x="2842343" y="5603969"/>
          <a:ext cx="4105275" cy="762000"/>
        </p:xfrm>
        <a:graphic>
          <a:graphicData uri="http://schemas.openxmlformats.org/presentationml/2006/ole">
            <mc:AlternateContent xmlns:mc="http://schemas.openxmlformats.org/markup-compatibility/2006">
              <mc:Choice xmlns:v="urn:schemas-microsoft-com:vml" Requires="v">
                <p:oleObj name="Equation" r:id="rId5" imgW="2120760" imgH="393480" progId="Equation.DSMT4">
                  <p:embed/>
                </p:oleObj>
              </mc:Choice>
              <mc:Fallback>
                <p:oleObj name="Equation" r:id="rId5" imgW="2120760" imgH="393480" progId="Equation.DSMT4">
                  <p:embed/>
                  <p:pic>
                    <p:nvPicPr>
                      <p:cNvPr id="0" name=""/>
                      <p:cNvPicPr>
                        <a:picLocks noChangeAspect="1" noChangeArrowheads="1"/>
                      </p:cNvPicPr>
                      <p:nvPr/>
                    </p:nvPicPr>
                    <p:blipFill>
                      <a:blip r:embed="rId6"/>
                      <a:srcRect/>
                      <a:stretch>
                        <a:fillRect/>
                      </a:stretch>
                    </p:blipFill>
                    <p:spPr bwMode="auto">
                      <a:xfrm>
                        <a:off x="2842343" y="5603969"/>
                        <a:ext cx="4105275"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6616" name="Group 56"/>
          <p:cNvGrpSpPr>
            <a:grpSpLocks/>
          </p:cNvGrpSpPr>
          <p:nvPr/>
        </p:nvGrpSpPr>
        <p:grpSpPr bwMode="auto">
          <a:xfrm>
            <a:off x="513770" y="4221757"/>
            <a:ext cx="4738688" cy="1308100"/>
            <a:chOff x="175" y="2287"/>
            <a:chExt cx="2985" cy="824"/>
          </a:xfrm>
        </p:grpSpPr>
        <p:grpSp>
          <p:nvGrpSpPr>
            <p:cNvPr id="66617" name="Group 57"/>
            <p:cNvGrpSpPr>
              <a:grpSpLocks/>
            </p:cNvGrpSpPr>
            <p:nvPr/>
          </p:nvGrpSpPr>
          <p:grpSpPr bwMode="auto">
            <a:xfrm>
              <a:off x="175" y="2287"/>
              <a:ext cx="2985" cy="542"/>
              <a:chOff x="175" y="2287"/>
              <a:chExt cx="2985" cy="542"/>
            </a:xfrm>
          </p:grpSpPr>
          <p:sp>
            <p:nvSpPr>
              <p:cNvPr id="66618" name="Text Box 58"/>
              <p:cNvSpPr txBox="1">
                <a:spLocks noChangeArrowheads="1"/>
              </p:cNvSpPr>
              <p:nvPr/>
            </p:nvSpPr>
            <p:spPr bwMode="auto">
              <a:xfrm>
                <a:off x="175" y="2389"/>
                <a:ext cx="118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400" b="1" dirty="0">
                    <a:solidFill>
                      <a:srgbClr val="0000FF"/>
                    </a:solidFill>
                    <a:latin typeface="楷体" panose="02010609060101010101" pitchFamily="49" charset="-122"/>
                    <a:ea typeface="楷体" panose="02010609060101010101" pitchFamily="49" charset="-122"/>
                  </a:rPr>
                  <a:t>5</a:t>
                </a:r>
                <a:r>
                  <a:rPr kumimoji="1" lang="zh-CN" altLang="en-US" sz="2400" b="1" dirty="0">
                    <a:solidFill>
                      <a:srgbClr val="0000FF"/>
                    </a:solidFill>
                    <a:latin typeface="楷体" panose="02010609060101010101" pitchFamily="49" charset="-122"/>
                    <a:ea typeface="楷体" panose="02010609060101010101" pitchFamily="49" charset="-122"/>
                  </a:rPr>
                  <a:t>、物理方程</a:t>
                </a:r>
              </a:p>
            </p:txBody>
          </p:sp>
          <p:graphicFrame>
            <p:nvGraphicFramePr>
              <p:cNvPr id="66619" name="Object 59"/>
              <p:cNvGraphicFramePr>
                <a:graphicFrameLocks noChangeAspect="1"/>
              </p:cNvGraphicFramePr>
              <p:nvPr>
                <p:extLst>
                  <p:ext uri="{D42A27DB-BD31-4B8C-83A1-F6EECF244321}">
                    <p14:modId xmlns:p14="http://schemas.microsoft.com/office/powerpoint/2010/main" val="231950256"/>
                  </p:ext>
                </p:extLst>
              </p:nvPr>
            </p:nvGraphicFramePr>
            <p:xfrm>
              <a:off x="1451" y="2287"/>
              <a:ext cx="1709" cy="542"/>
            </p:xfrm>
            <a:graphic>
              <a:graphicData uri="http://schemas.openxmlformats.org/presentationml/2006/ole">
                <mc:AlternateContent xmlns:mc="http://schemas.openxmlformats.org/markup-compatibility/2006">
                  <mc:Choice xmlns:v="urn:schemas-microsoft-com:vml" Requires="v">
                    <p:oleObj name="Equation" r:id="rId7" imgW="1244520" imgH="393480" progId="Equation.DSMT4">
                      <p:embed/>
                    </p:oleObj>
                  </mc:Choice>
                  <mc:Fallback>
                    <p:oleObj name="Equation" r:id="rId7" imgW="1244520" imgH="393480" progId="Equation.DSMT4">
                      <p:embed/>
                      <p:pic>
                        <p:nvPicPr>
                          <p:cNvPr id="0" name=""/>
                          <p:cNvPicPr>
                            <a:picLocks noChangeAspect="1" noChangeArrowheads="1"/>
                          </p:cNvPicPr>
                          <p:nvPr/>
                        </p:nvPicPr>
                        <p:blipFill>
                          <a:blip r:embed="rId8"/>
                          <a:srcRect/>
                          <a:stretch>
                            <a:fillRect/>
                          </a:stretch>
                        </p:blipFill>
                        <p:spPr bwMode="auto">
                          <a:xfrm>
                            <a:off x="1451" y="2287"/>
                            <a:ext cx="1709" cy="5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66620" name="Object 60"/>
            <p:cNvGraphicFramePr>
              <a:graphicFrameLocks noChangeAspect="1"/>
            </p:cNvGraphicFramePr>
            <p:nvPr/>
          </p:nvGraphicFramePr>
          <p:xfrm>
            <a:off x="1440" y="2832"/>
            <a:ext cx="960" cy="279"/>
          </p:xfrm>
          <a:graphic>
            <a:graphicData uri="http://schemas.openxmlformats.org/presentationml/2006/ole">
              <mc:AlternateContent xmlns:mc="http://schemas.openxmlformats.org/markup-compatibility/2006">
                <mc:Choice xmlns:v="urn:schemas-microsoft-com:vml" Requires="v">
                  <p:oleObj name="Equation" r:id="rId9" imgW="698400" imgH="203040" progId="Equation.3">
                    <p:embed/>
                  </p:oleObj>
                </mc:Choice>
                <mc:Fallback>
                  <p:oleObj name="Equation" r:id="rId9" imgW="698400" imgH="20304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40" y="2832"/>
                          <a:ext cx="960" cy="2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6622" name="Text Box 62"/>
          <p:cNvSpPr txBox="1">
            <a:spLocks noChangeArrowheads="1"/>
          </p:cNvSpPr>
          <p:nvPr/>
        </p:nvSpPr>
        <p:spPr bwMode="auto">
          <a:xfrm>
            <a:off x="426252" y="3662844"/>
            <a:ext cx="18875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400" b="1" dirty="0">
                <a:solidFill>
                  <a:srgbClr val="0000FF"/>
                </a:solidFill>
                <a:latin typeface="楷体" panose="02010609060101010101" pitchFamily="49" charset="-122"/>
                <a:ea typeface="楷体" panose="02010609060101010101" pitchFamily="49" charset="-122"/>
              </a:rPr>
              <a:t>4</a:t>
            </a:r>
            <a:r>
              <a:rPr kumimoji="1" lang="zh-CN" altLang="en-US" sz="2400" b="1" dirty="0">
                <a:solidFill>
                  <a:srgbClr val="0000FF"/>
                </a:solidFill>
                <a:latin typeface="楷体" panose="02010609060101010101" pitchFamily="49" charset="-122"/>
                <a:ea typeface="楷体" panose="02010609060101010101" pitchFamily="49" charset="-122"/>
              </a:rPr>
              <a:t>、几何方程</a:t>
            </a:r>
          </a:p>
        </p:txBody>
      </p:sp>
      <p:grpSp>
        <p:nvGrpSpPr>
          <p:cNvPr id="2" name="组合 1"/>
          <p:cNvGrpSpPr/>
          <p:nvPr/>
        </p:nvGrpSpPr>
        <p:grpSpPr>
          <a:xfrm>
            <a:off x="5486400" y="3506290"/>
            <a:ext cx="3494087" cy="2590800"/>
            <a:chOff x="5486400" y="3506290"/>
            <a:chExt cx="3494087" cy="2590800"/>
          </a:xfrm>
        </p:grpSpPr>
        <p:grpSp>
          <p:nvGrpSpPr>
            <p:cNvPr id="66624" name="Group 64"/>
            <p:cNvGrpSpPr>
              <a:grpSpLocks/>
            </p:cNvGrpSpPr>
            <p:nvPr/>
          </p:nvGrpSpPr>
          <p:grpSpPr bwMode="auto">
            <a:xfrm>
              <a:off x="5486400" y="3506290"/>
              <a:ext cx="3494087" cy="2590800"/>
              <a:chOff x="3550" y="2364"/>
              <a:chExt cx="2201" cy="1632"/>
            </a:xfrm>
          </p:grpSpPr>
          <p:sp>
            <p:nvSpPr>
              <p:cNvPr id="66625" name="Rectangle 65" descr="编织物"/>
              <p:cNvSpPr>
                <a:spLocks noChangeArrowheads="1"/>
              </p:cNvSpPr>
              <p:nvPr/>
            </p:nvSpPr>
            <p:spPr bwMode="auto">
              <a:xfrm rot="1200000">
                <a:off x="3680" y="3394"/>
                <a:ext cx="1694" cy="110"/>
              </a:xfrm>
              <a:prstGeom prst="rect">
                <a:avLst/>
              </a:prstGeom>
              <a:blipFill dpi="0" rotWithShape="0">
                <a:blip r:embed="rId2"/>
                <a:srcRect/>
                <a:tile tx="0" ty="0" sx="100000" sy="100000" flip="none" algn="tl"/>
              </a:bli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26" name="Rectangle 66"/>
              <p:cNvSpPr>
                <a:spLocks noChangeArrowheads="1"/>
              </p:cNvSpPr>
              <p:nvPr/>
            </p:nvSpPr>
            <p:spPr bwMode="auto">
              <a:xfrm>
                <a:off x="5079" y="2902"/>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b="1" i="1">
                    <a:solidFill>
                      <a:srgbClr val="000000"/>
                    </a:solidFill>
                    <a:latin typeface="Times New Roman" panose="02020603050405020304" pitchFamily="18" charset="0"/>
                    <a:ea typeface="宋体" panose="02010600030101010101" pitchFamily="2" charset="-122"/>
                  </a:rPr>
                  <a:t>C</a:t>
                </a:r>
              </a:p>
            </p:txBody>
          </p:sp>
          <p:sp>
            <p:nvSpPr>
              <p:cNvPr id="66627" name="Rectangle 67"/>
              <p:cNvSpPr>
                <a:spLocks noChangeArrowheads="1"/>
              </p:cNvSpPr>
              <p:nvPr/>
            </p:nvSpPr>
            <p:spPr bwMode="auto">
              <a:xfrm>
                <a:off x="3550" y="2942"/>
                <a:ext cx="24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kumimoji="1" lang="en-US" altLang="zh-CN" sz="2000" b="1" i="1" dirty="0">
                    <a:solidFill>
                      <a:srgbClr val="000000"/>
                    </a:solidFill>
                    <a:latin typeface="Times New Roman" panose="02020603050405020304" pitchFamily="18" charset="0"/>
                    <a:ea typeface="宋体" panose="02010600030101010101" pitchFamily="2" charset="-122"/>
                  </a:rPr>
                  <a:t>A</a:t>
                </a:r>
              </a:p>
            </p:txBody>
          </p:sp>
          <p:sp>
            <p:nvSpPr>
              <p:cNvPr id="66628" name="Rectangle 68"/>
              <p:cNvSpPr>
                <a:spLocks noChangeArrowheads="1"/>
              </p:cNvSpPr>
              <p:nvPr/>
            </p:nvSpPr>
            <p:spPr bwMode="auto">
              <a:xfrm>
                <a:off x="4299" y="2875"/>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b="1" i="1">
                    <a:solidFill>
                      <a:srgbClr val="000000"/>
                    </a:solidFill>
                    <a:latin typeface="Times New Roman" panose="02020603050405020304" pitchFamily="18" charset="0"/>
                    <a:ea typeface="宋体" panose="02010600030101010101" pitchFamily="2" charset="-122"/>
                  </a:rPr>
                  <a:t>B</a:t>
                </a:r>
              </a:p>
            </p:txBody>
          </p:sp>
          <p:sp>
            <p:nvSpPr>
              <p:cNvPr id="66629" name="Line 69"/>
              <p:cNvSpPr>
                <a:spLocks noChangeShapeType="1"/>
              </p:cNvSpPr>
              <p:nvPr/>
            </p:nvSpPr>
            <p:spPr bwMode="auto">
              <a:xfrm>
                <a:off x="5284" y="3202"/>
                <a:ext cx="0" cy="432"/>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6630" name="Line 70"/>
              <p:cNvSpPr>
                <a:spLocks noChangeShapeType="1"/>
              </p:cNvSpPr>
              <p:nvPr/>
            </p:nvSpPr>
            <p:spPr bwMode="auto">
              <a:xfrm>
                <a:off x="4525" y="3112"/>
                <a:ext cx="0" cy="104"/>
              </a:xfrm>
              <a:prstGeom prst="line">
                <a:avLst/>
              </a:prstGeom>
              <a:noFill/>
              <a:ln w="31750">
                <a:solidFill>
                  <a:srgbClr val="8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6631" name="Line 71"/>
              <p:cNvSpPr>
                <a:spLocks noChangeShapeType="1"/>
              </p:cNvSpPr>
              <p:nvPr/>
            </p:nvSpPr>
            <p:spPr bwMode="auto">
              <a:xfrm>
                <a:off x="4517" y="2660"/>
                <a:ext cx="0" cy="44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32" name="Oval 72"/>
              <p:cNvSpPr>
                <a:spLocks noChangeArrowheads="1"/>
              </p:cNvSpPr>
              <p:nvPr/>
            </p:nvSpPr>
            <p:spPr bwMode="auto">
              <a:xfrm>
                <a:off x="4459" y="3298"/>
                <a:ext cx="115" cy="11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33" name="Line 73"/>
              <p:cNvSpPr>
                <a:spLocks noChangeShapeType="1"/>
              </p:cNvSpPr>
              <p:nvPr/>
            </p:nvSpPr>
            <p:spPr bwMode="auto">
              <a:xfrm>
                <a:off x="5284" y="2665"/>
                <a:ext cx="0" cy="43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34" name="Oval 74"/>
              <p:cNvSpPr>
                <a:spLocks noChangeArrowheads="1"/>
              </p:cNvSpPr>
              <p:nvPr/>
            </p:nvSpPr>
            <p:spPr bwMode="auto">
              <a:xfrm>
                <a:off x="5226" y="3586"/>
                <a:ext cx="115" cy="11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35" name="Line 75"/>
              <p:cNvSpPr>
                <a:spLocks noChangeShapeType="1"/>
              </p:cNvSpPr>
              <p:nvPr/>
            </p:nvSpPr>
            <p:spPr bwMode="auto">
              <a:xfrm>
                <a:off x="3739" y="3112"/>
                <a:ext cx="1584" cy="0"/>
              </a:xfrm>
              <a:prstGeom prst="line">
                <a:avLst/>
              </a:prstGeom>
              <a:noFill/>
              <a:ln w="2222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66636" name="Rectangle 76"/>
              <p:cNvSpPr>
                <a:spLocks noChangeArrowheads="1"/>
              </p:cNvSpPr>
              <p:nvPr/>
            </p:nvSpPr>
            <p:spPr bwMode="auto">
              <a:xfrm>
                <a:off x="5227" y="3744"/>
                <a:ext cx="26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b="1" i="1" dirty="0">
                    <a:solidFill>
                      <a:srgbClr val="000000"/>
                    </a:solidFill>
                    <a:latin typeface="Times New Roman" panose="02020603050405020304" pitchFamily="18" charset="0"/>
                    <a:ea typeface="宋体" panose="02010600030101010101" pitchFamily="2" charset="-122"/>
                  </a:rPr>
                  <a:t>C</a:t>
                </a:r>
                <a:r>
                  <a:rPr kumimoji="1" lang="en-US" altLang="zh-CN" sz="2000" b="1" i="1" dirty="0">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000" b="1" i="1" dirty="0">
                  <a:solidFill>
                    <a:srgbClr val="000000"/>
                  </a:solidFill>
                  <a:latin typeface="Times New Roman" panose="02020603050405020304" pitchFamily="18" charset="0"/>
                  <a:ea typeface="宋体" panose="02010600030101010101" pitchFamily="2" charset="-122"/>
                </a:endParaRPr>
              </a:p>
            </p:txBody>
          </p:sp>
          <p:sp>
            <p:nvSpPr>
              <p:cNvPr id="66637" name="Rectangle 77"/>
              <p:cNvSpPr>
                <a:spLocks noChangeArrowheads="1"/>
              </p:cNvSpPr>
              <p:nvPr/>
            </p:nvSpPr>
            <p:spPr bwMode="auto">
              <a:xfrm>
                <a:off x="4289" y="3456"/>
                <a:ext cx="26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en-US" altLang="zh-CN" sz="2000" b="1" i="1" dirty="0">
                    <a:solidFill>
                      <a:srgbClr val="000000"/>
                    </a:solidFill>
                    <a:latin typeface="Times New Roman" panose="02020603050405020304" pitchFamily="18" charset="0"/>
                    <a:ea typeface="宋体" panose="02010600030101010101" pitchFamily="2" charset="-122"/>
                  </a:rPr>
                  <a:t>B</a:t>
                </a:r>
                <a:r>
                  <a:rPr kumimoji="1" lang="en-US" altLang="zh-CN" sz="2000" b="1" i="1" dirty="0">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000" b="1" i="1" dirty="0">
                  <a:solidFill>
                    <a:srgbClr val="000000"/>
                  </a:solidFill>
                  <a:latin typeface="Times New Roman" panose="02020603050405020304" pitchFamily="18" charset="0"/>
                  <a:ea typeface="宋体" panose="02010600030101010101" pitchFamily="2" charset="-122"/>
                </a:endParaRPr>
              </a:p>
            </p:txBody>
          </p:sp>
          <p:sp>
            <p:nvSpPr>
              <p:cNvPr id="66638" name="Line 78"/>
              <p:cNvSpPr>
                <a:spLocks noChangeShapeType="1"/>
              </p:cNvSpPr>
              <p:nvPr/>
            </p:nvSpPr>
            <p:spPr bwMode="auto">
              <a:xfrm flipV="1">
                <a:off x="4511" y="2422"/>
                <a:ext cx="0" cy="240"/>
              </a:xfrm>
              <a:prstGeom prst="line">
                <a:avLst/>
              </a:prstGeom>
              <a:noFill/>
              <a:ln w="3492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66639" name="Line 79"/>
              <p:cNvSpPr>
                <a:spLocks noChangeShapeType="1"/>
              </p:cNvSpPr>
              <p:nvPr/>
            </p:nvSpPr>
            <p:spPr bwMode="auto">
              <a:xfrm flipV="1">
                <a:off x="5284" y="2422"/>
                <a:ext cx="0" cy="240"/>
              </a:xfrm>
              <a:prstGeom prst="line">
                <a:avLst/>
              </a:prstGeom>
              <a:noFill/>
              <a:ln w="3492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aphicFrame>
            <p:nvGraphicFramePr>
              <p:cNvPr id="66640" name="Object 80"/>
              <p:cNvGraphicFramePr>
                <a:graphicFrameLocks noChangeAspect="1"/>
              </p:cNvGraphicFramePr>
              <p:nvPr>
                <p:extLst>
                  <p:ext uri="{D42A27DB-BD31-4B8C-83A1-F6EECF244321}">
                    <p14:modId xmlns:p14="http://schemas.microsoft.com/office/powerpoint/2010/main" val="3703264306"/>
                  </p:ext>
                </p:extLst>
              </p:nvPr>
            </p:nvGraphicFramePr>
            <p:xfrm>
              <a:off x="4219" y="2409"/>
              <a:ext cx="291" cy="275"/>
            </p:xfrm>
            <a:graphic>
              <a:graphicData uri="http://schemas.openxmlformats.org/presentationml/2006/ole">
                <mc:AlternateContent xmlns:mc="http://schemas.openxmlformats.org/markup-compatibility/2006">
                  <mc:Choice xmlns:v="urn:schemas-microsoft-com:vml" Requires="v">
                    <p:oleObj name="Equation" r:id="rId11" imgW="241200" imgH="228600" progId="Equation.DSMT4">
                      <p:embed/>
                    </p:oleObj>
                  </mc:Choice>
                  <mc:Fallback>
                    <p:oleObj name="Equation" r:id="rId11" imgW="241200" imgH="228600" progId="Equation.DSMT4">
                      <p:embed/>
                      <p:pic>
                        <p:nvPicPr>
                          <p:cNvPr id="0" name=""/>
                          <p:cNvPicPr>
                            <a:picLocks noChangeAspect="1" noChangeArrowheads="1"/>
                          </p:cNvPicPr>
                          <p:nvPr/>
                        </p:nvPicPr>
                        <p:blipFill>
                          <a:blip r:embed="rId12"/>
                          <a:srcRect/>
                          <a:stretch>
                            <a:fillRect/>
                          </a:stretch>
                        </p:blipFill>
                        <p:spPr bwMode="auto">
                          <a:xfrm>
                            <a:off x="4219" y="2409"/>
                            <a:ext cx="291" cy="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641" name="Object 81"/>
              <p:cNvGraphicFramePr>
                <a:graphicFrameLocks noChangeAspect="1"/>
              </p:cNvGraphicFramePr>
              <p:nvPr>
                <p:extLst>
                  <p:ext uri="{D42A27DB-BD31-4B8C-83A1-F6EECF244321}">
                    <p14:modId xmlns:p14="http://schemas.microsoft.com/office/powerpoint/2010/main" val="3658938543"/>
                  </p:ext>
                </p:extLst>
              </p:nvPr>
            </p:nvGraphicFramePr>
            <p:xfrm>
              <a:off x="4963" y="2364"/>
              <a:ext cx="306" cy="275"/>
            </p:xfrm>
            <a:graphic>
              <a:graphicData uri="http://schemas.openxmlformats.org/presentationml/2006/ole">
                <mc:AlternateContent xmlns:mc="http://schemas.openxmlformats.org/markup-compatibility/2006">
                  <mc:Choice xmlns:v="urn:schemas-microsoft-com:vml" Requires="v">
                    <p:oleObj name="Equation" r:id="rId13" imgW="253800" imgH="228600" progId="Equation.DSMT4">
                      <p:embed/>
                    </p:oleObj>
                  </mc:Choice>
                  <mc:Fallback>
                    <p:oleObj name="Equation" r:id="rId13" imgW="253800" imgH="228600" progId="Equation.DSMT4">
                      <p:embed/>
                      <p:pic>
                        <p:nvPicPr>
                          <p:cNvPr id="0" name=""/>
                          <p:cNvPicPr>
                            <a:picLocks noChangeAspect="1" noChangeArrowheads="1"/>
                          </p:cNvPicPr>
                          <p:nvPr/>
                        </p:nvPicPr>
                        <p:blipFill>
                          <a:blip r:embed="rId14"/>
                          <a:srcRect/>
                          <a:stretch>
                            <a:fillRect/>
                          </a:stretch>
                        </p:blipFill>
                        <p:spPr bwMode="auto">
                          <a:xfrm>
                            <a:off x="4963" y="2364"/>
                            <a:ext cx="306" cy="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642" name="Line 82"/>
              <p:cNvSpPr>
                <a:spLocks noChangeShapeType="1"/>
              </p:cNvSpPr>
              <p:nvPr/>
            </p:nvSpPr>
            <p:spPr bwMode="auto">
              <a:xfrm>
                <a:off x="4525" y="3216"/>
                <a:ext cx="0" cy="96"/>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66643" name="Line 83"/>
              <p:cNvSpPr>
                <a:spLocks noChangeShapeType="1"/>
              </p:cNvSpPr>
              <p:nvPr/>
            </p:nvSpPr>
            <p:spPr bwMode="auto">
              <a:xfrm>
                <a:off x="5284" y="3120"/>
                <a:ext cx="0" cy="104"/>
              </a:xfrm>
              <a:prstGeom prst="line">
                <a:avLst/>
              </a:prstGeom>
              <a:noFill/>
              <a:ln w="31750">
                <a:solidFill>
                  <a:srgbClr val="8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aphicFrame>
            <p:nvGraphicFramePr>
              <p:cNvPr id="66644" name="Object 84"/>
              <p:cNvGraphicFramePr>
                <a:graphicFrameLocks noChangeAspect="1"/>
              </p:cNvGraphicFramePr>
              <p:nvPr/>
            </p:nvGraphicFramePr>
            <p:xfrm>
              <a:off x="5410" y="2935"/>
              <a:ext cx="341" cy="233"/>
            </p:xfrm>
            <a:graphic>
              <a:graphicData uri="http://schemas.openxmlformats.org/presentationml/2006/ole">
                <mc:AlternateContent xmlns:mc="http://schemas.openxmlformats.org/markup-compatibility/2006">
                  <mc:Choice xmlns:v="urn:schemas-microsoft-com:vml" Requires="v">
                    <p:oleObj name="Equation" r:id="rId15" imgW="279360" imgH="190440" progId="Equation.3">
                      <p:embed/>
                    </p:oleObj>
                  </mc:Choice>
                  <mc:Fallback>
                    <p:oleObj name="Equation" r:id="rId15" imgW="279360" imgH="19044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410" y="2935"/>
                            <a:ext cx="341"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645" name="Line 85"/>
              <p:cNvSpPr>
                <a:spLocks noChangeShapeType="1"/>
              </p:cNvSpPr>
              <p:nvPr/>
            </p:nvSpPr>
            <p:spPr bwMode="auto">
              <a:xfrm flipV="1">
                <a:off x="5280" y="3108"/>
                <a:ext cx="149"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aphicFrame>
            <p:nvGraphicFramePr>
              <p:cNvPr id="66646" name="Object 86"/>
              <p:cNvGraphicFramePr>
                <a:graphicFrameLocks noChangeAspect="1"/>
              </p:cNvGraphicFramePr>
              <p:nvPr/>
            </p:nvGraphicFramePr>
            <p:xfrm>
              <a:off x="5413" y="3384"/>
              <a:ext cx="325" cy="264"/>
            </p:xfrm>
            <a:graphic>
              <a:graphicData uri="http://schemas.openxmlformats.org/presentationml/2006/ole">
                <mc:AlternateContent xmlns:mc="http://schemas.openxmlformats.org/markup-compatibility/2006">
                  <mc:Choice xmlns:v="urn:schemas-microsoft-com:vml" Requires="v">
                    <p:oleObj name="Equation" r:id="rId17" imgW="266400" imgH="215640" progId="Equation.3">
                      <p:embed/>
                    </p:oleObj>
                  </mc:Choice>
                  <mc:Fallback>
                    <p:oleObj name="Equation" r:id="rId17" imgW="266400" imgH="215640"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413" y="3384"/>
                            <a:ext cx="325"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647" name="Line 87"/>
              <p:cNvSpPr>
                <a:spLocks noChangeShapeType="1"/>
              </p:cNvSpPr>
              <p:nvPr/>
            </p:nvSpPr>
            <p:spPr bwMode="auto">
              <a:xfrm>
                <a:off x="5280" y="3408"/>
                <a:ext cx="149" cy="5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aphicFrame>
            <p:nvGraphicFramePr>
              <p:cNvPr id="66648" name="Object 88"/>
              <p:cNvGraphicFramePr>
                <a:graphicFrameLocks noChangeAspect="1"/>
              </p:cNvGraphicFramePr>
              <p:nvPr/>
            </p:nvGraphicFramePr>
            <p:xfrm>
              <a:off x="4818" y="3234"/>
              <a:ext cx="309" cy="264"/>
            </p:xfrm>
            <a:graphic>
              <a:graphicData uri="http://schemas.openxmlformats.org/presentationml/2006/ole">
                <mc:AlternateContent xmlns:mc="http://schemas.openxmlformats.org/markup-compatibility/2006">
                  <mc:Choice xmlns:v="urn:schemas-microsoft-com:vml" Requires="v">
                    <p:oleObj name="Equation" r:id="rId19" imgW="253800" imgH="215640" progId="Equation.3">
                      <p:embed/>
                    </p:oleObj>
                  </mc:Choice>
                  <mc:Fallback>
                    <p:oleObj name="Equation" r:id="rId19" imgW="253800" imgH="215640"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818" y="3234"/>
                            <a:ext cx="309"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649" name="Line 89"/>
              <p:cNvSpPr>
                <a:spLocks noChangeShapeType="1"/>
              </p:cNvSpPr>
              <p:nvPr/>
            </p:nvSpPr>
            <p:spPr bwMode="auto">
              <a:xfrm>
                <a:off x="4567" y="3258"/>
                <a:ext cx="240"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aphicFrame>
            <p:nvGraphicFramePr>
              <p:cNvPr id="66650" name="Object 90"/>
              <p:cNvGraphicFramePr>
                <a:graphicFrameLocks noChangeAspect="1"/>
              </p:cNvGraphicFramePr>
              <p:nvPr/>
            </p:nvGraphicFramePr>
            <p:xfrm>
              <a:off x="4699" y="2832"/>
              <a:ext cx="341" cy="233"/>
            </p:xfrm>
            <a:graphic>
              <a:graphicData uri="http://schemas.openxmlformats.org/presentationml/2006/ole">
                <mc:AlternateContent xmlns:mc="http://schemas.openxmlformats.org/markup-compatibility/2006">
                  <mc:Choice xmlns:v="urn:schemas-microsoft-com:vml" Requires="v">
                    <p:oleObj name="Equation" r:id="rId15" imgW="279360" imgH="190440" progId="Equation.3">
                      <p:embed/>
                    </p:oleObj>
                  </mc:Choice>
                  <mc:Fallback>
                    <p:oleObj name="Equation" r:id="rId15" imgW="279360" imgH="190440"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699" y="2832"/>
                            <a:ext cx="341"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651" name="Line 91"/>
              <p:cNvSpPr>
                <a:spLocks noChangeShapeType="1"/>
              </p:cNvSpPr>
              <p:nvPr/>
            </p:nvSpPr>
            <p:spPr bwMode="auto">
              <a:xfrm flipV="1">
                <a:off x="4555" y="3056"/>
                <a:ext cx="240"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sp>
          <p:nvSpPr>
            <p:cNvPr id="92" name="Line 79"/>
            <p:cNvSpPr>
              <a:spLocks noChangeShapeType="1"/>
            </p:cNvSpPr>
            <p:nvPr/>
          </p:nvSpPr>
          <p:spPr bwMode="auto">
            <a:xfrm flipV="1">
              <a:off x="5819450" y="4308398"/>
              <a:ext cx="0" cy="381000"/>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93" name="Line 79"/>
            <p:cNvSpPr>
              <a:spLocks noChangeShapeType="1"/>
            </p:cNvSpPr>
            <p:nvPr/>
          </p:nvSpPr>
          <p:spPr bwMode="auto">
            <a:xfrm rot="5400000" flipH="1" flipV="1">
              <a:off x="6007902" y="4498898"/>
              <a:ext cx="0" cy="381000"/>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94" name="Text Box 82"/>
            <p:cNvSpPr txBox="1">
              <a:spLocks noChangeArrowheads="1"/>
            </p:cNvSpPr>
            <p:nvPr/>
          </p:nvSpPr>
          <p:spPr bwMode="auto">
            <a:xfrm>
              <a:off x="6099658" y="4269092"/>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400" b="1" i="1" dirty="0" err="1">
                  <a:solidFill>
                    <a:srgbClr val="FF0000"/>
                  </a:solidFill>
                  <a:latin typeface="Times New Roman" panose="02020603050405020304" pitchFamily="18" charset="0"/>
                  <a:ea typeface="宋体" panose="02010600030101010101" pitchFamily="2" charset="-122"/>
                </a:rPr>
                <a:t>F</a:t>
              </a:r>
              <a:r>
                <a:rPr kumimoji="1" lang="en-US" altLang="zh-CN" sz="2400" b="1" i="1" baseline="-25000" dirty="0" err="1">
                  <a:solidFill>
                    <a:srgbClr val="FF0000"/>
                  </a:solidFill>
                  <a:latin typeface="Times New Roman" panose="02020603050405020304" pitchFamily="18" charset="0"/>
                  <a:ea typeface="宋体" panose="02010600030101010101" pitchFamily="2" charset="-122"/>
                </a:rPr>
                <a:t>x</a:t>
              </a:r>
              <a:endParaRPr kumimoji="1" lang="en-US" altLang="zh-CN" sz="2400" b="1" i="1" baseline="-25000" dirty="0">
                <a:solidFill>
                  <a:srgbClr val="FF0000"/>
                </a:solidFill>
                <a:latin typeface="Times New Roman" panose="02020603050405020304" pitchFamily="18" charset="0"/>
                <a:ea typeface="宋体" panose="02010600030101010101" pitchFamily="2" charset="-122"/>
              </a:endParaRPr>
            </a:p>
          </p:txBody>
        </p:sp>
        <p:sp>
          <p:nvSpPr>
            <p:cNvPr id="95" name="Text Box 82"/>
            <p:cNvSpPr txBox="1">
              <a:spLocks noChangeArrowheads="1"/>
            </p:cNvSpPr>
            <p:nvPr/>
          </p:nvSpPr>
          <p:spPr bwMode="auto">
            <a:xfrm>
              <a:off x="5775711" y="3992067"/>
              <a:ext cx="4812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400" b="1" i="1" dirty="0" err="1">
                  <a:solidFill>
                    <a:srgbClr val="FF0000"/>
                  </a:solidFill>
                  <a:latin typeface="Times New Roman" panose="02020603050405020304" pitchFamily="18" charset="0"/>
                  <a:ea typeface="宋体" panose="02010600030101010101" pitchFamily="2" charset="-122"/>
                </a:rPr>
                <a:t>F</a:t>
              </a:r>
              <a:r>
                <a:rPr kumimoji="1" lang="en-US" altLang="zh-CN" sz="2400" b="1" i="1" baseline="-25000" dirty="0" err="1">
                  <a:solidFill>
                    <a:srgbClr val="FF0000"/>
                  </a:solidFill>
                  <a:latin typeface="Times New Roman" panose="02020603050405020304" pitchFamily="18" charset="0"/>
                  <a:ea typeface="宋体" panose="02010600030101010101" pitchFamily="2" charset="-122"/>
                </a:rPr>
                <a:t>y</a:t>
              </a:r>
              <a:endParaRPr kumimoji="1" lang="en-US" altLang="zh-CN" sz="2400" b="1" i="1" baseline="-25000" dirty="0">
                <a:solidFill>
                  <a:srgbClr val="FF0000"/>
                </a:solidFill>
                <a:latin typeface="Times New Roman" panose="02020603050405020304" pitchFamily="18" charset="0"/>
                <a:ea typeface="宋体" panose="02010600030101010101" pitchFamily="2" charset="-122"/>
              </a:endParaRPr>
            </a:p>
          </p:txBody>
        </p:sp>
      </p:grpSp>
      <p:graphicFrame>
        <p:nvGraphicFramePr>
          <p:cNvPr id="3" name="Object 63"/>
          <p:cNvGraphicFramePr>
            <a:graphicFrameLocks noChangeAspect="1"/>
          </p:cNvGraphicFramePr>
          <p:nvPr>
            <p:extLst>
              <p:ext uri="{D42A27DB-BD31-4B8C-83A1-F6EECF244321}">
                <p14:modId xmlns:p14="http://schemas.microsoft.com/office/powerpoint/2010/main" val="3370814410"/>
              </p:ext>
            </p:extLst>
          </p:nvPr>
        </p:nvGraphicFramePr>
        <p:xfrm>
          <a:off x="2445543" y="3641107"/>
          <a:ext cx="3489325" cy="498475"/>
        </p:xfrm>
        <a:graphic>
          <a:graphicData uri="http://schemas.openxmlformats.org/presentationml/2006/ole">
            <mc:AlternateContent xmlns:mc="http://schemas.openxmlformats.org/markup-compatibility/2006">
              <mc:Choice xmlns:v="urn:schemas-microsoft-com:vml" Requires="v">
                <p:oleObj name="Equation" r:id="rId22" imgW="1600200" imgH="228600" progId="Equation.3">
                  <p:embed/>
                </p:oleObj>
              </mc:Choice>
              <mc:Fallback>
                <p:oleObj name="Equation" r:id="rId22" imgW="1600200" imgH="228600" progId="Equation.3">
                  <p:embed/>
                  <p:pic>
                    <p:nvPicPr>
                      <p:cNvPr id="66623" name="Object 6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445543" y="3641107"/>
                        <a:ext cx="3489325" cy="498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42321853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6609"/>
                                        </p:tgtEl>
                                        <p:attrNameLst>
                                          <p:attrName>style.visibility</p:attrName>
                                        </p:attrNameLst>
                                      </p:cBhvr>
                                      <p:to>
                                        <p:strVal val="visible"/>
                                      </p:to>
                                    </p:set>
                                    <p:animEffect transition="in" filter="blinds(horizontal)">
                                      <p:cBhvr>
                                        <p:cTn id="7" dur="500"/>
                                        <p:tgtEl>
                                          <p:spTgt spid="6660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6610"/>
                                        </p:tgtEl>
                                        <p:attrNameLst>
                                          <p:attrName>style.visibility</p:attrName>
                                        </p:attrNameLst>
                                      </p:cBhvr>
                                      <p:to>
                                        <p:strVal val="visible"/>
                                      </p:to>
                                    </p:set>
                                    <p:animEffect transition="in" filter="blinds(horizontal)">
                                      <p:cBhvr>
                                        <p:cTn id="17" dur="500"/>
                                        <p:tgtEl>
                                          <p:spTgt spid="6661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6611"/>
                                        </p:tgtEl>
                                        <p:attrNameLst>
                                          <p:attrName>style.visibility</p:attrName>
                                        </p:attrNameLst>
                                      </p:cBhvr>
                                      <p:to>
                                        <p:strVal val="visible"/>
                                      </p:to>
                                    </p:set>
                                    <p:animEffect transition="in" filter="blinds(horizontal)">
                                      <p:cBhvr>
                                        <p:cTn id="22" dur="500"/>
                                        <p:tgtEl>
                                          <p:spTgt spid="66611"/>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66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fade">
                                      <p:cBhvr>
                                        <p:cTn id="31" dur="500"/>
                                        <p:tgtEl>
                                          <p:spTgt spid="3"/>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66616"/>
                                        </p:tgtEl>
                                        <p:attrNameLst>
                                          <p:attrName>style.visibility</p:attrName>
                                        </p:attrNameLst>
                                      </p:cBhvr>
                                      <p:to>
                                        <p:strVal val="visible"/>
                                      </p:to>
                                    </p:set>
                                    <p:animEffect transition="in" filter="blinds(horizontal)">
                                      <p:cBhvr>
                                        <p:cTn id="36" dur="500"/>
                                        <p:tgtEl>
                                          <p:spTgt spid="66616"/>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66614"/>
                                        </p:tgtEl>
                                        <p:attrNameLst>
                                          <p:attrName>style.visibility</p:attrName>
                                        </p:attrNameLst>
                                      </p:cBhvr>
                                      <p:to>
                                        <p:strVal val="visible"/>
                                      </p:to>
                                    </p:set>
                                    <p:animEffect transition="in" filter="blinds(horizontal)">
                                      <p:cBhvr>
                                        <p:cTn id="41" dur="500"/>
                                        <p:tgtEl>
                                          <p:spTgt spid="66614"/>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66615"/>
                                        </p:tgtEl>
                                        <p:attrNameLst>
                                          <p:attrName>style.visibility</p:attrName>
                                        </p:attrNameLst>
                                      </p:cBhvr>
                                      <p:to>
                                        <p:strVal val="visible"/>
                                      </p:to>
                                    </p:set>
                                    <p:animEffect transition="in" filter="blinds(horizontal)">
                                      <p:cBhvr>
                                        <p:cTn id="46" dur="500"/>
                                        <p:tgtEl>
                                          <p:spTgt spid="666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609" grpId="0" autoUpdateAnimBg="0"/>
      <p:bldP spid="66610" grpId="0" autoUpdateAnimBg="0"/>
      <p:bldP spid="66614" grpId="0" autoUpdateAnimBg="0"/>
      <p:bldP spid="66622" grpId="0"/>
    </p:bld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751" name="Rectangle 11"/>
          <p:cNvSpPr>
            <a:spLocks noChangeArrowheads="1"/>
          </p:cNvSpPr>
          <p:nvPr/>
        </p:nvSpPr>
        <p:spPr bwMode="auto">
          <a:xfrm>
            <a:off x="467545" y="676660"/>
            <a:ext cx="6120680" cy="831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400" b="1" dirty="0">
                <a:latin typeface="+mn-lt"/>
                <a:ea typeface="华文楷体" panose="02010600040101010101" pitchFamily="2" charset="-122"/>
              </a:rPr>
              <a:t>图示结构，已知</a:t>
            </a:r>
            <a:r>
              <a:rPr kumimoji="1" lang="en-US" altLang="zh-CN" sz="2400" dirty="0">
                <a:latin typeface="+mn-lt"/>
                <a:ea typeface="华文楷体" panose="02010600040101010101" pitchFamily="2" charset="-122"/>
              </a:rPr>
              <a:t>1</a:t>
            </a:r>
            <a:r>
              <a:rPr kumimoji="1" lang="zh-CN" altLang="en-US" sz="2400" dirty="0">
                <a:latin typeface="+mn-lt"/>
                <a:ea typeface="华文楷体" panose="02010600040101010101" pitchFamily="2" charset="-122"/>
              </a:rPr>
              <a:t>、</a:t>
            </a:r>
            <a:r>
              <a:rPr kumimoji="1" lang="en-US" altLang="zh-CN" sz="2400" dirty="0">
                <a:latin typeface="+mn-lt"/>
                <a:ea typeface="华文楷体" panose="02010600040101010101" pitchFamily="2" charset="-122"/>
              </a:rPr>
              <a:t>2</a:t>
            </a:r>
            <a:r>
              <a:rPr kumimoji="1" lang="zh-CN" altLang="en-US" sz="2400" b="1" dirty="0">
                <a:latin typeface="+mn-lt"/>
                <a:ea typeface="华文楷体" panose="02010600040101010101" pitchFamily="2" charset="-122"/>
              </a:rPr>
              <a:t>两杆的抗拉刚度为</a:t>
            </a:r>
            <a:r>
              <a:rPr kumimoji="1" lang="en-US" altLang="zh-CN" sz="2400" i="1" dirty="0">
                <a:latin typeface="+mn-lt"/>
                <a:ea typeface="华文楷体" panose="02010600040101010101" pitchFamily="2" charset="-122"/>
              </a:rPr>
              <a:t>EA</a:t>
            </a:r>
            <a:r>
              <a:rPr kumimoji="1" lang="zh-CN" altLang="en-US" sz="2400" b="1" dirty="0">
                <a:latin typeface="+mn-lt"/>
                <a:ea typeface="华文楷体" panose="02010600040101010101" pitchFamily="2" charset="-122"/>
              </a:rPr>
              <a:t>，</a:t>
            </a:r>
            <a:r>
              <a:rPr kumimoji="1" lang="en-US" altLang="zh-CN" sz="2400" i="1" dirty="0">
                <a:latin typeface="+mn-lt"/>
                <a:ea typeface="华文楷体" panose="02010600040101010101" pitchFamily="2" charset="-122"/>
              </a:rPr>
              <a:t>L</a:t>
            </a:r>
            <a:r>
              <a:rPr kumimoji="1" lang="zh-CN" altLang="en-US" sz="2400" b="1" dirty="0">
                <a:latin typeface="+mn-lt"/>
                <a:ea typeface="华文楷体" panose="02010600040101010101" pitchFamily="2" charset="-122"/>
              </a:rPr>
              <a:t>，</a:t>
            </a:r>
            <a:r>
              <a:rPr lang="zh-CN" altLang="en-US" i="1" dirty="0">
                <a:latin typeface="+mn-lt"/>
                <a:ea typeface="华文楷体" panose="02010600040101010101" pitchFamily="2" charset="-122"/>
              </a:rPr>
              <a:t>θ</a:t>
            </a:r>
            <a:r>
              <a:rPr lang="en-US" altLang="zh-CN" i="1" dirty="0">
                <a:latin typeface="+mn-lt"/>
                <a:ea typeface="华文楷体" panose="02010600040101010101" pitchFamily="2" charset="-122"/>
              </a:rPr>
              <a:t>,</a:t>
            </a:r>
            <a:r>
              <a:rPr kumimoji="1" lang="zh-CN" altLang="en-US" sz="2400" b="1" dirty="0">
                <a:latin typeface="+mn-lt"/>
                <a:ea typeface="华文楷体" panose="02010600040101010101" pitchFamily="2" charset="-122"/>
              </a:rPr>
              <a:t>温度升高∆</a:t>
            </a:r>
            <a:r>
              <a:rPr kumimoji="1" lang="en-US" altLang="zh-CN" sz="2400" i="1" dirty="0">
                <a:latin typeface="+mn-lt"/>
                <a:ea typeface="华文楷体" panose="02010600040101010101" pitchFamily="2" charset="-122"/>
              </a:rPr>
              <a:t>t,</a:t>
            </a:r>
            <a:r>
              <a:rPr kumimoji="1" lang="zh-CN" altLang="en-US" sz="2400" i="1" dirty="0">
                <a:latin typeface="+mn-lt"/>
                <a:ea typeface="华文楷体" panose="02010600040101010101" pitchFamily="2" charset="-122"/>
              </a:rPr>
              <a:t> </a:t>
            </a:r>
            <a:r>
              <a:rPr kumimoji="1" lang="zh-CN" altLang="en-US" sz="2400" b="1" dirty="0">
                <a:latin typeface="+mn-lt"/>
                <a:ea typeface="华文楷体" panose="02010600040101010101" pitchFamily="2" charset="-122"/>
              </a:rPr>
              <a:t>热膨胀系数</a:t>
            </a:r>
            <a:r>
              <a:rPr kumimoji="1" lang="el-GR" altLang="zh-CN" sz="2400" i="1" dirty="0">
                <a:latin typeface="+mn-lt"/>
                <a:ea typeface="华文楷体" panose="02010600040101010101" pitchFamily="2" charset="-122"/>
              </a:rPr>
              <a:t>α</a:t>
            </a:r>
            <a:r>
              <a:rPr lang="en-US" altLang="zh-CN" i="1" dirty="0">
                <a:latin typeface="+mn-lt"/>
                <a:ea typeface="华文楷体" panose="02010600040101010101" pitchFamily="2" charset="-122"/>
              </a:rPr>
              <a:t>,</a:t>
            </a:r>
            <a:r>
              <a:rPr kumimoji="1" lang="zh-CN" altLang="en-US" sz="2400" b="1" dirty="0">
                <a:latin typeface="+mn-lt"/>
                <a:ea typeface="华文楷体" panose="02010600040101010101" pitchFamily="2" charset="-122"/>
              </a:rPr>
              <a:t>求两杆内力。</a:t>
            </a:r>
          </a:p>
        </p:txBody>
      </p:sp>
      <p:sp>
        <p:nvSpPr>
          <p:cNvPr id="157739" name="Text Box 43"/>
          <p:cNvSpPr txBox="1">
            <a:spLocks noChangeArrowheads="1"/>
          </p:cNvSpPr>
          <p:nvPr/>
        </p:nvSpPr>
        <p:spPr bwMode="auto">
          <a:xfrm>
            <a:off x="7009083" y="729630"/>
            <a:ext cx="1700809"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solidFill>
                  <a:srgbClr val="FF3399"/>
                </a:solidFill>
                <a:latin typeface="黑体" panose="02010609060101010101" pitchFamily="49" charset="-122"/>
                <a:ea typeface="黑体" panose="02010609060101010101" pitchFamily="49" charset="-122"/>
              </a:rPr>
              <a:t>课堂练习</a:t>
            </a:r>
          </a:p>
        </p:txBody>
      </p:sp>
      <p:sp>
        <p:nvSpPr>
          <p:cNvPr id="157740" name="Text Box 44"/>
          <p:cNvSpPr txBox="1">
            <a:spLocks noChangeArrowheads="1"/>
          </p:cNvSpPr>
          <p:nvPr/>
        </p:nvSpPr>
        <p:spPr bwMode="auto">
          <a:xfrm>
            <a:off x="4334258" y="1843804"/>
            <a:ext cx="20875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dirty="0">
                <a:solidFill>
                  <a:srgbClr val="0033CC"/>
                </a:solidFill>
                <a:ea typeface="华文楷体" panose="02010600040101010101" pitchFamily="2" charset="-122"/>
              </a:rPr>
              <a:t>平衡方程</a:t>
            </a:r>
          </a:p>
        </p:txBody>
      </p:sp>
      <p:graphicFrame>
        <p:nvGraphicFramePr>
          <p:cNvPr id="157741" name="Object 2"/>
          <p:cNvGraphicFramePr>
            <a:graphicFrameLocks noChangeAspect="1"/>
          </p:cNvGraphicFramePr>
          <p:nvPr>
            <p:extLst>
              <p:ext uri="{D42A27DB-BD31-4B8C-83A1-F6EECF244321}">
                <p14:modId xmlns:p14="http://schemas.microsoft.com/office/powerpoint/2010/main" val="3833222308"/>
              </p:ext>
            </p:extLst>
          </p:nvPr>
        </p:nvGraphicFramePr>
        <p:xfrm>
          <a:off x="5705531" y="1854312"/>
          <a:ext cx="2501081" cy="477837"/>
        </p:xfrm>
        <a:graphic>
          <a:graphicData uri="http://schemas.openxmlformats.org/presentationml/2006/ole">
            <mc:AlternateContent xmlns:mc="http://schemas.openxmlformats.org/markup-compatibility/2006">
              <mc:Choice xmlns:v="urn:schemas-microsoft-com:vml" Requires="v">
                <p:oleObj name="Equation" r:id="rId2" imgW="1066680" imgH="228600" progId="Equation.DSMT4">
                  <p:embed/>
                </p:oleObj>
              </mc:Choice>
              <mc:Fallback>
                <p:oleObj name="Equation" r:id="rId2" imgW="1066680" imgH="228600" progId="Equation.DSMT4">
                  <p:embed/>
                  <p:pic>
                    <p:nvPicPr>
                      <p:cNvPr id="0" name=""/>
                      <p:cNvPicPr>
                        <a:picLocks noChangeAspect="1" noChangeArrowheads="1"/>
                      </p:cNvPicPr>
                      <p:nvPr/>
                    </p:nvPicPr>
                    <p:blipFill>
                      <a:blip r:embed="rId3"/>
                      <a:srcRect/>
                      <a:stretch>
                        <a:fillRect/>
                      </a:stretch>
                    </p:blipFill>
                    <p:spPr bwMode="auto">
                      <a:xfrm>
                        <a:off x="5705531" y="1854312"/>
                        <a:ext cx="2501081" cy="477837"/>
                      </a:xfrm>
                      <a:prstGeom prst="rect">
                        <a:avLst/>
                      </a:prstGeom>
                      <a:noFill/>
                      <a:ln>
                        <a:noFill/>
                      </a:ln>
                      <a:effectLst/>
                    </p:spPr>
                  </p:pic>
                </p:oleObj>
              </mc:Fallback>
            </mc:AlternateContent>
          </a:graphicData>
        </a:graphic>
      </p:graphicFrame>
      <p:graphicFrame>
        <p:nvGraphicFramePr>
          <p:cNvPr id="157742" name="Object 3"/>
          <p:cNvGraphicFramePr>
            <a:graphicFrameLocks noChangeAspect="1"/>
          </p:cNvGraphicFramePr>
          <p:nvPr>
            <p:extLst>
              <p:ext uri="{D42A27DB-BD31-4B8C-83A1-F6EECF244321}">
                <p14:modId xmlns:p14="http://schemas.microsoft.com/office/powerpoint/2010/main" val="1127942255"/>
              </p:ext>
            </p:extLst>
          </p:nvPr>
        </p:nvGraphicFramePr>
        <p:xfrm>
          <a:off x="4502197" y="4108851"/>
          <a:ext cx="3139037" cy="976333"/>
        </p:xfrm>
        <a:graphic>
          <a:graphicData uri="http://schemas.openxmlformats.org/presentationml/2006/ole">
            <mc:AlternateContent xmlns:mc="http://schemas.openxmlformats.org/markup-compatibility/2006">
              <mc:Choice xmlns:v="urn:schemas-microsoft-com:vml" Requires="v">
                <p:oleObj name="Equation" r:id="rId4" imgW="1282680" imgH="419040" progId="Equation.DSMT4">
                  <p:embed/>
                </p:oleObj>
              </mc:Choice>
              <mc:Fallback>
                <p:oleObj name="Equation" r:id="rId4" imgW="1282680" imgH="419040" progId="Equation.DSMT4">
                  <p:embed/>
                  <p:pic>
                    <p:nvPicPr>
                      <p:cNvPr id="0" name=""/>
                      <p:cNvPicPr>
                        <a:picLocks noChangeAspect="1" noChangeArrowheads="1"/>
                      </p:cNvPicPr>
                      <p:nvPr/>
                    </p:nvPicPr>
                    <p:blipFill>
                      <a:blip r:embed="rId5"/>
                      <a:srcRect/>
                      <a:stretch>
                        <a:fillRect/>
                      </a:stretch>
                    </p:blipFill>
                    <p:spPr bwMode="auto">
                      <a:xfrm>
                        <a:off x="4502197" y="4108851"/>
                        <a:ext cx="3139037" cy="976333"/>
                      </a:xfrm>
                      <a:prstGeom prst="rect">
                        <a:avLst/>
                      </a:prstGeom>
                      <a:noFill/>
                      <a:ln>
                        <a:noFill/>
                      </a:ln>
                      <a:effectLst/>
                    </p:spPr>
                  </p:pic>
                </p:oleObj>
              </mc:Fallback>
            </mc:AlternateContent>
          </a:graphicData>
        </a:graphic>
      </p:graphicFrame>
      <p:sp>
        <p:nvSpPr>
          <p:cNvPr id="157743" name="Text Box 47"/>
          <p:cNvSpPr txBox="1">
            <a:spLocks noChangeArrowheads="1"/>
          </p:cNvSpPr>
          <p:nvPr/>
        </p:nvSpPr>
        <p:spPr bwMode="auto">
          <a:xfrm>
            <a:off x="4379852" y="2955161"/>
            <a:ext cx="14561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dirty="0">
                <a:solidFill>
                  <a:srgbClr val="0033CC"/>
                </a:solidFill>
                <a:ea typeface="华文楷体" panose="02010600040101010101" pitchFamily="2" charset="-122"/>
              </a:rPr>
              <a:t>变形方程</a:t>
            </a:r>
          </a:p>
        </p:txBody>
      </p:sp>
      <p:graphicFrame>
        <p:nvGraphicFramePr>
          <p:cNvPr id="157744" name="Object 4"/>
          <p:cNvGraphicFramePr>
            <a:graphicFrameLocks noChangeAspect="1"/>
          </p:cNvGraphicFramePr>
          <p:nvPr>
            <p:extLst>
              <p:ext uri="{D42A27DB-BD31-4B8C-83A1-F6EECF244321}">
                <p14:modId xmlns:p14="http://schemas.microsoft.com/office/powerpoint/2010/main" val="2926843332"/>
              </p:ext>
            </p:extLst>
          </p:nvPr>
        </p:nvGraphicFramePr>
        <p:xfrm>
          <a:off x="5702934" y="2455369"/>
          <a:ext cx="2592388" cy="1482725"/>
        </p:xfrm>
        <a:graphic>
          <a:graphicData uri="http://schemas.openxmlformats.org/presentationml/2006/ole">
            <mc:AlternateContent xmlns:mc="http://schemas.openxmlformats.org/markup-compatibility/2006">
              <mc:Choice xmlns:v="urn:schemas-microsoft-com:vml" Requires="v">
                <p:oleObj name="公式" r:id="rId6" imgW="1180588" imgH="710891" progId="Equation.3">
                  <p:embed/>
                </p:oleObj>
              </mc:Choice>
              <mc:Fallback>
                <p:oleObj name="公式" r:id="rId6" imgW="1180588" imgH="710891"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02934" y="2455369"/>
                        <a:ext cx="2592388" cy="1482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 name="Group 60"/>
          <p:cNvGrpSpPr>
            <a:grpSpLocks/>
          </p:cNvGrpSpPr>
          <p:nvPr/>
        </p:nvGrpSpPr>
        <p:grpSpPr bwMode="auto">
          <a:xfrm>
            <a:off x="539084" y="1827428"/>
            <a:ext cx="3528640" cy="2808907"/>
            <a:chOff x="249" y="1344"/>
            <a:chExt cx="2404" cy="2041"/>
          </a:xfrm>
        </p:grpSpPr>
        <p:sp>
          <p:nvSpPr>
            <p:cNvPr id="29714" name="Line 14"/>
            <p:cNvSpPr>
              <a:spLocks noChangeShapeType="1"/>
            </p:cNvSpPr>
            <p:nvPr/>
          </p:nvSpPr>
          <p:spPr bwMode="auto">
            <a:xfrm flipV="1">
              <a:off x="476" y="1661"/>
              <a:ext cx="2041" cy="1179"/>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15" name="Text Box 18"/>
            <p:cNvSpPr txBox="1">
              <a:spLocks noChangeArrowheads="1"/>
            </p:cNvSpPr>
            <p:nvPr/>
          </p:nvSpPr>
          <p:spPr bwMode="auto">
            <a:xfrm>
              <a:off x="1398" y="2807"/>
              <a:ext cx="23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dirty="0">
                  <a:solidFill>
                    <a:srgbClr val="0033CC"/>
                  </a:solidFill>
                  <a:latin typeface="+mn-lt"/>
                </a:rPr>
                <a:t>L</a:t>
              </a:r>
            </a:p>
          </p:txBody>
        </p:sp>
        <p:sp>
          <p:nvSpPr>
            <p:cNvPr id="29716" name="Text Box 21"/>
            <p:cNvSpPr txBox="1">
              <a:spLocks noChangeArrowheads="1"/>
            </p:cNvSpPr>
            <p:nvPr/>
          </p:nvSpPr>
          <p:spPr bwMode="auto">
            <a:xfrm>
              <a:off x="1791" y="1598"/>
              <a:ext cx="499"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33CC"/>
                  </a:solidFill>
                  <a:latin typeface="+mn-lt"/>
                </a:rPr>
                <a:t>1</a:t>
              </a:r>
              <a:r>
                <a:rPr lang="zh-CN" altLang="en-US" b="1" dirty="0">
                  <a:solidFill>
                    <a:srgbClr val="0033CC"/>
                  </a:solidFill>
                  <a:latin typeface="楷体" panose="02010609060101010101" pitchFamily="49" charset="-122"/>
                  <a:ea typeface="楷体" panose="02010609060101010101" pitchFamily="49" charset="-122"/>
                </a:rPr>
                <a:t>杆</a:t>
              </a:r>
            </a:p>
          </p:txBody>
        </p:sp>
        <p:sp>
          <p:nvSpPr>
            <p:cNvPr id="29717" name="Text Box 22"/>
            <p:cNvSpPr txBox="1">
              <a:spLocks noChangeArrowheads="1"/>
            </p:cNvSpPr>
            <p:nvPr/>
          </p:nvSpPr>
          <p:spPr bwMode="auto">
            <a:xfrm>
              <a:off x="2040" y="2858"/>
              <a:ext cx="499"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33CC"/>
                  </a:solidFill>
                  <a:latin typeface="+mn-lt"/>
                </a:rPr>
                <a:t>2</a:t>
              </a:r>
              <a:r>
                <a:rPr lang="zh-CN" altLang="en-US" b="1" dirty="0">
                  <a:solidFill>
                    <a:srgbClr val="0033CC"/>
                  </a:solidFill>
                  <a:latin typeface="楷体" panose="02010609060101010101" pitchFamily="49" charset="-122"/>
                  <a:ea typeface="楷体" panose="02010609060101010101" pitchFamily="49" charset="-122"/>
                </a:rPr>
                <a:t>杆</a:t>
              </a:r>
            </a:p>
          </p:txBody>
        </p:sp>
        <p:grpSp>
          <p:nvGrpSpPr>
            <p:cNvPr id="29718" name="Group 23"/>
            <p:cNvGrpSpPr>
              <a:grpSpLocks/>
            </p:cNvGrpSpPr>
            <p:nvPr/>
          </p:nvGrpSpPr>
          <p:grpSpPr bwMode="auto">
            <a:xfrm flipH="1">
              <a:off x="2562" y="1344"/>
              <a:ext cx="91" cy="2041"/>
              <a:chOff x="793" y="1389"/>
              <a:chExt cx="91" cy="1497"/>
            </a:xfrm>
          </p:grpSpPr>
          <p:sp>
            <p:nvSpPr>
              <p:cNvPr id="29736" name="Line 24"/>
              <p:cNvSpPr>
                <a:spLocks noChangeAspect="1" noChangeShapeType="1"/>
              </p:cNvSpPr>
              <p:nvPr/>
            </p:nvSpPr>
            <p:spPr bwMode="auto">
              <a:xfrm>
                <a:off x="884" y="1389"/>
                <a:ext cx="0" cy="149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37" name="Line 25"/>
              <p:cNvSpPr>
                <a:spLocks noChangeShapeType="1"/>
              </p:cNvSpPr>
              <p:nvPr/>
            </p:nvSpPr>
            <p:spPr bwMode="auto">
              <a:xfrm flipH="1">
                <a:off x="793" y="1434"/>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38" name="Line 26"/>
              <p:cNvSpPr>
                <a:spLocks noChangeShapeType="1"/>
              </p:cNvSpPr>
              <p:nvPr/>
            </p:nvSpPr>
            <p:spPr bwMode="auto">
              <a:xfrm flipH="1">
                <a:off x="793" y="1564"/>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39" name="Line 27"/>
              <p:cNvSpPr>
                <a:spLocks noChangeShapeType="1"/>
              </p:cNvSpPr>
              <p:nvPr/>
            </p:nvSpPr>
            <p:spPr bwMode="auto">
              <a:xfrm flipH="1">
                <a:off x="793" y="1695"/>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40" name="Line 28"/>
              <p:cNvSpPr>
                <a:spLocks noChangeShapeType="1"/>
              </p:cNvSpPr>
              <p:nvPr/>
            </p:nvSpPr>
            <p:spPr bwMode="auto">
              <a:xfrm flipH="1">
                <a:off x="793" y="1825"/>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41" name="Line 29"/>
              <p:cNvSpPr>
                <a:spLocks noChangeShapeType="1"/>
              </p:cNvSpPr>
              <p:nvPr/>
            </p:nvSpPr>
            <p:spPr bwMode="auto">
              <a:xfrm flipH="1">
                <a:off x="793" y="1956"/>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42" name="Line 30"/>
              <p:cNvSpPr>
                <a:spLocks noChangeShapeType="1"/>
              </p:cNvSpPr>
              <p:nvPr/>
            </p:nvSpPr>
            <p:spPr bwMode="auto">
              <a:xfrm flipH="1">
                <a:off x="793" y="2087"/>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43" name="Line 31"/>
              <p:cNvSpPr>
                <a:spLocks noChangeShapeType="1"/>
              </p:cNvSpPr>
              <p:nvPr/>
            </p:nvSpPr>
            <p:spPr bwMode="auto">
              <a:xfrm flipH="1">
                <a:off x="793" y="2217"/>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44" name="Line 32"/>
              <p:cNvSpPr>
                <a:spLocks noChangeShapeType="1"/>
              </p:cNvSpPr>
              <p:nvPr/>
            </p:nvSpPr>
            <p:spPr bwMode="auto">
              <a:xfrm flipH="1">
                <a:off x="793" y="2348"/>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45" name="Line 33"/>
              <p:cNvSpPr>
                <a:spLocks noChangeShapeType="1"/>
              </p:cNvSpPr>
              <p:nvPr/>
            </p:nvSpPr>
            <p:spPr bwMode="auto">
              <a:xfrm flipH="1">
                <a:off x="793" y="2478"/>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46" name="Line 34"/>
              <p:cNvSpPr>
                <a:spLocks noChangeShapeType="1"/>
              </p:cNvSpPr>
              <p:nvPr/>
            </p:nvSpPr>
            <p:spPr bwMode="auto">
              <a:xfrm flipH="1">
                <a:off x="793" y="2609"/>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47" name="Line 35"/>
              <p:cNvSpPr>
                <a:spLocks noChangeShapeType="1"/>
              </p:cNvSpPr>
              <p:nvPr/>
            </p:nvSpPr>
            <p:spPr bwMode="auto">
              <a:xfrm flipH="1">
                <a:off x="793" y="2740"/>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9719" name="Line 37"/>
            <p:cNvSpPr>
              <a:spLocks noChangeShapeType="1"/>
            </p:cNvSpPr>
            <p:nvPr/>
          </p:nvSpPr>
          <p:spPr bwMode="auto">
            <a:xfrm flipV="1">
              <a:off x="476" y="2840"/>
              <a:ext cx="1996"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9720" name="Object 8"/>
            <p:cNvGraphicFramePr>
              <a:graphicFrameLocks noChangeAspect="1"/>
            </p:cNvGraphicFramePr>
            <p:nvPr>
              <p:extLst>
                <p:ext uri="{D42A27DB-BD31-4B8C-83A1-F6EECF244321}">
                  <p14:modId xmlns:p14="http://schemas.microsoft.com/office/powerpoint/2010/main" val="3451633472"/>
                </p:ext>
              </p:extLst>
            </p:nvPr>
          </p:nvGraphicFramePr>
          <p:xfrm>
            <a:off x="790" y="2598"/>
            <a:ext cx="182" cy="235"/>
          </p:xfrm>
          <a:graphic>
            <a:graphicData uri="http://schemas.openxmlformats.org/presentationml/2006/ole">
              <mc:AlternateContent xmlns:mc="http://schemas.openxmlformats.org/markup-compatibility/2006">
                <mc:Choice xmlns:v="urn:schemas-microsoft-com:vml" Requires="v">
                  <p:oleObj name="公式" r:id="rId8" imgW="121884" imgH="167616" progId="Equation.3">
                    <p:embed/>
                  </p:oleObj>
                </mc:Choice>
                <mc:Fallback>
                  <p:oleObj name="公式" r:id="rId8" imgW="121884" imgH="167616"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90" y="2598"/>
                          <a:ext cx="182"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21" name="Oval 15"/>
            <p:cNvSpPr>
              <a:spLocks noChangeAspect="1" noChangeArrowheads="1"/>
            </p:cNvSpPr>
            <p:nvPr/>
          </p:nvSpPr>
          <p:spPr bwMode="auto">
            <a:xfrm>
              <a:off x="2472" y="1616"/>
              <a:ext cx="91" cy="91"/>
            </a:xfrm>
            <a:prstGeom prst="ellipse">
              <a:avLst/>
            </a:prstGeom>
            <a:solidFill>
              <a:schemeClr val="accent1"/>
            </a:solidFill>
            <a:ln w="25400">
              <a:solidFill>
                <a:srgbClr val="00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9722" name="Oval 16"/>
            <p:cNvSpPr>
              <a:spLocks noChangeAspect="1" noChangeArrowheads="1"/>
            </p:cNvSpPr>
            <p:nvPr/>
          </p:nvSpPr>
          <p:spPr bwMode="auto">
            <a:xfrm>
              <a:off x="2472" y="2795"/>
              <a:ext cx="91" cy="91"/>
            </a:xfrm>
            <a:prstGeom prst="ellipse">
              <a:avLst/>
            </a:prstGeom>
            <a:solidFill>
              <a:schemeClr val="accent1"/>
            </a:solidFill>
            <a:ln w="25400">
              <a:solidFill>
                <a:srgbClr val="00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29723" name="Group 59"/>
            <p:cNvGrpSpPr>
              <a:grpSpLocks/>
            </p:cNvGrpSpPr>
            <p:nvPr/>
          </p:nvGrpSpPr>
          <p:grpSpPr bwMode="auto">
            <a:xfrm>
              <a:off x="249" y="2795"/>
              <a:ext cx="453" cy="454"/>
              <a:chOff x="249" y="2795"/>
              <a:chExt cx="453" cy="454"/>
            </a:xfrm>
          </p:grpSpPr>
          <p:sp>
            <p:nvSpPr>
              <p:cNvPr id="29724" name="Oval 38"/>
              <p:cNvSpPr>
                <a:spLocks noChangeAspect="1" noChangeArrowheads="1"/>
              </p:cNvSpPr>
              <p:nvPr/>
            </p:nvSpPr>
            <p:spPr bwMode="auto">
              <a:xfrm>
                <a:off x="431" y="3067"/>
                <a:ext cx="91" cy="91"/>
              </a:xfrm>
              <a:prstGeom prst="ellipse">
                <a:avLst/>
              </a:prstGeom>
              <a:solidFill>
                <a:schemeClr val="accent1"/>
              </a:solidFill>
              <a:ln w="25400">
                <a:solidFill>
                  <a:srgbClr val="00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9725" name="Oval 13"/>
              <p:cNvSpPr>
                <a:spLocks noChangeAspect="1" noChangeArrowheads="1"/>
              </p:cNvSpPr>
              <p:nvPr/>
            </p:nvSpPr>
            <p:spPr bwMode="auto">
              <a:xfrm>
                <a:off x="431" y="2795"/>
                <a:ext cx="91" cy="91"/>
              </a:xfrm>
              <a:prstGeom prst="ellipse">
                <a:avLst/>
              </a:prstGeom>
              <a:solidFill>
                <a:schemeClr val="accent1"/>
              </a:solidFill>
              <a:ln w="25400">
                <a:solidFill>
                  <a:srgbClr val="00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9726" name="Line 49"/>
              <p:cNvSpPr>
                <a:spLocks noChangeShapeType="1"/>
              </p:cNvSpPr>
              <p:nvPr/>
            </p:nvSpPr>
            <p:spPr bwMode="auto">
              <a:xfrm>
                <a:off x="476" y="2886"/>
                <a:ext cx="0" cy="18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9727" name="Group 50"/>
              <p:cNvGrpSpPr>
                <a:grpSpLocks/>
              </p:cNvGrpSpPr>
              <p:nvPr/>
            </p:nvGrpSpPr>
            <p:grpSpPr bwMode="auto">
              <a:xfrm rot="-5400000">
                <a:off x="385" y="2931"/>
                <a:ext cx="182" cy="453"/>
                <a:chOff x="657" y="1661"/>
                <a:chExt cx="182" cy="453"/>
              </a:xfrm>
            </p:grpSpPr>
            <p:grpSp>
              <p:nvGrpSpPr>
                <p:cNvPr id="29728" name="Group 51"/>
                <p:cNvGrpSpPr>
                  <a:grpSpLocks/>
                </p:cNvGrpSpPr>
                <p:nvPr/>
              </p:nvGrpSpPr>
              <p:grpSpPr bwMode="auto">
                <a:xfrm>
                  <a:off x="657" y="1661"/>
                  <a:ext cx="91" cy="453"/>
                  <a:chOff x="1156" y="1480"/>
                  <a:chExt cx="91" cy="453"/>
                </a:xfrm>
              </p:grpSpPr>
              <p:sp>
                <p:nvSpPr>
                  <p:cNvPr id="29730" name="Line 52"/>
                  <p:cNvSpPr>
                    <a:spLocks noChangeShapeType="1"/>
                  </p:cNvSpPr>
                  <p:nvPr/>
                </p:nvSpPr>
                <p:spPr bwMode="auto">
                  <a:xfrm>
                    <a:off x="1247" y="1480"/>
                    <a:ext cx="0" cy="45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31" name="Line 53"/>
                  <p:cNvSpPr>
                    <a:spLocks noChangeShapeType="1"/>
                  </p:cNvSpPr>
                  <p:nvPr/>
                </p:nvSpPr>
                <p:spPr bwMode="auto">
                  <a:xfrm flipH="1">
                    <a:off x="1156" y="1525"/>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32" name="Line 54"/>
                  <p:cNvSpPr>
                    <a:spLocks noChangeShapeType="1"/>
                  </p:cNvSpPr>
                  <p:nvPr/>
                </p:nvSpPr>
                <p:spPr bwMode="auto">
                  <a:xfrm flipH="1">
                    <a:off x="1156" y="1605"/>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33" name="Line 55"/>
                  <p:cNvSpPr>
                    <a:spLocks noChangeShapeType="1"/>
                  </p:cNvSpPr>
                  <p:nvPr/>
                </p:nvSpPr>
                <p:spPr bwMode="auto">
                  <a:xfrm flipH="1">
                    <a:off x="1156" y="1684"/>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34" name="Line 56"/>
                  <p:cNvSpPr>
                    <a:spLocks noChangeShapeType="1"/>
                  </p:cNvSpPr>
                  <p:nvPr/>
                </p:nvSpPr>
                <p:spPr bwMode="auto">
                  <a:xfrm flipH="1">
                    <a:off x="1156" y="1763"/>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35" name="Line 57"/>
                  <p:cNvSpPr>
                    <a:spLocks noChangeShapeType="1"/>
                  </p:cNvSpPr>
                  <p:nvPr/>
                </p:nvSpPr>
                <p:spPr bwMode="auto">
                  <a:xfrm flipH="1">
                    <a:off x="1156" y="1842"/>
                    <a:ext cx="91" cy="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9729" name="Oval 58"/>
                <p:cNvSpPr>
                  <a:spLocks noChangeAspect="1" noChangeArrowheads="1"/>
                </p:cNvSpPr>
                <p:nvPr/>
              </p:nvSpPr>
              <p:spPr bwMode="auto">
                <a:xfrm>
                  <a:off x="748" y="1842"/>
                  <a:ext cx="91" cy="91"/>
                </a:xfrm>
                <a:prstGeom prst="ellipse">
                  <a:avLst/>
                </a:prstGeom>
                <a:solidFill>
                  <a:schemeClr val="accent1"/>
                </a:solidFill>
                <a:ln w="25400">
                  <a:solidFill>
                    <a:srgbClr val="00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grpSp>
      <p:grpSp>
        <p:nvGrpSpPr>
          <p:cNvPr id="8" name="Group 67"/>
          <p:cNvGrpSpPr>
            <a:grpSpLocks/>
          </p:cNvGrpSpPr>
          <p:nvPr/>
        </p:nvGrpSpPr>
        <p:grpSpPr bwMode="auto">
          <a:xfrm>
            <a:off x="944563" y="5013325"/>
            <a:ext cx="1106487" cy="1087438"/>
            <a:chOff x="595" y="3158"/>
            <a:chExt cx="697" cy="685"/>
          </a:xfrm>
        </p:grpSpPr>
        <p:graphicFrame>
          <p:nvGraphicFramePr>
            <p:cNvPr id="29709" name="Object 6"/>
            <p:cNvGraphicFramePr>
              <a:graphicFrameLocks noChangeAspect="1"/>
            </p:cNvGraphicFramePr>
            <p:nvPr/>
          </p:nvGraphicFramePr>
          <p:xfrm>
            <a:off x="1020" y="3521"/>
            <a:ext cx="272" cy="322"/>
          </p:xfrm>
          <a:graphic>
            <a:graphicData uri="http://schemas.openxmlformats.org/presentationml/2006/ole">
              <mc:AlternateContent xmlns:mc="http://schemas.openxmlformats.org/markup-compatibility/2006">
                <mc:Choice xmlns:v="urn:schemas-microsoft-com:vml" Requires="v">
                  <p:oleObj name="公式" r:id="rId10" imgW="177569" imgH="215619" progId="Equation.3">
                    <p:embed/>
                  </p:oleObj>
                </mc:Choice>
                <mc:Fallback>
                  <p:oleObj name="公式" r:id="rId10" imgW="177569" imgH="215619"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20" y="3521"/>
                          <a:ext cx="272" cy="3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10" name="Line 62"/>
            <p:cNvSpPr>
              <a:spLocks noChangeAspect="1" noChangeShapeType="1"/>
            </p:cNvSpPr>
            <p:nvPr/>
          </p:nvSpPr>
          <p:spPr bwMode="auto">
            <a:xfrm flipH="1">
              <a:off x="612" y="3475"/>
              <a:ext cx="635"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11" name="Line 63"/>
            <p:cNvSpPr>
              <a:spLocks noChangeAspect="1" noChangeShapeType="1"/>
            </p:cNvSpPr>
            <p:nvPr/>
          </p:nvSpPr>
          <p:spPr bwMode="auto">
            <a:xfrm flipH="1">
              <a:off x="748" y="3475"/>
              <a:ext cx="499" cy="25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12" name="Line 64"/>
            <p:cNvSpPr>
              <a:spLocks noChangeAspect="1" noChangeShapeType="1"/>
            </p:cNvSpPr>
            <p:nvPr/>
          </p:nvSpPr>
          <p:spPr bwMode="auto">
            <a:xfrm>
              <a:off x="595" y="3457"/>
              <a:ext cx="149" cy="273"/>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9713" name="Object 7"/>
            <p:cNvGraphicFramePr>
              <a:graphicFrameLocks noChangeAspect="1"/>
            </p:cNvGraphicFramePr>
            <p:nvPr>
              <p:extLst>
                <p:ext uri="{D42A27DB-BD31-4B8C-83A1-F6EECF244321}">
                  <p14:modId xmlns:p14="http://schemas.microsoft.com/office/powerpoint/2010/main" val="506436787"/>
                </p:ext>
              </p:extLst>
            </p:nvPr>
          </p:nvGraphicFramePr>
          <p:xfrm>
            <a:off x="748" y="3158"/>
            <a:ext cx="260" cy="300"/>
          </p:xfrm>
          <a:graphic>
            <a:graphicData uri="http://schemas.openxmlformats.org/presentationml/2006/ole">
              <mc:AlternateContent xmlns:mc="http://schemas.openxmlformats.org/markup-compatibility/2006">
                <mc:Choice xmlns:v="urn:schemas-microsoft-com:vml" Requires="v">
                  <p:oleObj name="公式" r:id="rId12" imgW="203024" imgH="215713" progId="Equation.3">
                    <p:embed/>
                  </p:oleObj>
                </mc:Choice>
                <mc:Fallback>
                  <p:oleObj name="公式" r:id="rId12" imgW="203024" imgH="215713"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48" y="3158"/>
                          <a:ext cx="260" cy="300"/>
                        </a:xfrm>
                        <a:prstGeom prst="rect">
                          <a:avLst/>
                        </a:prstGeom>
                        <a:noFill/>
                        <a:ln>
                          <a:noFill/>
                        </a:ln>
                        <a:effectLst/>
                      </p:spPr>
                    </p:pic>
                  </p:oleObj>
                </mc:Fallback>
              </mc:AlternateContent>
            </a:graphicData>
          </a:graphic>
        </p:graphicFrame>
      </p:grpSp>
      <p:graphicFrame>
        <p:nvGraphicFramePr>
          <p:cNvPr id="157765" name="Object 5"/>
          <p:cNvGraphicFramePr>
            <a:graphicFrameLocks noChangeAspect="1"/>
          </p:cNvGraphicFramePr>
          <p:nvPr>
            <p:extLst>
              <p:ext uri="{D42A27DB-BD31-4B8C-83A1-F6EECF244321}">
                <p14:modId xmlns:p14="http://schemas.microsoft.com/office/powerpoint/2010/main" val="2802387718"/>
              </p:ext>
            </p:extLst>
          </p:nvPr>
        </p:nvGraphicFramePr>
        <p:xfrm>
          <a:off x="4497142" y="5154613"/>
          <a:ext cx="3443288" cy="946150"/>
        </p:xfrm>
        <a:graphic>
          <a:graphicData uri="http://schemas.openxmlformats.org/presentationml/2006/ole">
            <mc:AlternateContent xmlns:mc="http://schemas.openxmlformats.org/markup-compatibility/2006">
              <mc:Choice xmlns:v="urn:schemas-microsoft-com:vml" Requires="v">
                <p:oleObj name="Equation" r:id="rId14" imgW="1511280" imgH="419040" progId="Equation.DSMT4">
                  <p:embed/>
                </p:oleObj>
              </mc:Choice>
              <mc:Fallback>
                <p:oleObj name="Equation" r:id="rId14" imgW="1511280" imgH="419040" progId="Equation.DSMT4">
                  <p:embed/>
                  <p:pic>
                    <p:nvPicPr>
                      <p:cNvPr id="0" name=""/>
                      <p:cNvPicPr>
                        <a:picLocks noChangeAspect="1" noChangeArrowheads="1"/>
                      </p:cNvPicPr>
                      <p:nvPr/>
                    </p:nvPicPr>
                    <p:blipFill>
                      <a:blip r:embed="rId15"/>
                      <a:srcRect/>
                      <a:stretch>
                        <a:fillRect/>
                      </a:stretch>
                    </p:blipFill>
                    <p:spPr bwMode="auto">
                      <a:xfrm>
                        <a:off x="4497142" y="5154613"/>
                        <a:ext cx="3443288" cy="94615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078706039"/>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57740"/>
                                        </p:tgtEl>
                                        <p:attrNameLst>
                                          <p:attrName>style.visibility</p:attrName>
                                        </p:attrNameLst>
                                      </p:cBhvr>
                                      <p:to>
                                        <p:strVal val="visible"/>
                                      </p:to>
                                    </p:set>
                                    <p:animEffect transition="in" filter="slide(fromBottom)">
                                      <p:cBhvr>
                                        <p:cTn id="7" dur="500"/>
                                        <p:tgtEl>
                                          <p:spTgt spid="15774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157741"/>
                                        </p:tgtEl>
                                        <p:attrNameLst>
                                          <p:attrName>style.visibility</p:attrName>
                                        </p:attrNameLst>
                                      </p:cBhvr>
                                      <p:to>
                                        <p:strVal val="visible"/>
                                      </p:to>
                                    </p:set>
                                    <p:animEffect transition="in" filter="slide(fromBottom)">
                                      <p:cBhvr>
                                        <p:cTn id="12" dur="500"/>
                                        <p:tgtEl>
                                          <p:spTgt spid="15774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slide(fromBottom)">
                                      <p:cBhvr>
                                        <p:cTn id="17" dur="500"/>
                                        <p:tgtEl>
                                          <p:spTgt spid="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57743"/>
                                        </p:tgtEl>
                                        <p:attrNameLst>
                                          <p:attrName>style.visibility</p:attrName>
                                        </p:attrNameLst>
                                      </p:cBhvr>
                                      <p:to>
                                        <p:strVal val="visible"/>
                                      </p:to>
                                    </p:set>
                                    <p:animEffect transition="in" filter="slide(fromBottom)">
                                      <p:cBhvr>
                                        <p:cTn id="22" dur="500"/>
                                        <p:tgtEl>
                                          <p:spTgt spid="15774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nodeType="clickEffect">
                                  <p:stCondLst>
                                    <p:cond delay="0"/>
                                  </p:stCondLst>
                                  <p:childTnLst>
                                    <p:set>
                                      <p:cBhvr>
                                        <p:cTn id="26" dur="1" fill="hold">
                                          <p:stCondLst>
                                            <p:cond delay="0"/>
                                          </p:stCondLst>
                                        </p:cTn>
                                        <p:tgtEl>
                                          <p:spTgt spid="157744"/>
                                        </p:tgtEl>
                                        <p:attrNameLst>
                                          <p:attrName>style.visibility</p:attrName>
                                        </p:attrNameLst>
                                      </p:cBhvr>
                                      <p:to>
                                        <p:strVal val="visible"/>
                                      </p:to>
                                    </p:set>
                                    <p:animEffect transition="in" filter="slide(fromBottom)">
                                      <p:cBhvr>
                                        <p:cTn id="27" dur="500"/>
                                        <p:tgtEl>
                                          <p:spTgt spid="15774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nodeType="clickEffect">
                                  <p:stCondLst>
                                    <p:cond delay="0"/>
                                  </p:stCondLst>
                                  <p:childTnLst>
                                    <p:set>
                                      <p:cBhvr>
                                        <p:cTn id="31" dur="1" fill="hold">
                                          <p:stCondLst>
                                            <p:cond delay="0"/>
                                          </p:stCondLst>
                                        </p:cTn>
                                        <p:tgtEl>
                                          <p:spTgt spid="157742"/>
                                        </p:tgtEl>
                                        <p:attrNameLst>
                                          <p:attrName>style.visibility</p:attrName>
                                        </p:attrNameLst>
                                      </p:cBhvr>
                                      <p:to>
                                        <p:strVal val="visible"/>
                                      </p:to>
                                    </p:set>
                                    <p:animEffect transition="in" filter="slide(fromBottom)">
                                      <p:cBhvr>
                                        <p:cTn id="32" dur="500"/>
                                        <p:tgtEl>
                                          <p:spTgt spid="15774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nodeType="clickEffect">
                                  <p:stCondLst>
                                    <p:cond delay="0"/>
                                  </p:stCondLst>
                                  <p:childTnLst>
                                    <p:set>
                                      <p:cBhvr>
                                        <p:cTn id="36" dur="1" fill="hold">
                                          <p:stCondLst>
                                            <p:cond delay="0"/>
                                          </p:stCondLst>
                                        </p:cTn>
                                        <p:tgtEl>
                                          <p:spTgt spid="157765"/>
                                        </p:tgtEl>
                                        <p:attrNameLst>
                                          <p:attrName>style.visibility</p:attrName>
                                        </p:attrNameLst>
                                      </p:cBhvr>
                                      <p:to>
                                        <p:strVal val="visible"/>
                                      </p:to>
                                    </p:set>
                                    <p:animEffect transition="in" filter="slide(fromBottom)">
                                      <p:cBhvr>
                                        <p:cTn id="37" dur="500"/>
                                        <p:tgtEl>
                                          <p:spTgt spid="1577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40" grpId="0"/>
      <p:bldP spid="157743"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4018" name="Group 2"/>
          <p:cNvGrpSpPr>
            <a:grpSpLocks/>
          </p:cNvGrpSpPr>
          <p:nvPr/>
        </p:nvGrpSpPr>
        <p:grpSpPr bwMode="auto">
          <a:xfrm>
            <a:off x="6336465" y="181207"/>
            <a:ext cx="762000" cy="3371850"/>
            <a:chOff x="4236" y="182"/>
            <a:chExt cx="480" cy="2124"/>
          </a:xfrm>
        </p:grpSpPr>
        <p:sp>
          <p:nvSpPr>
            <p:cNvPr id="51266" name="Rectangle 3"/>
            <p:cNvSpPr>
              <a:spLocks noChangeArrowheads="1"/>
            </p:cNvSpPr>
            <p:nvPr/>
          </p:nvSpPr>
          <p:spPr bwMode="auto">
            <a:xfrm>
              <a:off x="4236" y="547"/>
              <a:ext cx="480" cy="1392"/>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useBgFill="1">
          <p:nvSpPr>
            <p:cNvPr id="51267" name="Oval 4"/>
            <p:cNvSpPr>
              <a:spLocks noChangeArrowheads="1"/>
            </p:cNvSpPr>
            <p:nvPr/>
          </p:nvSpPr>
          <p:spPr bwMode="auto">
            <a:xfrm>
              <a:off x="4380" y="1171"/>
              <a:ext cx="192" cy="192"/>
            </a:xfrm>
            <a:prstGeom prst="ellipse">
              <a:avLst/>
            </a:prstGeom>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51268" name="Line 5"/>
            <p:cNvSpPr>
              <a:spLocks noChangeShapeType="1"/>
            </p:cNvSpPr>
            <p:nvPr/>
          </p:nvSpPr>
          <p:spPr bwMode="auto">
            <a:xfrm>
              <a:off x="4476" y="547"/>
              <a:ext cx="0" cy="1392"/>
            </a:xfrm>
            <a:prstGeom prst="line">
              <a:avLst/>
            </a:prstGeom>
            <a:noFill/>
            <a:ln w="12700">
              <a:solidFill>
                <a:schemeClr val="tx1"/>
              </a:solidFill>
              <a:prstDash val="dash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69" name="Line 6"/>
            <p:cNvSpPr>
              <a:spLocks noChangeShapeType="1"/>
            </p:cNvSpPr>
            <p:nvPr/>
          </p:nvSpPr>
          <p:spPr bwMode="auto">
            <a:xfrm flipV="1">
              <a:off x="4476" y="259"/>
              <a:ext cx="0" cy="288"/>
            </a:xfrm>
            <a:prstGeom prst="line">
              <a:avLst/>
            </a:prstGeom>
            <a:noFill/>
            <a:ln w="381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70" name="Rectangle 7"/>
            <p:cNvSpPr>
              <a:spLocks noChangeArrowheads="1"/>
            </p:cNvSpPr>
            <p:nvPr/>
          </p:nvSpPr>
          <p:spPr bwMode="auto">
            <a:xfrm>
              <a:off x="4466" y="182"/>
              <a:ext cx="22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dirty="0">
                  <a:solidFill>
                    <a:srgbClr val="FF0000"/>
                  </a:solidFill>
                  <a:latin typeface="+mn-lt"/>
                  <a:ea typeface="宋体" panose="02010600030101010101" pitchFamily="2" charset="-122"/>
                </a:rPr>
                <a:t>F</a:t>
              </a:r>
            </a:p>
          </p:txBody>
        </p:sp>
        <p:sp>
          <p:nvSpPr>
            <p:cNvPr id="51271" name="Line 8"/>
            <p:cNvSpPr>
              <a:spLocks noChangeShapeType="1"/>
            </p:cNvSpPr>
            <p:nvPr/>
          </p:nvSpPr>
          <p:spPr bwMode="auto">
            <a:xfrm>
              <a:off x="4476" y="1939"/>
              <a:ext cx="0" cy="288"/>
            </a:xfrm>
            <a:prstGeom prst="line">
              <a:avLst/>
            </a:prstGeom>
            <a:noFill/>
            <a:ln w="38100">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72" name="Rectangle 9"/>
            <p:cNvSpPr>
              <a:spLocks noChangeArrowheads="1"/>
            </p:cNvSpPr>
            <p:nvPr/>
          </p:nvSpPr>
          <p:spPr bwMode="auto">
            <a:xfrm>
              <a:off x="4466" y="2054"/>
              <a:ext cx="22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dirty="0">
                  <a:solidFill>
                    <a:srgbClr val="FF0000"/>
                  </a:solidFill>
                  <a:latin typeface="+mj-lt"/>
                </a:rPr>
                <a:t>F</a:t>
              </a:r>
              <a:endParaRPr kumimoji="1" lang="en-US" altLang="zh-CN" sz="2000" b="1" i="1" dirty="0">
                <a:solidFill>
                  <a:srgbClr val="FF0000"/>
                </a:solidFill>
                <a:latin typeface="+mj-lt"/>
                <a:ea typeface="'宋体" pitchFamily="34" charset="-122"/>
              </a:endParaRPr>
            </a:p>
          </p:txBody>
        </p:sp>
      </p:grpSp>
      <p:grpSp>
        <p:nvGrpSpPr>
          <p:cNvPr id="214026" name="Group 10"/>
          <p:cNvGrpSpPr>
            <a:grpSpLocks/>
          </p:cNvGrpSpPr>
          <p:nvPr/>
        </p:nvGrpSpPr>
        <p:grpSpPr bwMode="auto">
          <a:xfrm>
            <a:off x="7265335" y="685768"/>
            <a:ext cx="1154112" cy="2828842"/>
            <a:chOff x="3456" y="960"/>
            <a:chExt cx="727" cy="1830"/>
          </a:xfrm>
        </p:grpSpPr>
        <p:grpSp>
          <p:nvGrpSpPr>
            <p:cNvPr id="51244" name="Group 11"/>
            <p:cNvGrpSpPr>
              <a:grpSpLocks/>
            </p:cNvGrpSpPr>
            <p:nvPr/>
          </p:nvGrpSpPr>
          <p:grpSpPr bwMode="auto">
            <a:xfrm>
              <a:off x="3686" y="2416"/>
              <a:ext cx="225" cy="374"/>
              <a:chOff x="3782" y="3408"/>
              <a:chExt cx="225" cy="374"/>
            </a:xfrm>
          </p:grpSpPr>
          <p:sp>
            <p:nvSpPr>
              <p:cNvPr id="51264" name="Line 12"/>
              <p:cNvSpPr>
                <a:spLocks noChangeShapeType="1"/>
              </p:cNvSpPr>
              <p:nvPr/>
            </p:nvSpPr>
            <p:spPr bwMode="auto">
              <a:xfrm>
                <a:off x="3792" y="3408"/>
                <a:ext cx="0" cy="288"/>
              </a:xfrm>
              <a:prstGeom prst="line">
                <a:avLst/>
              </a:prstGeom>
              <a:noFill/>
              <a:ln w="38100">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65" name="Rectangle 13"/>
              <p:cNvSpPr>
                <a:spLocks noChangeArrowheads="1"/>
              </p:cNvSpPr>
              <p:nvPr/>
            </p:nvSpPr>
            <p:spPr bwMode="auto">
              <a:xfrm>
                <a:off x="3782" y="3523"/>
                <a:ext cx="225" cy="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dirty="0">
                    <a:solidFill>
                      <a:srgbClr val="FF0000"/>
                    </a:solidFill>
                    <a:latin typeface="+mn-lt"/>
                    <a:ea typeface="宋体" panose="02010600030101010101" pitchFamily="2" charset="-122"/>
                  </a:rPr>
                  <a:t>F</a:t>
                </a:r>
              </a:p>
            </p:txBody>
          </p:sp>
        </p:grpSp>
        <p:sp>
          <p:nvSpPr>
            <p:cNvPr id="51245" name="Rectangle 14"/>
            <p:cNvSpPr>
              <a:spLocks noChangeArrowheads="1"/>
            </p:cNvSpPr>
            <p:nvPr/>
          </p:nvSpPr>
          <p:spPr bwMode="auto">
            <a:xfrm>
              <a:off x="3456" y="1696"/>
              <a:ext cx="480" cy="72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useBgFill="1">
          <p:nvSpPr>
            <p:cNvPr id="51246" name="Oval 15"/>
            <p:cNvSpPr>
              <a:spLocks noChangeArrowheads="1"/>
            </p:cNvSpPr>
            <p:nvPr/>
          </p:nvSpPr>
          <p:spPr bwMode="auto">
            <a:xfrm>
              <a:off x="3600" y="1600"/>
              <a:ext cx="192" cy="192"/>
            </a:xfrm>
            <a:prstGeom prst="ellipse">
              <a:avLst/>
            </a:prstGeom>
            <a:ln w="9525">
              <a:solidFill>
                <a:srgbClr val="0000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useBgFill="1">
          <p:nvSpPr>
            <p:cNvPr id="51247" name="Rectangle 16"/>
            <p:cNvSpPr>
              <a:spLocks noChangeArrowheads="1"/>
            </p:cNvSpPr>
            <p:nvPr/>
          </p:nvSpPr>
          <p:spPr bwMode="auto">
            <a:xfrm>
              <a:off x="3600" y="1600"/>
              <a:ext cx="192" cy="96"/>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grpSp>
          <p:nvGrpSpPr>
            <p:cNvPr id="51248" name="Group 17"/>
            <p:cNvGrpSpPr>
              <a:grpSpLocks/>
            </p:cNvGrpSpPr>
            <p:nvPr/>
          </p:nvGrpSpPr>
          <p:grpSpPr bwMode="auto">
            <a:xfrm>
              <a:off x="3456" y="1264"/>
              <a:ext cx="144" cy="432"/>
              <a:chOff x="3552" y="2256"/>
              <a:chExt cx="144" cy="432"/>
            </a:xfrm>
          </p:grpSpPr>
          <p:sp>
            <p:nvSpPr>
              <p:cNvPr id="51259" name="Arc 18"/>
              <p:cNvSpPr>
                <a:spLocks/>
              </p:cNvSpPr>
              <p:nvPr/>
            </p:nvSpPr>
            <p:spPr bwMode="auto">
              <a:xfrm>
                <a:off x="3552" y="2256"/>
                <a:ext cx="144" cy="288"/>
              </a:xfrm>
              <a:custGeom>
                <a:avLst/>
                <a:gdLst>
                  <a:gd name="T0" fmla="*/ 144 w 21600"/>
                  <a:gd name="T1" fmla="*/ 0 h 21600"/>
                  <a:gd name="T2" fmla="*/ 0 w 21600"/>
                  <a:gd name="T3" fmla="*/ 288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599"/>
                    </a:cubicBezTo>
                  </a:path>
                  <a:path w="21600" h="21600" stroke="0" extrusionOk="0">
                    <a:moveTo>
                      <a:pt x="21600" y="0"/>
                    </a:moveTo>
                    <a:cubicBezTo>
                      <a:pt x="21600" y="11929"/>
                      <a:pt x="11929" y="21599"/>
                      <a:pt x="0" y="21599"/>
                    </a:cubicBezTo>
                    <a:lnTo>
                      <a:pt x="0" y="0"/>
                    </a:lnTo>
                    <a:lnTo>
                      <a:pt x="21600" y="0"/>
                    </a:lnTo>
                    <a:close/>
                  </a:path>
                </a:pathLst>
              </a:custGeom>
              <a:noFill/>
              <a:ln w="12700" cap="rnd">
                <a:solidFill>
                  <a:srgbClr val="FF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60" name="Line 19"/>
              <p:cNvSpPr>
                <a:spLocks noChangeShapeType="1"/>
              </p:cNvSpPr>
              <p:nvPr/>
            </p:nvSpPr>
            <p:spPr bwMode="auto">
              <a:xfrm flipV="1">
                <a:off x="3552" y="2544"/>
                <a:ext cx="0" cy="144"/>
              </a:xfrm>
              <a:prstGeom prst="line">
                <a:avLst/>
              </a:prstGeom>
              <a:noFill/>
              <a:ln w="254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61" name="Line 20"/>
              <p:cNvSpPr>
                <a:spLocks noChangeShapeType="1"/>
              </p:cNvSpPr>
              <p:nvPr/>
            </p:nvSpPr>
            <p:spPr bwMode="auto">
              <a:xfrm flipV="1">
                <a:off x="3648" y="2448"/>
                <a:ext cx="0" cy="240"/>
              </a:xfrm>
              <a:prstGeom prst="line">
                <a:avLst/>
              </a:prstGeom>
              <a:noFill/>
              <a:ln w="254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62" name="Line 21"/>
              <p:cNvSpPr>
                <a:spLocks noChangeShapeType="1"/>
              </p:cNvSpPr>
              <p:nvPr/>
            </p:nvSpPr>
            <p:spPr bwMode="auto">
              <a:xfrm flipV="1">
                <a:off x="3696" y="2304"/>
                <a:ext cx="0" cy="384"/>
              </a:xfrm>
              <a:prstGeom prst="line">
                <a:avLst/>
              </a:prstGeom>
              <a:noFill/>
              <a:ln w="254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63" name="Line 22"/>
              <p:cNvSpPr>
                <a:spLocks noChangeShapeType="1"/>
              </p:cNvSpPr>
              <p:nvPr/>
            </p:nvSpPr>
            <p:spPr bwMode="auto">
              <a:xfrm flipV="1">
                <a:off x="3600" y="2496"/>
                <a:ext cx="0" cy="192"/>
              </a:xfrm>
              <a:prstGeom prst="line">
                <a:avLst/>
              </a:prstGeom>
              <a:noFill/>
              <a:ln w="254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249" name="Group 23"/>
            <p:cNvGrpSpPr>
              <a:grpSpLocks/>
            </p:cNvGrpSpPr>
            <p:nvPr/>
          </p:nvGrpSpPr>
          <p:grpSpPr bwMode="auto">
            <a:xfrm>
              <a:off x="3792" y="1264"/>
              <a:ext cx="145" cy="432"/>
              <a:chOff x="3888" y="2256"/>
              <a:chExt cx="145" cy="432"/>
            </a:xfrm>
          </p:grpSpPr>
          <p:sp>
            <p:nvSpPr>
              <p:cNvPr id="51254" name="Arc 24"/>
              <p:cNvSpPr>
                <a:spLocks/>
              </p:cNvSpPr>
              <p:nvPr/>
            </p:nvSpPr>
            <p:spPr bwMode="auto">
              <a:xfrm>
                <a:off x="3889" y="2256"/>
                <a:ext cx="144" cy="288"/>
              </a:xfrm>
              <a:custGeom>
                <a:avLst/>
                <a:gdLst>
                  <a:gd name="T0" fmla="*/ 144 w 21600"/>
                  <a:gd name="T1" fmla="*/ 288 h 21600"/>
                  <a:gd name="T2" fmla="*/ 0 w 21600"/>
                  <a:gd name="T3" fmla="*/ 0 h 21600"/>
                  <a:gd name="T4" fmla="*/ 144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21599"/>
                    </a:moveTo>
                    <a:cubicBezTo>
                      <a:pt x="9670" y="21599"/>
                      <a:pt x="0" y="11929"/>
                      <a:pt x="0" y="0"/>
                    </a:cubicBezTo>
                  </a:path>
                  <a:path w="21600" h="21600" stroke="0" extrusionOk="0">
                    <a:moveTo>
                      <a:pt x="21600" y="21599"/>
                    </a:moveTo>
                    <a:cubicBezTo>
                      <a:pt x="9670" y="21599"/>
                      <a:pt x="0" y="11929"/>
                      <a:pt x="0" y="0"/>
                    </a:cubicBezTo>
                    <a:lnTo>
                      <a:pt x="21600" y="0"/>
                    </a:lnTo>
                    <a:lnTo>
                      <a:pt x="21600" y="21599"/>
                    </a:lnTo>
                    <a:close/>
                  </a:path>
                </a:pathLst>
              </a:custGeom>
              <a:noFill/>
              <a:ln w="12700" cap="rnd">
                <a:solidFill>
                  <a:srgbClr val="FF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55" name="Line 25"/>
              <p:cNvSpPr>
                <a:spLocks noChangeShapeType="1"/>
              </p:cNvSpPr>
              <p:nvPr/>
            </p:nvSpPr>
            <p:spPr bwMode="auto">
              <a:xfrm flipV="1">
                <a:off x="4032" y="2544"/>
                <a:ext cx="0" cy="144"/>
              </a:xfrm>
              <a:prstGeom prst="line">
                <a:avLst/>
              </a:prstGeom>
              <a:noFill/>
              <a:ln w="254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56" name="Line 26"/>
              <p:cNvSpPr>
                <a:spLocks noChangeShapeType="1"/>
              </p:cNvSpPr>
              <p:nvPr/>
            </p:nvSpPr>
            <p:spPr bwMode="auto">
              <a:xfrm flipV="1">
                <a:off x="3936" y="2448"/>
                <a:ext cx="0" cy="240"/>
              </a:xfrm>
              <a:prstGeom prst="line">
                <a:avLst/>
              </a:prstGeom>
              <a:noFill/>
              <a:ln w="254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57" name="Line 27"/>
              <p:cNvSpPr>
                <a:spLocks noChangeShapeType="1"/>
              </p:cNvSpPr>
              <p:nvPr/>
            </p:nvSpPr>
            <p:spPr bwMode="auto">
              <a:xfrm flipV="1">
                <a:off x="3888" y="2304"/>
                <a:ext cx="0" cy="384"/>
              </a:xfrm>
              <a:prstGeom prst="line">
                <a:avLst/>
              </a:prstGeom>
              <a:noFill/>
              <a:ln w="254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58" name="Line 28"/>
              <p:cNvSpPr>
                <a:spLocks noChangeShapeType="1"/>
              </p:cNvSpPr>
              <p:nvPr/>
            </p:nvSpPr>
            <p:spPr bwMode="auto">
              <a:xfrm flipV="1">
                <a:off x="3984" y="2496"/>
                <a:ext cx="0" cy="192"/>
              </a:xfrm>
              <a:prstGeom prst="line">
                <a:avLst/>
              </a:prstGeom>
              <a:noFill/>
              <a:ln w="254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1250" name="Line 29"/>
            <p:cNvSpPr>
              <a:spLocks noChangeShapeType="1"/>
            </p:cNvSpPr>
            <p:nvPr/>
          </p:nvSpPr>
          <p:spPr bwMode="auto">
            <a:xfrm>
              <a:off x="3984" y="1696"/>
              <a:ext cx="144"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51" name="Line 30"/>
            <p:cNvSpPr>
              <a:spLocks noChangeShapeType="1"/>
            </p:cNvSpPr>
            <p:nvPr/>
          </p:nvSpPr>
          <p:spPr bwMode="auto">
            <a:xfrm>
              <a:off x="3840" y="1264"/>
              <a:ext cx="28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52" name="Line 31"/>
            <p:cNvSpPr>
              <a:spLocks noChangeShapeType="1"/>
            </p:cNvSpPr>
            <p:nvPr/>
          </p:nvSpPr>
          <p:spPr bwMode="auto">
            <a:xfrm>
              <a:off x="4032" y="1264"/>
              <a:ext cx="0" cy="432"/>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1253" name="Object 32"/>
            <p:cNvGraphicFramePr>
              <a:graphicFrameLocks/>
            </p:cNvGraphicFramePr>
            <p:nvPr/>
          </p:nvGraphicFramePr>
          <p:xfrm>
            <a:off x="3764" y="960"/>
            <a:ext cx="419" cy="256"/>
          </p:xfrm>
          <a:graphic>
            <a:graphicData uri="http://schemas.openxmlformats.org/presentationml/2006/ole">
              <mc:AlternateContent xmlns:mc="http://schemas.openxmlformats.org/markup-compatibility/2006">
                <mc:Choice xmlns:v="urn:schemas-microsoft-com:vml" Requires="v">
                  <p:oleObj name="Equation" r:id="rId2" imgW="295380" imgH="190590" progId="Equation.2">
                    <p:embed/>
                  </p:oleObj>
                </mc:Choice>
                <mc:Fallback>
                  <p:oleObj name="Equation" r:id="rId2" imgW="295380" imgH="190590" progId="Equation.2">
                    <p:embed/>
                    <p:pic>
                      <p:nvPicPr>
                        <p:cNvPr id="0" nam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64" y="960"/>
                          <a:ext cx="419" cy="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14049" name="Group 33"/>
          <p:cNvGrpSpPr>
            <a:grpSpLocks/>
          </p:cNvGrpSpPr>
          <p:nvPr/>
        </p:nvGrpSpPr>
        <p:grpSpPr bwMode="auto">
          <a:xfrm>
            <a:off x="6168191" y="3427646"/>
            <a:ext cx="1127125" cy="3322638"/>
            <a:chOff x="4129" y="2208"/>
            <a:chExt cx="710" cy="2093"/>
          </a:xfrm>
        </p:grpSpPr>
        <p:sp>
          <p:nvSpPr>
            <p:cNvPr id="51235" name="Rectangle 34"/>
            <p:cNvSpPr>
              <a:spLocks noChangeArrowheads="1"/>
            </p:cNvSpPr>
            <p:nvPr/>
          </p:nvSpPr>
          <p:spPr bwMode="auto">
            <a:xfrm>
              <a:off x="4197" y="2573"/>
              <a:ext cx="576" cy="1392"/>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51236" name="Line 35"/>
            <p:cNvSpPr>
              <a:spLocks noChangeShapeType="1"/>
            </p:cNvSpPr>
            <p:nvPr/>
          </p:nvSpPr>
          <p:spPr bwMode="auto">
            <a:xfrm>
              <a:off x="4485" y="2621"/>
              <a:ext cx="0" cy="1392"/>
            </a:xfrm>
            <a:prstGeom prst="line">
              <a:avLst/>
            </a:prstGeom>
            <a:noFill/>
            <a:ln w="12700">
              <a:solidFill>
                <a:schemeClr val="tx1"/>
              </a:solidFill>
              <a:prstDash val="dash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37" name="Line 36"/>
            <p:cNvSpPr>
              <a:spLocks noChangeShapeType="1"/>
            </p:cNvSpPr>
            <p:nvPr/>
          </p:nvSpPr>
          <p:spPr bwMode="auto">
            <a:xfrm flipV="1">
              <a:off x="4485" y="2285"/>
              <a:ext cx="0" cy="288"/>
            </a:xfrm>
            <a:prstGeom prst="line">
              <a:avLst/>
            </a:prstGeom>
            <a:noFill/>
            <a:ln w="38100">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38" name="Rectangle 37"/>
            <p:cNvSpPr>
              <a:spLocks noChangeArrowheads="1"/>
            </p:cNvSpPr>
            <p:nvPr/>
          </p:nvSpPr>
          <p:spPr bwMode="auto">
            <a:xfrm>
              <a:off x="4475" y="2208"/>
              <a:ext cx="22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dirty="0">
                  <a:solidFill>
                    <a:srgbClr val="FF0000"/>
                  </a:solidFill>
                  <a:latin typeface="+mn-lt"/>
                </a:rPr>
                <a:t>F</a:t>
              </a:r>
              <a:endParaRPr kumimoji="1" lang="en-US" altLang="zh-CN" sz="2000" b="1" i="1" dirty="0">
                <a:solidFill>
                  <a:srgbClr val="FF0000"/>
                </a:solidFill>
                <a:latin typeface="+mn-lt"/>
                <a:ea typeface="'宋体" pitchFamily="34" charset="-122"/>
              </a:endParaRPr>
            </a:p>
          </p:txBody>
        </p:sp>
        <p:grpSp>
          <p:nvGrpSpPr>
            <p:cNvPr id="51239" name="Group 38"/>
            <p:cNvGrpSpPr>
              <a:grpSpLocks/>
            </p:cNvGrpSpPr>
            <p:nvPr/>
          </p:nvGrpSpPr>
          <p:grpSpPr bwMode="auto">
            <a:xfrm>
              <a:off x="4475" y="3965"/>
              <a:ext cx="225" cy="336"/>
              <a:chOff x="4550" y="3408"/>
              <a:chExt cx="225" cy="336"/>
            </a:xfrm>
          </p:grpSpPr>
          <p:sp>
            <p:nvSpPr>
              <p:cNvPr id="51242" name="Line 39"/>
              <p:cNvSpPr>
                <a:spLocks noChangeShapeType="1"/>
              </p:cNvSpPr>
              <p:nvPr/>
            </p:nvSpPr>
            <p:spPr bwMode="auto">
              <a:xfrm>
                <a:off x="4560" y="3408"/>
                <a:ext cx="0" cy="288"/>
              </a:xfrm>
              <a:prstGeom prst="line">
                <a:avLst/>
              </a:prstGeom>
              <a:noFill/>
              <a:ln w="38100">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43" name="Rectangle 40"/>
              <p:cNvSpPr>
                <a:spLocks noChangeArrowheads="1"/>
              </p:cNvSpPr>
              <p:nvPr/>
            </p:nvSpPr>
            <p:spPr bwMode="auto">
              <a:xfrm>
                <a:off x="4550" y="3492"/>
                <a:ext cx="22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dirty="0">
                    <a:solidFill>
                      <a:srgbClr val="FF0000"/>
                    </a:solidFill>
                    <a:latin typeface="+mn-lt"/>
                  </a:rPr>
                  <a:t>F</a:t>
                </a:r>
                <a:endParaRPr kumimoji="1" lang="en-US" altLang="zh-CN" sz="2000" b="1" i="1" dirty="0">
                  <a:solidFill>
                    <a:srgbClr val="FF0000"/>
                  </a:solidFill>
                  <a:latin typeface="+mn-lt"/>
                  <a:ea typeface="'宋体" pitchFamily="34" charset="-122"/>
                </a:endParaRPr>
              </a:p>
            </p:txBody>
          </p:sp>
        </p:grpSp>
        <p:sp useBgFill="1">
          <p:nvSpPr>
            <p:cNvPr id="51240" name="Oval 41"/>
            <p:cNvSpPr>
              <a:spLocks noChangeArrowheads="1"/>
            </p:cNvSpPr>
            <p:nvPr/>
          </p:nvSpPr>
          <p:spPr bwMode="auto">
            <a:xfrm>
              <a:off x="4129" y="3197"/>
              <a:ext cx="144" cy="144"/>
            </a:xfrm>
            <a:prstGeom prst="ellipse">
              <a:avLst/>
            </a:prstGeom>
            <a:ln>
              <a:noFill/>
            </a:ln>
            <a:effectLst/>
            <a:extLst>
              <a:ext uri="{91240B29-F687-4F45-9708-019B960494DF}">
                <a14:hiddenLine xmlns:a14="http://schemas.microsoft.com/office/drawing/2010/main" w="9525">
                  <a:solidFill>
                    <a:srgbClr val="000099"/>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useBgFill="1">
          <p:nvSpPr>
            <p:cNvPr id="51241" name="Oval 42"/>
            <p:cNvSpPr>
              <a:spLocks noChangeArrowheads="1"/>
            </p:cNvSpPr>
            <p:nvPr/>
          </p:nvSpPr>
          <p:spPr bwMode="auto">
            <a:xfrm>
              <a:off x="4695" y="3197"/>
              <a:ext cx="144" cy="144"/>
            </a:xfrm>
            <a:prstGeom prst="ellipse">
              <a:avLst/>
            </a:prstGeom>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grpSp>
      <p:grpSp>
        <p:nvGrpSpPr>
          <p:cNvPr id="214059" name="Group 43"/>
          <p:cNvGrpSpPr>
            <a:grpSpLocks/>
          </p:cNvGrpSpPr>
          <p:nvPr/>
        </p:nvGrpSpPr>
        <p:grpSpPr bwMode="auto">
          <a:xfrm>
            <a:off x="7341535" y="3881447"/>
            <a:ext cx="1458912" cy="2811167"/>
            <a:chOff x="4793" y="2403"/>
            <a:chExt cx="919" cy="1888"/>
          </a:xfrm>
        </p:grpSpPr>
        <p:sp useBgFill="1">
          <p:nvSpPr>
            <p:cNvPr id="51211" name="Rectangle 44"/>
            <p:cNvSpPr>
              <a:spLocks noChangeArrowheads="1"/>
            </p:cNvSpPr>
            <p:nvPr/>
          </p:nvSpPr>
          <p:spPr bwMode="auto">
            <a:xfrm>
              <a:off x="4801" y="3139"/>
              <a:ext cx="96" cy="144"/>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51212" name="Rectangle 45"/>
            <p:cNvSpPr>
              <a:spLocks noChangeArrowheads="1"/>
            </p:cNvSpPr>
            <p:nvPr/>
          </p:nvSpPr>
          <p:spPr bwMode="auto">
            <a:xfrm>
              <a:off x="4841" y="3139"/>
              <a:ext cx="576" cy="76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grpSp>
          <p:nvGrpSpPr>
            <p:cNvPr id="51213" name="Group 46"/>
            <p:cNvGrpSpPr>
              <a:grpSpLocks/>
            </p:cNvGrpSpPr>
            <p:nvPr/>
          </p:nvGrpSpPr>
          <p:grpSpPr bwMode="auto">
            <a:xfrm>
              <a:off x="5119" y="3907"/>
              <a:ext cx="225" cy="384"/>
              <a:chOff x="5166" y="3408"/>
              <a:chExt cx="225" cy="384"/>
            </a:xfrm>
          </p:grpSpPr>
          <p:sp>
            <p:nvSpPr>
              <p:cNvPr id="51233" name="Line 47"/>
              <p:cNvSpPr>
                <a:spLocks noChangeShapeType="1"/>
              </p:cNvSpPr>
              <p:nvPr/>
            </p:nvSpPr>
            <p:spPr bwMode="auto">
              <a:xfrm>
                <a:off x="5176" y="3408"/>
                <a:ext cx="0" cy="288"/>
              </a:xfrm>
              <a:prstGeom prst="line">
                <a:avLst/>
              </a:prstGeom>
              <a:noFill/>
              <a:ln w="38100">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34" name="Rectangle 48"/>
              <p:cNvSpPr>
                <a:spLocks noChangeArrowheads="1"/>
              </p:cNvSpPr>
              <p:nvPr/>
            </p:nvSpPr>
            <p:spPr bwMode="auto">
              <a:xfrm>
                <a:off x="5166" y="3523"/>
                <a:ext cx="225"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2000" b="1" i="1" dirty="0">
                    <a:solidFill>
                      <a:srgbClr val="FF0000"/>
                    </a:solidFill>
                    <a:latin typeface="+mn-lt"/>
                  </a:rPr>
                  <a:t>F</a:t>
                </a:r>
                <a:endParaRPr kumimoji="1" lang="en-US" altLang="zh-CN" sz="2000" b="1" i="1" dirty="0">
                  <a:solidFill>
                    <a:srgbClr val="FF0000"/>
                  </a:solidFill>
                  <a:latin typeface="+mn-lt"/>
                  <a:ea typeface="'宋体" pitchFamily="34" charset="-122"/>
                </a:endParaRPr>
              </a:p>
            </p:txBody>
          </p:sp>
        </p:grpSp>
        <p:sp useBgFill="1">
          <p:nvSpPr>
            <p:cNvPr id="51214" name="Oval 49"/>
            <p:cNvSpPr>
              <a:spLocks noChangeArrowheads="1"/>
            </p:cNvSpPr>
            <p:nvPr/>
          </p:nvSpPr>
          <p:spPr bwMode="auto">
            <a:xfrm>
              <a:off x="4793" y="3091"/>
              <a:ext cx="144" cy="144"/>
            </a:xfrm>
            <a:prstGeom prst="ellipse">
              <a:avLst/>
            </a:prstGeom>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useBgFill="1">
          <p:nvSpPr>
            <p:cNvPr id="51215" name="Oval 50"/>
            <p:cNvSpPr>
              <a:spLocks noChangeArrowheads="1"/>
            </p:cNvSpPr>
            <p:nvPr/>
          </p:nvSpPr>
          <p:spPr bwMode="auto">
            <a:xfrm>
              <a:off x="5321" y="3091"/>
              <a:ext cx="144" cy="144"/>
            </a:xfrm>
            <a:prstGeom prst="ellipse">
              <a:avLst/>
            </a:prstGeom>
            <a:ln>
              <a:noFill/>
            </a:ln>
            <a:effectLst/>
            <a:extLst>
              <a:ext uri="{91240B29-F687-4F45-9708-019B960494DF}">
                <a14:hiddenLine xmlns:a14="http://schemas.microsoft.com/office/drawing/2010/main" w="9525">
                  <a:solidFill>
                    <a:srgbClr val="000099"/>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grpSp>
          <p:nvGrpSpPr>
            <p:cNvPr id="51216" name="Group 51"/>
            <p:cNvGrpSpPr>
              <a:grpSpLocks/>
            </p:cNvGrpSpPr>
            <p:nvPr/>
          </p:nvGrpSpPr>
          <p:grpSpPr bwMode="auto">
            <a:xfrm>
              <a:off x="4937" y="2707"/>
              <a:ext cx="145" cy="432"/>
              <a:chOff x="4984" y="2208"/>
              <a:chExt cx="145" cy="432"/>
            </a:xfrm>
          </p:grpSpPr>
          <p:sp>
            <p:nvSpPr>
              <p:cNvPr id="51228" name="Arc 52"/>
              <p:cNvSpPr>
                <a:spLocks/>
              </p:cNvSpPr>
              <p:nvPr/>
            </p:nvSpPr>
            <p:spPr bwMode="auto">
              <a:xfrm>
                <a:off x="4985" y="2208"/>
                <a:ext cx="144" cy="288"/>
              </a:xfrm>
              <a:custGeom>
                <a:avLst/>
                <a:gdLst>
                  <a:gd name="T0" fmla="*/ 144 w 21600"/>
                  <a:gd name="T1" fmla="*/ 288 h 21600"/>
                  <a:gd name="T2" fmla="*/ 0 w 21600"/>
                  <a:gd name="T3" fmla="*/ 0 h 21600"/>
                  <a:gd name="T4" fmla="*/ 144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21599"/>
                    </a:moveTo>
                    <a:cubicBezTo>
                      <a:pt x="9670" y="21599"/>
                      <a:pt x="0" y="11929"/>
                      <a:pt x="0" y="0"/>
                    </a:cubicBezTo>
                  </a:path>
                  <a:path w="21600" h="21600" stroke="0" extrusionOk="0">
                    <a:moveTo>
                      <a:pt x="21600" y="21599"/>
                    </a:moveTo>
                    <a:cubicBezTo>
                      <a:pt x="9670" y="21599"/>
                      <a:pt x="0" y="11929"/>
                      <a:pt x="0" y="0"/>
                    </a:cubicBezTo>
                    <a:lnTo>
                      <a:pt x="21600" y="0"/>
                    </a:lnTo>
                    <a:lnTo>
                      <a:pt x="21600" y="21599"/>
                    </a:lnTo>
                    <a:close/>
                  </a:path>
                </a:pathLst>
              </a:custGeom>
              <a:noFill/>
              <a:ln w="12700" cap="rnd">
                <a:solidFill>
                  <a:srgbClr val="FF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29" name="Line 53"/>
              <p:cNvSpPr>
                <a:spLocks noChangeShapeType="1"/>
              </p:cNvSpPr>
              <p:nvPr/>
            </p:nvSpPr>
            <p:spPr bwMode="auto">
              <a:xfrm flipV="1">
                <a:off x="5128" y="2496"/>
                <a:ext cx="0" cy="144"/>
              </a:xfrm>
              <a:prstGeom prst="line">
                <a:avLst/>
              </a:prstGeom>
              <a:noFill/>
              <a:ln w="254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30" name="Line 54"/>
              <p:cNvSpPr>
                <a:spLocks noChangeShapeType="1"/>
              </p:cNvSpPr>
              <p:nvPr/>
            </p:nvSpPr>
            <p:spPr bwMode="auto">
              <a:xfrm flipV="1">
                <a:off x="5032" y="2400"/>
                <a:ext cx="0" cy="240"/>
              </a:xfrm>
              <a:prstGeom prst="line">
                <a:avLst/>
              </a:prstGeom>
              <a:noFill/>
              <a:ln w="254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31" name="Line 55"/>
              <p:cNvSpPr>
                <a:spLocks noChangeShapeType="1"/>
              </p:cNvSpPr>
              <p:nvPr/>
            </p:nvSpPr>
            <p:spPr bwMode="auto">
              <a:xfrm flipV="1">
                <a:off x="4984" y="2256"/>
                <a:ext cx="0" cy="384"/>
              </a:xfrm>
              <a:prstGeom prst="line">
                <a:avLst/>
              </a:prstGeom>
              <a:noFill/>
              <a:ln w="254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32" name="Line 56"/>
              <p:cNvSpPr>
                <a:spLocks noChangeShapeType="1"/>
              </p:cNvSpPr>
              <p:nvPr/>
            </p:nvSpPr>
            <p:spPr bwMode="auto">
              <a:xfrm flipV="1">
                <a:off x="5080" y="2448"/>
                <a:ext cx="0" cy="192"/>
              </a:xfrm>
              <a:prstGeom prst="line">
                <a:avLst/>
              </a:prstGeom>
              <a:noFill/>
              <a:ln w="254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217" name="Group 57"/>
            <p:cNvGrpSpPr>
              <a:grpSpLocks/>
            </p:cNvGrpSpPr>
            <p:nvPr/>
          </p:nvGrpSpPr>
          <p:grpSpPr bwMode="auto">
            <a:xfrm>
              <a:off x="5177" y="2707"/>
              <a:ext cx="144" cy="432"/>
              <a:chOff x="5224" y="2208"/>
              <a:chExt cx="144" cy="432"/>
            </a:xfrm>
          </p:grpSpPr>
          <p:sp>
            <p:nvSpPr>
              <p:cNvPr id="51223" name="Arc 58"/>
              <p:cNvSpPr>
                <a:spLocks/>
              </p:cNvSpPr>
              <p:nvPr/>
            </p:nvSpPr>
            <p:spPr bwMode="auto">
              <a:xfrm>
                <a:off x="5224" y="2208"/>
                <a:ext cx="144" cy="288"/>
              </a:xfrm>
              <a:custGeom>
                <a:avLst/>
                <a:gdLst>
                  <a:gd name="T0" fmla="*/ 144 w 21600"/>
                  <a:gd name="T1" fmla="*/ 0 h 21600"/>
                  <a:gd name="T2" fmla="*/ 0 w 21600"/>
                  <a:gd name="T3" fmla="*/ 288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599"/>
                    </a:cubicBezTo>
                  </a:path>
                  <a:path w="21600" h="21600" stroke="0" extrusionOk="0">
                    <a:moveTo>
                      <a:pt x="21600" y="0"/>
                    </a:moveTo>
                    <a:cubicBezTo>
                      <a:pt x="21600" y="11929"/>
                      <a:pt x="11929" y="21599"/>
                      <a:pt x="0" y="21599"/>
                    </a:cubicBezTo>
                    <a:lnTo>
                      <a:pt x="0" y="0"/>
                    </a:lnTo>
                    <a:lnTo>
                      <a:pt x="21600" y="0"/>
                    </a:lnTo>
                    <a:close/>
                  </a:path>
                </a:pathLst>
              </a:custGeom>
              <a:noFill/>
              <a:ln w="12700" cap="rnd">
                <a:solidFill>
                  <a:srgbClr val="FF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24" name="Line 59"/>
              <p:cNvSpPr>
                <a:spLocks noChangeShapeType="1"/>
              </p:cNvSpPr>
              <p:nvPr/>
            </p:nvSpPr>
            <p:spPr bwMode="auto">
              <a:xfrm flipV="1">
                <a:off x="5224" y="2496"/>
                <a:ext cx="0" cy="144"/>
              </a:xfrm>
              <a:prstGeom prst="line">
                <a:avLst/>
              </a:prstGeom>
              <a:noFill/>
              <a:ln w="254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25" name="Line 60"/>
              <p:cNvSpPr>
                <a:spLocks noChangeShapeType="1"/>
              </p:cNvSpPr>
              <p:nvPr/>
            </p:nvSpPr>
            <p:spPr bwMode="auto">
              <a:xfrm flipV="1">
                <a:off x="5320" y="2400"/>
                <a:ext cx="0" cy="240"/>
              </a:xfrm>
              <a:prstGeom prst="line">
                <a:avLst/>
              </a:prstGeom>
              <a:noFill/>
              <a:ln w="254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26" name="Line 61"/>
              <p:cNvSpPr>
                <a:spLocks noChangeShapeType="1"/>
              </p:cNvSpPr>
              <p:nvPr/>
            </p:nvSpPr>
            <p:spPr bwMode="auto">
              <a:xfrm flipV="1">
                <a:off x="5368" y="2256"/>
                <a:ext cx="0" cy="384"/>
              </a:xfrm>
              <a:prstGeom prst="line">
                <a:avLst/>
              </a:prstGeom>
              <a:noFill/>
              <a:ln w="254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27" name="Line 62"/>
              <p:cNvSpPr>
                <a:spLocks noChangeShapeType="1"/>
              </p:cNvSpPr>
              <p:nvPr/>
            </p:nvSpPr>
            <p:spPr bwMode="auto">
              <a:xfrm flipV="1">
                <a:off x="5272" y="2448"/>
                <a:ext cx="0" cy="192"/>
              </a:xfrm>
              <a:prstGeom prst="line">
                <a:avLst/>
              </a:prstGeom>
              <a:noFill/>
              <a:ln w="254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1218" name="Line 63"/>
            <p:cNvSpPr>
              <a:spLocks noChangeShapeType="1"/>
            </p:cNvSpPr>
            <p:nvPr/>
          </p:nvSpPr>
          <p:spPr bwMode="auto">
            <a:xfrm flipV="1">
              <a:off x="5129" y="2995"/>
              <a:ext cx="0" cy="144"/>
            </a:xfrm>
            <a:prstGeom prst="line">
              <a:avLst/>
            </a:prstGeom>
            <a:noFill/>
            <a:ln w="254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19" name="Line 64"/>
            <p:cNvSpPr>
              <a:spLocks noChangeShapeType="1"/>
            </p:cNvSpPr>
            <p:nvPr/>
          </p:nvSpPr>
          <p:spPr bwMode="auto">
            <a:xfrm>
              <a:off x="5369" y="3139"/>
              <a:ext cx="28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20" name="Line 65"/>
            <p:cNvSpPr>
              <a:spLocks noChangeShapeType="1"/>
            </p:cNvSpPr>
            <p:nvPr/>
          </p:nvSpPr>
          <p:spPr bwMode="auto">
            <a:xfrm>
              <a:off x="5369" y="2707"/>
              <a:ext cx="28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21" name="Line 66"/>
            <p:cNvSpPr>
              <a:spLocks noChangeShapeType="1"/>
            </p:cNvSpPr>
            <p:nvPr/>
          </p:nvSpPr>
          <p:spPr bwMode="auto">
            <a:xfrm>
              <a:off x="5561" y="2707"/>
              <a:ext cx="0" cy="432"/>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1222" name="Object 67"/>
            <p:cNvGraphicFramePr>
              <a:graphicFrameLocks/>
            </p:cNvGraphicFramePr>
            <p:nvPr/>
          </p:nvGraphicFramePr>
          <p:xfrm>
            <a:off x="5293" y="2403"/>
            <a:ext cx="419" cy="256"/>
          </p:xfrm>
          <a:graphic>
            <a:graphicData uri="http://schemas.openxmlformats.org/presentationml/2006/ole">
              <mc:AlternateContent xmlns:mc="http://schemas.openxmlformats.org/markup-compatibility/2006">
                <mc:Choice xmlns:v="urn:schemas-microsoft-com:vml" Requires="v">
                  <p:oleObj name="Equation" r:id="rId4" imgW="295380" imgH="190590" progId="Equation.2">
                    <p:embed/>
                  </p:oleObj>
                </mc:Choice>
                <mc:Fallback>
                  <p:oleObj name="Equation" r:id="rId4" imgW="295380" imgH="190590" progId="Equation.2">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93" y="2403"/>
                          <a:ext cx="419" cy="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14084" name="Rectangle 68"/>
          <p:cNvSpPr>
            <a:spLocks noChangeArrowheads="1"/>
          </p:cNvSpPr>
          <p:nvPr/>
        </p:nvSpPr>
        <p:spPr bwMode="auto">
          <a:xfrm>
            <a:off x="405188" y="1081211"/>
            <a:ext cx="566707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00"/>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400" b="1" dirty="0">
                <a:solidFill>
                  <a:srgbClr val="080808"/>
                </a:solidFill>
                <a:latin typeface="Times New Roman" panose="02020603050405020304" pitchFamily="18" charset="0"/>
                <a:ea typeface="华文楷体" panose="02010600040101010101" pitchFamily="2" charset="-122"/>
                <a:cs typeface="Times New Roman" panose="02020603050405020304" pitchFamily="18" charset="0"/>
              </a:rPr>
              <a:t>● 由于构件形状和尺寸变化而引起局部应力急剧增大的现象，称为</a:t>
            </a:r>
            <a:r>
              <a:rPr kumimoji="1"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应力集中</a:t>
            </a:r>
            <a:r>
              <a:rPr kumimoji="1"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Stress Concentration</a:t>
            </a:r>
            <a:r>
              <a:rPr kumimoji="1"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dirty="0">
                <a:solidFill>
                  <a:srgbClr val="080808"/>
                </a:solidFill>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214085" name="Rectangle 69"/>
          <p:cNvSpPr>
            <a:spLocks noChangeArrowheads="1"/>
          </p:cNvSpPr>
          <p:nvPr/>
        </p:nvSpPr>
        <p:spPr bwMode="auto">
          <a:xfrm>
            <a:off x="387466" y="2306325"/>
            <a:ext cx="3308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理论应力集中系数：</a:t>
            </a:r>
          </a:p>
        </p:txBody>
      </p:sp>
      <p:sp>
        <p:nvSpPr>
          <p:cNvPr id="214087" name="Rectangle 71"/>
          <p:cNvSpPr>
            <a:spLocks noChangeArrowheads="1"/>
          </p:cNvSpPr>
          <p:nvPr/>
        </p:nvSpPr>
        <p:spPr bwMode="auto">
          <a:xfrm>
            <a:off x="414673" y="3048770"/>
            <a:ext cx="5066715" cy="831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 构件的截面尺寸改变得越急剧，应力集中的程度就越严重。</a:t>
            </a:r>
          </a:p>
        </p:txBody>
      </p:sp>
      <p:sp>
        <p:nvSpPr>
          <p:cNvPr id="51275" name="Rectangle 19"/>
          <p:cNvSpPr>
            <a:spLocks noChangeArrowheads="1"/>
          </p:cNvSpPr>
          <p:nvPr/>
        </p:nvSpPr>
        <p:spPr bwMode="auto">
          <a:xfrm>
            <a:off x="456770" y="444107"/>
            <a:ext cx="3467158" cy="585418"/>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3200" b="1" dirty="0">
                <a:solidFill>
                  <a:srgbClr val="0000CC"/>
                </a:solidFill>
                <a:latin typeface="Times New Roman" panose="02020603050405020304" pitchFamily="18" charset="0"/>
                <a:ea typeface="隶书" panose="02010509060101010101" pitchFamily="49" charset="-122"/>
              </a:rPr>
              <a:t>6-7 </a:t>
            </a:r>
            <a:r>
              <a:rPr kumimoji="1" lang="zh-CN" altLang="en-US" sz="3200" b="1" dirty="0">
                <a:solidFill>
                  <a:srgbClr val="0000CC"/>
                </a:solidFill>
                <a:latin typeface="Times New Roman" panose="02020603050405020304" pitchFamily="18" charset="0"/>
                <a:ea typeface="隶书" panose="02010509060101010101" pitchFamily="49" charset="-122"/>
              </a:rPr>
              <a:t>应力集中</a:t>
            </a:r>
          </a:p>
        </p:txBody>
      </p:sp>
      <p:sp>
        <p:nvSpPr>
          <p:cNvPr id="73" name="Rectangle 71"/>
          <p:cNvSpPr>
            <a:spLocks noChangeArrowheads="1"/>
          </p:cNvSpPr>
          <p:nvPr/>
        </p:nvSpPr>
        <p:spPr bwMode="auto">
          <a:xfrm>
            <a:off x="437570" y="4369821"/>
            <a:ext cx="5066715"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 应力集中现象具有局部性。</a:t>
            </a:r>
          </a:p>
        </p:txBody>
      </p:sp>
      <p:sp>
        <p:nvSpPr>
          <p:cNvPr id="74" name="Rectangle 71"/>
          <p:cNvSpPr>
            <a:spLocks noChangeArrowheads="1"/>
          </p:cNvSpPr>
          <p:nvPr/>
        </p:nvSpPr>
        <p:spPr bwMode="auto">
          <a:xfrm>
            <a:off x="446163" y="4875267"/>
            <a:ext cx="5201178" cy="1570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 静载荷作用下，脆性材料对应力集中特别敏感，塑性材料几乎无影响；动载荷时，应力集中对各种材料均有较大影响。</a:t>
            </a:r>
          </a:p>
        </p:txBody>
      </p:sp>
      <p:graphicFrame>
        <p:nvGraphicFramePr>
          <p:cNvPr id="75" name="Object 12"/>
          <p:cNvGraphicFramePr>
            <a:graphicFrameLocks/>
          </p:cNvGraphicFramePr>
          <p:nvPr>
            <p:extLst>
              <p:ext uri="{D42A27DB-BD31-4B8C-83A1-F6EECF244321}">
                <p14:modId xmlns:p14="http://schemas.microsoft.com/office/powerpoint/2010/main" val="2500319080"/>
              </p:ext>
            </p:extLst>
          </p:nvPr>
        </p:nvGraphicFramePr>
        <p:xfrm>
          <a:off x="3711691" y="2089518"/>
          <a:ext cx="1354792" cy="866622"/>
        </p:xfrm>
        <a:graphic>
          <a:graphicData uri="http://schemas.openxmlformats.org/presentationml/2006/ole">
            <mc:AlternateContent xmlns:mc="http://schemas.openxmlformats.org/markup-compatibility/2006">
              <mc:Choice xmlns:v="urn:schemas-microsoft-com:vml" Requires="v">
                <p:oleObj name="Equation" r:id="rId6" imgW="596880" imgH="431640" progId="Equation.DSMT4">
                  <p:embed/>
                </p:oleObj>
              </mc:Choice>
              <mc:Fallback>
                <p:oleObj name="Equation" r:id="rId6" imgW="596880" imgH="431640" progId="Equation.DSMT4">
                  <p:embed/>
                  <p:pic>
                    <p:nvPicPr>
                      <p:cNvPr id="0" name=""/>
                      <p:cNvPicPr>
                        <a:picLocks noChangeArrowheads="1"/>
                      </p:cNvPicPr>
                      <p:nvPr/>
                    </p:nvPicPr>
                    <p:blipFill>
                      <a:blip r:embed="rId7"/>
                      <a:srcRect/>
                      <a:stretch>
                        <a:fillRect/>
                      </a:stretch>
                    </p:blipFill>
                    <p:spPr bwMode="auto">
                      <a:xfrm>
                        <a:off x="3711691" y="2089518"/>
                        <a:ext cx="1354792" cy="866622"/>
                      </a:xfrm>
                      <a:prstGeom prst="rect">
                        <a:avLst/>
                      </a:prstGeom>
                      <a:noFill/>
                      <a:ln>
                        <a:noFill/>
                      </a:ln>
                      <a:effectLst/>
                    </p:spPr>
                  </p:pic>
                </p:oleObj>
              </mc:Fallback>
            </mc:AlternateContent>
          </a:graphicData>
        </a:graphic>
      </p:graphicFrame>
      <p:graphicFrame>
        <p:nvGraphicFramePr>
          <p:cNvPr id="76" name="Object 12"/>
          <p:cNvGraphicFramePr>
            <a:graphicFrameLocks/>
          </p:cNvGraphicFramePr>
          <p:nvPr>
            <p:extLst>
              <p:ext uri="{D42A27DB-BD31-4B8C-83A1-F6EECF244321}">
                <p14:modId xmlns:p14="http://schemas.microsoft.com/office/powerpoint/2010/main" val="1596090854"/>
              </p:ext>
            </p:extLst>
          </p:nvPr>
        </p:nvGraphicFramePr>
        <p:xfrm>
          <a:off x="4174253" y="3499303"/>
          <a:ext cx="950912" cy="790575"/>
        </p:xfrm>
        <a:graphic>
          <a:graphicData uri="http://schemas.openxmlformats.org/presentationml/2006/ole">
            <mc:AlternateContent xmlns:mc="http://schemas.openxmlformats.org/markup-compatibility/2006">
              <mc:Choice xmlns:v="urn:schemas-microsoft-com:vml" Requires="v">
                <p:oleObj name="Equation" r:id="rId8" imgW="419040" imgH="393480" progId="Equation.DSMT4">
                  <p:embed/>
                </p:oleObj>
              </mc:Choice>
              <mc:Fallback>
                <p:oleObj name="Equation" r:id="rId8" imgW="419040" imgH="393480" progId="Equation.DSMT4">
                  <p:embed/>
                  <p:pic>
                    <p:nvPicPr>
                      <p:cNvPr id="0" name=""/>
                      <p:cNvPicPr>
                        <a:picLocks noChangeArrowheads="1"/>
                      </p:cNvPicPr>
                      <p:nvPr/>
                    </p:nvPicPr>
                    <p:blipFill>
                      <a:blip r:embed="rId9"/>
                      <a:srcRect/>
                      <a:stretch>
                        <a:fillRect/>
                      </a:stretch>
                    </p:blipFill>
                    <p:spPr bwMode="auto">
                      <a:xfrm>
                        <a:off x="4174253" y="3499303"/>
                        <a:ext cx="950912" cy="790575"/>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28453793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14018"/>
                                        </p:tgtEl>
                                        <p:attrNameLst>
                                          <p:attrName>style.visibility</p:attrName>
                                        </p:attrNameLst>
                                      </p:cBhvr>
                                      <p:to>
                                        <p:strVal val="visible"/>
                                      </p:to>
                                    </p:set>
                                    <p:animEffect transition="in" filter="blinds(horizontal)">
                                      <p:cBhvr>
                                        <p:cTn id="7" dur="500"/>
                                        <p:tgtEl>
                                          <p:spTgt spid="2140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214026"/>
                                        </p:tgtEl>
                                        <p:attrNameLst>
                                          <p:attrName>style.visibility</p:attrName>
                                        </p:attrNameLst>
                                      </p:cBhvr>
                                      <p:to>
                                        <p:strVal val="visible"/>
                                      </p:to>
                                    </p:set>
                                    <p:animEffect transition="in" filter="box(out)">
                                      <p:cBhvr>
                                        <p:cTn id="12" dur="500"/>
                                        <p:tgtEl>
                                          <p:spTgt spid="21402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14049"/>
                                        </p:tgtEl>
                                        <p:attrNameLst>
                                          <p:attrName>style.visibility</p:attrName>
                                        </p:attrNameLst>
                                      </p:cBhvr>
                                      <p:to>
                                        <p:strVal val="visible"/>
                                      </p:to>
                                    </p:set>
                                    <p:animEffect transition="in" filter="blinds(horizontal)">
                                      <p:cBhvr>
                                        <p:cTn id="17" dur="500"/>
                                        <p:tgtEl>
                                          <p:spTgt spid="21404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214059"/>
                                        </p:tgtEl>
                                        <p:attrNameLst>
                                          <p:attrName>style.visibility</p:attrName>
                                        </p:attrNameLst>
                                      </p:cBhvr>
                                      <p:to>
                                        <p:strVal val="visible"/>
                                      </p:to>
                                    </p:set>
                                    <p:animEffect transition="in" filter="box(out)">
                                      <p:cBhvr>
                                        <p:cTn id="22" dur="500"/>
                                        <p:tgtEl>
                                          <p:spTgt spid="21405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214084"/>
                                        </p:tgtEl>
                                        <p:attrNameLst>
                                          <p:attrName>style.visibility</p:attrName>
                                        </p:attrNameLst>
                                      </p:cBhvr>
                                      <p:to>
                                        <p:strVal val="visible"/>
                                      </p:to>
                                    </p:set>
                                    <p:animEffect transition="in" filter="box(out)">
                                      <p:cBhvr>
                                        <p:cTn id="27" dur="500"/>
                                        <p:tgtEl>
                                          <p:spTgt spid="21408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214085"/>
                                        </p:tgtEl>
                                        <p:attrNameLst>
                                          <p:attrName>style.visibility</p:attrName>
                                        </p:attrNameLst>
                                      </p:cBhvr>
                                      <p:to>
                                        <p:strVal val="visible"/>
                                      </p:to>
                                    </p:set>
                                    <p:animEffect transition="in" filter="box(out)">
                                      <p:cBhvr>
                                        <p:cTn id="32" dur="500"/>
                                        <p:tgtEl>
                                          <p:spTgt spid="21408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nodeType="clickEffect">
                                  <p:stCondLst>
                                    <p:cond delay="0"/>
                                  </p:stCondLst>
                                  <p:childTnLst>
                                    <p:set>
                                      <p:cBhvr>
                                        <p:cTn id="36" dur="1" fill="hold">
                                          <p:stCondLst>
                                            <p:cond delay="0"/>
                                          </p:stCondLst>
                                        </p:cTn>
                                        <p:tgtEl>
                                          <p:spTgt spid="75"/>
                                        </p:tgtEl>
                                        <p:attrNameLst>
                                          <p:attrName>style.visibility</p:attrName>
                                        </p:attrNameLst>
                                      </p:cBhvr>
                                      <p:to>
                                        <p:strVal val="visible"/>
                                      </p:to>
                                    </p:set>
                                    <p:animEffect transition="in" filter="fade">
                                      <p:cBhvr>
                                        <p:cTn id="37" dur="500"/>
                                        <p:tgtEl>
                                          <p:spTgt spid="75"/>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214087"/>
                                        </p:tgtEl>
                                        <p:attrNameLst>
                                          <p:attrName>style.visibility</p:attrName>
                                        </p:attrNameLst>
                                      </p:cBhvr>
                                      <p:to>
                                        <p:strVal val="visible"/>
                                      </p:to>
                                    </p:set>
                                    <p:animEffect transition="in" filter="box(out)">
                                      <p:cBhvr>
                                        <p:cTn id="42" dur="500"/>
                                        <p:tgtEl>
                                          <p:spTgt spid="214087"/>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6"/>
                                        </p:tgtEl>
                                        <p:attrNameLst>
                                          <p:attrName>style.visibility</p:attrName>
                                        </p:attrNameLst>
                                      </p:cBhvr>
                                      <p:to>
                                        <p:strVal val="visible"/>
                                      </p:to>
                                    </p:set>
                                    <p:animEffect transition="in" filter="fade">
                                      <p:cBhvr>
                                        <p:cTn id="47" dur="500"/>
                                        <p:tgtEl>
                                          <p:spTgt spid="76"/>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73"/>
                                        </p:tgtEl>
                                        <p:attrNameLst>
                                          <p:attrName>style.visibility</p:attrName>
                                        </p:attrNameLst>
                                      </p:cBhvr>
                                      <p:to>
                                        <p:strVal val="visible"/>
                                      </p:to>
                                    </p:set>
                                    <p:animEffect transition="in" filter="box(out)">
                                      <p:cBhvr>
                                        <p:cTn id="52" dur="500"/>
                                        <p:tgtEl>
                                          <p:spTgt spid="73"/>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32" fill="hold" grpId="0" nodeType="clickEffect">
                                  <p:stCondLst>
                                    <p:cond delay="0"/>
                                  </p:stCondLst>
                                  <p:childTnLst>
                                    <p:set>
                                      <p:cBhvr>
                                        <p:cTn id="56" dur="1" fill="hold">
                                          <p:stCondLst>
                                            <p:cond delay="0"/>
                                          </p:stCondLst>
                                        </p:cTn>
                                        <p:tgtEl>
                                          <p:spTgt spid="74"/>
                                        </p:tgtEl>
                                        <p:attrNameLst>
                                          <p:attrName>style.visibility</p:attrName>
                                        </p:attrNameLst>
                                      </p:cBhvr>
                                      <p:to>
                                        <p:strVal val="visible"/>
                                      </p:to>
                                    </p:set>
                                    <p:animEffect transition="in" filter="box(out)">
                                      <p:cBhvr>
                                        <p:cTn id="57"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84" grpId="0" autoUpdateAnimBg="0"/>
      <p:bldP spid="214085" grpId="0" autoUpdateAnimBg="0"/>
      <p:bldP spid="214087" grpId="0" autoUpdateAnimBg="0"/>
      <p:bldP spid="73" grpId="0" autoUpdateAnimBg="0"/>
      <p:bldP spid="74" grpId="0"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006658" y="493906"/>
            <a:ext cx="461978" cy="708931"/>
          </a:xfrm>
          <a:prstGeom prst="rect">
            <a:avLst/>
          </a:prstGeom>
          <a:blipFill>
            <a:blip r:embed="rId2" cstate="print"/>
            <a:stretch>
              <a:fillRect/>
            </a:stretch>
          </a:blipFill>
        </p:spPr>
        <p:txBody>
          <a:bodyPr wrap="square" lIns="0" tIns="0" rIns="0" bIns="0" rtlCol="0"/>
          <a:lstStyle/>
          <a:p>
            <a:endParaRPr sz="2052"/>
          </a:p>
        </p:txBody>
      </p:sp>
      <p:sp>
        <p:nvSpPr>
          <p:cNvPr id="3" name="object 3"/>
          <p:cNvSpPr/>
          <p:nvPr/>
        </p:nvSpPr>
        <p:spPr>
          <a:xfrm>
            <a:off x="7728428" y="493906"/>
            <a:ext cx="461978" cy="708931"/>
          </a:xfrm>
          <a:prstGeom prst="rect">
            <a:avLst/>
          </a:prstGeom>
          <a:blipFill>
            <a:blip r:embed="rId3" cstate="print"/>
            <a:stretch>
              <a:fillRect/>
            </a:stretch>
          </a:blipFill>
        </p:spPr>
        <p:txBody>
          <a:bodyPr wrap="square" lIns="0" tIns="0" rIns="0" bIns="0" rtlCol="0"/>
          <a:lstStyle/>
          <a:p>
            <a:endParaRPr sz="2052"/>
          </a:p>
        </p:txBody>
      </p:sp>
      <p:grpSp>
        <p:nvGrpSpPr>
          <p:cNvPr id="221" name="组合 220"/>
          <p:cNvGrpSpPr/>
          <p:nvPr/>
        </p:nvGrpSpPr>
        <p:grpSpPr>
          <a:xfrm>
            <a:off x="1587608" y="2111636"/>
            <a:ext cx="1416125" cy="862273"/>
            <a:chOff x="1774837" y="2197166"/>
            <a:chExt cx="1416125" cy="862273"/>
          </a:xfrm>
        </p:grpSpPr>
        <p:sp>
          <p:nvSpPr>
            <p:cNvPr id="7" name="object 7"/>
            <p:cNvSpPr/>
            <p:nvPr/>
          </p:nvSpPr>
          <p:spPr>
            <a:xfrm>
              <a:off x="1774837" y="2197166"/>
              <a:ext cx="1416125" cy="862273"/>
            </a:xfrm>
            <a:custGeom>
              <a:avLst/>
              <a:gdLst/>
              <a:ahLst/>
              <a:cxnLst/>
              <a:rect l="l" t="t" r="r" b="b"/>
              <a:pathLst>
                <a:path w="1656079" h="1008379">
                  <a:moveTo>
                    <a:pt x="0" y="0"/>
                  </a:moveTo>
                  <a:lnTo>
                    <a:pt x="0" y="1008126"/>
                  </a:lnTo>
                  <a:lnTo>
                    <a:pt x="1655826" y="1008126"/>
                  </a:lnTo>
                  <a:lnTo>
                    <a:pt x="1655826" y="0"/>
                  </a:lnTo>
                  <a:lnTo>
                    <a:pt x="0" y="0"/>
                  </a:lnTo>
                  <a:close/>
                </a:path>
              </a:pathLst>
            </a:custGeom>
            <a:noFill/>
          </p:spPr>
          <p:txBody>
            <a:bodyPr wrap="square" lIns="0" tIns="0" rIns="0" bIns="0" rtlCol="0"/>
            <a:lstStyle/>
            <a:p>
              <a:endParaRPr sz="2052"/>
            </a:p>
          </p:txBody>
        </p:sp>
        <p:sp>
          <p:nvSpPr>
            <p:cNvPr id="8" name="object 8"/>
            <p:cNvSpPr/>
            <p:nvPr/>
          </p:nvSpPr>
          <p:spPr>
            <a:xfrm>
              <a:off x="2750271" y="2642177"/>
              <a:ext cx="365977" cy="0"/>
            </a:xfrm>
            <a:custGeom>
              <a:avLst/>
              <a:gdLst/>
              <a:ahLst/>
              <a:cxnLst/>
              <a:rect l="l" t="t" r="r" b="b"/>
              <a:pathLst>
                <a:path w="427989">
                  <a:moveTo>
                    <a:pt x="0" y="0"/>
                  </a:moveTo>
                  <a:lnTo>
                    <a:pt x="427488" y="0"/>
                  </a:lnTo>
                </a:path>
              </a:pathLst>
            </a:custGeom>
            <a:ln w="19282">
              <a:solidFill>
                <a:srgbClr val="000000"/>
              </a:solidFill>
            </a:ln>
          </p:spPr>
          <p:txBody>
            <a:bodyPr wrap="square" lIns="0" tIns="0" rIns="0" bIns="0" rtlCol="0"/>
            <a:lstStyle/>
            <a:p>
              <a:endParaRPr sz="2052"/>
            </a:p>
          </p:txBody>
        </p:sp>
        <p:sp>
          <p:nvSpPr>
            <p:cNvPr id="9" name="object 9"/>
            <p:cNvSpPr txBox="1"/>
            <p:nvPr/>
          </p:nvSpPr>
          <p:spPr>
            <a:xfrm>
              <a:off x="2849966" y="2641700"/>
              <a:ext cx="178101" cy="414488"/>
            </a:xfrm>
            <a:prstGeom prst="rect">
              <a:avLst/>
            </a:prstGeom>
          </p:spPr>
          <p:txBody>
            <a:bodyPr vert="horz" wrap="square" lIns="0" tIns="13032" rIns="0" bIns="0" rtlCol="0">
              <a:spAutoFit/>
            </a:bodyPr>
            <a:lstStyle/>
            <a:p>
              <a:pPr>
                <a:spcBef>
                  <a:spcPts val="103"/>
                </a:spcBef>
              </a:pPr>
              <a:r>
                <a:rPr sz="2608" i="1" spc="9" dirty="0">
                  <a:latin typeface="Times New Roman"/>
                  <a:cs typeface="Times New Roman"/>
                </a:rPr>
                <a:t>b</a:t>
              </a:r>
              <a:endParaRPr sz="2608">
                <a:latin typeface="Times New Roman"/>
                <a:cs typeface="Times New Roman"/>
              </a:endParaRPr>
            </a:p>
          </p:txBody>
        </p:sp>
        <p:sp>
          <p:nvSpPr>
            <p:cNvPr id="10" name="object 10"/>
            <p:cNvSpPr txBox="1"/>
            <p:nvPr/>
          </p:nvSpPr>
          <p:spPr>
            <a:xfrm>
              <a:off x="1798289" y="2362071"/>
              <a:ext cx="1315129" cy="438099"/>
            </a:xfrm>
            <a:prstGeom prst="rect">
              <a:avLst/>
            </a:prstGeom>
          </p:spPr>
          <p:txBody>
            <a:bodyPr vert="horz" wrap="square" lIns="0" tIns="10317" rIns="0" bIns="0" rtlCol="0">
              <a:spAutoFit/>
            </a:bodyPr>
            <a:lstStyle/>
            <a:p>
              <a:pPr>
                <a:spcBef>
                  <a:spcPts val="81"/>
                </a:spcBef>
              </a:pPr>
              <a:r>
                <a:rPr sz="2779" i="1" spc="-97" dirty="0">
                  <a:latin typeface="Symbol"/>
                  <a:cs typeface="Symbol"/>
                </a:rPr>
                <a:t></a:t>
              </a:r>
              <a:r>
                <a:rPr sz="2779" i="1" spc="-97" dirty="0">
                  <a:latin typeface="Times New Roman"/>
                  <a:cs typeface="Times New Roman"/>
                </a:rPr>
                <a:t> </a:t>
              </a:r>
              <a:r>
                <a:rPr sz="2608" spc="9" dirty="0">
                  <a:latin typeface="Symbol"/>
                  <a:cs typeface="Symbol"/>
                </a:rPr>
                <a:t></a:t>
              </a:r>
              <a:r>
                <a:rPr sz="2608" spc="9" dirty="0">
                  <a:latin typeface="Times New Roman"/>
                  <a:cs typeface="Times New Roman"/>
                </a:rPr>
                <a:t> </a:t>
              </a:r>
              <a:r>
                <a:rPr sz="2608" spc="81" dirty="0">
                  <a:latin typeface="Times New Roman"/>
                  <a:cs typeface="Times New Roman"/>
                </a:rPr>
                <a:t>1</a:t>
              </a:r>
              <a:r>
                <a:rPr sz="2608" spc="81" dirty="0">
                  <a:latin typeface="Symbol"/>
                  <a:cs typeface="Symbol"/>
                </a:rPr>
                <a:t></a:t>
              </a:r>
              <a:r>
                <a:rPr sz="2608" spc="-338" dirty="0">
                  <a:latin typeface="Times New Roman"/>
                  <a:cs typeface="Times New Roman"/>
                </a:rPr>
                <a:t> </a:t>
              </a:r>
              <a:r>
                <a:rPr sz="3912" baseline="35519" dirty="0">
                  <a:latin typeface="Times New Roman"/>
                  <a:cs typeface="Times New Roman"/>
                </a:rPr>
                <a:t>2</a:t>
              </a:r>
              <a:r>
                <a:rPr sz="3912" i="1" baseline="35519" dirty="0">
                  <a:latin typeface="Times New Roman"/>
                  <a:cs typeface="Times New Roman"/>
                </a:rPr>
                <a:t>a</a:t>
              </a:r>
              <a:endParaRPr sz="3912" baseline="35519" dirty="0">
                <a:latin typeface="Times New Roman"/>
                <a:cs typeface="Times New Roman"/>
              </a:endParaRPr>
            </a:p>
          </p:txBody>
        </p:sp>
      </p:grpSp>
      <p:sp>
        <p:nvSpPr>
          <p:cNvPr id="85" name="object 85"/>
          <p:cNvSpPr txBox="1"/>
          <p:nvPr/>
        </p:nvSpPr>
        <p:spPr>
          <a:xfrm>
            <a:off x="780021" y="1341185"/>
            <a:ext cx="5953377" cy="380298"/>
          </a:xfrm>
          <a:prstGeom prst="rect">
            <a:avLst/>
          </a:prstGeom>
        </p:spPr>
        <p:txBody>
          <a:bodyPr vert="horz" wrap="square" lIns="0" tIns="10860" rIns="0" bIns="0" rtlCol="0">
            <a:spAutoFit/>
          </a:bodyPr>
          <a:lstStyle/>
          <a:p>
            <a:pPr marL="10860">
              <a:spcBef>
                <a:spcPts val="86"/>
              </a:spcBef>
            </a:pPr>
            <a:r>
              <a:rPr b="1" dirty="0">
                <a:solidFill>
                  <a:srgbClr val="FF0000"/>
                </a:solidFill>
                <a:latin typeface="楷体" panose="02010609060101010101" pitchFamily="49" charset="-122"/>
                <a:ea typeface="楷体" panose="02010609060101010101" pitchFamily="49" charset="-122"/>
                <a:cs typeface="新宋体"/>
              </a:rPr>
              <a:t>前提：</a:t>
            </a:r>
            <a:r>
              <a:rPr b="1" dirty="0">
                <a:latin typeface="楷体" panose="02010609060101010101" pitchFamily="49" charset="-122"/>
                <a:ea typeface="楷体" panose="02010609060101010101" pitchFamily="49" charset="-122"/>
                <a:cs typeface="新宋体"/>
              </a:rPr>
              <a:t>孔的尺寸远小于杆的截面尺寸</a:t>
            </a:r>
            <a:endParaRPr dirty="0">
              <a:latin typeface="楷体" panose="02010609060101010101" pitchFamily="49" charset="-122"/>
              <a:ea typeface="楷体" panose="02010609060101010101" pitchFamily="49" charset="-122"/>
              <a:cs typeface="新宋体"/>
            </a:endParaRPr>
          </a:p>
        </p:txBody>
      </p:sp>
      <p:sp>
        <p:nvSpPr>
          <p:cNvPr id="86" name="object 86"/>
          <p:cNvSpPr txBox="1"/>
          <p:nvPr/>
        </p:nvSpPr>
        <p:spPr>
          <a:xfrm>
            <a:off x="420450" y="3613909"/>
            <a:ext cx="3726086" cy="426208"/>
          </a:xfrm>
          <a:prstGeom prst="rect">
            <a:avLst/>
          </a:prstGeom>
        </p:spPr>
        <p:txBody>
          <a:bodyPr vert="horz" wrap="square" lIns="0" tIns="117286" rIns="0" bIns="0" rtlCol="0">
            <a:spAutoFit/>
          </a:bodyPr>
          <a:lstStyle/>
          <a:p>
            <a:pPr marL="97738">
              <a:spcBef>
                <a:spcPts val="748"/>
              </a:spcBef>
            </a:pPr>
            <a:r>
              <a:rPr sz="2000" b="1" spc="-4" dirty="0">
                <a:solidFill>
                  <a:srgbClr val="0000FF"/>
                </a:solidFill>
                <a:latin typeface="+mn-lt"/>
                <a:ea typeface="楷体" panose="02010609060101010101" pitchFamily="49" charset="-122"/>
                <a:cs typeface="新宋体"/>
              </a:rPr>
              <a:t>（</a:t>
            </a:r>
            <a:r>
              <a:rPr sz="2000" b="1" spc="-4" dirty="0">
                <a:solidFill>
                  <a:srgbClr val="0000FF"/>
                </a:solidFill>
                <a:latin typeface="+mn-lt"/>
                <a:ea typeface="楷体" panose="02010609060101010101" pitchFamily="49" charset="-122"/>
                <a:cs typeface="Times New Roman"/>
              </a:rPr>
              <a:t>1</a:t>
            </a:r>
            <a:r>
              <a:rPr sz="2000" b="1" spc="-4" dirty="0">
                <a:solidFill>
                  <a:srgbClr val="0000FF"/>
                </a:solidFill>
                <a:latin typeface="+mn-lt"/>
                <a:ea typeface="楷体" panose="02010609060101010101" pitchFamily="49" charset="-122"/>
                <a:cs typeface="新宋体"/>
              </a:rPr>
              <a:t>）</a:t>
            </a:r>
            <a:r>
              <a:rPr sz="2000" b="1" dirty="0">
                <a:solidFill>
                  <a:srgbClr val="0000FF"/>
                </a:solidFill>
                <a:latin typeface="+mn-lt"/>
                <a:ea typeface="楷体" panose="02010609060101010101" pitchFamily="49" charset="-122"/>
                <a:cs typeface="新宋体"/>
              </a:rPr>
              <a:t>若是圆孔</a:t>
            </a:r>
            <a:r>
              <a:rPr sz="2000" b="1" spc="-4" dirty="0">
                <a:solidFill>
                  <a:srgbClr val="0000FF"/>
                </a:solidFill>
                <a:latin typeface="+mn-lt"/>
                <a:ea typeface="楷体" panose="02010609060101010101" pitchFamily="49" charset="-122"/>
                <a:cs typeface="新宋体"/>
              </a:rPr>
              <a:t>，</a:t>
            </a:r>
            <a:r>
              <a:rPr sz="2000" b="1" i="1" spc="-4" dirty="0">
                <a:solidFill>
                  <a:srgbClr val="0000FF"/>
                </a:solidFill>
                <a:latin typeface="+mn-lt"/>
                <a:ea typeface="楷体" panose="02010609060101010101" pitchFamily="49" charset="-122"/>
                <a:cs typeface="Times New Roman"/>
              </a:rPr>
              <a:t>a</a:t>
            </a:r>
            <a:r>
              <a:rPr sz="2000" b="1" i="1" dirty="0">
                <a:solidFill>
                  <a:srgbClr val="0000FF"/>
                </a:solidFill>
                <a:latin typeface="+mn-lt"/>
                <a:ea typeface="楷体" panose="02010609060101010101" pitchFamily="49" charset="-122"/>
                <a:cs typeface="Times New Roman"/>
              </a:rPr>
              <a:t> </a:t>
            </a:r>
            <a:r>
              <a:rPr sz="2000" b="1" spc="-4" dirty="0">
                <a:solidFill>
                  <a:srgbClr val="0000FF"/>
                </a:solidFill>
                <a:latin typeface="+mn-lt"/>
                <a:ea typeface="楷体" panose="02010609060101010101" pitchFamily="49" charset="-122"/>
                <a:cs typeface="Times New Roman"/>
              </a:rPr>
              <a:t>=</a:t>
            </a:r>
            <a:r>
              <a:rPr sz="2000" b="1" spc="-17" dirty="0">
                <a:solidFill>
                  <a:srgbClr val="0000FF"/>
                </a:solidFill>
                <a:latin typeface="+mn-lt"/>
                <a:ea typeface="楷体" panose="02010609060101010101" pitchFamily="49" charset="-122"/>
                <a:cs typeface="Times New Roman"/>
              </a:rPr>
              <a:t> </a:t>
            </a:r>
            <a:r>
              <a:rPr sz="2000" b="1" i="1" spc="-21" dirty="0">
                <a:solidFill>
                  <a:srgbClr val="0000FF"/>
                </a:solidFill>
                <a:latin typeface="+mn-lt"/>
                <a:ea typeface="楷体" panose="02010609060101010101" pitchFamily="49" charset="-122"/>
                <a:cs typeface="Times New Roman"/>
              </a:rPr>
              <a:t>b</a:t>
            </a:r>
            <a:r>
              <a:rPr sz="2000" b="1" spc="-21" dirty="0">
                <a:solidFill>
                  <a:srgbClr val="0000FF"/>
                </a:solidFill>
                <a:latin typeface="+mn-lt"/>
                <a:ea typeface="楷体" panose="02010609060101010101" pitchFamily="49" charset="-122"/>
                <a:cs typeface="新宋体"/>
              </a:rPr>
              <a:t>，</a:t>
            </a:r>
            <a:r>
              <a:rPr lang="zh-CN" altLang="en-US" sz="2000" b="1" i="1" spc="-21" dirty="0">
                <a:solidFill>
                  <a:srgbClr val="0000FF"/>
                </a:solidFill>
                <a:latin typeface="+mn-lt"/>
                <a:ea typeface="楷体" panose="02010609060101010101" pitchFamily="49" charset="-122"/>
                <a:cs typeface="Symbol"/>
                <a:sym typeface="Symbol" panose="05050102010706020507" pitchFamily="18" charset="2"/>
              </a:rPr>
              <a:t></a:t>
            </a:r>
            <a:r>
              <a:rPr sz="2000" b="1" i="1" spc="-34" dirty="0">
                <a:solidFill>
                  <a:srgbClr val="0000FF"/>
                </a:solidFill>
                <a:latin typeface="+mn-lt"/>
                <a:ea typeface="楷体" panose="02010609060101010101" pitchFamily="49" charset="-122"/>
                <a:cs typeface="Times New Roman"/>
              </a:rPr>
              <a:t> </a:t>
            </a:r>
            <a:r>
              <a:rPr sz="2000" b="1" spc="-4" dirty="0">
                <a:solidFill>
                  <a:srgbClr val="0000FF"/>
                </a:solidFill>
                <a:latin typeface="+mn-lt"/>
                <a:ea typeface="楷体" panose="02010609060101010101" pitchFamily="49" charset="-122"/>
                <a:cs typeface="Times New Roman"/>
              </a:rPr>
              <a:t>=</a:t>
            </a:r>
            <a:r>
              <a:rPr sz="2000" b="1" spc="-13" dirty="0">
                <a:solidFill>
                  <a:srgbClr val="0000FF"/>
                </a:solidFill>
                <a:latin typeface="+mn-lt"/>
                <a:ea typeface="楷体" panose="02010609060101010101" pitchFamily="49" charset="-122"/>
                <a:cs typeface="Times New Roman"/>
              </a:rPr>
              <a:t> </a:t>
            </a:r>
            <a:r>
              <a:rPr sz="2000" spc="-4" dirty="0">
                <a:solidFill>
                  <a:srgbClr val="0000FF"/>
                </a:solidFill>
                <a:latin typeface="+mn-lt"/>
                <a:ea typeface="楷体" panose="02010609060101010101" pitchFamily="49" charset="-122"/>
                <a:cs typeface="Times New Roman"/>
              </a:rPr>
              <a:t>3</a:t>
            </a:r>
            <a:endParaRPr sz="2000" dirty="0">
              <a:latin typeface="+mn-lt"/>
              <a:ea typeface="楷体" panose="02010609060101010101" pitchFamily="49" charset="-122"/>
              <a:cs typeface="Times New Roman"/>
            </a:endParaRPr>
          </a:p>
        </p:txBody>
      </p:sp>
      <p:sp>
        <p:nvSpPr>
          <p:cNvPr id="87" name="object 87"/>
          <p:cNvSpPr txBox="1"/>
          <p:nvPr/>
        </p:nvSpPr>
        <p:spPr>
          <a:xfrm>
            <a:off x="495540" y="4434184"/>
            <a:ext cx="4539963" cy="318743"/>
          </a:xfrm>
          <a:prstGeom prst="rect">
            <a:avLst/>
          </a:prstGeom>
        </p:spPr>
        <p:txBody>
          <a:bodyPr vert="horz" wrap="square" lIns="0" tIns="10860" rIns="0" bIns="0" rtlCol="0">
            <a:spAutoFit/>
          </a:bodyPr>
          <a:lstStyle/>
          <a:p>
            <a:pPr marL="10860">
              <a:spcBef>
                <a:spcPts val="81"/>
              </a:spcBef>
              <a:buSzPct val="95000"/>
              <a:tabLst>
                <a:tab pos="556563" algn="l"/>
              </a:tabLst>
            </a:pPr>
            <a:r>
              <a:rPr lang="zh-CN" altLang="en-US" sz="1800" b="1" spc="-4" dirty="0">
                <a:solidFill>
                  <a:srgbClr val="0000FF"/>
                </a:solidFill>
                <a:ea typeface="楷体" panose="02010609060101010101" pitchFamily="49" charset="-122"/>
                <a:cs typeface="新宋体"/>
              </a:rPr>
              <a:t>（</a:t>
            </a:r>
            <a:r>
              <a:rPr lang="en-US" altLang="zh-CN" sz="1800" b="1" spc="-4" dirty="0">
                <a:solidFill>
                  <a:srgbClr val="0000FF"/>
                </a:solidFill>
                <a:ea typeface="楷体" panose="02010609060101010101" pitchFamily="49" charset="-122"/>
                <a:cs typeface="Times New Roman"/>
              </a:rPr>
              <a:t>2</a:t>
            </a:r>
            <a:r>
              <a:rPr lang="zh-CN" altLang="en-US" sz="1800" b="1" spc="-4" dirty="0">
                <a:solidFill>
                  <a:srgbClr val="0000FF"/>
                </a:solidFill>
                <a:ea typeface="楷体" panose="02010609060101010101" pitchFamily="49" charset="-122"/>
                <a:cs typeface="新宋体"/>
              </a:rPr>
              <a:t>）</a:t>
            </a:r>
            <a:r>
              <a:rPr lang="en-US" sz="1710" b="1" dirty="0">
                <a:solidFill>
                  <a:srgbClr val="0000FF"/>
                </a:solidFill>
                <a:latin typeface="新宋体"/>
                <a:cs typeface="新宋体"/>
              </a:rPr>
              <a:t> </a:t>
            </a:r>
            <a:r>
              <a:rPr sz="2000" b="1" dirty="0" err="1">
                <a:solidFill>
                  <a:srgbClr val="0000FF"/>
                </a:solidFill>
                <a:latin typeface="楷体" panose="02010609060101010101" pitchFamily="49" charset="-122"/>
                <a:ea typeface="楷体" panose="02010609060101010101" pitchFamily="49" charset="-122"/>
                <a:cs typeface="新宋体"/>
              </a:rPr>
              <a:t>若是横向裂缝</a:t>
            </a:r>
            <a:r>
              <a:rPr sz="1710" b="1" spc="-9" dirty="0">
                <a:solidFill>
                  <a:srgbClr val="0000FF"/>
                </a:solidFill>
                <a:latin typeface="新宋体"/>
                <a:cs typeface="新宋体"/>
              </a:rPr>
              <a:t>，</a:t>
            </a:r>
            <a:r>
              <a:rPr sz="1710" b="1" spc="-410" dirty="0">
                <a:solidFill>
                  <a:srgbClr val="0000FF"/>
                </a:solidFill>
                <a:latin typeface="新宋体"/>
                <a:cs typeface="新宋体"/>
              </a:rPr>
              <a:t> </a:t>
            </a:r>
            <a:r>
              <a:rPr sz="2000" b="1" i="1" spc="-47" dirty="0">
                <a:solidFill>
                  <a:srgbClr val="0000FF"/>
                </a:solidFill>
                <a:latin typeface="+mn-lt"/>
                <a:cs typeface="Times New Roman"/>
              </a:rPr>
              <a:t>b</a:t>
            </a:r>
            <a:r>
              <a:rPr lang="zh-CN" altLang="en-US" sz="2000" b="1" spc="-47" dirty="0">
                <a:solidFill>
                  <a:srgbClr val="0000FF"/>
                </a:solidFill>
                <a:latin typeface="Symbol"/>
                <a:cs typeface="Symbol"/>
              </a:rPr>
              <a:t> </a:t>
            </a:r>
            <a:r>
              <a:rPr sz="2000" b="1" i="1" spc="-26" dirty="0">
                <a:solidFill>
                  <a:srgbClr val="0000FF"/>
                </a:solidFill>
                <a:latin typeface="+mn-lt"/>
                <a:cs typeface="Times New Roman"/>
              </a:rPr>
              <a:t> </a:t>
            </a:r>
            <a:r>
              <a:rPr sz="2000" spc="-21" dirty="0">
                <a:solidFill>
                  <a:srgbClr val="0000FF"/>
                </a:solidFill>
                <a:latin typeface="+mn-lt"/>
                <a:cs typeface="Times New Roman"/>
              </a:rPr>
              <a:t>0</a:t>
            </a:r>
            <a:r>
              <a:rPr sz="2000" b="1" spc="-21" dirty="0">
                <a:solidFill>
                  <a:srgbClr val="0000FF"/>
                </a:solidFill>
                <a:latin typeface="+mn-lt"/>
                <a:cs typeface="新宋体"/>
              </a:rPr>
              <a:t>，</a:t>
            </a:r>
            <a:r>
              <a:rPr lang="zh-CN" altLang="en-US" sz="2000" b="1" i="1" spc="-21" dirty="0">
                <a:solidFill>
                  <a:srgbClr val="0000FF"/>
                </a:solidFill>
                <a:latin typeface="+mn-lt"/>
                <a:cs typeface="新宋体"/>
                <a:sym typeface="Symbol" panose="05050102010706020507" pitchFamily="18" charset="2"/>
              </a:rPr>
              <a:t></a:t>
            </a:r>
            <a:r>
              <a:rPr lang="zh-CN" altLang="en-US" sz="2000" b="1" i="1" spc="-47" dirty="0">
                <a:solidFill>
                  <a:srgbClr val="0000FF"/>
                </a:solidFill>
                <a:latin typeface="Symbol"/>
                <a:cs typeface="Symbol"/>
              </a:rPr>
              <a:t> </a:t>
            </a:r>
            <a:r>
              <a:rPr lang="zh-CN" altLang="en-US" sz="2000" b="1" spc="-47" dirty="0">
                <a:solidFill>
                  <a:srgbClr val="0000FF"/>
                </a:solidFill>
                <a:latin typeface="Symbol"/>
                <a:cs typeface="Symbol"/>
              </a:rPr>
              <a:t> </a:t>
            </a:r>
            <a:r>
              <a:rPr sz="2000" b="1" spc="-4" dirty="0">
                <a:solidFill>
                  <a:srgbClr val="0000FF"/>
                </a:solidFill>
                <a:latin typeface="+mn-lt"/>
                <a:cs typeface="Times New Roman"/>
              </a:rPr>
              <a:t>∞</a:t>
            </a:r>
            <a:endParaRPr sz="2000" dirty="0">
              <a:latin typeface="+mn-lt"/>
              <a:cs typeface="Times New Roman"/>
            </a:endParaRPr>
          </a:p>
        </p:txBody>
      </p:sp>
      <p:grpSp>
        <p:nvGrpSpPr>
          <p:cNvPr id="225" name="组合 224"/>
          <p:cNvGrpSpPr/>
          <p:nvPr/>
        </p:nvGrpSpPr>
        <p:grpSpPr>
          <a:xfrm>
            <a:off x="6128119" y="1846176"/>
            <a:ext cx="968906" cy="4299034"/>
            <a:chOff x="6128119" y="1846176"/>
            <a:chExt cx="968906" cy="4299034"/>
          </a:xfrm>
        </p:grpSpPr>
        <p:sp>
          <p:nvSpPr>
            <p:cNvPr id="88" name="object 88"/>
            <p:cNvSpPr/>
            <p:nvPr/>
          </p:nvSpPr>
          <p:spPr>
            <a:xfrm>
              <a:off x="6147015" y="2415449"/>
              <a:ext cx="924174" cy="3131982"/>
            </a:xfrm>
            <a:custGeom>
              <a:avLst/>
              <a:gdLst/>
              <a:ahLst/>
              <a:cxnLst/>
              <a:rect l="l" t="t" r="r" b="b"/>
              <a:pathLst>
                <a:path w="1080770" h="3662679">
                  <a:moveTo>
                    <a:pt x="0" y="0"/>
                  </a:moveTo>
                  <a:lnTo>
                    <a:pt x="0" y="3662171"/>
                  </a:lnTo>
                  <a:lnTo>
                    <a:pt x="1080516" y="3662171"/>
                  </a:lnTo>
                  <a:lnTo>
                    <a:pt x="1080516" y="0"/>
                  </a:lnTo>
                  <a:lnTo>
                    <a:pt x="0" y="0"/>
                  </a:lnTo>
                  <a:close/>
                </a:path>
              </a:pathLst>
            </a:custGeom>
            <a:solidFill>
              <a:srgbClr val="A4C226"/>
            </a:solidFill>
          </p:spPr>
          <p:txBody>
            <a:bodyPr wrap="square" lIns="0" tIns="0" rIns="0" bIns="0" rtlCol="0"/>
            <a:lstStyle/>
            <a:p>
              <a:endParaRPr sz="2052"/>
            </a:p>
          </p:txBody>
        </p:sp>
        <p:sp>
          <p:nvSpPr>
            <p:cNvPr id="89" name="object 89"/>
            <p:cNvSpPr/>
            <p:nvPr/>
          </p:nvSpPr>
          <p:spPr>
            <a:xfrm>
              <a:off x="6603771" y="2421314"/>
              <a:ext cx="11403" cy="43982"/>
            </a:xfrm>
            <a:custGeom>
              <a:avLst/>
              <a:gdLst/>
              <a:ahLst/>
              <a:cxnLst/>
              <a:rect l="l" t="t" r="r" b="b"/>
              <a:pathLst>
                <a:path w="13334" h="51435">
                  <a:moveTo>
                    <a:pt x="12953" y="51054"/>
                  </a:moveTo>
                  <a:lnTo>
                    <a:pt x="12953" y="0"/>
                  </a:lnTo>
                  <a:lnTo>
                    <a:pt x="0" y="0"/>
                  </a:lnTo>
                  <a:lnTo>
                    <a:pt x="0" y="51054"/>
                  </a:lnTo>
                  <a:lnTo>
                    <a:pt x="12953" y="51054"/>
                  </a:lnTo>
                  <a:close/>
                </a:path>
              </a:pathLst>
            </a:custGeom>
            <a:solidFill>
              <a:srgbClr val="0F1A81"/>
            </a:solidFill>
          </p:spPr>
          <p:txBody>
            <a:bodyPr wrap="square" lIns="0" tIns="0" rIns="0" bIns="0" rtlCol="0"/>
            <a:lstStyle/>
            <a:p>
              <a:endParaRPr sz="2052"/>
            </a:p>
          </p:txBody>
        </p:sp>
        <p:sp>
          <p:nvSpPr>
            <p:cNvPr id="90" name="object 90"/>
            <p:cNvSpPr/>
            <p:nvPr/>
          </p:nvSpPr>
          <p:spPr>
            <a:xfrm>
              <a:off x="6603771" y="2497550"/>
              <a:ext cx="11403" cy="11403"/>
            </a:xfrm>
            <a:custGeom>
              <a:avLst/>
              <a:gdLst/>
              <a:ahLst/>
              <a:cxnLst/>
              <a:rect l="l" t="t" r="r" b="b"/>
              <a:pathLst>
                <a:path w="13334" h="13335">
                  <a:moveTo>
                    <a:pt x="12953" y="12954"/>
                  </a:moveTo>
                  <a:lnTo>
                    <a:pt x="12953" y="0"/>
                  </a:lnTo>
                  <a:lnTo>
                    <a:pt x="0" y="0"/>
                  </a:lnTo>
                  <a:lnTo>
                    <a:pt x="0" y="12954"/>
                  </a:lnTo>
                  <a:lnTo>
                    <a:pt x="12953" y="12954"/>
                  </a:lnTo>
                  <a:close/>
                </a:path>
              </a:pathLst>
            </a:custGeom>
            <a:solidFill>
              <a:srgbClr val="0F1A81"/>
            </a:solidFill>
          </p:spPr>
          <p:txBody>
            <a:bodyPr wrap="square" lIns="0" tIns="0" rIns="0" bIns="0" rtlCol="0"/>
            <a:lstStyle/>
            <a:p>
              <a:endParaRPr sz="2052"/>
            </a:p>
          </p:txBody>
        </p:sp>
        <p:sp>
          <p:nvSpPr>
            <p:cNvPr id="91" name="object 91"/>
            <p:cNvSpPr/>
            <p:nvPr/>
          </p:nvSpPr>
          <p:spPr>
            <a:xfrm>
              <a:off x="6603771" y="2541207"/>
              <a:ext cx="11403" cy="43439"/>
            </a:xfrm>
            <a:custGeom>
              <a:avLst/>
              <a:gdLst/>
              <a:ahLst/>
              <a:cxnLst/>
              <a:rect l="l" t="t" r="r" b="b"/>
              <a:pathLst>
                <a:path w="13334" h="50800">
                  <a:moveTo>
                    <a:pt x="12953" y="50291"/>
                  </a:moveTo>
                  <a:lnTo>
                    <a:pt x="12953" y="0"/>
                  </a:lnTo>
                  <a:lnTo>
                    <a:pt x="0" y="0"/>
                  </a:lnTo>
                  <a:lnTo>
                    <a:pt x="0" y="50291"/>
                  </a:lnTo>
                  <a:lnTo>
                    <a:pt x="12953" y="50291"/>
                  </a:lnTo>
                  <a:close/>
                </a:path>
              </a:pathLst>
            </a:custGeom>
            <a:solidFill>
              <a:srgbClr val="0F1A81"/>
            </a:solidFill>
          </p:spPr>
          <p:txBody>
            <a:bodyPr wrap="square" lIns="0" tIns="0" rIns="0" bIns="0" rtlCol="0"/>
            <a:lstStyle/>
            <a:p>
              <a:endParaRPr sz="2052"/>
            </a:p>
          </p:txBody>
        </p:sp>
        <p:sp>
          <p:nvSpPr>
            <p:cNvPr id="92" name="object 92"/>
            <p:cNvSpPr/>
            <p:nvPr/>
          </p:nvSpPr>
          <p:spPr>
            <a:xfrm>
              <a:off x="6603771" y="2616792"/>
              <a:ext cx="11403" cy="11403"/>
            </a:xfrm>
            <a:custGeom>
              <a:avLst/>
              <a:gdLst/>
              <a:ahLst/>
              <a:cxnLst/>
              <a:rect l="l" t="t" r="r" b="b"/>
              <a:pathLst>
                <a:path w="13334" h="13335">
                  <a:moveTo>
                    <a:pt x="12953" y="12954"/>
                  </a:moveTo>
                  <a:lnTo>
                    <a:pt x="12953" y="0"/>
                  </a:lnTo>
                  <a:lnTo>
                    <a:pt x="0" y="0"/>
                  </a:lnTo>
                  <a:lnTo>
                    <a:pt x="0" y="12954"/>
                  </a:lnTo>
                  <a:lnTo>
                    <a:pt x="12953" y="12954"/>
                  </a:lnTo>
                  <a:close/>
                </a:path>
              </a:pathLst>
            </a:custGeom>
            <a:solidFill>
              <a:srgbClr val="0F1A81"/>
            </a:solidFill>
          </p:spPr>
          <p:txBody>
            <a:bodyPr wrap="square" lIns="0" tIns="0" rIns="0" bIns="0" rtlCol="0"/>
            <a:lstStyle/>
            <a:p>
              <a:endParaRPr sz="2052"/>
            </a:p>
          </p:txBody>
        </p:sp>
        <p:sp>
          <p:nvSpPr>
            <p:cNvPr id="93" name="object 93"/>
            <p:cNvSpPr/>
            <p:nvPr/>
          </p:nvSpPr>
          <p:spPr>
            <a:xfrm>
              <a:off x="6603771" y="2660448"/>
              <a:ext cx="11403" cy="43982"/>
            </a:xfrm>
            <a:custGeom>
              <a:avLst/>
              <a:gdLst/>
              <a:ahLst/>
              <a:cxnLst/>
              <a:rect l="l" t="t" r="r" b="b"/>
              <a:pathLst>
                <a:path w="13334" h="51435">
                  <a:moveTo>
                    <a:pt x="12953" y="51054"/>
                  </a:moveTo>
                  <a:lnTo>
                    <a:pt x="12953" y="0"/>
                  </a:lnTo>
                  <a:lnTo>
                    <a:pt x="0" y="0"/>
                  </a:lnTo>
                  <a:lnTo>
                    <a:pt x="0" y="51054"/>
                  </a:lnTo>
                  <a:lnTo>
                    <a:pt x="12953" y="51054"/>
                  </a:lnTo>
                  <a:close/>
                </a:path>
              </a:pathLst>
            </a:custGeom>
            <a:solidFill>
              <a:srgbClr val="0F1A81"/>
            </a:solidFill>
          </p:spPr>
          <p:txBody>
            <a:bodyPr wrap="square" lIns="0" tIns="0" rIns="0" bIns="0" rtlCol="0"/>
            <a:lstStyle/>
            <a:p>
              <a:endParaRPr sz="2052"/>
            </a:p>
          </p:txBody>
        </p:sp>
        <p:sp>
          <p:nvSpPr>
            <p:cNvPr id="94" name="object 94"/>
            <p:cNvSpPr/>
            <p:nvPr/>
          </p:nvSpPr>
          <p:spPr>
            <a:xfrm>
              <a:off x="6603771" y="2736684"/>
              <a:ext cx="11403" cy="10860"/>
            </a:xfrm>
            <a:custGeom>
              <a:avLst/>
              <a:gdLst/>
              <a:ahLst/>
              <a:cxnLst/>
              <a:rect l="l" t="t" r="r" b="b"/>
              <a:pathLst>
                <a:path w="13334" h="12700">
                  <a:moveTo>
                    <a:pt x="12953" y="12192"/>
                  </a:moveTo>
                  <a:lnTo>
                    <a:pt x="12953" y="0"/>
                  </a:lnTo>
                  <a:lnTo>
                    <a:pt x="0" y="0"/>
                  </a:lnTo>
                  <a:lnTo>
                    <a:pt x="0" y="12192"/>
                  </a:lnTo>
                  <a:lnTo>
                    <a:pt x="12953" y="12192"/>
                  </a:lnTo>
                  <a:close/>
                </a:path>
              </a:pathLst>
            </a:custGeom>
            <a:solidFill>
              <a:srgbClr val="0F1A81"/>
            </a:solidFill>
          </p:spPr>
          <p:txBody>
            <a:bodyPr wrap="square" lIns="0" tIns="0" rIns="0" bIns="0" rtlCol="0"/>
            <a:lstStyle/>
            <a:p>
              <a:endParaRPr sz="2052"/>
            </a:p>
          </p:txBody>
        </p:sp>
        <p:sp>
          <p:nvSpPr>
            <p:cNvPr id="95" name="object 95"/>
            <p:cNvSpPr/>
            <p:nvPr/>
          </p:nvSpPr>
          <p:spPr>
            <a:xfrm>
              <a:off x="6603771" y="2779690"/>
              <a:ext cx="11403" cy="43982"/>
            </a:xfrm>
            <a:custGeom>
              <a:avLst/>
              <a:gdLst/>
              <a:ahLst/>
              <a:cxnLst/>
              <a:rect l="l" t="t" r="r" b="b"/>
              <a:pathLst>
                <a:path w="13334" h="51435">
                  <a:moveTo>
                    <a:pt x="12953" y="51054"/>
                  </a:moveTo>
                  <a:lnTo>
                    <a:pt x="12953" y="0"/>
                  </a:lnTo>
                  <a:lnTo>
                    <a:pt x="0" y="0"/>
                  </a:lnTo>
                  <a:lnTo>
                    <a:pt x="0" y="51054"/>
                  </a:lnTo>
                  <a:lnTo>
                    <a:pt x="12953" y="51054"/>
                  </a:lnTo>
                  <a:close/>
                </a:path>
              </a:pathLst>
            </a:custGeom>
            <a:solidFill>
              <a:srgbClr val="0F1A81"/>
            </a:solidFill>
          </p:spPr>
          <p:txBody>
            <a:bodyPr wrap="square" lIns="0" tIns="0" rIns="0" bIns="0" rtlCol="0"/>
            <a:lstStyle/>
            <a:p>
              <a:endParaRPr sz="2052"/>
            </a:p>
          </p:txBody>
        </p:sp>
        <p:sp>
          <p:nvSpPr>
            <p:cNvPr id="96" name="object 96"/>
            <p:cNvSpPr/>
            <p:nvPr/>
          </p:nvSpPr>
          <p:spPr>
            <a:xfrm>
              <a:off x="6603771" y="2855925"/>
              <a:ext cx="11403" cy="11403"/>
            </a:xfrm>
            <a:custGeom>
              <a:avLst/>
              <a:gdLst/>
              <a:ahLst/>
              <a:cxnLst/>
              <a:rect l="l" t="t" r="r" b="b"/>
              <a:pathLst>
                <a:path w="13334" h="13335">
                  <a:moveTo>
                    <a:pt x="12953" y="12954"/>
                  </a:moveTo>
                  <a:lnTo>
                    <a:pt x="12953" y="0"/>
                  </a:lnTo>
                  <a:lnTo>
                    <a:pt x="0" y="0"/>
                  </a:lnTo>
                  <a:lnTo>
                    <a:pt x="0" y="12954"/>
                  </a:lnTo>
                  <a:lnTo>
                    <a:pt x="12953" y="12954"/>
                  </a:lnTo>
                  <a:close/>
                </a:path>
              </a:pathLst>
            </a:custGeom>
            <a:solidFill>
              <a:srgbClr val="0F1A81"/>
            </a:solidFill>
          </p:spPr>
          <p:txBody>
            <a:bodyPr wrap="square" lIns="0" tIns="0" rIns="0" bIns="0" rtlCol="0"/>
            <a:lstStyle/>
            <a:p>
              <a:endParaRPr sz="2052"/>
            </a:p>
          </p:txBody>
        </p:sp>
        <p:sp>
          <p:nvSpPr>
            <p:cNvPr id="97" name="object 97"/>
            <p:cNvSpPr/>
            <p:nvPr/>
          </p:nvSpPr>
          <p:spPr>
            <a:xfrm>
              <a:off x="6603771" y="2899582"/>
              <a:ext cx="11403" cy="43439"/>
            </a:xfrm>
            <a:custGeom>
              <a:avLst/>
              <a:gdLst/>
              <a:ahLst/>
              <a:cxnLst/>
              <a:rect l="l" t="t" r="r" b="b"/>
              <a:pathLst>
                <a:path w="13334" h="50800">
                  <a:moveTo>
                    <a:pt x="12953" y="50291"/>
                  </a:moveTo>
                  <a:lnTo>
                    <a:pt x="12953" y="0"/>
                  </a:lnTo>
                  <a:lnTo>
                    <a:pt x="0" y="0"/>
                  </a:lnTo>
                  <a:lnTo>
                    <a:pt x="0" y="50291"/>
                  </a:lnTo>
                  <a:lnTo>
                    <a:pt x="12953" y="50291"/>
                  </a:lnTo>
                  <a:close/>
                </a:path>
              </a:pathLst>
            </a:custGeom>
            <a:solidFill>
              <a:srgbClr val="0F1A81"/>
            </a:solidFill>
          </p:spPr>
          <p:txBody>
            <a:bodyPr wrap="square" lIns="0" tIns="0" rIns="0" bIns="0" rtlCol="0"/>
            <a:lstStyle/>
            <a:p>
              <a:endParaRPr sz="2052"/>
            </a:p>
          </p:txBody>
        </p:sp>
        <p:sp>
          <p:nvSpPr>
            <p:cNvPr id="98" name="object 98"/>
            <p:cNvSpPr/>
            <p:nvPr/>
          </p:nvSpPr>
          <p:spPr>
            <a:xfrm>
              <a:off x="6603771" y="2975167"/>
              <a:ext cx="11403" cy="11403"/>
            </a:xfrm>
            <a:custGeom>
              <a:avLst/>
              <a:gdLst/>
              <a:ahLst/>
              <a:cxnLst/>
              <a:rect l="l" t="t" r="r" b="b"/>
              <a:pathLst>
                <a:path w="13334" h="13335">
                  <a:moveTo>
                    <a:pt x="12953" y="12953"/>
                  </a:moveTo>
                  <a:lnTo>
                    <a:pt x="12953" y="0"/>
                  </a:lnTo>
                  <a:lnTo>
                    <a:pt x="0" y="0"/>
                  </a:lnTo>
                  <a:lnTo>
                    <a:pt x="0" y="12953"/>
                  </a:lnTo>
                  <a:lnTo>
                    <a:pt x="12953" y="12953"/>
                  </a:lnTo>
                  <a:close/>
                </a:path>
              </a:pathLst>
            </a:custGeom>
            <a:solidFill>
              <a:srgbClr val="0F1A81"/>
            </a:solidFill>
          </p:spPr>
          <p:txBody>
            <a:bodyPr wrap="square" lIns="0" tIns="0" rIns="0" bIns="0" rtlCol="0"/>
            <a:lstStyle/>
            <a:p>
              <a:endParaRPr sz="2052"/>
            </a:p>
          </p:txBody>
        </p:sp>
        <p:sp>
          <p:nvSpPr>
            <p:cNvPr id="99" name="object 99"/>
            <p:cNvSpPr/>
            <p:nvPr/>
          </p:nvSpPr>
          <p:spPr>
            <a:xfrm>
              <a:off x="6603771" y="3018824"/>
              <a:ext cx="11403" cy="43982"/>
            </a:xfrm>
            <a:custGeom>
              <a:avLst/>
              <a:gdLst/>
              <a:ahLst/>
              <a:cxnLst/>
              <a:rect l="l" t="t" r="r" b="b"/>
              <a:pathLst>
                <a:path w="13334" h="51435">
                  <a:moveTo>
                    <a:pt x="12953" y="51053"/>
                  </a:moveTo>
                  <a:lnTo>
                    <a:pt x="12953" y="0"/>
                  </a:lnTo>
                  <a:lnTo>
                    <a:pt x="0" y="0"/>
                  </a:lnTo>
                  <a:lnTo>
                    <a:pt x="0" y="51053"/>
                  </a:lnTo>
                  <a:lnTo>
                    <a:pt x="12953" y="51053"/>
                  </a:lnTo>
                  <a:close/>
                </a:path>
              </a:pathLst>
            </a:custGeom>
            <a:solidFill>
              <a:srgbClr val="0F1A81"/>
            </a:solidFill>
          </p:spPr>
          <p:txBody>
            <a:bodyPr wrap="square" lIns="0" tIns="0" rIns="0" bIns="0" rtlCol="0"/>
            <a:lstStyle/>
            <a:p>
              <a:endParaRPr sz="2052"/>
            </a:p>
          </p:txBody>
        </p:sp>
        <p:sp>
          <p:nvSpPr>
            <p:cNvPr id="100" name="object 100"/>
            <p:cNvSpPr/>
            <p:nvPr/>
          </p:nvSpPr>
          <p:spPr>
            <a:xfrm>
              <a:off x="6603771" y="3095059"/>
              <a:ext cx="11403" cy="10860"/>
            </a:xfrm>
            <a:custGeom>
              <a:avLst/>
              <a:gdLst/>
              <a:ahLst/>
              <a:cxnLst/>
              <a:rect l="l" t="t" r="r" b="b"/>
              <a:pathLst>
                <a:path w="13334" h="12700">
                  <a:moveTo>
                    <a:pt x="12953" y="12191"/>
                  </a:moveTo>
                  <a:lnTo>
                    <a:pt x="12953" y="0"/>
                  </a:lnTo>
                  <a:lnTo>
                    <a:pt x="0" y="0"/>
                  </a:lnTo>
                  <a:lnTo>
                    <a:pt x="0" y="12191"/>
                  </a:lnTo>
                  <a:lnTo>
                    <a:pt x="12953" y="12191"/>
                  </a:lnTo>
                  <a:close/>
                </a:path>
              </a:pathLst>
            </a:custGeom>
            <a:solidFill>
              <a:srgbClr val="0F1A81"/>
            </a:solidFill>
          </p:spPr>
          <p:txBody>
            <a:bodyPr wrap="square" lIns="0" tIns="0" rIns="0" bIns="0" rtlCol="0"/>
            <a:lstStyle/>
            <a:p>
              <a:endParaRPr sz="2052"/>
            </a:p>
          </p:txBody>
        </p:sp>
        <p:sp>
          <p:nvSpPr>
            <p:cNvPr id="101" name="object 101"/>
            <p:cNvSpPr/>
            <p:nvPr/>
          </p:nvSpPr>
          <p:spPr>
            <a:xfrm>
              <a:off x="6603771" y="3138064"/>
              <a:ext cx="11403" cy="43982"/>
            </a:xfrm>
            <a:custGeom>
              <a:avLst/>
              <a:gdLst/>
              <a:ahLst/>
              <a:cxnLst/>
              <a:rect l="l" t="t" r="r" b="b"/>
              <a:pathLst>
                <a:path w="13334" h="51435">
                  <a:moveTo>
                    <a:pt x="12953" y="51053"/>
                  </a:moveTo>
                  <a:lnTo>
                    <a:pt x="12953" y="0"/>
                  </a:lnTo>
                  <a:lnTo>
                    <a:pt x="0" y="0"/>
                  </a:lnTo>
                  <a:lnTo>
                    <a:pt x="0" y="51053"/>
                  </a:lnTo>
                  <a:lnTo>
                    <a:pt x="12953" y="51053"/>
                  </a:lnTo>
                  <a:close/>
                </a:path>
              </a:pathLst>
            </a:custGeom>
            <a:solidFill>
              <a:srgbClr val="0F1A81"/>
            </a:solidFill>
          </p:spPr>
          <p:txBody>
            <a:bodyPr wrap="square" lIns="0" tIns="0" rIns="0" bIns="0" rtlCol="0"/>
            <a:lstStyle/>
            <a:p>
              <a:endParaRPr sz="2052"/>
            </a:p>
          </p:txBody>
        </p:sp>
        <p:sp>
          <p:nvSpPr>
            <p:cNvPr id="102" name="object 102"/>
            <p:cNvSpPr/>
            <p:nvPr/>
          </p:nvSpPr>
          <p:spPr>
            <a:xfrm>
              <a:off x="6603771" y="3214301"/>
              <a:ext cx="11403" cy="11403"/>
            </a:xfrm>
            <a:custGeom>
              <a:avLst/>
              <a:gdLst/>
              <a:ahLst/>
              <a:cxnLst/>
              <a:rect l="l" t="t" r="r" b="b"/>
              <a:pathLst>
                <a:path w="13334" h="13335">
                  <a:moveTo>
                    <a:pt x="12953" y="12953"/>
                  </a:moveTo>
                  <a:lnTo>
                    <a:pt x="12953" y="0"/>
                  </a:lnTo>
                  <a:lnTo>
                    <a:pt x="0" y="0"/>
                  </a:lnTo>
                  <a:lnTo>
                    <a:pt x="0" y="12953"/>
                  </a:lnTo>
                  <a:lnTo>
                    <a:pt x="12953" y="12953"/>
                  </a:lnTo>
                  <a:close/>
                </a:path>
              </a:pathLst>
            </a:custGeom>
            <a:solidFill>
              <a:srgbClr val="0F1A81"/>
            </a:solidFill>
          </p:spPr>
          <p:txBody>
            <a:bodyPr wrap="square" lIns="0" tIns="0" rIns="0" bIns="0" rtlCol="0"/>
            <a:lstStyle/>
            <a:p>
              <a:endParaRPr sz="2052"/>
            </a:p>
          </p:txBody>
        </p:sp>
        <p:sp>
          <p:nvSpPr>
            <p:cNvPr id="103" name="object 103"/>
            <p:cNvSpPr/>
            <p:nvPr/>
          </p:nvSpPr>
          <p:spPr>
            <a:xfrm>
              <a:off x="6603771" y="3257957"/>
              <a:ext cx="11403" cy="43439"/>
            </a:xfrm>
            <a:custGeom>
              <a:avLst/>
              <a:gdLst/>
              <a:ahLst/>
              <a:cxnLst/>
              <a:rect l="l" t="t" r="r" b="b"/>
              <a:pathLst>
                <a:path w="13334" h="50800">
                  <a:moveTo>
                    <a:pt x="12953" y="50291"/>
                  </a:moveTo>
                  <a:lnTo>
                    <a:pt x="12953" y="0"/>
                  </a:lnTo>
                  <a:lnTo>
                    <a:pt x="0" y="0"/>
                  </a:lnTo>
                  <a:lnTo>
                    <a:pt x="0" y="50291"/>
                  </a:lnTo>
                  <a:lnTo>
                    <a:pt x="12953" y="50291"/>
                  </a:lnTo>
                  <a:close/>
                </a:path>
              </a:pathLst>
            </a:custGeom>
            <a:solidFill>
              <a:srgbClr val="0F1A81"/>
            </a:solidFill>
          </p:spPr>
          <p:txBody>
            <a:bodyPr wrap="square" lIns="0" tIns="0" rIns="0" bIns="0" rtlCol="0"/>
            <a:lstStyle/>
            <a:p>
              <a:endParaRPr sz="2052"/>
            </a:p>
          </p:txBody>
        </p:sp>
        <p:sp>
          <p:nvSpPr>
            <p:cNvPr id="104" name="object 104"/>
            <p:cNvSpPr/>
            <p:nvPr/>
          </p:nvSpPr>
          <p:spPr>
            <a:xfrm>
              <a:off x="6603771" y="3333541"/>
              <a:ext cx="11403" cy="11403"/>
            </a:xfrm>
            <a:custGeom>
              <a:avLst/>
              <a:gdLst/>
              <a:ahLst/>
              <a:cxnLst/>
              <a:rect l="l" t="t" r="r" b="b"/>
              <a:pathLst>
                <a:path w="13334" h="13335">
                  <a:moveTo>
                    <a:pt x="12953" y="12953"/>
                  </a:moveTo>
                  <a:lnTo>
                    <a:pt x="12953" y="0"/>
                  </a:lnTo>
                  <a:lnTo>
                    <a:pt x="0" y="0"/>
                  </a:lnTo>
                  <a:lnTo>
                    <a:pt x="0" y="12953"/>
                  </a:lnTo>
                  <a:lnTo>
                    <a:pt x="12953" y="12953"/>
                  </a:lnTo>
                  <a:close/>
                </a:path>
              </a:pathLst>
            </a:custGeom>
            <a:solidFill>
              <a:srgbClr val="0F1A81"/>
            </a:solidFill>
          </p:spPr>
          <p:txBody>
            <a:bodyPr wrap="square" lIns="0" tIns="0" rIns="0" bIns="0" rtlCol="0"/>
            <a:lstStyle/>
            <a:p>
              <a:endParaRPr sz="2052"/>
            </a:p>
          </p:txBody>
        </p:sp>
        <p:sp>
          <p:nvSpPr>
            <p:cNvPr id="105" name="object 105"/>
            <p:cNvSpPr/>
            <p:nvPr/>
          </p:nvSpPr>
          <p:spPr>
            <a:xfrm>
              <a:off x="6603771" y="3377199"/>
              <a:ext cx="11403" cy="43982"/>
            </a:xfrm>
            <a:custGeom>
              <a:avLst/>
              <a:gdLst/>
              <a:ahLst/>
              <a:cxnLst/>
              <a:rect l="l" t="t" r="r" b="b"/>
              <a:pathLst>
                <a:path w="13334" h="51435">
                  <a:moveTo>
                    <a:pt x="12953" y="51053"/>
                  </a:moveTo>
                  <a:lnTo>
                    <a:pt x="12953" y="0"/>
                  </a:lnTo>
                  <a:lnTo>
                    <a:pt x="0" y="0"/>
                  </a:lnTo>
                  <a:lnTo>
                    <a:pt x="0" y="51053"/>
                  </a:lnTo>
                  <a:lnTo>
                    <a:pt x="12953" y="51053"/>
                  </a:lnTo>
                  <a:close/>
                </a:path>
              </a:pathLst>
            </a:custGeom>
            <a:solidFill>
              <a:srgbClr val="0F1A81"/>
            </a:solidFill>
          </p:spPr>
          <p:txBody>
            <a:bodyPr wrap="square" lIns="0" tIns="0" rIns="0" bIns="0" rtlCol="0"/>
            <a:lstStyle/>
            <a:p>
              <a:endParaRPr sz="2052"/>
            </a:p>
          </p:txBody>
        </p:sp>
        <p:sp>
          <p:nvSpPr>
            <p:cNvPr id="106" name="object 106"/>
            <p:cNvSpPr/>
            <p:nvPr/>
          </p:nvSpPr>
          <p:spPr>
            <a:xfrm>
              <a:off x="6603771" y="3453435"/>
              <a:ext cx="11403" cy="10860"/>
            </a:xfrm>
            <a:custGeom>
              <a:avLst/>
              <a:gdLst/>
              <a:ahLst/>
              <a:cxnLst/>
              <a:rect l="l" t="t" r="r" b="b"/>
              <a:pathLst>
                <a:path w="13334" h="12700">
                  <a:moveTo>
                    <a:pt x="12953" y="12192"/>
                  </a:moveTo>
                  <a:lnTo>
                    <a:pt x="12953" y="0"/>
                  </a:lnTo>
                  <a:lnTo>
                    <a:pt x="0" y="0"/>
                  </a:lnTo>
                  <a:lnTo>
                    <a:pt x="0" y="12192"/>
                  </a:lnTo>
                  <a:lnTo>
                    <a:pt x="12953" y="12192"/>
                  </a:lnTo>
                  <a:close/>
                </a:path>
              </a:pathLst>
            </a:custGeom>
            <a:solidFill>
              <a:srgbClr val="0F1A81"/>
            </a:solidFill>
          </p:spPr>
          <p:txBody>
            <a:bodyPr wrap="square" lIns="0" tIns="0" rIns="0" bIns="0" rtlCol="0"/>
            <a:lstStyle/>
            <a:p>
              <a:endParaRPr sz="2052"/>
            </a:p>
          </p:txBody>
        </p:sp>
        <p:sp>
          <p:nvSpPr>
            <p:cNvPr id="107" name="object 107"/>
            <p:cNvSpPr/>
            <p:nvPr/>
          </p:nvSpPr>
          <p:spPr>
            <a:xfrm>
              <a:off x="6603771" y="3496439"/>
              <a:ext cx="11403" cy="43982"/>
            </a:xfrm>
            <a:custGeom>
              <a:avLst/>
              <a:gdLst/>
              <a:ahLst/>
              <a:cxnLst/>
              <a:rect l="l" t="t" r="r" b="b"/>
              <a:pathLst>
                <a:path w="13334" h="51435">
                  <a:moveTo>
                    <a:pt x="12953" y="51053"/>
                  </a:moveTo>
                  <a:lnTo>
                    <a:pt x="12953" y="0"/>
                  </a:lnTo>
                  <a:lnTo>
                    <a:pt x="0" y="0"/>
                  </a:lnTo>
                  <a:lnTo>
                    <a:pt x="0" y="51053"/>
                  </a:lnTo>
                  <a:lnTo>
                    <a:pt x="12953" y="51053"/>
                  </a:lnTo>
                  <a:close/>
                </a:path>
              </a:pathLst>
            </a:custGeom>
            <a:solidFill>
              <a:srgbClr val="0F1A81"/>
            </a:solidFill>
          </p:spPr>
          <p:txBody>
            <a:bodyPr wrap="square" lIns="0" tIns="0" rIns="0" bIns="0" rtlCol="0"/>
            <a:lstStyle/>
            <a:p>
              <a:endParaRPr sz="2052"/>
            </a:p>
          </p:txBody>
        </p:sp>
        <p:sp>
          <p:nvSpPr>
            <p:cNvPr id="108" name="object 108"/>
            <p:cNvSpPr/>
            <p:nvPr/>
          </p:nvSpPr>
          <p:spPr>
            <a:xfrm>
              <a:off x="6603771" y="3572676"/>
              <a:ext cx="11403" cy="11403"/>
            </a:xfrm>
            <a:custGeom>
              <a:avLst/>
              <a:gdLst/>
              <a:ahLst/>
              <a:cxnLst/>
              <a:rect l="l" t="t" r="r" b="b"/>
              <a:pathLst>
                <a:path w="13334" h="13335">
                  <a:moveTo>
                    <a:pt x="12953" y="12953"/>
                  </a:moveTo>
                  <a:lnTo>
                    <a:pt x="12953" y="0"/>
                  </a:lnTo>
                  <a:lnTo>
                    <a:pt x="0" y="0"/>
                  </a:lnTo>
                  <a:lnTo>
                    <a:pt x="0" y="12953"/>
                  </a:lnTo>
                  <a:lnTo>
                    <a:pt x="12953" y="12953"/>
                  </a:lnTo>
                  <a:close/>
                </a:path>
              </a:pathLst>
            </a:custGeom>
            <a:solidFill>
              <a:srgbClr val="0F1A81"/>
            </a:solidFill>
          </p:spPr>
          <p:txBody>
            <a:bodyPr wrap="square" lIns="0" tIns="0" rIns="0" bIns="0" rtlCol="0"/>
            <a:lstStyle/>
            <a:p>
              <a:endParaRPr sz="2052"/>
            </a:p>
          </p:txBody>
        </p:sp>
        <p:sp>
          <p:nvSpPr>
            <p:cNvPr id="109" name="object 109"/>
            <p:cNvSpPr/>
            <p:nvPr/>
          </p:nvSpPr>
          <p:spPr>
            <a:xfrm>
              <a:off x="6603771" y="3616333"/>
              <a:ext cx="11403" cy="43439"/>
            </a:xfrm>
            <a:custGeom>
              <a:avLst/>
              <a:gdLst/>
              <a:ahLst/>
              <a:cxnLst/>
              <a:rect l="l" t="t" r="r" b="b"/>
              <a:pathLst>
                <a:path w="13334" h="50800">
                  <a:moveTo>
                    <a:pt x="12953" y="50291"/>
                  </a:moveTo>
                  <a:lnTo>
                    <a:pt x="12953" y="0"/>
                  </a:lnTo>
                  <a:lnTo>
                    <a:pt x="0" y="0"/>
                  </a:lnTo>
                  <a:lnTo>
                    <a:pt x="0" y="50291"/>
                  </a:lnTo>
                  <a:lnTo>
                    <a:pt x="12953" y="50291"/>
                  </a:lnTo>
                  <a:close/>
                </a:path>
              </a:pathLst>
            </a:custGeom>
            <a:solidFill>
              <a:srgbClr val="0F1A81"/>
            </a:solidFill>
          </p:spPr>
          <p:txBody>
            <a:bodyPr wrap="square" lIns="0" tIns="0" rIns="0" bIns="0" rtlCol="0"/>
            <a:lstStyle/>
            <a:p>
              <a:endParaRPr sz="2052"/>
            </a:p>
          </p:txBody>
        </p:sp>
        <p:sp>
          <p:nvSpPr>
            <p:cNvPr id="110" name="object 110"/>
            <p:cNvSpPr/>
            <p:nvPr/>
          </p:nvSpPr>
          <p:spPr>
            <a:xfrm>
              <a:off x="6603771" y="3691917"/>
              <a:ext cx="11403" cy="11403"/>
            </a:xfrm>
            <a:custGeom>
              <a:avLst/>
              <a:gdLst/>
              <a:ahLst/>
              <a:cxnLst/>
              <a:rect l="l" t="t" r="r" b="b"/>
              <a:pathLst>
                <a:path w="13334" h="13335">
                  <a:moveTo>
                    <a:pt x="12953" y="12953"/>
                  </a:moveTo>
                  <a:lnTo>
                    <a:pt x="12953" y="0"/>
                  </a:lnTo>
                  <a:lnTo>
                    <a:pt x="0" y="0"/>
                  </a:lnTo>
                  <a:lnTo>
                    <a:pt x="0" y="12953"/>
                  </a:lnTo>
                  <a:lnTo>
                    <a:pt x="12953" y="12953"/>
                  </a:lnTo>
                  <a:close/>
                </a:path>
              </a:pathLst>
            </a:custGeom>
            <a:solidFill>
              <a:srgbClr val="0F1A81"/>
            </a:solidFill>
          </p:spPr>
          <p:txBody>
            <a:bodyPr wrap="square" lIns="0" tIns="0" rIns="0" bIns="0" rtlCol="0"/>
            <a:lstStyle/>
            <a:p>
              <a:endParaRPr sz="2052"/>
            </a:p>
          </p:txBody>
        </p:sp>
        <p:sp>
          <p:nvSpPr>
            <p:cNvPr id="111" name="object 111"/>
            <p:cNvSpPr/>
            <p:nvPr/>
          </p:nvSpPr>
          <p:spPr>
            <a:xfrm>
              <a:off x="6603771" y="3735574"/>
              <a:ext cx="11403" cy="43982"/>
            </a:xfrm>
            <a:custGeom>
              <a:avLst/>
              <a:gdLst/>
              <a:ahLst/>
              <a:cxnLst/>
              <a:rect l="l" t="t" r="r" b="b"/>
              <a:pathLst>
                <a:path w="13334" h="51435">
                  <a:moveTo>
                    <a:pt x="12953" y="51053"/>
                  </a:moveTo>
                  <a:lnTo>
                    <a:pt x="12953" y="0"/>
                  </a:lnTo>
                  <a:lnTo>
                    <a:pt x="0" y="0"/>
                  </a:lnTo>
                  <a:lnTo>
                    <a:pt x="0" y="51053"/>
                  </a:lnTo>
                  <a:lnTo>
                    <a:pt x="12953" y="51053"/>
                  </a:lnTo>
                  <a:close/>
                </a:path>
              </a:pathLst>
            </a:custGeom>
            <a:solidFill>
              <a:srgbClr val="0F1A81"/>
            </a:solidFill>
          </p:spPr>
          <p:txBody>
            <a:bodyPr wrap="square" lIns="0" tIns="0" rIns="0" bIns="0" rtlCol="0"/>
            <a:lstStyle/>
            <a:p>
              <a:endParaRPr sz="2052"/>
            </a:p>
          </p:txBody>
        </p:sp>
        <p:sp>
          <p:nvSpPr>
            <p:cNvPr id="112" name="object 112"/>
            <p:cNvSpPr/>
            <p:nvPr/>
          </p:nvSpPr>
          <p:spPr>
            <a:xfrm>
              <a:off x="6603771" y="3811810"/>
              <a:ext cx="11403" cy="10860"/>
            </a:xfrm>
            <a:custGeom>
              <a:avLst/>
              <a:gdLst/>
              <a:ahLst/>
              <a:cxnLst/>
              <a:rect l="l" t="t" r="r" b="b"/>
              <a:pathLst>
                <a:path w="13334" h="12700">
                  <a:moveTo>
                    <a:pt x="12953" y="12192"/>
                  </a:moveTo>
                  <a:lnTo>
                    <a:pt x="12953" y="0"/>
                  </a:lnTo>
                  <a:lnTo>
                    <a:pt x="0" y="0"/>
                  </a:lnTo>
                  <a:lnTo>
                    <a:pt x="0" y="12192"/>
                  </a:lnTo>
                  <a:lnTo>
                    <a:pt x="12953" y="12192"/>
                  </a:lnTo>
                  <a:close/>
                </a:path>
              </a:pathLst>
            </a:custGeom>
            <a:solidFill>
              <a:srgbClr val="0F1A81"/>
            </a:solidFill>
          </p:spPr>
          <p:txBody>
            <a:bodyPr wrap="square" lIns="0" tIns="0" rIns="0" bIns="0" rtlCol="0"/>
            <a:lstStyle/>
            <a:p>
              <a:endParaRPr sz="2052"/>
            </a:p>
          </p:txBody>
        </p:sp>
        <p:sp>
          <p:nvSpPr>
            <p:cNvPr id="113" name="object 113"/>
            <p:cNvSpPr/>
            <p:nvPr/>
          </p:nvSpPr>
          <p:spPr>
            <a:xfrm>
              <a:off x="6603771" y="3854815"/>
              <a:ext cx="11403" cy="43982"/>
            </a:xfrm>
            <a:custGeom>
              <a:avLst/>
              <a:gdLst/>
              <a:ahLst/>
              <a:cxnLst/>
              <a:rect l="l" t="t" r="r" b="b"/>
              <a:pathLst>
                <a:path w="13334" h="51435">
                  <a:moveTo>
                    <a:pt x="12953" y="51053"/>
                  </a:moveTo>
                  <a:lnTo>
                    <a:pt x="12953" y="0"/>
                  </a:lnTo>
                  <a:lnTo>
                    <a:pt x="0" y="0"/>
                  </a:lnTo>
                  <a:lnTo>
                    <a:pt x="0" y="51053"/>
                  </a:lnTo>
                  <a:lnTo>
                    <a:pt x="12953" y="51053"/>
                  </a:lnTo>
                  <a:close/>
                </a:path>
              </a:pathLst>
            </a:custGeom>
            <a:solidFill>
              <a:srgbClr val="0F1A81"/>
            </a:solidFill>
          </p:spPr>
          <p:txBody>
            <a:bodyPr wrap="square" lIns="0" tIns="0" rIns="0" bIns="0" rtlCol="0"/>
            <a:lstStyle/>
            <a:p>
              <a:endParaRPr sz="2052"/>
            </a:p>
          </p:txBody>
        </p:sp>
        <p:sp>
          <p:nvSpPr>
            <p:cNvPr id="114" name="object 114"/>
            <p:cNvSpPr/>
            <p:nvPr/>
          </p:nvSpPr>
          <p:spPr>
            <a:xfrm>
              <a:off x="6603771" y="3931052"/>
              <a:ext cx="11403" cy="11403"/>
            </a:xfrm>
            <a:custGeom>
              <a:avLst/>
              <a:gdLst/>
              <a:ahLst/>
              <a:cxnLst/>
              <a:rect l="l" t="t" r="r" b="b"/>
              <a:pathLst>
                <a:path w="13334" h="13335">
                  <a:moveTo>
                    <a:pt x="12953" y="12953"/>
                  </a:moveTo>
                  <a:lnTo>
                    <a:pt x="12953" y="0"/>
                  </a:lnTo>
                  <a:lnTo>
                    <a:pt x="0" y="0"/>
                  </a:lnTo>
                  <a:lnTo>
                    <a:pt x="0" y="12953"/>
                  </a:lnTo>
                  <a:lnTo>
                    <a:pt x="12953" y="12953"/>
                  </a:lnTo>
                  <a:close/>
                </a:path>
              </a:pathLst>
            </a:custGeom>
            <a:solidFill>
              <a:srgbClr val="0F1A81"/>
            </a:solidFill>
          </p:spPr>
          <p:txBody>
            <a:bodyPr wrap="square" lIns="0" tIns="0" rIns="0" bIns="0" rtlCol="0"/>
            <a:lstStyle/>
            <a:p>
              <a:endParaRPr sz="2052"/>
            </a:p>
          </p:txBody>
        </p:sp>
        <p:sp>
          <p:nvSpPr>
            <p:cNvPr id="115" name="object 115"/>
            <p:cNvSpPr/>
            <p:nvPr/>
          </p:nvSpPr>
          <p:spPr>
            <a:xfrm>
              <a:off x="6603771" y="3974708"/>
              <a:ext cx="11403" cy="43439"/>
            </a:xfrm>
            <a:custGeom>
              <a:avLst/>
              <a:gdLst/>
              <a:ahLst/>
              <a:cxnLst/>
              <a:rect l="l" t="t" r="r" b="b"/>
              <a:pathLst>
                <a:path w="13334" h="50800">
                  <a:moveTo>
                    <a:pt x="12953" y="50291"/>
                  </a:moveTo>
                  <a:lnTo>
                    <a:pt x="12953" y="0"/>
                  </a:lnTo>
                  <a:lnTo>
                    <a:pt x="0" y="0"/>
                  </a:lnTo>
                  <a:lnTo>
                    <a:pt x="0" y="50291"/>
                  </a:lnTo>
                  <a:lnTo>
                    <a:pt x="12953" y="50291"/>
                  </a:lnTo>
                  <a:close/>
                </a:path>
              </a:pathLst>
            </a:custGeom>
            <a:solidFill>
              <a:srgbClr val="0F1A81"/>
            </a:solidFill>
          </p:spPr>
          <p:txBody>
            <a:bodyPr wrap="square" lIns="0" tIns="0" rIns="0" bIns="0" rtlCol="0"/>
            <a:lstStyle/>
            <a:p>
              <a:endParaRPr sz="2052"/>
            </a:p>
          </p:txBody>
        </p:sp>
        <p:sp>
          <p:nvSpPr>
            <p:cNvPr id="116" name="object 116"/>
            <p:cNvSpPr/>
            <p:nvPr/>
          </p:nvSpPr>
          <p:spPr>
            <a:xfrm>
              <a:off x="6603771" y="4050292"/>
              <a:ext cx="11403" cy="11403"/>
            </a:xfrm>
            <a:custGeom>
              <a:avLst/>
              <a:gdLst/>
              <a:ahLst/>
              <a:cxnLst/>
              <a:rect l="l" t="t" r="r" b="b"/>
              <a:pathLst>
                <a:path w="13334" h="13335">
                  <a:moveTo>
                    <a:pt x="12953" y="12953"/>
                  </a:moveTo>
                  <a:lnTo>
                    <a:pt x="12953" y="0"/>
                  </a:lnTo>
                  <a:lnTo>
                    <a:pt x="0" y="0"/>
                  </a:lnTo>
                  <a:lnTo>
                    <a:pt x="0" y="12953"/>
                  </a:lnTo>
                  <a:lnTo>
                    <a:pt x="12953" y="12953"/>
                  </a:lnTo>
                  <a:close/>
                </a:path>
              </a:pathLst>
            </a:custGeom>
            <a:solidFill>
              <a:srgbClr val="0F1A81"/>
            </a:solidFill>
          </p:spPr>
          <p:txBody>
            <a:bodyPr wrap="square" lIns="0" tIns="0" rIns="0" bIns="0" rtlCol="0"/>
            <a:lstStyle/>
            <a:p>
              <a:endParaRPr sz="2052"/>
            </a:p>
          </p:txBody>
        </p:sp>
        <p:sp>
          <p:nvSpPr>
            <p:cNvPr id="117" name="object 117"/>
            <p:cNvSpPr/>
            <p:nvPr/>
          </p:nvSpPr>
          <p:spPr>
            <a:xfrm>
              <a:off x="6603771" y="4093950"/>
              <a:ext cx="11403" cy="43982"/>
            </a:xfrm>
            <a:custGeom>
              <a:avLst/>
              <a:gdLst/>
              <a:ahLst/>
              <a:cxnLst/>
              <a:rect l="l" t="t" r="r" b="b"/>
              <a:pathLst>
                <a:path w="13334" h="51435">
                  <a:moveTo>
                    <a:pt x="12953" y="51053"/>
                  </a:moveTo>
                  <a:lnTo>
                    <a:pt x="12953" y="0"/>
                  </a:lnTo>
                  <a:lnTo>
                    <a:pt x="0" y="0"/>
                  </a:lnTo>
                  <a:lnTo>
                    <a:pt x="0" y="51053"/>
                  </a:lnTo>
                  <a:lnTo>
                    <a:pt x="12953" y="51053"/>
                  </a:lnTo>
                  <a:close/>
                </a:path>
              </a:pathLst>
            </a:custGeom>
            <a:solidFill>
              <a:srgbClr val="0F1A81"/>
            </a:solidFill>
          </p:spPr>
          <p:txBody>
            <a:bodyPr wrap="square" lIns="0" tIns="0" rIns="0" bIns="0" rtlCol="0"/>
            <a:lstStyle/>
            <a:p>
              <a:endParaRPr sz="2052"/>
            </a:p>
          </p:txBody>
        </p:sp>
        <p:sp>
          <p:nvSpPr>
            <p:cNvPr id="118" name="object 118"/>
            <p:cNvSpPr/>
            <p:nvPr/>
          </p:nvSpPr>
          <p:spPr>
            <a:xfrm>
              <a:off x="6603771" y="4170185"/>
              <a:ext cx="11403" cy="10860"/>
            </a:xfrm>
            <a:custGeom>
              <a:avLst/>
              <a:gdLst/>
              <a:ahLst/>
              <a:cxnLst/>
              <a:rect l="l" t="t" r="r" b="b"/>
              <a:pathLst>
                <a:path w="13334" h="12700">
                  <a:moveTo>
                    <a:pt x="12953" y="12191"/>
                  </a:moveTo>
                  <a:lnTo>
                    <a:pt x="12953" y="0"/>
                  </a:lnTo>
                  <a:lnTo>
                    <a:pt x="0" y="0"/>
                  </a:lnTo>
                  <a:lnTo>
                    <a:pt x="0" y="12191"/>
                  </a:lnTo>
                  <a:lnTo>
                    <a:pt x="12953" y="12191"/>
                  </a:lnTo>
                  <a:close/>
                </a:path>
              </a:pathLst>
            </a:custGeom>
            <a:solidFill>
              <a:srgbClr val="0F1A81"/>
            </a:solidFill>
          </p:spPr>
          <p:txBody>
            <a:bodyPr wrap="square" lIns="0" tIns="0" rIns="0" bIns="0" rtlCol="0"/>
            <a:lstStyle/>
            <a:p>
              <a:endParaRPr sz="2052"/>
            </a:p>
          </p:txBody>
        </p:sp>
        <p:sp>
          <p:nvSpPr>
            <p:cNvPr id="119" name="object 119"/>
            <p:cNvSpPr/>
            <p:nvPr/>
          </p:nvSpPr>
          <p:spPr>
            <a:xfrm>
              <a:off x="6603771" y="4213190"/>
              <a:ext cx="11403" cy="43982"/>
            </a:xfrm>
            <a:custGeom>
              <a:avLst/>
              <a:gdLst/>
              <a:ahLst/>
              <a:cxnLst/>
              <a:rect l="l" t="t" r="r" b="b"/>
              <a:pathLst>
                <a:path w="13334" h="51435">
                  <a:moveTo>
                    <a:pt x="12953" y="51053"/>
                  </a:moveTo>
                  <a:lnTo>
                    <a:pt x="12953" y="0"/>
                  </a:lnTo>
                  <a:lnTo>
                    <a:pt x="0" y="0"/>
                  </a:lnTo>
                  <a:lnTo>
                    <a:pt x="0" y="51053"/>
                  </a:lnTo>
                  <a:lnTo>
                    <a:pt x="12953" y="51053"/>
                  </a:lnTo>
                  <a:close/>
                </a:path>
              </a:pathLst>
            </a:custGeom>
            <a:solidFill>
              <a:srgbClr val="0F1A81"/>
            </a:solidFill>
          </p:spPr>
          <p:txBody>
            <a:bodyPr wrap="square" lIns="0" tIns="0" rIns="0" bIns="0" rtlCol="0"/>
            <a:lstStyle/>
            <a:p>
              <a:endParaRPr sz="2052"/>
            </a:p>
          </p:txBody>
        </p:sp>
        <p:sp>
          <p:nvSpPr>
            <p:cNvPr id="120" name="object 120"/>
            <p:cNvSpPr/>
            <p:nvPr/>
          </p:nvSpPr>
          <p:spPr>
            <a:xfrm>
              <a:off x="6603771" y="4289427"/>
              <a:ext cx="11403" cy="11403"/>
            </a:xfrm>
            <a:custGeom>
              <a:avLst/>
              <a:gdLst/>
              <a:ahLst/>
              <a:cxnLst/>
              <a:rect l="l" t="t" r="r" b="b"/>
              <a:pathLst>
                <a:path w="13334" h="13335">
                  <a:moveTo>
                    <a:pt x="12953" y="12953"/>
                  </a:moveTo>
                  <a:lnTo>
                    <a:pt x="12953" y="0"/>
                  </a:lnTo>
                  <a:lnTo>
                    <a:pt x="0" y="0"/>
                  </a:lnTo>
                  <a:lnTo>
                    <a:pt x="0" y="12953"/>
                  </a:lnTo>
                  <a:lnTo>
                    <a:pt x="12953" y="12953"/>
                  </a:lnTo>
                  <a:close/>
                </a:path>
              </a:pathLst>
            </a:custGeom>
            <a:solidFill>
              <a:srgbClr val="0F1A81"/>
            </a:solidFill>
          </p:spPr>
          <p:txBody>
            <a:bodyPr wrap="square" lIns="0" tIns="0" rIns="0" bIns="0" rtlCol="0"/>
            <a:lstStyle/>
            <a:p>
              <a:endParaRPr sz="2052"/>
            </a:p>
          </p:txBody>
        </p:sp>
        <p:sp>
          <p:nvSpPr>
            <p:cNvPr id="121" name="object 121"/>
            <p:cNvSpPr/>
            <p:nvPr/>
          </p:nvSpPr>
          <p:spPr>
            <a:xfrm>
              <a:off x="6603771" y="4333083"/>
              <a:ext cx="11403" cy="43439"/>
            </a:xfrm>
            <a:custGeom>
              <a:avLst/>
              <a:gdLst/>
              <a:ahLst/>
              <a:cxnLst/>
              <a:rect l="l" t="t" r="r" b="b"/>
              <a:pathLst>
                <a:path w="13334" h="50800">
                  <a:moveTo>
                    <a:pt x="12953" y="50291"/>
                  </a:moveTo>
                  <a:lnTo>
                    <a:pt x="12953" y="0"/>
                  </a:lnTo>
                  <a:lnTo>
                    <a:pt x="0" y="0"/>
                  </a:lnTo>
                  <a:lnTo>
                    <a:pt x="0" y="50291"/>
                  </a:lnTo>
                  <a:lnTo>
                    <a:pt x="12953" y="50291"/>
                  </a:lnTo>
                  <a:close/>
                </a:path>
              </a:pathLst>
            </a:custGeom>
            <a:solidFill>
              <a:srgbClr val="0F1A81"/>
            </a:solidFill>
          </p:spPr>
          <p:txBody>
            <a:bodyPr wrap="square" lIns="0" tIns="0" rIns="0" bIns="0" rtlCol="0"/>
            <a:lstStyle/>
            <a:p>
              <a:endParaRPr sz="2052"/>
            </a:p>
          </p:txBody>
        </p:sp>
        <p:sp>
          <p:nvSpPr>
            <p:cNvPr id="122" name="object 122"/>
            <p:cNvSpPr/>
            <p:nvPr/>
          </p:nvSpPr>
          <p:spPr>
            <a:xfrm>
              <a:off x="6603771" y="4408667"/>
              <a:ext cx="11403" cy="11403"/>
            </a:xfrm>
            <a:custGeom>
              <a:avLst/>
              <a:gdLst/>
              <a:ahLst/>
              <a:cxnLst/>
              <a:rect l="l" t="t" r="r" b="b"/>
              <a:pathLst>
                <a:path w="13334" h="13335">
                  <a:moveTo>
                    <a:pt x="12953" y="12953"/>
                  </a:moveTo>
                  <a:lnTo>
                    <a:pt x="12953" y="0"/>
                  </a:lnTo>
                  <a:lnTo>
                    <a:pt x="0" y="0"/>
                  </a:lnTo>
                  <a:lnTo>
                    <a:pt x="0" y="12953"/>
                  </a:lnTo>
                  <a:lnTo>
                    <a:pt x="12953" y="12953"/>
                  </a:lnTo>
                  <a:close/>
                </a:path>
              </a:pathLst>
            </a:custGeom>
            <a:solidFill>
              <a:srgbClr val="0F1A81"/>
            </a:solidFill>
          </p:spPr>
          <p:txBody>
            <a:bodyPr wrap="square" lIns="0" tIns="0" rIns="0" bIns="0" rtlCol="0"/>
            <a:lstStyle/>
            <a:p>
              <a:endParaRPr sz="2052"/>
            </a:p>
          </p:txBody>
        </p:sp>
        <p:sp>
          <p:nvSpPr>
            <p:cNvPr id="123" name="object 123"/>
            <p:cNvSpPr/>
            <p:nvPr/>
          </p:nvSpPr>
          <p:spPr>
            <a:xfrm>
              <a:off x="6603771" y="4452325"/>
              <a:ext cx="11403" cy="43982"/>
            </a:xfrm>
            <a:custGeom>
              <a:avLst/>
              <a:gdLst/>
              <a:ahLst/>
              <a:cxnLst/>
              <a:rect l="l" t="t" r="r" b="b"/>
              <a:pathLst>
                <a:path w="13334" h="51435">
                  <a:moveTo>
                    <a:pt x="12953" y="51053"/>
                  </a:moveTo>
                  <a:lnTo>
                    <a:pt x="12953" y="0"/>
                  </a:lnTo>
                  <a:lnTo>
                    <a:pt x="0" y="0"/>
                  </a:lnTo>
                  <a:lnTo>
                    <a:pt x="0" y="51053"/>
                  </a:lnTo>
                  <a:lnTo>
                    <a:pt x="12953" y="51053"/>
                  </a:lnTo>
                  <a:close/>
                </a:path>
              </a:pathLst>
            </a:custGeom>
            <a:solidFill>
              <a:srgbClr val="0F1A81"/>
            </a:solidFill>
          </p:spPr>
          <p:txBody>
            <a:bodyPr wrap="square" lIns="0" tIns="0" rIns="0" bIns="0" rtlCol="0"/>
            <a:lstStyle/>
            <a:p>
              <a:endParaRPr sz="2052"/>
            </a:p>
          </p:txBody>
        </p:sp>
        <p:sp>
          <p:nvSpPr>
            <p:cNvPr id="124" name="object 124"/>
            <p:cNvSpPr/>
            <p:nvPr/>
          </p:nvSpPr>
          <p:spPr>
            <a:xfrm>
              <a:off x="6603771" y="4528560"/>
              <a:ext cx="11403" cy="10860"/>
            </a:xfrm>
            <a:custGeom>
              <a:avLst/>
              <a:gdLst/>
              <a:ahLst/>
              <a:cxnLst/>
              <a:rect l="l" t="t" r="r" b="b"/>
              <a:pathLst>
                <a:path w="13334" h="12700">
                  <a:moveTo>
                    <a:pt x="12953" y="12192"/>
                  </a:moveTo>
                  <a:lnTo>
                    <a:pt x="12953" y="0"/>
                  </a:lnTo>
                  <a:lnTo>
                    <a:pt x="0" y="0"/>
                  </a:lnTo>
                  <a:lnTo>
                    <a:pt x="0" y="12192"/>
                  </a:lnTo>
                  <a:lnTo>
                    <a:pt x="12953" y="12192"/>
                  </a:lnTo>
                  <a:close/>
                </a:path>
              </a:pathLst>
            </a:custGeom>
            <a:solidFill>
              <a:srgbClr val="0F1A81"/>
            </a:solidFill>
          </p:spPr>
          <p:txBody>
            <a:bodyPr wrap="square" lIns="0" tIns="0" rIns="0" bIns="0" rtlCol="0"/>
            <a:lstStyle/>
            <a:p>
              <a:endParaRPr sz="2052"/>
            </a:p>
          </p:txBody>
        </p:sp>
        <p:sp>
          <p:nvSpPr>
            <p:cNvPr id="125" name="object 125"/>
            <p:cNvSpPr/>
            <p:nvPr/>
          </p:nvSpPr>
          <p:spPr>
            <a:xfrm>
              <a:off x="6603771" y="4571565"/>
              <a:ext cx="11403" cy="43982"/>
            </a:xfrm>
            <a:custGeom>
              <a:avLst/>
              <a:gdLst/>
              <a:ahLst/>
              <a:cxnLst/>
              <a:rect l="l" t="t" r="r" b="b"/>
              <a:pathLst>
                <a:path w="13334" h="51435">
                  <a:moveTo>
                    <a:pt x="12953" y="51053"/>
                  </a:moveTo>
                  <a:lnTo>
                    <a:pt x="12953" y="0"/>
                  </a:lnTo>
                  <a:lnTo>
                    <a:pt x="0" y="0"/>
                  </a:lnTo>
                  <a:lnTo>
                    <a:pt x="0" y="51053"/>
                  </a:lnTo>
                  <a:lnTo>
                    <a:pt x="12953" y="51053"/>
                  </a:lnTo>
                  <a:close/>
                </a:path>
              </a:pathLst>
            </a:custGeom>
            <a:solidFill>
              <a:srgbClr val="0F1A81"/>
            </a:solidFill>
          </p:spPr>
          <p:txBody>
            <a:bodyPr wrap="square" lIns="0" tIns="0" rIns="0" bIns="0" rtlCol="0"/>
            <a:lstStyle/>
            <a:p>
              <a:endParaRPr sz="2052"/>
            </a:p>
          </p:txBody>
        </p:sp>
        <p:sp>
          <p:nvSpPr>
            <p:cNvPr id="126" name="object 126"/>
            <p:cNvSpPr/>
            <p:nvPr/>
          </p:nvSpPr>
          <p:spPr>
            <a:xfrm>
              <a:off x="6603771" y="4647802"/>
              <a:ext cx="11403" cy="11403"/>
            </a:xfrm>
            <a:custGeom>
              <a:avLst/>
              <a:gdLst/>
              <a:ahLst/>
              <a:cxnLst/>
              <a:rect l="l" t="t" r="r" b="b"/>
              <a:pathLst>
                <a:path w="13334" h="13335">
                  <a:moveTo>
                    <a:pt x="12953" y="12953"/>
                  </a:moveTo>
                  <a:lnTo>
                    <a:pt x="12953" y="0"/>
                  </a:lnTo>
                  <a:lnTo>
                    <a:pt x="0" y="0"/>
                  </a:lnTo>
                  <a:lnTo>
                    <a:pt x="0" y="12953"/>
                  </a:lnTo>
                  <a:lnTo>
                    <a:pt x="12953" y="12953"/>
                  </a:lnTo>
                  <a:close/>
                </a:path>
              </a:pathLst>
            </a:custGeom>
            <a:solidFill>
              <a:srgbClr val="0F1A81"/>
            </a:solidFill>
          </p:spPr>
          <p:txBody>
            <a:bodyPr wrap="square" lIns="0" tIns="0" rIns="0" bIns="0" rtlCol="0"/>
            <a:lstStyle/>
            <a:p>
              <a:endParaRPr sz="2052"/>
            </a:p>
          </p:txBody>
        </p:sp>
        <p:sp>
          <p:nvSpPr>
            <p:cNvPr id="127" name="object 127"/>
            <p:cNvSpPr/>
            <p:nvPr/>
          </p:nvSpPr>
          <p:spPr>
            <a:xfrm>
              <a:off x="6603771" y="4691459"/>
              <a:ext cx="11403" cy="43439"/>
            </a:xfrm>
            <a:custGeom>
              <a:avLst/>
              <a:gdLst/>
              <a:ahLst/>
              <a:cxnLst/>
              <a:rect l="l" t="t" r="r" b="b"/>
              <a:pathLst>
                <a:path w="13334" h="50800">
                  <a:moveTo>
                    <a:pt x="12953" y="50291"/>
                  </a:moveTo>
                  <a:lnTo>
                    <a:pt x="12953" y="0"/>
                  </a:lnTo>
                  <a:lnTo>
                    <a:pt x="0" y="0"/>
                  </a:lnTo>
                  <a:lnTo>
                    <a:pt x="0" y="50291"/>
                  </a:lnTo>
                  <a:lnTo>
                    <a:pt x="12953" y="50291"/>
                  </a:lnTo>
                  <a:close/>
                </a:path>
              </a:pathLst>
            </a:custGeom>
            <a:solidFill>
              <a:srgbClr val="0F1A81"/>
            </a:solidFill>
          </p:spPr>
          <p:txBody>
            <a:bodyPr wrap="square" lIns="0" tIns="0" rIns="0" bIns="0" rtlCol="0"/>
            <a:lstStyle/>
            <a:p>
              <a:endParaRPr sz="2052"/>
            </a:p>
          </p:txBody>
        </p:sp>
        <p:sp>
          <p:nvSpPr>
            <p:cNvPr id="128" name="object 128"/>
            <p:cNvSpPr/>
            <p:nvPr/>
          </p:nvSpPr>
          <p:spPr>
            <a:xfrm>
              <a:off x="6603771" y="4767043"/>
              <a:ext cx="11403" cy="11403"/>
            </a:xfrm>
            <a:custGeom>
              <a:avLst/>
              <a:gdLst/>
              <a:ahLst/>
              <a:cxnLst/>
              <a:rect l="l" t="t" r="r" b="b"/>
              <a:pathLst>
                <a:path w="13334" h="13335">
                  <a:moveTo>
                    <a:pt x="12953" y="12953"/>
                  </a:moveTo>
                  <a:lnTo>
                    <a:pt x="12953" y="0"/>
                  </a:lnTo>
                  <a:lnTo>
                    <a:pt x="0" y="0"/>
                  </a:lnTo>
                  <a:lnTo>
                    <a:pt x="0" y="12953"/>
                  </a:lnTo>
                  <a:lnTo>
                    <a:pt x="12953" y="12953"/>
                  </a:lnTo>
                  <a:close/>
                </a:path>
              </a:pathLst>
            </a:custGeom>
            <a:solidFill>
              <a:srgbClr val="0F1A81"/>
            </a:solidFill>
          </p:spPr>
          <p:txBody>
            <a:bodyPr wrap="square" lIns="0" tIns="0" rIns="0" bIns="0" rtlCol="0"/>
            <a:lstStyle/>
            <a:p>
              <a:endParaRPr sz="2052"/>
            </a:p>
          </p:txBody>
        </p:sp>
        <p:sp>
          <p:nvSpPr>
            <p:cNvPr id="129" name="object 129"/>
            <p:cNvSpPr/>
            <p:nvPr/>
          </p:nvSpPr>
          <p:spPr>
            <a:xfrm>
              <a:off x="6603771" y="4810700"/>
              <a:ext cx="11403" cy="43982"/>
            </a:xfrm>
            <a:custGeom>
              <a:avLst/>
              <a:gdLst/>
              <a:ahLst/>
              <a:cxnLst/>
              <a:rect l="l" t="t" r="r" b="b"/>
              <a:pathLst>
                <a:path w="13334" h="51435">
                  <a:moveTo>
                    <a:pt x="12953" y="51053"/>
                  </a:moveTo>
                  <a:lnTo>
                    <a:pt x="12953" y="0"/>
                  </a:lnTo>
                  <a:lnTo>
                    <a:pt x="0" y="0"/>
                  </a:lnTo>
                  <a:lnTo>
                    <a:pt x="0" y="51053"/>
                  </a:lnTo>
                  <a:lnTo>
                    <a:pt x="12953" y="51053"/>
                  </a:lnTo>
                  <a:close/>
                </a:path>
              </a:pathLst>
            </a:custGeom>
            <a:solidFill>
              <a:srgbClr val="0F1A81"/>
            </a:solidFill>
          </p:spPr>
          <p:txBody>
            <a:bodyPr wrap="square" lIns="0" tIns="0" rIns="0" bIns="0" rtlCol="0"/>
            <a:lstStyle/>
            <a:p>
              <a:endParaRPr sz="2052"/>
            </a:p>
          </p:txBody>
        </p:sp>
        <p:sp>
          <p:nvSpPr>
            <p:cNvPr id="130" name="object 130"/>
            <p:cNvSpPr/>
            <p:nvPr/>
          </p:nvSpPr>
          <p:spPr>
            <a:xfrm>
              <a:off x="6603771" y="4886936"/>
              <a:ext cx="11403" cy="10860"/>
            </a:xfrm>
            <a:custGeom>
              <a:avLst/>
              <a:gdLst/>
              <a:ahLst/>
              <a:cxnLst/>
              <a:rect l="l" t="t" r="r" b="b"/>
              <a:pathLst>
                <a:path w="13334" h="12700">
                  <a:moveTo>
                    <a:pt x="12953" y="12191"/>
                  </a:moveTo>
                  <a:lnTo>
                    <a:pt x="12953" y="0"/>
                  </a:lnTo>
                  <a:lnTo>
                    <a:pt x="0" y="0"/>
                  </a:lnTo>
                  <a:lnTo>
                    <a:pt x="0" y="12191"/>
                  </a:lnTo>
                  <a:lnTo>
                    <a:pt x="12953" y="12191"/>
                  </a:lnTo>
                  <a:close/>
                </a:path>
              </a:pathLst>
            </a:custGeom>
            <a:solidFill>
              <a:srgbClr val="0F1A81"/>
            </a:solidFill>
          </p:spPr>
          <p:txBody>
            <a:bodyPr wrap="square" lIns="0" tIns="0" rIns="0" bIns="0" rtlCol="0"/>
            <a:lstStyle/>
            <a:p>
              <a:endParaRPr sz="2052"/>
            </a:p>
          </p:txBody>
        </p:sp>
        <p:sp>
          <p:nvSpPr>
            <p:cNvPr id="131" name="object 131"/>
            <p:cNvSpPr/>
            <p:nvPr/>
          </p:nvSpPr>
          <p:spPr>
            <a:xfrm>
              <a:off x="6603771" y="4929941"/>
              <a:ext cx="11403" cy="43982"/>
            </a:xfrm>
            <a:custGeom>
              <a:avLst/>
              <a:gdLst/>
              <a:ahLst/>
              <a:cxnLst/>
              <a:rect l="l" t="t" r="r" b="b"/>
              <a:pathLst>
                <a:path w="13334" h="51435">
                  <a:moveTo>
                    <a:pt x="12953" y="51053"/>
                  </a:moveTo>
                  <a:lnTo>
                    <a:pt x="12953" y="0"/>
                  </a:lnTo>
                  <a:lnTo>
                    <a:pt x="0" y="0"/>
                  </a:lnTo>
                  <a:lnTo>
                    <a:pt x="0" y="51053"/>
                  </a:lnTo>
                  <a:lnTo>
                    <a:pt x="12953" y="51053"/>
                  </a:lnTo>
                  <a:close/>
                </a:path>
              </a:pathLst>
            </a:custGeom>
            <a:solidFill>
              <a:srgbClr val="0F1A81"/>
            </a:solidFill>
          </p:spPr>
          <p:txBody>
            <a:bodyPr wrap="square" lIns="0" tIns="0" rIns="0" bIns="0" rtlCol="0"/>
            <a:lstStyle/>
            <a:p>
              <a:endParaRPr sz="2052"/>
            </a:p>
          </p:txBody>
        </p:sp>
        <p:sp>
          <p:nvSpPr>
            <p:cNvPr id="132" name="object 132"/>
            <p:cNvSpPr/>
            <p:nvPr/>
          </p:nvSpPr>
          <p:spPr>
            <a:xfrm>
              <a:off x="6603771" y="5006177"/>
              <a:ext cx="11403" cy="11403"/>
            </a:xfrm>
            <a:custGeom>
              <a:avLst/>
              <a:gdLst/>
              <a:ahLst/>
              <a:cxnLst/>
              <a:rect l="l" t="t" r="r" b="b"/>
              <a:pathLst>
                <a:path w="13334" h="13335">
                  <a:moveTo>
                    <a:pt x="12953" y="12953"/>
                  </a:moveTo>
                  <a:lnTo>
                    <a:pt x="12953" y="0"/>
                  </a:lnTo>
                  <a:lnTo>
                    <a:pt x="0" y="0"/>
                  </a:lnTo>
                  <a:lnTo>
                    <a:pt x="0" y="12953"/>
                  </a:lnTo>
                  <a:lnTo>
                    <a:pt x="12953" y="12953"/>
                  </a:lnTo>
                  <a:close/>
                </a:path>
              </a:pathLst>
            </a:custGeom>
            <a:solidFill>
              <a:srgbClr val="0F1A81"/>
            </a:solidFill>
          </p:spPr>
          <p:txBody>
            <a:bodyPr wrap="square" lIns="0" tIns="0" rIns="0" bIns="0" rtlCol="0"/>
            <a:lstStyle/>
            <a:p>
              <a:endParaRPr sz="2052"/>
            </a:p>
          </p:txBody>
        </p:sp>
        <p:sp>
          <p:nvSpPr>
            <p:cNvPr id="133" name="object 133"/>
            <p:cNvSpPr/>
            <p:nvPr/>
          </p:nvSpPr>
          <p:spPr>
            <a:xfrm>
              <a:off x="6603771" y="5049834"/>
              <a:ext cx="11403" cy="43439"/>
            </a:xfrm>
            <a:custGeom>
              <a:avLst/>
              <a:gdLst/>
              <a:ahLst/>
              <a:cxnLst/>
              <a:rect l="l" t="t" r="r" b="b"/>
              <a:pathLst>
                <a:path w="13334" h="50800">
                  <a:moveTo>
                    <a:pt x="12953" y="50291"/>
                  </a:moveTo>
                  <a:lnTo>
                    <a:pt x="12953" y="0"/>
                  </a:lnTo>
                  <a:lnTo>
                    <a:pt x="0" y="0"/>
                  </a:lnTo>
                  <a:lnTo>
                    <a:pt x="0" y="50291"/>
                  </a:lnTo>
                  <a:lnTo>
                    <a:pt x="12953" y="50291"/>
                  </a:lnTo>
                  <a:close/>
                </a:path>
              </a:pathLst>
            </a:custGeom>
            <a:solidFill>
              <a:srgbClr val="0F1A81"/>
            </a:solidFill>
          </p:spPr>
          <p:txBody>
            <a:bodyPr wrap="square" lIns="0" tIns="0" rIns="0" bIns="0" rtlCol="0"/>
            <a:lstStyle/>
            <a:p>
              <a:endParaRPr sz="2052"/>
            </a:p>
          </p:txBody>
        </p:sp>
        <p:sp>
          <p:nvSpPr>
            <p:cNvPr id="134" name="object 134"/>
            <p:cNvSpPr/>
            <p:nvPr/>
          </p:nvSpPr>
          <p:spPr>
            <a:xfrm>
              <a:off x="6603771" y="5125418"/>
              <a:ext cx="11403" cy="11403"/>
            </a:xfrm>
            <a:custGeom>
              <a:avLst/>
              <a:gdLst/>
              <a:ahLst/>
              <a:cxnLst/>
              <a:rect l="l" t="t" r="r" b="b"/>
              <a:pathLst>
                <a:path w="13334" h="13335">
                  <a:moveTo>
                    <a:pt x="12953" y="12953"/>
                  </a:moveTo>
                  <a:lnTo>
                    <a:pt x="12953" y="0"/>
                  </a:lnTo>
                  <a:lnTo>
                    <a:pt x="0" y="0"/>
                  </a:lnTo>
                  <a:lnTo>
                    <a:pt x="0" y="12953"/>
                  </a:lnTo>
                  <a:lnTo>
                    <a:pt x="12953" y="12953"/>
                  </a:lnTo>
                  <a:close/>
                </a:path>
              </a:pathLst>
            </a:custGeom>
            <a:solidFill>
              <a:srgbClr val="0F1A81"/>
            </a:solidFill>
          </p:spPr>
          <p:txBody>
            <a:bodyPr wrap="square" lIns="0" tIns="0" rIns="0" bIns="0" rtlCol="0"/>
            <a:lstStyle/>
            <a:p>
              <a:endParaRPr sz="2052"/>
            </a:p>
          </p:txBody>
        </p:sp>
        <p:sp>
          <p:nvSpPr>
            <p:cNvPr id="135" name="object 135"/>
            <p:cNvSpPr/>
            <p:nvPr/>
          </p:nvSpPr>
          <p:spPr>
            <a:xfrm>
              <a:off x="6603771" y="5169076"/>
              <a:ext cx="11403" cy="43982"/>
            </a:xfrm>
            <a:custGeom>
              <a:avLst/>
              <a:gdLst/>
              <a:ahLst/>
              <a:cxnLst/>
              <a:rect l="l" t="t" r="r" b="b"/>
              <a:pathLst>
                <a:path w="13334" h="51435">
                  <a:moveTo>
                    <a:pt x="12953" y="51053"/>
                  </a:moveTo>
                  <a:lnTo>
                    <a:pt x="12953" y="0"/>
                  </a:lnTo>
                  <a:lnTo>
                    <a:pt x="0" y="0"/>
                  </a:lnTo>
                  <a:lnTo>
                    <a:pt x="0" y="51053"/>
                  </a:lnTo>
                  <a:lnTo>
                    <a:pt x="12953" y="51053"/>
                  </a:lnTo>
                  <a:close/>
                </a:path>
              </a:pathLst>
            </a:custGeom>
            <a:solidFill>
              <a:srgbClr val="0F1A81"/>
            </a:solidFill>
          </p:spPr>
          <p:txBody>
            <a:bodyPr wrap="square" lIns="0" tIns="0" rIns="0" bIns="0" rtlCol="0"/>
            <a:lstStyle/>
            <a:p>
              <a:endParaRPr sz="2052"/>
            </a:p>
          </p:txBody>
        </p:sp>
        <p:sp>
          <p:nvSpPr>
            <p:cNvPr id="136" name="object 136"/>
            <p:cNvSpPr/>
            <p:nvPr/>
          </p:nvSpPr>
          <p:spPr>
            <a:xfrm>
              <a:off x="6603771" y="5245311"/>
              <a:ext cx="11403" cy="10860"/>
            </a:xfrm>
            <a:custGeom>
              <a:avLst/>
              <a:gdLst/>
              <a:ahLst/>
              <a:cxnLst/>
              <a:rect l="l" t="t" r="r" b="b"/>
              <a:pathLst>
                <a:path w="13334" h="12700">
                  <a:moveTo>
                    <a:pt x="12953" y="12191"/>
                  </a:moveTo>
                  <a:lnTo>
                    <a:pt x="12953" y="0"/>
                  </a:lnTo>
                  <a:lnTo>
                    <a:pt x="0" y="0"/>
                  </a:lnTo>
                  <a:lnTo>
                    <a:pt x="0" y="12191"/>
                  </a:lnTo>
                  <a:lnTo>
                    <a:pt x="12953" y="12191"/>
                  </a:lnTo>
                  <a:close/>
                </a:path>
              </a:pathLst>
            </a:custGeom>
            <a:solidFill>
              <a:srgbClr val="0F1A81"/>
            </a:solidFill>
          </p:spPr>
          <p:txBody>
            <a:bodyPr wrap="square" lIns="0" tIns="0" rIns="0" bIns="0" rtlCol="0"/>
            <a:lstStyle/>
            <a:p>
              <a:endParaRPr sz="2052"/>
            </a:p>
          </p:txBody>
        </p:sp>
        <p:sp>
          <p:nvSpPr>
            <p:cNvPr id="137" name="object 137"/>
            <p:cNvSpPr/>
            <p:nvPr/>
          </p:nvSpPr>
          <p:spPr>
            <a:xfrm>
              <a:off x="6603771" y="5288316"/>
              <a:ext cx="11403" cy="43982"/>
            </a:xfrm>
            <a:custGeom>
              <a:avLst/>
              <a:gdLst/>
              <a:ahLst/>
              <a:cxnLst/>
              <a:rect l="l" t="t" r="r" b="b"/>
              <a:pathLst>
                <a:path w="13334" h="51435">
                  <a:moveTo>
                    <a:pt x="12953" y="51053"/>
                  </a:moveTo>
                  <a:lnTo>
                    <a:pt x="12953" y="0"/>
                  </a:lnTo>
                  <a:lnTo>
                    <a:pt x="0" y="0"/>
                  </a:lnTo>
                  <a:lnTo>
                    <a:pt x="0" y="51053"/>
                  </a:lnTo>
                  <a:lnTo>
                    <a:pt x="12953" y="51053"/>
                  </a:lnTo>
                  <a:close/>
                </a:path>
              </a:pathLst>
            </a:custGeom>
            <a:solidFill>
              <a:srgbClr val="0F1A81"/>
            </a:solidFill>
          </p:spPr>
          <p:txBody>
            <a:bodyPr wrap="square" lIns="0" tIns="0" rIns="0" bIns="0" rtlCol="0"/>
            <a:lstStyle/>
            <a:p>
              <a:endParaRPr sz="2052"/>
            </a:p>
          </p:txBody>
        </p:sp>
        <p:sp>
          <p:nvSpPr>
            <p:cNvPr id="138" name="object 138"/>
            <p:cNvSpPr/>
            <p:nvPr/>
          </p:nvSpPr>
          <p:spPr>
            <a:xfrm>
              <a:off x="6603771" y="5364553"/>
              <a:ext cx="11403" cy="11403"/>
            </a:xfrm>
            <a:custGeom>
              <a:avLst/>
              <a:gdLst/>
              <a:ahLst/>
              <a:cxnLst/>
              <a:rect l="l" t="t" r="r" b="b"/>
              <a:pathLst>
                <a:path w="13334" h="13335">
                  <a:moveTo>
                    <a:pt x="12953" y="12953"/>
                  </a:moveTo>
                  <a:lnTo>
                    <a:pt x="12953" y="0"/>
                  </a:lnTo>
                  <a:lnTo>
                    <a:pt x="0" y="0"/>
                  </a:lnTo>
                  <a:lnTo>
                    <a:pt x="0" y="12953"/>
                  </a:lnTo>
                  <a:lnTo>
                    <a:pt x="12953" y="12953"/>
                  </a:lnTo>
                  <a:close/>
                </a:path>
              </a:pathLst>
            </a:custGeom>
            <a:solidFill>
              <a:srgbClr val="0F1A81"/>
            </a:solidFill>
          </p:spPr>
          <p:txBody>
            <a:bodyPr wrap="square" lIns="0" tIns="0" rIns="0" bIns="0" rtlCol="0"/>
            <a:lstStyle/>
            <a:p>
              <a:endParaRPr sz="2052"/>
            </a:p>
          </p:txBody>
        </p:sp>
        <p:sp>
          <p:nvSpPr>
            <p:cNvPr id="139" name="object 139"/>
            <p:cNvSpPr/>
            <p:nvPr/>
          </p:nvSpPr>
          <p:spPr>
            <a:xfrm>
              <a:off x="6603771" y="5408209"/>
              <a:ext cx="11403" cy="43439"/>
            </a:xfrm>
            <a:custGeom>
              <a:avLst/>
              <a:gdLst/>
              <a:ahLst/>
              <a:cxnLst/>
              <a:rect l="l" t="t" r="r" b="b"/>
              <a:pathLst>
                <a:path w="13334" h="50800">
                  <a:moveTo>
                    <a:pt x="12953" y="50291"/>
                  </a:moveTo>
                  <a:lnTo>
                    <a:pt x="12953" y="0"/>
                  </a:lnTo>
                  <a:lnTo>
                    <a:pt x="0" y="0"/>
                  </a:lnTo>
                  <a:lnTo>
                    <a:pt x="0" y="50291"/>
                  </a:lnTo>
                  <a:lnTo>
                    <a:pt x="12953" y="50291"/>
                  </a:lnTo>
                  <a:close/>
                </a:path>
              </a:pathLst>
            </a:custGeom>
            <a:solidFill>
              <a:srgbClr val="0F1A81"/>
            </a:solidFill>
          </p:spPr>
          <p:txBody>
            <a:bodyPr wrap="square" lIns="0" tIns="0" rIns="0" bIns="0" rtlCol="0"/>
            <a:lstStyle/>
            <a:p>
              <a:endParaRPr sz="2052"/>
            </a:p>
          </p:txBody>
        </p:sp>
        <p:sp>
          <p:nvSpPr>
            <p:cNvPr id="140" name="object 140"/>
            <p:cNvSpPr/>
            <p:nvPr/>
          </p:nvSpPr>
          <p:spPr>
            <a:xfrm>
              <a:off x="6603771" y="5483793"/>
              <a:ext cx="11403" cy="11403"/>
            </a:xfrm>
            <a:custGeom>
              <a:avLst/>
              <a:gdLst/>
              <a:ahLst/>
              <a:cxnLst/>
              <a:rect l="l" t="t" r="r" b="b"/>
              <a:pathLst>
                <a:path w="13334" h="13335">
                  <a:moveTo>
                    <a:pt x="12953" y="12953"/>
                  </a:moveTo>
                  <a:lnTo>
                    <a:pt x="12953" y="0"/>
                  </a:lnTo>
                  <a:lnTo>
                    <a:pt x="0" y="0"/>
                  </a:lnTo>
                  <a:lnTo>
                    <a:pt x="0" y="12953"/>
                  </a:lnTo>
                  <a:lnTo>
                    <a:pt x="12953" y="12953"/>
                  </a:lnTo>
                  <a:close/>
                </a:path>
              </a:pathLst>
            </a:custGeom>
            <a:solidFill>
              <a:srgbClr val="0F1A81"/>
            </a:solidFill>
          </p:spPr>
          <p:txBody>
            <a:bodyPr wrap="square" lIns="0" tIns="0" rIns="0" bIns="0" rtlCol="0"/>
            <a:lstStyle/>
            <a:p>
              <a:endParaRPr sz="2052"/>
            </a:p>
          </p:txBody>
        </p:sp>
        <p:sp>
          <p:nvSpPr>
            <p:cNvPr id="141" name="object 141"/>
            <p:cNvSpPr/>
            <p:nvPr/>
          </p:nvSpPr>
          <p:spPr>
            <a:xfrm>
              <a:off x="6603771" y="5527450"/>
              <a:ext cx="11403" cy="19548"/>
            </a:xfrm>
            <a:custGeom>
              <a:avLst/>
              <a:gdLst/>
              <a:ahLst/>
              <a:cxnLst/>
              <a:rect l="l" t="t" r="r" b="b"/>
              <a:pathLst>
                <a:path w="13334" h="22860">
                  <a:moveTo>
                    <a:pt x="12953" y="22860"/>
                  </a:moveTo>
                  <a:lnTo>
                    <a:pt x="12953" y="0"/>
                  </a:lnTo>
                  <a:lnTo>
                    <a:pt x="0" y="0"/>
                  </a:lnTo>
                  <a:lnTo>
                    <a:pt x="0" y="22860"/>
                  </a:lnTo>
                  <a:lnTo>
                    <a:pt x="12953" y="22860"/>
                  </a:lnTo>
                  <a:close/>
                </a:path>
              </a:pathLst>
            </a:custGeom>
            <a:solidFill>
              <a:srgbClr val="0F1A81"/>
            </a:solidFill>
          </p:spPr>
          <p:txBody>
            <a:bodyPr wrap="square" lIns="0" tIns="0" rIns="0" bIns="0" rtlCol="0"/>
            <a:lstStyle/>
            <a:p>
              <a:endParaRPr sz="2052"/>
            </a:p>
          </p:txBody>
        </p:sp>
        <p:sp>
          <p:nvSpPr>
            <p:cNvPr id="142" name="object 142"/>
            <p:cNvSpPr txBox="1"/>
            <p:nvPr/>
          </p:nvSpPr>
          <p:spPr>
            <a:xfrm>
              <a:off x="6479539" y="1846176"/>
              <a:ext cx="166699" cy="318194"/>
            </a:xfrm>
            <a:prstGeom prst="rect">
              <a:avLst/>
            </a:prstGeom>
          </p:spPr>
          <p:txBody>
            <a:bodyPr vert="horz" wrap="square" lIns="0" tIns="10317" rIns="0" bIns="0" rtlCol="0">
              <a:spAutoFit/>
            </a:bodyPr>
            <a:lstStyle/>
            <a:p>
              <a:pPr marL="10860">
                <a:spcBef>
                  <a:spcPts val="81"/>
                </a:spcBef>
              </a:pPr>
              <a:r>
                <a:rPr sz="2000" b="1" i="1" spc="-4" dirty="0">
                  <a:solidFill>
                    <a:srgbClr val="FF0000"/>
                  </a:solidFill>
                  <a:latin typeface="Times New Roman"/>
                  <a:cs typeface="Times New Roman"/>
                </a:rPr>
                <a:t>F</a:t>
              </a:r>
              <a:endParaRPr sz="2000" dirty="0">
                <a:latin typeface="Times New Roman"/>
                <a:cs typeface="Times New Roman"/>
              </a:endParaRPr>
            </a:p>
          </p:txBody>
        </p:sp>
        <p:sp>
          <p:nvSpPr>
            <p:cNvPr id="143" name="object 143"/>
            <p:cNvSpPr txBox="1"/>
            <p:nvPr/>
          </p:nvSpPr>
          <p:spPr>
            <a:xfrm>
              <a:off x="6501291" y="5827016"/>
              <a:ext cx="166699" cy="318194"/>
            </a:xfrm>
            <a:prstGeom prst="rect">
              <a:avLst/>
            </a:prstGeom>
          </p:spPr>
          <p:txBody>
            <a:bodyPr vert="horz" wrap="square" lIns="0" tIns="10317" rIns="0" bIns="0" rtlCol="0">
              <a:spAutoFit/>
            </a:bodyPr>
            <a:lstStyle/>
            <a:p>
              <a:pPr marL="10860">
                <a:spcBef>
                  <a:spcPts val="81"/>
                </a:spcBef>
              </a:pPr>
              <a:r>
                <a:rPr sz="2000" b="1" i="1" spc="-4" dirty="0">
                  <a:solidFill>
                    <a:srgbClr val="FF0000"/>
                  </a:solidFill>
                  <a:latin typeface="Times New Roman"/>
                  <a:cs typeface="Times New Roman"/>
                </a:rPr>
                <a:t>F</a:t>
              </a:r>
              <a:endParaRPr sz="2000" dirty="0">
                <a:latin typeface="Times New Roman"/>
                <a:cs typeface="Times New Roman"/>
              </a:endParaRPr>
            </a:p>
          </p:txBody>
        </p:sp>
        <p:sp>
          <p:nvSpPr>
            <p:cNvPr id="144" name="object 144"/>
            <p:cNvSpPr/>
            <p:nvPr/>
          </p:nvSpPr>
          <p:spPr>
            <a:xfrm>
              <a:off x="6577707" y="5535270"/>
              <a:ext cx="65159" cy="331769"/>
            </a:xfrm>
            <a:custGeom>
              <a:avLst/>
              <a:gdLst/>
              <a:ahLst/>
              <a:cxnLst/>
              <a:rect l="l" t="t" r="r" b="b"/>
              <a:pathLst>
                <a:path w="76200" h="387984">
                  <a:moveTo>
                    <a:pt x="76200" y="260604"/>
                  </a:moveTo>
                  <a:lnTo>
                    <a:pt x="0" y="260604"/>
                  </a:lnTo>
                  <a:lnTo>
                    <a:pt x="28968" y="357359"/>
                  </a:lnTo>
                  <a:lnTo>
                    <a:pt x="28968" y="273558"/>
                  </a:lnTo>
                  <a:lnTo>
                    <a:pt x="48018" y="273558"/>
                  </a:lnTo>
                  <a:lnTo>
                    <a:pt x="48018" y="354729"/>
                  </a:lnTo>
                  <a:lnTo>
                    <a:pt x="76200" y="260604"/>
                  </a:lnTo>
                  <a:close/>
                </a:path>
                <a:path w="76200" h="387984">
                  <a:moveTo>
                    <a:pt x="48018" y="260604"/>
                  </a:moveTo>
                  <a:lnTo>
                    <a:pt x="48018" y="0"/>
                  </a:lnTo>
                  <a:lnTo>
                    <a:pt x="28968" y="0"/>
                  </a:lnTo>
                  <a:lnTo>
                    <a:pt x="28968" y="260604"/>
                  </a:lnTo>
                  <a:lnTo>
                    <a:pt x="48018" y="260604"/>
                  </a:lnTo>
                  <a:close/>
                </a:path>
                <a:path w="76200" h="387984">
                  <a:moveTo>
                    <a:pt x="48018" y="354729"/>
                  </a:moveTo>
                  <a:lnTo>
                    <a:pt x="48018" y="273558"/>
                  </a:lnTo>
                  <a:lnTo>
                    <a:pt x="28968" y="273558"/>
                  </a:lnTo>
                  <a:lnTo>
                    <a:pt x="28968" y="357359"/>
                  </a:lnTo>
                  <a:lnTo>
                    <a:pt x="38100" y="387858"/>
                  </a:lnTo>
                  <a:lnTo>
                    <a:pt x="48018" y="354729"/>
                  </a:lnTo>
                  <a:close/>
                </a:path>
              </a:pathLst>
            </a:custGeom>
            <a:solidFill>
              <a:srgbClr val="FF0000"/>
            </a:solidFill>
          </p:spPr>
          <p:txBody>
            <a:bodyPr wrap="square" lIns="0" tIns="0" rIns="0" bIns="0" rtlCol="0"/>
            <a:lstStyle/>
            <a:p>
              <a:endParaRPr sz="2052"/>
            </a:p>
          </p:txBody>
        </p:sp>
        <p:sp>
          <p:nvSpPr>
            <p:cNvPr id="145" name="object 145"/>
            <p:cNvSpPr/>
            <p:nvPr/>
          </p:nvSpPr>
          <p:spPr>
            <a:xfrm>
              <a:off x="6128119" y="5535270"/>
              <a:ext cx="65159" cy="331769"/>
            </a:xfrm>
            <a:custGeom>
              <a:avLst/>
              <a:gdLst/>
              <a:ahLst/>
              <a:cxnLst/>
              <a:rect l="l" t="t" r="r" b="b"/>
              <a:pathLst>
                <a:path w="76200" h="387984">
                  <a:moveTo>
                    <a:pt x="76200" y="260604"/>
                  </a:moveTo>
                  <a:lnTo>
                    <a:pt x="0" y="260604"/>
                  </a:lnTo>
                  <a:lnTo>
                    <a:pt x="28943" y="357274"/>
                  </a:lnTo>
                  <a:lnTo>
                    <a:pt x="28943" y="273558"/>
                  </a:lnTo>
                  <a:lnTo>
                    <a:pt x="47993" y="273558"/>
                  </a:lnTo>
                  <a:lnTo>
                    <a:pt x="47993" y="354814"/>
                  </a:lnTo>
                  <a:lnTo>
                    <a:pt x="76200" y="260604"/>
                  </a:lnTo>
                  <a:close/>
                </a:path>
                <a:path w="76200" h="387984">
                  <a:moveTo>
                    <a:pt x="47993" y="260604"/>
                  </a:moveTo>
                  <a:lnTo>
                    <a:pt x="47993" y="0"/>
                  </a:lnTo>
                  <a:lnTo>
                    <a:pt x="28943" y="0"/>
                  </a:lnTo>
                  <a:lnTo>
                    <a:pt x="28943" y="260604"/>
                  </a:lnTo>
                  <a:lnTo>
                    <a:pt x="47993" y="260604"/>
                  </a:lnTo>
                  <a:close/>
                </a:path>
                <a:path w="76200" h="387984">
                  <a:moveTo>
                    <a:pt x="47993" y="354814"/>
                  </a:moveTo>
                  <a:lnTo>
                    <a:pt x="47993" y="273558"/>
                  </a:lnTo>
                  <a:lnTo>
                    <a:pt x="28943" y="273558"/>
                  </a:lnTo>
                  <a:lnTo>
                    <a:pt x="28943" y="357274"/>
                  </a:lnTo>
                  <a:lnTo>
                    <a:pt x="38100" y="387858"/>
                  </a:lnTo>
                  <a:lnTo>
                    <a:pt x="47993" y="354814"/>
                  </a:lnTo>
                  <a:close/>
                </a:path>
              </a:pathLst>
            </a:custGeom>
            <a:solidFill>
              <a:srgbClr val="FF0000"/>
            </a:solidFill>
          </p:spPr>
          <p:txBody>
            <a:bodyPr wrap="square" lIns="0" tIns="0" rIns="0" bIns="0" rtlCol="0"/>
            <a:lstStyle/>
            <a:p>
              <a:endParaRPr sz="2052"/>
            </a:p>
          </p:txBody>
        </p:sp>
        <p:sp>
          <p:nvSpPr>
            <p:cNvPr id="146" name="object 146"/>
            <p:cNvSpPr/>
            <p:nvPr/>
          </p:nvSpPr>
          <p:spPr>
            <a:xfrm>
              <a:off x="7027967" y="5535270"/>
              <a:ext cx="65159" cy="331769"/>
            </a:xfrm>
            <a:custGeom>
              <a:avLst/>
              <a:gdLst/>
              <a:ahLst/>
              <a:cxnLst/>
              <a:rect l="l" t="t" r="r" b="b"/>
              <a:pathLst>
                <a:path w="76200" h="387984">
                  <a:moveTo>
                    <a:pt x="76200" y="260604"/>
                  </a:moveTo>
                  <a:lnTo>
                    <a:pt x="0" y="260604"/>
                  </a:lnTo>
                  <a:lnTo>
                    <a:pt x="28181" y="354729"/>
                  </a:lnTo>
                  <a:lnTo>
                    <a:pt x="28181" y="273558"/>
                  </a:lnTo>
                  <a:lnTo>
                    <a:pt x="47231" y="273558"/>
                  </a:lnTo>
                  <a:lnTo>
                    <a:pt x="47231" y="357359"/>
                  </a:lnTo>
                  <a:lnTo>
                    <a:pt x="76200" y="260604"/>
                  </a:lnTo>
                  <a:close/>
                </a:path>
                <a:path w="76200" h="387984">
                  <a:moveTo>
                    <a:pt x="47231" y="260604"/>
                  </a:moveTo>
                  <a:lnTo>
                    <a:pt x="47231" y="0"/>
                  </a:lnTo>
                  <a:lnTo>
                    <a:pt x="28181" y="0"/>
                  </a:lnTo>
                  <a:lnTo>
                    <a:pt x="28181" y="260604"/>
                  </a:lnTo>
                  <a:lnTo>
                    <a:pt x="47231" y="260604"/>
                  </a:lnTo>
                  <a:close/>
                </a:path>
                <a:path w="76200" h="387984">
                  <a:moveTo>
                    <a:pt x="47231" y="357359"/>
                  </a:moveTo>
                  <a:lnTo>
                    <a:pt x="47231" y="273558"/>
                  </a:lnTo>
                  <a:lnTo>
                    <a:pt x="28181" y="273558"/>
                  </a:lnTo>
                  <a:lnTo>
                    <a:pt x="28181" y="354729"/>
                  </a:lnTo>
                  <a:lnTo>
                    <a:pt x="38100" y="387858"/>
                  </a:lnTo>
                  <a:lnTo>
                    <a:pt x="47231" y="357359"/>
                  </a:lnTo>
                  <a:close/>
                </a:path>
              </a:pathLst>
            </a:custGeom>
            <a:solidFill>
              <a:srgbClr val="FF0000"/>
            </a:solidFill>
          </p:spPr>
          <p:txBody>
            <a:bodyPr wrap="square" lIns="0" tIns="0" rIns="0" bIns="0" rtlCol="0"/>
            <a:lstStyle/>
            <a:p>
              <a:endParaRPr sz="2052"/>
            </a:p>
          </p:txBody>
        </p:sp>
        <p:sp>
          <p:nvSpPr>
            <p:cNvPr id="147" name="object 147"/>
            <p:cNvSpPr/>
            <p:nvPr/>
          </p:nvSpPr>
          <p:spPr>
            <a:xfrm>
              <a:off x="6352907" y="5535270"/>
              <a:ext cx="65159" cy="331769"/>
            </a:xfrm>
            <a:custGeom>
              <a:avLst/>
              <a:gdLst/>
              <a:ahLst/>
              <a:cxnLst/>
              <a:rect l="l" t="t" r="r" b="b"/>
              <a:pathLst>
                <a:path w="76200" h="387984">
                  <a:moveTo>
                    <a:pt x="76200" y="260604"/>
                  </a:moveTo>
                  <a:lnTo>
                    <a:pt x="0" y="260604"/>
                  </a:lnTo>
                  <a:lnTo>
                    <a:pt x="28968" y="357359"/>
                  </a:lnTo>
                  <a:lnTo>
                    <a:pt x="28968" y="273558"/>
                  </a:lnTo>
                  <a:lnTo>
                    <a:pt x="48018" y="273558"/>
                  </a:lnTo>
                  <a:lnTo>
                    <a:pt x="48018" y="354729"/>
                  </a:lnTo>
                  <a:lnTo>
                    <a:pt x="76200" y="260604"/>
                  </a:lnTo>
                  <a:close/>
                </a:path>
                <a:path w="76200" h="387984">
                  <a:moveTo>
                    <a:pt x="48018" y="260604"/>
                  </a:moveTo>
                  <a:lnTo>
                    <a:pt x="48018" y="0"/>
                  </a:lnTo>
                  <a:lnTo>
                    <a:pt x="28968" y="0"/>
                  </a:lnTo>
                  <a:lnTo>
                    <a:pt x="28968" y="260604"/>
                  </a:lnTo>
                  <a:lnTo>
                    <a:pt x="48018" y="260604"/>
                  </a:lnTo>
                  <a:close/>
                </a:path>
                <a:path w="76200" h="387984">
                  <a:moveTo>
                    <a:pt x="48018" y="354729"/>
                  </a:moveTo>
                  <a:lnTo>
                    <a:pt x="48018" y="273558"/>
                  </a:lnTo>
                  <a:lnTo>
                    <a:pt x="28968" y="273558"/>
                  </a:lnTo>
                  <a:lnTo>
                    <a:pt x="28968" y="357359"/>
                  </a:lnTo>
                  <a:lnTo>
                    <a:pt x="38100" y="387858"/>
                  </a:lnTo>
                  <a:lnTo>
                    <a:pt x="48018" y="354729"/>
                  </a:lnTo>
                  <a:close/>
                </a:path>
              </a:pathLst>
            </a:custGeom>
            <a:solidFill>
              <a:srgbClr val="FF0000"/>
            </a:solidFill>
          </p:spPr>
          <p:txBody>
            <a:bodyPr wrap="square" lIns="0" tIns="0" rIns="0" bIns="0" rtlCol="0"/>
            <a:lstStyle/>
            <a:p>
              <a:endParaRPr sz="2052"/>
            </a:p>
          </p:txBody>
        </p:sp>
        <p:sp>
          <p:nvSpPr>
            <p:cNvPr id="148" name="object 148"/>
            <p:cNvSpPr/>
            <p:nvPr/>
          </p:nvSpPr>
          <p:spPr>
            <a:xfrm>
              <a:off x="6802516" y="5535270"/>
              <a:ext cx="65159" cy="331769"/>
            </a:xfrm>
            <a:custGeom>
              <a:avLst/>
              <a:gdLst/>
              <a:ahLst/>
              <a:cxnLst/>
              <a:rect l="l" t="t" r="r" b="b"/>
              <a:pathLst>
                <a:path w="76200" h="387984">
                  <a:moveTo>
                    <a:pt x="76200" y="260604"/>
                  </a:moveTo>
                  <a:lnTo>
                    <a:pt x="0" y="260604"/>
                  </a:lnTo>
                  <a:lnTo>
                    <a:pt x="28956" y="357317"/>
                  </a:lnTo>
                  <a:lnTo>
                    <a:pt x="28956" y="273558"/>
                  </a:lnTo>
                  <a:lnTo>
                    <a:pt x="48006" y="273558"/>
                  </a:lnTo>
                  <a:lnTo>
                    <a:pt x="48006" y="354771"/>
                  </a:lnTo>
                  <a:lnTo>
                    <a:pt x="76200" y="260604"/>
                  </a:lnTo>
                  <a:close/>
                </a:path>
                <a:path w="76200" h="387984">
                  <a:moveTo>
                    <a:pt x="48006" y="260604"/>
                  </a:moveTo>
                  <a:lnTo>
                    <a:pt x="48006" y="0"/>
                  </a:lnTo>
                  <a:lnTo>
                    <a:pt x="28956" y="0"/>
                  </a:lnTo>
                  <a:lnTo>
                    <a:pt x="28956" y="260604"/>
                  </a:lnTo>
                  <a:lnTo>
                    <a:pt x="48006" y="260604"/>
                  </a:lnTo>
                  <a:close/>
                </a:path>
                <a:path w="76200" h="387984">
                  <a:moveTo>
                    <a:pt x="48006" y="354771"/>
                  </a:moveTo>
                  <a:lnTo>
                    <a:pt x="48006" y="273558"/>
                  </a:lnTo>
                  <a:lnTo>
                    <a:pt x="28956" y="273558"/>
                  </a:lnTo>
                  <a:lnTo>
                    <a:pt x="28956" y="357317"/>
                  </a:lnTo>
                  <a:lnTo>
                    <a:pt x="38100" y="387858"/>
                  </a:lnTo>
                  <a:lnTo>
                    <a:pt x="48006" y="354771"/>
                  </a:lnTo>
                  <a:close/>
                </a:path>
              </a:pathLst>
            </a:custGeom>
            <a:solidFill>
              <a:srgbClr val="FF0000"/>
            </a:solidFill>
          </p:spPr>
          <p:txBody>
            <a:bodyPr wrap="square" lIns="0" tIns="0" rIns="0" bIns="0" rtlCol="0"/>
            <a:lstStyle/>
            <a:p>
              <a:endParaRPr sz="2052"/>
            </a:p>
          </p:txBody>
        </p:sp>
        <p:sp>
          <p:nvSpPr>
            <p:cNvPr id="149" name="object 149"/>
            <p:cNvSpPr/>
            <p:nvPr/>
          </p:nvSpPr>
          <p:spPr>
            <a:xfrm>
              <a:off x="6582267" y="2090304"/>
              <a:ext cx="65159" cy="331226"/>
            </a:xfrm>
            <a:custGeom>
              <a:avLst/>
              <a:gdLst/>
              <a:ahLst/>
              <a:cxnLst/>
              <a:rect l="l" t="t" r="r" b="b"/>
              <a:pathLst>
                <a:path w="76200" h="387350">
                  <a:moveTo>
                    <a:pt x="76200" y="126492"/>
                  </a:moveTo>
                  <a:lnTo>
                    <a:pt x="38100" y="0"/>
                  </a:lnTo>
                  <a:lnTo>
                    <a:pt x="0" y="126492"/>
                  </a:lnTo>
                  <a:lnTo>
                    <a:pt x="28206" y="126492"/>
                  </a:lnTo>
                  <a:lnTo>
                    <a:pt x="28206" y="114300"/>
                  </a:lnTo>
                  <a:lnTo>
                    <a:pt x="47256" y="114300"/>
                  </a:lnTo>
                  <a:lnTo>
                    <a:pt x="47256" y="126492"/>
                  </a:lnTo>
                  <a:lnTo>
                    <a:pt x="76200" y="126492"/>
                  </a:lnTo>
                  <a:close/>
                </a:path>
                <a:path w="76200" h="387350">
                  <a:moveTo>
                    <a:pt x="47256" y="126492"/>
                  </a:moveTo>
                  <a:lnTo>
                    <a:pt x="47256" y="114300"/>
                  </a:lnTo>
                  <a:lnTo>
                    <a:pt x="28206" y="114300"/>
                  </a:lnTo>
                  <a:lnTo>
                    <a:pt x="28206" y="126492"/>
                  </a:lnTo>
                  <a:lnTo>
                    <a:pt x="47256" y="126492"/>
                  </a:lnTo>
                  <a:close/>
                </a:path>
                <a:path w="76200" h="387350">
                  <a:moveTo>
                    <a:pt x="47256" y="387096"/>
                  </a:moveTo>
                  <a:lnTo>
                    <a:pt x="47256" y="126492"/>
                  </a:lnTo>
                  <a:lnTo>
                    <a:pt x="28206" y="126492"/>
                  </a:lnTo>
                  <a:lnTo>
                    <a:pt x="28206" y="387096"/>
                  </a:lnTo>
                  <a:lnTo>
                    <a:pt x="47256" y="387096"/>
                  </a:lnTo>
                  <a:close/>
                </a:path>
              </a:pathLst>
            </a:custGeom>
            <a:solidFill>
              <a:srgbClr val="FF0000"/>
            </a:solidFill>
          </p:spPr>
          <p:txBody>
            <a:bodyPr wrap="square" lIns="0" tIns="0" rIns="0" bIns="0" rtlCol="0"/>
            <a:lstStyle/>
            <a:p>
              <a:endParaRPr sz="2052"/>
            </a:p>
          </p:txBody>
        </p:sp>
        <p:sp>
          <p:nvSpPr>
            <p:cNvPr id="150" name="object 150"/>
            <p:cNvSpPr/>
            <p:nvPr/>
          </p:nvSpPr>
          <p:spPr>
            <a:xfrm>
              <a:off x="6131377" y="2090304"/>
              <a:ext cx="65159" cy="331226"/>
            </a:xfrm>
            <a:custGeom>
              <a:avLst/>
              <a:gdLst/>
              <a:ahLst/>
              <a:cxnLst/>
              <a:rect l="l" t="t" r="r" b="b"/>
              <a:pathLst>
                <a:path w="76200" h="387350">
                  <a:moveTo>
                    <a:pt x="76200" y="126492"/>
                  </a:moveTo>
                  <a:lnTo>
                    <a:pt x="38100" y="0"/>
                  </a:lnTo>
                  <a:lnTo>
                    <a:pt x="0" y="126492"/>
                  </a:lnTo>
                  <a:lnTo>
                    <a:pt x="28943" y="126492"/>
                  </a:lnTo>
                  <a:lnTo>
                    <a:pt x="28943" y="114300"/>
                  </a:lnTo>
                  <a:lnTo>
                    <a:pt x="47993" y="114300"/>
                  </a:lnTo>
                  <a:lnTo>
                    <a:pt x="47993" y="126492"/>
                  </a:lnTo>
                  <a:lnTo>
                    <a:pt x="76200" y="126492"/>
                  </a:lnTo>
                  <a:close/>
                </a:path>
                <a:path w="76200" h="387350">
                  <a:moveTo>
                    <a:pt x="47993" y="126492"/>
                  </a:moveTo>
                  <a:lnTo>
                    <a:pt x="47993" y="114300"/>
                  </a:lnTo>
                  <a:lnTo>
                    <a:pt x="28943" y="114300"/>
                  </a:lnTo>
                  <a:lnTo>
                    <a:pt x="28943" y="126492"/>
                  </a:lnTo>
                  <a:lnTo>
                    <a:pt x="47993" y="126492"/>
                  </a:lnTo>
                  <a:close/>
                </a:path>
                <a:path w="76200" h="387350">
                  <a:moveTo>
                    <a:pt x="47993" y="387096"/>
                  </a:moveTo>
                  <a:lnTo>
                    <a:pt x="47993" y="126492"/>
                  </a:lnTo>
                  <a:lnTo>
                    <a:pt x="28943" y="126492"/>
                  </a:lnTo>
                  <a:lnTo>
                    <a:pt x="28943" y="387096"/>
                  </a:lnTo>
                  <a:lnTo>
                    <a:pt x="47993" y="387096"/>
                  </a:lnTo>
                  <a:close/>
                </a:path>
              </a:pathLst>
            </a:custGeom>
            <a:solidFill>
              <a:srgbClr val="FF0000"/>
            </a:solidFill>
          </p:spPr>
          <p:txBody>
            <a:bodyPr wrap="square" lIns="0" tIns="0" rIns="0" bIns="0" rtlCol="0"/>
            <a:lstStyle/>
            <a:p>
              <a:endParaRPr sz="2052"/>
            </a:p>
          </p:txBody>
        </p:sp>
        <p:sp>
          <p:nvSpPr>
            <p:cNvPr id="151" name="object 151"/>
            <p:cNvSpPr/>
            <p:nvPr/>
          </p:nvSpPr>
          <p:spPr>
            <a:xfrm>
              <a:off x="7031866" y="2090304"/>
              <a:ext cx="65159" cy="331226"/>
            </a:xfrm>
            <a:custGeom>
              <a:avLst/>
              <a:gdLst/>
              <a:ahLst/>
              <a:cxnLst/>
              <a:rect l="l" t="t" r="r" b="b"/>
              <a:pathLst>
                <a:path w="76200" h="387350">
                  <a:moveTo>
                    <a:pt x="76200" y="126492"/>
                  </a:moveTo>
                  <a:lnTo>
                    <a:pt x="38100" y="0"/>
                  </a:lnTo>
                  <a:lnTo>
                    <a:pt x="0" y="126492"/>
                  </a:lnTo>
                  <a:lnTo>
                    <a:pt x="28968" y="126492"/>
                  </a:lnTo>
                  <a:lnTo>
                    <a:pt x="28968" y="114300"/>
                  </a:lnTo>
                  <a:lnTo>
                    <a:pt x="48018" y="114300"/>
                  </a:lnTo>
                  <a:lnTo>
                    <a:pt x="48018" y="126492"/>
                  </a:lnTo>
                  <a:lnTo>
                    <a:pt x="76200" y="126492"/>
                  </a:lnTo>
                  <a:close/>
                </a:path>
                <a:path w="76200" h="387350">
                  <a:moveTo>
                    <a:pt x="48018" y="126492"/>
                  </a:moveTo>
                  <a:lnTo>
                    <a:pt x="48018" y="114300"/>
                  </a:lnTo>
                  <a:lnTo>
                    <a:pt x="28968" y="114300"/>
                  </a:lnTo>
                  <a:lnTo>
                    <a:pt x="28968" y="126492"/>
                  </a:lnTo>
                  <a:lnTo>
                    <a:pt x="48018" y="126492"/>
                  </a:lnTo>
                  <a:close/>
                </a:path>
                <a:path w="76200" h="387350">
                  <a:moveTo>
                    <a:pt x="48018" y="387096"/>
                  </a:moveTo>
                  <a:lnTo>
                    <a:pt x="48018" y="126492"/>
                  </a:lnTo>
                  <a:lnTo>
                    <a:pt x="28968" y="126492"/>
                  </a:lnTo>
                  <a:lnTo>
                    <a:pt x="28968" y="387096"/>
                  </a:lnTo>
                  <a:lnTo>
                    <a:pt x="48018" y="387096"/>
                  </a:lnTo>
                  <a:close/>
                </a:path>
              </a:pathLst>
            </a:custGeom>
            <a:solidFill>
              <a:srgbClr val="FF0000"/>
            </a:solidFill>
          </p:spPr>
          <p:txBody>
            <a:bodyPr wrap="square" lIns="0" tIns="0" rIns="0" bIns="0" rtlCol="0"/>
            <a:lstStyle/>
            <a:p>
              <a:endParaRPr sz="2052"/>
            </a:p>
          </p:txBody>
        </p:sp>
        <p:sp>
          <p:nvSpPr>
            <p:cNvPr id="152" name="object 152"/>
            <p:cNvSpPr/>
            <p:nvPr/>
          </p:nvSpPr>
          <p:spPr>
            <a:xfrm>
              <a:off x="6357480" y="2090304"/>
              <a:ext cx="65159" cy="331226"/>
            </a:xfrm>
            <a:custGeom>
              <a:avLst/>
              <a:gdLst/>
              <a:ahLst/>
              <a:cxnLst/>
              <a:rect l="l" t="t" r="r" b="b"/>
              <a:pathLst>
                <a:path w="76200" h="387350">
                  <a:moveTo>
                    <a:pt x="76200" y="126492"/>
                  </a:moveTo>
                  <a:lnTo>
                    <a:pt x="38100" y="0"/>
                  </a:lnTo>
                  <a:lnTo>
                    <a:pt x="0" y="126492"/>
                  </a:lnTo>
                  <a:lnTo>
                    <a:pt x="28181" y="126492"/>
                  </a:lnTo>
                  <a:lnTo>
                    <a:pt x="28181" y="114300"/>
                  </a:lnTo>
                  <a:lnTo>
                    <a:pt x="47231" y="114300"/>
                  </a:lnTo>
                  <a:lnTo>
                    <a:pt x="47231" y="126492"/>
                  </a:lnTo>
                  <a:lnTo>
                    <a:pt x="76200" y="126492"/>
                  </a:lnTo>
                  <a:close/>
                </a:path>
                <a:path w="76200" h="387350">
                  <a:moveTo>
                    <a:pt x="47231" y="126492"/>
                  </a:moveTo>
                  <a:lnTo>
                    <a:pt x="47231" y="114300"/>
                  </a:lnTo>
                  <a:lnTo>
                    <a:pt x="28181" y="114300"/>
                  </a:lnTo>
                  <a:lnTo>
                    <a:pt x="28181" y="126492"/>
                  </a:lnTo>
                  <a:lnTo>
                    <a:pt x="47231" y="126492"/>
                  </a:lnTo>
                  <a:close/>
                </a:path>
                <a:path w="76200" h="387350">
                  <a:moveTo>
                    <a:pt x="47231" y="387096"/>
                  </a:moveTo>
                  <a:lnTo>
                    <a:pt x="47231" y="126492"/>
                  </a:lnTo>
                  <a:lnTo>
                    <a:pt x="28181" y="126492"/>
                  </a:lnTo>
                  <a:lnTo>
                    <a:pt x="28181" y="387096"/>
                  </a:lnTo>
                  <a:lnTo>
                    <a:pt x="47231" y="387096"/>
                  </a:lnTo>
                  <a:close/>
                </a:path>
              </a:pathLst>
            </a:custGeom>
            <a:solidFill>
              <a:srgbClr val="FF0000"/>
            </a:solidFill>
          </p:spPr>
          <p:txBody>
            <a:bodyPr wrap="square" lIns="0" tIns="0" rIns="0" bIns="0" rtlCol="0"/>
            <a:lstStyle/>
            <a:p>
              <a:endParaRPr sz="2052"/>
            </a:p>
          </p:txBody>
        </p:sp>
        <p:sp>
          <p:nvSpPr>
            <p:cNvPr id="153" name="object 153"/>
            <p:cNvSpPr/>
            <p:nvPr/>
          </p:nvSpPr>
          <p:spPr>
            <a:xfrm>
              <a:off x="6807066" y="2090304"/>
              <a:ext cx="65159" cy="331226"/>
            </a:xfrm>
            <a:custGeom>
              <a:avLst/>
              <a:gdLst/>
              <a:ahLst/>
              <a:cxnLst/>
              <a:rect l="l" t="t" r="r" b="b"/>
              <a:pathLst>
                <a:path w="76200" h="387350">
                  <a:moveTo>
                    <a:pt x="76200" y="126492"/>
                  </a:moveTo>
                  <a:lnTo>
                    <a:pt x="38100" y="0"/>
                  </a:lnTo>
                  <a:lnTo>
                    <a:pt x="0" y="126492"/>
                  </a:lnTo>
                  <a:lnTo>
                    <a:pt x="28206" y="126492"/>
                  </a:lnTo>
                  <a:lnTo>
                    <a:pt x="28206" y="114300"/>
                  </a:lnTo>
                  <a:lnTo>
                    <a:pt x="47256" y="114300"/>
                  </a:lnTo>
                  <a:lnTo>
                    <a:pt x="47256" y="126492"/>
                  </a:lnTo>
                  <a:lnTo>
                    <a:pt x="76200" y="126492"/>
                  </a:lnTo>
                  <a:close/>
                </a:path>
                <a:path w="76200" h="387350">
                  <a:moveTo>
                    <a:pt x="47256" y="126492"/>
                  </a:moveTo>
                  <a:lnTo>
                    <a:pt x="47256" y="114300"/>
                  </a:lnTo>
                  <a:lnTo>
                    <a:pt x="28206" y="114300"/>
                  </a:lnTo>
                  <a:lnTo>
                    <a:pt x="28206" y="126492"/>
                  </a:lnTo>
                  <a:lnTo>
                    <a:pt x="47256" y="126492"/>
                  </a:lnTo>
                  <a:close/>
                </a:path>
                <a:path w="76200" h="387350">
                  <a:moveTo>
                    <a:pt x="47256" y="387096"/>
                  </a:moveTo>
                  <a:lnTo>
                    <a:pt x="47256" y="126492"/>
                  </a:lnTo>
                  <a:lnTo>
                    <a:pt x="28206" y="126492"/>
                  </a:lnTo>
                  <a:lnTo>
                    <a:pt x="28206" y="387096"/>
                  </a:lnTo>
                  <a:lnTo>
                    <a:pt x="47256" y="387096"/>
                  </a:lnTo>
                  <a:close/>
                </a:path>
              </a:pathLst>
            </a:custGeom>
            <a:solidFill>
              <a:srgbClr val="FF0000"/>
            </a:solidFill>
          </p:spPr>
          <p:txBody>
            <a:bodyPr wrap="square" lIns="0" tIns="0" rIns="0" bIns="0" rtlCol="0"/>
            <a:lstStyle/>
            <a:p>
              <a:endParaRPr sz="2052"/>
            </a:p>
          </p:txBody>
        </p:sp>
        <p:sp>
          <p:nvSpPr>
            <p:cNvPr id="154" name="object 154"/>
            <p:cNvSpPr/>
            <p:nvPr/>
          </p:nvSpPr>
          <p:spPr>
            <a:xfrm>
              <a:off x="6517109" y="3971450"/>
              <a:ext cx="210138" cy="0"/>
            </a:xfrm>
            <a:custGeom>
              <a:avLst/>
              <a:gdLst/>
              <a:ahLst/>
              <a:cxnLst/>
              <a:rect l="l" t="t" r="r" b="b"/>
              <a:pathLst>
                <a:path w="245745">
                  <a:moveTo>
                    <a:pt x="0" y="0"/>
                  </a:moveTo>
                  <a:lnTo>
                    <a:pt x="245364" y="0"/>
                  </a:lnTo>
                </a:path>
              </a:pathLst>
            </a:custGeom>
            <a:ln w="50291">
              <a:solidFill>
                <a:srgbClr val="0F1A81"/>
              </a:solidFill>
            </a:ln>
          </p:spPr>
          <p:txBody>
            <a:bodyPr wrap="square" lIns="0" tIns="0" rIns="0" bIns="0" rtlCol="0"/>
            <a:lstStyle/>
            <a:p>
              <a:endParaRPr sz="2052"/>
            </a:p>
          </p:txBody>
        </p:sp>
      </p:grpSp>
      <p:grpSp>
        <p:nvGrpSpPr>
          <p:cNvPr id="226" name="组合 225"/>
          <p:cNvGrpSpPr/>
          <p:nvPr/>
        </p:nvGrpSpPr>
        <p:grpSpPr>
          <a:xfrm>
            <a:off x="7319880" y="1819848"/>
            <a:ext cx="968906" cy="4352462"/>
            <a:chOff x="7319880" y="1819848"/>
            <a:chExt cx="968906" cy="4352462"/>
          </a:xfrm>
        </p:grpSpPr>
        <p:sp>
          <p:nvSpPr>
            <p:cNvPr id="155" name="object 155"/>
            <p:cNvSpPr/>
            <p:nvPr/>
          </p:nvSpPr>
          <p:spPr>
            <a:xfrm>
              <a:off x="7343327" y="2431088"/>
              <a:ext cx="923631" cy="3132526"/>
            </a:xfrm>
            <a:custGeom>
              <a:avLst/>
              <a:gdLst/>
              <a:ahLst/>
              <a:cxnLst/>
              <a:rect l="l" t="t" r="r" b="b"/>
              <a:pathLst>
                <a:path w="1080134" h="3663315">
                  <a:moveTo>
                    <a:pt x="0" y="0"/>
                  </a:moveTo>
                  <a:lnTo>
                    <a:pt x="0" y="3662934"/>
                  </a:lnTo>
                  <a:lnTo>
                    <a:pt x="1079753" y="3662934"/>
                  </a:lnTo>
                  <a:lnTo>
                    <a:pt x="1079753" y="0"/>
                  </a:lnTo>
                  <a:lnTo>
                    <a:pt x="0" y="0"/>
                  </a:lnTo>
                  <a:close/>
                </a:path>
              </a:pathLst>
            </a:custGeom>
            <a:solidFill>
              <a:srgbClr val="A4C226"/>
            </a:solidFill>
          </p:spPr>
          <p:txBody>
            <a:bodyPr wrap="square" lIns="0" tIns="0" rIns="0" bIns="0" rtlCol="0"/>
            <a:lstStyle/>
            <a:p>
              <a:endParaRPr sz="2052"/>
            </a:p>
          </p:txBody>
        </p:sp>
        <p:sp>
          <p:nvSpPr>
            <p:cNvPr id="156" name="object 156"/>
            <p:cNvSpPr/>
            <p:nvPr/>
          </p:nvSpPr>
          <p:spPr>
            <a:xfrm>
              <a:off x="7800103" y="2431088"/>
              <a:ext cx="11403" cy="43982"/>
            </a:xfrm>
            <a:custGeom>
              <a:avLst/>
              <a:gdLst/>
              <a:ahLst/>
              <a:cxnLst/>
              <a:rect l="l" t="t" r="r" b="b"/>
              <a:pathLst>
                <a:path w="13334" h="51435">
                  <a:moveTo>
                    <a:pt x="12953" y="51054"/>
                  </a:moveTo>
                  <a:lnTo>
                    <a:pt x="12953" y="0"/>
                  </a:lnTo>
                  <a:lnTo>
                    <a:pt x="0" y="0"/>
                  </a:lnTo>
                  <a:lnTo>
                    <a:pt x="0" y="51054"/>
                  </a:lnTo>
                  <a:lnTo>
                    <a:pt x="12953" y="51054"/>
                  </a:lnTo>
                  <a:close/>
                </a:path>
              </a:pathLst>
            </a:custGeom>
            <a:solidFill>
              <a:srgbClr val="0F1A81"/>
            </a:solidFill>
          </p:spPr>
          <p:txBody>
            <a:bodyPr wrap="square" lIns="0" tIns="0" rIns="0" bIns="0" rtlCol="0"/>
            <a:lstStyle/>
            <a:p>
              <a:endParaRPr sz="2052"/>
            </a:p>
          </p:txBody>
        </p:sp>
        <p:sp>
          <p:nvSpPr>
            <p:cNvPr id="157" name="object 157"/>
            <p:cNvSpPr/>
            <p:nvPr/>
          </p:nvSpPr>
          <p:spPr>
            <a:xfrm>
              <a:off x="7800103" y="2507324"/>
              <a:ext cx="11403" cy="11403"/>
            </a:xfrm>
            <a:custGeom>
              <a:avLst/>
              <a:gdLst/>
              <a:ahLst/>
              <a:cxnLst/>
              <a:rect l="l" t="t" r="r" b="b"/>
              <a:pathLst>
                <a:path w="13334" h="13335">
                  <a:moveTo>
                    <a:pt x="12953" y="12954"/>
                  </a:moveTo>
                  <a:lnTo>
                    <a:pt x="12953" y="0"/>
                  </a:lnTo>
                  <a:lnTo>
                    <a:pt x="0" y="0"/>
                  </a:lnTo>
                  <a:lnTo>
                    <a:pt x="0" y="12954"/>
                  </a:lnTo>
                  <a:lnTo>
                    <a:pt x="12953" y="12954"/>
                  </a:lnTo>
                  <a:close/>
                </a:path>
              </a:pathLst>
            </a:custGeom>
            <a:solidFill>
              <a:srgbClr val="0F1A81"/>
            </a:solidFill>
          </p:spPr>
          <p:txBody>
            <a:bodyPr wrap="square" lIns="0" tIns="0" rIns="0" bIns="0" rtlCol="0"/>
            <a:lstStyle/>
            <a:p>
              <a:endParaRPr sz="2052"/>
            </a:p>
          </p:txBody>
        </p:sp>
        <p:sp>
          <p:nvSpPr>
            <p:cNvPr id="158" name="object 158"/>
            <p:cNvSpPr/>
            <p:nvPr/>
          </p:nvSpPr>
          <p:spPr>
            <a:xfrm>
              <a:off x="7800103" y="2550980"/>
              <a:ext cx="11403" cy="43439"/>
            </a:xfrm>
            <a:custGeom>
              <a:avLst/>
              <a:gdLst/>
              <a:ahLst/>
              <a:cxnLst/>
              <a:rect l="l" t="t" r="r" b="b"/>
              <a:pathLst>
                <a:path w="13334" h="50800">
                  <a:moveTo>
                    <a:pt x="12953" y="50291"/>
                  </a:moveTo>
                  <a:lnTo>
                    <a:pt x="12953" y="0"/>
                  </a:lnTo>
                  <a:lnTo>
                    <a:pt x="0" y="0"/>
                  </a:lnTo>
                  <a:lnTo>
                    <a:pt x="0" y="50291"/>
                  </a:lnTo>
                  <a:lnTo>
                    <a:pt x="12953" y="50291"/>
                  </a:lnTo>
                  <a:close/>
                </a:path>
              </a:pathLst>
            </a:custGeom>
            <a:solidFill>
              <a:srgbClr val="0F1A81"/>
            </a:solidFill>
          </p:spPr>
          <p:txBody>
            <a:bodyPr wrap="square" lIns="0" tIns="0" rIns="0" bIns="0" rtlCol="0"/>
            <a:lstStyle/>
            <a:p>
              <a:endParaRPr sz="2052"/>
            </a:p>
          </p:txBody>
        </p:sp>
        <p:sp>
          <p:nvSpPr>
            <p:cNvPr id="159" name="object 159"/>
            <p:cNvSpPr/>
            <p:nvPr/>
          </p:nvSpPr>
          <p:spPr>
            <a:xfrm>
              <a:off x="7800103" y="2626565"/>
              <a:ext cx="11403" cy="11403"/>
            </a:xfrm>
            <a:custGeom>
              <a:avLst/>
              <a:gdLst/>
              <a:ahLst/>
              <a:cxnLst/>
              <a:rect l="l" t="t" r="r" b="b"/>
              <a:pathLst>
                <a:path w="13334" h="13335">
                  <a:moveTo>
                    <a:pt x="12953" y="12954"/>
                  </a:moveTo>
                  <a:lnTo>
                    <a:pt x="12953" y="0"/>
                  </a:lnTo>
                  <a:lnTo>
                    <a:pt x="0" y="0"/>
                  </a:lnTo>
                  <a:lnTo>
                    <a:pt x="0" y="12954"/>
                  </a:lnTo>
                  <a:lnTo>
                    <a:pt x="12953" y="12954"/>
                  </a:lnTo>
                  <a:close/>
                </a:path>
              </a:pathLst>
            </a:custGeom>
            <a:solidFill>
              <a:srgbClr val="0F1A81"/>
            </a:solidFill>
          </p:spPr>
          <p:txBody>
            <a:bodyPr wrap="square" lIns="0" tIns="0" rIns="0" bIns="0" rtlCol="0"/>
            <a:lstStyle/>
            <a:p>
              <a:endParaRPr sz="2052"/>
            </a:p>
          </p:txBody>
        </p:sp>
        <p:sp>
          <p:nvSpPr>
            <p:cNvPr id="160" name="object 160"/>
            <p:cNvSpPr/>
            <p:nvPr/>
          </p:nvSpPr>
          <p:spPr>
            <a:xfrm>
              <a:off x="7800103" y="2670222"/>
              <a:ext cx="11403" cy="43982"/>
            </a:xfrm>
            <a:custGeom>
              <a:avLst/>
              <a:gdLst/>
              <a:ahLst/>
              <a:cxnLst/>
              <a:rect l="l" t="t" r="r" b="b"/>
              <a:pathLst>
                <a:path w="13334" h="51435">
                  <a:moveTo>
                    <a:pt x="12953" y="51054"/>
                  </a:moveTo>
                  <a:lnTo>
                    <a:pt x="12953" y="0"/>
                  </a:lnTo>
                  <a:lnTo>
                    <a:pt x="0" y="0"/>
                  </a:lnTo>
                  <a:lnTo>
                    <a:pt x="0" y="51054"/>
                  </a:lnTo>
                  <a:lnTo>
                    <a:pt x="12953" y="51054"/>
                  </a:lnTo>
                  <a:close/>
                </a:path>
              </a:pathLst>
            </a:custGeom>
            <a:solidFill>
              <a:srgbClr val="0F1A81"/>
            </a:solidFill>
          </p:spPr>
          <p:txBody>
            <a:bodyPr wrap="square" lIns="0" tIns="0" rIns="0" bIns="0" rtlCol="0"/>
            <a:lstStyle/>
            <a:p>
              <a:endParaRPr sz="2052"/>
            </a:p>
          </p:txBody>
        </p:sp>
        <p:sp>
          <p:nvSpPr>
            <p:cNvPr id="161" name="object 161"/>
            <p:cNvSpPr/>
            <p:nvPr/>
          </p:nvSpPr>
          <p:spPr>
            <a:xfrm>
              <a:off x="7800103" y="2746457"/>
              <a:ext cx="11403" cy="10860"/>
            </a:xfrm>
            <a:custGeom>
              <a:avLst/>
              <a:gdLst/>
              <a:ahLst/>
              <a:cxnLst/>
              <a:rect l="l" t="t" r="r" b="b"/>
              <a:pathLst>
                <a:path w="13334" h="12700">
                  <a:moveTo>
                    <a:pt x="12953" y="12191"/>
                  </a:moveTo>
                  <a:lnTo>
                    <a:pt x="12953" y="0"/>
                  </a:lnTo>
                  <a:lnTo>
                    <a:pt x="0" y="0"/>
                  </a:lnTo>
                  <a:lnTo>
                    <a:pt x="0" y="12191"/>
                  </a:lnTo>
                  <a:lnTo>
                    <a:pt x="12953" y="12191"/>
                  </a:lnTo>
                  <a:close/>
                </a:path>
              </a:pathLst>
            </a:custGeom>
            <a:solidFill>
              <a:srgbClr val="0F1A81"/>
            </a:solidFill>
          </p:spPr>
          <p:txBody>
            <a:bodyPr wrap="square" lIns="0" tIns="0" rIns="0" bIns="0" rtlCol="0"/>
            <a:lstStyle/>
            <a:p>
              <a:endParaRPr sz="2052"/>
            </a:p>
          </p:txBody>
        </p:sp>
        <p:sp>
          <p:nvSpPr>
            <p:cNvPr id="162" name="object 162"/>
            <p:cNvSpPr/>
            <p:nvPr/>
          </p:nvSpPr>
          <p:spPr>
            <a:xfrm>
              <a:off x="7800103" y="2789464"/>
              <a:ext cx="11403" cy="43982"/>
            </a:xfrm>
            <a:custGeom>
              <a:avLst/>
              <a:gdLst/>
              <a:ahLst/>
              <a:cxnLst/>
              <a:rect l="l" t="t" r="r" b="b"/>
              <a:pathLst>
                <a:path w="13334" h="51435">
                  <a:moveTo>
                    <a:pt x="12953" y="51054"/>
                  </a:moveTo>
                  <a:lnTo>
                    <a:pt x="12953" y="0"/>
                  </a:lnTo>
                  <a:lnTo>
                    <a:pt x="0" y="0"/>
                  </a:lnTo>
                  <a:lnTo>
                    <a:pt x="0" y="51054"/>
                  </a:lnTo>
                  <a:lnTo>
                    <a:pt x="12953" y="51054"/>
                  </a:lnTo>
                  <a:close/>
                </a:path>
              </a:pathLst>
            </a:custGeom>
            <a:solidFill>
              <a:srgbClr val="0F1A81"/>
            </a:solidFill>
          </p:spPr>
          <p:txBody>
            <a:bodyPr wrap="square" lIns="0" tIns="0" rIns="0" bIns="0" rtlCol="0"/>
            <a:lstStyle/>
            <a:p>
              <a:endParaRPr sz="2052"/>
            </a:p>
          </p:txBody>
        </p:sp>
        <p:sp>
          <p:nvSpPr>
            <p:cNvPr id="163" name="object 163"/>
            <p:cNvSpPr/>
            <p:nvPr/>
          </p:nvSpPr>
          <p:spPr>
            <a:xfrm>
              <a:off x="7800103" y="2865700"/>
              <a:ext cx="11403" cy="11403"/>
            </a:xfrm>
            <a:custGeom>
              <a:avLst/>
              <a:gdLst/>
              <a:ahLst/>
              <a:cxnLst/>
              <a:rect l="l" t="t" r="r" b="b"/>
              <a:pathLst>
                <a:path w="13334" h="13335">
                  <a:moveTo>
                    <a:pt x="12953" y="12954"/>
                  </a:moveTo>
                  <a:lnTo>
                    <a:pt x="12953" y="0"/>
                  </a:lnTo>
                  <a:lnTo>
                    <a:pt x="0" y="0"/>
                  </a:lnTo>
                  <a:lnTo>
                    <a:pt x="0" y="12954"/>
                  </a:lnTo>
                  <a:lnTo>
                    <a:pt x="12953" y="12954"/>
                  </a:lnTo>
                  <a:close/>
                </a:path>
              </a:pathLst>
            </a:custGeom>
            <a:solidFill>
              <a:srgbClr val="0F1A81"/>
            </a:solidFill>
          </p:spPr>
          <p:txBody>
            <a:bodyPr wrap="square" lIns="0" tIns="0" rIns="0" bIns="0" rtlCol="0"/>
            <a:lstStyle/>
            <a:p>
              <a:endParaRPr sz="2052"/>
            </a:p>
          </p:txBody>
        </p:sp>
        <p:sp>
          <p:nvSpPr>
            <p:cNvPr id="164" name="object 164"/>
            <p:cNvSpPr/>
            <p:nvPr/>
          </p:nvSpPr>
          <p:spPr>
            <a:xfrm>
              <a:off x="7800103" y="2909355"/>
              <a:ext cx="11403" cy="43439"/>
            </a:xfrm>
            <a:custGeom>
              <a:avLst/>
              <a:gdLst/>
              <a:ahLst/>
              <a:cxnLst/>
              <a:rect l="l" t="t" r="r" b="b"/>
              <a:pathLst>
                <a:path w="13334" h="50800">
                  <a:moveTo>
                    <a:pt x="12953" y="50291"/>
                  </a:moveTo>
                  <a:lnTo>
                    <a:pt x="12953" y="0"/>
                  </a:lnTo>
                  <a:lnTo>
                    <a:pt x="0" y="0"/>
                  </a:lnTo>
                  <a:lnTo>
                    <a:pt x="0" y="50291"/>
                  </a:lnTo>
                  <a:lnTo>
                    <a:pt x="12953" y="50291"/>
                  </a:lnTo>
                  <a:close/>
                </a:path>
              </a:pathLst>
            </a:custGeom>
            <a:solidFill>
              <a:srgbClr val="0F1A81"/>
            </a:solidFill>
          </p:spPr>
          <p:txBody>
            <a:bodyPr wrap="square" lIns="0" tIns="0" rIns="0" bIns="0" rtlCol="0"/>
            <a:lstStyle/>
            <a:p>
              <a:endParaRPr sz="2052"/>
            </a:p>
          </p:txBody>
        </p:sp>
        <p:sp>
          <p:nvSpPr>
            <p:cNvPr id="165" name="object 165"/>
            <p:cNvSpPr/>
            <p:nvPr/>
          </p:nvSpPr>
          <p:spPr>
            <a:xfrm>
              <a:off x="7800103" y="2984940"/>
              <a:ext cx="11403" cy="11403"/>
            </a:xfrm>
            <a:custGeom>
              <a:avLst/>
              <a:gdLst/>
              <a:ahLst/>
              <a:cxnLst/>
              <a:rect l="l" t="t" r="r" b="b"/>
              <a:pathLst>
                <a:path w="13334" h="13335">
                  <a:moveTo>
                    <a:pt x="12953" y="12953"/>
                  </a:moveTo>
                  <a:lnTo>
                    <a:pt x="12953" y="0"/>
                  </a:lnTo>
                  <a:lnTo>
                    <a:pt x="0" y="0"/>
                  </a:lnTo>
                  <a:lnTo>
                    <a:pt x="0" y="12953"/>
                  </a:lnTo>
                  <a:lnTo>
                    <a:pt x="12953" y="12953"/>
                  </a:lnTo>
                  <a:close/>
                </a:path>
              </a:pathLst>
            </a:custGeom>
            <a:solidFill>
              <a:srgbClr val="0F1A81"/>
            </a:solidFill>
          </p:spPr>
          <p:txBody>
            <a:bodyPr wrap="square" lIns="0" tIns="0" rIns="0" bIns="0" rtlCol="0"/>
            <a:lstStyle/>
            <a:p>
              <a:endParaRPr sz="2052"/>
            </a:p>
          </p:txBody>
        </p:sp>
        <p:sp>
          <p:nvSpPr>
            <p:cNvPr id="166" name="object 166"/>
            <p:cNvSpPr/>
            <p:nvPr/>
          </p:nvSpPr>
          <p:spPr>
            <a:xfrm>
              <a:off x="7800103" y="3028598"/>
              <a:ext cx="11403" cy="43982"/>
            </a:xfrm>
            <a:custGeom>
              <a:avLst/>
              <a:gdLst/>
              <a:ahLst/>
              <a:cxnLst/>
              <a:rect l="l" t="t" r="r" b="b"/>
              <a:pathLst>
                <a:path w="13334" h="51435">
                  <a:moveTo>
                    <a:pt x="12953" y="51053"/>
                  </a:moveTo>
                  <a:lnTo>
                    <a:pt x="12953" y="0"/>
                  </a:lnTo>
                  <a:lnTo>
                    <a:pt x="0" y="0"/>
                  </a:lnTo>
                  <a:lnTo>
                    <a:pt x="0" y="51053"/>
                  </a:lnTo>
                  <a:lnTo>
                    <a:pt x="12953" y="51053"/>
                  </a:lnTo>
                  <a:close/>
                </a:path>
              </a:pathLst>
            </a:custGeom>
            <a:solidFill>
              <a:srgbClr val="0F1A81"/>
            </a:solidFill>
          </p:spPr>
          <p:txBody>
            <a:bodyPr wrap="square" lIns="0" tIns="0" rIns="0" bIns="0" rtlCol="0"/>
            <a:lstStyle/>
            <a:p>
              <a:endParaRPr sz="2052"/>
            </a:p>
          </p:txBody>
        </p:sp>
        <p:sp>
          <p:nvSpPr>
            <p:cNvPr id="167" name="object 167"/>
            <p:cNvSpPr/>
            <p:nvPr/>
          </p:nvSpPr>
          <p:spPr>
            <a:xfrm>
              <a:off x="7800103" y="3104832"/>
              <a:ext cx="11403" cy="10860"/>
            </a:xfrm>
            <a:custGeom>
              <a:avLst/>
              <a:gdLst/>
              <a:ahLst/>
              <a:cxnLst/>
              <a:rect l="l" t="t" r="r" b="b"/>
              <a:pathLst>
                <a:path w="13334" h="12700">
                  <a:moveTo>
                    <a:pt x="12953" y="12192"/>
                  </a:moveTo>
                  <a:lnTo>
                    <a:pt x="12953" y="0"/>
                  </a:lnTo>
                  <a:lnTo>
                    <a:pt x="0" y="0"/>
                  </a:lnTo>
                  <a:lnTo>
                    <a:pt x="0" y="12192"/>
                  </a:lnTo>
                  <a:lnTo>
                    <a:pt x="12953" y="12192"/>
                  </a:lnTo>
                  <a:close/>
                </a:path>
              </a:pathLst>
            </a:custGeom>
            <a:solidFill>
              <a:srgbClr val="0F1A81"/>
            </a:solidFill>
          </p:spPr>
          <p:txBody>
            <a:bodyPr wrap="square" lIns="0" tIns="0" rIns="0" bIns="0" rtlCol="0"/>
            <a:lstStyle/>
            <a:p>
              <a:endParaRPr sz="2052"/>
            </a:p>
          </p:txBody>
        </p:sp>
        <p:sp>
          <p:nvSpPr>
            <p:cNvPr id="168" name="object 168"/>
            <p:cNvSpPr/>
            <p:nvPr/>
          </p:nvSpPr>
          <p:spPr>
            <a:xfrm>
              <a:off x="7800103" y="3147838"/>
              <a:ext cx="11403" cy="43982"/>
            </a:xfrm>
            <a:custGeom>
              <a:avLst/>
              <a:gdLst/>
              <a:ahLst/>
              <a:cxnLst/>
              <a:rect l="l" t="t" r="r" b="b"/>
              <a:pathLst>
                <a:path w="13334" h="51435">
                  <a:moveTo>
                    <a:pt x="12953" y="51053"/>
                  </a:moveTo>
                  <a:lnTo>
                    <a:pt x="12953" y="0"/>
                  </a:lnTo>
                  <a:lnTo>
                    <a:pt x="0" y="0"/>
                  </a:lnTo>
                  <a:lnTo>
                    <a:pt x="0" y="51053"/>
                  </a:lnTo>
                  <a:lnTo>
                    <a:pt x="12953" y="51053"/>
                  </a:lnTo>
                  <a:close/>
                </a:path>
              </a:pathLst>
            </a:custGeom>
            <a:solidFill>
              <a:srgbClr val="0F1A81"/>
            </a:solidFill>
          </p:spPr>
          <p:txBody>
            <a:bodyPr wrap="square" lIns="0" tIns="0" rIns="0" bIns="0" rtlCol="0"/>
            <a:lstStyle/>
            <a:p>
              <a:endParaRPr sz="2052"/>
            </a:p>
          </p:txBody>
        </p:sp>
        <p:sp>
          <p:nvSpPr>
            <p:cNvPr id="169" name="object 169"/>
            <p:cNvSpPr/>
            <p:nvPr/>
          </p:nvSpPr>
          <p:spPr>
            <a:xfrm>
              <a:off x="7800103" y="3224075"/>
              <a:ext cx="11403" cy="11403"/>
            </a:xfrm>
            <a:custGeom>
              <a:avLst/>
              <a:gdLst/>
              <a:ahLst/>
              <a:cxnLst/>
              <a:rect l="l" t="t" r="r" b="b"/>
              <a:pathLst>
                <a:path w="13334" h="13335">
                  <a:moveTo>
                    <a:pt x="12953" y="12953"/>
                  </a:moveTo>
                  <a:lnTo>
                    <a:pt x="12953" y="0"/>
                  </a:lnTo>
                  <a:lnTo>
                    <a:pt x="0" y="0"/>
                  </a:lnTo>
                  <a:lnTo>
                    <a:pt x="0" y="12953"/>
                  </a:lnTo>
                  <a:lnTo>
                    <a:pt x="12953" y="12953"/>
                  </a:lnTo>
                  <a:close/>
                </a:path>
              </a:pathLst>
            </a:custGeom>
            <a:solidFill>
              <a:srgbClr val="0F1A81"/>
            </a:solidFill>
          </p:spPr>
          <p:txBody>
            <a:bodyPr wrap="square" lIns="0" tIns="0" rIns="0" bIns="0" rtlCol="0"/>
            <a:lstStyle/>
            <a:p>
              <a:endParaRPr sz="2052"/>
            </a:p>
          </p:txBody>
        </p:sp>
        <p:sp>
          <p:nvSpPr>
            <p:cNvPr id="170" name="object 170"/>
            <p:cNvSpPr/>
            <p:nvPr/>
          </p:nvSpPr>
          <p:spPr>
            <a:xfrm>
              <a:off x="7800103" y="3267730"/>
              <a:ext cx="11403" cy="43439"/>
            </a:xfrm>
            <a:custGeom>
              <a:avLst/>
              <a:gdLst/>
              <a:ahLst/>
              <a:cxnLst/>
              <a:rect l="l" t="t" r="r" b="b"/>
              <a:pathLst>
                <a:path w="13334" h="50800">
                  <a:moveTo>
                    <a:pt x="12953" y="50291"/>
                  </a:moveTo>
                  <a:lnTo>
                    <a:pt x="12953" y="0"/>
                  </a:lnTo>
                  <a:lnTo>
                    <a:pt x="0" y="0"/>
                  </a:lnTo>
                  <a:lnTo>
                    <a:pt x="0" y="50291"/>
                  </a:lnTo>
                  <a:lnTo>
                    <a:pt x="12953" y="50291"/>
                  </a:lnTo>
                  <a:close/>
                </a:path>
              </a:pathLst>
            </a:custGeom>
            <a:solidFill>
              <a:srgbClr val="0F1A81"/>
            </a:solidFill>
          </p:spPr>
          <p:txBody>
            <a:bodyPr wrap="square" lIns="0" tIns="0" rIns="0" bIns="0" rtlCol="0"/>
            <a:lstStyle/>
            <a:p>
              <a:endParaRPr sz="2052"/>
            </a:p>
          </p:txBody>
        </p:sp>
        <p:sp>
          <p:nvSpPr>
            <p:cNvPr id="171" name="object 171"/>
            <p:cNvSpPr/>
            <p:nvPr/>
          </p:nvSpPr>
          <p:spPr>
            <a:xfrm>
              <a:off x="7800103" y="3343315"/>
              <a:ext cx="11403" cy="11403"/>
            </a:xfrm>
            <a:custGeom>
              <a:avLst/>
              <a:gdLst/>
              <a:ahLst/>
              <a:cxnLst/>
              <a:rect l="l" t="t" r="r" b="b"/>
              <a:pathLst>
                <a:path w="13334" h="13335">
                  <a:moveTo>
                    <a:pt x="12953" y="12953"/>
                  </a:moveTo>
                  <a:lnTo>
                    <a:pt x="12953" y="0"/>
                  </a:lnTo>
                  <a:lnTo>
                    <a:pt x="0" y="0"/>
                  </a:lnTo>
                  <a:lnTo>
                    <a:pt x="0" y="12953"/>
                  </a:lnTo>
                  <a:lnTo>
                    <a:pt x="12953" y="12953"/>
                  </a:lnTo>
                  <a:close/>
                </a:path>
              </a:pathLst>
            </a:custGeom>
            <a:solidFill>
              <a:srgbClr val="0F1A81"/>
            </a:solidFill>
          </p:spPr>
          <p:txBody>
            <a:bodyPr wrap="square" lIns="0" tIns="0" rIns="0" bIns="0" rtlCol="0"/>
            <a:lstStyle/>
            <a:p>
              <a:endParaRPr sz="2052"/>
            </a:p>
          </p:txBody>
        </p:sp>
        <p:sp>
          <p:nvSpPr>
            <p:cNvPr id="172" name="object 172"/>
            <p:cNvSpPr/>
            <p:nvPr/>
          </p:nvSpPr>
          <p:spPr>
            <a:xfrm>
              <a:off x="7800103" y="3386973"/>
              <a:ext cx="11403" cy="43982"/>
            </a:xfrm>
            <a:custGeom>
              <a:avLst/>
              <a:gdLst/>
              <a:ahLst/>
              <a:cxnLst/>
              <a:rect l="l" t="t" r="r" b="b"/>
              <a:pathLst>
                <a:path w="13334" h="51435">
                  <a:moveTo>
                    <a:pt x="12953" y="51053"/>
                  </a:moveTo>
                  <a:lnTo>
                    <a:pt x="12953" y="0"/>
                  </a:lnTo>
                  <a:lnTo>
                    <a:pt x="0" y="0"/>
                  </a:lnTo>
                  <a:lnTo>
                    <a:pt x="0" y="51053"/>
                  </a:lnTo>
                  <a:lnTo>
                    <a:pt x="12953" y="51053"/>
                  </a:lnTo>
                  <a:close/>
                </a:path>
              </a:pathLst>
            </a:custGeom>
            <a:solidFill>
              <a:srgbClr val="0F1A81"/>
            </a:solidFill>
          </p:spPr>
          <p:txBody>
            <a:bodyPr wrap="square" lIns="0" tIns="0" rIns="0" bIns="0" rtlCol="0"/>
            <a:lstStyle/>
            <a:p>
              <a:endParaRPr sz="2052"/>
            </a:p>
          </p:txBody>
        </p:sp>
        <p:sp>
          <p:nvSpPr>
            <p:cNvPr id="173" name="object 173"/>
            <p:cNvSpPr/>
            <p:nvPr/>
          </p:nvSpPr>
          <p:spPr>
            <a:xfrm>
              <a:off x="7800103" y="3463208"/>
              <a:ext cx="11403" cy="10860"/>
            </a:xfrm>
            <a:custGeom>
              <a:avLst/>
              <a:gdLst/>
              <a:ahLst/>
              <a:cxnLst/>
              <a:rect l="l" t="t" r="r" b="b"/>
              <a:pathLst>
                <a:path w="13334" h="12700">
                  <a:moveTo>
                    <a:pt x="12953" y="12192"/>
                  </a:moveTo>
                  <a:lnTo>
                    <a:pt x="12953" y="0"/>
                  </a:lnTo>
                  <a:lnTo>
                    <a:pt x="0" y="0"/>
                  </a:lnTo>
                  <a:lnTo>
                    <a:pt x="0" y="12192"/>
                  </a:lnTo>
                  <a:lnTo>
                    <a:pt x="12953" y="12192"/>
                  </a:lnTo>
                  <a:close/>
                </a:path>
              </a:pathLst>
            </a:custGeom>
            <a:solidFill>
              <a:srgbClr val="0F1A81"/>
            </a:solidFill>
          </p:spPr>
          <p:txBody>
            <a:bodyPr wrap="square" lIns="0" tIns="0" rIns="0" bIns="0" rtlCol="0"/>
            <a:lstStyle/>
            <a:p>
              <a:endParaRPr sz="2052"/>
            </a:p>
          </p:txBody>
        </p:sp>
        <p:sp>
          <p:nvSpPr>
            <p:cNvPr id="174" name="object 174"/>
            <p:cNvSpPr/>
            <p:nvPr/>
          </p:nvSpPr>
          <p:spPr>
            <a:xfrm>
              <a:off x="7800103" y="3506213"/>
              <a:ext cx="11403" cy="43982"/>
            </a:xfrm>
            <a:custGeom>
              <a:avLst/>
              <a:gdLst/>
              <a:ahLst/>
              <a:cxnLst/>
              <a:rect l="l" t="t" r="r" b="b"/>
              <a:pathLst>
                <a:path w="13334" h="51435">
                  <a:moveTo>
                    <a:pt x="12953" y="51053"/>
                  </a:moveTo>
                  <a:lnTo>
                    <a:pt x="12953" y="0"/>
                  </a:lnTo>
                  <a:lnTo>
                    <a:pt x="0" y="0"/>
                  </a:lnTo>
                  <a:lnTo>
                    <a:pt x="0" y="51053"/>
                  </a:lnTo>
                  <a:lnTo>
                    <a:pt x="12953" y="51053"/>
                  </a:lnTo>
                  <a:close/>
                </a:path>
              </a:pathLst>
            </a:custGeom>
            <a:solidFill>
              <a:srgbClr val="0F1A81"/>
            </a:solidFill>
          </p:spPr>
          <p:txBody>
            <a:bodyPr wrap="square" lIns="0" tIns="0" rIns="0" bIns="0" rtlCol="0"/>
            <a:lstStyle/>
            <a:p>
              <a:endParaRPr sz="2052"/>
            </a:p>
          </p:txBody>
        </p:sp>
        <p:sp>
          <p:nvSpPr>
            <p:cNvPr id="175" name="object 175"/>
            <p:cNvSpPr/>
            <p:nvPr/>
          </p:nvSpPr>
          <p:spPr>
            <a:xfrm>
              <a:off x="7800103" y="3582450"/>
              <a:ext cx="11403" cy="11403"/>
            </a:xfrm>
            <a:custGeom>
              <a:avLst/>
              <a:gdLst/>
              <a:ahLst/>
              <a:cxnLst/>
              <a:rect l="l" t="t" r="r" b="b"/>
              <a:pathLst>
                <a:path w="13334" h="13335">
                  <a:moveTo>
                    <a:pt x="12953" y="12953"/>
                  </a:moveTo>
                  <a:lnTo>
                    <a:pt x="12953" y="0"/>
                  </a:lnTo>
                  <a:lnTo>
                    <a:pt x="0" y="0"/>
                  </a:lnTo>
                  <a:lnTo>
                    <a:pt x="0" y="12953"/>
                  </a:lnTo>
                  <a:lnTo>
                    <a:pt x="12953" y="12953"/>
                  </a:lnTo>
                  <a:close/>
                </a:path>
              </a:pathLst>
            </a:custGeom>
            <a:solidFill>
              <a:srgbClr val="0F1A81"/>
            </a:solidFill>
          </p:spPr>
          <p:txBody>
            <a:bodyPr wrap="square" lIns="0" tIns="0" rIns="0" bIns="0" rtlCol="0"/>
            <a:lstStyle/>
            <a:p>
              <a:endParaRPr sz="2052"/>
            </a:p>
          </p:txBody>
        </p:sp>
        <p:sp>
          <p:nvSpPr>
            <p:cNvPr id="176" name="object 176"/>
            <p:cNvSpPr/>
            <p:nvPr/>
          </p:nvSpPr>
          <p:spPr>
            <a:xfrm>
              <a:off x="7800103" y="3626106"/>
              <a:ext cx="11403" cy="43439"/>
            </a:xfrm>
            <a:custGeom>
              <a:avLst/>
              <a:gdLst/>
              <a:ahLst/>
              <a:cxnLst/>
              <a:rect l="l" t="t" r="r" b="b"/>
              <a:pathLst>
                <a:path w="13334" h="50800">
                  <a:moveTo>
                    <a:pt x="12953" y="50291"/>
                  </a:moveTo>
                  <a:lnTo>
                    <a:pt x="12953" y="0"/>
                  </a:lnTo>
                  <a:lnTo>
                    <a:pt x="0" y="0"/>
                  </a:lnTo>
                  <a:lnTo>
                    <a:pt x="0" y="50291"/>
                  </a:lnTo>
                  <a:lnTo>
                    <a:pt x="12953" y="50291"/>
                  </a:lnTo>
                  <a:close/>
                </a:path>
              </a:pathLst>
            </a:custGeom>
            <a:solidFill>
              <a:srgbClr val="0F1A81"/>
            </a:solidFill>
          </p:spPr>
          <p:txBody>
            <a:bodyPr wrap="square" lIns="0" tIns="0" rIns="0" bIns="0" rtlCol="0"/>
            <a:lstStyle/>
            <a:p>
              <a:endParaRPr sz="2052"/>
            </a:p>
          </p:txBody>
        </p:sp>
        <p:sp>
          <p:nvSpPr>
            <p:cNvPr id="177" name="object 177"/>
            <p:cNvSpPr/>
            <p:nvPr/>
          </p:nvSpPr>
          <p:spPr>
            <a:xfrm>
              <a:off x="7800103" y="3701691"/>
              <a:ext cx="11403" cy="11403"/>
            </a:xfrm>
            <a:custGeom>
              <a:avLst/>
              <a:gdLst/>
              <a:ahLst/>
              <a:cxnLst/>
              <a:rect l="l" t="t" r="r" b="b"/>
              <a:pathLst>
                <a:path w="13334" h="13335">
                  <a:moveTo>
                    <a:pt x="12953" y="12953"/>
                  </a:moveTo>
                  <a:lnTo>
                    <a:pt x="12953" y="0"/>
                  </a:lnTo>
                  <a:lnTo>
                    <a:pt x="0" y="0"/>
                  </a:lnTo>
                  <a:lnTo>
                    <a:pt x="0" y="12953"/>
                  </a:lnTo>
                  <a:lnTo>
                    <a:pt x="12953" y="12953"/>
                  </a:lnTo>
                  <a:close/>
                </a:path>
              </a:pathLst>
            </a:custGeom>
            <a:solidFill>
              <a:srgbClr val="0F1A81"/>
            </a:solidFill>
          </p:spPr>
          <p:txBody>
            <a:bodyPr wrap="square" lIns="0" tIns="0" rIns="0" bIns="0" rtlCol="0"/>
            <a:lstStyle/>
            <a:p>
              <a:endParaRPr sz="2052"/>
            </a:p>
          </p:txBody>
        </p:sp>
        <p:sp>
          <p:nvSpPr>
            <p:cNvPr id="178" name="object 178"/>
            <p:cNvSpPr/>
            <p:nvPr/>
          </p:nvSpPr>
          <p:spPr>
            <a:xfrm>
              <a:off x="7800103" y="3745348"/>
              <a:ext cx="11403" cy="43982"/>
            </a:xfrm>
            <a:custGeom>
              <a:avLst/>
              <a:gdLst/>
              <a:ahLst/>
              <a:cxnLst/>
              <a:rect l="l" t="t" r="r" b="b"/>
              <a:pathLst>
                <a:path w="13334" h="51435">
                  <a:moveTo>
                    <a:pt x="12953" y="51053"/>
                  </a:moveTo>
                  <a:lnTo>
                    <a:pt x="12953" y="0"/>
                  </a:lnTo>
                  <a:lnTo>
                    <a:pt x="0" y="0"/>
                  </a:lnTo>
                  <a:lnTo>
                    <a:pt x="0" y="51053"/>
                  </a:lnTo>
                  <a:lnTo>
                    <a:pt x="12953" y="51053"/>
                  </a:lnTo>
                  <a:close/>
                </a:path>
              </a:pathLst>
            </a:custGeom>
            <a:solidFill>
              <a:srgbClr val="0F1A81"/>
            </a:solidFill>
          </p:spPr>
          <p:txBody>
            <a:bodyPr wrap="square" lIns="0" tIns="0" rIns="0" bIns="0" rtlCol="0"/>
            <a:lstStyle/>
            <a:p>
              <a:endParaRPr sz="2052"/>
            </a:p>
          </p:txBody>
        </p:sp>
        <p:sp>
          <p:nvSpPr>
            <p:cNvPr id="179" name="object 179"/>
            <p:cNvSpPr/>
            <p:nvPr/>
          </p:nvSpPr>
          <p:spPr>
            <a:xfrm>
              <a:off x="7800103" y="3821583"/>
              <a:ext cx="11403" cy="10860"/>
            </a:xfrm>
            <a:custGeom>
              <a:avLst/>
              <a:gdLst/>
              <a:ahLst/>
              <a:cxnLst/>
              <a:rect l="l" t="t" r="r" b="b"/>
              <a:pathLst>
                <a:path w="13334" h="12700">
                  <a:moveTo>
                    <a:pt x="12953" y="12192"/>
                  </a:moveTo>
                  <a:lnTo>
                    <a:pt x="12953" y="0"/>
                  </a:lnTo>
                  <a:lnTo>
                    <a:pt x="0" y="0"/>
                  </a:lnTo>
                  <a:lnTo>
                    <a:pt x="0" y="12192"/>
                  </a:lnTo>
                  <a:lnTo>
                    <a:pt x="12953" y="12192"/>
                  </a:lnTo>
                  <a:close/>
                </a:path>
              </a:pathLst>
            </a:custGeom>
            <a:solidFill>
              <a:srgbClr val="0F1A81"/>
            </a:solidFill>
          </p:spPr>
          <p:txBody>
            <a:bodyPr wrap="square" lIns="0" tIns="0" rIns="0" bIns="0" rtlCol="0"/>
            <a:lstStyle/>
            <a:p>
              <a:endParaRPr sz="2052"/>
            </a:p>
          </p:txBody>
        </p:sp>
        <p:sp>
          <p:nvSpPr>
            <p:cNvPr id="180" name="object 180"/>
            <p:cNvSpPr/>
            <p:nvPr/>
          </p:nvSpPr>
          <p:spPr>
            <a:xfrm>
              <a:off x="7800103" y="3864588"/>
              <a:ext cx="11403" cy="14661"/>
            </a:xfrm>
            <a:custGeom>
              <a:avLst/>
              <a:gdLst/>
              <a:ahLst/>
              <a:cxnLst/>
              <a:rect l="l" t="t" r="r" b="b"/>
              <a:pathLst>
                <a:path w="13334" h="17145">
                  <a:moveTo>
                    <a:pt x="0" y="16763"/>
                  </a:moveTo>
                  <a:lnTo>
                    <a:pt x="12953" y="16763"/>
                  </a:lnTo>
                  <a:lnTo>
                    <a:pt x="12953" y="0"/>
                  </a:lnTo>
                  <a:lnTo>
                    <a:pt x="0" y="0"/>
                  </a:lnTo>
                  <a:lnTo>
                    <a:pt x="0" y="16763"/>
                  </a:lnTo>
                  <a:close/>
                </a:path>
              </a:pathLst>
            </a:custGeom>
            <a:solidFill>
              <a:srgbClr val="0F1A81"/>
            </a:solidFill>
          </p:spPr>
          <p:txBody>
            <a:bodyPr wrap="square" lIns="0" tIns="0" rIns="0" bIns="0" rtlCol="0"/>
            <a:lstStyle/>
            <a:p>
              <a:endParaRPr sz="2052"/>
            </a:p>
          </p:txBody>
        </p:sp>
        <p:sp>
          <p:nvSpPr>
            <p:cNvPr id="181" name="object 181"/>
            <p:cNvSpPr/>
            <p:nvPr/>
          </p:nvSpPr>
          <p:spPr>
            <a:xfrm>
              <a:off x="7800103" y="4108935"/>
              <a:ext cx="11403" cy="38552"/>
            </a:xfrm>
            <a:custGeom>
              <a:avLst/>
              <a:gdLst/>
              <a:ahLst/>
              <a:cxnLst/>
              <a:rect l="l" t="t" r="r" b="b"/>
              <a:pathLst>
                <a:path w="13334" h="45085">
                  <a:moveTo>
                    <a:pt x="0" y="44957"/>
                  </a:moveTo>
                  <a:lnTo>
                    <a:pt x="12953" y="44957"/>
                  </a:lnTo>
                  <a:lnTo>
                    <a:pt x="12953" y="0"/>
                  </a:lnTo>
                  <a:lnTo>
                    <a:pt x="0" y="0"/>
                  </a:lnTo>
                  <a:lnTo>
                    <a:pt x="0" y="44957"/>
                  </a:lnTo>
                  <a:close/>
                </a:path>
              </a:pathLst>
            </a:custGeom>
            <a:solidFill>
              <a:srgbClr val="0F1A81"/>
            </a:solidFill>
          </p:spPr>
          <p:txBody>
            <a:bodyPr wrap="square" lIns="0" tIns="0" rIns="0" bIns="0" rtlCol="0"/>
            <a:lstStyle/>
            <a:p>
              <a:endParaRPr sz="2052"/>
            </a:p>
          </p:txBody>
        </p:sp>
        <p:sp>
          <p:nvSpPr>
            <p:cNvPr id="182" name="object 182"/>
            <p:cNvSpPr/>
            <p:nvPr/>
          </p:nvSpPr>
          <p:spPr>
            <a:xfrm>
              <a:off x="7800103" y="4179958"/>
              <a:ext cx="11403" cy="10860"/>
            </a:xfrm>
            <a:custGeom>
              <a:avLst/>
              <a:gdLst/>
              <a:ahLst/>
              <a:cxnLst/>
              <a:rect l="l" t="t" r="r" b="b"/>
              <a:pathLst>
                <a:path w="13334" h="12700">
                  <a:moveTo>
                    <a:pt x="12953" y="12192"/>
                  </a:moveTo>
                  <a:lnTo>
                    <a:pt x="12953" y="0"/>
                  </a:lnTo>
                  <a:lnTo>
                    <a:pt x="0" y="0"/>
                  </a:lnTo>
                  <a:lnTo>
                    <a:pt x="0" y="12192"/>
                  </a:lnTo>
                  <a:lnTo>
                    <a:pt x="12953" y="12192"/>
                  </a:lnTo>
                  <a:close/>
                </a:path>
              </a:pathLst>
            </a:custGeom>
            <a:solidFill>
              <a:srgbClr val="0F1A81"/>
            </a:solidFill>
          </p:spPr>
          <p:txBody>
            <a:bodyPr wrap="square" lIns="0" tIns="0" rIns="0" bIns="0" rtlCol="0"/>
            <a:lstStyle/>
            <a:p>
              <a:endParaRPr sz="2052"/>
            </a:p>
          </p:txBody>
        </p:sp>
        <p:sp>
          <p:nvSpPr>
            <p:cNvPr id="183" name="object 183"/>
            <p:cNvSpPr/>
            <p:nvPr/>
          </p:nvSpPr>
          <p:spPr>
            <a:xfrm>
              <a:off x="7800103" y="4222964"/>
              <a:ext cx="11403" cy="43982"/>
            </a:xfrm>
            <a:custGeom>
              <a:avLst/>
              <a:gdLst/>
              <a:ahLst/>
              <a:cxnLst/>
              <a:rect l="l" t="t" r="r" b="b"/>
              <a:pathLst>
                <a:path w="13334" h="51435">
                  <a:moveTo>
                    <a:pt x="12953" y="51053"/>
                  </a:moveTo>
                  <a:lnTo>
                    <a:pt x="12953" y="0"/>
                  </a:lnTo>
                  <a:lnTo>
                    <a:pt x="0" y="0"/>
                  </a:lnTo>
                  <a:lnTo>
                    <a:pt x="0" y="51053"/>
                  </a:lnTo>
                  <a:lnTo>
                    <a:pt x="12953" y="51053"/>
                  </a:lnTo>
                  <a:close/>
                </a:path>
              </a:pathLst>
            </a:custGeom>
            <a:solidFill>
              <a:srgbClr val="0F1A81"/>
            </a:solidFill>
          </p:spPr>
          <p:txBody>
            <a:bodyPr wrap="square" lIns="0" tIns="0" rIns="0" bIns="0" rtlCol="0"/>
            <a:lstStyle/>
            <a:p>
              <a:endParaRPr sz="2052"/>
            </a:p>
          </p:txBody>
        </p:sp>
        <p:sp>
          <p:nvSpPr>
            <p:cNvPr id="184" name="object 184"/>
            <p:cNvSpPr/>
            <p:nvPr/>
          </p:nvSpPr>
          <p:spPr>
            <a:xfrm>
              <a:off x="7800103" y="4299201"/>
              <a:ext cx="11403" cy="11403"/>
            </a:xfrm>
            <a:custGeom>
              <a:avLst/>
              <a:gdLst/>
              <a:ahLst/>
              <a:cxnLst/>
              <a:rect l="l" t="t" r="r" b="b"/>
              <a:pathLst>
                <a:path w="13334" h="13335">
                  <a:moveTo>
                    <a:pt x="12953" y="12953"/>
                  </a:moveTo>
                  <a:lnTo>
                    <a:pt x="12953" y="0"/>
                  </a:lnTo>
                  <a:lnTo>
                    <a:pt x="0" y="0"/>
                  </a:lnTo>
                  <a:lnTo>
                    <a:pt x="0" y="12953"/>
                  </a:lnTo>
                  <a:lnTo>
                    <a:pt x="12953" y="12953"/>
                  </a:lnTo>
                  <a:close/>
                </a:path>
              </a:pathLst>
            </a:custGeom>
            <a:solidFill>
              <a:srgbClr val="0F1A81"/>
            </a:solidFill>
          </p:spPr>
          <p:txBody>
            <a:bodyPr wrap="square" lIns="0" tIns="0" rIns="0" bIns="0" rtlCol="0"/>
            <a:lstStyle/>
            <a:p>
              <a:endParaRPr sz="2052"/>
            </a:p>
          </p:txBody>
        </p:sp>
        <p:sp>
          <p:nvSpPr>
            <p:cNvPr id="185" name="object 185"/>
            <p:cNvSpPr/>
            <p:nvPr/>
          </p:nvSpPr>
          <p:spPr>
            <a:xfrm>
              <a:off x="7800103" y="4342856"/>
              <a:ext cx="11403" cy="43439"/>
            </a:xfrm>
            <a:custGeom>
              <a:avLst/>
              <a:gdLst/>
              <a:ahLst/>
              <a:cxnLst/>
              <a:rect l="l" t="t" r="r" b="b"/>
              <a:pathLst>
                <a:path w="13334" h="50800">
                  <a:moveTo>
                    <a:pt x="12953" y="50291"/>
                  </a:moveTo>
                  <a:lnTo>
                    <a:pt x="12953" y="0"/>
                  </a:lnTo>
                  <a:lnTo>
                    <a:pt x="0" y="0"/>
                  </a:lnTo>
                  <a:lnTo>
                    <a:pt x="0" y="50291"/>
                  </a:lnTo>
                  <a:lnTo>
                    <a:pt x="12953" y="50291"/>
                  </a:lnTo>
                  <a:close/>
                </a:path>
              </a:pathLst>
            </a:custGeom>
            <a:solidFill>
              <a:srgbClr val="0F1A81"/>
            </a:solidFill>
          </p:spPr>
          <p:txBody>
            <a:bodyPr wrap="square" lIns="0" tIns="0" rIns="0" bIns="0" rtlCol="0"/>
            <a:lstStyle/>
            <a:p>
              <a:endParaRPr sz="2052"/>
            </a:p>
          </p:txBody>
        </p:sp>
        <p:sp>
          <p:nvSpPr>
            <p:cNvPr id="186" name="object 186"/>
            <p:cNvSpPr/>
            <p:nvPr/>
          </p:nvSpPr>
          <p:spPr>
            <a:xfrm>
              <a:off x="7800103" y="4418441"/>
              <a:ext cx="11403" cy="11403"/>
            </a:xfrm>
            <a:custGeom>
              <a:avLst/>
              <a:gdLst/>
              <a:ahLst/>
              <a:cxnLst/>
              <a:rect l="l" t="t" r="r" b="b"/>
              <a:pathLst>
                <a:path w="13334" h="13335">
                  <a:moveTo>
                    <a:pt x="12953" y="12953"/>
                  </a:moveTo>
                  <a:lnTo>
                    <a:pt x="12953" y="0"/>
                  </a:lnTo>
                  <a:lnTo>
                    <a:pt x="0" y="0"/>
                  </a:lnTo>
                  <a:lnTo>
                    <a:pt x="0" y="12953"/>
                  </a:lnTo>
                  <a:lnTo>
                    <a:pt x="12953" y="12953"/>
                  </a:lnTo>
                  <a:close/>
                </a:path>
              </a:pathLst>
            </a:custGeom>
            <a:solidFill>
              <a:srgbClr val="0F1A81"/>
            </a:solidFill>
          </p:spPr>
          <p:txBody>
            <a:bodyPr wrap="square" lIns="0" tIns="0" rIns="0" bIns="0" rtlCol="0"/>
            <a:lstStyle/>
            <a:p>
              <a:endParaRPr sz="2052"/>
            </a:p>
          </p:txBody>
        </p:sp>
        <p:sp>
          <p:nvSpPr>
            <p:cNvPr id="187" name="object 187"/>
            <p:cNvSpPr/>
            <p:nvPr/>
          </p:nvSpPr>
          <p:spPr>
            <a:xfrm>
              <a:off x="7800103" y="4462099"/>
              <a:ext cx="11403" cy="43982"/>
            </a:xfrm>
            <a:custGeom>
              <a:avLst/>
              <a:gdLst/>
              <a:ahLst/>
              <a:cxnLst/>
              <a:rect l="l" t="t" r="r" b="b"/>
              <a:pathLst>
                <a:path w="13334" h="51435">
                  <a:moveTo>
                    <a:pt x="12953" y="51053"/>
                  </a:moveTo>
                  <a:lnTo>
                    <a:pt x="12953" y="0"/>
                  </a:lnTo>
                  <a:lnTo>
                    <a:pt x="0" y="0"/>
                  </a:lnTo>
                  <a:lnTo>
                    <a:pt x="0" y="51053"/>
                  </a:lnTo>
                  <a:lnTo>
                    <a:pt x="12953" y="51053"/>
                  </a:lnTo>
                  <a:close/>
                </a:path>
              </a:pathLst>
            </a:custGeom>
            <a:solidFill>
              <a:srgbClr val="0F1A81"/>
            </a:solidFill>
          </p:spPr>
          <p:txBody>
            <a:bodyPr wrap="square" lIns="0" tIns="0" rIns="0" bIns="0" rtlCol="0"/>
            <a:lstStyle/>
            <a:p>
              <a:endParaRPr sz="2052"/>
            </a:p>
          </p:txBody>
        </p:sp>
        <p:sp>
          <p:nvSpPr>
            <p:cNvPr id="188" name="object 188"/>
            <p:cNvSpPr/>
            <p:nvPr/>
          </p:nvSpPr>
          <p:spPr>
            <a:xfrm>
              <a:off x="7800103" y="4538334"/>
              <a:ext cx="11403" cy="10860"/>
            </a:xfrm>
            <a:custGeom>
              <a:avLst/>
              <a:gdLst/>
              <a:ahLst/>
              <a:cxnLst/>
              <a:rect l="l" t="t" r="r" b="b"/>
              <a:pathLst>
                <a:path w="13334" h="12700">
                  <a:moveTo>
                    <a:pt x="12953" y="12192"/>
                  </a:moveTo>
                  <a:lnTo>
                    <a:pt x="12953" y="0"/>
                  </a:lnTo>
                  <a:lnTo>
                    <a:pt x="0" y="0"/>
                  </a:lnTo>
                  <a:lnTo>
                    <a:pt x="0" y="12192"/>
                  </a:lnTo>
                  <a:lnTo>
                    <a:pt x="12953" y="12192"/>
                  </a:lnTo>
                  <a:close/>
                </a:path>
              </a:pathLst>
            </a:custGeom>
            <a:solidFill>
              <a:srgbClr val="0F1A81"/>
            </a:solidFill>
          </p:spPr>
          <p:txBody>
            <a:bodyPr wrap="square" lIns="0" tIns="0" rIns="0" bIns="0" rtlCol="0"/>
            <a:lstStyle/>
            <a:p>
              <a:endParaRPr sz="2052"/>
            </a:p>
          </p:txBody>
        </p:sp>
        <p:sp>
          <p:nvSpPr>
            <p:cNvPr id="189" name="object 189"/>
            <p:cNvSpPr/>
            <p:nvPr/>
          </p:nvSpPr>
          <p:spPr>
            <a:xfrm>
              <a:off x="7800103" y="4581339"/>
              <a:ext cx="11403" cy="43982"/>
            </a:xfrm>
            <a:custGeom>
              <a:avLst/>
              <a:gdLst/>
              <a:ahLst/>
              <a:cxnLst/>
              <a:rect l="l" t="t" r="r" b="b"/>
              <a:pathLst>
                <a:path w="13334" h="51435">
                  <a:moveTo>
                    <a:pt x="12953" y="51053"/>
                  </a:moveTo>
                  <a:lnTo>
                    <a:pt x="12953" y="0"/>
                  </a:lnTo>
                  <a:lnTo>
                    <a:pt x="0" y="0"/>
                  </a:lnTo>
                  <a:lnTo>
                    <a:pt x="0" y="51053"/>
                  </a:lnTo>
                  <a:lnTo>
                    <a:pt x="12953" y="51053"/>
                  </a:lnTo>
                  <a:close/>
                </a:path>
              </a:pathLst>
            </a:custGeom>
            <a:solidFill>
              <a:srgbClr val="0F1A81"/>
            </a:solidFill>
          </p:spPr>
          <p:txBody>
            <a:bodyPr wrap="square" lIns="0" tIns="0" rIns="0" bIns="0" rtlCol="0"/>
            <a:lstStyle/>
            <a:p>
              <a:endParaRPr sz="2052"/>
            </a:p>
          </p:txBody>
        </p:sp>
        <p:sp>
          <p:nvSpPr>
            <p:cNvPr id="190" name="object 190"/>
            <p:cNvSpPr/>
            <p:nvPr/>
          </p:nvSpPr>
          <p:spPr>
            <a:xfrm>
              <a:off x="7800103" y="4657576"/>
              <a:ext cx="11403" cy="11403"/>
            </a:xfrm>
            <a:custGeom>
              <a:avLst/>
              <a:gdLst/>
              <a:ahLst/>
              <a:cxnLst/>
              <a:rect l="l" t="t" r="r" b="b"/>
              <a:pathLst>
                <a:path w="13334" h="13335">
                  <a:moveTo>
                    <a:pt x="12953" y="12953"/>
                  </a:moveTo>
                  <a:lnTo>
                    <a:pt x="12953" y="0"/>
                  </a:lnTo>
                  <a:lnTo>
                    <a:pt x="0" y="0"/>
                  </a:lnTo>
                  <a:lnTo>
                    <a:pt x="0" y="12953"/>
                  </a:lnTo>
                  <a:lnTo>
                    <a:pt x="12953" y="12953"/>
                  </a:lnTo>
                  <a:close/>
                </a:path>
              </a:pathLst>
            </a:custGeom>
            <a:solidFill>
              <a:srgbClr val="0F1A81"/>
            </a:solidFill>
          </p:spPr>
          <p:txBody>
            <a:bodyPr wrap="square" lIns="0" tIns="0" rIns="0" bIns="0" rtlCol="0"/>
            <a:lstStyle/>
            <a:p>
              <a:endParaRPr sz="2052"/>
            </a:p>
          </p:txBody>
        </p:sp>
        <p:sp>
          <p:nvSpPr>
            <p:cNvPr id="191" name="object 191"/>
            <p:cNvSpPr/>
            <p:nvPr/>
          </p:nvSpPr>
          <p:spPr>
            <a:xfrm>
              <a:off x="7800103" y="4701232"/>
              <a:ext cx="11403" cy="43439"/>
            </a:xfrm>
            <a:custGeom>
              <a:avLst/>
              <a:gdLst/>
              <a:ahLst/>
              <a:cxnLst/>
              <a:rect l="l" t="t" r="r" b="b"/>
              <a:pathLst>
                <a:path w="13334" h="50800">
                  <a:moveTo>
                    <a:pt x="12953" y="50291"/>
                  </a:moveTo>
                  <a:lnTo>
                    <a:pt x="12953" y="0"/>
                  </a:lnTo>
                  <a:lnTo>
                    <a:pt x="0" y="0"/>
                  </a:lnTo>
                  <a:lnTo>
                    <a:pt x="0" y="50291"/>
                  </a:lnTo>
                  <a:lnTo>
                    <a:pt x="12953" y="50291"/>
                  </a:lnTo>
                  <a:close/>
                </a:path>
              </a:pathLst>
            </a:custGeom>
            <a:solidFill>
              <a:srgbClr val="0F1A81"/>
            </a:solidFill>
          </p:spPr>
          <p:txBody>
            <a:bodyPr wrap="square" lIns="0" tIns="0" rIns="0" bIns="0" rtlCol="0"/>
            <a:lstStyle/>
            <a:p>
              <a:endParaRPr sz="2052"/>
            </a:p>
          </p:txBody>
        </p:sp>
        <p:sp>
          <p:nvSpPr>
            <p:cNvPr id="192" name="object 192"/>
            <p:cNvSpPr/>
            <p:nvPr/>
          </p:nvSpPr>
          <p:spPr>
            <a:xfrm>
              <a:off x="7800103" y="4776816"/>
              <a:ext cx="11403" cy="11403"/>
            </a:xfrm>
            <a:custGeom>
              <a:avLst/>
              <a:gdLst/>
              <a:ahLst/>
              <a:cxnLst/>
              <a:rect l="l" t="t" r="r" b="b"/>
              <a:pathLst>
                <a:path w="13334" h="13335">
                  <a:moveTo>
                    <a:pt x="12953" y="12953"/>
                  </a:moveTo>
                  <a:lnTo>
                    <a:pt x="12953" y="0"/>
                  </a:lnTo>
                  <a:lnTo>
                    <a:pt x="0" y="0"/>
                  </a:lnTo>
                  <a:lnTo>
                    <a:pt x="0" y="12953"/>
                  </a:lnTo>
                  <a:lnTo>
                    <a:pt x="12953" y="12953"/>
                  </a:lnTo>
                  <a:close/>
                </a:path>
              </a:pathLst>
            </a:custGeom>
            <a:solidFill>
              <a:srgbClr val="0F1A81"/>
            </a:solidFill>
          </p:spPr>
          <p:txBody>
            <a:bodyPr wrap="square" lIns="0" tIns="0" rIns="0" bIns="0" rtlCol="0"/>
            <a:lstStyle/>
            <a:p>
              <a:endParaRPr sz="2052"/>
            </a:p>
          </p:txBody>
        </p:sp>
        <p:sp>
          <p:nvSpPr>
            <p:cNvPr id="193" name="object 193"/>
            <p:cNvSpPr/>
            <p:nvPr/>
          </p:nvSpPr>
          <p:spPr>
            <a:xfrm>
              <a:off x="7800103" y="4820474"/>
              <a:ext cx="11403" cy="43982"/>
            </a:xfrm>
            <a:custGeom>
              <a:avLst/>
              <a:gdLst/>
              <a:ahLst/>
              <a:cxnLst/>
              <a:rect l="l" t="t" r="r" b="b"/>
              <a:pathLst>
                <a:path w="13334" h="51435">
                  <a:moveTo>
                    <a:pt x="12953" y="51053"/>
                  </a:moveTo>
                  <a:lnTo>
                    <a:pt x="12953" y="0"/>
                  </a:lnTo>
                  <a:lnTo>
                    <a:pt x="0" y="0"/>
                  </a:lnTo>
                  <a:lnTo>
                    <a:pt x="0" y="51053"/>
                  </a:lnTo>
                  <a:lnTo>
                    <a:pt x="12953" y="51053"/>
                  </a:lnTo>
                  <a:close/>
                </a:path>
              </a:pathLst>
            </a:custGeom>
            <a:solidFill>
              <a:srgbClr val="0F1A81"/>
            </a:solidFill>
          </p:spPr>
          <p:txBody>
            <a:bodyPr wrap="square" lIns="0" tIns="0" rIns="0" bIns="0" rtlCol="0"/>
            <a:lstStyle/>
            <a:p>
              <a:endParaRPr sz="2052"/>
            </a:p>
          </p:txBody>
        </p:sp>
        <p:sp>
          <p:nvSpPr>
            <p:cNvPr id="194" name="object 194"/>
            <p:cNvSpPr/>
            <p:nvPr/>
          </p:nvSpPr>
          <p:spPr>
            <a:xfrm>
              <a:off x="7800103" y="4896709"/>
              <a:ext cx="11403" cy="10860"/>
            </a:xfrm>
            <a:custGeom>
              <a:avLst/>
              <a:gdLst/>
              <a:ahLst/>
              <a:cxnLst/>
              <a:rect l="l" t="t" r="r" b="b"/>
              <a:pathLst>
                <a:path w="13334" h="12700">
                  <a:moveTo>
                    <a:pt x="12953" y="12192"/>
                  </a:moveTo>
                  <a:lnTo>
                    <a:pt x="12953" y="0"/>
                  </a:lnTo>
                  <a:lnTo>
                    <a:pt x="0" y="0"/>
                  </a:lnTo>
                  <a:lnTo>
                    <a:pt x="0" y="12192"/>
                  </a:lnTo>
                  <a:lnTo>
                    <a:pt x="12953" y="12192"/>
                  </a:lnTo>
                  <a:close/>
                </a:path>
              </a:pathLst>
            </a:custGeom>
            <a:solidFill>
              <a:srgbClr val="0F1A81"/>
            </a:solidFill>
          </p:spPr>
          <p:txBody>
            <a:bodyPr wrap="square" lIns="0" tIns="0" rIns="0" bIns="0" rtlCol="0"/>
            <a:lstStyle/>
            <a:p>
              <a:endParaRPr sz="2052"/>
            </a:p>
          </p:txBody>
        </p:sp>
        <p:sp>
          <p:nvSpPr>
            <p:cNvPr id="195" name="object 195"/>
            <p:cNvSpPr/>
            <p:nvPr/>
          </p:nvSpPr>
          <p:spPr>
            <a:xfrm>
              <a:off x="7800103" y="4939715"/>
              <a:ext cx="11403" cy="43982"/>
            </a:xfrm>
            <a:custGeom>
              <a:avLst/>
              <a:gdLst/>
              <a:ahLst/>
              <a:cxnLst/>
              <a:rect l="l" t="t" r="r" b="b"/>
              <a:pathLst>
                <a:path w="13334" h="51435">
                  <a:moveTo>
                    <a:pt x="12953" y="51053"/>
                  </a:moveTo>
                  <a:lnTo>
                    <a:pt x="12953" y="0"/>
                  </a:lnTo>
                  <a:lnTo>
                    <a:pt x="0" y="0"/>
                  </a:lnTo>
                  <a:lnTo>
                    <a:pt x="0" y="51053"/>
                  </a:lnTo>
                  <a:lnTo>
                    <a:pt x="12953" y="51053"/>
                  </a:lnTo>
                  <a:close/>
                </a:path>
              </a:pathLst>
            </a:custGeom>
            <a:solidFill>
              <a:srgbClr val="0F1A81"/>
            </a:solidFill>
          </p:spPr>
          <p:txBody>
            <a:bodyPr wrap="square" lIns="0" tIns="0" rIns="0" bIns="0" rtlCol="0"/>
            <a:lstStyle/>
            <a:p>
              <a:endParaRPr sz="2052"/>
            </a:p>
          </p:txBody>
        </p:sp>
        <p:sp>
          <p:nvSpPr>
            <p:cNvPr id="196" name="object 196"/>
            <p:cNvSpPr/>
            <p:nvPr/>
          </p:nvSpPr>
          <p:spPr>
            <a:xfrm>
              <a:off x="7800103" y="5015951"/>
              <a:ext cx="11403" cy="11403"/>
            </a:xfrm>
            <a:custGeom>
              <a:avLst/>
              <a:gdLst/>
              <a:ahLst/>
              <a:cxnLst/>
              <a:rect l="l" t="t" r="r" b="b"/>
              <a:pathLst>
                <a:path w="13334" h="13335">
                  <a:moveTo>
                    <a:pt x="12953" y="12953"/>
                  </a:moveTo>
                  <a:lnTo>
                    <a:pt x="12953" y="0"/>
                  </a:lnTo>
                  <a:lnTo>
                    <a:pt x="0" y="0"/>
                  </a:lnTo>
                  <a:lnTo>
                    <a:pt x="0" y="12953"/>
                  </a:lnTo>
                  <a:lnTo>
                    <a:pt x="12953" y="12953"/>
                  </a:lnTo>
                  <a:close/>
                </a:path>
              </a:pathLst>
            </a:custGeom>
            <a:solidFill>
              <a:srgbClr val="0F1A81"/>
            </a:solidFill>
          </p:spPr>
          <p:txBody>
            <a:bodyPr wrap="square" lIns="0" tIns="0" rIns="0" bIns="0" rtlCol="0"/>
            <a:lstStyle/>
            <a:p>
              <a:endParaRPr sz="2052"/>
            </a:p>
          </p:txBody>
        </p:sp>
        <p:sp>
          <p:nvSpPr>
            <p:cNvPr id="197" name="object 197"/>
            <p:cNvSpPr/>
            <p:nvPr/>
          </p:nvSpPr>
          <p:spPr>
            <a:xfrm>
              <a:off x="7800103" y="5059607"/>
              <a:ext cx="11403" cy="43439"/>
            </a:xfrm>
            <a:custGeom>
              <a:avLst/>
              <a:gdLst/>
              <a:ahLst/>
              <a:cxnLst/>
              <a:rect l="l" t="t" r="r" b="b"/>
              <a:pathLst>
                <a:path w="13334" h="50800">
                  <a:moveTo>
                    <a:pt x="12953" y="50291"/>
                  </a:moveTo>
                  <a:lnTo>
                    <a:pt x="12953" y="0"/>
                  </a:lnTo>
                  <a:lnTo>
                    <a:pt x="0" y="0"/>
                  </a:lnTo>
                  <a:lnTo>
                    <a:pt x="0" y="50291"/>
                  </a:lnTo>
                  <a:lnTo>
                    <a:pt x="12953" y="50291"/>
                  </a:lnTo>
                  <a:close/>
                </a:path>
              </a:pathLst>
            </a:custGeom>
            <a:solidFill>
              <a:srgbClr val="0F1A81"/>
            </a:solidFill>
          </p:spPr>
          <p:txBody>
            <a:bodyPr wrap="square" lIns="0" tIns="0" rIns="0" bIns="0" rtlCol="0"/>
            <a:lstStyle/>
            <a:p>
              <a:endParaRPr sz="2052"/>
            </a:p>
          </p:txBody>
        </p:sp>
        <p:sp>
          <p:nvSpPr>
            <p:cNvPr id="198" name="object 198"/>
            <p:cNvSpPr/>
            <p:nvPr/>
          </p:nvSpPr>
          <p:spPr>
            <a:xfrm>
              <a:off x="7800103" y="5135192"/>
              <a:ext cx="11403" cy="11403"/>
            </a:xfrm>
            <a:custGeom>
              <a:avLst/>
              <a:gdLst/>
              <a:ahLst/>
              <a:cxnLst/>
              <a:rect l="l" t="t" r="r" b="b"/>
              <a:pathLst>
                <a:path w="13334" h="13335">
                  <a:moveTo>
                    <a:pt x="12953" y="12953"/>
                  </a:moveTo>
                  <a:lnTo>
                    <a:pt x="12953" y="0"/>
                  </a:lnTo>
                  <a:lnTo>
                    <a:pt x="0" y="0"/>
                  </a:lnTo>
                  <a:lnTo>
                    <a:pt x="0" y="12953"/>
                  </a:lnTo>
                  <a:lnTo>
                    <a:pt x="12953" y="12953"/>
                  </a:lnTo>
                  <a:close/>
                </a:path>
              </a:pathLst>
            </a:custGeom>
            <a:solidFill>
              <a:srgbClr val="0F1A81"/>
            </a:solidFill>
          </p:spPr>
          <p:txBody>
            <a:bodyPr wrap="square" lIns="0" tIns="0" rIns="0" bIns="0" rtlCol="0"/>
            <a:lstStyle/>
            <a:p>
              <a:endParaRPr sz="2052"/>
            </a:p>
          </p:txBody>
        </p:sp>
        <p:sp>
          <p:nvSpPr>
            <p:cNvPr id="199" name="object 199"/>
            <p:cNvSpPr/>
            <p:nvPr/>
          </p:nvSpPr>
          <p:spPr>
            <a:xfrm>
              <a:off x="7800103" y="5178849"/>
              <a:ext cx="11403" cy="43982"/>
            </a:xfrm>
            <a:custGeom>
              <a:avLst/>
              <a:gdLst/>
              <a:ahLst/>
              <a:cxnLst/>
              <a:rect l="l" t="t" r="r" b="b"/>
              <a:pathLst>
                <a:path w="13334" h="51435">
                  <a:moveTo>
                    <a:pt x="12953" y="51053"/>
                  </a:moveTo>
                  <a:lnTo>
                    <a:pt x="12953" y="0"/>
                  </a:lnTo>
                  <a:lnTo>
                    <a:pt x="0" y="0"/>
                  </a:lnTo>
                  <a:lnTo>
                    <a:pt x="0" y="51053"/>
                  </a:lnTo>
                  <a:lnTo>
                    <a:pt x="12953" y="51053"/>
                  </a:lnTo>
                  <a:close/>
                </a:path>
              </a:pathLst>
            </a:custGeom>
            <a:solidFill>
              <a:srgbClr val="0F1A81"/>
            </a:solidFill>
          </p:spPr>
          <p:txBody>
            <a:bodyPr wrap="square" lIns="0" tIns="0" rIns="0" bIns="0" rtlCol="0"/>
            <a:lstStyle/>
            <a:p>
              <a:endParaRPr sz="2052"/>
            </a:p>
          </p:txBody>
        </p:sp>
        <p:sp>
          <p:nvSpPr>
            <p:cNvPr id="200" name="object 200"/>
            <p:cNvSpPr/>
            <p:nvPr/>
          </p:nvSpPr>
          <p:spPr>
            <a:xfrm>
              <a:off x="7800103" y="5255084"/>
              <a:ext cx="11403" cy="10860"/>
            </a:xfrm>
            <a:custGeom>
              <a:avLst/>
              <a:gdLst/>
              <a:ahLst/>
              <a:cxnLst/>
              <a:rect l="l" t="t" r="r" b="b"/>
              <a:pathLst>
                <a:path w="13334" h="12700">
                  <a:moveTo>
                    <a:pt x="12953" y="12192"/>
                  </a:moveTo>
                  <a:lnTo>
                    <a:pt x="12953" y="0"/>
                  </a:lnTo>
                  <a:lnTo>
                    <a:pt x="0" y="0"/>
                  </a:lnTo>
                  <a:lnTo>
                    <a:pt x="0" y="12192"/>
                  </a:lnTo>
                  <a:lnTo>
                    <a:pt x="12953" y="12192"/>
                  </a:lnTo>
                  <a:close/>
                </a:path>
              </a:pathLst>
            </a:custGeom>
            <a:solidFill>
              <a:srgbClr val="0F1A81"/>
            </a:solidFill>
          </p:spPr>
          <p:txBody>
            <a:bodyPr wrap="square" lIns="0" tIns="0" rIns="0" bIns="0" rtlCol="0"/>
            <a:lstStyle/>
            <a:p>
              <a:endParaRPr sz="2052"/>
            </a:p>
          </p:txBody>
        </p:sp>
        <p:sp>
          <p:nvSpPr>
            <p:cNvPr id="201" name="object 201"/>
            <p:cNvSpPr/>
            <p:nvPr/>
          </p:nvSpPr>
          <p:spPr>
            <a:xfrm>
              <a:off x="7800103" y="5298090"/>
              <a:ext cx="11403" cy="43982"/>
            </a:xfrm>
            <a:custGeom>
              <a:avLst/>
              <a:gdLst/>
              <a:ahLst/>
              <a:cxnLst/>
              <a:rect l="l" t="t" r="r" b="b"/>
              <a:pathLst>
                <a:path w="13334" h="51435">
                  <a:moveTo>
                    <a:pt x="12953" y="51053"/>
                  </a:moveTo>
                  <a:lnTo>
                    <a:pt x="12953" y="0"/>
                  </a:lnTo>
                  <a:lnTo>
                    <a:pt x="0" y="0"/>
                  </a:lnTo>
                  <a:lnTo>
                    <a:pt x="0" y="51053"/>
                  </a:lnTo>
                  <a:lnTo>
                    <a:pt x="12953" y="51053"/>
                  </a:lnTo>
                  <a:close/>
                </a:path>
              </a:pathLst>
            </a:custGeom>
            <a:solidFill>
              <a:srgbClr val="0F1A81"/>
            </a:solidFill>
          </p:spPr>
          <p:txBody>
            <a:bodyPr wrap="square" lIns="0" tIns="0" rIns="0" bIns="0" rtlCol="0"/>
            <a:lstStyle/>
            <a:p>
              <a:endParaRPr sz="2052"/>
            </a:p>
          </p:txBody>
        </p:sp>
        <p:sp>
          <p:nvSpPr>
            <p:cNvPr id="202" name="object 202"/>
            <p:cNvSpPr/>
            <p:nvPr/>
          </p:nvSpPr>
          <p:spPr>
            <a:xfrm>
              <a:off x="7800103" y="5374327"/>
              <a:ext cx="11403" cy="11403"/>
            </a:xfrm>
            <a:custGeom>
              <a:avLst/>
              <a:gdLst/>
              <a:ahLst/>
              <a:cxnLst/>
              <a:rect l="l" t="t" r="r" b="b"/>
              <a:pathLst>
                <a:path w="13334" h="13335">
                  <a:moveTo>
                    <a:pt x="12953" y="12953"/>
                  </a:moveTo>
                  <a:lnTo>
                    <a:pt x="12953" y="0"/>
                  </a:lnTo>
                  <a:lnTo>
                    <a:pt x="0" y="0"/>
                  </a:lnTo>
                  <a:lnTo>
                    <a:pt x="0" y="12953"/>
                  </a:lnTo>
                  <a:lnTo>
                    <a:pt x="12953" y="12953"/>
                  </a:lnTo>
                  <a:close/>
                </a:path>
              </a:pathLst>
            </a:custGeom>
            <a:solidFill>
              <a:srgbClr val="0F1A81"/>
            </a:solidFill>
          </p:spPr>
          <p:txBody>
            <a:bodyPr wrap="square" lIns="0" tIns="0" rIns="0" bIns="0" rtlCol="0"/>
            <a:lstStyle/>
            <a:p>
              <a:endParaRPr sz="2052"/>
            </a:p>
          </p:txBody>
        </p:sp>
        <p:sp>
          <p:nvSpPr>
            <p:cNvPr id="203" name="object 203"/>
            <p:cNvSpPr/>
            <p:nvPr/>
          </p:nvSpPr>
          <p:spPr>
            <a:xfrm>
              <a:off x="7800103" y="5417982"/>
              <a:ext cx="11403" cy="43439"/>
            </a:xfrm>
            <a:custGeom>
              <a:avLst/>
              <a:gdLst/>
              <a:ahLst/>
              <a:cxnLst/>
              <a:rect l="l" t="t" r="r" b="b"/>
              <a:pathLst>
                <a:path w="13334" h="50800">
                  <a:moveTo>
                    <a:pt x="12953" y="50291"/>
                  </a:moveTo>
                  <a:lnTo>
                    <a:pt x="12953" y="0"/>
                  </a:lnTo>
                  <a:lnTo>
                    <a:pt x="0" y="0"/>
                  </a:lnTo>
                  <a:lnTo>
                    <a:pt x="0" y="50291"/>
                  </a:lnTo>
                  <a:lnTo>
                    <a:pt x="12953" y="50291"/>
                  </a:lnTo>
                  <a:close/>
                </a:path>
              </a:pathLst>
            </a:custGeom>
            <a:solidFill>
              <a:srgbClr val="0F1A81"/>
            </a:solidFill>
          </p:spPr>
          <p:txBody>
            <a:bodyPr wrap="square" lIns="0" tIns="0" rIns="0" bIns="0" rtlCol="0"/>
            <a:lstStyle/>
            <a:p>
              <a:endParaRPr sz="2052"/>
            </a:p>
          </p:txBody>
        </p:sp>
        <p:sp>
          <p:nvSpPr>
            <p:cNvPr id="204" name="object 204"/>
            <p:cNvSpPr/>
            <p:nvPr/>
          </p:nvSpPr>
          <p:spPr>
            <a:xfrm>
              <a:off x="7800103" y="5493567"/>
              <a:ext cx="11403" cy="11403"/>
            </a:xfrm>
            <a:custGeom>
              <a:avLst/>
              <a:gdLst/>
              <a:ahLst/>
              <a:cxnLst/>
              <a:rect l="l" t="t" r="r" b="b"/>
              <a:pathLst>
                <a:path w="13334" h="13335">
                  <a:moveTo>
                    <a:pt x="12953" y="12953"/>
                  </a:moveTo>
                  <a:lnTo>
                    <a:pt x="12953" y="0"/>
                  </a:lnTo>
                  <a:lnTo>
                    <a:pt x="0" y="0"/>
                  </a:lnTo>
                  <a:lnTo>
                    <a:pt x="0" y="12953"/>
                  </a:lnTo>
                  <a:lnTo>
                    <a:pt x="12953" y="12953"/>
                  </a:lnTo>
                  <a:close/>
                </a:path>
              </a:pathLst>
            </a:custGeom>
            <a:solidFill>
              <a:srgbClr val="0F1A81"/>
            </a:solidFill>
          </p:spPr>
          <p:txBody>
            <a:bodyPr wrap="square" lIns="0" tIns="0" rIns="0" bIns="0" rtlCol="0"/>
            <a:lstStyle/>
            <a:p>
              <a:endParaRPr sz="2052"/>
            </a:p>
          </p:txBody>
        </p:sp>
        <p:sp>
          <p:nvSpPr>
            <p:cNvPr id="205" name="object 205"/>
            <p:cNvSpPr/>
            <p:nvPr/>
          </p:nvSpPr>
          <p:spPr>
            <a:xfrm>
              <a:off x="7800103" y="5537224"/>
              <a:ext cx="11403" cy="22806"/>
            </a:xfrm>
            <a:custGeom>
              <a:avLst/>
              <a:gdLst/>
              <a:ahLst/>
              <a:cxnLst/>
              <a:rect l="l" t="t" r="r" b="b"/>
              <a:pathLst>
                <a:path w="13334" h="26670">
                  <a:moveTo>
                    <a:pt x="12953" y="26670"/>
                  </a:moveTo>
                  <a:lnTo>
                    <a:pt x="12953" y="0"/>
                  </a:lnTo>
                  <a:lnTo>
                    <a:pt x="0" y="0"/>
                  </a:lnTo>
                  <a:lnTo>
                    <a:pt x="0" y="26670"/>
                  </a:lnTo>
                  <a:lnTo>
                    <a:pt x="12953" y="26670"/>
                  </a:lnTo>
                  <a:close/>
                </a:path>
              </a:pathLst>
            </a:custGeom>
            <a:solidFill>
              <a:srgbClr val="0F1A81"/>
            </a:solidFill>
          </p:spPr>
          <p:txBody>
            <a:bodyPr wrap="square" lIns="0" tIns="0" rIns="0" bIns="0" rtlCol="0"/>
            <a:lstStyle/>
            <a:p>
              <a:endParaRPr sz="2052"/>
            </a:p>
          </p:txBody>
        </p:sp>
        <p:sp>
          <p:nvSpPr>
            <p:cNvPr id="206" name="object 206"/>
            <p:cNvSpPr txBox="1"/>
            <p:nvPr/>
          </p:nvSpPr>
          <p:spPr>
            <a:xfrm>
              <a:off x="7716753" y="1819848"/>
              <a:ext cx="166699" cy="318194"/>
            </a:xfrm>
            <a:prstGeom prst="rect">
              <a:avLst/>
            </a:prstGeom>
          </p:spPr>
          <p:txBody>
            <a:bodyPr vert="horz" wrap="square" lIns="0" tIns="10317" rIns="0" bIns="0" rtlCol="0">
              <a:spAutoFit/>
            </a:bodyPr>
            <a:lstStyle/>
            <a:p>
              <a:pPr marL="10860">
                <a:spcBef>
                  <a:spcPts val="81"/>
                </a:spcBef>
              </a:pPr>
              <a:r>
                <a:rPr sz="2000" b="1" i="1" spc="-4" dirty="0">
                  <a:solidFill>
                    <a:srgbClr val="FF0000"/>
                  </a:solidFill>
                  <a:latin typeface="Times New Roman"/>
                  <a:cs typeface="Times New Roman"/>
                </a:rPr>
                <a:t>F</a:t>
              </a:r>
              <a:endParaRPr sz="2000" dirty="0">
                <a:latin typeface="Times New Roman"/>
                <a:cs typeface="Times New Roman"/>
              </a:endParaRPr>
            </a:p>
          </p:txBody>
        </p:sp>
        <p:sp>
          <p:nvSpPr>
            <p:cNvPr id="207" name="object 207"/>
            <p:cNvSpPr txBox="1"/>
            <p:nvPr/>
          </p:nvSpPr>
          <p:spPr>
            <a:xfrm>
              <a:off x="7716752" y="5854116"/>
              <a:ext cx="166699" cy="318194"/>
            </a:xfrm>
            <a:prstGeom prst="rect">
              <a:avLst/>
            </a:prstGeom>
          </p:spPr>
          <p:txBody>
            <a:bodyPr vert="horz" wrap="square" lIns="0" tIns="10317" rIns="0" bIns="0" rtlCol="0">
              <a:spAutoFit/>
            </a:bodyPr>
            <a:lstStyle/>
            <a:p>
              <a:pPr marL="10860">
                <a:spcBef>
                  <a:spcPts val="81"/>
                </a:spcBef>
              </a:pPr>
              <a:r>
                <a:rPr sz="2000" b="1" i="1" spc="-4" dirty="0">
                  <a:solidFill>
                    <a:srgbClr val="FF0000"/>
                  </a:solidFill>
                  <a:latin typeface="Times New Roman"/>
                  <a:cs typeface="Times New Roman"/>
                </a:rPr>
                <a:t>F</a:t>
              </a:r>
              <a:endParaRPr sz="2000" dirty="0">
                <a:latin typeface="Times New Roman"/>
                <a:cs typeface="Times New Roman"/>
              </a:endParaRPr>
            </a:p>
          </p:txBody>
        </p:sp>
        <p:sp>
          <p:nvSpPr>
            <p:cNvPr id="208" name="object 208"/>
            <p:cNvSpPr/>
            <p:nvPr/>
          </p:nvSpPr>
          <p:spPr>
            <a:xfrm>
              <a:off x="7774039" y="5560030"/>
              <a:ext cx="65159" cy="331769"/>
            </a:xfrm>
            <a:custGeom>
              <a:avLst/>
              <a:gdLst/>
              <a:ahLst/>
              <a:cxnLst/>
              <a:rect l="l" t="t" r="r" b="b"/>
              <a:pathLst>
                <a:path w="76200" h="387984">
                  <a:moveTo>
                    <a:pt x="76200" y="260604"/>
                  </a:moveTo>
                  <a:lnTo>
                    <a:pt x="0" y="260604"/>
                  </a:lnTo>
                  <a:lnTo>
                    <a:pt x="28943" y="357274"/>
                  </a:lnTo>
                  <a:lnTo>
                    <a:pt x="28943" y="273558"/>
                  </a:lnTo>
                  <a:lnTo>
                    <a:pt x="47993" y="273558"/>
                  </a:lnTo>
                  <a:lnTo>
                    <a:pt x="47993" y="354814"/>
                  </a:lnTo>
                  <a:lnTo>
                    <a:pt x="76200" y="260604"/>
                  </a:lnTo>
                  <a:close/>
                </a:path>
                <a:path w="76200" h="387984">
                  <a:moveTo>
                    <a:pt x="47993" y="260604"/>
                  </a:moveTo>
                  <a:lnTo>
                    <a:pt x="47993" y="0"/>
                  </a:lnTo>
                  <a:lnTo>
                    <a:pt x="28943" y="0"/>
                  </a:lnTo>
                  <a:lnTo>
                    <a:pt x="28943" y="260604"/>
                  </a:lnTo>
                  <a:lnTo>
                    <a:pt x="47993" y="260604"/>
                  </a:lnTo>
                  <a:close/>
                </a:path>
                <a:path w="76200" h="387984">
                  <a:moveTo>
                    <a:pt x="47993" y="354814"/>
                  </a:moveTo>
                  <a:lnTo>
                    <a:pt x="47993" y="273558"/>
                  </a:lnTo>
                  <a:lnTo>
                    <a:pt x="28943" y="273558"/>
                  </a:lnTo>
                  <a:lnTo>
                    <a:pt x="28943" y="357274"/>
                  </a:lnTo>
                  <a:lnTo>
                    <a:pt x="38100" y="387858"/>
                  </a:lnTo>
                  <a:lnTo>
                    <a:pt x="47993" y="354814"/>
                  </a:lnTo>
                  <a:close/>
                </a:path>
              </a:pathLst>
            </a:custGeom>
            <a:solidFill>
              <a:srgbClr val="FF0000"/>
            </a:solidFill>
          </p:spPr>
          <p:txBody>
            <a:bodyPr wrap="square" lIns="0" tIns="0" rIns="0" bIns="0" rtlCol="0"/>
            <a:lstStyle/>
            <a:p>
              <a:endParaRPr sz="2052"/>
            </a:p>
          </p:txBody>
        </p:sp>
        <p:sp>
          <p:nvSpPr>
            <p:cNvPr id="209" name="object 209"/>
            <p:cNvSpPr/>
            <p:nvPr/>
          </p:nvSpPr>
          <p:spPr>
            <a:xfrm>
              <a:off x="7324441" y="5560030"/>
              <a:ext cx="65159" cy="331769"/>
            </a:xfrm>
            <a:custGeom>
              <a:avLst/>
              <a:gdLst/>
              <a:ahLst/>
              <a:cxnLst/>
              <a:rect l="l" t="t" r="r" b="b"/>
              <a:pathLst>
                <a:path w="76200" h="387984">
                  <a:moveTo>
                    <a:pt x="76200" y="260604"/>
                  </a:moveTo>
                  <a:lnTo>
                    <a:pt x="0" y="260604"/>
                  </a:lnTo>
                  <a:lnTo>
                    <a:pt x="28194" y="354771"/>
                  </a:lnTo>
                  <a:lnTo>
                    <a:pt x="28194" y="273558"/>
                  </a:lnTo>
                  <a:lnTo>
                    <a:pt x="47244" y="273558"/>
                  </a:lnTo>
                  <a:lnTo>
                    <a:pt x="47244" y="357317"/>
                  </a:lnTo>
                  <a:lnTo>
                    <a:pt x="76200" y="260604"/>
                  </a:lnTo>
                  <a:close/>
                </a:path>
                <a:path w="76200" h="387984">
                  <a:moveTo>
                    <a:pt x="47244" y="260604"/>
                  </a:moveTo>
                  <a:lnTo>
                    <a:pt x="47244" y="0"/>
                  </a:lnTo>
                  <a:lnTo>
                    <a:pt x="28194" y="0"/>
                  </a:lnTo>
                  <a:lnTo>
                    <a:pt x="28194" y="260604"/>
                  </a:lnTo>
                  <a:lnTo>
                    <a:pt x="47244" y="260604"/>
                  </a:lnTo>
                  <a:close/>
                </a:path>
                <a:path w="76200" h="387984">
                  <a:moveTo>
                    <a:pt x="47244" y="357317"/>
                  </a:moveTo>
                  <a:lnTo>
                    <a:pt x="47244" y="273558"/>
                  </a:lnTo>
                  <a:lnTo>
                    <a:pt x="28194" y="273558"/>
                  </a:lnTo>
                  <a:lnTo>
                    <a:pt x="28194" y="354771"/>
                  </a:lnTo>
                  <a:lnTo>
                    <a:pt x="38100" y="387858"/>
                  </a:lnTo>
                  <a:lnTo>
                    <a:pt x="47244" y="357317"/>
                  </a:lnTo>
                  <a:close/>
                </a:path>
              </a:pathLst>
            </a:custGeom>
            <a:solidFill>
              <a:srgbClr val="FF0000"/>
            </a:solidFill>
          </p:spPr>
          <p:txBody>
            <a:bodyPr wrap="square" lIns="0" tIns="0" rIns="0" bIns="0" rtlCol="0"/>
            <a:lstStyle/>
            <a:p>
              <a:endParaRPr sz="2052"/>
            </a:p>
          </p:txBody>
        </p:sp>
        <p:sp>
          <p:nvSpPr>
            <p:cNvPr id="210" name="object 210"/>
            <p:cNvSpPr/>
            <p:nvPr/>
          </p:nvSpPr>
          <p:spPr>
            <a:xfrm>
              <a:off x="8223627" y="5560030"/>
              <a:ext cx="65159" cy="331769"/>
            </a:xfrm>
            <a:custGeom>
              <a:avLst/>
              <a:gdLst/>
              <a:ahLst/>
              <a:cxnLst/>
              <a:rect l="l" t="t" r="r" b="b"/>
              <a:pathLst>
                <a:path w="76200" h="387984">
                  <a:moveTo>
                    <a:pt x="76200" y="260604"/>
                  </a:moveTo>
                  <a:lnTo>
                    <a:pt x="0" y="260604"/>
                  </a:lnTo>
                  <a:lnTo>
                    <a:pt x="28968" y="357359"/>
                  </a:lnTo>
                  <a:lnTo>
                    <a:pt x="28968" y="273558"/>
                  </a:lnTo>
                  <a:lnTo>
                    <a:pt x="48018" y="273558"/>
                  </a:lnTo>
                  <a:lnTo>
                    <a:pt x="48018" y="354729"/>
                  </a:lnTo>
                  <a:lnTo>
                    <a:pt x="76200" y="260604"/>
                  </a:lnTo>
                  <a:close/>
                </a:path>
                <a:path w="76200" h="387984">
                  <a:moveTo>
                    <a:pt x="48018" y="260604"/>
                  </a:moveTo>
                  <a:lnTo>
                    <a:pt x="48018" y="0"/>
                  </a:lnTo>
                  <a:lnTo>
                    <a:pt x="28968" y="0"/>
                  </a:lnTo>
                  <a:lnTo>
                    <a:pt x="28968" y="260604"/>
                  </a:lnTo>
                  <a:lnTo>
                    <a:pt x="48018" y="260604"/>
                  </a:lnTo>
                  <a:close/>
                </a:path>
                <a:path w="76200" h="387984">
                  <a:moveTo>
                    <a:pt x="48018" y="354729"/>
                  </a:moveTo>
                  <a:lnTo>
                    <a:pt x="48018" y="273558"/>
                  </a:lnTo>
                  <a:lnTo>
                    <a:pt x="28968" y="273558"/>
                  </a:lnTo>
                  <a:lnTo>
                    <a:pt x="28968" y="357359"/>
                  </a:lnTo>
                  <a:lnTo>
                    <a:pt x="38100" y="387858"/>
                  </a:lnTo>
                  <a:lnTo>
                    <a:pt x="48018" y="354729"/>
                  </a:lnTo>
                  <a:close/>
                </a:path>
              </a:pathLst>
            </a:custGeom>
            <a:solidFill>
              <a:srgbClr val="FF0000"/>
            </a:solidFill>
          </p:spPr>
          <p:txBody>
            <a:bodyPr wrap="square" lIns="0" tIns="0" rIns="0" bIns="0" rtlCol="0"/>
            <a:lstStyle/>
            <a:p>
              <a:endParaRPr sz="2052"/>
            </a:p>
          </p:txBody>
        </p:sp>
        <p:sp>
          <p:nvSpPr>
            <p:cNvPr id="211" name="object 211"/>
            <p:cNvSpPr/>
            <p:nvPr/>
          </p:nvSpPr>
          <p:spPr>
            <a:xfrm>
              <a:off x="7549240" y="5560030"/>
              <a:ext cx="65159" cy="331769"/>
            </a:xfrm>
            <a:custGeom>
              <a:avLst/>
              <a:gdLst/>
              <a:ahLst/>
              <a:cxnLst/>
              <a:rect l="l" t="t" r="r" b="b"/>
              <a:pathLst>
                <a:path w="76200" h="387984">
                  <a:moveTo>
                    <a:pt x="76200" y="260604"/>
                  </a:moveTo>
                  <a:lnTo>
                    <a:pt x="0" y="260604"/>
                  </a:lnTo>
                  <a:lnTo>
                    <a:pt x="28181" y="354729"/>
                  </a:lnTo>
                  <a:lnTo>
                    <a:pt x="28181" y="273558"/>
                  </a:lnTo>
                  <a:lnTo>
                    <a:pt x="47231" y="273558"/>
                  </a:lnTo>
                  <a:lnTo>
                    <a:pt x="47231" y="357359"/>
                  </a:lnTo>
                  <a:lnTo>
                    <a:pt x="76200" y="260604"/>
                  </a:lnTo>
                  <a:close/>
                </a:path>
                <a:path w="76200" h="387984">
                  <a:moveTo>
                    <a:pt x="47231" y="260604"/>
                  </a:moveTo>
                  <a:lnTo>
                    <a:pt x="47231" y="0"/>
                  </a:lnTo>
                  <a:lnTo>
                    <a:pt x="28181" y="0"/>
                  </a:lnTo>
                  <a:lnTo>
                    <a:pt x="28181" y="260604"/>
                  </a:lnTo>
                  <a:lnTo>
                    <a:pt x="47231" y="260604"/>
                  </a:lnTo>
                  <a:close/>
                </a:path>
                <a:path w="76200" h="387984">
                  <a:moveTo>
                    <a:pt x="47231" y="357359"/>
                  </a:moveTo>
                  <a:lnTo>
                    <a:pt x="47231" y="273558"/>
                  </a:lnTo>
                  <a:lnTo>
                    <a:pt x="28181" y="273558"/>
                  </a:lnTo>
                  <a:lnTo>
                    <a:pt x="28181" y="354729"/>
                  </a:lnTo>
                  <a:lnTo>
                    <a:pt x="38100" y="387858"/>
                  </a:lnTo>
                  <a:lnTo>
                    <a:pt x="47231" y="357359"/>
                  </a:lnTo>
                  <a:close/>
                </a:path>
              </a:pathLst>
            </a:custGeom>
            <a:solidFill>
              <a:srgbClr val="FF0000"/>
            </a:solidFill>
          </p:spPr>
          <p:txBody>
            <a:bodyPr wrap="square" lIns="0" tIns="0" rIns="0" bIns="0" rtlCol="0"/>
            <a:lstStyle/>
            <a:p>
              <a:endParaRPr sz="2052"/>
            </a:p>
          </p:txBody>
        </p:sp>
        <p:sp>
          <p:nvSpPr>
            <p:cNvPr id="212" name="object 212"/>
            <p:cNvSpPr/>
            <p:nvPr/>
          </p:nvSpPr>
          <p:spPr>
            <a:xfrm>
              <a:off x="7998839" y="5560030"/>
              <a:ext cx="65159" cy="331769"/>
            </a:xfrm>
            <a:custGeom>
              <a:avLst/>
              <a:gdLst/>
              <a:ahLst/>
              <a:cxnLst/>
              <a:rect l="l" t="t" r="r" b="b"/>
              <a:pathLst>
                <a:path w="76200" h="387984">
                  <a:moveTo>
                    <a:pt x="76200" y="260604"/>
                  </a:moveTo>
                  <a:lnTo>
                    <a:pt x="0" y="260604"/>
                  </a:lnTo>
                  <a:lnTo>
                    <a:pt x="28955" y="357317"/>
                  </a:lnTo>
                  <a:lnTo>
                    <a:pt x="28955" y="273558"/>
                  </a:lnTo>
                  <a:lnTo>
                    <a:pt x="48005" y="273558"/>
                  </a:lnTo>
                  <a:lnTo>
                    <a:pt x="48005" y="354771"/>
                  </a:lnTo>
                  <a:lnTo>
                    <a:pt x="76200" y="260604"/>
                  </a:lnTo>
                  <a:close/>
                </a:path>
                <a:path w="76200" h="387984">
                  <a:moveTo>
                    <a:pt x="48005" y="260604"/>
                  </a:moveTo>
                  <a:lnTo>
                    <a:pt x="48005" y="0"/>
                  </a:lnTo>
                  <a:lnTo>
                    <a:pt x="28955" y="0"/>
                  </a:lnTo>
                  <a:lnTo>
                    <a:pt x="28955" y="260604"/>
                  </a:lnTo>
                  <a:lnTo>
                    <a:pt x="48005" y="260604"/>
                  </a:lnTo>
                  <a:close/>
                </a:path>
                <a:path w="76200" h="387984">
                  <a:moveTo>
                    <a:pt x="48005" y="354771"/>
                  </a:moveTo>
                  <a:lnTo>
                    <a:pt x="48005" y="273558"/>
                  </a:lnTo>
                  <a:lnTo>
                    <a:pt x="28955" y="273558"/>
                  </a:lnTo>
                  <a:lnTo>
                    <a:pt x="28955" y="357317"/>
                  </a:lnTo>
                  <a:lnTo>
                    <a:pt x="38100" y="387858"/>
                  </a:lnTo>
                  <a:lnTo>
                    <a:pt x="48005" y="354771"/>
                  </a:lnTo>
                  <a:close/>
                </a:path>
              </a:pathLst>
            </a:custGeom>
            <a:solidFill>
              <a:srgbClr val="FF0000"/>
            </a:solidFill>
          </p:spPr>
          <p:txBody>
            <a:bodyPr wrap="square" lIns="0" tIns="0" rIns="0" bIns="0" rtlCol="0"/>
            <a:lstStyle/>
            <a:p>
              <a:endParaRPr sz="2052"/>
            </a:p>
          </p:txBody>
        </p:sp>
        <p:sp>
          <p:nvSpPr>
            <p:cNvPr id="213" name="object 213"/>
            <p:cNvSpPr/>
            <p:nvPr/>
          </p:nvSpPr>
          <p:spPr>
            <a:xfrm>
              <a:off x="7770119" y="2097472"/>
              <a:ext cx="65159" cy="331769"/>
            </a:xfrm>
            <a:custGeom>
              <a:avLst/>
              <a:gdLst/>
              <a:ahLst/>
              <a:cxnLst/>
              <a:rect l="l" t="t" r="r" b="b"/>
              <a:pathLst>
                <a:path w="76200" h="387985">
                  <a:moveTo>
                    <a:pt x="76200" y="127254"/>
                  </a:moveTo>
                  <a:lnTo>
                    <a:pt x="38100" y="0"/>
                  </a:lnTo>
                  <a:lnTo>
                    <a:pt x="0" y="127254"/>
                  </a:lnTo>
                  <a:lnTo>
                    <a:pt x="28206" y="127254"/>
                  </a:lnTo>
                  <a:lnTo>
                    <a:pt x="28206" y="114300"/>
                  </a:lnTo>
                  <a:lnTo>
                    <a:pt x="47256" y="114300"/>
                  </a:lnTo>
                  <a:lnTo>
                    <a:pt x="47256" y="127254"/>
                  </a:lnTo>
                  <a:lnTo>
                    <a:pt x="76200" y="127254"/>
                  </a:lnTo>
                  <a:close/>
                </a:path>
                <a:path w="76200" h="387985">
                  <a:moveTo>
                    <a:pt x="47256" y="127254"/>
                  </a:moveTo>
                  <a:lnTo>
                    <a:pt x="47256" y="114300"/>
                  </a:lnTo>
                  <a:lnTo>
                    <a:pt x="28206" y="114300"/>
                  </a:lnTo>
                  <a:lnTo>
                    <a:pt x="28206" y="127254"/>
                  </a:lnTo>
                  <a:lnTo>
                    <a:pt x="47256" y="127254"/>
                  </a:lnTo>
                  <a:close/>
                </a:path>
                <a:path w="76200" h="387985">
                  <a:moveTo>
                    <a:pt x="47256" y="387858"/>
                  </a:moveTo>
                  <a:lnTo>
                    <a:pt x="47256" y="127254"/>
                  </a:lnTo>
                  <a:lnTo>
                    <a:pt x="28206" y="127254"/>
                  </a:lnTo>
                  <a:lnTo>
                    <a:pt x="28206" y="387858"/>
                  </a:lnTo>
                  <a:lnTo>
                    <a:pt x="47256" y="387858"/>
                  </a:lnTo>
                  <a:close/>
                </a:path>
              </a:pathLst>
            </a:custGeom>
            <a:solidFill>
              <a:srgbClr val="FF0000"/>
            </a:solidFill>
          </p:spPr>
          <p:txBody>
            <a:bodyPr wrap="square" lIns="0" tIns="0" rIns="0" bIns="0" rtlCol="0"/>
            <a:lstStyle/>
            <a:p>
              <a:endParaRPr sz="2052"/>
            </a:p>
          </p:txBody>
        </p:sp>
        <p:sp>
          <p:nvSpPr>
            <p:cNvPr id="214" name="object 214"/>
            <p:cNvSpPr/>
            <p:nvPr/>
          </p:nvSpPr>
          <p:spPr>
            <a:xfrm>
              <a:off x="7319880" y="2097472"/>
              <a:ext cx="65159" cy="331769"/>
            </a:xfrm>
            <a:custGeom>
              <a:avLst/>
              <a:gdLst/>
              <a:ahLst/>
              <a:cxnLst/>
              <a:rect l="l" t="t" r="r" b="b"/>
              <a:pathLst>
                <a:path w="76200" h="387985">
                  <a:moveTo>
                    <a:pt x="76200" y="127253"/>
                  </a:moveTo>
                  <a:lnTo>
                    <a:pt x="38100" y="0"/>
                  </a:lnTo>
                  <a:lnTo>
                    <a:pt x="0" y="127253"/>
                  </a:lnTo>
                  <a:lnTo>
                    <a:pt x="28954" y="127253"/>
                  </a:lnTo>
                  <a:lnTo>
                    <a:pt x="28954" y="114300"/>
                  </a:lnTo>
                  <a:lnTo>
                    <a:pt x="48006" y="114300"/>
                  </a:lnTo>
                  <a:lnTo>
                    <a:pt x="48006" y="127253"/>
                  </a:lnTo>
                  <a:lnTo>
                    <a:pt x="76200" y="127253"/>
                  </a:lnTo>
                  <a:close/>
                </a:path>
                <a:path w="76200" h="387985">
                  <a:moveTo>
                    <a:pt x="48006" y="127253"/>
                  </a:moveTo>
                  <a:lnTo>
                    <a:pt x="48006" y="114300"/>
                  </a:lnTo>
                  <a:lnTo>
                    <a:pt x="28954" y="114300"/>
                  </a:lnTo>
                  <a:lnTo>
                    <a:pt x="28954" y="127253"/>
                  </a:lnTo>
                  <a:lnTo>
                    <a:pt x="48006" y="127253"/>
                  </a:lnTo>
                  <a:close/>
                </a:path>
                <a:path w="76200" h="387985">
                  <a:moveTo>
                    <a:pt x="48006" y="387857"/>
                  </a:moveTo>
                  <a:lnTo>
                    <a:pt x="48006" y="127253"/>
                  </a:lnTo>
                  <a:lnTo>
                    <a:pt x="28954" y="127253"/>
                  </a:lnTo>
                  <a:lnTo>
                    <a:pt x="28954" y="387857"/>
                  </a:lnTo>
                  <a:lnTo>
                    <a:pt x="48006" y="387857"/>
                  </a:lnTo>
                  <a:close/>
                </a:path>
              </a:pathLst>
            </a:custGeom>
            <a:solidFill>
              <a:srgbClr val="FF0000"/>
            </a:solidFill>
          </p:spPr>
          <p:txBody>
            <a:bodyPr wrap="square" lIns="0" tIns="0" rIns="0" bIns="0" rtlCol="0"/>
            <a:lstStyle/>
            <a:p>
              <a:endParaRPr sz="2052"/>
            </a:p>
          </p:txBody>
        </p:sp>
        <p:sp>
          <p:nvSpPr>
            <p:cNvPr id="215" name="object 215"/>
            <p:cNvSpPr/>
            <p:nvPr/>
          </p:nvSpPr>
          <p:spPr>
            <a:xfrm>
              <a:off x="8219728" y="2097472"/>
              <a:ext cx="65159" cy="331769"/>
            </a:xfrm>
            <a:custGeom>
              <a:avLst/>
              <a:gdLst/>
              <a:ahLst/>
              <a:cxnLst/>
              <a:rect l="l" t="t" r="r" b="b"/>
              <a:pathLst>
                <a:path w="76200" h="387985">
                  <a:moveTo>
                    <a:pt x="76200" y="127254"/>
                  </a:moveTo>
                  <a:lnTo>
                    <a:pt x="38100" y="0"/>
                  </a:lnTo>
                  <a:lnTo>
                    <a:pt x="0" y="127254"/>
                  </a:lnTo>
                  <a:lnTo>
                    <a:pt x="28181" y="127254"/>
                  </a:lnTo>
                  <a:lnTo>
                    <a:pt x="28181" y="114300"/>
                  </a:lnTo>
                  <a:lnTo>
                    <a:pt x="47231" y="114300"/>
                  </a:lnTo>
                  <a:lnTo>
                    <a:pt x="47231" y="127254"/>
                  </a:lnTo>
                  <a:lnTo>
                    <a:pt x="76200" y="127254"/>
                  </a:lnTo>
                  <a:close/>
                </a:path>
                <a:path w="76200" h="387985">
                  <a:moveTo>
                    <a:pt x="47231" y="127254"/>
                  </a:moveTo>
                  <a:lnTo>
                    <a:pt x="47231" y="114300"/>
                  </a:lnTo>
                  <a:lnTo>
                    <a:pt x="28181" y="114300"/>
                  </a:lnTo>
                  <a:lnTo>
                    <a:pt x="28181" y="127254"/>
                  </a:lnTo>
                  <a:lnTo>
                    <a:pt x="47231" y="127254"/>
                  </a:lnTo>
                  <a:close/>
                </a:path>
                <a:path w="76200" h="387985">
                  <a:moveTo>
                    <a:pt x="47231" y="387858"/>
                  </a:moveTo>
                  <a:lnTo>
                    <a:pt x="47231" y="127254"/>
                  </a:lnTo>
                  <a:lnTo>
                    <a:pt x="28181" y="127254"/>
                  </a:lnTo>
                  <a:lnTo>
                    <a:pt x="28181" y="387858"/>
                  </a:lnTo>
                  <a:lnTo>
                    <a:pt x="47231" y="387858"/>
                  </a:lnTo>
                  <a:close/>
                </a:path>
              </a:pathLst>
            </a:custGeom>
            <a:solidFill>
              <a:srgbClr val="FF0000"/>
            </a:solidFill>
          </p:spPr>
          <p:txBody>
            <a:bodyPr wrap="square" lIns="0" tIns="0" rIns="0" bIns="0" rtlCol="0"/>
            <a:lstStyle/>
            <a:p>
              <a:endParaRPr sz="2052"/>
            </a:p>
          </p:txBody>
        </p:sp>
        <p:sp>
          <p:nvSpPr>
            <p:cNvPr id="216" name="object 216"/>
            <p:cNvSpPr/>
            <p:nvPr/>
          </p:nvSpPr>
          <p:spPr>
            <a:xfrm>
              <a:off x="7545331" y="2097472"/>
              <a:ext cx="65159" cy="331769"/>
            </a:xfrm>
            <a:custGeom>
              <a:avLst/>
              <a:gdLst/>
              <a:ahLst/>
              <a:cxnLst/>
              <a:rect l="l" t="t" r="r" b="b"/>
              <a:pathLst>
                <a:path w="76200" h="387985">
                  <a:moveTo>
                    <a:pt x="76200" y="127254"/>
                  </a:moveTo>
                  <a:lnTo>
                    <a:pt x="38100" y="0"/>
                  </a:lnTo>
                  <a:lnTo>
                    <a:pt x="0" y="127254"/>
                  </a:lnTo>
                  <a:lnTo>
                    <a:pt x="28181" y="127254"/>
                  </a:lnTo>
                  <a:lnTo>
                    <a:pt x="28181" y="114300"/>
                  </a:lnTo>
                  <a:lnTo>
                    <a:pt x="47231" y="114300"/>
                  </a:lnTo>
                  <a:lnTo>
                    <a:pt x="47231" y="127254"/>
                  </a:lnTo>
                  <a:lnTo>
                    <a:pt x="76200" y="127254"/>
                  </a:lnTo>
                  <a:close/>
                </a:path>
                <a:path w="76200" h="387985">
                  <a:moveTo>
                    <a:pt x="47231" y="127254"/>
                  </a:moveTo>
                  <a:lnTo>
                    <a:pt x="47231" y="114300"/>
                  </a:lnTo>
                  <a:lnTo>
                    <a:pt x="28181" y="114300"/>
                  </a:lnTo>
                  <a:lnTo>
                    <a:pt x="28181" y="127254"/>
                  </a:lnTo>
                  <a:lnTo>
                    <a:pt x="47231" y="127254"/>
                  </a:lnTo>
                  <a:close/>
                </a:path>
                <a:path w="76200" h="387985">
                  <a:moveTo>
                    <a:pt x="47231" y="387858"/>
                  </a:moveTo>
                  <a:lnTo>
                    <a:pt x="47231" y="127254"/>
                  </a:lnTo>
                  <a:lnTo>
                    <a:pt x="28181" y="127254"/>
                  </a:lnTo>
                  <a:lnTo>
                    <a:pt x="28181" y="387858"/>
                  </a:lnTo>
                  <a:lnTo>
                    <a:pt x="47231" y="387858"/>
                  </a:lnTo>
                  <a:close/>
                </a:path>
              </a:pathLst>
            </a:custGeom>
            <a:solidFill>
              <a:srgbClr val="FF0000"/>
            </a:solidFill>
          </p:spPr>
          <p:txBody>
            <a:bodyPr wrap="square" lIns="0" tIns="0" rIns="0" bIns="0" rtlCol="0"/>
            <a:lstStyle/>
            <a:p>
              <a:endParaRPr sz="2052"/>
            </a:p>
          </p:txBody>
        </p:sp>
        <p:sp>
          <p:nvSpPr>
            <p:cNvPr id="217" name="object 217"/>
            <p:cNvSpPr/>
            <p:nvPr/>
          </p:nvSpPr>
          <p:spPr>
            <a:xfrm>
              <a:off x="7994929" y="2097472"/>
              <a:ext cx="65159" cy="331769"/>
            </a:xfrm>
            <a:custGeom>
              <a:avLst/>
              <a:gdLst/>
              <a:ahLst/>
              <a:cxnLst/>
              <a:rect l="l" t="t" r="r" b="b"/>
              <a:pathLst>
                <a:path w="76200" h="387985">
                  <a:moveTo>
                    <a:pt x="76200" y="127254"/>
                  </a:moveTo>
                  <a:lnTo>
                    <a:pt x="38100" y="0"/>
                  </a:lnTo>
                  <a:lnTo>
                    <a:pt x="0" y="127254"/>
                  </a:lnTo>
                  <a:lnTo>
                    <a:pt x="28193" y="127254"/>
                  </a:lnTo>
                  <a:lnTo>
                    <a:pt x="28193" y="114300"/>
                  </a:lnTo>
                  <a:lnTo>
                    <a:pt x="47243" y="114300"/>
                  </a:lnTo>
                  <a:lnTo>
                    <a:pt x="47243" y="127254"/>
                  </a:lnTo>
                  <a:lnTo>
                    <a:pt x="76200" y="127254"/>
                  </a:lnTo>
                  <a:close/>
                </a:path>
                <a:path w="76200" h="387985">
                  <a:moveTo>
                    <a:pt x="47243" y="127254"/>
                  </a:moveTo>
                  <a:lnTo>
                    <a:pt x="47243" y="114300"/>
                  </a:lnTo>
                  <a:lnTo>
                    <a:pt x="28193" y="114300"/>
                  </a:lnTo>
                  <a:lnTo>
                    <a:pt x="28193" y="127254"/>
                  </a:lnTo>
                  <a:lnTo>
                    <a:pt x="47243" y="127254"/>
                  </a:lnTo>
                  <a:close/>
                </a:path>
                <a:path w="76200" h="387985">
                  <a:moveTo>
                    <a:pt x="47243" y="387858"/>
                  </a:moveTo>
                  <a:lnTo>
                    <a:pt x="47243" y="127254"/>
                  </a:lnTo>
                  <a:lnTo>
                    <a:pt x="28193" y="127254"/>
                  </a:lnTo>
                  <a:lnTo>
                    <a:pt x="28193" y="387858"/>
                  </a:lnTo>
                  <a:lnTo>
                    <a:pt x="47243" y="387858"/>
                  </a:lnTo>
                  <a:close/>
                </a:path>
              </a:pathLst>
            </a:custGeom>
            <a:solidFill>
              <a:srgbClr val="FF0000"/>
            </a:solidFill>
          </p:spPr>
          <p:txBody>
            <a:bodyPr wrap="square" lIns="0" tIns="0" rIns="0" bIns="0" rtlCol="0"/>
            <a:lstStyle/>
            <a:p>
              <a:endParaRPr sz="2052"/>
            </a:p>
          </p:txBody>
        </p:sp>
        <p:sp>
          <p:nvSpPr>
            <p:cNvPr id="218" name="object 218"/>
            <p:cNvSpPr/>
            <p:nvPr/>
          </p:nvSpPr>
          <p:spPr>
            <a:xfrm>
              <a:off x="7802376" y="3878923"/>
              <a:ext cx="0" cy="230229"/>
            </a:xfrm>
            <a:custGeom>
              <a:avLst/>
              <a:gdLst/>
              <a:ahLst/>
              <a:cxnLst/>
              <a:rect l="l" t="t" r="r" b="b"/>
              <a:pathLst>
                <a:path h="269239">
                  <a:moveTo>
                    <a:pt x="0" y="0"/>
                  </a:moveTo>
                  <a:lnTo>
                    <a:pt x="0" y="268986"/>
                  </a:lnTo>
                </a:path>
              </a:pathLst>
            </a:custGeom>
            <a:ln w="51053">
              <a:solidFill>
                <a:srgbClr val="0F1A81"/>
              </a:solidFill>
            </a:ln>
          </p:spPr>
          <p:txBody>
            <a:bodyPr wrap="square" lIns="0" tIns="0" rIns="0" bIns="0" rtlCol="0"/>
            <a:lstStyle/>
            <a:p>
              <a:endParaRPr sz="2052"/>
            </a:p>
          </p:txBody>
        </p:sp>
      </p:grpSp>
      <p:sp>
        <p:nvSpPr>
          <p:cNvPr id="220" name="Rectangle 19"/>
          <p:cNvSpPr>
            <a:spLocks noChangeArrowheads="1"/>
          </p:cNvSpPr>
          <p:nvPr/>
        </p:nvSpPr>
        <p:spPr bwMode="auto">
          <a:xfrm>
            <a:off x="683568" y="617419"/>
            <a:ext cx="3467158" cy="585418"/>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zh-CN" sz="3200" b="1" dirty="0">
                <a:solidFill>
                  <a:srgbClr val="0000CC"/>
                </a:solidFill>
                <a:latin typeface="Times New Roman" panose="02020603050405020304" pitchFamily="18" charset="0"/>
                <a:ea typeface="隶书" panose="02010509060101010101" pitchFamily="49" charset="-122"/>
              </a:rPr>
              <a:t>6-7 </a:t>
            </a:r>
            <a:r>
              <a:rPr kumimoji="1" lang="zh-CN" altLang="en-US" sz="3200" b="1" dirty="0">
                <a:solidFill>
                  <a:srgbClr val="0000CC"/>
                </a:solidFill>
                <a:latin typeface="Times New Roman" panose="02020603050405020304" pitchFamily="18" charset="0"/>
                <a:ea typeface="隶书" panose="02010509060101010101" pitchFamily="49" charset="-122"/>
              </a:rPr>
              <a:t>应力集中</a:t>
            </a:r>
          </a:p>
        </p:txBody>
      </p:sp>
      <p:grpSp>
        <p:nvGrpSpPr>
          <p:cNvPr id="223" name="组合 222"/>
          <p:cNvGrpSpPr/>
          <p:nvPr/>
        </p:nvGrpSpPr>
        <p:grpSpPr>
          <a:xfrm>
            <a:off x="4820076" y="1772872"/>
            <a:ext cx="1225362" cy="4339165"/>
            <a:chOff x="4861426" y="1814356"/>
            <a:chExt cx="1225362" cy="4339165"/>
          </a:xfrm>
        </p:grpSpPr>
        <p:sp>
          <p:nvSpPr>
            <p:cNvPr id="11" name="object 11"/>
            <p:cNvSpPr/>
            <p:nvPr/>
          </p:nvSpPr>
          <p:spPr>
            <a:xfrm>
              <a:off x="4880322" y="2450636"/>
              <a:ext cx="923631" cy="3131982"/>
            </a:xfrm>
            <a:custGeom>
              <a:avLst/>
              <a:gdLst/>
              <a:ahLst/>
              <a:cxnLst/>
              <a:rect l="l" t="t" r="r" b="b"/>
              <a:pathLst>
                <a:path w="1080134" h="3662679">
                  <a:moveTo>
                    <a:pt x="0" y="0"/>
                  </a:moveTo>
                  <a:lnTo>
                    <a:pt x="0" y="3662172"/>
                  </a:lnTo>
                  <a:lnTo>
                    <a:pt x="1079754" y="3662171"/>
                  </a:lnTo>
                  <a:lnTo>
                    <a:pt x="1079754" y="0"/>
                  </a:lnTo>
                  <a:lnTo>
                    <a:pt x="0" y="0"/>
                  </a:lnTo>
                  <a:close/>
                </a:path>
              </a:pathLst>
            </a:custGeom>
            <a:solidFill>
              <a:srgbClr val="A4C226"/>
            </a:solidFill>
          </p:spPr>
          <p:txBody>
            <a:bodyPr wrap="square" lIns="0" tIns="0" rIns="0" bIns="0" rtlCol="0"/>
            <a:lstStyle/>
            <a:p>
              <a:endParaRPr sz="2052"/>
            </a:p>
          </p:txBody>
        </p:sp>
        <p:sp>
          <p:nvSpPr>
            <p:cNvPr id="12" name="object 12"/>
            <p:cNvSpPr/>
            <p:nvPr/>
          </p:nvSpPr>
          <p:spPr>
            <a:xfrm>
              <a:off x="5157900" y="3889350"/>
              <a:ext cx="369235" cy="220998"/>
            </a:xfrm>
            <a:custGeom>
              <a:avLst/>
              <a:gdLst/>
              <a:ahLst/>
              <a:cxnLst/>
              <a:rect l="l" t="t" r="r" b="b"/>
              <a:pathLst>
                <a:path w="431800" h="258445">
                  <a:moveTo>
                    <a:pt x="431292" y="128778"/>
                  </a:moveTo>
                  <a:lnTo>
                    <a:pt x="401799" y="63895"/>
                  </a:lnTo>
                  <a:lnTo>
                    <a:pt x="368045" y="37814"/>
                  </a:lnTo>
                  <a:lnTo>
                    <a:pt x="324386" y="17638"/>
                  </a:lnTo>
                  <a:lnTo>
                    <a:pt x="272894" y="4617"/>
                  </a:lnTo>
                  <a:lnTo>
                    <a:pt x="215646" y="0"/>
                  </a:lnTo>
                  <a:lnTo>
                    <a:pt x="158132" y="4617"/>
                  </a:lnTo>
                  <a:lnTo>
                    <a:pt x="106567" y="17638"/>
                  </a:lnTo>
                  <a:lnTo>
                    <a:pt x="62960" y="37814"/>
                  </a:lnTo>
                  <a:lnTo>
                    <a:pt x="29322" y="63895"/>
                  </a:lnTo>
                  <a:lnTo>
                    <a:pt x="0" y="128778"/>
                  </a:lnTo>
                  <a:lnTo>
                    <a:pt x="7665" y="163244"/>
                  </a:lnTo>
                  <a:lnTo>
                    <a:pt x="62960" y="220408"/>
                  </a:lnTo>
                  <a:lnTo>
                    <a:pt x="106567" y="240650"/>
                  </a:lnTo>
                  <a:lnTo>
                    <a:pt x="158132" y="253696"/>
                  </a:lnTo>
                  <a:lnTo>
                    <a:pt x="215646" y="258318"/>
                  </a:lnTo>
                  <a:lnTo>
                    <a:pt x="272894" y="253696"/>
                  </a:lnTo>
                  <a:lnTo>
                    <a:pt x="324386" y="240650"/>
                  </a:lnTo>
                  <a:lnTo>
                    <a:pt x="368045" y="220408"/>
                  </a:lnTo>
                  <a:lnTo>
                    <a:pt x="401799" y="194197"/>
                  </a:lnTo>
                  <a:lnTo>
                    <a:pt x="431292" y="128778"/>
                  </a:lnTo>
                  <a:close/>
                </a:path>
              </a:pathLst>
            </a:custGeom>
            <a:solidFill>
              <a:srgbClr val="FFFFFF"/>
            </a:solidFill>
          </p:spPr>
          <p:txBody>
            <a:bodyPr wrap="square" lIns="0" tIns="0" rIns="0" bIns="0" rtlCol="0"/>
            <a:lstStyle/>
            <a:p>
              <a:endParaRPr sz="2052"/>
            </a:p>
          </p:txBody>
        </p:sp>
        <p:sp>
          <p:nvSpPr>
            <p:cNvPr id="13" name="object 13"/>
            <p:cNvSpPr/>
            <p:nvPr/>
          </p:nvSpPr>
          <p:spPr>
            <a:xfrm>
              <a:off x="5153339" y="3885423"/>
              <a:ext cx="377380" cy="228600"/>
            </a:xfrm>
            <a:custGeom>
              <a:avLst/>
              <a:gdLst/>
              <a:ahLst/>
              <a:cxnLst/>
              <a:rect l="l" t="t" r="r" b="b"/>
              <a:pathLst>
                <a:path w="441325" h="267335">
                  <a:moveTo>
                    <a:pt x="441198" y="133369"/>
                  </a:moveTo>
                  <a:lnTo>
                    <a:pt x="441198" y="126511"/>
                  </a:lnTo>
                  <a:lnTo>
                    <a:pt x="439673" y="119653"/>
                  </a:lnTo>
                  <a:lnTo>
                    <a:pt x="406207" y="61014"/>
                  </a:lnTo>
                  <a:lnTo>
                    <a:pt x="343656" y="21943"/>
                  </a:lnTo>
                  <a:lnTo>
                    <a:pt x="305107" y="9742"/>
                  </a:lnTo>
                  <a:lnTo>
                    <a:pt x="263646" y="2428"/>
                  </a:lnTo>
                  <a:lnTo>
                    <a:pt x="220727" y="0"/>
                  </a:lnTo>
                  <a:lnTo>
                    <a:pt x="177803" y="2455"/>
                  </a:lnTo>
                  <a:lnTo>
                    <a:pt x="136326" y="9792"/>
                  </a:lnTo>
                  <a:lnTo>
                    <a:pt x="97751" y="22010"/>
                  </a:lnTo>
                  <a:lnTo>
                    <a:pt x="63530" y="39107"/>
                  </a:lnTo>
                  <a:lnTo>
                    <a:pt x="13963" y="87930"/>
                  </a:lnTo>
                  <a:lnTo>
                    <a:pt x="761" y="126511"/>
                  </a:lnTo>
                  <a:lnTo>
                    <a:pt x="0" y="134131"/>
                  </a:lnTo>
                  <a:lnTo>
                    <a:pt x="1524" y="147847"/>
                  </a:lnTo>
                  <a:lnTo>
                    <a:pt x="3048" y="154705"/>
                  </a:lnTo>
                  <a:lnTo>
                    <a:pt x="9906" y="169317"/>
                  </a:lnTo>
                  <a:lnTo>
                    <a:pt x="9906" y="127273"/>
                  </a:lnTo>
                  <a:lnTo>
                    <a:pt x="10667" y="121177"/>
                  </a:lnTo>
                  <a:lnTo>
                    <a:pt x="47985" y="62207"/>
                  </a:lnTo>
                  <a:lnTo>
                    <a:pt x="116835" y="25145"/>
                  </a:lnTo>
                  <a:lnTo>
                    <a:pt x="158591" y="14804"/>
                  </a:lnTo>
                  <a:lnTo>
                    <a:pt x="202837" y="9909"/>
                  </a:lnTo>
                  <a:lnTo>
                    <a:pt x="247776" y="10450"/>
                  </a:lnTo>
                  <a:lnTo>
                    <a:pt x="291610" y="16417"/>
                  </a:lnTo>
                  <a:lnTo>
                    <a:pt x="332542" y="27798"/>
                  </a:lnTo>
                  <a:lnTo>
                    <a:pt x="368773" y="44585"/>
                  </a:lnTo>
                  <a:lnTo>
                    <a:pt x="419946" y="94333"/>
                  </a:lnTo>
                  <a:lnTo>
                    <a:pt x="431292" y="127273"/>
                  </a:lnTo>
                  <a:lnTo>
                    <a:pt x="431292" y="170351"/>
                  </a:lnTo>
                  <a:lnTo>
                    <a:pt x="432918" y="167701"/>
                  </a:lnTo>
                  <a:lnTo>
                    <a:pt x="441198" y="133369"/>
                  </a:lnTo>
                  <a:close/>
                </a:path>
                <a:path w="441325" h="267335">
                  <a:moveTo>
                    <a:pt x="431292" y="170351"/>
                  </a:moveTo>
                  <a:lnTo>
                    <a:pt x="431292" y="140227"/>
                  </a:lnTo>
                  <a:lnTo>
                    <a:pt x="419987" y="172884"/>
                  </a:lnTo>
                  <a:lnTo>
                    <a:pt x="398834" y="200221"/>
                  </a:lnTo>
                  <a:lnTo>
                    <a:pt x="333923" y="238964"/>
                  </a:lnTo>
                  <a:lnTo>
                    <a:pt x="293632" y="250382"/>
                  </a:lnTo>
                  <a:lnTo>
                    <a:pt x="250431" y="256506"/>
                  </a:lnTo>
                  <a:lnTo>
                    <a:pt x="206053" y="257341"/>
                  </a:lnTo>
                  <a:lnTo>
                    <a:pt x="162232" y="252895"/>
                  </a:lnTo>
                  <a:lnTo>
                    <a:pt x="120704" y="243173"/>
                  </a:lnTo>
                  <a:lnTo>
                    <a:pt x="83201" y="228182"/>
                  </a:lnTo>
                  <a:lnTo>
                    <a:pt x="27211" y="182418"/>
                  </a:lnTo>
                  <a:lnTo>
                    <a:pt x="10668" y="145561"/>
                  </a:lnTo>
                  <a:lnTo>
                    <a:pt x="9906" y="139465"/>
                  </a:lnTo>
                  <a:lnTo>
                    <a:pt x="9906" y="169317"/>
                  </a:lnTo>
                  <a:lnTo>
                    <a:pt x="40775" y="211606"/>
                  </a:lnTo>
                  <a:lnTo>
                    <a:pt x="107203" y="248713"/>
                  </a:lnTo>
                  <a:lnTo>
                    <a:pt x="147352" y="259807"/>
                  </a:lnTo>
                  <a:lnTo>
                    <a:pt x="190084" y="265911"/>
                  </a:lnTo>
                  <a:lnTo>
                    <a:pt x="233867" y="267009"/>
                  </a:lnTo>
                  <a:lnTo>
                    <a:pt x="277171" y="263088"/>
                  </a:lnTo>
                  <a:lnTo>
                    <a:pt x="318464" y="254134"/>
                  </a:lnTo>
                  <a:lnTo>
                    <a:pt x="356217" y="240132"/>
                  </a:lnTo>
                  <a:lnTo>
                    <a:pt x="388897" y="221069"/>
                  </a:lnTo>
                  <a:lnTo>
                    <a:pt x="414975" y="196930"/>
                  </a:lnTo>
                  <a:lnTo>
                    <a:pt x="431292" y="170351"/>
                  </a:lnTo>
                  <a:close/>
                </a:path>
              </a:pathLst>
            </a:custGeom>
            <a:solidFill>
              <a:srgbClr val="0F1A81"/>
            </a:solidFill>
          </p:spPr>
          <p:txBody>
            <a:bodyPr wrap="square" lIns="0" tIns="0" rIns="0" bIns="0" rtlCol="0"/>
            <a:lstStyle/>
            <a:p>
              <a:endParaRPr sz="2052"/>
            </a:p>
          </p:txBody>
        </p:sp>
        <p:sp>
          <p:nvSpPr>
            <p:cNvPr id="14" name="object 14"/>
            <p:cNvSpPr/>
            <p:nvPr/>
          </p:nvSpPr>
          <p:spPr>
            <a:xfrm>
              <a:off x="5336425" y="2450636"/>
              <a:ext cx="10860" cy="43982"/>
            </a:xfrm>
            <a:custGeom>
              <a:avLst/>
              <a:gdLst/>
              <a:ahLst/>
              <a:cxnLst/>
              <a:rect l="l" t="t" r="r" b="b"/>
              <a:pathLst>
                <a:path w="12700" h="51435">
                  <a:moveTo>
                    <a:pt x="12191" y="51054"/>
                  </a:moveTo>
                  <a:lnTo>
                    <a:pt x="12191" y="0"/>
                  </a:lnTo>
                  <a:lnTo>
                    <a:pt x="0" y="0"/>
                  </a:lnTo>
                  <a:lnTo>
                    <a:pt x="0" y="51054"/>
                  </a:lnTo>
                  <a:lnTo>
                    <a:pt x="12191" y="51054"/>
                  </a:lnTo>
                  <a:close/>
                </a:path>
              </a:pathLst>
            </a:custGeom>
            <a:solidFill>
              <a:srgbClr val="0F1A81"/>
            </a:solidFill>
          </p:spPr>
          <p:txBody>
            <a:bodyPr wrap="square" lIns="0" tIns="0" rIns="0" bIns="0" rtlCol="0"/>
            <a:lstStyle/>
            <a:p>
              <a:endParaRPr sz="2052"/>
            </a:p>
          </p:txBody>
        </p:sp>
        <p:sp>
          <p:nvSpPr>
            <p:cNvPr id="15" name="object 15"/>
            <p:cNvSpPr/>
            <p:nvPr/>
          </p:nvSpPr>
          <p:spPr>
            <a:xfrm>
              <a:off x="5336425" y="2526871"/>
              <a:ext cx="10860" cy="11403"/>
            </a:xfrm>
            <a:custGeom>
              <a:avLst/>
              <a:gdLst/>
              <a:ahLst/>
              <a:cxnLst/>
              <a:rect l="l" t="t" r="r" b="b"/>
              <a:pathLst>
                <a:path w="12700" h="13335">
                  <a:moveTo>
                    <a:pt x="12191" y="12954"/>
                  </a:moveTo>
                  <a:lnTo>
                    <a:pt x="12191" y="0"/>
                  </a:lnTo>
                  <a:lnTo>
                    <a:pt x="0" y="0"/>
                  </a:lnTo>
                  <a:lnTo>
                    <a:pt x="0" y="12954"/>
                  </a:lnTo>
                  <a:lnTo>
                    <a:pt x="12191" y="12954"/>
                  </a:lnTo>
                  <a:close/>
                </a:path>
              </a:pathLst>
            </a:custGeom>
            <a:solidFill>
              <a:srgbClr val="0F1A81"/>
            </a:solidFill>
          </p:spPr>
          <p:txBody>
            <a:bodyPr wrap="square" lIns="0" tIns="0" rIns="0" bIns="0" rtlCol="0"/>
            <a:lstStyle/>
            <a:p>
              <a:endParaRPr sz="2052"/>
            </a:p>
          </p:txBody>
        </p:sp>
        <p:sp>
          <p:nvSpPr>
            <p:cNvPr id="16" name="object 16"/>
            <p:cNvSpPr/>
            <p:nvPr/>
          </p:nvSpPr>
          <p:spPr>
            <a:xfrm>
              <a:off x="5336425" y="2570528"/>
              <a:ext cx="10860" cy="43439"/>
            </a:xfrm>
            <a:custGeom>
              <a:avLst/>
              <a:gdLst/>
              <a:ahLst/>
              <a:cxnLst/>
              <a:rect l="l" t="t" r="r" b="b"/>
              <a:pathLst>
                <a:path w="12700" h="50800">
                  <a:moveTo>
                    <a:pt x="12191" y="50292"/>
                  </a:moveTo>
                  <a:lnTo>
                    <a:pt x="12191" y="0"/>
                  </a:lnTo>
                  <a:lnTo>
                    <a:pt x="0" y="0"/>
                  </a:lnTo>
                  <a:lnTo>
                    <a:pt x="0" y="50292"/>
                  </a:lnTo>
                  <a:lnTo>
                    <a:pt x="12191" y="50292"/>
                  </a:lnTo>
                  <a:close/>
                </a:path>
              </a:pathLst>
            </a:custGeom>
            <a:solidFill>
              <a:srgbClr val="0F1A81"/>
            </a:solidFill>
          </p:spPr>
          <p:txBody>
            <a:bodyPr wrap="square" lIns="0" tIns="0" rIns="0" bIns="0" rtlCol="0"/>
            <a:lstStyle/>
            <a:p>
              <a:endParaRPr sz="2052"/>
            </a:p>
          </p:txBody>
        </p:sp>
        <p:sp>
          <p:nvSpPr>
            <p:cNvPr id="17" name="object 17"/>
            <p:cNvSpPr/>
            <p:nvPr/>
          </p:nvSpPr>
          <p:spPr>
            <a:xfrm>
              <a:off x="5336425" y="2646113"/>
              <a:ext cx="10860" cy="11403"/>
            </a:xfrm>
            <a:custGeom>
              <a:avLst/>
              <a:gdLst/>
              <a:ahLst/>
              <a:cxnLst/>
              <a:rect l="l" t="t" r="r" b="b"/>
              <a:pathLst>
                <a:path w="12700" h="13335">
                  <a:moveTo>
                    <a:pt x="12191" y="12954"/>
                  </a:moveTo>
                  <a:lnTo>
                    <a:pt x="12191" y="0"/>
                  </a:lnTo>
                  <a:lnTo>
                    <a:pt x="0" y="0"/>
                  </a:lnTo>
                  <a:lnTo>
                    <a:pt x="0" y="12954"/>
                  </a:lnTo>
                  <a:lnTo>
                    <a:pt x="12191" y="12954"/>
                  </a:lnTo>
                  <a:close/>
                </a:path>
              </a:pathLst>
            </a:custGeom>
            <a:solidFill>
              <a:srgbClr val="0F1A81"/>
            </a:solidFill>
          </p:spPr>
          <p:txBody>
            <a:bodyPr wrap="square" lIns="0" tIns="0" rIns="0" bIns="0" rtlCol="0"/>
            <a:lstStyle/>
            <a:p>
              <a:endParaRPr sz="2052"/>
            </a:p>
          </p:txBody>
        </p:sp>
        <p:sp>
          <p:nvSpPr>
            <p:cNvPr id="18" name="object 18"/>
            <p:cNvSpPr/>
            <p:nvPr/>
          </p:nvSpPr>
          <p:spPr>
            <a:xfrm>
              <a:off x="5336425" y="2689769"/>
              <a:ext cx="10860" cy="43982"/>
            </a:xfrm>
            <a:custGeom>
              <a:avLst/>
              <a:gdLst/>
              <a:ahLst/>
              <a:cxnLst/>
              <a:rect l="l" t="t" r="r" b="b"/>
              <a:pathLst>
                <a:path w="12700" h="51435">
                  <a:moveTo>
                    <a:pt x="12191" y="51054"/>
                  </a:moveTo>
                  <a:lnTo>
                    <a:pt x="12191" y="0"/>
                  </a:lnTo>
                  <a:lnTo>
                    <a:pt x="0" y="0"/>
                  </a:lnTo>
                  <a:lnTo>
                    <a:pt x="0" y="51054"/>
                  </a:lnTo>
                  <a:lnTo>
                    <a:pt x="12191" y="51054"/>
                  </a:lnTo>
                  <a:close/>
                </a:path>
              </a:pathLst>
            </a:custGeom>
            <a:solidFill>
              <a:srgbClr val="0F1A81"/>
            </a:solidFill>
          </p:spPr>
          <p:txBody>
            <a:bodyPr wrap="square" lIns="0" tIns="0" rIns="0" bIns="0" rtlCol="0"/>
            <a:lstStyle/>
            <a:p>
              <a:endParaRPr sz="2052"/>
            </a:p>
          </p:txBody>
        </p:sp>
        <p:sp>
          <p:nvSpPr>
            <p:cNvPr id="19" name="object 19"/>
            <p:cNvSpPr/>
            <p:nvPr/>
          </p:nvSpPr>
          <p:spPr>
            <a:xfrm>
              <a:off x="5336425" y="2766005"/>
              <a:ext cx="10860" cy="10860"/>
            </a:xfrm>
            <a:custGeom>
              <a:avLst/>
              <a:gdLst/>
              <a:ahLst/>
              <a:cxnLst/>
              <a:rect l="l" t="t" r="r" b="b"/>
              <a:pathLst>
                <a:path w="12700" h="12700">
                  <a:moveTo>
                    <a:pt x="12191" y="12192"/>
                  </a:moveTo>
                  <a:lnTo>
                    <a:pt x="12191" y="0"/>
                  </a:lnTo>
                  <a:lnTo>
                    <a:pt x="0" y="0"/>
                  </a:lnTo>
                  <a:lnTo>
                    <a:pt x="0" y="12192"/>
                  </a:lnTo>
                  <a:lnTo>
                    <a:pt x="12191" y="12192"/>
                  </a:lnTo>
                  <a:close/>
                </a:path>
              </a:pathLst>
            </a:custGeom>
            <a:solidFill>
              <a:srgbClr val="0F1A81"/>
            </a:solidFill>
          </p:spPr>
          <p:txBody>
            <a:bodyPr wrap="square" lIns="0" tIns="0" rIns="0" bIns="0" rtlCol="0"/>
            <a:lstStyle/>
            <a:p>
              <a:endParaRPr sz="2052"/>
            </a:p>
          </p:txBody>
        </p:sp>
        <p:sp>
          <p:nvSpPr>
            <p:cNvPr id="20" name="object 20"/>
            <p:cNvSpPr/>
            <p:nvPr/>
          </p:nvSpPr>
          <p:spPr>
            <a:xfrm>
              <a:off x="5336425" y="2809011"/>
              <a:ext cx="10860" cy="43982"/>
            </a:xfrm>
            <a:custGeom>
              <a:avLst/>
              <a:gdLst/>
              <a:ahLst/>
              <a:cxnLst/>
              <a:rect l="l" t="t" r="r" b="b"/>
              <a:pathLst>
                <a:path w="12700" h="51435">
                  <a:moveTo>
                    <a:pt x="12191" y="51054"/>
                  </a:moveTo>
                  <a:lnTo>
                    <a:pt x="12191" y="0"/>
                  </a:lnTo>
                  <a:lnTo>
                    <a:pt x="0" y="0"/>
                  </a:lnTo>
                  <a:lnTo>
                    <a:pt x="0" y="51054"/>
                  </a:lnTo>
                  <a:lnTo>
                    <a:pt x="12191" y="51054"/>
                  </a:lnTo>
                  <a:close/>
                </a:path>
              </a:pathLst>
            </a:custGeom>
            <a:solidFill>
              <a:srgbClr val="0F1A81"/>
            </a:solidFill>
          </p:spPr>
          <p:txBody>
            <a:bodyPr wrap="square" lIns="0" tIns="0" rIns="0" bIns="0" rtlCol="0"/>
            <a:lstStyle/>
            <a:p>
              <a:endParaRPr sz="2052"/>
            </a:p>
          </p:txBody>
        </p:sp>
        <p:sp>
          <p:nvSpPr>
            <p:cNvPr id="21" name="object 21"/>
            <p:cNvSpPr/>
            <p:nvPr/>
          </p:nvSpPr>
          <p:spPr>
            <a:xfrm>
              <a:off x="5336425" y="2885246"/>
              <a:ext cx="10860" cy="11403"/>
            </a:xfrm>
            <a:custGeom>
              <a:avLst/>
              <a:gdLst/>
              <a:ahLst/>
              <a:cxnLst/>
              <a:rect l="l" t="t" r="r" b="b"/>
              <a:pathLst>
                <a:path w="12700" h="13335">
                  <a:moveTo>
                    <a:pt x="12191" y="12954"/>
                  </a:moveTo>
                  <a:lnTo>
                    <a:pt x="12191" y="0"/>
                  </a:lnTo>
                  <a:lnTo>
                    <a:pt x="0" y="0"/>
                  </a:lnTo>
                  <a:lnTo>
                    <a:pt x="0" y="12954"/>
                  </a:lnTo>
                  <a:lnTo>
                    <a:pt x="12191" y="12954"/>
                  </a:lnTo>
                  <a:close/>
                </a:path>
              </a:pathLst>
            </a:custGeom>
            <a:solidFill>
              <a:srgbClr val="0F1A81"/>
            </a:solidFill>
          </p:spPr>
          <p:txBody>
            <a:bodyPr wrap="square" lIns="0" tIns="0" rIns="0" bIns="0" rtlCol="0"/>
            <a:lstStyle/>
            <a:p>
              <a:endParaRPr sz="2052"/>
            </a:p>
          </p:txBody>
        </p:sp>
        <p:sp>
          <p:nvSpPr>
            <p:cNvPr id="22" name="object 22"/>
            <p:cNvSpPr/>
            <p:nvPr/>
          </p:nvSpPr>
          <p:spPr>
            <a:xfrm>
              <a:off x="5336425" y="2928903"/>
              <a:ext cx="10860" cy="43439"/>
            </a:xfrm>
            <a:custGeom>
              <a:avLst/>
              <a:gdLst/>
              <a:ahLst/>
              <a:cxnLst/>
              <a:rect l="l" t="t" r="r" b="b"/>
              <a:pathLst>
                <a:path w="12700" h="50800">
                  <a:moveTo>
                    <a:pt x="12191" y="50292"/>
                  </a:moveTo>
                  <a:lnTo>
                    <a:pt x="12191" y="0"/>
                  </a:lnTo>
                  <a:lnTo>
                    <a:pt x="0" y="0"/>
                  </a:lnTo>
                  <a:lnTo>
                    <a:pt x="0" y="50292"/>
                  </a:lnTo>
                  <a:lnTo>
                    <a:pt x="12191" y="50292"/>
                  </a:lnTo>
                  <a:close/>
                </a:path>
              </a:pathLst>
            </a:custGeom>
            <a:solidFill>
              <a:srgbClr val="0F1A81"/>
            </a:solidFill>
          </p:spPr>
          <p:txBody>
            <a:bodyPr wrap="square" lIns="0" tIns="0" rIns="0" bIns="0" rtlCol="0"/>
            <a:lstStyle/>
            <a:p>
              <a:endParaRPr sz="2052"/>
            </a:p>
          </p:txBody>
        </p:sp>
        <p:sp>
          <p:nvSpPr>
            <p:cNvPr id="23" name="object 23"/>
            <p:cNvSpPr/>
            <p:nvPr/>
          </p:nvSpPr>
          <p:spPr>
            <a:xfrm>
              <a:off x="5336425" y="3004489"/>
              <a:ext cx="10860" cy="11403"/>
            </a:xfrm>
            <a:custGeom>
              <a:avLst/>
              <a:gdLst/>
              <a:ahLst/>
              <a:cxnLst/>
              <a:rect l="l" t="t" r="r" b="b"/>
              <a:pathLst>
                <a:path w="12700" h="13335">
                  <a:moveTo>
                    <a:pt x="12191" y="12953"/>
                  </a:moveTo>
                  <a:lnTo>
                    <a:pt x="12191" y="0"/>
                  </a:lnTo>
                  <a:lnTo>
                    <a:pt x="0" y="0"/>
                  </a:lnTo>
                  <a:lnTo>
                    <a:pt x="0" y="12953"/>
                  </a:lnTo>
                  <a:lnTo>
                    <a:pt x="12191" y="12953"/>
                  </a:lnTo>
                  <a:close/>
                </a:path>
              </a:pathLst>
            </a:custGeom>
            <a:solidFill>
              <a:srgbClr val="0F1A81"/>
            </a:solidFill>
          </p:spPr>
          <p:txBody>
            <a:bodyPr wrap="square" lIns="0" tIns="0" rIns="0" bIns="0" rtlCol="0"/>
            <a:lstStyle/>
            <a:p>
              <a:endParaRPr sz="2052"/>
            </a:p>
          </p:txBody>
        </p:sp>
        <p:sp>
          <p:nvSpPr>
            <p:cNvPr id="24" name="object 24"/>
            <p:cNvSpPr/>
            <p:nvPr/>
          </p:nvSpPr>
          <p:spPr>
            <a:xfrm>
              <a:off x="5336425" y="3048145"/>
              <a:ext cx="10860" cy="43982"/>
            </a:xfrm>
            <a:custGeom>
              <a:avLst/>
              <a:gdLst/>
              <a:ahLst/>
              <a:cxnLst/>
              <a:rect l="l" t="t" r="r" b="b"/>
              <a:pathLst>
                <a:path w="12700" h="51435">
                  <a:moveTo>
                    <a:pt x="12191" y="51053"/>
                  </a:moveTo>
                  <a:lnTo>
                    <a:pt x="12191" y="0"/>
                  </a:lnTo>
                  <a:lnTo>
                    <a:pt x="0" y="0"/>
                  </a:lnTo>
                  <a:lnTo>
                    <a:pt x="0" y="51053"/>
                  </a:lnTo>
                  <a:lnTo>
                    <a:pt x="12191" y="51053"/>
                  </a:lnTo>
                  <a:close/>
                </a:path>
              </a:pathLst>
            </a:custGeom>
            <a:solidFill>
              <a:srgbClr val="0F1A81"/>
            </a:solidFill>
          </p:spPr>
          <p:txBody>
            <a:bodyPr wrap="square" lIns="0" tIns="0" rIns="0" bIns="0" rtlCol="0"/>
            <a:lstStyle/>
            <a:p>
              <a:endParaRPr sz="2052"/>
            </a:p>
          </p:txBody>
        </p:sp>
        <p:sp>
          <p:nvSpPr>
            <p:cNvPr id="25" name="object 25"/>
            <p:cNvSpPr/>
            <p:nvPr/>
          </p:nvSpPr>
          <p:spPr>
            <a:xfrm>
              <a:off x="5336425" y="3124381"/>
              <a:ext cx="10860" cy="10860"/>
            </a:xfrm>
            <a:custGeom>
              <a:avLst/>
              <a:gdLst/>
              <a:ahLst/>
              <a:cxnLst/>
              <a:rect l="l" t="t" r="r" b="b"/>
              <a:pathLst>
                <a:path w="12700" h="12700">
                  <a:moveTo>
                    <a:pt x="12191" y="12191"/>
                  </a:moveTo>
                  <a:lnTo>
                    <a:pt x="12191" y="0"/>
                  </a:lnTo>
                  <a:lnTo>
                    <a:pt x="0" y="0"/>
                  </a:lnTo>
                  <a:lnTo>
                    <a:pt x="0" y="12191"/>
                  </a:lnTo>
                  <a:lnTo>
                    <a:pt x="12191" y="12191"/>
                  </a:lnTo>
                  <a:close/>
                </a:path>
              </a:pathLst>
            </a:custGeom>
            <a:solidFill>
              <a:srgbClr val="0F1A81"/>
            </a:solidFill>
          </p:spPr>
          <p:txBody>
            <a:bodyPr wrap="square" lIns="0" tIns="0" rIns="0" bIns="0" rtlCol="0"/>
            <a:lstStyle/>
            <a:p>
              <a:endParaRPr sz="2052"/>
            </a:p>
          </p:txBody>
        </p:sp>
        <p:sp>
          <p:nvSpPr>
            <p:cNvPr id="26" name="object 26"/>
            <p:cNvSpPr/>
            <p:nvPr/>
          </p:nvSpPr>
          <p:spPr>
            <a:xfrm>
              <a:off x="5336425" y="3167387"/>
              <a:ext cx="10860" cy="43982"/>
            </a:xfrm>
            <a:custGeom>
              <a:avLst/>
              <a:gdLst/>
              <a:ahLst/>
              <a:cxnLst/>
              <a:rect l="l" t="t" r="r" b="b"/>
              <a:pathLst>
                <a:path w="12700" h="51435">
                  <a:moveTo>
                    <a:pt x="12191" y="51053"/>
                  </a:moveTo>
                  <a:lnTo>
                    <a:pt x="12191" y="0"/>
                  </a:lnTo>
                  <a:lnTo>
                    <a:pt x="0" y="0"/>
                  </a:lnTo>
                  <a:lnTo>
                    <a:pt x="0" y="51053"/>
                  </a:lnTo>
                  <a:lnTo>
                    <a:pt x="12191" y="51053"/>
                  </a:lnTo>
                  <a:close/>
                </a:path>
              </a:pathLst>
            </a:custGeom>
            <a:solidFill>
              <a:srgbClr val="0F1A81"/>
            </a:solidFill>
          </p:spPr>
          <p:txBody>
            <a:bodyPr wrap="square" lIns="0" tIns="0" rIns="0" bIns="0" rtlCol="0"/>
            <a:lstStyle/>
            <a:p>
              <a:endParaRPr sz="2052"/>
            </a:p>
          </p:txBody>
        </p:sp>
        <p:sp>
          <p:nvSpPr>
            <p:cNvPr id="27" name="object 27"/>
            <p:cNvSpPr/>
            <p:nvPr/>
          </p:nvSpPr>
          <p:spPr>
            <a:xfrm>
              <a:off x="5336425" y="3243622"/>
              <a:ext cx="10860" cy="11403"/>
            </a:xfrm>
            <a:custGeom>
              <a:avLst/>
              <a:gdLst/>
              <a:ahLst/>
              <a:cxnLst/>
              <a:rect l="l" t="t" r="r" b="b"/>
              <a:pathLst>
                <a:path w="12700" h="13335">
                  <a:moveTo>
                    <a:pt x="12191" y="12953"/>
                  </a:moveTo>
                  <a:lnTo>
                    <a:pt x="12191" y="0"/>
                  </a:lnTo>
                  <a:lnTo>
                    <a:pt x="0" y="0"/>
                  </a:lnTo>
                  <a:lnTo>
                    <a:pt x="0" y="12953"/>
                  </a:lnTo>
                  <a:lnTo>
                    <a:pt x="12191" y="12953"/>
                  </a:lnTo>
                  <a:close/>
                </a:path>
              </a:pathLst>
            </a:custGeom>
            <a:solidFill>
              <a:srgbClr val="0F1A81"/>
            </a:solidFill>
          </p:spPr>
          <p:txBody>
            <a:bodyPr wrap="square" lIns="0" tIns="0" rIns="0" bIns="0" rtlCol="0"/>
            <a:lstStyle/>
            <a:p>
              <a:endParaRPr sz="2052"/>
            </a:p>
          </p:txBody>
        </p:sp>
        <p:sp>
          <p:nvSpPr>
            <p:cNvPr id="28" name="object 28"/>
            <p:cNvSpPr/>
            <p:nvPr/>
          </p:nvSpPr>
          <p:spPr>
            <a:xfrm>
              <a:off x="5336425" y="3287279"/>
              <a:ext cx="10860" cy="43439"/>
            </a:xfrm>
            <a:custGeom>
              <a:avLst/>
              <a:gdLst/>
              <a:ahLst/>
              <a:cxnLst/>
              <a:rect l="l" t="t" r="r" b="b"/>
              <a:pathLst>
                <a:path w="12700" h="50800">
                  <a:moveTo>
                    <a:pt x="12191" y="50291"/>
                  </a:moveTo>
                  <a:lnTo>
                    <a:pt x="12191" y="0"/>
                  </a:lnTo>
                  <a:lnTo>
                    <a:pt x="0" y="0"/>
                  </a:lnTo>
                  <a:lnTo>
                    <a:pt x="0" y="50291"/>
                  </a:lnTo>
                  <a:lnTo>
                    <a:pt x="12191" y="50291"/>
                  </a:lnTo>
                  <a:close/>
                </a:path>
              </a:pathLst>
            </a:custGeom>
            <a:solidFill>
              <a:srgbClr val="0F1A81"/>
            </a:solidFill>
          </p:spPr>
          <p:txBody>
            <a:bodyPr wrap="square" lIns="0" tIns="0" rIns="0" bIns="0" rtlCol="0"/>
            <a:lstStyle/>
            <a:p>
              <a:endParaRPr sz="2052"/>
            </a:p>
          </p:txBody>
        </p:sp>
        <p:sp>
          <p:nvSpPr>
            <p:cNvPr id="29" name="object 29"/>
            <p:cNvSpPr/>
            <p:nvPr/>
          </p:nvSpPr>
          <p:spPr>
            <a:xfrm>
              <a:off x="5336425" y="3362864"/>
              <a:ext cx="10860" cy="11403"/>
            </a:xfrm>
            <a:custGeom>
              <a:avLst/>
              <a:gdLst/>
              <a:ahLst/>
              <a:cxnLst/>
              <a:rect l="l" t="t" r="r" b="b"/>
              <a:pathLst>
                <a:path w="12700" h="13335">
                  <a:moveTo>
                    <a:pt x="12191" y="12953"/>
                  </a:moveTo>
                  <a:lnTo>
                    <a:pt x="12191" y="0"/>
                  </a:lnTo>
                  <a:lnTo>
                    <a:pt x="0" y="0"/>
                  </a:lnTo>
                  <a:lnTo>
                    <a:pt x="0" y="12953"/>
                  </a:lnTo>
                  <a:lnTo>
                    <a:pt x="12191" y="12953"/>
                  </a:lnTo>
                  <a:close/>
                </a:path>
              </a:pathLst>
            </a:custGeom>
            <a:solidFill>
              <a:srgbClr val="0F1A81"/>
            </a:solidFill>
          </p:spPr>
          <p:txBody>
            <a:bodyPr wrap="square" lIns="0" tIns="0" rIns="0" bIns="0" rtlCol="0"/>
            <a:lstStyle/>
            <a:p>
              <a:endParaRPr sz="2052"/>
            </a:p>
          </p:txBody>
        </p:sp>
        <p:sp>
          <p:nvSpPr>
            <p:cNvPr id="30" name="object 30"/>
            <p:cNvSpPr/>
            <p:nvPr/>
          </p:nvSpPr>
          <p:spPr>
            <a:xfrm>
              <a:off x="5336425" y="3406520"/>
              <a:ext cx="10860" cy="43982"/>
            </a:xfrm>
            <a:custGeom>
              <a:avLst/>
              <a:gdLst/>
              <a:ahLst/>
              <a:cxnLst/>
              <a:rect l="l" t="t" r="r" b="b"/>
              <a:pathLst>
                <a:path w="12700" h="51435">
                  <a:moveTo>
                    <a:pt x="12191" y="51053"/>
                  </a:moveTo>
                  <a:lnTo>
                    <a:pt x="12191" y="0"/>
                  </a:lnTo>
                  <a:lnTo>
                    <a:pt x="0" y="0"/>
                  </a:lnTo>
                  <a:lnTo>
                    <a:pt x="0" y="51053"/>
                  </a:lnTo>
                  <a:lnTo>
                    <a:pt x="12191" y="51053"/>
                  </a:lnTo>
                  <a:close/>
                </a:path>
              </a:pathLst>
            </a:custGeom>
            <a:solidFill>
              <a:srgbClr val="0F1A81"/>
            </a:solidFill>
          </p:spPr>
          <p:txBody>
            <a:bodyPr wrap="square" lIns="0" tIns="0" rIns="0" bIns="0" rtlCol="0"/>
            <a:lstStyle/>
            <a:p>
              <a:endParaRPr sz="2052"/>
            </a:p>
          </p:txBody>
        </p:sp>
        <p:sp>
          <p:nvSpPr>
            <p:cNvPr id="31" name="object 31"/>
            <p:cNvSpPr/>
            <p:nvPr/>
          </p:nvSpPr>
          <p:spPr>
            <a:xfrm>
              <a:off x="5336425" y="3482756"/>
              <a:ext cx="10860" cy="10860"/>
            </a:xfrm>
            <a:custGeom>
              <a:avLst/>
              <a:gdLst/>
              <a:ahLst/>
              <a:cxnLst/>
              <a:rect l="l" t="t" r="r" b="b"/>
              <a:pathLst>
                <a:path w="12700" h="12700">
                  <a:moveTo>
                    <a:pt x="12191" y="12191"/>
                  </a:moveTo>
                  <a:lnTo>
                    <a:pt x="12191" y="0"/>
                  </a:lnTo>
                  <a:lnTo>
                    <a:pt x="0" y="0"/>
                  </a:lnTo>
                  <a:lnTo>
                    <a:pt x="0" y="12191"/>
                  </a:lnTo>
                  <a:lnTo>
                    <a:pt x="12191" y="12191"/>
                  </a:lnTo>
                  <a:close/>
                </a:path>
              </a:pathLst>
            </a:custGeom>
            <a:solidFill>
              <a:srgbClr val="0F1A81"/>
            </a:solidFill>
          </p:spPr>
          <p:txBody>
            <a:bodyPr wrap="square" lIns="0" tIns="0" rIns="0" bIns="0" rtlCol="0"/>
            <a:lstStyle/>
            <a:p>
              <a:endParaRPr sz="2052"/>
            </a:p>
          </p:txBody>
        </p:sp>
        <p:sp>
          <p:nvSpPr>
            <p:cNvPr id="32" name="object 32"/>
            <p:cNvSpPr/>
            <p:nvPr/>
          </p:nvSpPr>
          <p:spPr>
            <a:xfrm>
              <a:off x="5336425" y="3525762"/>
              <a:ext cx="10860" cy="43982"/>
            </a:xfrm>
            <a:custGeom>
              <a:avLst/>
              <a:gdLst/>
              <a:ahLst/>
              <a:cxnLst/>
              <a:rect l="l" t="t" r="r" b="b"/>
              <a:pathLst>
                <a:path w="12700" h="51435">
                  <a:moveTo>
                    <a:pt x="12191" y="51053"/>
                  </a:moveTo>
                  <a:lnTo>
                    <a:pt x="12191" y="0"/>
                  </a:lnTo>
                  <a:lnTo>
                    <a:pt x="0" y="0"/>
                  </a:lnTo>
                  <a:lnTo>
                    <a:pt x="0" y="51053"/>
                  </a:lnTo>
                  <a:lnTo>
                    <a:pt x="12191" y="51053"/>
                  </a:lnTo>
                  <a:close/>
                </a:path>
              </a:pathLst>
            </a:custGeom>
            <a:solidFill>
              <a:srgbClr val="0F1A81"/>
            </a:solidFill>
          </p:spPr>
          <p:txBody>
            <a:bodyPr wrap="square" lIns="0" tIns="0" rIns="0" bIns="0" rtlCol="0"/>
            <a:lstStyle/>
            <a:p>
              <a:endParaRPr sz="2052"/>
            </a:p>
          </p:txBody>
        </p:sp>
        <p:sp>
          <p:nvSpPr>
            <p:cNvPr id="33" name="object 33"/>
            <p:cNvSpPr/>
            <p:nvPr/>
          </p:nvSpPr>
          <p:spPr>
            <a:xfrm>
              <a:off x="5336425" y="3601997"/>
              <a:ext cx="10860" cy="11403"/>
            </a:xfrm>
            <a:custGeom>
              <a:avLst/>
              <a:gdLst/>
              <a:ahLst/>
              <a:cxnLst/>
              <a:rect l="l" t="t" r="r" b="b"/>
              <a:pathLst>
                <a:path w="12700" h="13335">
                  <a:moveTo>
                    <a:pt x="12191" y="12953"/>
                  </a:moveTo>
                  <a:lnTo>
                    <a:pt x="12191" y="0"/>
                  </a:lnTo>
                  <a:lnTo>
                    <a:pt x="0" y="0"/>
                  </a:lnTo>
                  <a:lnTo>
                    <a:pt x="0" y="12953"/>
                  </a:lnTo>
                  <a:lnTo>
                    <a:pt x="12191" y="12953"/>
                  </a:lnTo>
                  <a:close/>
                </a:path>
              </a:pathLst>
            </a:custGeom>
            <a:solidFill>
              <a:srgbClr val="0F1A81"/>
            </a:solidFill>
          </p:spPr>
          <p:txBody>
            <a:bodyPr wrap="square" lIns="0" tIns="0" rIns="0" bIns="0" rtlCol="0"/>
            <a:lstStyle/>
            <a:p>
              <a:endParaRPr sz="2052"/>
            </a:p>
          </p:txBody>
        </p:sp>
        <p:sp>
          <p:nvSpPr>
            <p:cNvPr id="34" name="object 34"/>
            <p:cNvSpPr/>
            <p:nvPr/>
          </p:nvSpPr>
          <p:spPr>
            <a:xfrm>
              <a:off x="5336425" y="3645654"/>
              <a:ext cx="10860" cy="43439"/>
            </a:xfrm>
            <a:custGeom>
              <a:avLst/>
              <a:gdLst/>
              <a:ahLst/>
              <a:cxnLst/>
              <a:rect l="l" t="t" r="r" b="b"/>
              <a:pathLst>
                <a:path w="12700" h="50800">
                  <a:moveTo>
                    <a:pt x="12191" y="50291"/>
                  </a:moveTo>
                  <a:lnTo>
                    <a:pt x="12191" y="0"/>
                  </a:lnTo>
                  <a:lnTo>
                    <a:pt x="0" y="0"/>
                  </a:lnTo>
                  <a:lnTo>
                    <a:pt x="0" y="50291"/>
                  </a:lnTo>
                  <a:lnTo>
                    <a:pt x="12191" y="50291"/>
                  </a:lnTo>
                  <a:close/>
                </a:path>
              </a:pathLst>
            </a:custGeom>
            <a:solidFill>
              <a:srgbClr val="0F1A81"/>
            </a:solidFill>
          </p:spPr>
          <p:txBody>
            <a:bodyPr wrap="square" lIns="0" tIns="0" rIns="0" bIns="0" rtlCol="0"/>
            <a:lstStyle/>
            <a:p>
              <a:endParaRPr sz="2052"/>
            </a:p>
          </p:txBody>
        </p:sp>
        <p:sp>
          <p:nvSpPr>
            <p:cNvPr id="35" name="object 35"/>
            <p:cNvSpPr/>
            <p:nvPr/>
          </p:nvSpPr>
          <p:spPr>
            <a:xfrm>
              <a:off x="5336425" y="3721239"/>
              <a:ext cx="10860" cy="11403"/>
            </a:xfrm>
            <a:custGeom>
              <a:avLst/>
              <a:gdLst/>
              <a:ahLst/>
              <a:cxnLst/>
              <a:rect l="l" t="t" r="r" b="b"/>
              <a:pathLst>
                <a:path w="12700" h="13335">
                  <a:moveTo>
                    <a:pt x="12191" y="12953"/>
                  </a:moveTo>
                  <a:lnTo>
                    <a:pt x="12191" y="0"/>
                  </a:lnTo>
                  <a:lnTo>
                    <a:pt x="0" y="0"/>
                  </a:lnTo>
                  <a:lnTo>
                    <a:pt x="0" y="12953"/>
                  </a:lnTo>
                  <a:lnTo>
                    <a:pt x="12191" y="12953"/>
                  </a:lnTo>
                  <a:close/>
                </a:path>
              </a:pathLst>
            </a:custGeom>
            <a:solidFill>
              <a:srgbClr val="0F1A81"/>
            </a:solidFill>
          </p:spPr>
          <p:txBody>
            <a:bodyPr wrap="square" lIns="0" tIns="0" rIns="0" bIns="0" rtlCol="0"/>
            <a:lstStyle/>
            <a:p>
              <a:endParaRPr sz="2052"/>
            </a:p>
          </p:txBody>
        </p:sp>
        <p:sp>
          <p:nvSpPr>
            <p:cNvPr id="36" name="object 36"/>
            <p:cNvSpPr/>
            <p:nvPr/>
          </p:nvSpPr>
          <p:spPr>
            <a:xfrm>
              <a:off x="5336425" y="3764895"/>
              <a:ext cx="10860" cy="43982"/>
            </a:xfrm>
            <a:custGeom>
              <a:avLst/>
              <a:gdLst/>
              <a:ahLst/>
              <a:cxnLst/>
              <a:rect l="l" t="t" r="r" b="b"/>
              <a:pathLst>
                <a:path w="12700" h="51435">
                  <a:moveTo>
                    <a:pt x="12191" y="51053"/>
                  </a:moveTo>
                  <a:lnTo>
                    <a:pt x="12191" y="0"/>
                  </a:lnTo>
                  <a:lnTo>
                    <a:pt x="0" y="0"/>
                  </a:lnTo>
                  <a:lnTo>
                    <a:pt x="0" y="51053"/>
                  </a:lnTo>
                  <a:lnTo>
                    <a:pt x="12191" y="51053"/>
                  </a:lnTo>
                  <a:close/>
                </a:path>
              </a:pathLst>
            </a:custGeom>
            <a:solidFill>
              <a:srgbClr val="0F1A81"/>
            </a:solidFill>
          </p:spPr>
          <p:txBody>
            <a:bodyPr wrap="square" lIns="0" tIns="0" rIns="0" bIns="0" rtlCol="0"/>
            <a:lstStyle/>
            <a:p>
              <a:endParaRPr sz="2052"/>
            </a:p>
          </p:txBody>
        </p:sp>
        <p:sp>
          <p:nvSpPr>
            <p:cNvPr id="37" name="object 37"/>
            <p:cNvSpPr/>
            <p:nvPr/>
          </p:nvSpPr>
          <p:spPr>
            <a:xfrm>
              <a:off x="5336425" y="3841132"/>
              <a:ext cx="10860" cy="10860"/>
            </a:xfrm>
            <a:custGeom>
              <a:avLst/>
              <a:gdLst/>
              <a:ahLst/>
              <a:cxnLst/>
              <a:rect l="l" t="t" r="r" b="b"/>
              <a:pathLst>
                <a:path w="12700" h="12700">
                  <a:moveTo>
                    <a:pt x="12191" y="12191"/>
                  </a:moveTo>
                  <a:lnTo>
                    <a:pt x="12191" y="0"/>
                  </a:lnTo>
                  <a:lnTo>
                    <a:pt x="0" y="0"/>
                  </a:lnTo>
                  <a:lnTo>
                    <a:pt x="0" y="12191"/>
                  </a:lnTo>
                  <a:lnTo>
                    <a:pt x="12191" y="12191"/>
                  </a:lnTo>
                  <a:close/>
                </a:path>
              </a:pathLst>
            </a:custGeom>
            <a:solidFill>
              <a:srgbClr val="0F1A81"/>
            </a:solidFill>
          </p:spPr>
          <p:txBody>
            <a:bodyPr wrap="square" lIns="0" tIns="0" rIns="0" bIns="0" rtlCol="0"/>
            <a:lstStyle/>
            <a:p>
              <a:endParaRPr sz="2052"/>
            </a:p>
          </p:txBody>
        </p:sp>
        <p:sp>
          <p:nvSpPr>
            <p:cNvPr id="38" name="object 38"/>
            <p:cNvSpPr/>
            <p:nvPr/>
          </p:nvSpPr>
          <p:spPr>
            <a:xfrm>
              <a:off x="5336425" y="3884137"/>
              <a:ext cx="10860" cy="43982"/>
            </a:xfrm>
            <a:custGeom>
              <a:avLst/>
              <a:gdLst/>
              <a:ahLst/>
              <a:cxnLst/>
              <a:rect l="l" t="t" r="r" b="b"/>
              <a:pathLst>
                <a:path w="12700" h="51435">
                  <a:moveTo>
                    <a:pt x="12191" y="51053"/>
                  </a:moveTo>
                  <a:lnTo>
                    <a:pt x="12191" y="0"/>
                  </a:lnTo>
                  <a:lnTo>
                    <a:pt x="0" y="0"/>
                  </a:lnTo>
                  <a:lnTo>
                    <a:pt x="0" y="51053"/>
                  </a:lnTo>
                  <a:lnTo>
                    <a:pt x="12191" y="51053"/>
                  </a:lnTo>
                  <a:close/>
                </a:path>
              </a:pathLst>
            </a:custGeom>
            <a:solidFill>
              <a:srgbClr val="0F1A81"/>
            </a:solidFill>
          </p:spPr>
          <p:txBody>
            <a:bodyPr wrap="square" lIns="0" tIns="0" rIns="0" bIns="0" rtlCol="0"/>
            <a:lstStyle/>
            <a:p>
              <a:endParaRPr sz="2052"/>
            </a:p>
          </p:txBody>
        </p:sp>
        <p:sp>
          <p:nvSpPr>
            <p:cNvPr id="39" name="object 39"/>
            <p:cNvSpPr/>
            <p:nvPr/>
          </p:nvSpPr>
          <p:spPr>
            <a:xfrm>
              <a:off x="5336425" y="3960372"/>
              <a:ext cx="10860" cy="11403"/>
            </a:xfrm>
            <a:custGeom>
              <a:avLst/>
              <a:gdLst/>
              <a:ahLst/>
              <a:cxnLst/>
              <a:rect l="l" t="t" r="r" b="b"/>
              <a:pathLst>
                <a:path w="12700" h="13335">
                  <a:moveTo>
                    <a:pt x="12191" y="12953"/>
                  </a:moveTo>
                  <a:lnTo>
                    <a:pt x="12191" y="0"/>
                  </a:lnTo>
                  <a:lnTo>
                    <a:pt x="0" y="0"/>
                  </a:lnTo>
                  <a:lnTo>
                    <a:pt x="0" y="12953"/>
                  </a:lnTo>
                  <a:lnTo>
                    <a:pt x="12191" y="12953"/>
                  </a:lnTo>
                  <a:close/>
                </a:path>
              </a:pathLst>
            </a:custGeom>
            <a:solidFill>
              <a:srgbClr val="0F1A81"/>
            </a:solidFill>
          </p:spPr>
          <p:txBody>
            <a:bodyPr wrap="square" lIns="0" tIns="0" rIns="0" bIns="0" rtlCol="0"/>
            <a:lstStyle/>
            <a:p>
              <a:endParaRPr sz="2052"/>
            </a:p>
          </p:txBody>
        </p:sp>
        <p:sp>
          <p:nvSpPr>
            <p:cNvPr id="40" name="object 40"/>
            <p:cNvSpPr/>
            <p:nvPr/>
          </p:nvSpPr>
          <p:spPr>
            <a:xfrm>
              <a:off x="5336425" y="4004030"/>
              <a:ext cx="10860" cy="43439"/>
            </a:xfrm>
            <a:custGeom>
              <a:avLst/>
              <a:gdLst/>
              <a:ahLst/>
              <a:cxnLst/>
              <a:rect l="l" t="t" r="r" b="b"/>
              <a:pathLst>
                <a:path w="12700" h="50800">
                  <a:moveTo>
                    <a:pt x="12191" y="50291"/>
                  </a:moveTo>
                  <a:lnTo>
                    <a:pt x="12191" y="0"/>
                  </a:lnTo>
                  <a:lnTo>
                    <a:pt x="0" y="0"/>
                  </a:lnTo>
                  <a:lnTo>
                    <a:pt x="0" y="50291"/>
                  </a:lnTo>
                  <a:lnTo>
                    <a:pt x="12191" y="50291"/>
                  </a:lnTo>
                  <a:close/>
                </a:path>
              </a:pathLst>
            </a:custGeom>
            <a:solidFill>
              <a:srgbClr val="0F1A81"/>
            </a:solidFill>
          </p:spPr>
          <p:txBody>
            <a:bodyPr wrap="square" lIns="0" tIns="0" rIns="0" bIns="0" rtlCol="0"/>
            <a:lstStyle/>
            <a:p>
              <a:endParaRPr sz="2052"/>
            </a:p>
          </p:txBody>
        </p:sp>
        <p:sp>
          <p:nvSpPr>
            <p:cNvPr id="41" name="object 41"/>
            <p:cNvSpPr/>
            <p:nvPr/>
          </p:nvSpPr>
          <p:spPr>
            <a:xfrm>
              <a:off x="5336425" y="4079614"/>
              <a:ext cx="10860" cy="11403"/>
            </a:xfrm>
            <a:custGeom>
              <a:avLst/>
              <a:gdLst/>
              <a:ahLst/>
              <a:cxnLst/>
              <a:rect l="l" t="t" r="r" b="b"/>
              <a:pathLst>
                <a:path w="12700" h="13335">
                  <a:moveTo>
                    <a:pt x="12191" y="12953"/>
                  </a:moveTo>
                  <a:lnTo>
                    <a:pt x="12191" y="0"/>
                  </a:lnTo>
                  <a:lnTo>
                    <a:pt x="0" y="0"/>
                  </a:lnTo>
                  <a:lnTo>
                    <a:pt x="0" y="12953"/>
                  </a:lnTo>
                  <a:lnTo>
                    <a:pt x="12191" y="12953"/>
                  </a:lnTo>
                  <a:close/>
                </a:path>
              </a:pathLst>
            </a:custGeom>
            <a:solidFill>
              <a:srgbClr val="0F1A81"/>
            </a:solidFill>
          </p:spPr>
          <p:txBody>
            <a:bodyPr wrap="square" lIns="0" tIns="0" rIns="0" bIns="0" rtlCol="0"/>
            <a:lstStyle/>
            <a:p>
              <a:endParaRPr sz="2052"/>
            </a:p>
          </p:txBody>
        </p:sp>
        <p:sp>
          <p:nvSpPr>
            <p:cNvPr id="42" name="object 42"/>
            <p:cNvSpPr/>
            <p:nvPr/>
          </p:nvSpPr>
          <p:spPr>
            <a:xfrm>
              <a:off x="5336425" y="4123270"/>
              <a:ext cx="10860" cy="43982"/>
            </a:xfrm>
            <a:custGeom>
              <a:avLst/>
              <a:gdLst/>
              <a:ahLst/>
              <a:cxnLst/>
              <a:rect l="l" t="t" r="r" b="b"/>
              <a:pathLst>
                <a:path w="12700" h="51435">
                  <a:moveTo>
                    <a:pt x="12191" y="51053"/>
                  </a:moveTo>
                  <a:lnTo>
                    <a:pt x="12191" y="0"/>
                  </a:lnTo>
                  <a:lnTo>
                    <a:pt x="0" y="0"/>
                  </a:lnTo>
                  <a:lnTo>
                    <a:pt x="0" y="51053"/>
                  </a:lnTo>
                  <a:lnTo>
                    <a:pt x="12191" y="51053"/>
                  </a:lnTo>
                  <a:close/>
                </a:path>
              </a:pathLst>
            </a:custGeom>
            <a:solidFill>
              <a:srgbClr val="0F1A81"/>
            </a:solidFill>
          </p:spPr>
          <p:txBody>
            <a:bodyPr wrap="square" lIns="0" tIns="0" rIns="0" bIns="0" rtlCol="0"/>
            <a:lstStyle/>
            <a:p>
              <a:endParaRPr sz="2052"/>
            </a:p>
          </p:txBody>
        </p:sp>
        <p:sp>
          <p:nvSpPr>
            <p:cNvPr id="43" name="object 43"/>
            <p:cNvSpPr/>
            <p:nvPr/>
          </p:nvSpPr>
          <p:spPr>
            <a:xfrm>
              <a:off x="5336425" y="4199507"/>
              <a:ext cx="10860" cy="10860"/>
            </a:xfrm>
            <a:custGeom>
              <a:avLst/>
              <a:gdLst/>
              <a:ahLst/>
              <a:cxnLst/>
              <a:rect l="l" t="t" r="r" b="b"/>
              <a:pathLst>
                <a:path w="12700" h="12700">
                  <a:moveTo>
                    <a:pt x="12191" y="12191"/>
                  </a:moveTo>
                  <a:lnTo>
                    <a:pt x="12191" y="0"/>
                  </a:lnTo>
                  <a:lnTo>
                    <a:pt x="0" y="0"/>
                  </a:lnTo>
                  <a:lnTo>
                    <a:pt x="0" y="12191"/>
                  </a:lnTo>
                  <a:lnTo>
                    <a:pt x="12191" y="12191"/>
                  </a:lnTo>
                  <a:close/>
                </a:path>
              </a:pathLst>
            </a:custGeom>
            <a:solidFill>
              <a:srgbClr val="0F1A81"/>
            </a:solidFill>
          </p:spPr>
          <p:txBody>
            <a:bodyPr wrap="square" lIns="0" tIns="0" rIns="0" bIns="0" rtlCol="0"/>
            <a:lstStyle/>
            <a:p>
              <a:endParaRPr sz="2052"/>
            </a:p>
          </p:txBody>
        </p:sp>
        <p:sp>
          <p:nvSpPr>
            <p:cNvPr id="44" name="object 44"/>
            <p:cNvSpPr/>
            <p:nvPr/>
          </p:nvSpPr>
          <p:spPr>
            <a:xfrm>
              <a:off x="5336425" y="4242513"/>
              <a:ext cx="10860" cy="43982"/>
            </a:xfrm>
            <a:custGeom>
              <a:avLst/>
              <a:gdLst/>
              <a:ahLst/>
              <a:cxnLst/>
              <a:rect l="l" t="t" r="r" b="b"/>
              <a:pathLst>
                <a:path w="12700" h="51435">
                  <a:moveTo>
                    <a:pt x="12191" y="51053"/>
                  </a:moveTo>
                  <a:lnTo>
                    <a:pt x="12191" y="0"/>
                  </a:lnTo>
                  <a:lnTo>
                    <a:pt x="0" y="0"/>
                  </a:lnTo>
                  <a:lnTo>
                    <a:pt x="0" y="51053"/>
                  </a:lnTo>
                  <a:lnTo>
                    <a:pt x="12191" y="51053"/>
                  </a:lnTo>
                  <a:close/>
                </a:path>
              </a:pathLst>
            </a:custGeom>
            <a:solidFill>
              <a:srgbClr val="0F1A81"/>
            </a:solidFill>
          </p:spPr>
          <p:txBody>
            <a:bodyPr wrap="square" lIns="0" tIns="0" rIns="0" bIns="0" rtlCol="0"/>
            <a:lstStyle/>
            <a:p>
              <a:endParaRPr sz="2052"/>
            </a:p>
          </p:txBody>
        </p:sp>
        <p:sp>
          <p:nvSpPr>
            <p:cNvPr id="45" name="object 45"/>
            <p:cNvSpPr/>
            <p:nvPr/>
          </p:nvSpPr>
          <p:spPr>
            <a:xfrm>
              <a:off x="5336425" y="4318748"/>
              <a:ext cx="10860" cy="11403"/>
            </a:xfrm>
            <a:custGeom>
              <a:avLst/>
              <a:gdLst/>
              <a:ahLst/>
              <a:cxnLst/>
              <a:rect l="l" t="t" r="r" b="b"/>
              <a:pathLst>
                <a:path w="12700" h="13335">
                  <a:moveTo>
                    <a:pt x="12191" y="12953"/>
                  </a:moveTo>
                  <a:lnTo>
                    <a:pt x="12191" y="0"/>
                  </a:lnTo>
                  <a:lnTo>
                    <a:pt x="0" y="0"/>
                  </a:lnTo>
                  <a:lnTo>
                    <a:pt x="0" y="12953"/>
                  </a:lnTo>
                  <a:lnTo>
                    <a:pt x="12191" y="12953"/>
                  </a:lnTo>
                  <a:close/>
                </a:path>
              </a:pathLst>
            </a:custGeom>
            <a:solidFill>
              <a:srgbClr val="0F1A81"/>
            </a:solidFill>
          </p:spPr>
          <p:txBody>
            <a:bodyPr wrap="square" lIns="0" tIns="0" rIns="0" bIns="0" rtlCol="0"/>
            <a:lstStyle/>
            <a:p>
              <a:endParaRPr sz="2052"/>
            </a:p>
          </p:txBody>
        </p:sp>
        <p:sp>
          <p:nvSpPr>
            <p:cNvPr id="46" name="object 46"/>
            <p:cNvSpPr/>
            <p:nvPr/>
          </p:nvSpPr>
          <p:spPr>
            <a:xfrm>
              <a:off x="5336425" y="4362405"/>
              <a:ext cx="10860" cy="43439"/>
            </a:xfrm>
            <a:custGeom>
              <a:avLst/>
              <a:gdLst/>
              <a:ahLst/>
              <a:cxnLst/>
              <a:rect l="l" t="t" r="r" b="b"/>
              <a:pathLst>
                <a:path w="12700" h="50800">
                  <a:moveTo>
                    <a:pt x="12191" y="50291"/>
                  </a:moveTo>
                  <a:lnTo>
                    <a:pt x="12191" y="0"/>
                  </a:lnTo>
                  <a:lnTo>
                    <a:pt x="0" y="0"/>
                  </a:lnTo>
                  <a:lnTo>
                    <a:pt x="0" y="50291"/>
                  </a:lnTo>
                  <a:lnTo>
                    <a:pt x="12191" y="50291"/>
                  </a:lnTo>
                  <a:close/>
                </a:path>
              </a:pathLst>
            </a:custGeom>
            <a:solidFill>
              <a:srgbClr val="0F1A81"/>
            </a:solidFill>
          </p:spPr>
          <p:txBody>
            <a:bodyPr wrap="square" lIns="0" tIns="0" rIns="0" bIns="0" rtlCol="0"/>
            <a:lstStyle/>
            <a:p>
              <a:endParaRPr sz="2052"/>
            </a:p>
          </p:txBody>
        </p:sp>
        <p:sp>
          <p:nvSpPr>
            <p:cNvPr id="47" name="object 47"/>
            <p:cNvSpPr/>
            <p:nvPr/>
          </p:nvSpPr>
          <p:spPr>
            <a:xfrm>
              <a:off x="5336425" y="4437990"/>
              <a:ext cx="10860" cy="11403"/>
            </a:xfrm>
            <a:custGeom>
              <a:avLst/>
              <a:gdLst/>
              <a:ahLst/>
              <a:cxnLst/>
              <a:rect l="l" t="t" r="r" b="b"/>
              <a:pathLst>
                <a:path w="12700" h="13335">
                  <a:moveTo>
                    <a:pt x="12191" y="12953"/>
                  </a:moveTo>
                  <a:lnTo>
                    <a:pt x="12191" y="0"/>
                  </a:lnTo>
                  <a:lnTo>
                    <a:pt x="0" y="0"/>
                  </a:lnTo>
                  <a:lnTo>
                    <a:pt x="0" y="12953"/>
                  </a:lnTo>
                  <a:lnTo>
                    <a:pt x="12191" y="12953"/>
                  </a:lnTo>
                  <a:close/>
                </a:path>
              </a:pathLst>
            </a:custGeom>
            <a:solidFill>
              <a:srgbClr val="0F1A81"/>
            </a:solidFill>
          </p:spPr>
          <p:txBody>
            <a:bodyPr wrap="square" lIns="0" tIns="0" rIns="0" bIns="0" rtlCol="0"/>
            <a:lstStyle/>
            <a:p>
              <a:endParaRPr sz="2052"/>
            </a:p>
          </p:txBody>
        </p:sp>
        <p:sp>
          <p:nvSpPr>
            <p:cNvPr id="48" name="object 48"/>
            <p:cNvSpPr/>
            <p:nvPr/>
          </p:nvSpPr>
          <p:spPr>
            <a:xfrm>
              <a:off x="5336425" y="4481646"/>
              <a:ext cx="10860" cy="43982"/>
            </a:xfrm>
            <a:custGeom>
              <a:avLst/>
              <a:gdLst/>
              <a:ahLst/>
              <a:cxnLst/>
              <a:rect l="l" t="t" r="r" b="b"/>
              <a:pathLst>
                <a:path w="12700" h="51435">
                  <a:moveTo>
                    <a:pt x="12191" y="51053"/>
                  </a:moveTo>
                  <a:lnTo>
                    <a:pt x="12191" y="0"/>
                  </a:lnTo>
                  <a:lnTo>
                    <a:pt x="0" y="0"/>
                  </a:lnTo>
                  <a:lnTo>
                    <a:pt x="0" y="51053"/>
                  </a:lnTo>
                  <a:lnTo>
                    <a:pt x="12191" y="51053"/>
                  </a:lnTo>
                  <a:close/>
                </a:path>
              </a:pathLst>
            </a:custGeom>
            <a:solidFill>
              <a:srgbClr val="0F1A81"/>
            </a:solidFill>
          </p:spPr>
          <p:txBody>
            <a:bodyPr wrap="square" lIns="0" tIns="0" rIns="0" bIns="0" rtlCol="0"/>
            <a:lstStyle/>
            <a:p>
              <a:endParaRPr sz="2052"/>
            </a:p>
          </p:txBody>
        </p:sp>
        <p:sp>
          <p:nvSpPr>
            <p:cNvPr id="49" name="object 49"/>
            <p:cNvSpPr/>
            <p:nvPr/>
          </p:nvSpPr>
          <p:spPr>
            <a:xfrm>
              <a:off x="5336425" y="4557882"/>
              <a:ext cx="10860" cy="10860"/>
            </a:xfrm>
            <a:custGeom>
              <a:avLst/>
              <a:gdLst/>
              <a:ahLst/>
              <a:cxnLst/>
              <a:rect l="l" t="t" r="r" b="b"/>
              <a:pathLst>
                <a:path w="12700" h="12700">
                  <a:moveTo>
                    <a:pt x="12191" y="12191"/>
                  </a:moveTo>
                  <a:lnTo>
                    <a:pt x="12191" y="0"/>
                  </a:lnTo>
                  <a:lnTo>
                    <a:pt x="0" y="0"/>
                  </a:lnTo>
                  <a:lnTo>
                    <a:pt x="0" y="12191"/>
                  </a:lnTo>
                  <a:lnTo>
                    <a:pt x="12191" y="12191"/>
                  </a:lnTo>
                  <a:close/>
                </a:path>
              </a:pathLst>
            </a:custGeom>
            <a:solidFill>
              <a:srgbClr val="0F1A81"/>
            </a:solidFill>
          </p:spPr>
          <p:txBody>
            <a:bodyPr wrap="square" lIns="0" tIns="0" rIns="0" bIns="0" rtlCol="0"/>
            <a:lstStyle/>
            <a:p>
              <a:endParaRPr sz="2052"/>
            </a:p>
          </p:txBody>
        </p:sp>
        <p:sp>
          <p:nvSpPr>
            <p:cNvPr id="50" name="object 50"/>
            <p:cNvSpPr/>
            <p:nvPr/>
          </p:nvSpPr>
          <p:spPr>
            <a:xfrm>
              <a:off x="5336425" y="4600888"/>
              <a:ext cx="10860" cy="43982"/>
            </a:xfrm>
            <a:custGeom>
              <a:avLst/>
              <a:gdLst/>
              <a:ahLst/>
              <a:cxnLst/>
              <a:rect l="l" t="t" r="r" b="b"/>
              <a:pathLst>
                <a:path w="12700" h="51435">
                  <a:moveTo>
                    <a:pt x="12191" y="51053"/>
                  </a:moveTo>
                  <a:lnTo>
                    <a:pt x="12191" y="0"/>
                  </a:lnTo>
                  <a:lnTo>
                    <a:pt x="0" y="0"/>
                  </a:lnTo>
                  <a:lnTo>
                    <a:pt x="0" y="51053"/>
                  </a:lnTo>
                  <a:lnTo>
                    <a:pt x="12191" y="51053"/>
                  </a:lnTo>
                  <a:close/>
                </a:path>
              </a:pathLst>
            </a:custGeom>
            <a:solidFill>
              <a:srgbClr val="0F1A81"/>
            </a:solidFill>
          </p:spPr>
          <p:txBody>
            <a:bodyPr wrap="square" lIns="0" tIns="0" rIns="0" bIns="0" rtlCol="0"/>
            <a:lstStyle/>
            <a:p>
              <a:endParaRPr sz="2052"/>
            </a:p>
          </p:txBody>
        </p:sp>
        <p:sp>
          <p:nvSpPr>
            <p:cNvPr id="51" name="object 51"/>
            <p:cNvSpPr/>
            <p:nvPr/>
          </p:nvSpPr>
          <p:spPr>
            <a:xfrm>
              <a:off x="5336425" y="4677123"/>
              <a:ext cx="10860" cy="11403"/>
            </a:xfrm>
            <a:custGeom>
              <a:avLst/>
              <a:gdLst/>
              <a:ahLst/>
              <a:cxnLst/>
              <a:rect l="l" t="t" r="r" b="b"/>
              <a:pathLst>
                <a:path w="12700" h="13335">
                  <a:moveTo>
                    <a:pt x="12191" y="12953"/>
                  </a:moveTo>
                  <a:lnTo>
                    <a:pt x="12191" y="0"/>
                  </a:lnTo>
                  <a:lnTo>
                    <a:pt x="0" y="0"/>
                  </a:lnTo>
                  <a:lnTo>
                    <a:pt x="0" y="12953"/>
                  </a:lnTo>
                  <a:lnTo>
                    <a:pt x="12191" y="12953"/>
                  </a:lnTo>
                  <a:close/>
                </a:path>
              </a:pathLst>
            </a:custGeom>
            <a:solidFill>
              <a:srgbClr val="0F1A81"/>
            </a:solidFill>
          </p:spPr>
          <p:txBody>
            <a:bodyPr wrap="square" lIns="0" tIns="0" rIns="0" bIns="0" rtlCol="0"/>
            <a:lstStyle/>
            <a:p>
              <a:endParaRPr sz="2052"/>
            </a:p>
          </p:txBody>
        </p:sp>
        <p:sp>
          <p:nvSpPr>
            <p:cNvPr id="52" name="object 52"/>
            <p:cNvSpPr/>
            <p:nvPr/>
          </p:nvSpPr>
          <p:spPr>
            <a:xfrm>
              <a:off x="5336425" y="4720780"/>
              <a:ext cx="10860" cy="43439"/>
            </a:xfrm>
            <a:custGeom>
              <a:avLst/>
              <a:gdLst/>
              <a:ahLst/>
              <a:cxnLst/>
              <a:rect l="l" t="t" r="r" b="b"/>
              <a:pathLst>
                <a:path w="12700" h="50800">
                  <a:moveTo>
                    <a:pt x="12191" y="50291"/>
                  </a:moveTo>
                  <a:lnTo>
                    <a:pt x="12191" y="0"/>
                  </a:lnTo>
                  <a:lnTo>
                    <a:pt x="0" y="0"/>
                  </a:lnTo>
                  <a:lnTo>
                    <a:pt x="0" y="50291"/>
                  </a:lnTo>
                  <a:lnTo>
                    <a:pt x="12191" y="50291"/>
                  </a:lnTo>
                  <a:close/>
                </a:path>
              </a:pathLst>
            </a:custGeom>
            <a:solidFill>
              <a:srgbClr val="0F1A81"/>
            </a:solidFill>
          </p:spPr>
          <p:txBody>
            <a:bodyPr wrap="square" lIns="0" tIns="0" rIns="0" bIns="0" rtlCol="0"/>
            <a:lstStyle/>
            <a:p>
              <a:endParaRPr sz="2052"/>
            </a:p>
          </p:txBody>
        </p:sp>
        <p:sp>
          <p:nvSpPr>
            <p:cNvPr id="53" name="object 53"/>
            <p:cNvSpPr/>
            <p:nvPr/>
          </p:nvSpPr>
          <p:spPr>
            <a:xfrm>
              <a:off x="5336425" y="4796365"/>
              <a:ext cx="10860" cy="11403"/>
            </a:xfrm>
            <a:custGeom>
              <a:avLst/>
              <a:gdLst/>
              <a:ahLst/>
              <a:cxnLst/>
              <a:rect l="l" t="t" r="r" b="b"/>
              <a:pathLst>
                <a:path w="12700" h="13335">
                  <a:moveTo>
                    <a:pt x="12191" y="12953"/>
                  </a:moveTo>
                  <a:lnTo>
                    <a:pt x="12191" y="0"/>
                  </a:lnTo>
                  <a:lnTo>
                    <a:pt x="0" y="0"/>
                  </a:lnTo>
                  <a:lnTo>
                    <a:pt x="0" y="12953"/>
                  </a:lnTo>
                  <a:lnTo>
                    <a:pt x="12191" y="12953"/>
                  </a:lnTo>
                  <a:close/>
                </a:path>
              </a:pathLst>
            </a:custGeom>
            <a:solidFill>
              <a:srgbClr val="0F1A81"/>
            </a:solidFill>
          </p:spPr>
          <p:txBody>
            <a:bodyPr wrap="square" lIns="0" tIns="0" rIns="0" bIns="0" rtlCol="0"/>
            <a:lstStyle/>
            <a:p>
              <a:endParaRPr sz="2052"/>
            </a:p>
          </p:txBody>
        </p:sp>
        <p:sp>
          <p:nvSpPr>
            <p:cNvPr id="54" name="object 54"/>
            <p:cNvSpPr/>
            <p:nvPr/>
          </p:nvSpPr>
          <p:spPr>
            <a:xfrm>
              <a:off x="5336425" y="4840021"/>
              <a:ext cx="10860" cy="43982"/>
            </a:xfrm>
            <a:custGeom>
              <a:avLst/>
              <a:gdLst/>
              <a:ahLst/>
              <a:cxnLst/>
              <a:rect l="l" t="t" r="r" b="b"/>
              <a:pathLst>
                <a:path w="12700" h="51435">
                  <a:moveTo>
                    <a:pt x="12191" y="51053"/>
                  </a:moveTo>
                  <a:lnTo>
                    <a:pt x="12191" y="0"/>
                  </a:lnTo>
                  <a:lnTo>
                    <a:pt x="0" y="0"/>
                  </a:lnTo>
                  <a:lnTo>
                    <a:pt x="0" y="51053"/>
                  </a:lnTo>
                  <a:lnTo>
                    <a:pt x="12191" y="51053"/>
                  </a:lnTo>
                  <a:close/>
                </a:path>
              </a:pathLst>
            </a:custGeom>
            <a:solidFill>
              <a:srgbClr val="0F1A81"/>
            </a:solidFill>
          </p:spPr>
          <p:txBody>
            <a:bodyPr wrap="square" lIns="0" tIns="0" rIns="0" bIns="0" rtlCol="0"/>
            <a:lstStyle/>
            <a:p>
              <a:endParaRPr sz="2052"/>
            </a:p>
          </p:txBody>
        </p:sp>
        <p:sp>
          <p:nvSpPr>
            <p:cNvPr id="55" name="object 55"/>
            <p:cNvSpPr/>
            <p:nvPr/>
          </p:nvSpPr>
          <p:spPr>
            <a:xfrm>
              <a:off x="5336425" y="4916257"/>
              <a:ext cx="10860" cy="10860"/>
            </a:xfrm>
            <a:custGeom>
              <a:avLst/>
              <a:gdLst/>
              <a:ahLst/>
              <a:cxnLst/>
              <a:rect l="l" t="t" r="r" b="b"/>
              <a:pathLst>
                <a:path w="12700" h="12700">
                  <a:moveTo>
                    <a:pt x="12191" y="12191"/>
                  </a:moveTo>
                  <a:lnTo>
                    <a:pt x="12191" y="0"/>
                  </a:lnTo>
                  <a:lnTo>
                    <a:pt x="0" y="0"/>
                  </a:lnTo>
                  <a:lnTo>
                    <a:pt x="0" y="12191"/>
                  </a:lnTo>
                  <a:lnTo>
                    <a:pt x="12191" y="12191"/>
                  </a:lnTo>
                  <a:close/>
                </a:path>
              </a:pathLst>
            </a:custGeom>
            <a:solidFill>
              <a:srgbClr val="0F1A81"/>
            </a:solidFill>
          </p:spPr>
          <p:txBody>
            <a:bodyPr wrap="square" lIns="0" tIns="0" rIns="0" bIns="0" rtlCol="0"/>
            <a:lstStyle/>
            <a:p>
              <a:endParaRPr sz="2052"/>
            </a:p>
          </p:txBody>
        </p:sp>
        <p:sp>
          <p:nvSpPr>
            <p:cNvPr id="56" name="object 56"/>
            <p:cNvSpPr/>
            <p:nvPr/>
          </p:nvSpPr>
          <p:spPr>
            <a:xfrm>
              <a:off x="5336425" y="4959263"/>
              <a:ext cx="10860" cy="43982"/>
            </a:xfrm>
            <a:custGeom>
              <a:avLst/>
              <a:gdLst/>
              <a:ahLst/>
              <a:cxnLst/>
              <a:rect l="l" t="t" r="r" b="b"/>
              <a:pathLst>
                <a:path w="12700" h="51435">
                  <a:moveTo>
                    <a:pt x="12191" y="51053"/>
                  </a:moveTo>
                  <a:lnTo>
                    <a:pt x="12191" y="0"/>
                  </a:lnTo>
                  <a:lnTo>
                    <a:pt x="0" y="0"/>
                  </a:lnTo>
                  <a:lnTo>
                    <a:pt x="0" y="51053"/>
                  </a:lnTo>
                  <a:lnTo>
                    <a:pt x="12191" y="51053"/>
                  </a:lnTo>
                  <a:close/>
                </a:path>
              </a:pathLst>
            </a:custGeom>
            <a:solidFill>
              <a:srgbClr val="0F1A81"/>
            </a:solidFill>
          </p:spPr>
          <p:txBody>
            <a:bodyPr wrap="square" lIns="0" tIns="0" rIns="0" bIns="0" rtlCol="0"/>
            <a:lstStyle/>
            <a:p>
              <a:endParaRPr sz="2052"/>
            </a:p>
          </p:txBody>
        </p:sp>
        <p:sp>
          <p:nvSpPr>
            <p:cNvPr id="57" name="object 57"/>
            <p:cNvSpPr/>
            <p:nvPr/>
          </p:nvSpPr>
          <p:spPr>
            <a:xfrm>
              <a:off x="5336425" y="5035498"/>
              <a:ext cx="10860" cy="11403"/>
            </a:xfrm>
            <a:custGeom>
              <a:avLst/>
              <a:gdLst/>
              <a:ahLst/>
              <a:cxnLst/>
              <a:rect l="l" t="t" r="r" b="b"/>
              <a:pathLst>
                <a:path w="12700" h="13335">
                  <a:moveTo>
                    <a:pt x="12191" y="12953"/>
                  </a:moveTo>
                  <a:lnTo>
                    <a:pt x="12191" y="0"/>
                  </a:lnTo>
                  <a:lnTo>
                    <a:pt x="0" y="0"/>
                  </a:lnTo>
                  <a:lnTo>
                    <a:pt x="0" y="12953"/>
                  </a:lnTo>
                  <a:lnTo>
                    <a:pt x="12191" y="12953"/>
                  </a:lnTo>
                  <a:close/>
                </a:path>
              </a:pathLst>
            </a:custGeom>
            <a:solidFill>
              <a:srgbClr val="0F1A81"/>
            </a:solidFill>
          </p:spPr>
          <p:txBody>
            <a:bodyPr wrap="square" lIns="0" tIns="0" rIns="0" bIns="0" rtlCol="0"/>
            <a:lstStyle/>
            <a:p>
              <a:endParaRPr sz="2052"/>
            </a:p>
          </p:txBody>
        </p:sp>
        <p:sp>
          <p:nvSpPr>
            <p:cNvPr id="58" name="object 58"/>
            <p:cNvSpPr/>
            <p:nvPr/>
          </p:nvSpPr>
          <p:spPr>
            <a:xfrm>
              <a:off x="5336425" y="5079156"/>
              <a:ext cx="10860" cy="43439"/>
            </a:xfrm>
            <a:custGeom>
              <a:avLst/>
              <a:gdLst/>
              <a:ahLst/>
              <a:cxnLst/>
              <a:rect l="l" t="t" r="r" b="b"/>
              <a:pathLst>
                <a:path w="12700" h="50800">
                  <a:moveTo>
                    <a:pt x="12191" y="50291"/>
                  </a:moveTo>
                  <a:lnTo>
                    <a:pt x="12191" y="0"/>
                  </a:lnTo>
                  <a:lnTo>
                    <a:pt x="0" y="0"/>
                  </a:lnTo>
                  <a:lnTo>
                    <a:pt x="0" y="50291"/>
                  </a:lnTo>
                  <a:lnTo>
                    <a:pt x="12191" y="50291"/>
                  </a:lnTo>
                  <a:close/>
                </a:path>
              </a:pathLst>
            </a:custGeom>
            <a:solidFill>
              <a:srgbClr val="0F1A81"/>
            </a:solidFill>
          </p:spPr>
          <p:txBody>
            <a:bodyPr wrap="square" lIns="0" tIns="0" rIns="0" bIns="0" rtlCol="0"/>
            <a:lstStyle/>
            <a:p>
              <a:endParaRPr sz="2052"/>
            </a:p>
          </p:txBody>
        </p:sp>
        <p:sp>
          <p:nvSpPr>
            <p:cNvPr id="59" name="object 59"/>
            <p:cNvSpPr/>
            <p:nvPr/>
          </p:nvSpPr>
          <p:spPr>
            <a:xfrm>
              <a:off x="5336425" y="5154740"/>
              <a:ext cx="10860" cy="11403"/>
            </a:xfrm>
            <a:custGeom>
              <a:avLst/>
              <a:gdLst/>
              <a:ahLst/>
              <a:cxnLst/>
              <a:rect l="l" t="t" r="r" b="b"/>
              <a:pathLst>
                <a:path w="12700" h="13335">
                  <a:moveTo>
                    <a:pt x="12191" y="12953"/>
                  </a:moveTo>
                  <a:lnTo>
                    <a:pt x="12191" y="0"/>
                  </a:lnTo>
                  <a:lnTo>
                    <a:pt x="0" y="0"/>
                  </a:lnTo>
                  <a:lnTo>
                    <a:pt x="0" y="12953"/>
                  </a:lnTo>
                  <a:lnTo>
                    <a:pt x="12191" y="12953"/>
                  </a:lnTo>
                  <a:close/>
                </a:path>
              </a:pathLst>
            </a:custGeom>
            <a:solidFill>
              <a:srgbClr val="0F1A81"/>
            </a:solidFill>
          </p:spPr>
          <p:txBody>
            <a:bodyPr wrap="square" lIns="0" tIns="0" rIns="0" bIns="0" rtlCol="0"/>
            <a:lstStyle/>
            <a:p>
              <a:endParaRPr sz="2052"/>
            </a:p>
          </p:txBody>
        </p:sp>
        <p:sp>
          <p:nvSpPr>
            <p:cNvPr id="60" name="object 60"/>
            <p:cNvSpPr/>
            <p:nvPr/>
          </p:nvSpPr>
          <p:spPr>
            <a:xfrm>
              <a:off x="5336425" y="5198396"/>
              <a:ext cx="10860" cy="43982"/>
            </a:xfrm>
            <a:custGeom>
              <a:avLst/>
              <a:gdLst/>
              <a:ahLst/>
              <a:cxnLst/>
              <a:rect l="l" t="t" r="r" b="b"/>
              <a:pathLst>
                <a:path w="12700" h="51435">
                  <a:moveTo>
                    <a:pt x="12191" y="51053"/>
                  </a:moveTo>
                  <a:lnTo>
                    <a:pt x="12191" y="0"/>
                  </a:lnTo>
                  <a:lnTo>
                    <a:pt x="0" y="0"/>
                  </a:lnTo>
                  <a:lnTo>
                    <a:pt x="0" y="51053"/>
                  </a:lnTo>
                  <a:lnTo>
                    <a:pt x="12191" y="51053"/>
                  </a:lnTo>
                  <a:close/>
                </a:path>
              </a:pathLst>
            </a:custGeom>
            <a:solidFill>
              <a:srgbClr val="0F1A81"/>
            </a:solidFill>
          </p:spPr>
          <p:txBody>
            <a:bodyPr wrap="square" lIns="0" tIns="0" rIns="0" bIns="0" rtlCol="0"/>
            <a:lstStyle/>
            <a:p>
              <a:endParaRPr sz="2052"/>
            </a:p>
          </p:txBody>
        </p:sp>
        <p:sp>
          <p:nvSpPr>
            <p:cNvPr id="61" name="object 61"/>
            <p:cNvSpPr/>
            <p:nvPr/>
          </p:nvSpPr>
          <p:spPr>
            <a:xfrm>
              <a:off x="5336425" y="5274633"/>
              <a:ext cx="10860" cy="10860"/>
            </a:xfrm>
            <a:custGeom>
              <a:avLst/>
              <a:gdLst/>
              <a:ahLst/>
              <a:cxnLst/>
              <a:rect l="l" t="t" r="r" b="b"/>
              <a:pathLst>
                <a:path w="12700" h="12700">
                  <a:moveTo>
                    <a:pt x="12191" y="12191"/>
                  </a:moveTo>
                  <a:lnTo>
                    <a:pt x="12191" y="0"/>
                  </a:lnTo>
                  <a:lnTo>
                    <a:pt x="0" y="0"/>
                  </a:lnTo>
                  <a:lnTo>
                    <a:pt x="0" y="12191"/>
                  </a:lnTo>
                  <a:lnTo>
                    <a:pt x="12191" y="12191"/>
                  </a:lnTo>
                  <a:close/>
                </a:path>
              </a:pathLst>
            </a:custGeom>
            <a:solidFill>
              <a:srgbClr val="0F1A81"/>
            </a:solidFill>
          </p:spPr>
          <p:txBody>
            <a:bodyPr wrap="square" lIns="0" tIns="0" rIns="0" bIns="0" rtlCol="0"/>
            <a:lstStyle/>
            <a:p>
              <a:endParaRPr sz="2052"/>
            </a:p>
          </p:txBody>
        </p:sp>
        <p:sp>
          <p:nvSpPr>
            <p:cNvPr id="62" name="object 62"/>
            <p:cNvSpPr/>
            <p:nvPr/>
          </p:nvSpPr>
          <p:spPr>
            <a:xfrm>
              <a:off x="5336425" y="5317638"/>
              <a:ext cx="10860" cy="43982"/>
            </a:xfrm>
            <a:custGeom>
              <a:avLst/>
              <a:gdLst/>
              <a:ahLst/>
              <a:cxnLst/>
              <a:rect l="l" t="t" r="r" b="b"/>
              <a:pathLst>
                <a:path w="12700" h="51435">
                  <a:moveTo>
                    <a:pt x="12191" y="51053"/>
                  </a:moveTo>
                  <a:lnTo>
                    <a:pt x="12191" y="0"/>
                  </a:lnTo>
                  <a:lnTo>
                    <a:pt x="0" y="0"/>
                  </a:lnTo>
                  <a:lnTo>
                    <a:pt x="0" y="51053"/>
                  </a:lnTo>
                  <a:lnTo>
                    <a:pt x="12191" y="51053"/>
                  </a:lnTo>
                  <a:close/>
                </a:path>
              </a:pathLst>
            </a:custGeom>
            <a:solidFill>
              <a:srgbClr val="0F1A81"/>
            </a:solidFill>
          </p:spPr>
          <p:txBody>
            <a:bodyPr wrap="square" lIns="0" tIns="0" rIns="0" bIns="0" rtlCol="0"/>
            <a:lstStyle/>
            <a:p>
              <a:endParaRPr sz="2052"/>
            </a:p>
          </p:txBody>
        </p:sp>
        <p:sp>
          <p:nvSpPr>
            <p:cNvPr id="63" name="object 63"/>
            <p:cNvSpPr/>
            <p:nvPr/>
          </p:nvSpPr>
          <p:spPr>
            <a:xfrm>
              <a:off x="5336425" y="5393874"/>
              <a:ext cx="10860" cy="11403"/>
            </a:xfrm>
            <a:custGeom>
              <a:avLst/>
              <a:gdLst/>
              <a:ahLst/>
              <a:cxnLst/>
              <a:rect l="l" t="t" r="r" b="b"/>
              <a:pathLst>
                <a:path w="12700" h="13335">
                  <a:moveTo>
                    <a:pt x="12191" y="12953"/>
                  </a:moveTo>
                  <a:lnTo>
                    <a:pt x="12191" y="0"/>
                  </a:lnTo>
                  <a:lnTo>
                    <a:pt x="0" y="0"/>
                  </a:lnTo>
                  <a:lnTo>
                    <a:pt x="0" y="12953"/>
                  </a:lnTo>
                  <a:lnTo>
                    <a:pt x="12191" y="12953"/>
                  </a:lnTo>
                  <a:close/>
                </a:path>
              </a:pathLst>
            </a:custGeom>
            <a:solidFill>
              <a:srgbClr val="0F1A81"/>
            </a:solidFill>
          </p:spPr>
          <p:txBody>
            <a:bodyPr wrap="square" lIns="0" tIns="0" rIns="0" bIns="0" rtlCol="0"/>
            <a:lstStyle/>
            <a:p>
              <a:endParaRPr sz="2052"/>
            </a:p>
          </p:txBody>
        </p:sp>
        <p:sp>
          <p:nvSpPr>
            <p:cNvPr id="64" name="object 64"/>
            <p:cNvSpPr/>
            <p:nvPr/>
          </p:nvSpPr>
          <p:spPr>
            <a:xfrm>
              <a:off x="5336425" y="5437531"/>
              <a:ext cx="10860" cy="43439"/>
            </a:xfrm>
            <a:custGeom>
              <a:avLst/>
              <a:gdLst/>
              <a:ahLst/>
              <a:cxnLst/>
              <a:rect l="l" t="t" r="r" b="b"/>
              <a:pathLst>
                <a:path w="12700" h="50800">
                  <a:moveTo>
                    <a:pt x="12191" y="50291"/>
                  </a:moveTo>
                  <a:lnTo>
                    <a:pt x="12191" y="0"/>
                  </a:lnTo>
                  <a:lnTo>
                    <a:pt x="0" y="0"/>
                  </a:lnTo>
                  <a:lnTo>
                    <a:pt x="0" y="50291"/>
                  </a:lnTo>
                  <a:lnTo>
                    <a:pt x="12191" y="50291"/>
                  </a:lnTo>
                  <a:close/>
                </a:path>
              </a:pathLst>
            </a:custGeom>
            <a:solidFill>
              <a:srgbClr val="0F1A81"/>
            </a:solidFill>
          </p:spPr>
          <p:txBody>
            <a:bodyPr wrap="square" lIns="0" tIns="0" rIns="0" bIns="0" rtlCol="0"/>
            <a:lstStyle/>
            <a:p>
              <a:endParaRPr sz="2052"/>
            </a:p>
          </p:txBody>
        </p:sp>
        <p:sp>
          <p:nvSpPr>
            <p:cNvPr id="65" name="object 65"/>
            <p:cNvSpPr/>
            <p:nvPr/>
          </p:nvSpPr>
          <p:spPr>
            <a:xfrm>
              <a:off x="5336425" y="5513116"/>
              <a:ext cx="10860" cy="11403"/>
            </a:xfrm>
            <a:custGeom>
              <a:avLst/>
              <a:gdLst/>
              <a:ahLst/>
              <a:cxnLst/>
              <a:rect l="l" t="t" r="r" b="b"/>
              <a:pathLst>
                <a:path w="12700" h="13335">
                  <a:moveTo>
                    <a:pt x="12191" y="12953"/>
                  </a:moveTo>
                  <a:lnTo>
                    <a:pt x="12191" y="0"/>
                  </a:lnTo>
                  <a:lnTo>
                    <a:pt x="0" y="0"/>
                  </a:lnTo>
                  <a:lnTo>
                    <a:pt x="0" y="12953"/>
                  </a:lnTo>
                  <a:lnTo>
                    <a:pt x="12191" y="12953"/>
                  </a:lnTo>
                  <a:close/>
                </a:path>
              </a:pathLst>
            </a:custGeom>
            <a:solidFill>
              <a:srgbClr val="0F1A81"/>
            </a:solidFill>
          </p:spPr>
          <p:txBody>
            <a:bodyPr wrap="square" lIns="0" tIns="0" rIns="0" bIns="0" rtlCol="0"/>
            <a:lstStyle/>
            <a:p>
              <a:endParaRPr sz="2052"/>
            </a:p>
          </p:txBody>
        </p:sp>
        <p:sp>
          <p:nvSpPr>
            <p:cNvPr id="66" name="object 66"/>
            <p:cNvSpPr/>
            <p:nvPr/>
          </p:nvSpPr>
          <p:spPr>
            <a:xfrm>
              <a:off x="5336425" y="5556771"/>
              <a:ext cx="10860" cy="25521"/>
            </a:xfrm>
            <a:custGeom>
              <a:avLst/>
              <a:gdLst/>
              <a:ahLst/>
              <a:cxnLst/>
              <a:rect l="l" t="t" r="r" b="b"/>
              <a:pathLst>
                <a:path w="12700" h="29845">
                  <a:moveTo>
                    <a:pt x="12191" y="29717"/>
                  </a:moveTo>
                  <a:lnTo>
                    <a:pt x="12191" y="0"/>
                  </a:lnTo>
                  <a:lnTo>
                    <a:pt x="0" y="0"/>
                  </a:lnTo>
                  <a:lnTo>
                    <a:pt x="0" y="29717"/>
                  </a:lnTo>
                  <a:lnTo>
                    <a:pt x="12191" y="29717"/>
                  </a:lnTo>
                  <a:close/>
                </a:path>
              </a:pathLst>
            </a:custGeom>
            <a:solidFill>
              <a:srgbClr val="0F1A81"/>
            </a:solidFill>
          </p:spPr>
          <p:txBody>
            <a:bodyPr wrap="square" lIns="0" tIns="0" rIns="0" bIns="0" rtlCol="0"/>
            <a:lstStyle/>
            <a:p>
              <a:endParaRPr sz="2052"/>
            </a:p>
          </p:txBody>
        </p:sp>
        <p:sp>
          <p:nvSpPr>
            <p:cNvPr id="67" name="object 67"/>
            <p:cNvSpPr txBox="1"/>
            <p:nvPr/>
          </p:nvSpPr>
          <p:spPr>
            <a:xfrm>
              <a:off x="5153382" y="1814356"/>
              <a:ext cx="166699" cy="318194"/>
            </a:xfrm>
            <a:prstGeom prst="rect">
              <a:avLst/>
            </a:prstGeom>
          </p:spPr>
          <p:txBody>
            <a:bodyPr vert="horz" wrap="square" lIns="0" tIns="10317" rIns="0" bIns="0" rtlCol="0">
              <a:spAutoFit/>
            </a:bodyPr>
            <a:lstStyle/>
            <a:p>
              <a:pPr marL="10860">
                <a:spcBef>
                  <a:spcPts val="81"/>
                </a:spcBef>
              </a:pPr>
              <a:r>
                <a:rPr sz="2000" b="1" i="1" spc="-4" dirty="0">
                  <a:solidFill>
                    <a:srgbClr val="FF0000"/>
                  </a:solidFill>
                  <a:latin typeface="Times New Roman"/>
                  <a:cs typeface="Times New Roman"/>
                </a:rPr>
                <a:t>F</a:t>
              </a:r>
              <a:endParaRPr sz="2000" dirty="0">
                <a:latin typeface="Times New Roman"/>
                <a:cs typeface="Times New Roman"/>
              </a:endParaRPr>
            </a:p>
          </p:txBody>
        </p:sp>
        <p:sp>
          <p:nvSpPr>
            <p:cNvPr id="68" name="object 68"/>
            <p:cNvSpPr txBox="1"/>
            <p:nvPr/>
          </p:nvSpPr>
          <p:spPr>
            <a:xfrm>
              <a:off x="5284266" y="5835327"/>
              <a:ext cx="166699" cy="318194"/>
            </a:xfrm>
            <a:prstGeom prst="rect">
              <a:avLst/>
            </a:prstGeom>
          </p:spPr>
          <p:txBody>
            <a:bodyPr vert="horz" wrap="square" lIns="0" tIns="10317" rIns="0" bIns="0" rtlCol="0">
              <a:spAutoFit/>
            </a:bodyPr>
            <a:lstStyle/>
            <a:p>
              <a:pPr marL="10860">
                <a:spcBef>
                  <a:spcPts val="81"/>
                </a:spcBef>
              </a:pPr>
              <a:r>
                <a:rPr sz="2000" b="1" i="1" spc="-4" dirty="0">
                  <a:solidFill>
                    <a:srgbClr val="FF0000"/>
                  </a:solidFill>
                  <a:latin typeface="Times New Roman"/>
                  <a:cs typeface="Times New Roman"/>
                </a:rPr>
                <a:t>F</a:t>
              </a:r>
              <a:endParaRPr sz="2000" dirty="0">
                <a:latin typeface="Times New Roman"/>
                <a:cs typeface="Times New Roman"/>
              </a:endParaRPr>
            </a:p>
          </p:txBody>
        </p:sp>
        <p:sp>
          <p:nvSpPr>
            <p:cNvPr id="69" name="object 69"/>
            <p:cNvSpPr/>
            <p:nvPr/>
          </p:nvSpPr>
          <p:spPr>
            <a:xfrm>
              <a:off x="5311024" y="5578275"/>
              <a:ext cx="65159" cy="331769"/>
            </a:xfrm>
            <a:custGeom>
              <a:avLst/>
              <a:gdLst/>
              <a:ahLst/>
              <a:cxnLst/>
              <a:rect l="l" t="t" r="r" b="b"/>
              <a:pathLst>
                <a:path w="76200" h="387984">
                  <a:moveTo>
                    <a:pt x="76200" y="260603"/>
                  </a:moveTo>
                  <a:lnTo>
                    <a:pt x="0" y="260603"/>
                  </a:lnTo>
                  <a:lnTo>
                    <a:pt x="28956" y="357317"/>
                  </a:lnTo>
                  <a:lnTo>
                    <a:pt x="28956" y="273558"/>
                  </a:lnTo>
                  <a:lnTo>
                    <a:pt x="48006" y="273558"/>
                  </a:lnTo>
                  <a:lnTo>
                    <a:pt x="48006" y="354771"/>
                  </a:lnTo>
                  <a:lnTo>
                    <a:pt x="76200" y="260603"/>
                  </a:lnTo>
                  <a:close/>
                </a:path>
                <a:path w="76200" h="387984">
                  <a:moveTo>
                    <a:pt x="48006" y="260603"/>
                  </a:moveTo>
                  <a:lnTo>
                    <a:pt x="48006" y="0"/>
                  </a:lnTo>
                  <a:lnTo>
                    <a:pt x="28956" y="0"/>
                  </a:lnTo>
                  <a:lnTo>
                    <a:pt x="28956" y="260603"/>
                  </a:lnTo>
                  <a:lnTo>
                    <a:pt x="48006" y="260603"/>
                  </a:lnTo>
                  <a:close/>
                </a:path>
                <a:path w="76200" h="387984">
                  <a:moveTo>
                    <a:pt x="48006" y="354771"/>
                  </a:moveTo>
                  <a:lnTo>
                    <a:pt x="48006" y="273558"/>
                  </a:lnTo>
                  <a:lnTo>
                    <a:pt x="28956" y="273558"/>
                  </a:lnTo>
                  <a:lnTo>
                    <a:pt x="28956" y="357317"/>
                  </a:lnTo>
                  <a:lnTo>
                    <a:pt x="38100" y="387858"/>
                  </a:lnTo>
                  <a:lnTo>
                    <a:pt x="48006" y="354771"/>
                  </a:lnTo>
                  <a:close/>
                </a:path>
              </a:pathLst>
            </a:custGeom>
            <a:solidFill>
              <a:srgbClr val="FF0000"/>
            </a:solidFill>
          </p:spPr>
          <p:txBody>
            <a:bodyPr wrap="square" lIns="0" tIns="0" rIns="0" bIns="0" rtlCol="0"/>
            <a:lstStyle/>
            <a:p>
              <a:endParaRPr sz="2052"/>
            </a:p>
          </p:txBody>
        </p:sp>
        <p:sp>
          <p:nvSpPr>
            <p:cNvPr id="70" name="object 70"/>
            <p:cNvSpPr/>
            <p:nvPr/>
          </p:nvSpPr>
          <p:spPr>
            <a:xfrm>
              <a:off x="4861426" y="5578275"/>
              <a:ext cx="65159" cy="331769"/>
            </a:xfrm>
            <a:custGeom>
              <a:avLst/>
              <a:gdLst/>
              <a:ahLst/>
              <a:cxnLst/>
              <a:rect l="l" t="t" r="r" b="b"/>
              <a:pathLst>
                <a:path w="76200" h="387984">
                  <a:moveTo>
                    <a:pt x="76200" y="260603"/>
                  </a:moveTo>
                  <a:lnTo>
                    <a:pt x="0" y="260603"/>
                  </a:lnTo>
                  <a:lnTo>
                    <a:pt x="28193" y="354771"/>
                  </a:lnTo>
                  <a:lnTo>
                    <a:pt x="28193" y="273558"/>
                  </a:lnTo>
                  <a:lnTo>
                    <a:pt x="47243" y="273558"/>
                  </a:lnTo>
                  <a:lnTo>
                    <a:pt x="47243" y="357317"/>
                  </a:lnTo>
                  <a:lnTo>
                    <a:pt x="76200" y="260603"/>
                  </a:lnTo>
                  <a:close/>
                </a:path>
                <a:path w="76200" h="387984">
                  <a:moveTo>
                    <a:pt x="47243" y="260603"/>
                  </a:moveTo>
                  <a:lnTo>
                    <a:pt x="47243" y="0"/>
                  </a:lnTo>
                  <a:lnTo>
                    <a:pt x="28193" y="0"/>
                  </a:lnTo>
                  <a:lnTo>
                    <a:pt x="28193" y="260603"/>
                  </a:lnTo>
                  <a:lnTo>
                    <a:pt x="47243" y="260603"/>
                  </a:lnTo>
                  <a:close/>
                </a:path>
                <a:path w="76200" h="387984">
                  <a:moveTo>
                    <a:pt x="47243" y="357317"/>
                  </a:moveTo>
                  <a:lnTo>
                    <a:pt x="47243" y="273558"/>
                  </a:lnTo>
                  <a:lnTo>
                    <a:pt x="28193" y="273558"/>
                  </a:lnTo>
                  <a:lnTo>
                    <a:pt x="28193" y="354771"/>
                  </a:lnTo>
                  <a:lnTo>
                    <a:pt x="38100" y="387858"/>
                  </a:lnTo>
                  <a:lnTo>
                    <a:pt x="47243" y="357317"/>
                  </a:lnTo>
                  <a:close/>
                </a:path>
              </a:pathLst>
            </a:custGeom>
            <a:solidFill>
              <a:srgbClr val="FF0000"/>
            </a:solidFill>
          </p:spPr>
          <p:txBody>
            <a:bodyPr wrap="square" lIns="0" tIns="0" rIns="0" bIns="0" rtlCol="0"/>
            <a:lstStyle/>
            <a:p>
              <a:endParaRPr sz="2052"/>
            </a:p>
          </p:txBody>
        </p:sp>
        <p:sp>
          <p:nvSpPr>
            <p:cNvPr id="71" name="object 71"/>
            <p:cNvSpPr/>
            <p:nvPr/>
          </p:nvSpPr>
          <p:spPr>
            <a:xfrm>
              <a:off x="5760622" y="5578275"/>
              <a:ext cx="65159" cy="331769"/>
            </a:xfrm>
            <a:custGeom>
              <a:avLst/>
              <a:gdLst/>
              <a:ahLst/>
              <a:cxnLst/>
              <a:rect l="l" t="t" r="r" b="b"/>
              <a:pathLst>
                <a:path w="76200" h="387984">
                  <a:moveTo>
                    <a:pt x="76200" y="260603"/>
                  </a:moveTo>
                  <a:lnTo>
                    <a:pt x="0" y="260603"/>
                  </a:lnTo>
                  <a:lnTo>
                    <a:pt x="28943" y="357274"/>
                  </a:lnTo>
                  <a:lnTo>
                    <a:pt x="28943" y="273558"/>
                  </a:lnTo>
                  <a:lnTo>
                    <a:pt x="47993" y="273558"/>
                  </a:lnTo>
                  <a:lnTo>
                    <a:pt x="47993" y="354814"/>
                  </a:lnTo>
                  <a:lnTo>
                    <a:pt x="76200" y="260603"/>
                  </a:lnTo>
                  <a:close/>
                </a:path>
                <a:path w="76200" h="387984">
                  <a:moveTo>
                    <a:pt x="47993" y="260603"/>
                  </a:moveTo>
                  <a:lnTo>
                    <a:pt x="47993" y="0"/>
                  </a:lnTo>
                  <a:lnTo>
                    <a:pt x="28943" y="0"/>
                  </a:lnTo>
                  <a:lnTo>
                    <a:pt x="28943" y="260603"/>
                  </a:lnTo>
                  <a:lnTo>
                    <a:pt x="47993" y="260603"/>
                  </a:lnTo>
                  <a:close/>
                </a:path>
                <a:path w="76200" h="387984">
                  <a:moveTo>
                    <a:pt x="47993" y="354814"/>
                  </a:moveTo>
                  <a:lnTo>
                    <a:pt x="47993" y="273558"/>
                  </a:lnTo>
                  <a:lnTo>
                    <a:pt x="28943" y="273558"/>
                  </a:lnTo>
                  <a:lnTo>
                    <a:pt x="28943" y="357274"/>
                  </a:lnTo>
                  <a:lnTo>
                    <a:pt x="38100" y="387858"/>
                  </a:lnTo>
                  <a:lnTo>
                    <a:pt x="47993" y="354814"/>
                  </a:lnTo>
                  <a:close/>
                </a:path>
              </a:pathLst>
            </a:custGeom>
            <a:solidFill>
              <a:srgbClr val="FF0000"/>
            </a:solidFill>
          </p:spPr>
          <p:txBody>
            <a:bodyPr wrap="square" lIns="0" tIns="0" rIns="0" bIns="0" rtlCol="0"/>
            <a:lstStyle/>
            <a:p>
              <a:endParaRPr sz="2052"/>
            </a:p>
          </p:txBody>
        </p:sp>
        <p:sp>
          <p:nvSpPr>
            <p:cNvPr id="72" name="object 72"/>
            <p:cNvSpPr/>
            <p:nvPr/>
          </p:nvSpPr>
          <p:spPr>
            <a:xfrm>
              <a:off x="5086225" y="5578275"/>
              <a:ext cx="65159" cy="331769"/>
            </a:xfrm>
            <a:custGeom>
              <a:avLst/>
              <a:gdLst/>
              <a:ahLst/>
              <a:cxnLst/>
              <a:rect l="l" t="t" r="r" b="b"/>
              <a:pathLst>
                <a:path w="76200" h="387984">
                  <a:moveTo>
                    <a:pt x="76200" y="260603"/>
                  </a:moveTo>
                  <a:lnTo>
                    <a:pt x="0" y="260603"/>
                  </a:lnTo>
                  <a:lnTo>
                    <a:pt x="28955" y="357317"/>
                  </a:lnTo>
                  <a:lnTo>
                    <a:pt x="28955" y="273558"/>
                  </a:lnTo>
                  <a:lnTo>
                    <a:pt x="48005" y="273558"/>
                  </a:lnTo>
                  <a:lnTo>
                    <a:pt x="48005" y="354771"/>
                  </a:lnTo>
                  <a:lnTo>
                    <a:pt x="76200" y="260603"/>
                  </a:lnTo>
                  <a:close/>
                </a:path>
                <a:path w="76200" h="387984">
                  <a:moveTo>
                    <a:pt x="48005" y="260603"/>
                  </a:moveTo>
                  <a:lnTo>
                    <a:pt x="48005" y="0"/>
                  </a:lnTo>
                  <a:lnTo>
                    <a:pt x="28955" y="0"/>
                  </a:lnTo>
                  <a:lnTo>
                    <a:pt x="28955" y="260603"/>
                  </a:lnTo>
                  <a:lnTo>
                    <a:pt x="48005" y="260603"/>
                  </a:lnTo>
                  <a:close/>
                </a:path>
                <a:path w="76200" h="387984">
                  <a:moveTo>
                    <a:pt x="48005" y="354771"/>
                  </a:moveTo>
                  <a:lnTo>
                    <a:pt x="48005" y="273558"/>
                  </a:lnTo>
                  <a:lnTo>
                    <a:pt x="28955" y="273558"/>
                  </a:lnTo>
                  <a:lnTo>
                    <a:pt x="28955" y="357317"/>
                  </a:lnTo>
                  <a:lnTo>
                    <a:pt x="38100" y="387858"/>
                  </a:lnTo>
                  <a:lnTo>
                    <a:pt x="48005" y="354771"/>
                  </a:lnTo>
                  <a:close/>
                </a:path>
              </a:pathLst>
            </a:custGeom>
            <a:solidFill>
              <a:srgbClr val="FF0000"/>
            </a:solidFill>
          </p:spPr>
          <p:txBody>
            <a:bodyPr wrap="square" lIns="0" tIns="0" rIns="0" bIns="0" rtlCol="0"/>
            <a:lstStyle/>
            <a:p>
              <a:endParaRPr sz="2052"/>
            </a:p>
          </p:txBody>
        </p:sp>
        <p:sp>
          <p:nvSpPr>
            <p:cNvPr id="73" name="object 73"/>
            <p:cNvSpPr/>
            <p:nvPr/>
          </p:nvSpPr>
          <p:spPr>
            <a:xfrm>
              <a:off x="5535812" y="5578275"/>
              <a:ext cx="65159" cy="331769"/>
            </a:xfrm>
            <a:custGeom>
              <a:avLst/>
              <a:gdLst/>
              <a:ahLst/>
              <a:cxnLst/>
              <a:rect l="l" t="t" r="r" b="b"/>
              <a:pathLst>
                <a:path w="76200" h="387984">
                  <a:moveTo>
                    <a:pt x="76199" y="260603"/>
                  </a:moveTo>
                  <a:lnTo>
                    <a:pt x="0" y="260603"/>
                  </a:lnTo>
                  <a:lnTo>
                    <a:pt x="28968" y="357359"/>
                  </a:lnTo>
                  <a:lnTo>
                    <a:pt x="28968" y="273558"/>
                  </a:lnTo>
                  <a:lnTo>
                    <a:pt x="48018" y="273558"/>
                  </a:lnTo>
                  <a:lnTo>
                    <a:pt x="48018" y="354729"/>
                  </a:lnTo>
                  <a:lnTo>
                    <a:pt x="76199" y="260603"/>
                  </a:lnTo>
                  <a:close/>
                </a:path>
                <a:path w="76200" h="387984">
                  <a:moveTo>
                    <a:pt x="48018" y="260603"/>
                  </a:moveTo>
                  <a:lnTo>
                    <a:pt x="48018" y="0"/>
                  </a:lnTo>
                  <a:lnTo>
                    <a:pt x="28968" y="0"/>
                  </a:lnTo>
                  <a:lnTo>
                    <a:pt x="28968" y="260603"/>
                  </a:lnTo>
                  <a:lnTo>
                    <a:pt x="48018" y="260603"/>
                  </a:lnTo>
                  <a:close/>
                </a:path>
                <a:path w="76200" h="387984">
                  <a:moveTo>
                    <a:pt x="48018" y="354729"/>
                  </a:moveTo>
                  <a:lnTo>
                    <a:pt x="48018" y="273558"/>
                  </a:lnTo>
                  <a:lnTo>
                    <a:pt x="28968" y="273558"/>
                  </a:lnTo>
                  <a:lnTo>
                    <a:pt x="28968" y="357359"/>
                  </a:lnTo>
                  <a:lnTo>
                    <a:pt x="38099" y="387858"/>
                  </a:lnTo>
                  <a:lnTo>
                    <a:pt x="48018" y="354729"/>
                  </a:lnTo>
                  <a:close/>
                </a:path>
              </a:pathLst>
            </a:custGeom>
            <a:solidFill>
              <a:srgbClr val="FF0000"/>
            </a:solidFill>
          </p:spPr>
          <p:txBody>
            <a:bodyPr wrap="square" lIns="0" tIns="0" rIns="0" bIns="0" rtlCol="0"/>
            <a:lstStyle/>
            <a:p>
              <a:endParaRPr sz="2052"/>
            </a:p>
          </p:txBody>
        </p:sp>
        <p:sp>
          <p:nvSpPr>
            <p:cNvPr id="74" name="object 74"/>
            <p:cNvSpPr/>
            <p:nvPr/>
          </p:nvSpPr>
          <p:spPr>
            <a:xfrm>
              <a:off x="5314282" y="2124840"/>
              <a:ext cx="65159" cy="331769"/>
            </a:xfrm>
            <a:custGeom>
              <a:avLst/>
              <a:gdLst/>
              <a:ahLst/>
              <a:cxnLst/>
              <a:rect l="l" t="t" r="r" b="b"/>
              <a:pathLst>
                <a:path w="76200" h="387985">
                  <a:moveTo>
                    <a:pt x="76187" y="127254"/>
                  </a:moveTo>
                  <a:lnTo>
                    <a:pt x="38087" y="0"/>
                  </a:lnTo>
                  <a:lnTo>
                    <a:pt x="0" y="127254"/>
                  </a:lnTo>
                  <a:lnTo>
                    <a:pt x="28181" y="127254"/>
                  </a:lnTo>
                  <a:lnTo>
                    <a:pt x="28181" y="114300"/>
                  </a:lnTo>
                  <a:lnTo>
                    <a:pt x="47231" y="114300"/>
                  </a:lnTo>
                  <a:lnTo>
                    <a:pt x="47231" y="127254"/>
                  </a:lnTo>
                  <a:lnTo>
                    <a:pt x="76187" y="127254"/>
                  </a:lnTo>
                  <a:close/>
                </a:path>
                <a:path w="76200" h="387985">
                  <a:moveTo>
                    <a:pt x="47231" y="127254"/>
                  </a:moveTo>
                  <a:lnTo>
                    <a:pt x="47231" y="114300"/>
                  </a:lnTo>
                  <a:lnTo>
                    <a:pt x="28181" y="114300"/>
                  </a:lnTo>
                  <a:lnTo>
                    <a:pt x="28181" y="127254"/>
                  </a:lnTo>
                  <a:lnTo>
                    <a:pt x="47231" y="127254"/>
                  </a:lnTo>
                  <a:close/>
                </a:path>
                <a:path w="76200" h="387985">
                  <a:moveTo>
                    <a:pt x="47231" y="387857"/>
                  </a:moveTo>
                  <a:lnTo>
                    <a:pt x="47231" y="127254"/>
                  </a:lnTo>
                  <a:lnTo>
                    <a:pt x="28181" y="127254"/>
                  </a:lnTo>
                  <a:lnTo>
                    <a:pt x="28181" y="387857"/>
                  </a:lnTo>
                  <a:lnTo>
                    <a:pt x="47231" y="387857"/>
                  </a:lnTo>
                  <a:close/>
                </a:path>
              </a:pathLst>
            </a:custGeom>
            <a:solidFill>
              <a:srgbClr val="FF0000"/>
            </a:solidFill>
          </p:spPr>
          <p:txBody>
            <a:bodyPr wrap="square" lIns="0" tIns="0" rIns="0" bIns="0" rtlCol="0"/>
            <a:lstStyle/>
            <a:p>
              <a:endParaRPr sz="2052"/>
            </a:p>
          </p:txBody>
        </p:sp>
        <p:sp>
          <p:nvSpPr>
            <p:cNvPr id="75" name="object 75"/>
            <p:cNvSpPr/>
            <p:nvPr/>
          </p:nvSpPr>
          <p:spPr>
            <a:xfrm>
              <a:off x="4864683" y="2124840"/>
              <a:ext cx="65159" cy="331769"/>
            </a:xfrm>
            <a:custGeom>
              <a:avLst/>
              <a:gdLst/>
              <a:ahLst/>
              <a:cxnLst/>
              <a:rect l="l" t="t" r="r" b="b"/>
              <a:pathLst>
                <a:path w="76200" h="387985">
                  <a:moveTo>
                    <a:pt x="76200" y="127254"/>
                  </a:moveTo>
                  <a:lnTo>
                    <a:pt x="38100" y="0"/>
                  </a:lnTo>
                  <a:lnTo>
                    <a:pt x="0" y="127254"/>
                  </a:lnTo>
                  <a:lnTo>
                    <a:pt x="28193" y="127254"/>
                  </a:lnTo>
                  <a:lnTo>
                    <a:pt x="28193" y="114300"/>
                  </a:lnTo>
                  <a:lnTo>
                    <a:pt x="47243" y="114300"/>
                  </a:lnTo>
                  <a:lnTo>
                    <a:pt x="47243" y="127254"/>
                  </a:lnTo>
                  <a:lnTo>
                    <a:pt x="76200" y="127254"/>
                  </a:lnTo>
                  <a:close/>
                </a:path>
                <a:path w="76200" h="387985">
                  <a:moveTo>
                    <a:pt x="47243" y="127254"/>
                  </a:moveTo>
                  <a:lnTo>
                    <a:pt x="47243" y="114300"/>
                  </a:lnTo>
                  <a:lnTo>
                    <a:pt x="28193" y="114300"/>
                  </a:lnTo>
                  <a:lnTo>
                    <a:pt x="28193" y="127254"/>
                  </a:lnTo>
                  <a:lnTo>
                    <a:pt x="47243" y="127254"/>
                  </a:lnTo>
                  <a:close/>
                </a:path>
                <a:path w="76200" h="387985">
                  <a:moveTo>
                    <a:pt x="47243" y="387857"/>
                  </a:moveTo>
                  <a:lnTo>
                    <a:pt x="47243" y="127254"/>
                  </a:lnTo>
                  <a:lnTo>
                    <a:pt x="28193" y="127254"/>
                  </a:lnTo>
                  <a:lnTo>
                    <a:pt x="28193" y="387857"/>
                  </a:lnTo>
                  <a:lnTo>
                    <a:pt x="47243" y="387857"/>
                  </a:lnTo>
                  <a:close/>
                </a:path>
              </a:pathLst>
            </a:custGeom>
            <a:solidFill>
              <a:srgbClr val="FF0000"/>
            </a:solidFill>
          </p:spPr>
          <p:txBody>
            <a:bodyPr wrap="square" lIns="0" tIns="0" rIns="0" bIns="0" rtlCol="0"/>
            <a:lstStyle/>
            <a:p>
              <a:endParaRPr sz="2052"/>
            </a:p>
          </p:txBody>
        </p:sp>
        <p:sp>
          <p:nvSpPr>
            <p:cNvPr id="76" name="object 76"/>
            <p:cNvSpPr/>
            <p:nvPr/>
          </p:nvSpPr>
          <p:spPr>
            <a:xfrm>
              <a:off x="5763869" y="2124840"/>
              <a:ext cx="65159" cy="331769"/>
            </a:xfrm>
            <a:custGeom>
              <a:avLst/>
              <a:gdLst/>
              <a:ahLst/>
              <a:cxnLst/>
              <a:rect l="l" t="t" r="r" b="b"/>
              <a:pathLst>
                <a:path w="76200" h="387985">
                  <a:moveTo>
                    <a:pt x="76200" y="127254"/>
                  </a:moveTo>
                  <a:lnTo>
                    <a:pt x="38100" y="0"/>
                  </a:lnTo>
                  <a:lnTo>
                    <a:pt x="0" y="127254"/>
                  </a:lnTo>
                  <a:lnTo>
                    <a:pt x="28968" y="127254"/>
                  </a:lnTo>
                  <a:lnTo>
                    <a:pt x="28968" y="114300"/>
                  </a:lnTo>
                  <a:lnTo>
                    <a:pt x="48018" y="114300"/>
                  </a:lnTo>
                  <a:lnTo>
                    <a:pt x="48018" y="127254"/>
                  </a:lnTo>
                  <a:lnTo>
                    <a:pt x="76200" y="127254"/>
                  </a:lnTo>
                  <a:close/>
                </a:path>
                <a:path w="76200" h="387985">
                  <a:moveTo>
                    <a:pt x="48018" y="127254"/>
                  </a:moveTo>
                  <a:lnTo>
                    <a:pt x="48018" y="114300"/>
                  </a:lnTo>
                  <a:lnTo>
                    <a:pt x="28968" y="114300"/>
                  </a:lnTo>
                  <a:lnTo>
                    <a:pt x="28968" y="127254"/>
                  </a:lnTo>
                  <a:lnTo>
                    <a:pt x="48018" y="127254"/>
                  </a:lnTo>
                  <a:close/>
                </a:path>
                <a:path w="76200" h="387985">
                  <a:moveTo>
                    <a:pt x="48018" y="387857"/>
                  </a:moveTo>
                  <a:lnTo>
                    <a:pt x="48018" y="127254"/>
                  </a:lnTo>
                  <a:lnTo>
                    <a:pt x="28968" y="127254"/>
                  </a:lnTo>
                  <a:lnTo>
                    <a:pt x="28968" y="387857"/>
                  </a:lnTo>
                  <a:lnTo>
                    <a:pt x="48018" y="387857"/>
                  </a:lnTo>
                  <a:close/>
                </a:path>
              </a:pathLst>
            </a:custGeom>
            <a:solidFill>
              <a:srgbClr val="FF0000"/>
            </a:solidFill>
          </p:spPr>
          <p:txBody>
            <a:bodyPr wrap="square" lIns="0" tIns="0" rIns="0" bIns="0" rtlCol="0"/>
            <a:lstStyle/>
            <a:p>
              <a:endParaRPr sz="2052"/>
            </a:p>
          </p:txBody>
        </p:sp>
        <p:sp>
          <p:nvSpPr>
            <p:cNvPr id="77" name="object 77"/>
            <p:cNvSpPr/>
            <p:nvPr/>
          </p:nvSpPr>
          <p:spPr>
            <a:xfrm>
              <a:off x="5089483" y="2124840"/>
              <a:ext cx="65159" cy="331769"/>
            </a:xfrm>
            <a:custGeom>
              <a:avLst/>
              <a:gdLst/>
              <a:ahLst/>
              <a:cxnLst/>
              <a:rect l="l" t="t" r="r" b="b"/>
              <a:pathLst>
                <a:path w="76200" h="387985">
                  <a:moveTo>
                    <a:pt x="76200" y="127254"/>
                  </a:moveTo>
                  <a:lnTo>
                    <a:pt x="38100" y="0"/>
                  </a:lnTo>
                  <a:lnTo>
                    <a:pt x="0" y="127254"/>
                  </a:lnTo>
                  <a:lnTo>
                    <a:pt x="28193" y="127254"/>
                  </a:lnTo>
                  <a:lnTo>
                    <a:pt x="28193" y="114300"/>
                  </a:lnTo>
                  <a:lnTo>
                    <a:pt x="47243" y="114300"/>
                  </a:lnTo>
                  <a:lnTo>
                    <a:pt x="47243" y="127254"/>
                  </a:lnTo>
                  <a:lnTo>
                    <a:pt x="76200" y="127254"/>
                  </a:lnTo>
                  <a:close/>
                </a:path>
                <a:path w="76200" h="387985">
                  <a:moveTo>
                    <a:pt x="47243" y="127254"/>
                  </a:moveTo>
                  <a:lnTo>
                    <a:pt x="47243" y="114300"/>
                  </a:lnTo>
                  <a:lnTo>
                    <a:pt x="28193" y="114300"/>
                  </a:lnTo>
                  <a:lnTo>
                    <a:pt x="28193" y="127254"/>
                  </a:lnTo>
                  <a:lnTo>
                    <a:pt x="47243" y="127254"/>
                  </a:lnTo>
                  <a:close/>
                </a:path>
                <a:path w="76200" h="387985">
                  <a:moveTo>
                    <a:pt x="47243" y="387857"/>
                  </a:moveTo>
                  <a:lnTo>
                    <a:pt x="47243" y="127254"/>
                  </a:lnTo>
                  <a:lnTo>
                    <a:pt x="28193" y="127254"/>
                  </a:lnTo>
                  <a:lnTo>
                    <a:pt x="28193" y="387857"/>
                  </a:lnTo>
                  <a:lnTo>
                    <a:pt x="47243" y="387857"/>
                  </a:lnTo>
                  <a:close/>
                </a:path>
              </a:pathLst>
            </a:custGeom>
            <a:solidFill>
              <a:srgbClr val="FF0000"/>
            </a:solidFill>
          </p:spPr>
          <p:txBody>
            <a:bodyPr wrap="square" lIns="0" tIns="0" rIns="0" bIns="0" rtlCol="0"/>
            <a:lstStyle/>
            <a:p>
              <a:endParaRPr sz="2052"/>
            </a:p>
          </p:txBody>
        </p:sp>
        <p:sp>
          <p:nvSpPr>
            <p:cNvPr id="78" name="object 78"/>
            <p:cNvSpPr/>
            <p:nvPr/>
          </p:nvSpPr>
          <p:spPr>
            <a:xfrm>
              <a:off x="5539081" y="2124840"/>
              <a:ext cx="65159" cy="331769"/>
            </a:xfrm>
            <a:custGeom>
              <a:avLst/>
              <a:gdLst/>
              <a:ahLst/>
              <a:cxnLst/>
              <a:rect l="l" t="t" r="r" b="b"/>
              <a:pathLst>
                <a:path w="76200" h="387985">
                  <a:moveTo>
                    <a:pt x="76187" y="127254"/>
                  </a:moveTo>
                  <a:lnTo>
                    <a:pt x="38087" y="0"/>
                  </a:lnTo>
                  <a:lnTo>
                    <a:pt x="0" y="127254"/>
                  </a:lnTo>
                  <a:lnTo>
                    <a:pt x="28956" y="127254"/>
                  </a:lnTo>
                  <a:lnTo>
                    <a:pt x="28956" y="114300"/>
                  </a:lnTo>
                  <a:lnTo>
                    <a:pt x="48006" y="114300"/>
                  </a:lnTo>
                  <a:lnTo>
                    <a:pt x="48006" y="127254"/>
                  </a:lnTo>
                  <a:lnTo>
                    <a:pt x="76187" y="127254"/>
                  </a:lnTo>
                  <a:close/>
                </a:path>
                <a:path w="76200" h="387985">
                  <a:moveTo>
                    <a:pt x="48006" y="127254"/>
                  </a:moveTo>
                  <a:lnTo>
                    <a:pt x="48006" y="114300"/>
                  </a:lnTo>
                  <a:lnTo>
                    <a:pt x="28956" y="114300"/>
                  </a:lnTo>
                  <a:lnTo>
                    <a:pt x="28956" y="127254"/>
                  </a:lnTo>
                  <a:lnTo>
                    <a:pt x="48006" y="127254"/>
                  </a:lnTo>
                  <a:close/>
                </a:path>
                <a:path w="76200" h="387985">
                  <a:moveTo>
                    <a:pt x="48006" y="387857"/>
                  </a:moveTo>
                  <a:lnTo>
                    <a:pt x="48006" y="127254"/>
                  </a:lnTo>
                  <a:lnTo>
                    <a:pt x="28956" y="127254"/>
                  </a:lnTo>
                  <a:lnTo>
                    <a:pt x="28956" y="387857"/>
                  </a:lnTo>
                  <a:lnTo>
                    <a:pt x="48006" y="387857"/>
                  </a:lnTo>
                  <a:close/>
                </a:path>
              </a:pathLst>
            </a:custGeom>
            <a:solidFill>
              <a:srgbClr val="FF0000"/>
            </a:solidFill>
          </p:spPr>
          <p:txBody>
            <a:bodyPr wrap="square" lIns="0" tIns="0" rIns="0" bIns="0" rtlCol="0"/>
            <a:lstStyle/>
            <a:p>
              <a:endParaRPr sz="2052"/>
            </a:p>
          </p:txBody>
        </p:sp>
        <p:sp>
          <p:nvSpPr>
            <p:cNvPr id="79" name="object 79"/>
            <p:cNvSpPr/>
            <p:nvPr/>
          </p:nvSpPr>
          <p:spPr>
            <a:xfrm>
              <a:off x="5157574" y="4110239"/>
              <a:ext cx="0" cy="230229"/>
            </a:xfrm>
            <a:custGeom>
              <a:avLst/>
              <a:gdLst/>
              <a:ahLst/>
              <a:cxnLst/>
              <a:rect l="l" t="t" r="r" b="b"/>
              <a:pathLst>
                <a:path h="269239">
                  <a:moveTo>
                    <a:pt x="0" y="0"/>
                  </a:moveTo>
                  <a:lnTo>
                    <a:pt x="0" y="268986"/>
                  </a:lnTo>
                </a:path>
              </a:pathLst>
            </a:custGeom>
            <a:ln w="12953">
              <a:solidFill>
                <a:srgbClr val="0F1A81"/>
              </a:solidFill>
            </a:ln>
          </p:spPr>
          <p:txBody>
            <a:bodyPr wrap="square" lIns="0" tIns="0" rIns="0" bIns="0" rtlCol="0"/>
            <a:lstStyle/>
            <a:p>
              <a:endParaRPr sz="2052"/>
            </a:p>
          </p:txBody>
        </p:sp>
        <p:sp>
          <p:nvSpPr>
            <p:cNvPr id="80" name="object 80"/>
            <p:cNvSpPr/>
            <p:nvPr/>
          </p:nvSpPr>
          <p:spPr>
            <a:xfrm>
              <a:off x="5526364" y="4110239"/>
              <a:ext cx="0" cy="230229"/>
            </a:xfrm>
            <a:custGeom>
              <a:avLst/>
              <a:gdLst/>
              <a:ahLst/>
              <a:cxnLst/>
              <a:rect l="l" t="t" r="r" b="b"/>
              <a:pathLst>
                <a:path h="269239">
                  <a:moveTo>
                    <a:pt x="0" y="0"/>
                  </a:moveTo>
                  <a:lnTo>
                    <a:pt x="0" y="268986"/>
                  </a:lnTo>
                </a:path>
              </a:pathLst>
            </a:custGeom>
            <a:ln w="12953">
              <a:solidFill>
                <a:srgbClr val="0F1A81"/>
              </a:solidFill>
            </a:ln>
          </p:spPr>
          <p:txBody>
            <a:bodyPr wrap="square" lIns="0" tIns="0" rIns="0" bIns="0" rtlCol="0"/>
            <a:lstStyle/>
            <a:p>
              <a:endParaRPr sz="2052"/>
            </a:p>
          </p:txBody>
        </p:sp>
        <p:sp>
          <p:nvSpPr>
            <p:cNvPr id="81" name="object 81"/>
            <p:cNvSpPr/>
            <p:nvPr/>
          </p:nvSpPr>
          <p:spPr>
            <a:xfrm>
              <a:off x="5157900" y="4203416"/>
              <a:ext cx="369235" cy="43982"/>
            </a:xfrm>
            <a:custGeom>
              <a:avLst/>
              <a:gdLst/>
              <a:ahLst/>
              <a:cxnLst/>
              <a:rect l="l" t="t" r="r" b="b"/>
              <a:pathLst>
                <a:path w="431800" h="51435">
                  <a:moveTo>
                    <a:pt x="126491" y="19050"/>
                  </a:moveTo>
                  <a:lnTo>
                    <a:pt x="126491" y="0"/>
                  </a:lnTo>
                  <a:lnTo>
                    <a:pt x="0" y="25146"/>
                  </a:lnTo>
                  <a:lnTo>
                    <a:pt x="114300" y="48556"/>
                  </a:lnTo>
                  <a:lnTo>
                    <a:pt x="114300" y="19050"/>
                  </a:lnTo>
                  <a:lnTo>
                    <a:pt x="126491" y="19050"/>
                  </a:lnTo>
                  <a:close/>
                </a:path>
                <a:path w="431800" h="51435">
                  <a:moveTo>
                    <a:pt x="316991" y="32003"/>
                  </a:moveTo>
                  <a:lnTo>
                    <a:pt x="316991" y="19050"/>
                  </a:lnTo>
                  <a:lnTo>
                    <a:pt x="114300" y="19050"/>
                  </a:lnTo>
                  <a:lnTo>
                    <a:pt x="114300" y="32003"/>
                  </a:lnTo>
                  <a:lnTo>
                    <a:pt x="316991" y="32003"/>
                  </a:lnTo>
                  <a:close/>
                </a:path>
                <a:path w="431800" h="51435">
                  <a:moveTo>
                    <a:pt x="126491" y="51053"/>
                  </a:moveTo>
                  <a:lnTo>
                    <a:pt x="126491" y="32003"/>
                  </a:lnTo>
                  <a:lnTo>
                    <a:pt x="114300" y="32003"/>
                  </a:lnTo>
                  <a:lnTo>
                    <a:pt x="114300" y="48556"/>
                  </a:lnTo>
                  <a:lnTo>
                    <a:pt x="126491" y="51053"/>
                  </a:lnTo>
                  <a:close/>
                </a:path>
                <a:path w="431800" h="51435">
                  <a:moveTo>
                    <a:pt x="431279" y="25146"/>
                  </a:moveTo>
                  <a:lnTo>
                    <a:pt x="304038" y="0"/>
                  </a:lnTo>
                  <a:lnTo>
                    <a:pt x="304038" y="19050"/>
                  </a:lnTo>
                  <a:lnTo>
                    <a:pt x="316991" y="19050"/>
                  </a:lnTo>
                  <a:lnTo>
                    <a:pt x="316991" y="48416"/>
                  </a:lnTo>
                  <a:lnTo>
                    <a:pt x="431279" y="25146"/>
                  </a:lnTo>
                  <a:close/>
                </a:path>
                <a:path w="431800" h="51435">
                  <a:moveTo>
                    <a:pt x="316991" y="48416"/>
                  </a:moveTo>
                  <a:lnTo>
                    <a:pt x="316991" y="32003"/>
                  </a:lnTo>
                  <a:lnTo>
                    <a:pt x="304038" y="32003"/>
                  </a:lnTo>
                  <a:lnTo>
                    <a:pt x="304038" y="51053"/>
                  </a:lnTo>
                  <a:lnTo>
                    <a:pt x="316991" y="48416"/>
                  </a:lnTo>
                  <a:close/>
                </a:path>
              </a:pathLst>
            </a:custGeom>
            <a:solidFill>
              <a:srgbClr val="0F1A81"/>
            </a:solidFill>
          </p:spPr>
          <p:txBody>
            <a:bodyPr wrap="square" lIns="0" tIns="0" rIns="0" bIns="0" rtlCol="0"/>
            <a:lstStyle/>
            <a:p>
              <a:endParaRPr sz="2052"/>
            </a:p>
          </p:txBody>
        </p:sp>
        <p:sp>
          <p:nvSpPr>
            <p:cNvPr id="82" name="object 82"/>
            <p:cNvSpPr/>
            <p:nvPr/>
          </p:nvSpPr>
          <p:spPr>
            <a:xfrm>
              <a:off x="5556022" y="3889023"/>
              <a:ext cx="210138" cy="0"/>
            </a:xfrm>
            <a:custGeom>
              <a:avLst/>
              <a:gdLst/>
              <a:ahLst/>
              <a:cxnLst/>
              <a:rect l="l" t="t" r="r" b="b"/>
              <a:pathLst>
                <a:path w="245745">
                  <a:moveTo>
                    <a:pt x="0" y="0"/>
                  </a:moveTo>
                  <a:lnTo>
                    <a:pt x="245364" y="0"/>
                  </a:lnTo>
                </a:path>
              </a:pathLst>
            </a:custGeom>
            <a:ln w="12953">
              <a:solidFill>
                <a:srgbClr val="0F1A81"/>
              </a:solidFill>
            </a:ln>
          </p:spPr>
          <p:txBody>
            <a:bodyPr wrap="square" lIns="0" tIns="0" rIns="0" bIns="0" rtlCol="0"/>
            <a:lstStyle/>
            <a:p>
              <a:endParaRPr sz="2052"/>
            </a:p>
          </p:txBody>
        </p:sp>
        <p:sp>
          <p:nvSpPr>
            <p:cNvPr id="83" name="object 83"/>
            <p:cNvSpPr/>
            <p:nvPr/>
          </p:nvSpPr>
          <p:spPr>
            <a:xfrm>
              <a:off x="5651795" y="3889349"/>
              <a:ext cx="43982" cy="222627"/>
            </a:xfrm>
            <a:custGeom>
              <a:avLst/>
              <a:gdLst/>
              <a:ahLst/>
              <a:cxnLst/>
              <a:rect l="l" t="t" r="r" b="b"/>
              <a:pathLst>
                <a:path w="51434" h="260350">
                  <a:moveTo>
                    <a:pt x="51066" y="126492"/>
                  </a:moveTo>
                  <a:lnTo>
                    <a:pt x="25158" y="0"/>
                  </a:lnTo>
                  <a:lnTo>
                    <a:pt x="0" y="126492"/>
                  </a:lnTo>
                  <a:lnTo>
                    <a:pt x="19062" y="126492"/>
                  </a:lnTo>
                  <a:lnTo>
                    <a:pt x="19062" y="114300"/>
                  </a:lnTo>
                  <a:lnTo>
                    <a:pt x="32016" y="114300"/>
                  </a:lnTo>
                  <a:lnTo>
                    <a:pt x="32016" y="126492"/>
                  </a:lnTo>
                  <a:lnTo>
                    <a:pt x="51066" y="126492"/>
                  </a:lnTo>
                  <a:close/>
                </a:path>
                <a:path w="51434" h="260350">
                  <a:moveTo>
                    <a:pt x="51066" y="132587"/>
                  </a:moveTo>
                  <a:lnTo>
                    <a:pt x="0" y="132587"/>
                  </a:lnTo>
                  <a:lnTo>
                    <a:pt x="19062" y="229008"/>
                  </a:lnTo>
                  <a:lnTo>
                    <a:pt x="19062" y="145541"/>
                  </a:lnTo>
                  <a:lnTo>
                    <a:pt x="32016" y="145541"/>
                  </a:lnTo>
                  <a:lnTo>
                    <a:pt x="32016" y="226157"/>
                  </a:lnTo>
                  <a:lnTo>
                    <a:pt x="51066" y="132587"/>
                  </a:lnTo>
                  <a:close/>
                </a:path>
                <a:path w="51434" h="260350">
                  <a:moveTo>
                    <a:pt x="32016" y="126492"/>
                  </a:moveTo>
                  <a:lnTo>
                    <a:pt x="32016" y="114300"/>
                  </a:lnTo>
                  <a:lnTo>
                    <a:pt x="19062" y="114300"/>
                  </a:lnTo>
                  <a:lnTo>
                    <a:pt x="19062" y="126492"/>
                  </a:lnTo>
                  <a:lnTo>
                    <a:pt x="32016" y="126492"/>
                  </a:lnTo>
                  <a:close/>
                </a:path>
                <a:path w="51434" h="260350">
                  <a:moveTo>
                    <a:pt x="32016" y="132587"/>
                  </a:moveTo>
                  <a:lnTo>
                    <a:pt x="32016" y="126492"/>
                  </a:lnTo>
                  <a:lnTo>
                    <a:pt x="19062" y="126492"/>
                  </a:lnTo>
                  <a:lnTo>
                    <a:pt x="19062" y="132587"/>
                  </a:lnTo>
                  <a:lnTo>
                    <a:pt x="32016" y="132587"/>
                  </a:lnTo>
                  <a:close/>
                </a:path>
                <a:path w="51434" h="260350">
                  <a:moveTo>
                    <a:pt x="32016" y="226157"/>
                  </a:moveTo>
                  <a:lnTo>
                    <a:pt x="32016" y="145541"/>
                  </a:lnTo>
                  <a:lnTo>
                    <a:pt x="19062" y="145541"/>
                  </a:lnTo>
                  <a:lnTo>
                    <a:pt x="19062" y="229008"/>
                  </a:lnTo>
                  <a:lnTo>
                    <a:pt x="25158" y="259842"/>
                  </a:lnTo>
                  <a:lnTo>
                    <a:pt x="32016" y="226157"/>
                  </a:lnTo>
                  <a:close/>
                </a:path>
              </a:pathLst>
            </a:custGeom>
            <a:solidFill>
              <a:srgbClr val="0F1A81"/>
            </a:solidFill>
          </p:spPr>
          <p:txBody>
            <a:bodyPr wrap="square" lIns="0" tIns="0" rIns="0" bIns="0" rtlCol="0"/>
            <a:lstStyle/>
            <a:p>
              <a:endParaRPr sz="2052"/>
            </a:p>
          </p:txBody>
        </p:sp>
        <p:sp>
          <p:nvSpPr>
            <p:cNvPr id="84" name="object 84"/>
            <p:cNvSpPr txBox="1"/>
            <p:nvPr/>
          </p:nvSpPr>
          <p:spPr>
            <a:xfrm>
              <a:off x="5545162" y="3878489"/>
              <a:ext cx="541626" cy="287965"/>
            </a:xfrm>
            <a:prstGeom prst="rect">
              <a:avLst/>
            </a:prstGeom>
          </p:spPr>
          <p:txBody>
            <a:bodyPr vert="horz" wrap="square" lIns="0" tIns="10860" rIns="0" bIns="0" rtlCol="0">
              <a:spAutoFit/>
            </a:bodyPr>
            <a:lstStyle/>
            <a:p>
              <a:pPr marL="10860">
                <a:spcBef>
                  <a:spcPts val="86"/>
                </a:spcBef>
                <a:tabLst>
                  <a:tab pos="185702" algn="l"/>
                </a:tabLst>
              </a:pPr>
              <a:r>
                <a:rPr sz="1539" b="1" i="1" u="sng" dirty="0">
                  <a:solidFill>
                    <a:srgbClr val="0F1A82"/>
                  </a:solidFill>
                  <a:uFill>
                    <a:solidFill>
                      <a:srgbClr val="0F1A81"/>
                    </a:solidFill>
                  </a:uFill>
                  <a:latin typeface="Times New Roman"/>
                  <a:cs typeface="Times New Roman"/>
                </a:rPr>
                <a:t> 	</a:t>
              </a:r>
              <a:r>
                <a:rPr sz="1800" b="1" u="sng" dirty="0">
                  <a:uFill>
                    <a:solidFill>
                      <a:srgbClr val="0F1A81"/>
                    </a:solidFill>
                  </a:uFill>
                  <a:latin typeface="Times New Roman"/>
                  <a:cs typeface="Times New Roman"/>
                </a:rPr>
                <a:t>2</a:t>
              </a:r>
              <a:r>
                <a:rPr sz="1800" b="1" i="1" dirty="0">
                  <a:latin typeface="Times New Roman"/>
                  <a:cs typeface="Times New Roman"/>
                </a:rPr>
                <a:t>b</a:t>
              </a:r>
              <a:endParaRPr sz="1800" dirty="0">
                <a:latin typeface="Times New Roman"/>
                <a:cs typeface="Times New Roman"/>
              </a:endParaRPr>
            </a:p>
          </p:txBody>
        </p:sp>
        <p:sp>
          <p:nvSpPr>
            <p:cNvPr id="222" name="矩形 221"/>
            <p:cNvSpPr/>
            <p:nvPr/>
          </p:nvSpPr>
          <p:spPr>
            <a:xfrm>
              <a:off x="5137291" y="4179862"/>
              <a:ext cx="419987" cy="369332"/>
            </a:xfrm>
            <a:prstGeom prst="rect">
              <a:avLst/>
            </a:prstGeom>
          </p:spPr>
          <p:txBody>
            <a:bodyPr wrap="none">
              <a:spAutoFit/>
            </a:bodyPr>
            <a:lstStyle/>
            <a:p>
              <a:pPr marR="4344" algn="r">
                <a:spcBef>
                  <a:spcPts val="86"/>
                </a:spcBef>
              </a:pPr>
              <a:r>
                <a:rPr lang="en-US" altLang="zh-CN" sz="1800" b="1" dirty="0">
                  <a:latin typeface="Times New Roman"/>
                  <a:cs typeface="Times New Roman"/>
                </a:rPr>
                <a:t>2</a:t>
              </a:r>
              <a:r>
                <a:rPr lang="en-US" altLang="zh-CN" sz="1800" b="1" i="1" dirty="0">
                  <a:latin typeface="Times New Roman"/>
                  <a:cs typeface="Times New Roman"/>
                </a:rPr>
                <a:t>a</a:t>
              </a:r>
              <a:endParaRPr lang="en-US" altLang="zh-CN" sz="1800" dirty="0">
                <a:latin typeface="Times New Roman"/>
                <a:cs typeface="Times New Roman"/>
              </a:endParaRPr>
            </a:p>
          </p:txBody>
        </p:sp>
      </p:grpSp>
      <p:sp>
        <p:nvSpPr>
          <p:cNvPr id="224" name="矩形 223"/>
          <p:cNvSpPr/>
          <p:nvPr/>
        </p:nvSpPr>
        <p:spPr>
          <a:xfrm>
            <a:off x="719075" y="3070563"/>
            <a:ext cx="1123706" cy="461665"/>
          </a:xfrm>
          <a:prstGeom prst="rect">
            <a:avLst/>
          </a:prstGeom>
        </p:spPr>
        <p:txBody>
          <a:bodyPr wrap="none">
            <a:spAutoFit/>
          </a:bodyPr>
          <a:lstStyle/>
          <a:p>
            <a:pPr marL="10860">
              <a:spcBef>
                <a:spcPts val="924"/>
              </a:spcBef>
            </a:pPr>
            <a:r>
              <a:rPr lang="zh-CN" altLang="en-US" b="1" dirty="0">
                <a:solidFill>
                  <a:srgbClr val="FF0000"/>
                </a:solidFill>
                <a:latin typeface="楷体" panose="02010609060101010101" pitchFamily="49" charset="-122"/>
                <a:ea typeface="楷体" panose="02010609060101010101" pitchFamily="49" charset="-122"/>
                <a:cs typeface="新宋体"/>
              </a:rPr>
              <a:t>讨论：</a:t>
            </a:r>
            <a:endParaRPr lang="zh-CN" altLang="en-US" dirty="0">
              <a:latin typeface="楷体" panose="02010609060101010101" pitchFamily="49" charset="-122"/>
              <a:ea typeface="楷体" panose="02010609060101010101" pitchFamily="49" charset="-122"/>
              <a:cs typeface="新宋体"/>
            </a:endParaRPr>
          </a:p>
        </p:txBody>
      </p:sp>
      <p:sp>
        <p:nvSpPr>
          <p:cNvPr id="227" name="矩形 226"/>
          <p:cNvSpPr/>
          <p:nvPr/>
        </p:nvSpPr>
        <p:spPr>
          <a:xfrm>
            <a:off x="401921" y="5089384"/>
            <a:ext cx="4572000" cy="400110"/>
          </a:xfrm>
          <a:prstGeom prst="rect">
            <a:avLst/>
          </a:prstGeom>
        </p:spPr>
        <p:txBody>
          <a:bodyPr>
            <a:spAutoFit/>
          </a:bodyPr>
          <a:lstStyle/>
          <a:p>
            <a:pPr marL="10860">
              <a:buSzPct val="95000"/>
              <a:tabLst>
                <a:tab pos="556563" algn="l"/>
              </a:tabLst>
            </a:pPr>
            <a:r>
              <a:rPr lang="zh-CN" altLang="en-US" sz="2000" b="1" spc="-4" dirty="0">
                <a:solidFill>
                  <a:srgbClr val="0000FF"/>
                </a:solidFill>
                <a:ea typeface="楷体" panose="02010609060101010101" pitchFamily="49" charset="-122"/>
                <a:cs typeface="新宋体"/>
              </a:rPr>
              <a:t>（</a:t>
            </a:r>
            <a:r>
              <a:rPr lang="en-US" altLang="zh-CN" sz="2000" b="1" spc="-4" dirty="0">
                <a:solidFill>
                  <a:srgbClr val="0000FF"/>
                </a:solidFill>
                <a:ea typeface="楷体" panose="02010609060101010101" pitchFamily="49" charset="-122"/>
                <a:cs typeface="Times New Roman"/>
              </a:rPr>
              <a:t>3</a:t>
            </a:r>
            <a:r>
              <a:rPr lang="zh-CN" altLang="en-US" sz="2000" b="1" spc="-4" dirty="0">
                <a:solidFill>
                  <a:srgbClr val="0000FF"/>
                </a:solidFill>
                <a:ea typeface="楷体" panose="02010609060101010101" pitchFamily="49" charset="-122"/>
                <a:cs typeface="新宋体"/>
              </a:rPr>
              <a:t>）</a:t>
            </a:r>
            <a:r>
              <a:rPr lang="zh-CN" altLang="en-US" sz="2000" b="1" dirty="0">
                <a:solidFill>
                  <a:srgbClr val="0000FF"/>
                </a:solidFill>
                <a:latin typeface="楷体" panose="02010609060101010101" pitchFamily="49" charset="-122"/>
                <a:ea typeface="楷体" panose="02010609060101010101" pitchFamily="49" charset="-122"/>
                <a:cs typeface="新宋体"/>
              </a:rPr>
              <a:t>若是竖向裂缝</a:t>
            </a:r>
            <a:r>
              <a:rPr lang="zh-CN" altLang="en-US" sz="2000" b="1" spc="-9" dirty="0">
                <a:solidFill>
                  <a:srgbClr val="0000FF"/>
                </a:solidFill>
                <a:latin typeface="新宋体"/>
                <a:cs typeface="新宋体"/>
              </a:rPr>
              <a:t>，</a:t>
            </a:r>
            <a:r>
              <a:rPr lang="zh-CN" altLang="en-US" sz="2000" b="1" spc="-410" dirty="0">
                <a:solidFill>
                  <a:srgbClr val="0000FF"/>
                </a:solidFill>
                <a:latin typeface="新宋体"/>
                <a:cs typeface="新宋体"/>
              </a:rPr>
              <a:t> </a:t>
            </a:r>
            <a:r>
              <a:rPr lang="en-US" altLang="zh-CN" sz="2000" b="1" i="1" spc="-47" dirty="0">
                <a:solidFill>
                  <a:srgbClr val="0000FF"/>
                </a:solidFill>
                <a:latin typeface="Times New Roman"/>
                <a:cs typeface="Times New Roman"/>
              </a:rPr>
              <a:t>a</a:t>
            </a:r>
            <a:r>
              <a:rPr lang="zh-CN" altLang="en-US" sz="2000" b="1" spc="-47" dirty="0">
                <a:solidFill>
                  <a:srgbClr val="0000FF"/>
                </a:solidFill>
                <a:latin typeface="Symbol"/>
                <a:cs typeface="Symbol"/>
              </a:rPr>
              <a:t></a:t>
            </a:r>
            <a:r>
              <a:rPr lang="zh-CN" altLang="en-US" sz="2000" b="1" i="1" spc="-26" dirty="0">
                <a:solidFill>
                  <a:srgbClr val="0000FF"/>
                </a:solidFill>
                <a:latin typeface="Times New Roman"/>
                <a:cs typeface="Times New Roman"/>
              </a:rPr>
              <a:t> </a:t>
            </a:r>
            <a:r>
              <a:rPr lang="en-US" altLang="zh-CN" sz="2000" spc="-21" dirty="0">
                <a:solidFill>
                  <a:srgbClr val="0000FF"/>
                </a:solidFill>
                <a:latin typeface="Times New Roman"/>
                <a:cs typeface="Times New Roman"/>
              </a:rPr>
              <a:t>0</a:t>
            </a:r>
            <a:r>
              <a:rPr lang="zh-CN" altLang="en-US" sz="2000" b="1" spc="-21" dirty="0">
                <a:solidFill>
                  <a:srgbClr val="0000FF"/>
                </a:solidFill>
                <a:latin typeface="新宋体"/>
                <a:cs typeface="新宋体"/>
              </a:rPr>
              <a:t>，</a:t>
            </a:r>
            <a:r>
              <a:rPr lang="zh-CN" altLang="en-US" sz="2000" b="1" i="1" spc="-21" dirty="0">
                <a:solidFill>
                  <a:srgbClr val="0000FF"/>
                </a:solidFill>
                <a:latin typeface="Symbol"/>
                <a:cs typeface="Symbol"/>
              </a:rPr>
              <a:t></a:t>
            </a:r>
            <a:r>
              <a:rPr lang="zh-CN" altLang="en-US" sz="2000" b="1" i="1" spc="-26" dirty="0">
                <a:solidFill>
                  <a:srgbClr val="0000FF"/>
                </a:solidFill>
                <a:latin typeface="Times New Roman"/>
                <a:cs typeface="Times New Roman"/>
              </a:rPr>
              <a:t> </a:t>
            </a:r>
            <a:r>
              <a:rPr lang="zh-CN" altLang="en-US" sz="2000" b="1" spc="1082" dirty="0">
                <a:solidFill>
                  <a:srgbClr val="0000FF"/>
                </a:solidFill>
                <a:latin typeface="Symbol"/>
                <a:cs typeface="Symbol"/>
              </a:rPr>
              <a:t></a:t>
            </a:r>
            <a:r>
              <a:rPr lang="en-US" altLang="zh-CN" sz="2000" spc="-4" dirty="0">
                <a:solidFill>
                  <a:srgbClr val="0000FF"/>
                </a:solidFill>
                <a:latin typeface="Times New Roman"/>
                <a:cs typeface="Times New Roman"/>
              </a:rPr>
              <a:t>1</a:t>
            </a:r>
            <a:endParaRPr lang="zh-CN" altLang="en-US" sz="2000" dirty="0">
              <a:latin typeface="Times New Roman"/>
              <a:cs typeface="Times New Roman"/>
            </a:endParaRPr>
          </a:p>
        </p:txBody>
      </p:sp>
    </p:spTree>
    <p:extLst>
      <p:ext uri="{BB962C8B-B14F-4D97-AF65-F5344CB8AC3E}">
        <p14:creationId xmlns:p14="http://schemas.microsoft.com/office/powerpoint/2010/main" val="1606686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23"/>
                                        </p:tgtEl>
                                        <p:attrNameLst>
                                          <p:attrName>style.visibility</p:attrName>
                                        </p:attrNameLst>
                                      </p:cBhvr>
                                      <p:to>
                                        <p:strVal val="visible"/>
                                      </p:to>
                                    </p:set>
                                    <p:animEffect transition="in" filter="fade">
                                      <p:cBhvr>
                                        <p:cTn id="7" dur="1000"/>
                                        <p:tgtEl>
                                          <p:spTgt spid="223"/>
                                        </p:tgtEl>
                                      </p:cBhvr>
                                    </p:animEffect>
                                    <p:anim calcmode="lin" valueType="num">
                                      <p:cBhvr>
                                        <p:cTn id="8" dur="1000" fill="hold"/>
                                        <p:tgtEl>
                                          <p:spTgt spid="223"/>
                                        </p:tgtEl>
                                        <p:attrNameLst>
                                          <p:attrName>ppt_x</p:attrName>
                                        </p:attrNameLst>
                                      </p:cBhvr>
                                      <p:tavLst>
                                        <p:tav tm="0">
                                          <p:val>
                                            <p:strVal val="#ppt_x"/>
                                          </p:val>
                                        </p:tav>
                                        <p:tav tm="100000">
                                          <p:val>
                                            <p:strVal val="#ppt_x"/>
                                          </p:val>
                                        </p:tav>
                                      </p:tavLst>
                                    </p:anim>
                                    <p:anim calcmode="lin" valueType="num">
                                      <p:cBhvr>
                                        <p:cTn id="9" dur="1000" fill="hold"/>
                                        <p:tgtEl>
                                          <p:spTgt spid="22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221"/>
                                        </p:tgtEl>
                                        <p:attrNameLst>
                                          <p:attrName>style.visibility</p:attrName>
                                        </p:attrNameLst>
                                      </p:cBhvr>
                                      <p:to>
                                        <p:strVal val="visible"/>
                                      </p:to>
                                    </p:set>
                                    <p:animEffect transition="in" filter="fade">
                                      <p:cBhvr>
                                        <p:cTn id="14" dur="500"/>
                                        <p:tgtEl>
                                          <p:spTgt spid="221"/>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224"/>
                                        </p:tgtEl>
                                        <p:attrNameLst>
                                          <p:attrName>style.visibility</p:attrName>
                                        </p:attrNameLst>
                                      </p:cBhvr>
                                      <p:to>
                                        <p:strVal val="visible"/>
                                      </p:to>
                                    </p:set>
                                    <p:animEffect transition="in" filter="fade">
                                      <p:cBhvr>
                                        <p:cTn id="19" dur="500"/>
                                        <p:tgtEl>
                                          <p:spTgt spid="22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86"/>
                                        </p:tgtEl>
                                        <p:attrNameLst>
                                          <p:attrName>style.visibility</p:attrName>
                                        </p:attrNameLst>
                                      </p:cBhvr>
                                      <p:to>
                                        <p:strVal val="visible"/>
                                      </p:to>
                                    </p:set>
                                    <p:animEffect transition="in" filter="wipe(left)">
                                      <p:cBhvr>
                                        <p:cTn id="24" dur="500"/>
                                        <p:tgtEl>
                                          <p:spTgt spid="86"/>
                                        </p:tgtEl>
                                      </p:cBhvr>
                                    </p:animEffec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225"/>
                                        </p:tgtEl>
                                        <p:attrNameLst>
                                          <p:attrName>style.visibility</p:attrName>
                                        </p:attrNameLst>
                                      </p:cBhvr>
                                      <p:to>
                                        <p:strVal val="visible"/>
                                      </p:to>
                                    </p:set>
                                    <p:animEffect transition="in" filter="fade">
                                      <p:cBhvr>
                                        <p:cTn id="29" dur="1000"/>
                                        <p:tgtEl>
                                          <p:spTgt spid="225"/>
                                        </p:tgtEl>
                                      </p:cBhvr>
                                    </p:animEffect>
                                    <p:anim calcmode="lin" valueType="num">
                                      <p:cBhvr>
                                        <p:cTn id="30" dur="1000" fill="hold"/>
                                        <p:tgtEl>
                                          <p:spTgt spid="225"/>
                                        </p:tgtEl>
                                        <p:attrNameLst>
                                          <p:attrName>ppt_x</p:attrName>
                                        </p:attrNameLst>
                                      </p:cBhvr>
                                      <p:tavLst>
                                        <p:tav tm="0">
                                          <p:val>
                                            <p:strVal val="#ppt_x"/>
                                          </p:val>
                                        </p:tav>
                                        <p:tav tm="100000">
                                          <p:val>
                                            <p:strVal val="#ppt_x"/>
                                          </p:val>
                                        </p:tav>
                                      </p:tavLst>
                                    </p:anim>
                                    <p:anim calcmode="lin" valueType="num">
                                      <p:cBhvr>
                                        <p:cTn id="31" dur="1000" fill="hold"/>
                                        <p:tgtEl>
                                          <p:spTgt spid="225"/>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87"/>
                                        </p:tgtEl>
                                        <p:attrNameLst>
                                          <p:attrName>style.visibility</p:attrName>
                                        </p:attrNameLst>
                                      </p:cBhvr>
                                      <p:to>
                                        <p:strVal val="visible"/>
                                      </p:to>
                                    </p:set>
                                    <p:animEffect transition="in" filter="wipe(left)">
                                      <p:cBhvr>
                                        <p:cTn id="36" dur="500"/>
                                        <p:tgtEl>
                                          <p:spTgt spid="87"/>
                                        </p:tgtEl>
                                      </p:cBhvr>
                                    </p:animEffect>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226"/>
                                        </p:tgtEl>
                                        <p:attrNameLst>
                                          <p:attrName>style.visibility</p:attrName>
                                        </p:attrNameLst>
                                      </p:cBhvr>
                                      <p:to>
                                        <p:strVal val="visible"/>
                                      </p:to>
                                    </p:set>
                                    <p:animEffect transition="in" filter="fade">
                                      <p:cBhvr>
                                        <p:cTn id="41" dur="1000"/>
                                        <p:tgtEl>
                                          <p:spTgt spid="226"/>
                                        </p:tgtEl>
                                      </p:cBhvr>
                                    </p:animEffect>
                                    <p:anim calcmode="lin" valueType="num">
                                      <p:cBhvr>
                                        <p:cTn id="42" dur="1000" fill="hold"/>
                                        <p:tgtEl>
                                          <p:spTgt spid="226"/>
                                        </p:tgtEl>
                                        <p:attrNameLst>
                                          <p:attrName>ppt_x</p:attrName>
                                        </p:attrNameLst>
                                      </p:cBhvr>
                                      <p:tavLst>
                                        <p:tav tm="0">
                                          <p:val>
                                            <p:strVal val="#ppt_x"/>
                                          </p:val>
                                        </p:tav>
                                        <p:tav tm="100000">
                                          <p:val>
                                            <p:strVal val="#ppt_x"/>
                                          </p:val>
                                        </p:tav>
                                      </p:tavLst>
                                    </p:anim>
                                    <p:anim calcmode="lin" valueType="num">
                                      <p:cBhvr>
                                        <p:cTn id="43" dur="1000" fill="hold"/>
                                        <p:tgtEl>
                                          <p:spTgt spid="226"/>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227"/>
                                        </p:tgtEl>
                                        <p:attrNameLst>
                                          <p:attrName>style.visibility</p:attrName>
                                        </p:attrNameLst>
                                      </p:cBhvr>
                                      <p:to>
                                        <p:strVal val="visible"/>
                                      </p:to>
                                    </p:set>
                                    <p:animEffect transition="in" filter="wipe(left)">
                                      <p:cBhvr>
                                        <p:cTn id="48" dur="500"/>
                                        <p:tgtEl>
                                          <p:spTgt spid="2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p:bldP spid="87" grpId="0"/>
      <p:bldP spid="224" grpId="0"/>
      <p:bldP spid="227"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97878" y="379146"/>
            <a:ext cx="3849571" cy="461665"/>
          </a:xfrm>
          <a:prstGeom prst="rect">
            <a:avLst/>
          </a:prstGeom>
        </p:spPr>
        <p:txBody>
          <a:bodyPr wrap="square">
            <a:spAutoFit/>
          </a:bodyPr>
          <a:lstStyle/>
          <a:p>
            <a:r>
              <a:rPr lang="zh-CN" altLang="en-US" b="1" dirty="0">
                <a:solidFill>
                  <a:srgbClr val="0000FF"/>
                </a:solidFill>
                <a:latin typeface="楷体" panose="02010609060101010101" pitchFamily="49" charset="-122"/>
                <a:ea typeface="楷体" panose="02010609060101010101" pitchFamily="49" charset="-122"/>
              </a:rPr>
              <a:t>一、应力集中的利用</a:t>
            </a:r>
            <a:r>
              <a:rPr lang="zh-CN" altLang="en-US" dirty="0"/>
              <a:t> </a:t>
            </a:r>
            <a:endParaRPr lang="en-US" altLang="zh-CN" dirty="0"/>
          </a:p>
        </p:txBody>
      </p:sp>
      <p:sp>
        <p:nvSpPr>
          <p:cNvPr id="5" name="矩形 4"/>
          <p:cNvSpPr/>
          <p:nvPr/>
        </p:nvSpPr>
        <p:spPr>
          <a:xfrm>
            <a:off x="497878" y="3251549"/>
            <a:ext cx="3897221" cy="461665"/>
          </a:xfrm>
          <a:prstGeom prst="rect">
            <a:avLst/>
          </a:prstGeom>
        </p:spPr>
        <p:txBody>
          <a:bodyPr wrap="none">
            <a:spAutoFit/>
          </a:bodyPr>
          <a:lstStyle/>
          <a:p>
            <a:r>
              <a:rPr lang="zh-CN" altLang="en-US" b="1" dirty="0">
                <a:solidFill>
                  <a:srgbClr val="0000FF"/>
                </a:solidFill>
                <a:latin typeface="楷体" panose="02010609060101010101" pitchFamily="49" charset="-122"/>
                <a:ea typeface="楷体" panose="02010609060101010101" pitchFamily="49" charset="-122"/>
              </a:rPr>
              <a:t>二、构件对应力集中的避免</a:t>
            </a:r>
          </a:p>
        </p:txBody>
      </p:sp>
      <p:sp>
        <p:nvSpPr>
          <p:cNvPr id="6" name="矩形 5"/>
          <p:cNvSpPr/>
          <p:nvPr/>
        </p:nvSpPr>
        <p:spPr>
          <a:xfrm>
            <a:off x="497878" y="3717158"/>
            <a:ext cx="4572000" cy="1569660"/>
          </a:xfrm>
          <a:prstGeom prst="rect">
            <a:avLst/>
          </a:prstGeom>
        </p:spPr>
        <p:txBody>
          <a:bodyPr>
            <a:spAutoFit/>
          </a:bodyPr>
          <a:lstStyle/>
          <a:p>
            <a:r>
              <a:rPr lang="zh-CN" altLang="en-US" b="1" dirty="0">
                <a:latin typeface="楷体" panose="02010609060101010101" pitchFamily="49" charset="-122"/>
                <a:ea typeface="楷体" panose="02010609060101010101" pitchFamily="49" charset="-122"/>
              </a:rPr>
              <a:t>例</a:t>
            </a:r>
            <a:r>
              <a:rPr lang="en-US" altLang="zh-CN" b="1" dirty="0">
                <a:latin typeface="楷体" panose="02010609060101010101" pitchFamily="49" charset="-122"/>
                <a:ea typeface="楷体" panose="02010609060101010101" pitchFamily="49" charset="-122"/>
              </a:rPr>
              <a:t>1</a:t>
            </a:r>
            <a:r>
              <a:rPr lang="zh-CN" altLang="en-US" b="1" dirty="0">
                <a:latin typeface="楷体" panose="02010609060101010101" pitchFamily="49" charset="-122"/>
                <a:ea typeface="楷体" panose="02010609060101010101" pitchFamily="49" charset="-122"/>
              </a:rPr>
              <a:t>、发动机的汽缸体出现裂缝后，可用环氧树脂等粘接剂粘合。在粘合前，先在裂缝的两端钻一个小孔。</a:t>
            </a:r>
          </a:p>
        </p:txBody>
      </p:sp>
      <p:grpSp>
        <p:nvGrpSpPr>
          <p:cNvPr id="4" name="组合 3"/>
          <p:cNvGrpSpPr/>
          <p:nvPr/>
        </p:nvGrpSpPr>
        <p:grpSpPr>
          <a:xfrm>
            <a:off x="5071779" y="875753"/>
            <a:ext cx="3465757" cy="2529796"/>
            <a:chOff x="5071779" y="875753"/>
            <a:chExt cx="3465757" cy="2529796"/>
          </a:xfrm>
        </p:grpSpPr>
        <p:sp>
          <p:nvSpPr>
            <p:cNvPr id="7" name="矩形 6"/>
            <p:cNvSpPr/>
            <p:nvPr/>
          </p:nvSpPr>
          <p:spPr>
            <a:xfrm>
              <a:off x="5292080" y="875753"/>
              <a:ext cx="2830403" cy="461665"/>
            </a:xfrm>
            <a:prstGeom prst="rect">
              <a:avLst/>
            </a:prstGeom>
          </p:spPr>
          <p:txBody>
            <a:bodyPr wrap="square">
              <a:spAutoFit/>
            </a:bodyPr>
            <a:lstStyle/>
            <a:p>
              <a:r>
                <a:rPr lang="zh-CN" altLang="en-US" b="1" dirty="0">
                  <a:latin typeface="楷体" panose="02010609060101010101" pitchFamily="49" charset="-122"/>
                  <a:ea typeface="楷体" panose="02010609060101010101" pitchFamily="49" charset="-122"/>
                </a:rPr>
                <a:t>例</a:t>
              </a:r>
              <a:r>
                <a:rPr lang="en-US" altLang="zh-CN" b="1" dirty="0">
                  <a:latin typeface="楷体" panose="02010609060101010101" pitchFamily="49" charset="-122"/>
                  <a:ea typeface="楷体" panose="02010609060101010101" pitchFamily="49" charset="-122"/>
                </a:rPr>
                <a:t>2</a:t>
              </a:r>
              <a:r>
                <a:rPr lang="zh-CN" altLang="en-US" b="1" dirty="0">
                  <a:latin typeface="楷体" panose="02010609060101010101" pitchFamily="49" charset="-122"/>
                  <a:ea typeface="楷体" panose="02010609060101010101" pitchFamily="49" charset="-122"/>
                </a:rPr>
                <a:t>、切割玻璃</a:t>
              </a:r>
            </a:p>
          </p:txBody>
        </p:sp>
        <p:pic>
          <p:nvPicPr>
            <p:cNvPr id="54276" name="Picture 4" descr="http://5b0988e595225.cdn.sohucs.com/images/20181007/5fa83a41f9084882a60594ff99b1cf10.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1779" y="1453172"/>
              <a:ext cx="3465757" cy="195237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 name="组合 9"/>
          <p:cNvGrpSpPr/>
          <p:nvPr/>
        </p:nvGrpSpPr>
        <p:grpSpPr>
          <a:xfrm>
            <a:off x="499779" y="3933056"/>
            <a:ext cx="7976196" cy="2496473"/>
            <a:chOff x="499779" y="3933056"/>
            <a:chExt cx="7976196" cy="2496473"/>
          </a:xfrm>
        </p:grpSpPr>
        <p:sp>
          <p:nvSpPr>
            <p:cNvPr id="8" name="矩形 7"/>
            <p:cNvSpPr/>
            <p:nvPr/>
          </p:nvSpPr>
          <p:spPr>
            <a:xfrm>
              <a:off x="499779" y="5229200"/>
              <a:ext cx="4572000" cy="1200329"/>
            </a:xfrm>
            <a:prstGeom prst="rect">
              <a:avLst/>
            </a:prstGeom>
          </p:spPr>
          <p:txBody>
            <a:bodyPr>
              <a:spAutoFit/>
            </a:bodyPr>
            <a:lstStyle/>
            <a:p>
              <a:r>
                <a:rPr lang="zh-CN" altLang="en-US" b="1" dirty="0">
                  <a:latin typeface="楷体" panose="02010609060101010101" pitchFamily="49" charset="-122"/>
                  <a:ea typeface="楷体" panose="02010609060101010101" pitchFamily="49" charset="-122"/>
                </a:rPr>
                <a:t>例</a:t>
              </a:r>
              <a:r>
                <a:rPr lang="en-US" altLang="zh-CN" b="1" dirty="0">
                  <a:latin typeface="楷体" panose="02010609060101010101" pitchFamily="49" charset="-122"/>
                  <a:ea typeface="楷体" panose="02010609060101010101" pitchFamily="49" charset="-122"/>
                </a:rPr>
                <a:t>2</a:t>
              </a:r>
              <a:r>
                <a:rPr lang="zh-CN" altLang="en-US" b="1" dirty="0">
                  <a:latin typeface="楷体" panose="02010609060101010101" pitchFamily="49" charset="-122"/>
                  <a:ea typeface="楷体" panose="02010609060101010101" pitchFamily="49" charset="-122"/>
                </a:rPr>
                <a:t>、自行车内胎被刺破后，可用橡胶补块粘补。补块一般剪成圆形或椭圆形，而非正方形，</a:t>
              </a:r>
            </a:p>
          </p:txBody>
        </p:sp>
        <p:pic>
          <p:nvPicPr>
            <p:cNvPr id="54278" name="Picture 6" descr="http://5b0988e595225.cdn.sohucs.com/images/20181007/15978132dd14439bb7b43c3d0575b4c3.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33339" y="3933056"/>
              <a:ext cx="3342636" cy="229527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 name="组合 2"/>
          <p:cNvGrpSpPr/>
          <p:nvPr/>
        </p:nvGrpSpPr>
        <p:grpSpPr>
          <a:xfrm>
            <a:off x="683568" y="840811"/>
            <a:ext cx="3275342" cy="2443944"/>
            <a:chOff x="683568" y="840811"/>
            <a:chExt cx="3275342" cy="2443944"/>
          </a:xfrm>
        </p:grpSpPr>
        <p:pic>
          <p:nvPicPr>
            <p:cNvPr id="54274" name="Picture 2" descr="http://5b0988e595225.cdn.sohucs.com/images/20181007/bdd84da19b5c4fefbff6a467a35f2ebc.jpe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2606" y="1337418"/>
              <a:ext cx="2736304" cy="1947337"/>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p:cNvSpPr/>
            <p:nvPr/>
          </p:nvSpPr>
          <p:spPr>
            <a:xfrm>
              <a:off x="683568" y="840811"/>
              <a:ext cx="3124573" cy="461665"/>
            </a:xfrm>
            <a:prstGeom prst="rect">
              <a:avLst/>
            </a:prstGeom>
          </p:spPr>
          <p:txBody>
            <a:bodyPr wrap="none">
              <a:spAutoFit/>
            </a:bodyPr>
            <a:lstStyle/>
            <a:p>
              <a:r>
                <a:rPr lang="zh-CN" altLang="en-US" b="1" dirty="0">
                  <a:latin typeface="楷体" panose="02010609060101010101" pitchFamily="49" charset="-122"/>
                  <a:ea typeface="楷体" panose="02010609060101010101" pitchFamily="49" charset="-122"/>
                </a:rPr>
                <a:t>例</a:t>
              </a:r>
              <a:r>
                <a:rPr lang="en-US" altLang="zh-CN" b="1" dirty="0">
                  <a:latin typeface="楷体" panose="02010609060101010101" pitchFamily="49" charset="-122"/>
                  <a:ea typeface="楷体" panose="02010609060101010101" pitchFamily="49" charset="-122"/>
                </a:rPr>
                <a:t>1</a:t>
              </a:r>
              <a:r>
                <a:rPr lang="zh-CN" altLang="en-US" b="1" dirty="0">
                  <a:latin typeface="楷体" panose="02010609060101010101" pitchFamily="49" charset="-122"/>
                  <a:ea typeface="楷体" panose="02010609060101010101" pitchFamily="49" charset="-122"/>
                </a:rPr>
                <a:t>、食品包装塑料袋</a:t>
              </a:r>
            </a:p>
          </p:txBody>
        </p:sp>
      </p:grpSp>
    </p:spTree>
    <p:extLst>
      <p:ext uri="{BB962C8B-B14F-4D97-AF65-F5344CB8AC3E}">
        <p14:creationId xmlns:p14="http://schemas.microsoft.com/office/powerpoint/2010/main" val="3873787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up)">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32"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circle(out)">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p:cNvSpPr txBox="1">
            <a:spLocks noChangeArrowheads="1"/>
          </p:cNvSpPr>
          <p:nvPr/>
        </p:nvSpPr>
        <p:spPr bwMode="auto">
          <a:xfrm>
            <a:off x="3613853" y="634065"/>
            <a:ext cx="30797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3200" b="1" dirty="0">
                <a:solidFill>
                  <a:srgbClr val="3333FF"/>
                </a:solidFill>
                <a:latin typeface="Times New Roman" panose="02020603050405020304" pitchFamily="18" charset="0"/>
                <a:ea typeface="隶书" panose="02010509060101010101" pitchFamily="49" charset="-122"/>
              </a:rPr>
              <a:t>基本解题思路</a:t>
            </a:r>
          </a:p>
        </p:txBody>
      </p:sp>
      <p:sp>
        <p:nvSpPr>
          <p:cNvPr id="216067" name="Text Box 3"/>
          <p:cNvSpPr txBox="1">
            <a:spLocks noChangeArrowheads="1"/>
          </p:cNvSpPr>
          <p:nvPr/>
        </p:nvSpPr>
        <p:spPr bwMode="auto">
          <a:xfrm>
            <a:off x="914400" y="1659870"/>
            <a:ext cx="11144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b="1" dirty="0">
                <a:solidFill>
                  <a:srgbClr val="080808"/>
                </a:solidFill>
                <a:latin typeface="楷体" panose="02010609060101010101" pitchFamily="49" charset="-122"/>
                <a:ea typeface="楷体" panose="02010609060101010101" pitchFamily="49" charset="-122"/>
              </a:rPr>
              <a:t>外力</a:t>
            </a:r>
          </a:p>
        </p:txBody>
      </p:sp>
      <p:grpSp>
        <p:nvGrpSpPr>
          <p:cNvPr id="216068" name="Group 4"/>
          <p:cNvGrpSpPr>
            <a:grpSpLocks/>
          </p:cNvGrpSpPr>
          <p:nvPr/>
        </p:nvGrpSpPr>
        <p:grpSpPr bwMode="auto">
          <a:xfrm>
            <a:off x="1857376" y="1482723"/>
            <a:ext cx="1371600" cy="469900"/>
            <a:chOff x="1296" y="1379"/>
            <a:chExt cx="864" cy="296"/>
          </a:xfrm>
        </p:grpSpPr>
        <p:sp>
          <p:nvSpPr>
            <p:cNvPr id="39964" name="Line 5"/>
            <p:cNvSpPr>
              <a:spLocks noChangeShapeType="1"/>
            </p:cNvSpPr>
            <p:nvPr/>
          </p:nvSpPr>
          <p:spPr bwMode="auto">
            <a:xfrm>
              <a:off x="1296" y="1675"/>
              <a:ext cx="864" cy="0"/>
            </a:xfrm>
            <a:prstGeom prst="line">
              <a:avLst/>
            </a:prstGeom>
            <a:noFill/>
            <a:ln w="22225">
              <a:solidFill>
                <a:srgbClr val="080808"/>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9965" name="Text Box 6"/>
            <p:cNvSpPr txBox="1">
              <a:spLocks noChangeArrowheads="1"/>
            </p:cNvSpPr>
            <p:nvPr/>
          </p:nvSpPr>
          <p:spPr bwMode="auto">
            <a:xfrm>
              <a:off x="1315" y="1379"/>
              <a:ext cx="70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b="1" dirty="0">
                  <a:solidFill>
                    <a:srgbClr val="080808"/>
                  </a:solidFill>
                  <a:latin typeface="楷体" panose="02010609060101010101" pitchFamily="49" charset="-122"/>
                  <a:ea typeface="楷体" panose="02010609060101010101" pitchFamily="49" charset="-122"/>
                </a:rPr>
                <a:t>截面法</a:t>
              </a:r>
            </a:p>
          </p:txBody>
        </p:sp>
      </p:grpSp>
      <p:sp>
        <p:nvSpPr>
          <p:cNvPr id="216071" name="Text Box 7"/>
          <p:cNvSpPr txBox="1">
            <a:spLocks noChangeArrowheads="1"/>
          </p:cNvSpPr>
          <p:nvPr/>
        </p:nvSpPr>
        <p:spPr bwMode="auto">
          <a:xfrm>
            <a:off x="3328988" y="1711509"/>
            <a:ext cx="29622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b="1" dirty="0">
                <a:solidFill>
                  <a:srgbClr val="080808"/>
                </a:solidFill>
                <a:latin typeface="+mn-lt"/>
                <a:ea typeface="楷体" panose="02010609060101010101" pitchFamily="49" charset="-122"/>
              </a:rPr>
              <a:t>内力（轴力</a:t>
            </a:r>
            <a:r>
              <a:rPr kumimoji="1" lang="en-US" altLang="zh-CN" i="1" dirty="0">
                <a:solidFill>
                  <a:srgbClr val="FF0000"/>
                </a:solidFill>
                <a:latin typeface="+mn-lt"/>
                <a:ea typeface="楷体" panose="02010609060101010101" pitchFamily="49" charset="-122"/>
              </a:rPr>
              <a:t>F</a:t>
            </a:r>
            <a:r>
              <a:rPr kumimoji="1" lang="en-US" altLang="zh-CN" baseline="-25000" dirty="0">
                <a:solidFill>
                  <a:srgbClr val="FF0000"/>
                </a:solidFill>
                <a:latin typeface="+mn-lt"/>
                <a:ea typeface="楷体" panose="02010609060101010101" pitchFamily="49" charset="-122"/>
              </a:rPr>
              <a:t>N</a:t>
            </a:r>
            <a:r>
              <a:rPr kumimoji="1" lang="zh-CN" altLang="en-US" b="1" dirty="0">
                <a:solidFill>
                  <a:srgbClr val="080808"/>
                </a:solidFill>
                <a:latin typeface="+mn-lt"/>
                <a:ea typeface="楷体" panose="02010609060101010101" pitchFamily="49" charset="-122"/>
              </a:rPr>
              <a:t>）</a:t>
            </a:r>
          </a:p>
        </p:txBody>
      </p:sp>
      <p:sp>
        <p:nvSpPr>
          <p:cNvPr id="216072" name="Line 8"/>
          <p:cNvSpPr>
            <a:spLocks noChangeShapeType="1"/>
          </p:cNvSpPr>
          <p:nvPr/>
        </p:nvSpPr>
        <p:spPr bwMode="auto">
          <a:xfrm>
            <a:off x="5651500" y="1916113"/>
            <a:ext cx="1295400" cy="0"/>
          </a:xfrm>
          <a:prstGeom prst="line">
            <a:avLst/>
          </a:prstGeom>
          <a:noFill/>
          <a:ln w="22225">
            <a:solidFill>
              <a:srgbClr val="080808"/>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16073" name="AutoShape 9"/>
          <p:cNvSpPr>
            <a:spLocks/>
          </p:cNvSpPr>
          <p:nvPr/>
        </p:nvSpPr>
        <p:spPr bwMode="auto">
          <a:xfrm>
            <a:off x="939800" y="2978150"/>
            <a:ext cx="206375" cy="403225"/>
          </a:xfrm>
          <a:prstGeom prst="leftBrace">
            <a:avLst>
              <a:gd name="adj1" fmla="val 16282"/>
              <a:gd name="adj2" fmla="val 50000"/>
            </a:avLst>
          </a:prstGeom>
          <a:noFill/>
          <a:ln w="22225">
            <a:solidFill>
              <a:srgbClr val="080808"/>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solidFill>
                <a:srgbClr val="080808"/>
              </a:solidFill>
              <a:latin typeface="Times New Roman" panose="02020603050405020304" pitchFamily="18" charset="0"/>
              <a:ea typeface="楷体_GB2312" pitchFamily="49" charset="-122"/>
            </a:endParaRPr>
          </a:p>
        </p:txBody>
      </p:sp>
      <p:sp>
        <p:nvSpPr>
          <p:cNvPr id="216074" name="Text Box 10"/>
          <p:cNvSpPr txBox="1">
            <a:spLocks noChangeArrowheads="1"/>
          </p:cNvSpPr>
          <p:nvPr/>
        </p:nvSpPr>
        <p:spPr bwMode="auto">
          <a:xfrm>
            <a:off x="1123156" y="2460443"/>
            <a:ext cx="106521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b="1" dirty="0">
                <a:solidFill>
                  <a:srgbClr val="080808"/>
                </a:solidFill>
                <a:latin typeface="楷体" panose="02010609060101010101" pitchFamily="49" charset="-122"/>
                <a:ea typeface="楷体" panose="02010609060101010101" pitchFamily="49" charset="-122"/>
              </a:rPr>
              <a:t>应力</a:t>
            </a:r>
          </a:p>
        </p:txBody>
      </p:sp>
      <p:sp>
        <p:nvSpPr>
          <p:cNvPr id="216075" name="Text Box 11"/>
          <p:cNvSpPr txBox="1">
            <a:spLocks noChangeArrowheads="1"/>
          </p:cNvSpPr>
          <p:nvPr/>
        </p:nvSpPr>
        <p:spPr bwMode="auto">
          <a:xfrm>
            <a:off x="1063625" y="3402013"/>
            <a:ext cx="106521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b="1" dirty="0">
                <a:solidFill>
                  <a:srgbClr val="080808"/>
                </a:solidFill>
                <a:latin typeface="楷体" panose="02010609060101010101" pitchFamily="49" charset="-122"/>
                <a:ea typeface="楷体" panose="02010609060101010101" pitchFamily="49" charset="-122"/>
              </a:rPr>
              <a:t>变形</a:t>
            </a:r>
          </a:p>
        </p:txBody>
      </p:sp>
      <p:graphicFrame>
        <p:nvGraphicFramePr>
          <p:cNvPr id="216076" name="Object 12"/>
          <p:cNvGraphicFramePr>
            <a:graphicFrameLocks/>
          </p:cNvGraphicFramePr>
          <p:nvPr>
            <p:extLst>
              <p:ext uri="{D42A27DB-BD31-4B8C-83A1-F6EECF244321}">
                <p14:modId xmlns:p14="http://schemas.microsoft.com/office/powerpoint/2010/main" val="3607155122"/>
              </p:ext>
            </p:extLst>
          </p:nvPr>
        </p:nvGraphicFramePr>
        <p:xfrm>
          <a:off x="2028825" y="2179638"/>
          <a:ext cx="1190626" cy="868363"/>
        </p:xfrm>
        <a:graphic>
          <a:graphicData uri="http://schemas.openxmlformats.org/presentationml/2006/ole">
            <mc:AlternateContent xmlns:mc="http://schemas.openxmlformats.org/markup-compatibility/2006">
              <mc:Choice xmlns:v="urn:schemas-microsoft-com:vml" Requires="v">
                <p:oleObj name="Equation" r:id="rId2" imgW="495000" imgH="393480" progId="Equation.DSMT4">
                  <p:embed/>
                </p:oleObj>
              </mc:Choice>
              <mc:Fallback>
                <p:oleObj name="Equation" r:id="rId2" imgW="495000" imgH="393480" progId="Equation.DSMT4">
                  <p:embed/>
                  <p:pic>
                    <p:nvPicPr>
                      <p:cNvPr id="0" nam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8825" y="2179638"/>
                        <a:ext cx="1190626" cy="868363"/>
                      </a:xfrm>
                      <a:prstGeom prst="rect">
                        <a:avLst/>
                      </a:prstGeom>
                      <a:noFill/>
                      <a:ln>
                        <a:noFill/>
                      </a:ln>
                      <a:effectLst/>
                    </p:spPr>
                  </p:pic>
                </p:oleObj>
              </mc:Fallback>
            </mc:AlternateContent>
          </a:graphicData>
        </a:graphic>
      </p:graphicFrame>
      <p:sp>
        <p:nvSpPr>
          <p:cNvPr id="216077" name="Line 13"/>
          <p:cNvSpPr>
            <a:spLocks noChangeShapeType="1"/>
          </p:cNvSpPr>
          <p:nvPr/>
        </p:nvSpPr>
        <p:spPr bwMode="auto">
          <a:xfrm>
            <a:off x="3363913" y="2652713"/>
            <a:ext cx="1219200" cy="0"/>
          </a:xfrm>
          <a:prstGeom prst="line">
            <a:avLst/>
          </a:prstGeom>
          <a:noFill/>
          <a:ln w="22225">
            <a:solidFill>
              <a:srgbClr val="080808"/>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16078" name="Text Box 14"/>
          <p:cNvSpPr txBox="1">
            <a:spLocks noChangeArrowheads="1"/>
          </p:cNvSpPr>
          <p:nvPr/>
        </p:nvSpPr>
        <p:spPr bwMode="auto">
          <a:xfrm>
            <a:off x="4678363" y="2429025"/>
            <a:ext cx="18557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b="1" dirty="0">
                <a:solidFill>
                  <a:srgbClr val="080808"/>
                </a:solidFill>
                <a:latin typeface="楷体" panose="02010609060101010101" pitchFamily="49" charset="-122"/>
                <a:ea typeface="楷体" panose="02010609060101010101" pitchFamily="49" charset="-122"/>
              </a:rPr>
              <a:t>强度条件</a:t>
            </a:r>
          </a:p>
        </p:txBody>
      </p:sp>
      <p:graphicFrame>
        <p:nvGraphicFramePr>
          <p:cNvPr id="216079" name="Object 15"/>
          <p:cNvGraphicFramePr>
            <a:graphicFrameLocks/>
          </p:cNvGraphicFramePr>
          <p:nvPr>
            <p:extLst>
              <p:ext uri="{D42A27DB-BD31-4B8C-83A1-F6EECF244321}">
                <p14:modId xmlns:p14="http://schemas.microsoft.com/office/powerpoint/2010/main" val="982852265"/>
              </p:ext>
            </p:extLst>
          </p:nvPr>
        </p:nvGraphicFramePr>
        <p:xfrm>
          <a:off x="2028826" y="3205164"/>
          <a:ext cx="1335088" cy="853594"/>
        </p:xfrm>
        <a:graphic>
          <a:graphicData uri="http://schemas.openxmlformats.org/presentationml/2006/ole">
            <mc:AlternateContent xmlns:mc="http://schemas.openxmlformats.org/markup-compatibility/2006">
              <mc:Choice xmlns:v="urn:schemas-microsoft-com:vml" Requires="v">
                <p:oleObj name="Equation" r:id="rId4" imgW="583920" imgH="393480" progId="Equation.DSMT4">
                  <p:embed/>
                </p:oleObj>
              </mc:Choice>
              <mc:Fallback>
                <p:oleObj name="Equation" r:id="rId4" imgW="583920" imgH="393480" progId="Equation.DSMT4">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28826" y="3205164"/>
                        <a:ext cx="1335088" cy="853594"/>
                      </a:xfrm>
                      <a:prstGeom prst="rect">
                        <a:avLst/>
                      </a:prstGeom>
                      <a:noFill/>
                      <a:ln>
                        <a:noFill/>
                      </a:ln>
                      <a:effectLst/>
                    </p:spPr>
                  </p:pic>
                </p:oleObj>
              </mc:Fallback>
            </mc:AlternateContent>
          </a:graphicData>
        </a:graphic>
      </p:graphicFrame>
      <p:sp>
        <p:nvSpPr>
          <p:cNvPr id="216080" name="Line 16"/>
          <p:cNvSpPr>
            <a:spLocks noChangeShapeType="1"/>
          </p:cNvSpPr>
          <p:nvPr/>
        </p:nvSpPr>
        <p:spPr bwMode="auto">
          <a:xfrm>
            <a:off x="3363913" y="3645024"/>
            <a:ext cx="1219200" cy="0"/>
          </a:xfrm>
          <a:prstGeom prst="line">
            <a:avLst/>
          </a:prstGeom>
          <a:noFill/>
          <a:ln w="22225">
            <a:solidFill>
              <a:srgbClr val="080808"/>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16081" name="Text Box 17"/>
          <p:cNvSpPr txBox="1">
            <a:spLocks noChangeArrowheads="1"/>
          </p:cNvSpPr>
          <p:nvPr/>
        </p:nvSpPr>
        <p:spPr bwMode="auto">
          <a:xfrm>
            <a:off x="4678363" y="3354388"/>
            <a:ext cx="21748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b="1" dirty="0">
                <a:solidFill>
                  <a:srgbClr val="080808"/>
                </a:solidFill>
                <a:latin typeface="楷体" panose="02010609060101010101" pitchFamily="49" charset="-122"/>
                <a:ea typeface="楷体" panose="02010609060101010101" pitchFamily="49" charset="-122"/>
              </a:rPr>
              <a:t>刚度条件</a:t>
            </a:r>
          </a:p>
        </p:txBody>
      </p:sp>
      <p:graphicFrame>
        <p:nvGraphicFramePr>
          <p:cNvPr id="216082" name="Object 18"/>
          <p:cNvGraphicFramePr>
            <a:graphicFrameLocks/>
          </p:cNvGraphicFramePr>
          <p:nvPr>
            <p:extLst>
              <p:ext uri="{D42A27DB-BD31-4B8C-83A1-F6EECF244321}">
                <p14:modId xmlns:p14="http://schemas.microsoft.com/office/powerpoint/2010/main" val="3758195811"/>
              </p:ext>
            </p:extLst>
          </p:nvPr>
        </p:nvGraphicFramePr>
        <p:xfrm>
          <a:off x="6178923" y="2177904"/>
          <a:ext cx="2241177" cy="835025"/>
        </p:xfrm>
        <a:graphic>
          <a:graphicData uri="http://schemas.openxmlformats.org/presentationml/2006/ole">
            <mc:AlternateContent xmlns:mc="http://schemas.openxmlformats.org/markup-compatibility/2006">
              <mc:Choice xmlns:v="urn:schemas-microsoft-com:vml" Requires="v">
                <p:oleObj name="Equation" r:id="rId6" imgW="990630" imgH="380910" progId="Equation.3">
                  <p:embed/>
                </p:oleObj>
              </mc:Choice>
              <mc:Fallback>
                <p:oleObj name="Equation" r:id="rId6" imgW="990630" imgH="380910" progId="Equation.3">
                  <p:embed/>
                  <p:pic>
                    <p:nvPicPr>
                      <p:cNvPr id="0" nam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78923" y="2177904"/>
                        <a:ext cx="2241177" cy="835025"/>
                      </a:xfrm>
                      <a:prstGeom prst="rect">
                        <a:avLst/>
                      </a:prstGeom>
                      <a:noFill/>
                      <a:ln>
                        <a:noFill/>
                      </a:ln>
                      <a:effectLst/>
                    </p:spPr>
                  </p:pic>
                </p:oleObj>
              </mc:Fallback>
            </mc:AlternateContent>
          </a:graphicData>
        </a:graphic>
      </p:graphicFrame>
      <p:sp>
        <p:nvSpPr>
          <p:cNvPr id="216083" name="Text Box 19"/>
          <p:cNvSpPr txBox="1">
            <a:spLocks noChangeArrowheads="1"/>
          </p:cNvSpPr>
          <p:nvPr/>
        </p:nvSpPr>
        <p:spPr bwMode="auto">
          <a:xfrm>
            <a:off x="578156" y="1060624"/>
            <a:ext cx="2362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b="1" dirty="0">
                <a:solidFill>
                  <a:srgbClr val="FF0000"/>
                </a:solidFill>
                <a:latin typeface="黑体" panose="02010609060101010101" pitchFamily="49" charset="-122"/>
                <a:ea typeface="黑体" panose="02010609060101010101" pitchFamily="49" charset="-122"/>
              </a:rPr>
              <a:t>静定结构：</a:t>
            </a:r>
          </a:p>
        </p:txBody>
      </p:sp>
      <p:sp>
        <p:nvSpPr>
          <p:cNvPr id="216084" name="Text Box 20"/>
          <p:cNvSpPr txBox="1">
            <a:spLocks noChangeArrowheads="1"/>
          </p:cNvSpPr>
          <p:nvPr/>
        </p:nvSpPr>
        <p:spPr bwMode="auto">
          <a:xfrm>
            <a:off x="558271" y="4187941"/>
            <a:ext cx="204254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b="1" dirty="0">
                <a:solidFill>
                  <a:srgbClr val="FF0000"/>
                </a:solidFill>
                <a:latin typeface="黑体" panose="02010609060101010101" pitchFamily="49" charset="-122"/>
                <a:ea typeface="黑体" panose="02010609060101010101" pitchFamily="49" charset="-122"/>
              </a:rPr>
              <a:t>静</a:t>
            </a:r>
            <a:r>
              <a:rPr lang="zh-CN" altLang="en-US" b="1" dirty="0">
                <a:solidFill>
                  <a:srgbClr val="FF0000"/>
                </a:solidFill>
                <a:latin typeface="黑体" panose="02010609060101010101" pitchFamily="49" charset="-122"/>
                <a:ea typeface="黑体" panose="02010609060101010101" pitchFamily="49" charset="-122"/>
              </a:rPr>
              <a:t>不</a:t>
            </a:r>
            <a:r>
              <a:rPr kumimoji="1" lang="zh-CN" altLang="en-US" b="1" dirty="0">
                <a:solidFill>
                  <a:srgbClr val="FF0000"/>
                </a:solidFill>
                <a:latin typeface="黑体" panose="02010609060101010101" pitchFamily="49" charset="-122"/>
                <a:ea typeface="黑体" panose="02010609060101010101" pitchFamily="49" charset="-122"/>
              </a:rPr>
              <a:t>定结构：</a:t>
            </a:r>
          </a:p>
        </p:txBody>
      </p:sp>
      <p:sp>
        <p:nvSpPr>
          <p:cNvPr id="216085" name="Text Box 21"/>
          <p:cNvSpPr txBox="1">
            <a:spLocks noChangeArrowheads="1"/>
          </p:cNvSpPr>
          <p:nvPr/>
        </p:nvSpPr>
        <p:spPr bwMode="auto">
          <a:xfrm>
            <a:off x="727075" y="5065713"/>
            <a:ext cx="59785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b="1" dirty="0">
                <a:solidFill>
                  <a:srgbClr val="080808"/>
                </a:solidFill>
                <a:latin typeface="楷体" panose="02010609060101010101" pitchFamily="49" charset="-122"/>
                <a:ea typeface="楷体" panose="02010609060101010101" pitchFamily="49" charset="-122"/>
              </a:rPr>
              <a:t>平衡方程、几何方程、物理方程</a:t>
            </a:r>
          </a:p>
        </p:txBody>
      </p:sp>
      <p:sp>
        <p:nvSpPr>
          <p:cNvPr id="216086" name="Line 22"/>
          <p:cNvSpPr>
            <a:spLocks noChangeShapeType="1"/>
          </p:cNvSpPr>
          <p:nvPr/>
        </p:nvSpPr>
        <p:spPr bwMode="auto">
          <a:xfrm>
            <a:off x="5334000" y="5301208"/>
            <a:ext cx="1371600" cy="0"/>
          </a:xfrm>
          <a:prstGeom prst="line">
            <a:avLst/>
          </a:prstGeom>
          <a:noFill/>
          <a:ln w="22225">
            <a:solidFill>
              <a:srgbClr val="080808"/>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16087" name="Text Box 23"/>
          <p:cNvSpPr txBox="1">
            <a:spLocks noChangeArrowheads="1"/>
          </p:cNvSpPr>
          <p:nvPr/>
        </p:nvSpPr>
        <p:spPr bwMode="auto">
          <a:xfrm>
            <a:off x="6801943" y="4996578"/>
            <a:ext cx="10191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b="1" dirty="0">
                <a:solidFill>
                  <a:srgbClr val="080808"/>
                </a:solidFill>
                <a:latin typeface="楷体" panose="02010609060101010101" pitchFamily="49" charset="-122"/>
                <a:ea typeface="楷体" panose="02010609060101010101" pitchFamily="49" charset="-122"/>
              </a:rPr>
              <a:t>内力</a:t>
            </a:r>
          </a:p>
        </p:txBody>
      </p:sp>
      <p:grpSp>
        <p:nvGrpSpPr>
          <p:cNvPr id="216094" name="Group 30"/>
          <p:cNvGrpSpPr>
            <a:grpSpLocks/>
          </p:cNvGrpSpPr>
          <p:nvPr/>
        </p:nvGrpSpPr>
        <p:grpSpPr bwMode="auto">
          <a:xfrm>
            <a:off x="467544" y="3171495"/>
            <a:ext cx="7848550" cy="2807617"/>
            <a:chOff x="204" y="1979"/>
            <a:chExt cx="5339" cy="1859"/>
          </a:xfrm>
        </p:grpSpPr>
        <p:sp>
          <p:nvSpPr>
            <p:cNvPr id="39959" name="Line 25"/>
            <p:cNvSpPr>
              <a:spLocks noChangeShapeType="1"/>
            </p:cNvSpPr>
            <p:nvPr/>
          </p:nvSpPr>
          <p:spPr bwMode="auto">
            <a:xfrm>
              <a:off x="5193" y="3339"/>
              <a:ext cx="350" cy="0"/>
            </a:xfrm>
            <a:prstGeom prst="line">
              <a:avLst/>
            </a:prstGeom>
            <a:noFill/>
            <a:ln w="22225">
              <a:solidFill>
                <a:srgbClr val="080808"/>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9960" name="Line 26"/>
            <p:cNvSpPr>
              <a:spLocks noChangeShapeType="1"/>
            </p:cNvSpPr>
            <p:nvPr/>
          </p:nvSpPr>
          <p:spPr bwMode="auto">
            <a:xfrm rot="5400000">
              <a:off x="5289" y="3587"/>
              <a:ext cx="502" cy="0"/>
            </a:xfrm>
            <a:prstGeom prst="line">
              <a:avLst/>
            </a:prstGeom>
            <a:noFill/>
            <a:ln w="22225">
              <a:solidFill>
                <a:srgbClr val="080808"/>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9961" name="Line 27"/>
            <p:cNvSpPr>
              <a:spLocks noChangeShapeType="1"/>
            </p:cNvSpPr>
            <p:nvPr/>
          </p:nvSpPr>
          <p:spPr bwMode="auto">
            <a:xfrm>
              <a:off x="204" y="3832"/>
              <a:ext cx="5331" cy="0"/>
            </a:xfrm>
            <a:prstGeom prst="line">
              <a:avLst/>
            </a:prstGeom>
            <a:noFill/>
            <a:ln w="22225">
              <a:solidFill>
                <a:srgbClr val="080808"/>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9962" name="Line 28"/>
            <p:cNvSpPr>
              <a:spLocks noChangeShapeType="1"/>
            </p:cNvSpPr>
            <p:nvPr/>
          </p:nvSpPr>
          <p:spPr bwMode="auto">
            <a:xfrm rot="5400000">
              <a:off x="-721" y="2904"/>
              <a:ext cx="1850" cy="0"/>
            </a:xfrm>
            <a:prstGeom prst="line">
              <a:avLst/>
            </a:prstGeom>
            <a:noFill/>
            <a:ln w="22225">
              <a:solidFill>
                <a:srgbClr val="080808"/>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9963" name="Line 29"/>
            <p:cNvSpPr>
              <a:spLocks noChangeShapeType="1"/>
            </p:cNvSpPr>
            <p:nvPr/>
          </p:nvSpPr>
          <p:spPr bwMode="auto">
            <a:xfrm>
              <a:off x="207" y="1988"/>
              <a:ext cx="229" cy="0"/>
            </a:xfrm>
            <a:prstGeom prst="line">
              <a:avLst/>
            </a:prstGeom>
            <a:noFill/>
            <a:ln w="22225">
              <a:solidFill>
                <a:srgbClr val="080808"/>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sp>
        <p:nvSpPr>
          <p:cNvPr id="30" name="横卷形 29"/>
          <p:cNvSpPr/>
          <p:nvPr/>
        </p:nvSpPr>
        <p:spPr bwMode="auto">
          <a:xfrm>
            <a:off x="632964" y="380024"/>
            <a:ext cx="936104" cy="582613"/>
          </a:xfrm>
          <a:prstGeom prst="horizontalScroll">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zh-CN" altLang="en-US" dirty="0">
                <a:latin typeface="黑体" panose="02010609060101010101" pitchFamily="49" charset="-122"/>
                <a:ea typeface="黑体" panose="02010609060101010101" pitchFamily="49" charset="-122"/>
              </a:rPr>
              <a:t>小结</a:t>
            </a:r>
            <a:endParaRPr kumimoji="1"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10384573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6083"/>
                                        </p:tgtEl>
                                        <p:attrNameLst>
                                          <p:attrName>style.visibility</p:attrName>
                                        </p:attrNameLst>
                                      </p:cBhvr>
                                      <p:to>
                                        <p:strVal val="visible"/>
                                      </p:to>
                                    </p:set>
                                    <p:animEffect transition="in" filter="fade">
                                      <p:cBhvr>
                                        <p:cTn id="7" dur="500"/>
                                        <p:tgtEl>
                                          <p:spTgt spid="21608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6067"/>
                                        </p:tgtEl>
                                        <p:attrNameLst>
                                          <p:attrName>style.visibility</p:attrName>
                                        </p:attrNameLst>
                                      </p:cBhvr>
                                      <p:to>
                                        <p:strVal val="visible"/>
                                      </p:to>
                                    </p:set>
                                    <p:animEffect transition="in" filter="fade">
                                      <p:cBhvr>
                                        <p:cTn id="12" dur="500"/>
                                        <p:tgtEl>
                                          <p:spTgt spid="21606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216068"/>
                                        </p:tgtEl>
                                        <p:attrNameLst>
                                          <p:attrName>style.visibility</p:attrName>
                                        </p:attrNameLst>
                                      </p:cBhvr>
                                      <p:to>
                                        <p:strVal val="visible"/>
                                      </p:to>
                                    </p:set>
                                    <p:animEffect transition="in" filter="fade">
                                      <p:cBhvr>
                                        <p:cTn id="17" dur="500"/>
                                        <p:tgtEl>
                                          <p:spTgt spid="21606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16071"/>
                                        </p:tgtEl>
                                        <p:attrNameLst>
                                          <p:attrName>style.visibility</p:attrName>
                                        </p:attrNameLst>
                                      </p:cBhvr>
                                      <p:to>
                                        <p:strVal val="visible"/>
                                      </p:to>
                                    </p:set>
                                    <p:animEffect transition="in" filter="fade">
                                      <p:cBhvr>
                                        <p:cTn id="22" dur="500"/>
                                        <p:tgtEl>
                                          <p:spTgt spid="21607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16072"/>
                                        </p:tgtEl>
                                        <p:attrNameLst>
                                          <p:attrName>style.visibility</p:attrName>
                                        </p:attrNameLst>
                                      </p:cBhvr>
                                      <p:to>
                                        <p:strVal val="visible"/>
                                      </p:to>
                                    </p:set>
                                    <p:animEffect transition="in" filter="fade">
                                      <p:cBhvr>
                                        <p:cTn id="27" dur="500"/>
                                        <p:tgtEl>
                                          <p:spTgt spid="21607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16073"/>
                                        </p:tgtEl>
                                        <p:attrNameLst>
                                          <p:attrName>style.visibility</p:attrName>
                                        </p:attrNameLst>
                                      </p:cBhvr>
                                      <p:to>
                                        <p:strVal val="visible"/>
                                      </p:to>
                                    </p:set>
                                    <p:animEffect transition="in" filter="fade">
                                      <p:cBhvr>
                                        <p:cTn id="32" dur="500"/>
                                        <p:tgtEl>
                                          <p:spTgt spid="21607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16074"/>
                                        </p:tgtEl>
                                        <p:attrNameLst>
                                          <p:attrName>style.visibility</p:attrName>
                                        </p:attrNameLst>
                                      </p:cBhvr>
                                      <p:to>
                                        <p:strVal val="visible"/>
                                      </p:to>
                                    </p:set>
                                    <p:animEffect transition="in" filter="fade">
                                      <p:cBhvr>
                                        <p:cTn id="37" dur="500"/>
                                        <p:tgtEl>
                                          <p:spTgt spid="21607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nodeType="clickEffect">
                                  <p:stCondLst>
                                    <p:cond delay="0"/>
                                  </p:stCondLst>
                                  <p:childTnLst>
                                    <p:set>
                                      <p:cBhvr>
                                        <p:cTn id="41" dur="1" fill="hold">
                                          <p:stCondLst>
                                            <p:cond delay="0"/>
                                          </p:stCondLst>
                                        </p:cTn>
                                        <p:tgtEl>
                                          <p:spTgt spid="216076"/>
                                        </p:tgtEl>
                                        <p:attrNameLst>
                                          <p:attrName>style.visibility</p:attrName>
                                        </p:attrNameLst>
                                      </p:cBhvr>
                                      <p:to>
                                        <p:strVal val="visible"/>
                                      </p:to>
                                    </p:set>
                                    <p:animEffect transition="in" filter="fade">
                                      <p:cBhvr>
                                        <p:cTn id="42" dur="500"/>
                                        <p:tgtEl>
                                          <p:spTgt spid="21607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16077"/>
                                        </p:tgtEl>
                                        <p:attrNameLst>
                                          <p:attrName>style.visibility</p:attrName>
                                        </p:attrNameLst>
                                      </p:cBhvr>
                                      <p:to>
                                        <p:strVal val="visible"/>
                                      </p:to>
                                    </p:set>
                                    <p:animEffect transition="in" filter="fade">
                                      <p:cBhvr>
                                        <p:cTn id="47" dur="500"/>
                                        <p:tgtEl>
                                          <p:spTgt spid="21607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16078"/>
                                        </p:tgtEl>
                                        <p:attrNameLst>
                                          <p:attrName>style.visibility</p:attrName>
                                        </p:attrNameLst>
                                      </p:cBhvr>
                                      <p:to>
                                        <p:strVal val="visible"/>
                                      </p:to>
                                    </p:set>
                                    <p:animEffect transition="in" filter="fade">
                                      <p:cBhvr>
                                        <p:cTn id="52" dur="500"/>
                                        <p:tgtEl>
                                          <p:spTgt spid="21607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0" presetClass="entr" presetSubtype="0" fill="hold" nodeType="clickEffect">
                                  <p:stCondLst>
                                    <p:cond delay="0"/>
                                  </p:stCondLst>
                                  <p:childTnLst>
                                    <p:set>
                                      <p:cBhvr>
                                        <p:cTn id="56" dur="1" fill="hold">
                                          <p:stCondLst>
                                            <p:cond delay="0"/>
                                          </p:stCondLst>
                                        </p:cTn>
                                        <p:tgtEl>
                                          <p:spTgt spid="216082"/>
                                        </p:tgtEl>
                                        <p:attrNameLst>
                                          <p:attrName>style.visibility</p:attrName>
                                        </p:attrNameLst>
                                      </p:cBhvr>
                                      <p:to>
                                        <p:strVal val="visible"/>
                                      </p:to>
                                    </p:set>
                                    <p:animEffect transition="in" filter="fade">
                                      <p:cBhvr>
                                        <p:cTn id="57" dur="500"/>
                                        <p:tgtEl>
                                          <p:spTgt spid="216082"/>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16075"/>
                                        </p:tgtEl>
                                        <p:attrNameLst>
                                          <p:attrName>style.visibility</p:attrName>
                                        </p:attrNameLst>
                                      </p:cBhvr>
                                      <p:to>
                                        <p:strVal val="visible"/>
                                      </p:to>
                                    </p:set>
                                    <p:animEffect transition="in" filter="fade">
                                      <p:cBhvr>
                                        <p:cTn id="62" dur="500"/>
                                        <p:tgtEl>
                                          <p:spTgt spid="216075"/>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0" presetClass="entr" presetSubtype="0" fill="hold" nodeType="clickEffect">
                                  <p:stCondLst>
                                    <p:cond delay="0"/>
                                  </p:stCondLst>
                                  <p:childTnLst>
                                    <p:set>
                                      <p:cBhvr>
                                        <p:cTn id="66" dur="1" fill="hold">
                                          <p:stCondLst>
                                            <p:cond delay="0"/>
                                          </p:stCondLst>
                                        </p:cTn>
                                        <p:tgtEl>
                                          <p:spTgt spid="216079"/>
                                        </p:tgtEl>
                                        <p:attrNameLst>
                                          <p:attrName>style.visibility</p:attrName>
                                        </p:attrNameLst>
                                      </p:cBhvr>
                                      <p:to>
                                        <p:strVal val="visible"/>
                                      </p:to>
                                    </p:set>
                                    <p:animEffect transition="in" filter="fade">
                                      <p:cBhvr>
                                        <p:cTn id="67" dur="500"/>
                                        <p:tgtEl>
                                          <p:spTgt spid="216079"/>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216080"/>
                                        </p:tgtEl>
                                        <p:attrNameLst>
                                          <p:attrName>style.visibility</p:attrName>
                                        </p:attrNameLst>
                                      </p:cBhvr>
                                      <p:to>
                                        <p:strVal val="visible"/>
                                      </p:to>
                                    </p:set>
                                    <p:animEffect transition="in" filter="fade">
                                      <p:cBhvr>
                                        <p:cTn id="72" dur="500"/>
                                        <p:tgtEl>
                                          <p:spTgt spid="216080"/>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16081"/>
                                        </p:tgtEl>
                                        <p:attrNameLst>
                                          <p:attrName>style.visibility</p:attrName>
                                        </p:attrNameLst>
                                      </p:cBhvr>
                                      <p:to>
                                        <p:strVal val="visible"/>
                                      </p:to>
                                    </p:set>
                                    <p:animEffect transition="in" filter="fade">
                                      <p:cBhvr>
                                        <p:cTn id="77" dur="500"/>
                                        <p:tgtEl>
                                          <p:spTgt spid="216081"/>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16084"/>
                                        </p:tgtEl>
                                        <p:attrNameLst>
                                          <p:attrName>style.visibility</p:attrName>
                                        </p:attrNameLst>
                                      </p:cBhvr>
                                      <p:to>
                                        <p:strVal val="visible"/>
                                      </p:to>
                                    </p:set>
                                    <p:animEffect transition="in" filter="fade">
                                      <p:cBhvr>
                                        <p:cTn id="82" dur="500"/>
                                        <p:tgtEl>
                                          <p:spTgt spid="216084"/>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216085"/>
                                        </p:tgtEl>
                                        <p:attrNameLst>
                                          <p:attrName>style.visibility</p:attrName>
                                        </p:attrNameLst>
                                      </p:cBhvr>
                                      <p:to>
                                        <p:strVal val="visible"/>
                                      </p:to>
                                    </p:set>
                                    <p:animEffect transition="in" filter="wipe(left)">
                                      <p:cBhvr>
                                        <p:cTn id="87" dur="500"/>
                                        <p:tgtEl>
                                          <p:spTgt spid="216085"/>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216086"/>
                                        </p:tgtEl>
                                        <p:attrNameLst>
                                          <p:attrName>style.visibility</p:attrName>
                                        </p:attrNameLst>
                                      </p:cBhvr>
                                      <p:to>
                                        <p:strVal val="visible"/>
                                      </p:to>
                                    </p:set>
                                    <p:animEffect transition="in" filter="fade">
                                      <p:cBhvr>
                                        <p:cTn id="92" dur="500"/>
                                        <p:tgtEl>
                                          <p:spTgt spid="216086"/>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216087"/>
                                        </p:tgtEl>
                                        <p:attrNameLst>
                                          <p:attrName>style.visibility</p:attrName>
                                        </p:attrNameLst>
                                      </p:cBhvr>
                                      <p:to>
                                        <p:strVal val="visible"/>
                                      </p:to>
                                    </p:set>
                                    <p:animEffect transition="in" filter="fade">
                                      <p:cBhvr>
                                        <p:cTn id="97" dur="500"/>
                                        <p:tgtEl>
                                          <p:spTgt spid="216087"/>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3" presetClass="entr" presetSubtype="10" fill="hold" nodeType="clickEffect">
                                  <p:stCondLst>
                                    <p:cond delay="0"/>
                                  </p:stCondLst>
                                  <p:childTnLst>
                                    <p:set>
                                      <p:cBhvr>
                                        <p:cTn id="101" dur="1" fill="hold">
                                          <p:stCondLst>
                                            <p:cond delay="0"/>
                                          </p:stCondLst>
                                        </p:cTn>
                                        <p:tgtEl>
                                          <p:spTgt spid="216094"/>
                                        </p:tgtEl>
                                        <p:attrNameLst>
                                          <p:attrName>style.visibility</p:attrName>
                                        </p:attrNameLst>
                                      </p:cBhvr>
                                      <p:to>
                                        <p:strVal val="visible"/>
                                      </p:to>
                                    </p:set>
                                    <p:animEffect transition="in" filter="blinds(horizontal)">
                                      <p:cBhvr>
                                        <p:cTn id="102" dur="500"/>
                                        <p:tgtEl>
                                          <p:spTgt spid="2160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067" grpId="0" autoUpdateAnimBg="0"/>
      <p:bldP spid="216071" grpId="0" autoUpdateAnimBg="0"/>
      <p:bldP spid="216072" grpId="0" animBg="1"/>
      <p:bldP spid="216073" grpId="0" animBg="1"/>
      <p:bldP spid="216074" grpId="0" autoUpdateAnimBg="0"/>
      <p:bldP spid="216075" grpId="0" autoUpdateAnimBg="0"/>
      <p:bldP spid="216077" grpId="0" animBg="1"/>
      <p:bldP spid="216078" grpId="0" autoUpdateAnimBg="0"/>
      <p:bldP spid="216080" grpId="0" animBg="1"/>
      <p:bldP spid="216081" grpId="0" autoUpdateAnimBg="0"/>
      <p:bldP spid="216083" grpId="0" autoUpdateAnimBg="0"/>
      <p:bldP spid="216084" grpId="0" autoUpdateAnimBg="0"/>
      <p:bldP spid="216085" grpId="0" autoUpdateAnimBg="0"/>
      <p:bldP spid="216086" grpId="0" animBg="1"/>
      <p:bldP spid="216087" grpId="0"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564" name="Text Box 52"/>
          <p:cNvSpPr txBox="1">
            <a:spLocks noChangeArrowheads="1"/>
          </p:cNvSpPr>
          <p:nvPr/>
        </p:nvSpPr>
        <p:spPr bwMode="auto">
          <a:xfrm>
            <a:off x="658242" y="642292"/>
            <a:ext cx="352901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en-US" b="1" dirty="0">
                <a:solidFill>
                  <a:srgbClr val="FF0000"/>
                </a:solidFill>
                <a:latin typeface="黑体" panose="02010609060101010101" pitchFamily="49" charset="-122"/>
                <a:ea typeface="黑体" panose="02010609060101010101" pitchFamily="49" charset="-122"/>
              </a:rPr>
              <a:t>材料的力学性质</a:t>
            </a:r>
          </a:p>
        </p:txBody>
      </p:sp>
      <p:graphicFrame>
        <p:nvGraphicFramePr>
          <p:cNvPr id="64600" name="Object 2"/>
          <p:cNvGraphicFramePr>
            <a:graphicFrameLocks noGrp="1" noChangeAspect="1"/>
          </p:cNvGraphicFramePr>
          <p:nvPr>
            <p:ph sz="quarter" idx="1"/>
            <p:extLst>
              <p:ext uri="{D42A27DB-BD31-4B8C-83A1-F6EECF244321}">
                <p14:modId xmlns:p14="http://schemas.microsoft.com/office/powerpoint/2010/main" val="1866755967"/>
              </p:ext>
            </p:extLst>
          </p:nvPr>
        </p:nvGraphicFramePr>
        <p:xfrm>
          <a:off x="1425639" y="2052522"/>
          <a:ext cx="415925" cy="1106487"/>
        </p:xfrm>
        <a:graphic>
          <a:graphicData uri="http://schemas.openxmlformats.org/presentationml/2006/ole">
            <mc:AlternateContent xmlns:mc="http://schemas.openxmlformats.org/markup-compatibility/2006">
              <mc:Choice xmlns:v="urn:schemas-microsoft-com:vml" Requires="v">
                <p:oleObj name="公式" r:id="rId2" imgW="164885" imgH="215619" progId="Equation.3">
                  <p:embed/>
                </p:oleObj>
              </mc:Choice>
              <mc:Fallback>
                <p:oleObj name="公式" r:id="rId2" imgW="164885" imgH="215619"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5639" y="2052522"/>
                        <a:ext cx="415925" cy="1106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571" name="Text Box 59"/>
          <p:cNvSpPr txBox="1">
            <a:spLocks noChangeArrowheads="1"/>
          </p:cNvSpPr>
          <p:nvPr/>
        </p:nvSpPr>
        <p:spPr bwMode="auto">
          <a:xfrm>
            <a:off x="539750" y="1268413"/>
            <a:ext cx="2303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en-US" sz="2400" b="1" dirty="0">
                <a:latin typeface="黑体" panose="02010609060101010101" pitchFamily="49" charset="-122"/>
                <a:ea typeface="黑体" panose="02010609060101010101" pitchFamily="49" charset="-122"/>
              </a:rPr>
              <a:t>一、四大指标</a:t>
            </a:r>
          </a:p>
        </p:txBody>
      </p:sp>
      <p:grpSp>
        <p:nvGrpSpPr>
          <p:cNvPr id="2" name="Group 144"/>
          <p:cNvGrpSpPr>
            <a:grpSpLocks/>
          </p:cNvGrpSpPr>
          <p:nvPr/>
        </p:nvGrpSpPr>
        <p:grpSpPr bwMode="auto">
          <a:xfrm>
            <a:off x="1570101" y="2709746"/>
            <a:ext cx="1789113" cy="576262"/>
            <a:chOff x="1066" y="1667"/>
            <a:chExt cx="1127" cy="363"/>
          </a:xfrm>
        </p:grpSpPr>
        <p:graphicFrame>
          <p:nvGraphicFramePr>
            <p:cNvPr id="7203" name="Object 10"/>
            <p:cNvGraphicFramePr>
              <a:graphicFrameLocks noChangeAspect="1"/>
            </p:cNvGraphicFramePr>
            <p:nvPr>
              <p:extLst>
                <p:ext uri="{D42A27DB-BD31-4B8C-83A1-F6EECF244321}">
                  <p14:modId xmlns:p14="http://schemas.microsoft.com/office/powerpoint/2010/main" val="916482769"/>
                </p:ext>
              </p:extLst>
            </p:nvPr>
          </p:nvGraphicFramePr>
          <p:xfrm>
            <a:off x="1929" y="1667"/>
            <a:ext cx="264" cy="363"/>
          </p:xfrm>
          <a:graphic>
            <a:graphicData uri="http://schemas.openxmlformats.org/presentationml/2006/ole">
              <mc:AlternateContent xmlns:mc="http://schemas.openxmlformats.org/markup-compatibility/2006">
                <mc:Choice xmlns:v="urn:schemas-microsoft-com:vml" Requires="v">
                  <p:oleObj name="公式" r:id="rId4" imgW="190500" imgH="228600" progId="Equation.3">
                    <p:embed/>
                  </p:oleObj>
                </mc:Choice>
                <mc:Fallback>
                  <p:oleObj name="公式" r:id="rId4" imgW="190500" imgH="2286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29" y="1667"/>
                          <a:ext cx="264" cy="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04" name="Text Box 91"/>
            <p:cNvSpPr txBox="1">
              <a:spLocks noChangeArrowheads="1"/>
            </p:cNvSpPr>
            <p:nvPr/>
          </p:nvSpPr>
          <p:spPr bwMode="auto">
            <a:xfrm>
              <a:off x="1066" y="1706"/>
              <a:ext cx="94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en-US" b="1" dirty="0">
                  <a:solidFill>
                    <a:srgbClr val="0000FF"/>
                  </a:solidFill>
                  <a:latin typeface="楷体" panose="02010609060101010101" pitchFamily="49" charset="-122"/>
                  <a:ea typeface="楷体" panose="02010609060101010101" pitchFamily="49" charset="-122"/>
                </a:rPr>
                <a:t>强度极限</a:t>
              </a:r>
            </a:p>
          </p:txBody>
        </p:sp>
      </p:grpSp>
      <p:grpSp>
        <p:nvGrpSpPr>
          <p:cNvPr id="3" name="Group 143"/>
          <p:cNvGrpSpPr>
            <a:grpSpLocks/>
          </p:cNvGrpSpPr>
          <p:nvPr/>
        </p:nvGrpSpPr>
        <p:grpSpPr bwMode="auto">
          <a:xfrm>
            <a:off x="1570101" y="1850909"/>
            <a:ext cx="1781176" cy="576262"/>
            <a:chOff x="1066" y="1126"/>
            <a:chExt cx="1122" cy="363"/>
          </a:xfrm>
        </p:grpSpPr>
        <p:graphicFrame>
          <p:nvGraphicFramePr>
            <p:cNvPr id="7201" name="Object 9"/>
            <p:cNvGraphicFramePr>
              <a:graphicFrameLocks noChangeAspect="1"/>
            </p:cNvGraphicFramePr>
            <p:nvPr>
              <p:extLst>
                <p:ext uri="{D42A27DB-BD31-4B8C-83A1-F6EECF244321}">
                  <p14:modId xmlns:p14="http://schemas.microsoft.com/office/powerpoint/2010/main" val="1090331661"/>
                </p:ext>
              </p:extLst>
            </p:nvPr>
          </p:nvGraphicFramePr>
          <p:xfrm>
            <a:off x="1886" y="1126"/>
            <a:ext cx="302" cy="363"/>
          </p:xfrm>
          <a:graphic>
            <a:graphicData uri="http://schemas.openxmlformats.org/presentationml/2006/ole">
              <mc:AlternateContent xmlns:mc="http://schemas.openxmlformats.org/markup-compatibility/2006">
                <mc:Choice xmlns:v="urn:schemas-microsoft-com:vml" Requires="v">
                  <p:oleObj name="公式" r:id="rId6" imgW="190500" imgH="228600" progId="Equation.3">
                    <p:embed/>
                  </p:oleObj>
                </mc:Choice>
                <mc:Fallback>
                  <p:oleObj name="公式" r:id="rId6" imgW="190500" imgH="2286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86" y="1126"/>
                          <a:ext cx="302" cy="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02" name="Text Box 92"/>
            <p:cNvSpPr txBox="1">
              <a:spLocks noChangeArrowheads="1"/>
            </p:cNvSpPr>
            <p:nvPr/>
          </p:nvSpPr>
          <p:spPr bwMode="auto">
            <a:xfrm>
              <a:off x="1066" y="1162"/>
              <a:ext cx="98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en-US" b="1" dirty="0">
                  <a:solidFill>
                    <a:srgbClr val="0000FF"/>
                  </a:solidFill>
                  <a:latin typeface="楷体" panose="02010609060101010101" pitchFamily="49" charset="-122"/>
                  <a:ea typeface="楷体" panose="02010609060101010101" pitchFamily="49" charset="-122"/>
                </a:rPr>
                <a:t>屈服极限</a:t>
              </a:r>
            </a:p>
          </p:txBody>
        </p:sp>
      </p:grpSp>
      <p:sp>
        <p:nvSpPr>
          <p:cNvPr id="64619" name="Text Box 107"/>
          <p:cNvSpPr txBox="1">
            <a:spLocks noChangeArrowheads="1"/>
          </p:cNvSpPr>
          <p:nvPr/>
        </p:nvSpPr>
        <p:spPr bwMode="auto">
          <a:xfrm>
            <a:off x="355843" y="3964682"/>
            <a:ext cx="10080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en-US" b="1" dirty="0">
                <a:solidFill>
                  <a:srgbClr val="FF0000"/>
                </a:solidFill>
                <a:latin typeface="黑体" panose="02010609060101010101" pitchFamily="49" charset="-122"/>
                <a:ea typeface="黑体" panose="02010609060101010101" pitchFamily="49" charset="-122"/>
              </a:rPr>
              <a:t>塑材：</a:t>
            </a:r>
          </a:p>
        </p:txBody>
      </p:sp>
      <p:sp>
        <p:nvSpPr>
          <p:cNvPr id="64622" name="Text Box 110"/>
          <p:cNvSpPr txBox="1">
            <a:spLocks noChangeArrowheads="1"/>
          </p:cNvSpPr>
          <p:nvPr/>
        </p:nvSpPr>
        <p:spPr bwMode="auto">
          <a:xfrm>
            <a:off x="616052" y="2340520"/>
            <a:ext cx="1152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en-US" sz="2400" b="1" dirty="0">
                <a:solidFill>
                  <a:srgbClr val="0000FF"/>
                </a:solidFill>
                <a:latin typeface="楷体" panose="02010609060101010101" pitchFamily="49" charset="-122"/>
                <a:ea typeface="楷体" panose="02010609060101010101" pitchFamily="49" charset="-122"/>
              </a:rPr>
              <a:t>强度</a:t>
            </a:r>
          </a:p>
        </p:txBody>
      </p:sp>
      <p:sp>
        <p:nvSpPr>
          <p:cNvPr id="64632" name="Text Box 120"/>
          <p:cNvSpPr txBox="1">
            <a:spLocks noChangeArrowheads="1"/>
          </p:cNvSpPr>
          <p:nvPr/>
        </p:nvSpPr>
        <p:spPr bwMode="auto">
          <a:xfrm>
            <a:off x="3507752" y="2256023"/>
            <a:ext cx="1152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en-US" sz="2400" b="1" dirty="0">
                <a:solidFill>
                  <a:srgbClr val="0000FF"/>
                </a:solidFill>
                <a:latin typeface="楷体" panose="02010609060101010101" pitchFamily="49" charset="-122"/>
                <a:ea typeface="楷体" panose="02010609060101010101" pitchFamily="49" charset="-122"/>
              </a:rPr>
              <a:t>塑性</a:t>
            </a:r>
          </a:p>
        </p:txBody>
      </p:sp>
      <p:graphicFrame>
        <p:nvGraphicFramePr>
          <p:cNvPr id="64633" name="Object 3"/>
          <p:cNvGraphicFramePr>
            <a:graphicFrameLocks noChangeAspect="1"/>
          </p:cNvGraphicFramePr>
          <p:nvPr>
            <p:extLst>
              <p:ext uri="{D42A27DB-BD31-4B8C-83A1-F6EECF244321}">
                <p14:modId xmlns:p14="http://schemas.microsoft.com/office/powerpoint/2010/main" val="946506994"/>
              </p:ext>
            </p:extLst>
          </p:nvPr>
        </p:nvGraphicFramePr>
        <p:xfrm>
          <a:off x="4376115" y="1989323"/>
          <a:ext cx="415925" cy="1106487"/>
        </p:xfrm>
        <a:graphic>
          <a:graphicData uri="http://schemas.openxmlformats.org/presentationml/2006/ole">
            <mc:AlternateContent xmlns:mc="http://schemas.openxmlformats.org/markup-compatibility/2006">
              <mc:Choice xmlns:v="urn:schemas-microsoft-com:vml" Requires="v">
                <p:oleObj name="公式" r:id="rId8" imgW="164885" imgH="215619" progId="Equation.3">
                  <p:embed/>
                </p:oleObj>
              </mc:Choice>
              <mc:Fallback>
                <p:oleObj name="公式" r:id="rId8" imgW="164885" imgH="215619"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76115" y="1989323"/>
                        <a:ext cx="415925" cy="1106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 name="Group 147"/>
          <p:cNvGrpSpPr>
            <a:grpSpLocks/>
          </p:cNvGrpSpPr>
          <p:nvPr/>
        </p:nvGrpSpPr>
        <p:grpSpPr bwMode="auto">
          <a:xfrm>
            <a:off x="4584078" y="2610828"/>
            <a:ext cx="4011613" cy="696913"/>
            <a:chOff x="3016" y="1632"/>
            <a:chExt cx="2527" cy="439"/>
          </a:xfrm>
        </p:grpSpPr>
        <p:graphicFrame>
          <p:nvGraphicFramePr>
            <p:cNvPr id="7199" name="Object 8"/>
            <p:cNvGraphicFramePr>
              <a:graphicFrameLocks noChangeAspect="1"/>
            </p:cNvGraphicFramePr>
            <p:nvPr>
              <p:extLst>
                <p:ext uri="{D42A27DB-BD31-4B8C-83A1-F6EECF244321}">
                  <p14:modId xmlns:p14="http://schemas.microsoft.com/office/powerpoint/2010/main" val="2762293300"/>
                </p:ext>
              </p:extLst>
            </p:nvPr>
          </p:nvGraphicFramePr>
          <p:xfrm>
            <a:off x="4094" y="1632"/>
            <a:ext cx="1449" cy="439"/>
          </p:xfrm>
          <a:graphic>
            <a:graphicData uri="http://schemas.openxmlformats.org/presentationml/2006/ole">
              <mc:AlternateContent xmlns:mc="http://schemas.openxmlformats.org/markup-compatibility/2006">
                <mc:Choice xmlns:v="urn:schemas-microsoft-com:vml" Requires="v">
                  <p:oleObj name="公式" r:id="rId9" imgW="1167893" imgH="393529" progId="Equation.3">
                    <p:embed/>
                  </p:oleObj>
                </mc:Choice>
                <mc:Fallback>
                  <p:oleObj name="公式" r:id="rId9" imgW="1167893" imgH="393529"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94" y="1632"/>
                          <a:ext cx="1449" cy="4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00" name="Text Box 122"/>
            <p:cNvSpPr txBox="1">
              <a:spLocks noChangeArrowheads="1"/>
            </p:cNvSpPr>
            <p:nvPr/>
          </p:nvSpPr>
          <p:spPr bwMode="auto">
            <a:xfrm>
              <a:off x="3016" y="1722"/>
              <a:ext cx="116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en-US" b="1" dirty="0">
                  <a:solidFill>
                    <a:srgbClr val="0000FF"/>
                  </a:solidFill>
                  <a:latin typeface="楷体" panose="02010609060101010101" pitchFamily="49" charset="-122"/>
                  <a:ea typeface="楷体" panose="02010609060101010101" pitchFamily="49" charset="-122"/>
                </a:rPr>
                <a:t>断面收缩率</a:t>
              </a:r>
              <a:r>
                <a:rPr lang="zh-CN" altLang="en-US" sz="2000" b="1" dirty="0">
                  <a:solidFill>
                    <a:srgbClr val="0033CC"/>
                  </a:solidFill>
                  <a:latin typeface="Calibri" panose="020F0502020204030204" pitchFamily="34" charset="0"/>
                  <a:ea typeface="宋体" panose="02010600030101010101" pitchFamily="2" charset="-122"/>
                </a:rPr>
                <a:t> </a:t>
              </a:r>
            </a:p>
          </p:txBody>
        </p:sp>
      </p:grpSp>
      <p:grpSp>
        <p:nvGrpSpPr>
          <p:cNvPr id="5" name="Group 146"/>
          <p:cNvGrpSpPr>
            <a:grpSpLocks/>
          </p:cNvGrpSpPr>
          <p:nvPr/>
        </p:nvGrpSpPr>
        <p:grpSpPr bwMode="auto">
          <a:xfrm>
            <a:off x="4587252" y="1638485"/>
            <a:ext cx="3709988" cy="800100"/>
            <a:chOff x="3016" y="1008"/>
            <a:chExt cx="2337" cy="504"/>
          </a:xfrm>
        </p:grpSpPr>
        <p:graphicFrame>
          <p:nvGraphicFramePr>
            <p:cNvPr id="7197" name="Object 7"/>
            <p:cNvGraphicFramePr>
              <a:graphicFrameLocks noChangeAspect="1"/>
            </p:cNvGraphicFramePr>
            <p:nvPr/>
          </p:nvGraphicFramePr>
          <p:xfrm>
            <a:off x="3969" y="1008"/>
            <a:ext cx="1384" cy="504"/>
          </p:xfrm>
          <a:graphic>
            <a:graphicData uri="http://schemas.openxmlformats.org/presentationml/2006/ole">
              <mc:AlternateContent xmlns:mc="http://schemas.openxmlformats.org/markup-compatibility/2006">
                <mc:Choice xmlns:v="urn:schemas-microsoft-com:vml" Requires="v">
                  <p:oleObj name="公式" r:id="rId11" imgW="1129810" imgH="393529" progId="Equation.3">
                    <p:embed/>
                  </p:oleObj>
                </mc:Choice>
                <mc:Fallback>
                  <p:oleObj name="公式" r:id="rId11" imgW="1129810" imgH="393529"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69" y="1008"/>
                          <a:ext cx="1384" cy="5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98" name="Text Box 123"/>
            <p:cNvSpPr txBox="1">
              <a:spLocks noChangeArrowheads="1"/>
            </p:cNvSpPr>
            <p:nvPr/>
          </p:nvSpPr>
          <p:spPr bwMode="auto">
            <a:xfrm>
              <a:off x="3016" y="1133"/>
              <a:ext cx="86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en-US" b="1" dirty="0">
                  <a:solidFill>
                    <a:srgbClr val="0000FF"/>
                  </a:solidFill>
                  <a:latin typeface="楷体" panose="02010609060101010101" pitchFamily="49" charset="-122"/>
                  <a:ea typeface="楷体" panose="02010609060101010101" pitchFamily="49" charset="-122"/>
                </a:rPr>
                <a:t>延伸率</a:t>
              </a:r>
            </a:p>
          </p:txBody>
        </p:sp>
      </p:grpSp>
      <p:sp>
        <p:nvSpPr>
          <p:cNvPr id="64637" name="Text Box 125"/>
          <p:cNvSpPr txBox="1">
            <a:spLocks noChangeArrowheads="1"/>
          </p:cNvSpPr>
          <p:nvPr/>
        </p:nvSpPr>
        <p:spPr bwMode="auto">
          <a:xfrm>
            <a:off x="611188" y="3429000"/>
            <a:ext cx="2447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en-US" sz="2400" b="1" dirty="0">
                <a:latin typeface="黑体" panose="02010609060101010101" pitchFamily="49" charset="-122"/>
                <a:ea typeface="黑体" panose="02010609060101010101" pitchFamily="49" charset="-122"/>
              </a:rPr>
              <a:t>二、塑、脆对比</a:t>
            </a:r>
          </a:p>
        </p:txBody>
      </p:sp>
      <p:sp>
        <p:nvSpPr>
          <p:cNvPr id="64638" name="Text Box 126"/>
          <p:cNvSpPr txBox="1">
            <a:spLocks noChangeArrowheads="1"/>
          </p:cNvSpPr>
          <p:nvPr/>
        </p:nvSpPr>
        <p:spPr bwMode="auto">
          <a:xfrm>
            <a:off x="1383572" y="3998717"/>
            <a:ext cx="29813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en-US" sz="2000" b="1" dirty="0">
                <a:latin typeface="楷体" panose="02010609060101010101" pitchFamily="49" charset="-122"/>
                <a:ea typeface="楷体" panose="02010609060101010101" pitchFamily="49" charset="-122"/>
              </a:rPr>
              <a:t>三有（线、屈、局）；</a:t>
            </a:r>
          </a:p>
        </p:txBody>
      </p:sp>
      <p:sp>
        <p:nvSpPr>
          <p:cNvPr id="64639" name="Text Box 127"/>
          <p:cNvSpPr txBox="1">
            <a:spLocks noChangeArrowheads="1"/>
          </p:cNvSpPr>
          <p:nvPr/>
        </p:nvSpPr>
        <p:spPr bwMode="auto">
          <a:xfrm>
            <a:off x="366162" y="4538864"/>
            <a:ext cx="12039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en-US" b="1" dirty="0">
                <a:solidFill>
                  <a:srgbClr val="FF0000"/>
                </a:solidFill>
                <a:latin typeface="黑体" panose="02010609060101010101" pitchFamily="49" charset="-122"/>
                <a:ea typeface="黑体" panose="02010609060101010101" pitchFamily="49" charset="-122"/>
              </a:rPr>
              <a:t>脆材：</a:t>
            </a:r>
          </a:p>
        </p:txBody>
      </p:sp>
      <p:sp>
        <p:nvSpPr>
          <p:cNvPr id="64641" name="Text Box 129"/>
          <p:cNvSpPr txBox="1">
            <a:spLocks noChangeArrowheads="1"/>
          </p:cNvSpPr>
          <p:nvPr/>
        </p:nvSpPr>
        <p:spPr bwMode="auto">
          <a:xfrm>
            <a:off x="4060891" y="3991974"/>
            <a:ext cx="323544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en-US" sz="2000" b="1" dirty="0">
                <a:latin typeface="楷体" panose="02010609060101010101" pitchFamily="49" charset="-122"/>
                <a:ea typeface="楷体" panose="02010609060101010101" pitchFamily="49" charset="-122"/>
              </a:rPr>
              <a:t>二大（塑变、面积）；</a:t>
            </a:r>
          </a:p>
        </p:txBody>
      </p:sp>
      <p:grpSp>
        <p:nvGrpSpPr>
          <p:cNvPr id="6" name="Group 134"/>
          <p:cNvGrpSpPr>
            <a:grpSpLocks/>
          </p:cNvGrpSpPr>
          <p:nvPr/>
        </p:nvGrpSpPr>
        <p:grpSpPr bwMode="auto">
          <a:xfrm>
            <a:off x="6640843" y="3964682"/>
            <a:ext cx="2160588" cy="503237"/>
            <a:chOff x="4150" y="2646"/>
            <a:chExt cx="1361" cy="317"/>
          </a:xfrm>
        </p:grpSpPr>
        <p:sp>
          <p:nvSpPr>
            <p:cNvPr id="7195" name="Text Box 130"/>
            <p:cNvSpPr txBox="1">
              <a:spLocks noChangeArrowheads="1"/>
            </p:cNvSpPr>
            <p:nvPr/>
          </p:nvSpPr>
          <p:spPr bwMode="auto">
            <a:xfrm>
              <a:off x="4150" y="2675"/>
              <a:ext cx="136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en-US" sz="2000" b="1" dirty="0">
                  <a:latin typeface="楷体" panose="02010609060101010101" pitchFamily="49" charset="-122"/>
                  <a:ea typeface="楷体" panose="02010609060101010101" pitchFamily="49" charset="-122"/>
                </a:rPr>
                <a:t>一同</a:t>
              </a:r>
            </a:p>
          </p:txBody>
        </p:sp>
        <p:graphicFrame>
          <p:nvGraphicFramePr>
            <p:cNvPr id="7196" name="Object 6"/>
            <p:cNvGraphicFramePr>
              <a:graphicFrameLocks noChangeAspect="1"/>
            </p:cNvGraphicFramePr>
            <p:nvPr/>
          </p:nvGraphicFramePr>
          <p:xfrm>
            <a:off x="4649" y="2646"/>
            <a:ext cx="681" cy="317"/>
          </p:xfrm>
          <a:graphic>
            <a:graphicData uri="http://schemas.openxmlformats.org/presentationml/2006/ole">
              <mc:AlternateContent xmlns:mc="http://schemas.openxmlformats.org/markup-compatibility/2006">
                <mc:Choice xmlns:v="urn:schemas-microsoft-com:vml" Requires="v">
                  <p:oleObj name="公式" r:id="rId13" imgW="545863" imgH="241195" progId="Equation.3">
                    <p:embed/>
                  </p:oleObj>
                </mc:Choice>
                <mc:Fallback>
                  <p:oleObj name="公式" r:id="rId13" imgW="545863" imgH="241195"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649" y="2646"/>
                          <a:ext cx="681" cy="3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4647" name="Text Box 135"/>
          <p:cNvSpPr txBox="1">
            <a:spLocks noChangeArrowheads="1"/>
          </p:cNvSpPr>
          <p:nvPr/>
        </p:nvSpPr>
        <p:spPr bwMode="auto">
          <a:xfrm>
            <a:off x="1363906" y="4618736"/>
            <a:ext cx="2765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en-US" sz="2000" b="1" dirty="0">
                <a:latin typeface="楷体" panose="02010609060101010101" pitchFamily="49" charset="-122"/>
                <a:ea typeface="楷体" panose="02010609060101010101" pitchFamily="49" charset="-122"/>
              </a:rPr>
              <a:t>三无（线、屈、局）；</a:t>
            </a:r>
          </a:p>
        </p:txBody>
      </p:sp>
      <p:sp>
        <p:nvSpPr>
          <p:cNvPr id="64648" name="Text Box 136"/>
          <p:cNvSpPr txBox="1">
            <a:spLocks noChangeArrowheads="1"/>
          </p:cNvSpPr>
          <p:nvPr/>
        </p:nvSpPr>
        <p:spPr bwMode="auto">
          <a:xfrm>
            <a:off x="4060891" y="4627503"/>
            <a:ext cx="2765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en-US" sz="2000" b="1" dirty="0">
                <a:latin typeface="楷体" panose="02010609060101010101" pitchFamily="49" charset="-122"/>
                <a:ea typeface="楷体" panose="02010609060101010101" pitchFamily="49" charset="-122"/>
              </a:rPr>
              <a:t>二小（塑变、面积）；</a:t>
            </a:r>
          </a:p>
        </p:txBody>
      </p:sp>
      <p:grpSp>
        <p:nvGrpSpPr>
          <p:cNvPr id="7" name="Group 140"/>
          <p:cNvGrpSpPr>
            <a:grpSpLocks/>
          </p:cNvGrpSpPr>
          <p:nvPr/>
        </p:nvGrpSpPr>
        <p:grpSpPr bwMode="auto">
          <a:xfrm>
            <a:off x="6608763" y="4605338"/>
            <a:ext cx="2160587" cy="503237"/>
            <a:chOff x="4163" y="2976"/>
            <a:chExt cx="1361" cy="317"/>
          </a:xfrm>
        </p:grpSpPr>
        <p:sp>
          <p:nvSpPr>
            <p:cNvPr id="7193" name="Text Box 138"/>
            <p:cNvSpPr txBox="1">
              <a:spLocks noChangeArrowheads="1"/>
            </p:cNvSpPr>
            <p:nvPr/>
          </p:nvSpPr>
          <p:spPr bwMode="auto">
            <a:xfrm>
              <a:off x="4163" y="3006"/>
              <a:ext cx="136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en-US" sz="2000" b="1" dirty="0">
                  <a:latin typeface="楷体" panose="02010609060101010101" pitchFamily="49" charset="-122"/>
                  <a:ea typeface="楷体" panose="02010609060101010101" pitchFamily="49" charset="-122"/>
                </a:rPr>
                <a:t>一不同</a:t>
              </a:r>
            </a:p>
          </p:txBody>
        </p:sp>
        <p:graphicFrame>
          <p:nvGraphicFramePr>
            <p:cNvPr id="7194" name="Object 5"/>
            <p:cNvGraphicFramePr>
              <a:graphicFrameLocks noChangeAspect="1"/>
            </p:cNvGraphicFramePr>
            <p:nvPr/>
          </p:nvGraphicFramePr>
          <p:xfrm>
            <a:off x="4785" y="2976"/>
            <a:ext cx="681" cy="317"/>
          </p:xfrm>
          <a:graphic>
            <a:graphicData uri="http://schemas.openxmlformats.org/presentationml/2006/ole">
              <mc:AlternateContent xmlns:mc="http://schemas.openxmlformats.org/markup-compatibility/2006">
                <mc:Choice xmlns:v="urn:schemas-microsoft-com:vml" Requires="v">
                  <p:oleObj name="公式" r:id="rId15" imgW="545863" imgH="241195" progId="Equation.3">
                    <p:embed/>
                  </p:oleObj>
                </mc:Choice>
                <mc:Fallback>
                  <p:oleObj name="公式" r:id="rId15" imgW="545863" imgH="241195"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785" y="2976"/>
                          <a:ext cx="681" cy="3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4653" name="Text Box 141"/>
          <p:cNvSpPr txBox="1">
            <a:spLocks noChangeArrowheads="1"/>
          </p:cNvSpPr>
          <p:nvPr/>
        </p:nvSpPr>
        <p:spPr bwMode="auto">
          <a:xfrm>
            <a:off x="625471" y="5308553"/>
            <a:ext cx="2447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en-US" sz="2400" b="1" dirty="0">
                <a:latin typeface="黑体" panose="02010609060101010101" pitchFamily="49" charset="-122"/>
                <a:ea typeface="黑体" panose="02010609060101010101" pitchFamily="49" charset="-122"/>
              </a:rPr>
              <a:t>三、极限应力</a:t>
            </a:r>
          </a:p>
        </p:txBody>
      </p:sp>
      <p:graphicFrame>
        <p:nvGraphicFramePr>
          <p:cNvPr id="64654" name="Object 4"/>
          <p:cNvGraphicFramePr>
            <a:graphicFrameLocks noChangeAspect="1"/>
          </p:cNvGraphicFramePr>
          <p:nvPr>
            <p:extLst>
              <p:ext uri="{D42A27DB-BD31-4B8C-83A1-F6EECF244321}">
                <p14:modId xmlns:p14="http://schemas.microsoft.com/office/powerpoint/2010/main" val="2659476200"/>
              </p:ext>
            </p:extLst>
          </p:nvPr>
        </p:nvGraphicFramePr>
        <p:xfrm>
          <a:off x="3351277" y="5226003"/>
          <a:ext cx="1627188" cy="998537"/>
        </p:xfrm>
        <a:graphic>
          <a:graphicData uri="http://schemas.openxmlformats.org/presentationml/2006/ole">
            <mc:AlternateContent xmlns:mc="http://schemas.openxmlformats.org/markup-compatibility/2006">
              <mc:Choice xmlns:v="urn:schemas-microsoft-com:vml" Requires="v">
                <p:oleObj name="公式" r:id="rId17" imgW="952087" imgH="482391" progId="Equation.3">
                  <p:embed/>
                </p:oleObj>
              </mc:Choice>
              <mc:Fallback>
                <p:oleObj name="公式" r:id="rId17" imgW="952087" imgH="482391"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351277" y="5226003"/>
                        <a:ext cx="1627188" cy="998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298212872"/>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4571"/>
                                        </p:tgtEl>
                                        <p:attrNameLst>
                                          <p:attrName>style.visibility</p:attrName>
                                        </p:attrNameLst>
                                      </p:cBhvr>
                                      <p:to>
                                        <p:strVal val="visible"/>
                                      </p:to>
                                    </p:set>
                                    <p:animEffect transition="in" filter="slide(fromBottom)">
                                      <p:cBhvr>
                                        <p:cTn id="7" dur="500"/>
                                        <p:tgtEl>
                                          <p:spTgt spid="645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64622"/>
                                        </p:tgtEl>
                                        <p:attrNameLst>
                                          <p:attrName>style.visibility</p:attrName>
                                        </p:attrNameLst>
                                      </p:cBhvr>
                                      <p:to>
                                        <p:strVal val="visible"/>
                                      </p:to>
                                    </p:set>
                                    <p:animEffect transition="in" filter="slide(fromBottom)">
                                      <p:cBhvr>
                                        <p:cTn id="12" dur="500"/>
                                        <p:tgtEl>
                                          <p:spTgt spid="6462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64600"/>
                                        </p:tgtEl>
                                        <p:attrNameLst>
                                          <p:attrName>style.visibility</p:attrName>
                                        </p:attrNameLst>
                                      </p:cBhvr>
                                      <p:to>
                                        <p:strVal val="visible"/>
                                      </p:to>
                                    </p:set>
                                    <p:animEffect transition="in" filter="slide(fromBottom)">
                                      <p:cBhvr>
                                        <p:cTn id="17" dur="500"/>
                                        <p:tgtEl>
                                          <p:spTgt spid="6460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slide(fromBottom)">
                                      <p:cBhvr>
                                        <p:cTn id="22" dur="5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slide(fromBottom)">
                                      <p:cBhvr>
                                        <p:cTn id="27" dur="500"/>
                                        <p:tgtEl>
                                          <p:spTgt spid="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64632"/>
                                        </p:tgtEl>
                                        <p:attrNameLst>
                                          <p:attrName>style.visibility</p:attrName>
                                        </p:attrNameLst>
                                      </p:cBhvr>
                                      <p:to>
                                        <p:strVal val="visible"/>
                                      </p:to>
                                    </p:set>
                                    <p:animEffect transition="in" filter="slide(fromBottom)">
                                      <p:cBhvr>
                                        <p:cTn id="32" dur="500"/>
                                        <p:tgtEl>
                                          <p:spTgt spid="6463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nodeType="clickEffect">
                                  <p:stCondLst>
                                    <p:cond delay="0"/>
                                  </p:stCondLst>
                                  <p:childTnLst>
                                    <p:set>
                                      <p:cBhvr>
                                        <p:cTn id="36" dur="1" fill="hold">
                                          <p:stCondLst>
                                            <p:cond delay="0"/>
                                          </p:stCondLst>
                                        </p:cTn>
                                        <p:tgtEl>
                                          <p:spTgt spid="64633"/>
                                        </p:tgtEl>
                                        <p:attrNameLst>
                                          <p:attrName>style.visibility</p:attrName>
                                        </p:attrNameLst>
                                      </p:cBhvr>
                                      <p:to>
                                        <p:strVal val="visible"/>
                                      </p:to>
                                    </p:set>
                                    <p:animEffect transition="in" filter="slide(fromBottom)">
                                      <p:cBhvr>
                                        <p:cTn id="37" dur="500"/>
                                        <p:tgtEl>
                                          <p:spTgt spid="6463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4"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slide(fromBottom)">
                                      <p:cBhvr>
                                        <p:cTn id="42" dur="500"/>
                                        <p:tgtEl>
                                          <p:spTgt spid="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2" presetClass="entr" presetSubtype="4"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slide(fromBottom)">
                                      <p:cBhvr>
                                        <p:cTn id="47" dur="500"/>
                                        <p:tgtEl>
                                          <p:spTgt spid="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2" presetClass="entr" presetSubtype="4" fill="hold" grpId="0" nodeType="clickEffect">
                                  <p:stCondLst>
                                    <p:cond delay="0"/>
                                  </p:stCondLst>
                                  <p:childTnLst>
                                    <p:set>
                                      <p:cBhvr>
                                        <p:cTn id="51" dur="1" fill="hold">
                                          <p:stCondLst>
                                            <p:cond delay="0"/>
                                          </p:stCondLst>
                                        </p:cTn>
                                        <p:tgtEl>
                                          <p:spTgt spid="64637"/>
                                        </p:tgtEl>
                                        <p:attrNameLst>
                                          <p:attrName>style.visibility</p:attrName>
                                        </p:attrNameLst>
                                      </p:cBhvr>
                                      <p:to>
                                        <p:strVal val="visible"/>
                                      </p:to>
                                    </p:set>
                                    <p:animEffect transition="in" filter="slide(fromBottom)">
                                      <p:cBhvr>
                                        <p:cTn id="52" dur="500"/>
                                        <p:tgtEl>
                                          <p:spTgt spid="6463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2" presetClass="entr" presetSubtype="4" fill="hold" grpId="0" nodeType="clickEffect">
                                  <p:stCondLst>
                                    <p:cond delay="0"/>
                                  </p:stCondLst>
                                  <p:childTnLst>
                                    <p:set>
                                      <p:cBhvr>
                                        <p:cTn id="56" dur="1" fill="hold">
                                          <p:stCondLst>
                                            <p:cond delay="0"/>
                                          </p:stCondLst>
                                        </p:cTn>
                                        <p:tgtEl>
                                          <p:spTgt spid="64619"/>
                                        </p:tgtEl>
                                        <p:attrNameLst>
                                          <p:attrName>style.visibility</p:attrName>
                                        </p:attrNameLst>
                                      </p:cBhvr>
                                      <p:to>
                                        <p:strVal val="visible"/>
                                      </p:to>
                                    </p:set>
                                    <p:animEffect transition="in" filter="slide(fromBottom)">
                                      <p:cBhvr>
                                        <p:cTn id="57" dur="500"/>
                                        <p:tgtEl>
                                          <p:spTgt spid="64619"/>
                                        </p:tgtEl>
                                      </p:cBhvr>
                                    </p:animEffect>
                                  </p:childTnLst>
                                </p:cTn>
                              </p:par>
                              <p:par>
                                <p:cTn id="58" presetID="12" presetClass="entr" presetSubtype="4" fill="hold" grpId="0" nodeType="withEffect">
                                  <p:stCondLst>
                                    <p:cond delay="0"/>
                                  </p:stCondLst>
                                  <p:childTnLst>
                                    <p:set>
                                      <p:cBhvr>
                                        <p:cTn id="59" dur="1" fill="hold">
                                          <p:stCondLst>
                                            <p:cond delay="0"/>
                                          </p:stCondLst>
                                        </p:cTn>
                                        <p:tgtEl>
                                          <p:spTgt spid="64639"/>
                                        </p:tgtEl>
                                        <p:attrNameLst>
                                          <p:attrName>style.visibility</p:attrName>
                                        </p:attrNameLst>
                                      </p:cBhvr>
                                      <p:to>
                                        <p:strVal val="visible"/>
                                      </p:to>
                                    </p:set>
                                    <p:animEffect transition="in" filter="slide(fromBottom)">
                                      <p:cBhvr>
                                        <p:cTn id="60" dur="500"/>
                                        <p:tgtEl>
                                          <p:spTgt spid="64639"/>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2" presetClass="entr" presetSubtype="4" fill="hold" grpId="0" nodeType="clickEffect">
                                  <p:stCondLst>
                                    <p:cond delay="0"/>
                                  </p:stCondLst>
                                  <p:childTnLst>
                                    <p:set>
                                      <p:cBhvr>
                                        <p:cTn id="64" dur="1" fill="hold">
                                          <p:stCondLst>
                                            <p:cond delay="0"/>
                                          </p:stCondLst>
                                        </p:cTn>
                                        <p:tgtEl>
                                          <p:spTgt spid="64638"/>
                                        </p:tgtEl>
                                        <p:attrNameLst>
                                          <p:attrName>style.visibility</p:attrName>
                                        </p:attrNameLst>
                                      </p:cBhvr>
                                      <p:to>
                                        <p:strVal val="visible"/>
                                      </p:to>
                                    </p:set>
                                    <p:animEffect transition="in" filter="slide(fromBottom)">
                                      <p:cBhvr>
                                        <p:cTn id="65" dur="500"/>
                                        <p:tgtEl>
                                          <p:spTgt spid="64638"/>
                                        </p:tgtEl>
                                      </p:cBhvr>
                                    </p:animEffect>
                                  </p:childTnLst>
                                </p:cTn>
                              </p:par>
                              <p:par>
                                <p:cTn id="66" presetID="12" presetClass="entr" presetSubtype="4" fill="hold" grpId="0" nodeType="withEffect">
                                  <p:stCondLst>
                                    <p:cond delay="0"/>
                                  </p:stCondLst>
                                  <p:childTnLst>
                                    <p:set>
                                      <p:cBhvr>
                                        <p:cTn id="67" dur="1" fill="hold">
                                          <p:stCondLst>
                                            <p:cond delay="0"/>
                                          </p:stCondLst>
                                        </p:cTn>
                                        <p:tgtEl>
                                          <p:spTgt spid="64647"/>
                                        </p:tgtEl>
                                        <p:attrNameLst>
                                          <p:attrName>style.visibility</p:attrName>
                                        </p:attrNameLst>
                                      </p:cBhvr>
                                      <p:to>
                                        <p:strVal val="visible"/>
                                      </p:to>
                                    </p:set>
                                    <p:animEffect transition="in" filter="slide(fromBottom)">
                                      <p:cBhvr>
                                        <p:cTn id="68" dur="500"/>
                                        <p:tgtEl>
                                          <p:spTgt spid="64647"/>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12" presetClass="entr" presetSubtype="4" fill="hold" grpId="0" nodeType="clickEffect">
                                  <p:stCondLst>
                                    <p:cond delay="0"/>
                                  </p:stCondLst>
                                  <p:childTnLst>
                                    <p:set>
                                      <p:cBhvr>
                                        <p:cTn id="72" dur="1" fill="hold">
                                          <p:stCondLst>
                                            <p:cond delay="0"/>
                                          </p:stCondLst>
                                        </p:cTn>
                                        <p:tgtEl>
                                          <p:spTgt spid="64641"/>
                                        </p:tgtEl>
                                        <p:attrNameLst>
                                          <p:attrName>style.visibility</p:attrName>
                                        </p:attrNameLst>
                                      </p:cBhvr>
                                      <p:to>
                                        <p:strVal val="visible"/>
                                      </p:to>
                                    </p:set>
                                    <p:animEffect transition="in" filter="slide(fromBottom)">
                                      <p:cBhvr>
                                        <p:cTn id="73" dur="500"/>
                                        <p:tgtEl>
                                          <p:spTgt spid="64641"/>
                                        </p:tgtEl>
                                      </p:cBhvr>
                                    </p:animEffect>
                                  </p:childTnLst>
                                </p:cTn>
                              </p:par>
                              <p:par>
                                <p:cTn id="74" presetID="12" presetClass="entr" presetSubtype="4" fill="hold" grpId="0" nodeType="withEffect">
                                  <p:stCondLst>
                                    <p:cond delay="0"/>
                                  </p:stCondLst>
                                  <p:childTnLst>
                                    <p:set>
                                      <p:cBhvr>
                                        <p:cTn id="75" dur="1" fill="hold">
                                          <p:stCondLst>
                                            <p:cond delay="0"/>
                                          </p:stCondLst>
                                        </p:cTn>
                                        <p:tgtEl>
                                          <p:spTgt spid="64648"/>
                                        </p:tgtEl>
                                        <p:attrNameLst>
                                          <p:attrName>style.visibility</p:attrName>
                                        </p:attrNameLst>
                                      </p:cBhvr>
                                      <p:to>
                                        <p:strVal val="visible"/>
                                      </p:to>
                                    </p:set>
                                    <p:animEffect transition="in" filter="slide(fromBottom)">
                                      <p:cBhvr>
                                        <p:cTn id="76" dur="500"/>
                                        <p:tgtEl>
                                          <p:spTgt spid="64648"/>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12" presetClass="entr" presetSubtype="4" fill="hold" nodeType="clickEffect">
                                  <p:stCondLst>
                                    <p:cond delay="0"/>
                                  </p:stCondLst>
                                  <p:childTnLst>
                                    <p:set>
                                      <p:cBhvr>
                                        <p:cTn id="80" dur="1" fill="hold">
                                          <p:stCondLst>
                                            <p:cond delay="0"/>
                                          </p:stCondLst>
                                        </p:cTn>
                                        <p:tgtEl>
                                          <p:spTgt spid="6"/>
                                        </p:tgtEl>
                                        <p:attrNameLst>
                                          <p:attrName>style.visibility</p:attrName>
                                        </p:attrNameLst>
                                      </p:cBhvr>
                                      <p:to>
                                        <p:strVal val="visible"/>
                                      </p:to>
                                    </p:set>
                                    <p:animEffect transition="in" filter="slide(fromBottom)">
                                      <p:cBhvr>
                                        <p:cTn id="81" dur="500"/>
                                        <p:tgtEl>
                                          <p:spTgt spid="6"/>
                                        </p:tgtEl>
                                      </p:cBhvr>
                                    </p:animEffect>
                                  </p:childTnLst>
                                </p:cTn>
                              </p:par>
                              <p:par>
                                <p:cTn id="82" presetID="12" presetClass="entr" presetSubtype="4" fill="hold" nodeType="withEffect">
                                  <p:stCondLst>
                                    <p:cond delay="0"/>
                                  </p:stCondLst>
                                  <p:childTnLst>
                                    <p:set>
                                      <p:cBhvr>
                                        <p:cTn id="83" dur="1" fill="hold">
                                          <p:stCondLst>
                                            <p:cond delay="0"/>
                                          </p:stCondLst>
                                        </p:cTn>
                                        <p:tgtEl>
                                          <p:spTgt spid="7"/>
                                        </p:tgtEl>
                                        <p:attrNameLst>
                                          <p:attrName>style.visibility</p:attrName>
                                        </p:attrNameLst>
                                      </p:cBhvr>
                                      <p:to>
                                        <p:strVal val="visible"/>
                                      </p:to>
                                    </p:set>
                                    <p:animEffect transition="in" filter="slide(fromBottom)">
                                      <p:cBhvr>
                                        <p:cTn id="84" dur="500"/>
                                        <p:tgtEl>
                                          <p:spTgt spid="7"/>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12" presetClass="entr" presetSubtype="4" fill="hold" grpId="0" nodeType="clickEffect">
                                  <p:stCondLst>
                                    <p:cond delay="0"/>
                                  </p:stCondLst>
                                  <p:childTnLst>
                                    <p:set>
                                      <p:cBhvr>
                                        <p:cTn id="88" dur="1" fill="hold">
                                          <p:stCondLst>
                                            <p:cond delay="0"/>
                                          </p:stCondLst>
                                        </p:cTn>
                                        <p:tgtEl>
                                          <p:spTgt spid="64653"/>
                                        </p:tgtEl>
                                        <p:attrNameLst>
                                          <p:attrName>style.visibility</p:attrName>
                                        </p:attrNameLst>
                                      </p:cBhvr>
                                      <p:to>
                                        <p:strVal val="visible"/>
                                      </p:to>
                                    </p:set>
                                    <p:animEffect transition="in" filter="slide(fromBottom)">
                                      <p:cBhvr>
                                        <p:cTn id="89" dur="500"/>
                                        <p:tgtEl>
                                          <p:spTgt spid="64653"/>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12" presetClass="entr" presetSubtype="4" fill="hold" nodeType="clickEffect">
                                  <p:stCondLst>
                                    <p:cond delay="0"/>
                                  </p:stCondLst>
                                  <p:childTnLst>
                                    <p:set>
                                      <p:cBhvr>
                                        <p:cTn id="93" dur="1" fill="hold">
                                          <p:stCondLst>
                                            <p:cond delay="0"/>
                                          </p:stCondLst>
                                        </p:cTn>
                                        <p:tgtEl>
                                          <p:spTgt spid="64654"/>
                                        </p:tgtEl>
                                        <p:attrNameLst>
                                          <p:attrName>style.visibility</p:attrName>
                                        </p:attrNameLst>
                                      </p:cBhvr>
                                      <p:to>
                                        <p:strVal val="visible"/>
                                      </p:to>
                                    </p:set>
                                    <p:animEffect transition="in" filter="slide(fromBottom)">
                                      <p:cBhvr>
                                        <p:cTn id="94" dur="500"/>
                                        <p:tgtEl>
                                          <p:spTgt spid="646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71" grpId="0"/>
      <p:bldP spid="64619" grpId="0"/>
      <p:bldP spid="64622" grpId="0"/>
      <p:bldP spid="64632" grpId="0"/>
      <p:bldP spid="64637" grpId="0"/>
      <p:bldP spid="64638" grpId="0"/>
      <p:bldP spid="64639" grpId="0"/>
      <p:bldP spid="64641" grpId="0"/>
      <p:bldP spid="64647" grpId="0"/>
      <p:bldP spid="64648" grpId="0"/>
      <p:bldP spid="64653" grpId="0"/>
    </p:bldLst>
  </p:timing>
</p:sld>
</file>

<file path=ppt/theme/theme1.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8895</TotalTime>
  <Words>6953</Words>
  <Application>Microsoft Office PowerPoint</Application>
  <PresentationFormat>全屏显示(4:3)</PresentationFormat>
  <Paragraphs>851</Paragraphs>
  <Slides>66</Slides>
  <Notes>1</Notes>
  <HiddenSlides>2</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4</vt:i4>
      </vt:variant>
      <vt:variant>
        <vt:lpstr>幻灯片标题</vt:lpstr>
      </vt:variant>
      <vt:variant>
        <vt:i4>66</vt:i4>
      </vt:variant>
    </vt:vector>
  </HeadingPairs>
  <TitlesOfParts>
    <vt:vector size="85" baseType="lpstr">
      <vt:lpstr>黑体</vt:lpstr>
      <vt:lpstr>华文楷体</vt:lpstr>
      <vt:lpstr>华文中宋</vt:lpstr>
      <vt:lpstr>楷体</vt:lpstr>
      <vt:lpstr>楷体_GB2312</vt:lpstr>
      <vt:lpstr>隶书</vt:lpstr>
      <vt:lpstr>宋体</vt:lpstr>
      <vt:lpstr>'宋体</vt:lpstr>
      <vt:lpstr>新宋体</vt:lpstr>
      <vt:lpstr>Calibri</vt:lpstr>
      <vt:lpstr>Symbol</vt:lpstr>
      <vt:lpstr>Tahoma</vt:lpstr>
      <vt:lpstr>Times New Roman</vt:lpstr>
      <vt:lpstr>Wingdings</vt:lpstr>
      <vt:lpstr>默认设计模板</vt:lpstr>
      <vt:lpstr>Image</vt:lpstr>
      <vt:lpstr>Equation</vt:lpstr>
      <vt:lpstr>公式</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liujie</dc:creator>
  <cp:lastModifiedBy>Jie Liu</cp:lastModifiedBy>
  <cp:revision>734</cp:revision>
  <dcterms:created xsi:type="dcterms:W3CDTF">2003-11-13T15:45:13Z</dcterms:created>
  <dcterms:modified xsi:type="dcterms:W3CDTF">2026-10-19T01:50:39Z</dcterms:modified>
</cp:coreProperties>
</file>