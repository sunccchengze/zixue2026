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0" r:id="rId16"/>
    <p:sldId id="271" r:id="rId17"/>
    <p:sldId id="29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01" autoAdjust="0"/>
    <p:restoredTop sz="94048" autoAdjust="0"/>
  </p:normalViewPr>
  <p:slideViewPr>
    <p:cSldViewPr snapToGrid="0" snapToObjects="1">
      <p:cViewPr varScale="1">
        <p:scale>
          <a:sx n="166" d="100"/>
          <a:sy n="166" d="100"/>
        </p:scale>
        <p:origin x="468" y="1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021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【5秒】大家好，我是孙承泽，我讲的是能斯特方程。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【10秒】先问大家一个问题。两杯硫酸铜，铜片一样，温度一样，就是一杯浓一杯淡。接上导线，会有电压吗？（停一下）会有。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【30秒】会有电压。那我加一点难度。</a:t>
            </a:r>
          </a:p>
          <a:p>
            <a:r>
              <a:t>A 是 1.0 对 0.1，B 是 0.01 对 0.001。A 两边差 0.9，B 只差 0.009，差了一百倍。</a:t>
            </a:r>
          </a:p>
          <a:p>
            <a:r>
              <a:t>举手：觉得 A 大的？B 大的？一样大的？好，记住自己的选择。</a:t>
            </a:r>
          </a:p>
          <a:p>
            <a:r>
              <a:t>我第一次做这道题，毫不犹豫选了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【60秒】先用一分钟看看这个电池里在发生什么。（播放视频）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【20秒】视频里两根铜片其实在干相反的活。</a:t>
            </a:r>
          </a:p>
          <a:p>
            <a:r>
              <a:t>稀的那边，铜片溶解成铜离子，是负极。浓的那边，铜离子得电子变成铜，是正极。</a:t>
            </a:r>
          </a:p>
          <a:p>
            <a:r>
              <a:t>电子从稀侧走导线到浓侧。盐桥里的钾离子和硝酸根负责让两边保持电中性。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【20秒】两个反应一加，铜片抵消，剩下铜离子从浓的杯子跑到稀的杯子。</a:t>
            </a:r>
          </a:p>
          <a:p>
            <a:r>
              <a:t>左右两边是同一种东西。我们总觉得电池里得有化学变化，这个电池里一点新物质都没有。</a:t>
            </a:r>
          </a:p>
          <a:p>
            <a:r>
              <a:t>推动它的，就像一滴墨水在水里散开，离子想从挤的地方去松的地方。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【5秒】答案是：一样大。理想情况下都在 30 毫伏左右。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【15秒】这是我当时的原话。</a:t>
            </a:r>
          </a:p>
          <a:p>
            <a:r>
              <a:t>前半句没错，浓度差大，能放的电确实更多。错在后半句：电荷多少和电压高低，根本是两个量。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【20秒】举个反例：1号电池和5号电池。1号能用更久，可电压都是1.5伏。</a:t>
            </a:r>
          </a:p>
          <a:p>
            <a:r>
              <a:t>电荷量像水箱里有多少水，电压像水从多高落下。浓度差决定有多少水，浓度比决定有多高。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【25秒】电压到底看什么？看铜片表面。</a:t>
            </a:r>
          </a:p>
          <a:p>
            <a:r>
              <a:t>铜离子撞到铜片上会得电子沉积，浓度越高撞得越勤。反过来，铜原子溶解跟浓度没关系。</a:t>
            </a:r>
          </a:p>
          <a:p>
            <a:r>
              <a:t>A 两边是 10 比 1，B 也是 10 比 1。两边被撞的频率都差 10 倍，不对称程度一样，电压就一样。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【10秒】知道要看比值以后，我又猜错了一次：比值从10变成100，我以为电压也翻10倍。拼两节电池试试。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【25秒】两节比值都是10的电池串起来，总电压是 V 加 V，2V。</a:t>
            </a:r>
          </a:p>
          <a:p>
            <a:r>
              <a:t>中间这两杯都是0.1，一模一样，它们之间没有电压，可以直接拿掉。拿掉以后就是 1.0 对 0.01，比值100。所以比值100只对应2V，不是10V。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【20秒】比值每乘10，电压就加一份。乘法变加法，这就是对数，就像鹦鹉螺壳，每转一圈放大同样的倍数。</a:t>
            </a:r>
          </a:p>
          <a:p>
            <a:r>
              <a:t>检验一下：两杯一样浓，lg1等于0，没电压，和直觉对得上。两杯对调，算出来是负的，负号的意思是正负极反过来了。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【20秒】那一份 V 多大？一个离子跑到浓度只有十分之一的地方，大约能拿到0.059电子伏的动力。</a:t>
            </a:r>
          </a:p>
          <a:p>
            <a:r>
              <a:t>银离子带一个电荷，就是59毫伏。铜离子带两个电荷，要分给两个电子，就是29.6毫伏。所以开头的 A 和 B 都是30毫伏左右。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【15秒】教材上写成这样。E° 是各物质活度都为 1 时的电压，只看反应和温度。n 是按写出来的反应式转移的电子数；反应式乘 2，n 和 Q 一起变，算出来的 E 不变。Q 是产物活度之积除以反应物活度之积，指数是计量数，纯固体、纯液体不写。稀溶液里活度可以近似用浓度。</a:t>
            </a:r>
          </a:p>
          <a:p>
            <a:r>
              <a:t>0.059 其实就是 ln10 乘 RT 除以 F，在 25 度时的值。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【15秒】代回浓差电池：两边电极一样，E° 是 0；Q 是稀比浓。负号把分数翻过来，就回到我们自己推出来的那个式子。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【25秒】这个方程不是凭空来的。电功等于电荷乘电压。为什么带负号？电池对外做了 nFE 的电功，它自己的自由能就减少了这么多，所以 ΔG = −nFE；E 大于零、能自发放电，正好对应 ΔG 小于零。热力学里 ΔG = ΔG° + RT lnQ。两个式子联立，除以 −nF，就得到能斯特方程。完整步骤在备用页。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【15秒】对数有个很实用的好处。pH 从0到14，氢离子浓度差了10的14次方倍，可电压一共才变0.8伏左右，一块普通电压表就能读出来。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【20秒】pH 计的探头就是这样一个玻璃泡。泡里氢离子浓度固定，外面是待测液，本质上是氢离子的浓差电池，pH 每差1，电压差59毫伏。</a:t>
            </a:r>
          </a:p>
          <a:p>
            <a:r>
              <a:t>为什么要用两种缓冲液校准？因为真实电极的截距会漂，斜率会老化，两个未知数就得用两个已知点来定。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【20秒】我们身体里也有。神经细胞里钾离子大约140毫摩尔，外面大约5。按能斯特算，37度时是负89毫伏。实测静息电位大约负70。</a:t>
            </a:r>
          </a:p>
          <a:p>
            <a:r>
              <a:t>差的那一点，是因为细胞膜也会漏一些钠离子进来，几种离子一起算要用 Goldman 方程，这里不展开。</a:t>
            </a:r>
          </a:p>
          <a:p>
            <a:r>
              <a:t>【被问为什么膜内是负】钾离子在里面多，往外散，带走正电荷，里面就剩下负电荷。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【5秒】如果真去做这个实验，读数多半对不上。那是方程错了吗？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【25秒】大家可能觉得0.1摩尔每升已经很稀了。可硫酸铜的活度系数只有0.16左右。</a:t>
            </a:r>
          </a:p>
          <a:p>
            <a:r>
              <a:t>铜离子和硫酸根都带两个电荷，彼此吸引很强，有效浓度只剩实际的六分之一。</a:t>
            </a:r>
          </a:p>
          <a:p>
            <a:r>
              <a:t>右边这个电池，按浓度算是29.6毫伏，按活度修正之后只剩16毫伏左右。这是理论估算，不是我测的。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【25秒】所以不是方程错了。它在代入活度、电流为零的时候严格成立，偏差来自我们图省事的近似。</a:t>
            </a:r>
          </a:p>
          <a:p>
            <a:r>
              <a:t>最大的是活度。另外，如果有电流，会有内阻压降和浓差极化；盐桥和溶液交界处有液接电势；温度不是25度要换系数；pH 计在高 pH 时还有钠误差。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【20秒】最后说一下根子。浓差电池里没有化学键变化，电压全靠离子想散开，也就是熵。所以温度越高电压越高。</a:t>
            </a:r>
          </a:p>
          <a:p>
            <a:r>
              <a:t>用熵算一遍，得到的式子和串联实验推出来的一模一样。不过锌铜电池就不一定了，要看反应的熵变是正是负。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【15秒】一句话：电压看浓度比，比值每乘10，加59除以n毫伏；浓度差只决定能放多久。留个问题：磷酸铁锂电池里锂一直在搬家，为什么电压大部分时间几乎不动？答案我放在备用页里，欢迎提问时问我。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能斯特方程里写的是活度，纯固体活度恒为1。LFP 放电是两相反应：锂进来不是让每个颗粒均匀变浓，而是把 FePO4 一块块变成 LiFePO4。两相各自成分固定，Q 不变，所以 E 不变。这和浓差电池正好相反：浓差电池里比值一直在变，电压就一直在变。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63774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6000"/>
                </a:srgbClr>
              </a:gs>
              <a:gs pos="45000">
                <a:srgbClr val="0B1320">
                  <a:alpha val="80000"/>
                </a:srgbClr>
              </a:gs>
              <a:gs pos="75000">
                <a:srgbClr val="0B1320">
                  <a:alpha val="20000"/>
                </a:srgbClr>
              </a:gs>
              <a:gs pos="100000">
                <a:srgbClr val="0B1320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31520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大学化学</a:t>
            </a:r>
            <a:r>
              <a:rPr sz="22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· </a:t>
            </a: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学期大作业</a:t>
            </a:r>
            <a:endParaRPr sz="22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1463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差还是比</a:t>
            </a:r>
            <a:r>
              <a:rPr sz="88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73152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用浓差电池看懂能斯特方程</a:t>
            </a:r>
            <a:endParaRPr sz="34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868680" y="4572000"/>
            <a:ext cx="1097280" cy="0"/>
          </a:xfrm>
          <a:prstGeom prst="line">
            <a:avLst/>
          </a:prstGeom>
          <a:ln w="38100">
            <a:solidFill>
              <a:srgbClr val="E87D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7315200" cy="79528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孙承泽</a:t>
            </a:r>
            <a:r>
              <a:rPr lang="zh-CN" altLang="en-US"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、阮景昊、邹东成、汤原</a:t>
            </a:r>
            <a:endParaRPr lang="en-US" altLang="zh-CN" sz="22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</a:pP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能动强基2501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40000"/>
                </a:srgbClr>
              </a:gs>
              <a:gs pos="60000">
                <a:srgbClr val="0B1320">
                  <a:alpha val="80000"/>
                </a:srgbClr>
              </a:gs>
              <a:gs pos="100000">
                <a:srgbClr val="0B1320">
                  <a:alpha val="9500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9971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两杯硫酸铜</a:t>
            </a:r>
            <a:endParaRPr sz="6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9971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只差在一杯浓、一杯淡</a:t>
            </a:r>
            <a:endParaRPr sz="6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接上导线，会有电压吗</a:t>
            </a:r>
            <a:r>
              <a:rPr sz="4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先投个票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会有。那哪个电压更大</a:t>
            </a:r>
            <a:r>
              <a:rPr sz="3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pic>
        <p:nvPicPr>
          <p:cNvPr id="4" name="Picture 3" descr="ce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10332720" cy="3945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8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 大？　B 大？　</a:t>
            </a:r>
            <a:r>
              <a:rPr sz="28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一样大</a:t>
            </a:r>
            <a:r>
              <a:rPr sz="28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630936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AI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动画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·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电压表读数为理想理论值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3</a:t>
            </a:r>
          </a:p>
        </p:txBody>
      </p:sp>
      <p:pic>
        <p:nvPicPr>
          <p:cNvPr id="8" name="铜离子电浓差池">
            <a:hlinkClick r:id="" action="ppaction://media"/>
            <a:extLst>
              <a:ext uri="{FF2B5EF4-FFF2-40B4-BE49-F238E27FC236}">
                <a16:creationId xmlns:a16="http://schemas.microsoft.com/office/drawing/2014/main" id="{DA4B5DCE-F60F-8C97-A30F-E482E0783C5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51559" y="548640"/>
            <a:ext cx="10062465" cy="5660136"/>
          </a:xfrm>
          <a:prstGeom prst="rect">
            <a:avLst/>
          </a:prstGeom>
          <a:effectLst>
            <a:outerShdw blurRad="63500" sx="102000" sy="102000" algn="ctr" rotWithShape="0">
              <a:schemeClr val="bg2">
                <a:lumMod val="90000"/>
                <a:alpha val="40000"/>
              </a:schemeClr>
            </a:outerShdw>
          </a:effectLst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717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视频里发生了什么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两根一样的铜片，干着相反的活</a:t>
            </a:r>
            <a:endParaRPr sz="38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稀的一侧</a:t>
            </a:r>
            <a:r>
              <a:rPr sz="2400" b="1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· </a:t>
            </a:r>
            <a:r>
              <a:rPr sz="2400" b="1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负极</a:t>
            </a:r>
            <a:endParaRPr sz="2400" b="1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512064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 → Cu</a:t>
            </a:r>
            <a:r>
              <a:rPr sz="4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4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+ 2e</a:t>
            </a:r>
            <a:r>
              <a:rPr sz="4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铜片溶解，离子进入溶液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浓的一侧</a:t>
            </a:r>
            <a:r>
              <a:rPr sz="2400" b="1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· </a:t>
            </a:r>
            <a:r>
              <a:rPr sz="2400" b="1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正极</a:t>
            </a:r>
            <a:endParaRPr sz="2400" b="1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12064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</a:t>
            </a:r>
            <a:r>
              <a:rPr sz="4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4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+ 2e</a:t>
            </a:r>
            <a:r>
              <a:rPr sz="4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  <a:r>
              <a:rPr sz="4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离子得电子，铜片变厚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68680" y="4480560"/>
            <a:ext cx="10424160" cy="0"/>
          </a:xfrm>
          <a:prstGeom prst="line">
            <a:avLst/>
          </a:prstGeom>
          <a:ln w="190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754880"/>
            <a:ext cx="10515600" cy="9626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电子沿导线从稀侧流向浓侧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盐桥里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K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去浓侧、NO</a:t>
            </a:r>
            <a:r>
              <a:rPr sz="2400" b="0" baseline="-25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3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去稀侧，让两杯保持电中性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4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100"/>
                            </p:stCondLst>
                            <p:childTnLst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0"/>
                </a:srgbClr>
              </a:gs>
              <a:gs pos="40000">
                <a:srgbClr val="0B1320">
                  <a:alpha val="30000"/>
                </a:srgbClr>
              </a:gs>
              <a:gs pos="60000">
                <a:srgbClr val="0B1320">
                  <a:alpha val="88000"/>
                </a:srgbClr>
              </a:gs>
              <a:gs pos="100000">
                <a:srgbClr val="0B1320">
                  <a:alpha val="97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94960" y="1371600"/>
            <a:ext cx="640080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把两个反应加起来</a:t>
            </a:r>
            <a:endParaRPr sz="22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920240"/>
            <a:ext cx="658368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</a:t>
            </a:r>
            <a:r>
              <a:rPr sz="4000" b="1" baseline="30000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(浓) → Cu</a:t>
            </a:r>
            <a:r>
              <a:rPr sz="4000" b="1" baseline="30000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(稀)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3200400"/>
            <a:ext cx="6309360" cy="2121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箭头两边是同一种离子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没有生成新物质，离子只是换了个杯子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推动它的，是离子从挤的地方散到松的地方的倾向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5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35000"/>
                </a:srgbClr>
              </a:gs>
              <a:gs pos="45000">
                <a:srgbClr val="0B1320">
                  <a:alpha val="20000"/>
                </a:srgbClr>
              </a:gs>
              <a:gs pos="70000">
                <a:srgbClr val="0B1320">
                  <a:alpha val="85000"/>
                </a:srgbClr>
              </a:gs>
              <a:gs pos="100000">
                <a:srgbClr val="0B1320">
                  <a:alpha val="98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揭晓</a:t>
            </a:r>
            <a:endParaRPr sz="26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13172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 和 </a:t>
            </a:r>
            <a:r>
              <a:rPr sz="8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B，一样大</a:t>
            </a:r>
            <a:endParaRPr sz="8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理想情况下都约</a:t>
            </a:r>
            <a:r>
              <a:rPr sz="28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30 mV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6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0" y="0"/>
            <a:ext cx="7863840" cy="6858000"/>
          </a:xfrm>
          <a:custGeom>
            <a:avLst/>
            <a:gdLst/>
            <a:ahLst/>
            <a:cxnLst/>
            <a:rect l="l" t="t" r="r" b="b"/>
            <a:pathLst>
              <a:path w="7863840" h="6858000">
                <a:moveTo>
                  <a:pt x="0" y="0"/>
                </a:moveTo>
                <a:lnTo>
                  <a:pt x="7863840" y="0"/>
                </a:lnTo>
                <a:lnTo>
                  <a:pt x="64008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AF8F4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6400800" y="0"/>
            <a:ext cx="1691640" cy="6858000"/>
          </a:xfrm>
          <a:custGeom>
            <a:avLst/>
            <a:gdLst/>
            <a:ahLst/>
            <a:cxnLst/>
            <a:rect l="l" t="t" r="r" b="b"/>
            <a:pathLst>
              <a:path w="1691640" h="6858000">
                <a:moveTo>
                  <a:pt x="1463040" y="0"/>
                </a:moveTo>
                <a:lnTo>
                  <a:pt x="1691640" y="0"/>
                </a:lnTo>
                <a:lnTo>
                  <a:pt x="2286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845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60350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C8453A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我第一次的答案</a:t>
            </a:r>
            <a:endParaRPr sz="2400" b="1" dirty="0">
              <a:solidFill>
                <a:srgbClr val="C8453A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19" y="1325880"/>
            <a:ext cx="6276655" cy="122617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“A </a:t>
            </a:r>
            <a:r>
              <a:rPr sz="3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大。浓度差大了，要转移的电荷量就更大，所以电压更大</a:t>
            </a:r>
            <a:r>
              <a:rPr sz="3200" b="1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486400" cy="937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2E9E5B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前半句对</a:t>
            </a:r>
            <a:endParaRPr sz="2400" b="1" dirty="0">
              <a:solidFill>
                <a:srgbClr val="2E9E5B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浓度差大，能放出的电确实更多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5120640" cy="937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C8453A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后半句错</a:t>
            </a:r>
            <a:endParaRPr sz="2400" b="1" dirty="0">
              <a:solidFill>
                <a:srgbClr val="C8453A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电荷多少和电压高低，是两个量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7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5000"/>
                </a:srgbClr>
              </a:gs>
              <a:gs pos="45000">
                <a:srgbClr val="0B1320">
                  <a:alpha val="85000"/>
                </a:srgbClr>
              </a:gs>
              <a:gs pos="70000">
                <a:srgbClr val="0B1320">
                  <a:alpha val="15000"/>
                </a:srgbClr>
              </a:gs>
              <a:gs pos="100000">
                <a:srgbClr val="0B1320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640080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一个反例</a:t>
            </a:r>
            <a:endParaRPr sz="22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694944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 </a:t>
            </a:r>
            <a:r>
              <a:rPr sz="4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号和</a:t>
            </a: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5 </a:t>
            </a:r>
            <a:r>
              <a:rPr sz="4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号，都是</a:t>
            </a: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1.5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7112964" cy="22525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 </a:t>
            </a: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号装的料多，能用更久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电荷量像水箱里有多少水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；</a:t>
            </a:r>
          </a:p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电压像水从多高落下来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浓度差管“</a:t>
            </a: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有多少水</a:t>
            </a: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”，</a:t>
            </a: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浓度比管“有多高</a:t>
            </a: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64008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两者都不是浓差电池，只借来区分“电荷量”和“电压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8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看铜片表面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为什么看的是比值</a:t>
            </a:r>
            <a:r>
              <a:rPr sz="3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pic>
        <p:nvPicPr>
          <p:cNvPr id="4" name="Picture 3" descr="kn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64008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920240"/>
            <a:ext cx="4663440" cy="32997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</a:t>
            </a:r>
            <a:r>
              <a:rPr sz="2400" b="1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撞上铜片，得电子沉积</a:t>
            </a:r>
            <a:endParaRPr sz="24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浓度越高，撞得越勤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800"/>
              </a:spcBef>
            </a:pPr>
            <a:r>
              <a:rPr sz="2400" b="1" dirty="0" err="1">
                <a:solidFill>
                  <a:srgbClr val="2E9E5B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铜原子失电子溶解</a:t>
            </a:r>
            <a:endParaRPr sz="2400" b="1" dirty="0">
              <a:solidFill>
                <a:srgbClr val="2E9E5B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和浓度无关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400"/>
              </a:spcBef>
            </a:pPr>
            <a:r>
              <a:rPr sz="24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A：1.0 : 0.1 = 10 : 1</a:t>
            </a:r>
          </a:p>
          <a:p>
            <a:pPr algn="l">
              <a:lnSpc>
                <a:spcPct val="120000"/>
              </a:lnSpc>
            </a:pPr>
            <a:r>
              <a:rPr sz="24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B：0.01 : 0.001 = 10 :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9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F4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2000"/>
                </a:srgbClr>
              </a:gs>
              <a:gs pos="55000">
                <a:srgbClr val="0B1320">
                  <a:alpha val="70000"/>
                </a:srgbClr>
              </a:gs>
              <a:gs pos="100000">
                <a:srgbClr val="0B1320">
                  <a:alpha val="3000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dirty="0" err="1">
                <a:solidFill>
                  <a:srgbClr val="C8453A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我第二次又猜错了</a:t>
            </a:r>
            <a:endParaRPr sz="2600" b="1" dirty="0">
              <a:solidFill>
                <a:srgbClr val="C8453A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9332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比值从</a:t>
            </a:r>
            <a:r>
              <a:rPr sz="56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 </a:t>
            </a:r>
            <a:r>
              <a:rPr sz="56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变成</a:t>
            </a:r>
            <a:r>
              <a:rPr sz="56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93320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电压也翻</a:t>
            </a:r>
            <a:r>
              <a:rPr sz="5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 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拼两节电池试试就知道了</a:t>
            </a:r>
            <a:endParaRPr sz="28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10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串联思想实验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两节串联，中间两杯拿掉</a:t>
            </a:r>
            <a:endParaRPr sz="38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pic>
        <p:nvPicPr>
          <p:cNvPr id="4" name="Picture 3" descr="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680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5170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剩下</a:t>
            </a:r>
            <a:r>
              <a:rPr sz="3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1.0 对 0.01：比值 100，电压只是 2V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11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auti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7000"/>
                </a:srgbClr>
              </a:gs>
              <a:gs pos="50000">
                <a:srgbClr val="0B1320">
                  <a:alpha val="88000"/>
                </a:srgbClr>
              </a:gs>
              <a:gs pos="78000">
                <a:srgbClr val="0B1320">
                  <a:alpha val="25000"/>
                </a:srgbClr>
              </a:gs>
              <a:gs pos="100000">
                <a:srgbClr val="0B1320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F4E">
                  <a:alpha val="55000"/>
                </a:srgbClr>
              </a:gs>
              <a:gs pos="100000">
                <a:srgbClr val="E87D1E">
                  <a:alpha val="0"/>
                </a:srgbClr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乘法变成加法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比值每乘</a:t>
            </a:r>
            <a:r>
              <a:rPr sz="38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10，电压加一份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22860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浓度比</a:t>
            </a:r>
            <a:endParaRPr sz="2400" b="1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91840" y="2011680"/>
            <a:ext cx="18288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</a:t>
            </a:r>
            <a:endParaRPr sz="2400" b="1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22860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51760"/>
            <a:ext cx="18288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22860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83280"/>
            <a:ext cx="18288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22860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114800"/>
            <a:ext cx="18288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46320"/>
            <a:ext cx="22860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846320"/>
            <a:ext cx="18288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3V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4572000" cy="51706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</a:t>
            </a:r>
            <a:r>
              <a:rPr sz="3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V × lg(</a:t>
            </a:r>
            <a:r>
              <a:rPr sz="3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浓度比</a:t>
            </a:r>
            <a:r>
              <a:rPr sz="3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291840"/>
            <a:ext cx="3474720" cy="1926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两杯一样浓：lg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 = 0，没有电压。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两杯对调：结果变负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</a:p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正负极反过来了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12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100"/>
                            </p:stCondLst>
                            <p:childTnLst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2" grpId="0"/>
      <p:bldP spid="14" grpId="0"/>
      <p:bldP spid="16" grpId="0"/>
      <p:bldP spid="17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p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0"/>
                </a:srgbClr>
              </a:gs>
              <a:gs pos="60000">
                <a:srgbClr val="0B1320">
                  <a:alpha val="40000"/>
                </a:srgbClr>
              </a:gs>
              <a:gs pos="100000">
                <a:srgbClr val="0B1320">
                  <a:alpha val="9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那一份</a:t>
            </a:r>
            <a:r>
              <a:rPr sz="28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V </a:t>
            </a:r>
            <a:r>
              <a:rPr sz="28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有多大</a:t>
            </a:r>
            <a:r>
              <a:rPr sz="28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6400800" cy="10611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0.059 V ÷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852160" cy="138025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一个离子换到浓度为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1/10 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的地方，约能拿到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0.059 eV 的</a:t>
            </a:r>
            <a:r>
              <a:rPr lang="zh-CN" altLang="en-US"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能量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再平分给它带的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n 个</a:t>
            </a:r>
            <a:r>
              <a:rPr lang="zh-CN" altLang="en-US"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电荷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420624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Ag</a:t>
            </a:r>
            <a:r>
              <a:rPr sz="26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n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286000"/>
            <a:ext cx="4206240" cy="9144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59 mV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566160"/>
            <a:ext cx="420624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</a:t>
            </a:r>
            <a:r>
              <a:rPr sz="26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n =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114800"/>
            <a:ext cx="4206240" cy="9144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29.6 mV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5156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浓度每差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 倍，25 °C　·　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注意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0.059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的单位是</a:t>
            </a:r>
            <a:r>
              <a:rPr lang="en-US" altLang="zh-CN"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V</a:t>
            </a:r>
            <a:r>
              <a:rPr lang="zh-CN" altLang="en-US"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，不是</a:t>
            </a:r>
            <a:r>
              <a:rPr lang="en-US" altLang="zh-CN"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mV</a:t>
            </a:r>
            <a:r>
              <a:rPr lang="zh-CN" altLang="en-US"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！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13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能斯特方程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写成教材上的样子</a:t>
            </a:r>
            <a:endParaRPr sz="38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90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2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= E</a:t>
            </a:r>
            <a:r>
              <a:rPr sz="52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52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 (0.059 V / n) · lg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53893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= E</a:t>
            </a:r>
            <a:r>
              <a:rPr sz="3000" b="0" baseline="3000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 (RT / </a:t>
            </a:r>
            <a:r>
              <a:rPr sz="3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r>
              <a:rPr sz="3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 · ln 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适用于电流为零时；0.059 V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只在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25 °C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成立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338328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</a:t>
            </a:r>
            <a:r>
              <a:rPr sz="3600" b="1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3291840" cy="12644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各物质活度都为</a:t>
            </a:r>
            <a:r>
              <a:rPr sz="2200" b="1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 </a:t>
            </a:r>
            <a:r>
              <a:rPr sz="2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时的电压</a:t>
            </a:r>
            <a:endParaRPr sz="2200" b="1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只由反应本身和温度决定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480560" y="4343400"/>
            <a:ext cx="338328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937760"/>
            <a:ext cx="3291840" cy="163378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按所写反应式，转移电子的物质的量</a:t>
            </a:r>
            <a:endParaRPr sz="2200" b="1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反应式整体乘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2：n 和 Q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一起变，E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不变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38160" y="4343400"/>
            <a:ext cx="338328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937760"/>
            <a:ext cx="3291840" cy="163378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产物活度之积</a:t>
            </a:r>
            <a:r>
              <a:rPr sz="2200" b="1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</a:t>
            </a:r>
            <a:r>
              <a:rPr sz="2200" b="1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反应物活度之积</a:t>
            </a:r>
            <a:endParaRPr sz="2200" b="1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指数是计量数；纯固体、纯液体活度为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1，不写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14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100"/>
                            </p:stCondLst>
                            <p:childTnLst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450"/>
                            </p:stCondLst>
                            <p:childTnLst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80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通式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</a:t>
            </a: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特例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代回浓差电池</a:t>
            </a:r>
            <a:endParaRPr sz="38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31960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两边电极一样，所以</a:t>
            </a:r>
            <a:r>
              <a:rPr sz="28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E</a:t>
            </a:r>
            <a:r>
              <a:rPr sz="28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8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0；Q = </a:t>
            </a:r>
            <a:r>
              <a:rPr sz="28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2800" b="0" baseline="-2500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</a:t>
            </a:r>
            <a:r>
              <a:rPr sz="28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</a:t>
            </a:r>
            <a:r>
              <a:rPr sz="28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2800" b="0" baseline="-2500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</a:t>
            </a:r>
            <a:endParaRPr sz="2800" b="0" baseline="-2500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600"/>
              </a:spcBef>
            </a:pPr>
            <a:r>
              <a:rPr sz="3400" b="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= 0 − (0.059 / 2) · lg(</a:t>
            </a:r>
            <a:r>
              <a:rPr sz="3400" b="0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3400" b="0" baseline="-25000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</a:t>
            </a:r>
            <a:r>
              <a:rPr sz="3400" b="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</a:t>
            </a:r>
            <a:r>
              <a:rPr sz="3400" b="0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3400" b="0" baseline="-25000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</a:t>
            </a:r>
            <a:r>
              <a:rPr sz="3400" b="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4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= (0.059 / 2) · lg(</a:t>
            </a:r>
            <a:r>
              <a:rPr sz="4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4000" b="1" baseline="-2500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</a:t>
            </a:r>
            <a:r>
              <a:rPr sz="4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</a:t>
            </a:r>
            <a:r>
              <a:rPr sz="4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4000" b="1" baseline="-2500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</a:t>
            </a:r>
            <a:r>
              <a:rPr sz="4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03520"/>
            <a:ext cx="105156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lg </a:t>
            </a:r>
            <a:r>
              <a:rPr sz="26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前面的负号，正好把分数翻了个面</a:t>
            </a:r>
            <a:r>
              <a:rPr sz="26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15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一行推导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这个方程从哪来</a:t>
            </a:r>
            <a:r>
              <a:rPr sz="3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303520" cy="35507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电功</a:t>
            </a:r>
            <a:r>
              <a:rPr sz="2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</a:t>
            </a:r>
            <a:r>
              <a:rPr sz="2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电荷</a:t>
            </a:r>
            <a:r>
              <a:rPr sz="2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× </a:t>
            </a:r>
            <a:r>
              <a:rPr sz="2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</a:t>
            </a:r>
            <a:endParaRPr sz="24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3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ΔG = −</a:t>
            </a: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0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对外做功</a:t>
            </a:r>
            <a:r>
              <a:rPr sz="20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0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nFE，自由能就少</a:t>
            </a:r>
            <a:r>
              <a:rPr sz="20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0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endParaRPr sz="2000" b="0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</a:pPr>
            <a:r>
              <a:rPr sz="20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&gt; 0（自发放电）⇔ ΔG &lt; 0</a:t>
            </a:r>
          </a:p>
          <a:p>
            <a:pPr algn="l">
              <a:lnSpc>
                <a:spcPct val="120000"/>
              </a:lnSpc>
              <a:spcBef>
                <a:spcPts val="2200"/>
              </a:spcBef>
            </a:pPr>
            <a:r>
              <a:rPr sz="2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热力学</a:t>
            </a:r>
            <a:endParaRPr sz="24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3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ΔG = ΔG</a:t>
            </a:r>
            <a:r>
              <a:rPr sz="36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RT ln 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651760"/>
            <a:ext cx="5120640" cy="19947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两式联立，除以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endParaRPr sz="26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= E</a:t>
            </a:r>
            <a:r>
              <a:rPr sz="3400" b="1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 (RT/</a:t>
            </a:r>
            <a:r>
              <a:rPr sz="3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r>
              <a:rPr sz="3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 ln Q</a:t>
            </a:r>
          </a:p>
          <a:p>
            <a:pPr algn="l">
              <a:lnSpc>
                <a:spcPct val="120000"/>
              </a:lnSpc>
              <a:spcBef>
                <a:spcPts val="1800"/>
              </a:spcBef>
            </a:pPr>
            <a:r>
              <a:rPr sz="26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负号就来自</a:t>
            </a:r>
            <a:r>
              <a:rPr sz="26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ΔG = −</a:t>
            </a:r>
            <a:r>
              <a:rPr sz="26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endParaRPr sz="26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16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一把对数尺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对数的好处：14 个数量级，0.83 伏</a:t>
            </a:r>
          </a:p>
        </p:txBody>
      </p:sp>
      <p:pic>
        <p:nvPicPr>
          <p:cNvPr id="4" name="Picture 3" descr="ph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1097280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480560"/>
            <a:ext cx="10515600" cy="10590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pH 从 0 到 14，氢离子浓度相差 10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14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倍；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对应的电压只变化约</a:t>
            </a: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14 × 59 mV ≈ 0.83 </a:t>
            </a: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V。一块电压表就能读</a:t>
            </a: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17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6000"/>
                </a:srgbClr>
              </a:gs>
              <a:gs pos="50000">
                <a:srgbClr val="0B1320">
                  <a:alpha val="85000"/>
                </a:srgbClr>
              </a:gs>
              <a:gs pos="75000">
                <a:srgbClr val="0B1320">
                  <a:alpha val="25000"/>
                </a:srgbClr>
              </a:gs>
              <a:gs pos="100000">
                <a:srgbClr val="0B1320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685800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pH </a:t>
            </a: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计也是浓差电池</a:t>
            </a:r>
            <a:endParaRPr sz="22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6858000" cy="7411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一个很薄的玻璃泡</a:t>
            </a:r>
            <a:endParaRPr sz="44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400800" cy="288418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泡里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H</a:t>
            </a:r>
            <a:r>
              <a:rPr sz="26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浓度固定，泡外是待测液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pH </a:t>
            </a:r>
            <a:r>
              <a:rPr sz="26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每差</a:t>
            </a:r>
            <a:r>
              <a:rPr sz="26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1，电压差约 59 mV。</a:t>
            </a:r>
          </a:p>
          <a:p>
            <a:pPr algn="l">
              <a:lnSpc>
                <a:spcPct val="120000"/>
              </a:lnSpc>
              <a:spcBef>
                <a:spcPts val="2200"/>
              </a:spcBef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用前要拿两种缓冲液校准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：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截距会漂移，斜率会老化，两个未知数要两个点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18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eu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6000"/>
                </a:srgbClr>
              </a:gs>
              <a:gs pos="42000">
                <a:srgbClr val="0B1320">
                  <a:alpha val="88000"/>
                </a:srgbClr>
              </a:gs>
              <a:gs pos="65000">
                <a:srgbClr val="0B1320">
                  <a:alpha val="30000"/>
                </a:srgbClr>
              </a:gs>
              <a:gs pos="100000">
                <a:srgbClr val="0B1320">
                  <a:alpha val="1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640080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身体里的浓差电池</a:t>
            </a:r>
            <a:endParaRPr sz="22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6771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神经细胞的</a:t>
            </a:r>
            <a:r>
              <a:rPr sz="4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K</a:t>
            </a:r>
            <a:r>
              <a:rPr sz="4000" b="1" baseline="30000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64008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内 ≈ 140 </a:t>
            </a: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mM，外</a:t>
            </a:r>
            <a:r>
              <a:rPr sz="26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≈ 5 mM，37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310896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能斯特算出</a:t>
            </a:r>
            <a:endParaRPr sz="22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291840" cy="768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−89 mV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108960"/>
            <a:ext cx="3291840" cy="3890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实测静息电位</a:t>
            </a:r>
            <a:endParaRPr sz="22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0" y="3566160"/>
            <a:ext cx="3291840" cy="768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≈ −70 mV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6309360" cy="81503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差的那</a:t>
            </a: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20 </a:t>
            </a: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mV：细胞膜也漏进少量</a:t>
            </a: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Na</a:t>
            </a:r>
            <a:r>
              <a:rPr sz="22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几种离子一起算要用</a:t>
            </a: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Goldman </a:t>
            </a:r>
            <a:r>
              <a:rPr sz="22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方程</a:t>
            </a:r>
            <a:r>
              <a:rPr sz="22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19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6000"/>
                </a:srgbClr>
              </a:gs>
              <a:gs pos="50000">
                <a:srgbClr val="0B1320">
                  <a:alpha val="80000"/>
                </a:srgbClr>
              </a:gs>
              <a:gs pos="100000">
                <a:srgbClr val="0B1320">
                  <a:alpha val="1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73152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如果真去测</a:t>
            </a:r>
            <a:endParaRPr sz="26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7498079" cy="18256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读数对不上</a:t>
            </a:r>
            <a:r>
              <a:rPr sz="5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  <a:endParaRPr lang="en-US" sz="54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15000"/>
              </a:lnSpc>
            </a:pPr>
            <a:r>
              <a:rPr sz="54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是方程错了吗</a:t>
            </a:r>
            <a:r>
              <a:rPr sz="5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20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row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55000"/>
                </a:srgbClr>
              </a:gs>
              <a:gs pos="17000">
                <a:srgbClr val="0B1320">
                  <a:alpha val="35000"/>
                </a:srgbClr>
              </a:gs>
              <a:gs pos="35000">
                <a:srgbClr val="FFFFFF">
                  <a:alpha val="70000"/>
                </a:srgbClr>
              </a:gs>
              <a:gs pos="69000">
                <a:srgbClr val="FFFFFF">
                  <a:alpha val="10000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810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0.1 mol/L </a:t>
            </a:r>
            <a:r>
              <a:rPr sz="34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算稀溶液吗</a:t>
            </a: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离子太挤，彼此牵制</a:t>
            </a:r>
            <a:endParaRPr sz="24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943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CuSO</a:t>
            </a:r>
            <a:r>
              <a:rPr sz="2800" b="1" baseline="-25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4</a:t>
            </a:r>
            <a:r>
              <a:rPr sz="2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的活度系数</a:t>
            </a:r>
            <a:r>
              <a:rPr sz="28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5943600" cy="179741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0.16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5852160" cy="86632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离子带两个电荷，被反电荷紧紧包围</a:t>
            </a:r>
            <a:r>
              <a:rPr sz="22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22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有效浓度只有实际浓度的六分之一</a:t>
            </a:r>
            <a:r>
              <a:rPr sz="22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pic>
        <p:nvPicPr>
          <p:cNvPr id="9" name="Picture 8" descr="bound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2651760"/>
            <a:ext cx="3566160" cy="3184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5989320"/>
            <a:ext cx="45720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0.1 ‖ 0.01 mol/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kg，理论估算</a:t>
            </a:r>
            <a:endParaRPr sz="20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21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偏差从哪来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451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方程没错，错在我们的近似</a:t>
            </a:r>
            <a:endParaRPr sz="38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能斯特方程在“代入活度、电流为零”时严格成立</a:t>
            </a:r>
            <a:r>
              <a:rPr sz="26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用浓度代替活度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离子被反电荷包围，有效浓度变小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有电流：内阻压降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电流越小越准，所以用高内阻电压表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有电流：浓差极化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电极附近的浓度比被拉平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269748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液接电势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离子快慢不同；KCl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盐桥可压到几毫伏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0" y="388620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温度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0" y="434340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就在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RT/F </a:t>
            </a: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里，浓差电池越热电压越高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0" y="5074920"/>
            <a:ext cx="512064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pH </a:t>
            </a:r>
            <a:r>
              <a:rPr sz="2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计钠误差</a:t>
            </a:r>
            <a:endParaRPr sz="2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0" y="5532120"/>
            <a:ext cx="5120640" cy="3730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高 pH </a:t>
            </a: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时把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Na</a:t>
            </a:r>
            <a:r>
              <a:rPr sz="2100" b="0" baseline="3000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当成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H</a:t>
            </a:r>
            <a:r>
              <a:rPr sz="2100" b="0" baseline="3000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1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  <a:r>
              <a:rPr sz="21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读数偏低</a:t>
            </a:r>
            <a:endParaRPr sz="2100" b="0" dirty="0">
              <a:solidFill>
                <a:srgbClr val="7A828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22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5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5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100"/>
                            </p:stCondLst>
                            <p:childTnLst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450"/>
                            </p:stCondLst>
                            <p:childTnLst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80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150"/>
                            </p:stCondLst>
                            <p:childTnLst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500"/>
                            </p:stCondLst>
                            <p:childTnLst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850"/>
                            </p:stCondLst>
                            <p:childTnLst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0"/>
                            </p:stCondLst>
                            <p:childTnLst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87D1E">
                  <a:alpha val="0"/>
                </a:srgbClr>
              </a:gs>
              <a:gs pos="100000">
                <a:srgbClr val="E87D1E">
                  <a:alpha val="22000"/>
                </a:srgbClr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它的根子是熵</a:t>
            </a:r>
            <a:endParaRPr sz="26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80515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浓差电池：越热，电压越高</a:t>
            </a:r>
            <a:endParaRPr sz="48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486400" cy="2743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没有化学键断裂或生成，ΔH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≈ 0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34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= TΔS / </a:t>
            </a:r>
            <a:r>
              <a:rPr sz="34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endParaRPr sz="34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代入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ΔS = R ln(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2400" b="0" baseline="-2500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/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c</a:t>
            </a:r>
            <a:r>
              <a:rPr sz="2400" b="0" baseline="-2500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)，</a:t>
            </a:r>
          </a:p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得到的和串联实验推出的是同一个式子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743200"/>
            <a:ext cx="4846320" cy="224202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锌铜电池就不一定</a:t>
            </a:r>
            <a:endParaRPr sz="24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3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dE</a:t>
            </a:r>
            <a:r>
              <a:rPr sz="3000" b="1" baseline="30000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/dT = ΔS</a:t>
            </a:r>
            <a:r>
              <a:rPr sz="3000" b="1" baseline="30000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</a:t>
            </a:r>
            <a:r>
              <a:rPr sz="3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endParaRPr sz="3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升温后电压是升是降，看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ΔS</a:t>
            </a:r>
            <a:r>
              <a:rPr sz="24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的正负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23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30000"/>
                </a:srgbClr>
              </a:gs>
              <a:gs pos="45000">
                <a:srgbClr val="0B1320">
                  <a:alpha val="80000"/>
                </a:srgbClr>
              </a:gs>
              <a:gs pos="100000">
                <a:srgbClr val="0B1320">
                  <a:alpha val="96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一句话带走</a:t>
            </a:r>
            <a:endParaRPr sz="24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电压看浓度比</a:t>
            </a:r>
            <a:r>
              <a:rPr sz="5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：</a:t>
            </a:r>
          </a:p>
          <a:p>
            <a:pPr algn="l">
              <a:lnSpc>
                <a:spcPct val="120000"/>
              </a:lnSpc>
            </a:pPr>
            <a:r>
              <a:rPr sz="5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比值每乘</a:t>
            </a:r>
            <a:r>
              <a:rPr sz="50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10，加 59/n </a:t>
            </a:r>
            <a:r>
              <a:rPr sz="5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毫伏</a:t>
            </a:r>
            <a:endParaRPr sz="5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48506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浓度差只决定这节电池能放多久</a:t>
            </a:r>
            <a:r>
              <a:rPr sz="28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4983480"/>
            <a:ext cx="1097280" cy="0"/>
          </a:xfrm>
          <a:prstGeom prst="line">
            <a:avLst/>
          </a:prstGeom>
          <a:ln w="38100">
            <a:solidFill>
              <a:srgbClr val="E87D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5212080"/>
            <a:ext cx="105156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留个问题：磷酸铁锂电池里锂一直在搬家，为什么电压大部分时间几乎不动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3550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24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15600" cy="54906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参考资料与说明</a:t>
            </a:r>
            <a:endParaRPr sz="32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607040" cy="37221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[1] NIST. CODATA Recommended Values of the Fundamental Physical Constants: 2018（F = 96 485.332 12 C/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mol，R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8.314 462 618 J/(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mol·K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[2] Buck R. P. et al. Measurement of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pH.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Definition, standards, and procedures (IUPAC Recommendations 2002). Pure Appl. Chem. 2002, 74: 2169–2200.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[3] The Activity Coefficient of Copper Sulphate in Aqueous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Solution（经验式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γ± = 0.0502·m</a:t>
            </a:r>
            <a:r>
              <a:rPr sz="1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−1/2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，0.03–0.3 mol/kg），ResearchGate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[4] Robinson R. A., Stokes R. H. Trans. Faraday Soc. 1949, 45: 612–624.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[5] Harris D. C. Quantitative Chemical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Analysis（液接电势、玻璃电极误差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[6] Bard A. J., Faulkner L. R. Electrochemical Methods, 2nd ed. Wiley, 2001（第 2 章）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[7] Alberts B. et al. Molecular Biology of the Cell, Table 11-1（经 Harvard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BioNumbers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BNID 106428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核对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[8] Wikipedia: Membrane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potential；ScienceDirect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Topics: Reversal Potential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[9]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物理化学教材“电化学平衡”章节（请按所用教材填写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[10] Malik R., Abdellahi A., Ceder G. A Critical Review of the Li Insertion Mechanisms in LiFePO4 Electrodes. J. </a:t>
            </a:r>
            <a:r>
              <a:rPr sz="1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Electrochem</a:t>
            </a:r>
            <a:r>
              <a:rPr sz="1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. Soc. 2013, 160(5): A3179–A3197.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607040" cy="10491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说明</a:t>
            </a:r>
            <a:endParaRPr sz="14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本作品没有实测数据：电压均为理想理论值、理论估算或文献值。0.01 mol/kg 的 γ≈0.46 由德拜-休克尔公式估算；16 mV </a:t>
            </a: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未计液接电势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视频与配图为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AI </a:t>
            </a: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生成。学习过程为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30 </a:t>
            </a: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余轮与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AI </a:t>
            </a: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的追问式对话，推导由本人复述并独立重建，PPT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由 AI </a:t>
            </a:r>
            <a:r>
              <a:rPr sz="14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辅助制作</a:t>
            </a:r>
            <a:r>
              <a:rPr sz="14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。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oke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30000"/>
                </a:srgbClr>
              </a:gs>
              <a:gs pos="70000">
                <a:srgbClr val="0B1320">
                  <a:alpha val="70000"/>
                </a:srgbClr>
              </a:gs>
              <a:gs pos="100000">
                <a:srgbClr val="0B1320">
                  <a:alpha val="9500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05442"/>
            <a:ext cx="10515600" cy="13172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谢谢大家</a:t>
            </a:r>
            <a:endParaRPr sz="8000" b="1" dirty="0">
              <a:solidFill>
                <a:srgbClr val="FFFFFF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550408" y="3314202"/>
            <a:ext cx="1097280" cy="0"/>
          </a:xfrm>
          <a:prstGeom prst="line">
            <a:avLst/>
          </a:prstGeom>
          <a:ln w="38100">
            <a:solidFill>
              <a:srgbClr val="E87D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3588522"/>
            <a:ext cx="10515600" cy="45307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电压看浓度比，浓度差决定能放多久</a:t>
            </a:r>
            <a:endParaRPr sz="26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4320042"/>
            <a:ext cx="10515600" cy="4210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欢迎提问</a:t>
            </a:r>
            <a:endParaRPr sz="24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"/>
                            </p:stCondLst>
                            <p:childTnLst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电压归零时，Q</a:t>
            </a:r>
            <a:r>
              <a:rPr sz="3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16323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 = 0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时反应达到平衡，Q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变成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K：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3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0 = E</a:t>
            </a:r>
            <a:r>
              <a:rPr sz="3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 (0.059/n) · lg K　⇒　lg K = </a:t>
            </a:r>
            <a:r>
              <a:rPr sz="30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nE</a:t>
            </a:r>
            <a:r>
              <a:rPr sz="30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30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/ 0.059</a:t>
            </a:r>
          </a:p>
          <a:p>
            <a:pPr algn="l">
              <a:lnSpc>
                <a:spcPct val="120000"/>
              </a:lnSpc>
              <a:spcBef>
                <a:spcPts val="2400"/>
              </a:spcBef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锌铜电池：lg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K = 2 × 1.10 / 0.059 ≈ 37，K ≈ 10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37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平衡时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Cu</a:t>
            </a:r>
            <a:r>
              <a:rPr sz="2600" b="0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几乎耗尽（几乎，不是完全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浓差电池同理：E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0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时两杯浓度相等</a:t>
            </a:r>
            <a:endParaRPr sz="26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B1+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锌铜电池里，浓度项只是零头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2583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Zn + Cu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Zn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Cu　　E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1.10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V，n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2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Q = [Zn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] / [Cu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]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[Cu</a:t>
            </a:r>
            <a:r>
              <a:rPr sz="26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]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增大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 倍 → lg Q 减 1 → E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升高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29.6 mV</a:t>
            </a:r>
          </a:p>
          <a:p>
            <a:pPr algn="l">
              <a:lnSpc>
                <a:spcPct val="120000"/>
              </a:lnSpc>
              <a:spcBef>
                <a:spcPts val="24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普通电池的电压主要由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E</a:t>
            </a:r>
            <a:r>
              <a:rPr sz="2600" b="0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决定；浓差电池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E</a:t>
            </a:r>
            <a:r>
              <a:rPr sz="2600" b="0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600" b="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0，才只剩浓度项。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从 ΔG </a:t>
            </a: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推出能斯特方程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29974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① 1 mol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反应转移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n mol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电子，电量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nF，最大电功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endParaRPr sz="24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②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自发时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ΔG &lt; 0、E &gt; 0，所以 ΔG = −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nFE，ΔG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−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③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热力学：ΔG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ΔG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RT ln Q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④ 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代入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：−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−</a:t>
            </a:r>
            <a:r>
              <a:rPr sz="24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nFE</a:t>
            </a:r>
            <a:r>
              <a:rPr sz="24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RT ln Q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⑤ </a:t>
            </a: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除以</a:t>
            </a: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</a:t>
            </a: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nF：E</a:t>
            </a: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E</a:t>
            </a:r>
            <a:r>
              <a:rPr sz="2400" b="1" baseline="30000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°</a:t>
            </a: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− (RT/</a:t>
            </a:r>
            <a:r>
              <a:rPr sz="24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nF</a:t>
            </a:r>
            <a:r>
              <a:rPr sz="24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) ln Q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4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⑥ ln Q = ln10 · lg Q；25 °C 时 ln10 · RT/F = 0.059 16 V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液接电势：离子赛跑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1663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浓、稀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HCl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隔膜接触：H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比 Cl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快得多，先到稀侧</a:t>
            </a:r>
            <a:endParaRPr sz="26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→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稀侧电势更高；电场拖慢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H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、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推快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Cl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，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最后同速</a:t>
            </a:r>
            <a:endParaRPr sz="26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000"/>
              </a:spcBef>
            </a:pP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读数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=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能斯特电势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+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液接电势</a:t>
            </a:r>
            <a:endParaRPr sz="2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000"/>
              </a:spcBef>
            </a:pP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KCl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盐桥：K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和 Cl</a:t>
            </a:r>
            <a:r>
              <a:rPr sz="2600" b="0" baseline="3000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−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速度接近，液接电势只有几毫伏</a:t>
            </a:r>
            <a:endParaRPr sz="2600" b="0" dirty="0">
              <a:solidFill>
                <a:srgbClr val="262B33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对几十毫伏的浓差电池来说，几毫伏并不算小</a:t>
            </a:r>
            <a:endParaRPr sz="2600" b="0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开路电压与端电压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59515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能斯特方程给的是电流趋于零时的电压（可逆电势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接上负载后读到端电压，更小。丢掉的部分在电池内部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：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①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内阻压降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I·r</a:t>
            </a:r>
            <a:endParaRPr sz="2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②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浓差极化：正极表面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Cu</a:t>
            </a:r>
            <a:r>
              <a:rPr sz="2600" b="1" baseline="30000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2+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被消耗，负极表面增多，电极感受到的浓度比变小</a:t>
            </a:r>
            <a:endParaRPr sz="2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8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电流越小，两项都越小</a:t>
            </a:r>
            <a:endParaRPr sz="2600" b="0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ith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320">
                  <a:alpha val="98000"/>
                </a:srgbClr>
              </a:gs>
              <a:gs pos="55000">
                <a:srgbClr val="0B1320">
                  <a:alpha val="92000"/>
                </a:srgbClr>
              </a:gs>
              <a:gs pos="100000">
                <a:srgbClr val="0B1320">
                  <a:alpha val="5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B5　</a:t>
            </a: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回应结尾的问题</a:t>
            </a:r>
            <a:endParaRPr sz="2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磷酸铁锂：为什么电压几乎是平的</a:t>
            </a:r>
            <a:r>
              <a:rPr sz="3600" b="1" dirty="0">
                <a:solidFill>
                  <a:srgbClr val="FFFFFF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309559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放电时正极里同时有两种固体：LiFePO</a:t>
            </a:r>
            <a:r>
              <a:rPr sz="2400" b="0" baseline="-25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4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（满锂）和 FePO</a:t>
            </a:r>
            <a:r>
              <a:rPr sz="2400" b="0" baseline="-25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4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（空锂）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锂进来，只是让满锂那一相变多、空锂那一相变少；每一相内部的组成不变</a:t>
            </a:r>
            <a:endParaRPr sz="24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800"/>
              </a:spcBef>
            </a:pPr>
            <a:r>
              <a:rPr sz="3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纯固相活度恒定</a:t>
            </a:r>
            <a:r>
              <a:rPr sz="3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Q </a:t>
            </a:r>
            <a:r>
              <a:rPr sz="3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不随电量变</a:t>
            </a:r>
            <a:r>
              <a:rPr sz="3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E </a:t>
            </a:r>
            <a:r>
              <a:rPr sz="3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不变</a:t>
            </a:r>
            <a:endParaRPr sz="3000" b="1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18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相律：恒温恒压下两组分两相共存，自由度为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0，电势被“钉住”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平台约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3.4 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V（相对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Li/Li</a:t>
            </a:r>
            <a:r>
              <a:rPr sz="2400" b="0" baseline="3000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+</a:t>
            </a:r>
            <a:r>
              <a:rPr sz="2400" b="0" dirty="0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）；</a:t>
            </a:r>
            <a:r>
              <a:rPr sz="2400" b="0" dirty="0" err="1">
                <a:solidFill>
                  <a:srgbClr val="B9C4D2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只在快充满、快放空、只剩一相时才陡变</a:t>
            </a:r>
            <a:endParaRPr sz="2400" b="0" dirty="0">
              <a:solidFill>
                <a:srgbClr val="B9C4D2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60704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依据：Malik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, Abdellahi, Ceder, J. </a:t>
            </a:r>
            <a:r>
              <a:rPr sz="2000" b="0" dirty="0" err="1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Electrochem</a:t>
            </a:r>
            <a:r>
              <a:rPr sz="2000" b="0" dirty="0">
                <a:solidFill>
                  <a:srgbClr val="7A828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. Soc. 2013 [10]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570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答辩备用</a:t>
            </a:r>
            <a:r>
              <a:rPr sz="2000" b="1" dirty="0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　B5+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61311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不是所有锂电池都这么平</a:t>
            </a:r>
            <a:endParaRPr sz="3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32945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三元（NMC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）、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钴酸锂正极：锂在一相里连续增减（固溶体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）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→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活度随电量连续变化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Q 变 →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电压随电量明显倾斜</a:t>
            </a:r>
            <a:endParaRPr sz="2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000"/>
              </a:spcBef>
            </a:pP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磷酸铁锂：两相共存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→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平台；电芯在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10%–90% </a:t>
            </a:r>
            <a:r>
              <a:rPr sz="2600" b="0" dirty="0" err="1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电量间约</a:t>
            </a:r>
            <a:r>
              <a:rPr sz="2600" b="0" dirty="0">
                <a:solidFill>
                  <a:srgbClr val="262B33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3.2–3.3 V</a:t>
            </a:r>
          </a:p>
          <a:p>
            <a:pPr algn="l">
              <a:lnSpc>
                <a:spcPct val="120000"/>
              </a:lnSpc>
              <a:spcBef>
                <a:spcPts val="2000"/>
              </a:spcBef>
            </a:pPr>
            <a:r>
              <a:rPr sz="2600" b="0" dirty="0" err="1">
                <a:solidFill>
                  <a:srgbClr val="E87D1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代价：电压太平，很难只靠电压判断剩余电量</a:t>
            </a:r>
            <a:endParaRPr sz="2600" b="0" dirty="0">
              <a:solidFill>
                <a:srgbClr val="E87D1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2000"/>
              </a:spcBef>
            </a:pP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同一个方程：Q</a:t>
            </a:r>
            <a:r>
              <a:rPr sz="2600" b="1" dirty="0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 </a:t>
            </a:r>
            <a:r>
              <a:rPr sz="2600" b="1" dirty="0" err="1">
                <a:solidFill>
                  <a:srgbClr val="1B2F4E"/>
                </a:solidFill>
                <a:latin typeface="宋体-简" panose="02010800040101010101" pitchFamily="2" charset="-122"/>
                <a:ea typeface="宋体-简" panose="02010800040101010101" pitchFamily="2" charset="-122"/>
              </a:rPr>
              <a:t>变不变，决定电压变不变</a:t>
            </a:r>
            <a:endParaRPr sz="2600" b="1" dirty="0">
              <a:solidFill>
                <a:srgbClr val="1B2F4E"/>
              </a:solidFill>
              <a:latin typeface="宋体-简" panose="02010800040101010101" pitchFamily="2" charset="-122"/>
              <a:ea typeface="宋体-简" panose="02010800040101010101" pitchFamily="2" charset="-122"/>
            </a:endParaRP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2237</Words>
  <Application>Microsoft Office PowerPoint</Application>
  <PresentationFormat>宽屏</PresentationFormat>
  <Paragraphs>311</Paragraphs>
  <Slides>34</Slides>
  <Notes>28</Notes>
  <HiddenSlides>7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38" baseType="lpstr">
      <vt:lpstr>Calibri</vt:lpstr>
      <vt:lpstr>Arial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a94126</cp:lastModifiedBy>
  <cp:revision>5</cp:revision>
  <dcterms:created xsi:type="dcterms:W3CDTF">2013-01-27T09:14:16Z</dcterms:created>
  <dcterms:modified xsi:type="dcterms:W3CDTF">2026-10-03T00:59:54Z</dcterms:modified>
  <cp:category/>
</cp:coreProperties>
</file>